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7" r:id="rId5"/>
    <p:sldId id="284" r:id="rId6"/>
    <p:sldId id="291" r:id="rId7"/>
    <p:sldId id="285" r:id="rId8"/>
    <p:sldId id="286" r:id="rId9"/>
    <p:sldId id="288" r:id="rId10"/>
    <p:sldId id="289" r:id="rId11"/>
    <p:sldId id="290" r:id="rId12"/>
    <p:sldId id="281" r:id="rId13"/>
    <p:sldId id="282" r:id="rId14"/>
    <p:sldId id="283" r:id="rId15"/>
    <p:sldId id="287"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9999FF"/>
    <a:srgbClr val="CCCCFF"/>
    <a:srgbClr val="CCFFCC"/>
    <a:srgbClr val="00FFFF"/>
    <a:srgbClr val="FF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ABDCC-F41A-417C-9525-BA4A8C821DC3}" v="471" dt="2020-04-02T06:07:27.36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1" autoAdjust="0"/>
    <p:restoredTop sz="94216" autoAdjust="0"/>
  </p:normalViewPr>
  <p:slideViewPr>
    <p:cSldViewPr snapToGrid="0">
      <p:cViewPr varScale="1">
        <p:scale>
          <a:sx n="74" d="100"/>
          <a:sy n="74"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F2A55C-AE8C-47A4-AA40-41405454646F}" type="datetimeFigureOut">
              <a:rPr kumimoji="1" lang="ja-JP" altLang="en-US" smtClean="0"/>
              <a:t>2024/12/16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2E424-798C-40C7-844A-B5AC440F8604}" type="slidenum">
              <a:rPr kumimoji="1" lang="ja-JP" altLang="en-US" smtClean="0"/>
              <a:t>‹#›</a:t>
            </a:fld>
            <a:endParaRPr kumimoji="1" lang="ja-JP" altLang="en-US"/>
          </a:p>
        </p:txBody>
      </p:sp>
    </p:spTree>
    <p:extLst>
      <p:ext uri="{BB962C8B-B14F-4D97-AF65-F5344CB8AC3E}">
        <p14:creationId xmlns:p14="http://schemas.microsoft.com/office/powerpoint/2010/main" val="22708649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style">
    <p:spTree>
      <p:nvGrpSpPr>
        <p:cNvPr id="1" name=""/>
        <p:cNvGrpSpPr/>
        <p:nvPr/>
      </p:nvGrpSpPr>
      <p:grpSpPr>
        <a:xfrm>
          <a:off x="0" y="0"/>
          <a:ext cx="0" cy="0"/>
          <a:chOff x="0" y="0"/>
          <a:chExt cx="0" cy="0"/>
        </a:xfrm>
      </p:grpSpPr>
      <p:sp>
        <p:nvSpPr>
          <p:cNvPr id="6" name="Content Placeholder 5"/>
          <p:cNvSpPr>
            <a:spLocks noGrp="1"/>
          </p:cNvSpPr>
          <p:nvPr>
            <p:ph sz="quarter" idx="18" hasCustomPrompt="1"/>
          </p:nvPr>
        </p:nvSpPr>
        <p:spPr>
          <a:xfrm>
            <a:off x="381000" y="1156851"/>
            <a:ext cx="11429999" cy="464132"/>
          </a:xfrm>
        </p:spPr>
        <p:txBody>
          <a:bodyPr>
            <a:noAutofit/>
          </a:bodyPr>
          <a:lstStyle>
            <a:lvl1pPr>
              <a:lnSpc>
                <a:spcPct val="100000"/>
              </a:lnSpc>
              <a:spcAft>
                <a:spcPts val="600"/>
              </a:spcAft>
              <a:defRPr sz="2000">
                <a:latin typeface="Meiryo UI" panose="020B0604030504040204" pitchFamily="50" charset="-128"/>
                <a:ea typeface="Meiryo UI" panose="020B0604030504040204" pitchFamily="50" charset="-128"/>
              </a:defRPr>
            </a:lvl1pPr>
            <a:lvl2pPr>
              <a:spcAft>
                <a:spcPts val="1200"/>
              </a:spcAft>
              <a:defRPr sz="1800">
                <a:latin typeface="Meiryo UI" panose="020B0604030504040204" pitchFamily="50" charset="-128"/>
                <a:ea typeface="Meiryo UI" panose="020B0604030504040204" pitchFamily="50" charset="-128"/>
              </a:defRPr>
            </a:lvl2pPr>
            <a:lvl3pPr marL="514338" indent="-230182">
              <a:buFont typeface="Graphik" panose="020B0503030202060203" pitchFamily="34" charset="0"/>
              <a:buChar char="–"/>
              <a:defRPr sz="1600">
                <a:latin typeface="Meiryo UI" panose="020B0604030504040204" pitchFamily="50" charset="-128"/>
                <a:ea typeface="Meiryo UI" panose="020B0604030504040204" pitchFamily="50" charset="-128"/>
              </a:defRPr>
            </a:lvl3pPr>
            <a:lvl5pPr marL="857229" indent="-177796">
              <a:buFont typeface="Graphik" panose="020B0503030202060203" pitchFamily="34" charset="0"/>
              <a:buChar char="–"/>
              <a:defRPr/>
            </a:lvl5pPr>
          </a:lstStyle>
          <a:p>
            <a:pPr lvl="0"/>
            <a:r>
              <a:rPr lang="en-US" altLang="ja-JP" dirty="0"/>
              <a:t>Main</a:t>
            </a:r>
            <a:r>
              <a:rPr lang="ja-JP" altLang="en-US" dirty="0"/>
              <a:t> </a:t>
            </a:r>
            <a:r>
              <a:rPr lang="en-US" altLang="ja-JP" dirty="0"/>
              <a:t>message</a:t>
            </a:r>
            <a:r>
              <a:rPr lang="ja-JP" altLang="en-US" dirty="0"/>
              <a:t> </a:t>
            </a:r>
            <a:r>
              <a:rPr lang="en-US" altLang="ja-JP" dirty="0"/>
              <a:t>-</a:t>
            </a:r>
            <a:r>
              <a:rPr lang="ja-JP" altLang="en-US" dirty="0"/>
              <a:t> </a:t>
            </a:r>
            <a:r>
              <a:rPr lang="en-US" altLang="ja-JP" dirty="0"/>
              <a:t>text styles</a:t>
            </a:r>
            <a:r>
              <a:rPr lang="ja-JP" altLang="en-US" dirty="0"/>
              <a:t> </a:t>
            </a:r>
            <a:r>
              <a:rPr lang="en-US" altLang="ja-JP" dirty="0"/>
              <a:t>20pt</a:t>
            </a:r>
            <a:r>
              <a:rPr lang="ja-JP" altLang="en-US" dirty="0"/>
              <a:t>　（行間：段落前</a:t>
            </a:r>
            <a:r>
              <a:rPr lang="en-US" altLang="ja-JP" dirty="0"/>
              <a:t>0pt</a:t>
            </a:r>
            <a:r>
              <a:rPr lang="ja-JP" altLang="en-US" dirty="0"/>
              <a:t> 段落後</a:t>
            </a:r>
            <a:r>
              <a:rPr lang="en-US" altLang="ja-JP" dirty="0"/>
              <a:t>6pt</a:t>
            </a:r>
            <a:r>
              <a:rPr lang="ja-JP" altLang="en-US" dirty="0"/>
              <a:t> 行間</a:t>
            </a:r>
            <a:r>
              <a:rPr lang="en-US" altLang="ja-JP" dirty="0"/>
              <a:t>1</a:t>
            </a:r>
            <a:r>
              <a:rPr lang="ja-JP" altLang="en-US" dirty="0"/>
              <a:t>行）</a:t>
            </a:r>
          </a:p>
        </p:txBody>
      </p:sp>
      <p:sp>
        <p:nvSpPr>
          <p:cNvPr id="12" name="Title 10">
            <a:extLst>
              <a:ext uri="{FF2B5EF4-FFF2-40B4-BE49-F238E27FC236}">
                <a16:creationId xmlns:a16="http://schemas.microsoft.com/office/drawing/2014/main" id="{2626A05F-F7D4-482F-AB23-8FC01004866D}"/>
              </a:ext>
            </a:extLst>
          </p:cNvPr>
          <p:cNvSpPr>
            <a:spLocks noGrp="1"/>
          </p:cNvSpPr>
          <p:nvPr>
            <p:ph type="title" hasCustomPrompt="1"/>
          </p:nvPr>
        </p:nvSpPr>
        <p:spPr>
          <a:xfrm>
            <a:off x="381000" y="471050"/>
            <a:ext cx="11361295" cy="550800"/>
          </a:xfrm>
        </p:spPr>
        <p:txBody>
          <a:bodyPr>
            <a:noAutofit/>
          </a:bodyPr>
          <a:lstStyle>
            <a:lvl1pPr>
              <a:defRPr sz="3200">
                <a:latin typeface="Meiryo UI" panose="020B0604030504040204" pitchFamily="50" charset="-128"/>
                <a:ea typeface="Meiryo UI" panose="020B0604030504040204" pitchFamily="50" charset="-128"/>
              </a:defRPr>
            </a:lvl1pPr>
          </a:lstStyle>
          <a:p>
            <a:r>
              <a:rPr lang="en-US" altLang="ja-JP" dirty="0"/>
              <a:t>Slide</a:t>
            </a:r>
            <a:r>
              <a:rPr lang="ja-JP" altLang="en-US" dirty="0"/>
              <a:t> </a:t>
            </a:r>
            <a:r>
              <a:rPr lang="en-US" altLang="ja-JP" dirty="0"/>
              <a:t>Title</a:t>
            </a:r>
            <a:r>
              <a:rPr lang="ja-JP" altLang="en-US" dirty="0"/>
              <a:t> </a:t>
            </a:r>
            <a:r>
              <a:rPr lang="en-US" altLang="ja-JP" dirty="0"/>
              <a:t>32pt</a:t>
            </a:r>
            <a:endParaRPr lang="en-US" dirty="0"/>
          </a:p>
        </p:txBody>
      </p:sp>
      <p:sp>
        <p:nvSpPr>
          <p:cNvPr id="7" name="コンテンツ プレースホルダー 2">
            <a:extLst>
              <a:ext uri="{FF2B5EF4-FFF2-40B4-BE49-F238E27FC236}">
                <a16:creationId xmlns:a16="http://schemas.microsoft.com/office/drawing/2014/main" id="{FAB1C357-33B9-4341-B05D-966F6C8EDA9D}"/>
              </a:ext>
            </a:extLst>
          </p:cNvPr>
          <p:cNvSpPr>
            <a:spLocks noGrp="1"/>
          </p:cNvSpPr>
          <p:nvPr>
            <p:ph sz="quarter" idx="19" hasCustomPrompt="1"/>
          </p:nvPr>
        </p:nvSpPr>
        <p:spPr>
          <a:xfrm>
            <a:off x="381000" y="29616"/>
            <a:ext cx="10389274" cy="410800"/>
          </a:xfrm>
        </p:spPr>
        <p:txBody>
          <a:bodyPr tIns="46800">
            <a:noAutofit/>
          </a:bodyPr>
          <a:lstStyle>
            <a:lvl1pPr>
              <a:lnSpc>
                <a:spcPct val="100000"/>
              </a:lnSpc>
              <a:spcAft>
                <a:spcPts val="0"/>
              </a:spcAft>
              <a:defRPr sz="2400">
                <a:latin typeface="Meiryo UI" panose="020B0604030504040204" pitchFamily="50" charset="-128"/>
                <a:ea typeface="Meiryo UI" panose="020B0604030504040204" pitchFamily="50" charset="-128"/>
              </a:defRPr>
            </a:lvl1pPr>
          </a:lstStyle>
          <a:p>
            <a:pPr lvl="0"/>
            <a:r>
              <a:rPr lang="en-US" altLang="ja-JP" dirty="0"/>
              <a:t>1.First level</a:t>
            </a:r>
            <a:r>
              <a:rPr lang="ja-JP" altLang="en-US" dirty="0"/>
              <a:t> </a:t>
            </a:r>
            <a:r>
              <a:rPr lang="en-US" altLang="ja-JP" dirty="0"/>
              <a:t>title</a:t>
            </a:r>
            <a:r>
              <a:rPr lang="ja-JP" altLang="en-US" dirty="0"/>
              <a:t> </a:t>
            </a:r>
            <a:r>
              <a:rPr lang="en-US" altLang="ja-JP" dirty="0"/>
              <a:t>24pt</a:t>
            </a:r>
            <a:r>
              <a:rPr lang="ja-JP" altLang="en-US" dirty="0"/>
              <a:t> － ①</a:t>
            </a:r>
            <a:r>
              <a:rPr lang="en-US" altLang="ja-JP" dirty="0"/>
              <a:t>Second level</a:t>
            </a:r>
            <a:r>
              <a:rPr lang="ja-JP" altLang="en-US" dirty="0"/>
              <a:t> </a:t>
            </a:r>
            <a:r>
              <a:rPr lang="en-US" altLang="ja-JP" dirty="0"/>
              <a:t>title</a:t>
            </a:r>
            <a:r>
              <a:rPr lang="ja-JP" altLang="en-US" dirty="0"/>
              <a:t> </a:t>
            </a:r>
            <a:r>
              <a:rPr lang="en-US" altLang="ja-JP" dirty="0"/>
              <a:t>24pt</a:t>
            </a:r>
            <a:endParaRPr kumimoji="1" lang="ja-JP" altLang="en-US" dirty="0"/>
          </a:p>
        </p:txBody>
      </p:sp>
      <p:cxnSp>
        <p:nvCxnSpPr>
          <p:cNvPr id="5" name="直線コネクタ 4">
            <a:extLst>
              <a:ext uri="{FF2B5EF4-FFF2-40B4-BE49-F238E27FC236}">
                <a16:creationId xmlns:a16="http://schemas.microsoft.com/office/drawing/2014/main" id="{E5EA05CE-1CB2-4ECA-8971-00880F920D69}"/>
              </a:ext>
            </a:extLst>
          </p:cNvPr>
          <p:cNvCxnSpPr/>
          <p:nvPr userDrawn="1"/>
        </p:nvCxnSpPr>
        <p:spPr>
          <a:xfrm>
            <a:off x="381000" y="1091125"/>
            <a:ext cx="11811000" cy="0"/>
          </a:xfrm>
          <a:prstGeom prst="line">
            <a:avLst/>
          </a:prstGeom>
          <a:ln w="25400">
            <a:gradFill flip="none" rotWithShape="1">
              <a:gsLst>
                <a:gs pos="0">
                  <a:srgbClr val="A100FF"/>
                </a:gs>
                <a:gs pos="100000">
                  <a:srgbClr val="460073"/>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404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01937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85800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648975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1741434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30014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049630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789970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32829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2354349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011605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1974328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211344576"/>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テキスト ボックス 125">
            <a:extLst>
              <a:ext uri="{FF2B5EF4-FFF2-40B4-BE49-F238E27FC236}">
                <a16:creationId xmlns:a16="http://schemas.microsoft.com/office/drawing/2014/main" id="{600E9562-25DF-473D-B809-FD2FDF5FD6C1}"/>
              </a:ext>
            </a:extLst>
          </p:cNvPr>
          <p:cNvSpPr txBox="1"/>
          <p:nvPr/>
        </p:nvSpPr>
        <p:spPr>
          <a:xfrm>
            <a:off x="1644502" y="141058"/>
            <a:ext cx="8899451" cy="584775"/>
          </a:xfrm>
          <a:prstGeom prst="rect">
            <a:avLst/>
          </a:prstGeom>
          <a:noFill/>
        </p:spPr>
        <p:txBody>
          <a:bodyPr wrap="square" rtlCol="0">
            <a:spAutoFit/>
          </a:bodyPr>
          <a:lstStyle/>
          <a:p>
            <a:pPr algn="ctr"/>
            <a:r>
              <a:rPr kumimoji="1" lang="ja-JP" altLang="en-US" sz="3200" dirty="0">
                <a:latin typeface="Meiryo UI" panose="020B0604030504040204" pitchFamily="50" charset="-128"/>
                <a:ea typeface="Meiryo UI" panose="020B0604030504040204" pitchFamily="50" charset="-128"/>
              </a:rPr>
              <a:t>目次</a:t>
            </a:r>
          </a:p>
        </p:txBody>
      </p:sp>
      <p:sp>
        <p:nvSpPr>
          <p:cNvPr id="27" name="テキスト ボックス 26">
            <a:extLst>
              <a:ext uri="{FF2B5EF4-FFF2-40B4-BE49-F238E27FC236}">
                <a16:creationId xmlns:a16="http://schemas.microsoft.com/office/drawing/2014/main" id="{C7A46AD3-2AFA-4C0B-ABE6-7CB10F7D4EA6}"/>
              </a:ext>
            </a:extLst>
          </p:cNvPr>
          <p:cNvSpPr txBox="1"/>
          <p:nvPr/>
        </p:nvSpPr>
        <p:spPr>
          <a:xfrm>
            <a:off x="3420764" y="1380708"/>
            <a:ext cx="5346925" cy="4401205"/>
          </a:xfrm>
          <a:prstGeom prst="rect">
            <a:avLst/>
          </a:prstGeom>
          <a:noFill/>
        </p:spPr>
        <p:txBody>
          <a:bodyPr wrap="square" rtlCol="0">
            <a:spAutoFit/>
          </a:bodyPr>
          <a:lstStyle/>
          <a:p>
            <a:r>
              <a:rPr lang="en-US" altLang="ja-JP" sz="2000" dirty="0">
                <a:latin typeface="Meiryo UI" panose="020B0604030504040204" pitchFamily="50" charset="-128"/>
                <a:ea typeface="Meiryo UI" panose="020B0604030504040204" pitchFamily="50" charset="-128"/>
              </a:rPr>
              <a:t>1.</a:t>
            </a:r>
            <a:r>
              <a:rPr lang="ja-JP" altLang="en-US" sz="2000" dirty="0">
                <a:latin typeface="Meiryo UI" panose="020B0604030504040204" pitchFamily="50" charset="-128"/>
                <a:ea typeface="Meiryo UI" panose="020B0604030504040204" pitchFamily="50" charset="-128"/>
              </a:rPr>
              <a:t> 概要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1-1.</a:t>
            </a:r>
            <a:r>
              <a:rPr lang="ja-JP" altLang="en-US" sz="2000" dirty="0">
                <a:latin typeface="Meiryo UI" panose="020B0604030504040204" pitchFamily="50" charset="-128"/>
                <a:ea typeface="Meiryo UI" panose="020B0604030504040204" pitchFamily="50" charset="-128"/>
              </a:rPr>
              <a:t>資産管理専門銀行とは①</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1-1.</a:t>
            </a:r>
            <a:r>
              <a:rPr lang="ja-JP" altLang="en-US" sz="2000" dirty="0">
                <a:latin typeface="Meiryo UI" panose="020B0604030504040204" pitchFamily="50" charset="-128"/>
                <a:ea typeface="Meiryo UI" panose="020B0604030504040204" pitchFamily="50" charset="-128"/>
              </a:rPr>
              <a:t>資産管理専門銀行とは②</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1-2.</a:t>
            </a:r>
            <a:r>
              <a:rPr lang="ja-JP" altLang="en-US" sz="2000" dirty="0">
                <a:latin typeface="Meiryo UI" panose="020B0604030504040204" pitchFamily="50" charset="-128"/>
                <a:ea typeface="Meiryo UI" panose="020B0604030504040204" pitchFamily="50" charset="-128"/>
              </a:rPr>
              <a:t>資産管理専門銀行の主要業務</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1-3.</a:t>
            </a:r>
            <a:r>
              <a:rPr lang="ja-JP" altLang="en-US" sz="2000" dirty="0">
                <a:latin typeface="Meiryo UI" panose="020B0604030504040204" pitchFamily="50" charset="-128"/>
                <a:ea typeface="Meiryo UI" panose="020B0604030504040204" pitchFamily="50" charset="-128"/>
              </a:rPr>
              <a:t>資産管理銀行の立場</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2.</a:t>
            </a:r>
            <a:r>
              <a:rPr lang="ja-JP" altLang="en-US" sz="2000" dirty="0">
                <a:latin typeface="Meiryo UI" panose="020B0604030504040204" pitchFamily="50" charset="-128"/>
                <a:ea typeface="Meiryo UI" panose="020B0604030504040204" pitchFamily="50" charset="-128"/>
              </a:rPr>
              <a:t>為替のバリエーション</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2-1.</a:t>
            </a:r>
            <a:r>
              <a:rPr lang="ja-JP" altLang="en-US" sz="2000" dirty="0">
                <a:latin typeface="Meiryo UI" panose="020B0604030504040204" pitchFamily="50" charset="-128"/>
                <a:ea typeface="Meiryo UI" panose="020B0604030504040204" pitchFamily="50" charset="-128"/>
              </a:rPr>
              <a:t>信託為替</a:t>
            </a: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2-2.</a:t>
            </a:r>
            <a:r>
              <a:rPr lang="ja-JP" altLang="en-US" sz="2000" dirty="0">
                <a:latin typeface="Meiryo UI" panose="020B0604030504040204" pitchFamily="50" charset="-128"/>
                <a:ea typeface="Meiryo UI" panose="020B0604030504040204" pitchFamily="50" charset="-128"/>
              </a:rPr>
              <a:t>頭押さえと足決め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2-3.</a:t>
            </a:r>
            <a:r>
              <a:rPr lang="ja-JP" altLang="en-US" sz="2000" dirty="0">
                <a:latin typeface="Meiryo UI" panose="020B0604030504040204" pitchFamily="50" charset="-128"/>
                <a:ea typeface="Meiryo UI" panose="020B0604030504040204" pitchFamily="50" charset="-128"/>
              </a:rPr>
              <a:t>投資信託にかかわる外国為替相場</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2-4.</a:t>
            </a:r>
            <a:r>
              <a:rPr lang="ja-JP" altLang="en-US" sz="2000" dirty="0">
                <a:latin typeface="Meiryo UI" panose="020B0604030504040204" pitchFamily="50" charset="-128"/>
                <a:ea typeface="Meiryo UI" panose="020B0604030504040204" pitchFamily="50" charset="-128"/>
              </a:rPr>
              <a:t>為替オーバーレイ</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3.</a:t>
            </a:r>
            <a:r>
              <a:rPr lang="ja-JP" altLang="en-US" sz="2000" dirty="0">
                <a:latin typeface="Meiryo UI" panose="020B0604030504040204" pitchFamily="50" charset="-128"/>
                <a:ea typeface="Meiryo UI" panose="020B0604030504040204" pitchFamily="50" charset="-128"/>
              </a:rPr>
              <a:t>証券システム</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3-1.</a:t>
            </a:r>
            <a:r>
              <a:rPr lang="ja-JP" altLang="en-US" sz="2000" dirty="0">
                <a:latin typeface="Meiryo UI" panose="020B0604030504040204" pitchFamily="50" charset="-128"/>
                <a:ea typeface="Meiryo UI" panose="020B0604030504040204" pitchFamily="50" charset="-128"/>
              </a:rPr>
              <a:t>証券システムの概要</a:t>
            </a:r>
            <a:endParaRPr lang="en-US"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681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1-1.</a:t>
            </a:r>
            <a:r>
              <a:rPr kumimoji="1" lang="ja-JP" altLang="en-US" b="1" dirty="0"/>
              <a:t>資産管理専門銀行とは①</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r>
              <a:rPr lang="ja-JP" altLang="en-US" sz="2400" dirty="0"/>
              <a:t>米国での年金資金運用を行っていたマスタートラスト業務を本邦に導入したもの。</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国際的には、バンク・オブ・ニューヨーク・メロン信託銀行、ステート・ストリート銀行などが有名で管理資産残高も桁違い</a:t>
            </a:r>
            <a:r>
              <a:rPr lang="zh-TW" altLang="en-US" sz="2400" dirty="0"/>
              <a:t>（</a:t>
            </a:r>
            <a:r>
              <a:rPr lang="ja-JP" altLang="en-US" sz="2400" dirty="0"/>
              <a:t>両行とも</a:t>
            </a:r>
            <a:r>
              <a:rPr lang="zh-TW" altLang="en-US" sz="2400" dirty="0"/>
              <a:t>約</a:t>
            </a:r>
            <a:r>
              <a:rPr lang="en-US" altLang="ja-JP" sz="2400" dirty="0"/>
              <a:t>4</a:t>
            </a:r>
            <a:r>
              <a:rPr lang="ja-JP" altLang="en-US" sz="2400" dirty="0"/>
              <a:t>千</a:t>
            </a:r>
            <a:r>
              <a:rPr lang="zh-TW" altLang="en-US" sz="2400" dirty="0"/>
              <a:t>兆円</a:t>
            </a:r>
            <a:r>
              <a:rPr lang="ja-JP" altLang="en-US" sz="2400" dirty="0"/>
              <a:t>弱</a:t>
            </a:r>
            <a:r>
              <a:rPr lang="zh-TW" altLang="en-US" sz="2400" dirty="0"/>
              <a:t>）</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本邦初の資産管理専門銀行は、日本マスタートラスト信託銀行（</a:t>
            </a:r>
            <a:r>
              <a:rPr lang="en-US" altLang="ja-JP" sz="2400" dirty="0"/>
              <a:t>2000</a:t>
            </a:r>
            <a:r>
              <a:rPr lang="ja-JP" altLang="en-US" sz="2400" dirty="0"/>
              <a:t>年</a:t>
            </a:r>
            <a:r>
              <a:rPr lang="en-US" altLang="ja-JP" sz="2400" dirty="0"/>
              <a:t>5</a:t>
            </a:r>
            <a:r>
              <a:rPr lang="ja-JP" altLang="en-US" sz="2400" dirty="0"/>
              <a:t>月設立、管理資産残高</a:t>
            </a:r>
            <a:r>
              <a:rPr lang="en-US" altLang="ja-JP" sz="2400" dirty="0"/>
              <a:t>400</a:t>
            </a:r>
            <a:r>
              <a:rPr lang="ja-JP" altLang="en-US" sz="2400" dirty="0"/>
              <a:t>兆円）。</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日本カストディ銀行（管理資産残高</a:t>
            </a:r>
            <a:r>
              <a:rPr lang="en-US" altLang="ja-JP" sz="2400" dirty="0"/>
              <a:t>700</a:t>
            </a:r>
            <a:r>
              <a:rPr lang="ja-JP" altLang="en-US" sz="2400" dirty="0"/>
              <a:t>兆円）も資産管理専門銀行である。</a:t>
            </a:r>
          </a:p>
          <a:p>
            <a:pPr>
              <a:spcBef>
                <a:spcPts val="0"/>
              </a:spcBef>
              <a:spcAft>
                <a:spcPts val="0"/>
              </a:spcAft>
            </a:pPr>
            <a:endParaRPr lang="en-US" altLang="ja-JP" sz="2400" dirty="0"/>
          </a:p>
          <a:p>
            <a:pPr>
              <a:spcBef>
                <a:spcPts val="0"/>
              </a:spcBef>
              <a:spcAft>
                <a:spcPts val="0"/>
              </a:spcAft>
            </a:pPr>
            <a:r>
              <a:rPr lang="ja-JP" altLang="en-US" sz="2400" dirty="0"/>
              <a:t>資産管理専門銀行とは、その名の通り、資産管理とそれに伴う決済を主たる業務とする。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概要</a:t>
            </a:r>
          </a:p>
        </p:txBody>
      </p:sp>
    </p:spTree>
    <p:extLst>
      <p:ext uri="{BB962C8B-B14F-4D97-AF65-F5344CB8AC3E}">
        <p14:creationId xmlns:p14="http://schemas.microsoft.com/office/powerpoint/2010/main" val="88742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1-1.</a:t>
            </a:r>
            <a:r>
              <a:rPr kumimoji="1" lang="ja-JP" altLang="en-US" b="1" dirty="0"/>
              <a:t>資産管理専門銀行とは②</a:t>
            </a:r>
          </a:p>
        </p:txBody>
      </p:sp>
      <p:sp>
        <p:nvSpPr>
          <p:cNvPr id="3" name="コンテンツ プレースホルダー 2"/>
          <p:cNvSpPr>
            <a:spLocks noGrp="1"/>
          </p:cNvSpPr>
          <p:nvPr>
            <p:ph sz="quarter" idx="18"/>
          </p:nvPr>
        </p:nvSpPr>
        <p:spPr>
          <a:xfrm>
            <a:off x="381000" y="1156850"/>
            <a:ext cx="11429999" cy="545341"/>
          </a:xfrm>
        </p:spPr>
        <p:txBody>
          <a:bodyPr/>
          <a:lstStyle/>
          <a:p>
            <a:pPr>
              <a:spcBef>
                <a:spcPts val="0"/>
              </a:spcBef>
              <a:spcAft>
                <a:spcPts val="0"/>
              </a:spcAft>
            </a:pPr>
            <a:r>
              <a:rPr lang="ja-JP" altLang="en-US" sz="2400" dirty="0"/>
              <a:t>信託銀行などの金融機関が個別に行っていた資産管理を他社分と合わせて、一元管理。</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概要</a:t>
            </a:r>
          </a:p>
        </p:txBody>
      </p:sp>
      <p:pic>
        <p:nvPicPr>
          <p:cNvPr id="5" name="図 4"/>
          <p:cNvPicPr>
            <a:picLocks noChangeAspect="1"/>
          </p:cNvPicPr>
          <p:nvPr/>
        </p:nvPicPr>
        <p:blipFill>
          <a:blip r:embed="rId2"/>
          <a:stretch>
            <a:fillRect/>
          </a:stretch>
        </p:blipFill>
        <p:spPr>
          <a:xfrm>
            <a:off x="2122838" y="2200274"/>
            <a:ext cx="7877618" cy="3834765"/>
          </a:xfrm>
          <a:prstGeom prst="rect">
            <a:avLst/>
          </a:prstGeom>
        </p:spPr>
      </p:pic>
    </p:spTree>
    <p:extLst>
      <p:ext uri="{BB962C8B-B14F-4D97-AF65-F5344CB8AC3E}">
        <p14:creationId xmlns:p14="http://schemas.microsoft.com/office/powerpoint/2010/main" val="161886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1-2.</a:t>
            </a:r>
            <a:r>
              <a:rPr kumimoji="1" lang="ja-JP" altLang="en-US" b="1" dirty="0"/>
              <a:t>資産管理専門銀行の主要業務</a:t>
            </a:r>
          </a:p>
        </p:txBody>
      </p:sp>
      <p:sp>
        <p:nvSpPr>
          <p:cNvPr id="3" name="コンテンツ プレースホルダー 2"/>
          <p:cNvSpPr>
            <a:spLocks noGrp="1"/>
          </p:cNvSpPr>
          <p:nvPr>
            <p:ph sz="quarter" idx="18"/>
          </p:nvPr>
        </p:nvSpPr>
        <p:spPr>
          <a:xfrm>
            <a:off x="381000" y="1156851"/>
            <a:ext cx="11429999" cy="489070"/>
          </a:xfrm>
        </p:spPr>
        <p:txBody>
          <a:bodyPr/>
          <a:lstStyle/>
          <a:p>
            <a:pPr>
              <a:spcBef>
                <a:spcPts val="0"/>
              </a:spcBef>
              <a:spcAft>
                <a:spcPts val="0"/>
              </a:spcAft>
            </a:pPr>
            <a:r>
              <a:rPr lang="ja-JP" altLang="en-US" sz="2400" dirty="0"/>
              <a:t>主要な業務は、以下のとおり。</a:t>
            </a:r>
            <a:endParaRPr lang="en-US" altLang="ja-JP" sz="2400" dirty="0"/>
          </a:p>
          <a:p>
            <a:pPr marL="0" indent="0">
              <a:spcBef>
                <a:spcPts val="0"/>
              </a:spcBef>
              <a:spcAft>
                <a:spcPts val="0"/>
              </a:spcAft>
              <a:buNone/>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概要</a:t>
            </a:r>
          </a:p>
        </p:txBody>
      </p:sp>
      <p:graphicFrame>
        <p:nvGraphicFramePr>
          <p:cNvPr id="5" name="表 4"/>
          <p:cNvGraphicFramePr>
            <a:graphicFrameLocks noGrp="1"/>
          </p:cNvGraphicFramePr>
          <p:nvPr>
            <p:extLst>
              <p:ext uri="{D42A27DB-BD31-4B8C-83A1-F6EECF244321}">
                <p14:modId xmlns:p14="http://schemas.microsoft.com/office/powerpoint/2010/main" val="3950965282"/>
              </p:ext>
            </p:extLst>
          </p:nvPr>
        </p:nvGraphicFramePr>
        <p:xfrm>
          <a:off x="598462" y="2011677"/>
          <a:ext cx="10995073" cy="3348115"/>
        </p:xfrm>
        <a:graphic>
          <a:graphicData uri="http://schemas.openxmlformats.org/drawingml/2006/table">
            <a:tbl>
              <a:tblPr/>
              <a:tblGrid>
                <a:gridCol w="1851548">
                  <a:extLst>
                    <a:ext uri="{9D8B030D-6E8A-4147-A177-3AD203B41FA5}">
                      <a16:colId xmlns:a16="http://schemas.microsoft.com/office/drawing/2014/main" val="487719056"/>
                    </a:ext>
                  </a:extLst>
                </a:gridCol>
                <a:gridCol w="9143525">
                  <a:extLst>
                    <a:ext uri="{9D8B030D-6E8A-4147-A177-3AD203B41FA5}">
                      <a16:colId xmlns:a16="http://schemas.microsoft.com/office/drawing/2014/main" val="2512535864"/>
                    </a:ext>
                  </a:extLst>
                </a:gridCol>
              </a:tblGrid>
              <a:tr h="372013">
                <a:tc>
                  <a:txBody>
                    <a:bodyPr/>
                    <a:lstStyle/>
                    <a:p>
                      <a:pPr algn="ctr" fontAlgn="t"/>
                      <a:r>
                        <a:rPr lang="ja-JP" altLang="en-US" sz="2000" b="0" i="0" u="none" strike="noStrike">
                          <a:solidFill>
                            <a:srgbClr val="FFFFFF"/>
                          </a:solidFill>
                          <a:effectLst/>
                          <a:latin typeface="Meiryo UI" panose="020B0604030504040204" pitchFamily="50" charset="-128"/>
                          <a:ea typeface="Meiryo UI" panose="020B0604030504040204" pitchFamily="50" charset="-128"/>
                        </a:rPr>
                        <a:t>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a:txBody>
                    <a:bodyPr/>
                    <a:lstStyle/>
                    <a:p>
                      <a:pPr algn="ctr" fontAlgn="t"/>
                      <a:r>
                        <a:rPr lang="ja-JP" altLang="en-US" sz="2000" b="0" i="0" u="none" strike="noStrike" dirty="0">
                          <a:solidFill>
                            <a:srgbClr val="FFFFFF"/>
                          </a:solidFill>
                          <a:effectLst/>
                          <a:latin typeface="Meiryo UI" panose="020B0604030504040204" pitchFamily="50" charset="-128"/>
                          <a:ea typeface="Meiryo UI" panose="020B0604030504040204" pitchFamily="50" charset="-128"/>
                        </a:rPr>
                        <a:t>概要</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extLst>
                  <a:ext uri="{0D108BD9-81ED-4DB2-BD59-A6C34878D82A}">
                    <a16:rowId xmlns:a16="http://schemas.microsoft.com/office/drawing/2014/main" val="2109006346"/>
                  </a:ext>
                </a:extLst>
              </a:tr>
              <a:tr h="372013">
                <a:tc>
                  <a:txBody>
                    <a:bodyPr/>
                    <a:lstStyle/>
                    <a:p>
                      <a:pPr algn="l" fontAlgn="t"/>
                      <a:r>
                        <a:rPr lang="zh-TW" altLang="en-US" sz="2000" b="0" i="0" u="none" strike="noStrike">
                          <a:solidFill>
                            <a:srgbClr val="000000"/>
                          </a:solidFill>
                          <a:effectLst/>
                          <a:latin typeface="Meiryo UI" panose="020B0604030504040204" pitchFamily="50" charset="-128"/>
                          <a:ea typeface="Meiryo UI" panose="020B0604030504040204" pitchFamily="50" charset="-128"/>
                        </a:rPr>
                        <a:t>金銭／金外信託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金銭信託と金外信託にかかわる金銭、有価証券を保管、管理する。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8796175"/>
                  </a:ext>
                </a:extLst>
              </a:tr>
              <a:tr h="372013">
                <a:tc>
                  <a:txBody>
                    <a:bodyPr/>
                    <a:lstStyle/>
                    <a:p>
                      <a:pPr algn="l" fontAlgn="t"/>
                      <a:r>
                        <a:rPr lang="ja-JP" altLang="en-US" sz="2000" b="0" i="0" u="none" strike="noStrike">
                          <a:solidFill>
                            <a:srgbClr val="000000"/>
                          </a:solidFill>
                          <a:effectLst/>
                          <a:latin typeface="Meiryo UI" panose="020B0604030504040204" pitchFamily="50" charset="-128"/>
                          <a:ea typeface="Meiryo UI" panose="020B0604030504040204" pitchFamily="50" charset="-128"/>
                        </a:rPr>
                        <a:t>投資信託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投資信託にかかわる金銭、有価証券を保管、管理する。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304229"/>
                  </a:ext>
                </a:extLst>
              </a:tr>
              <a:tr h="744024">
                <a:tc>
                  <a:txBody>
                    <a:bodyPr/>
                    <a:lstStyle/>
                    <a:p>
                      <a:pPr algn="l" fontAlgn="t"/>
                      <a:r>
                        <a:rPr lang="ja-JP" altLang="en-US" sz="2000" b="0" i="0" u="none" strike="noStrike">
                          <a:solidFill>
                            <a:srgbClr val="000000"/>
                          </a:solidFill>
                          <a:effectLst/>
                          <a:latin typeface="Meiryo UI" panose="020B0604030504040204" pitchFamily="50" charset="-128"/>
                          <a:ea typeface="Meiryo UI" panose="020B0604030504040204" pitchFamily="50" charset="-128"/>
                        </a:rPr>
                        <a:t>年金信託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私的年金（厚生年金基金、国民年金基金、確定給付年金、確定拠出年金など）にかかわる金銭、有価証券を保管、管理する。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3597190"/>
                  </a:ext>
                </a:extLst>
              </a:tr>
              <a:tr h="372013">
                <a:tc>
                  <a:txBody>
                    <a:bodyPr/>
                    <a:lstStyle/>
                    <a:p>
                      <a:pPr algn="l" fontAlgn="t"/>
                      <a:r>
                        <a:rPr lang="ja-JP" altLang="en-US" sz="2000" b="0" i="0" u="none" strike="noStrike">
                          <a:solidFill>
                            <a:srgbClr val="000000"/>
                          </a:solidFill>
                          <a:effectLst/>
                          <a:latin typeface="Meiryo UI" panose="020B0604030504040204" pitchFamily="50" charset="-128"/>
                          <a:ea typeface="Meiryo UI" panose="020B0604030504040204" pitchFamily="50" charset="-128"/>
                        </a:rPr>
                        <a:t>有価証券の信託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有価証券の信託にかかわる有価証券を保管、管理する。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0740426"/>
                  </a:ext>
                </a:extLst>
              </a:tr>
              <a:tr h="372013">
                <a:tc>
                  <a:txBody>
                    <a:bodyPr/>
                    <a:lstStyle/>
                    <a:p>
                      <a:pPr algn="l" fontAlgn="t"/>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口座管理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企業等に代わって有価証券の売買、資金決済、元利金・配当金の代理受領を行う。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6805231"/>
                  </a:ext>
                </a:extLst>
              </a:tr>
              <a:tr h="372013">
                <a:tc>
                  <a:txBody>
                    <a:bodyPr/>
                    <a:lstStyle/>
                    <a:p>
                      <a:pPr algn="l" fontAlgn="t"/>
                      <a:r>
                        <a:rPr lang="ja-JP" altLang="en-US" sz="2000" b="0" i="0" u="none" strike="noStrike">
                          <a:solidFill>
                            <a:srgbClr val="000000"/>
                          </a:solidFill>
                          <a:effectLst/>
                          <a:latin typeface="Meiryo UI" panose="020B0604030504040204" pitchFamily="50" charset="-128"/>
                          <a:ea typeface="Meiryo UI" panose="020B0604030504040204" pitchFamily="50" charset="-128"/>
                        </a:rPr>
                        <a:t>レンディング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債券、株式の貸借、担保管理、資金決済などを行う。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61254507"/>
                  </a:ext>
                </a:extLst>
              </a:tr>
              <a:tr h="372013">
                <a:tc>
                  <a:txBody>
                    <a:bodyPr/>
                    <a:lstStyle/>
                    <a:p>
                      <a:pPr algn="l" fontAlgn="t"/>
                      <a:r>
                        <a:rPr lang="ja-JP" altLang="en-US" sz="2000" b="0" i="0" u="none" strike="noStrike">
                          <a:solidFill>
                            <a:srgbClr val="000000"/>
                          </a:solidFill>
                          <a:effectLst/>
                          <a:latin typeface="Meiryo UI" panose="020B0604030504040204" pitchFamily="50" charset="-128"/>
                          <a:ea typeface="Meiryo UI" panose="020B0604030504040204" pitchFamily="50" charset="-128"/>
                        </a:rPr>
                        <a:t>デリバティブ</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為替リスク、金利リスクのヘッジを行う。</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0864337"/>
                  </a:ext>
                </a:extLst>
              </a:tr>
            </a:tbl>
          </a:graphicData>
        </a:graphic>
      </p:graphicFrame>
    </p:spTree>
    <p:extLst>
      <p:ext uri="{BB962C8B-B14F-4D97-AF65-F5344CB8AC3E}">
        <p14:creationId xmlns:p14="http://schemas.microsoft.com/office/powerpoint/2010/main" val="129994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1-3.</a:t>
            </a:r>
            <a:r>
              <a:rPr kumimoji="1" lang="ja-JP" altLang="en-US" b="1" dirty="0"/>
              <a:t>資産管理銀行の立場</a:t>
            </a:r>
          </a:p>
        </p:txBody>
      </p:sp>
      <p:sp>
        <p:nvSpPr>
          <p:cNvPr id="3" name="コンテンツ プレースホルダー 2"/>
          <p:cNvSpPr>
            <a:spLocks noGrp="1"/>
          </p:cNvSpPr>
          <p:nvPr>
            <p:ph sz="quarter" idx="18"/>
          </p:nvPr>
        </p:nvSpPr>
        <p:spPr>
          <a:xfrm>
            <a:off x="381000" y="1156850"/>
            <a:ext cx="11429999" cy="879303"/>
          </a:xfrm>
        </p:spPr>
        <p:txBody>
          <a:bodyPr/>
          <a:lstStyle/>
          <a:p>
            <a:pPr>
              <a:spcBef>
                <a:spcPts val="0"/>
              </a:spcBef>
              <a:spcAft>
                <a:spcPts val="0"/>
              </a:spcAft>
            </a:pPr>
            <a:r>
              <a:rPr lang="en-US" altLang="ja-JP" sz="2400" dirty="0"/>
              <a:t>.</a:t>
            </a:r>
            <a:r>
              <a:rPr lang="ja-JP" altLang="en-US" sz="2400" dirty="0"/>
              <a:t>資産管理専門銀行の主要業務である金銭信託の概要は以下のとおり。投資一任契約の場合は、機関投資家ではなく、信託銀行が自身の判断で運用を行う。</a:t>
            </a:r>
            <a:endParaRPr lang="en-US" altLang="ja-JP" sz="2400" dirty="0"/>
          </a:p>
          <a:p>
            <a:pPr marL="0" indent="0">
              <a:spcBef>
                <a:spcPts val="0"/>
              </a:spcBef>
              <a:spcAft>
                <a:spcPts val="0"/>
              </a:spcAft>
              <a:buNone/>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概要</a:t>
            </a:r>
          </a:p>
        </p:txBody>
      </p:sp>
      <p:pic>
        <p:nvPicPr>
          <p:cNvPr id="6" name="図 5"/>
          <p:cNvPicPr>
            <a:picLocks noChangeAspect="1"/>
          </p:cNvPicPr>
          <p:nvPr/>
        </p:nvPicPr>
        <p:blipFill>
          <a:blip r:embed="rId2"/>
          <a:stretch>
            <a:fillRect/>
          </a:stretch>
        </p:blipFill>
        <p:spPr>
          <a:xfrm>
            <a:off x="1696474" y="2036154"/>
            <a:ext cx="8798024" cy="4801633"/>
          </a:xfrm>
          <a:prstGeom prst="rect">
            <a:avLst/>
          </a:prstGeom>
        </p:spPr>
      </p:pic>
    </p:spTree>
    <p:extLst>
      <p:ext uri="{BB962C8B-B14F-4D97-AF65-F5344CB8AC3E}">
        <p14:creationId xmlns:p14="http://schemas.microsoft.com/office/powerpoint/2010/main" val="3392150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b="1" dirty="0"/>
              <a:t>2</a:t>
            </a:r>
            <a:r>
              <a:rPr kumimoji="1" lang="en-US" altLang="ja-JP" b="1" dirty="0"/>
              <a:t>-1.</a:t>
            </a:r>
            <a:r>
              <a:rPr kumimoji="1" lang="ja-JP" altLang="en-US" b="1" dirty="0"/>
              <a:t>信託為替</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r>
              <a:rPr lang="ja-JP" altLang="en-US" sz="2400" dirty="0"/>
              <a:t>インターバンクの先物為替予約は締結時に決済口座が決まるが、信託為替の決済口座は決まっていない。</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 原則、実行日の前営業日に各機関投資家の受託銀行から決済指図（</a:t>
            </a:r>
            <a:r>
              <a:rPr lang="en-US" altLang="ja-JP" sz="2400" dirty="0"/>
              <a:t>MT202</a:t>
            </a:r>
            <a:r>
              <a:rPr lang="ja-JP" altLang="en-US" sz="2400" dirty="0"/>
              <a:t>または</a:t>
            </a:r>
            <a:r>
              <a:rPr lang="en-US" altLang="ja-JP" sz="2400" dirty="0"/>
              <a:t>FAX</a:t>
            </a:r>
            <a:r>
              <a:rPr lang="ja-JP" altLang="en-US" sz="2400" dirty="0"/>
              <a:t>）が送られてくるので、それに従って決済する。</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システム的には、信託為替（先物為替予約）の取引明細と決済指図をマッチングし、決済口座保有銀行に向けた決済指図（</a:t>
            </a:r>
            <a:r>
              <a:rPr lang="en-US" altLang="ja-JP" sz="2400" dirty="0"/>
              <a:t>MT202</a:t>
            </a:r>
            <a:r>
              <a:rPr lang="ja-JP" altLang="en-US" sz="2400" dirty="0"/>
              <a:t>）を生成する。</a:t>
            </a:r>
            <a:endParaRPr lang="en-US" altLang="ja-JP" sz="2400" dirty="0"/>
          </a:p>
          <a:p>
            <a:pPr>
              <a:spcBef>
                <a:spcPts val="0"/>
              </a:spcBef>
              <a:spcAft>
                <a:spcPts val="0"/>
              </a:spcAft>
            </a:pPr>
            <a:endParaRPr lang="en-US" altLang="ja-JP" sz="2400" dirty="0"/>
          </a:p>
          <a:p>
            <a:pPr marL="0" indent="0">
              <a:spcBef>
                <a:spcPts val="0"/>
              </a:spcBef>
              <a:spcAft>
                <a:spcPts val="0"/>
              </a:spcAft>
              <a:buNone/>
            </a:pPr>
            <a:endParaRPr lang="en-US" altLang="ja-JP" sz="1800" dirty="0"/>
          </a:p>
          <a:p>
            <a:pPr marL="0" indent="0">
              <a:spcBef>
                <a:spcPts val="0"/>
              </a:spcBef>
              <a:spcAft>
                <a:spcPts val="0"/>
              </a:spcAft>
              <a:buNone/>
            </a:pPr>
            <a:endParaRPr lang="en-US" altLang="ja-JP" sz="1800" dirty="0"/>
          </a:p>
          <a:p>
            <a:pPr marL="0" indent="0">
              <a:spcBef>
                <a:spcPts val="0"/>
              </a:spcBef>
              <a:spcAft>
                <a:spcPts val="0"/>
              </a:spcAft>
              <a:buNone/>
            </a:pPr>
            <a:endParaRPr lang="ja-JP" altLang="en-US" sz="18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endParaRPr kumimoji="1" lang="ja-JP" altLang="en-US" b="1" dirty="0"/>
          </a:p>
        </p:txBody>
      </p:sp>
    </p:spTree>
    <p:extLst>
      <p:ext uri="{BB962C8B-B14F-4D97-AF65-F5344CB8AC3E}">
        <p14:creationId xmlns:p14="http://schemas.microsoft.com/office/powerpoint/2010/main" val="1944762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b="1" dirty="0"/>
              <a:t>2</a:t>
            </a:r>
            <a:r>
              <a:rPr kumimoji="1" lang="en-US" altLang="ja-JP" b="1" dirty="0"/>
              <a:t>-2.</a:t>
            </a:r>
            <a:r>
              <a:rPr kumimoji="1" lang="ja-JP" altLang="en-US" b="1" dirty="0"/>
              <a:t>頭押さえと足決め</a:t>
            </a:r>
          </a:p>
        </p:txBody>
      </p:sp>
      <p:sp>
        <p:nvSpPr>
          <p:cNvPr id="3" name="コンテンツ プレースホルダー 2"/>
          <p:cNvSpPr>
            <a:spLocks noGrp="1"/>
          </p:cNvSpPr>
          <p:nvPr>
            <p:ph sz="quarter" idx="18"/>
          </p:nvPr>
        </p:nvSpPr>
        <p:spPr>
          <a:xfrm>
            <a:off x="381000" y="1156850"/>
            <a:ext cx="11429999" cy="531273"/>
          </a:xfrm>
        </p:spPr>
        <p:txBody>
          <a:bodyPr/>
          <a:lstStyle/>
          <a:p>
            <a:pPr>
              <a:spcBef>
                <a:spcPts val="0"/>
              </a:spcBef>
              <a:spcAft>
                <a:spcPts val="0"/>
              </a:spcAft>
            </a:pPr>
            <a:r>
              <a:rPr lang="ja-JP" altLang="en-US" sz="2400" dirty="0"/>
              <a:t>頭押さえと足決めについては、以下のとおり。</a:t>
            </a:r>
            <a:endParaRPr lang="en-US" altLang="ja-JP" sz="2400" dirty="0"/>
          </a:p>
          <a:p>
            <a:pPr marL="0" indent="0">
              <a:spcBef>
                <a:spcPts val="0"/>
              </a:spcBef>
              <a:spcAft>
                <a:spcPts val="0"/>
              </a:spcAft>
              <a:buNone/>
            </a:pPr>
            <a:endParaRPr lang="en-US" altLang="ja-JP" sz="1800" dirty="0"/>
          </a:p>
          <a:p>
            <a:pPr marL="0" indent="0">
              <a:spcBef>
                <a:spcPts val="0"/>
              </a:spcBef>
              <a:spcAft>
                <a:spcPts val="0"/>
              </a:spcAft>
              <a:buNone/>
            </a:pPr>
            <a:endParaRPr lang="en-US" altLang="ja-JP" sz="1800" dirty="0"/>
          </a:p>
          <a:p>
            <a:pPr marL="0" indent="0">
              <a:spcBef>
                <a:spcPts val="0"/>
              </a:spcBef>
              <a:spcAft>
                <a:spcPts val="0"/>
              </a:spcAft>
              <a:buNone/>
            </a:pPr>
            <a:endParaRPr lang="ja-JP" altLang="en-US" sz="18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endParaRPr kumimoji="1" lang="ja-JP" altLang="en-US" b="1" dirty="0"/>
          </a:p>
        </p:txBody>
      </p:sp>
      <p:pic>
        <p:nvPicPr>
          <p:cNvPr id="7" name="図 6"/>
          <p:cNvPicPr>
            <a:picLocks noChangeAspect="1"/>
          </p:cNvPicPr>
          <p:nvPr/>
        </p:nvPicPr>
        <p:blipFill>
          <a:blip r:embed="rId2"/>
          <a:stretch>
            <a:fillRect/>
          </a:stretch>
        </p:blipFill>
        <p:spPr>
          <a:xfrm>
            <a:off x="991947" y="1823123"/>
            <a:ext cx="10208104" cy="4887166"/>
          </a:xfrm>
          <a:prstGeom prst="rect">
            <a:avLst/>
          </a:prstGeom>
        </p:spPr>
      </p:pic>
    </p:spTree>
    <p:extLst>
      <p:ext uri="{BB962C8B-B14F-4D97-AF65-F5344CB8AC3E}">
        <p14:creationId xmlns:p14="http://schemas.microsoft.com/office/powerpoint/2010/main" val="2965027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b="1" dirty="0"/>
              <a:t>2</a:t>
            </a:r>
            <a:r>
              <a:rPr kumimoji="1" lang="en-US" altLang="ja-JP" b="1" dirty="0"/>
              <a:t>-3.</a:t>
            </a:r>
            <a:r>
              <a:rPr kumimoji="1" lang="ja-JP" altLang="en-US" b="1" dirty="0"/>
              <a:t>投資信託にかかわる外国為替相場</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endParaRPr lang="en-US" altLang="ja-JP" sz="2400" dirty="0"/>
          </a:p>
          <a:p>
            <a:pPr>
              <a:spcBef>
                <a:spcPts val="0"/>
              </a:spcBef>
              <a:spcAft>
                <a:spcPts val="0"/>
              </a:spcAft>
            </a:pPr>
            <a:r>
              <a:rPr lang="ja-JP" altLang="en-US" sz="2400" dirty="0"/>
              <a:t>投資信託協会の規定では、投資信託にかかわる対顧客の外国為替相場は、原則、三菱</a:t>
            </a:r>
            <a:r>
              <a:rPr lang="en-US" altLang="ja-JP" sz="2400" dirty="0"/>
              <a:t>UFJ</a:t>
            </a:r>
            <a:r>
              <a:rPr lang="ja-JP" altLang="en-US" sz="2400" dirty="0"/>
              <a:t>銀行の</a:t>
            </a:r>
            <a:r>
              <a:rPr lang="en-US" altLang="ja-JP" sz="2400" dirty="0"/>
              <a:t>TTM</a:t>
            </a:r>
            <a:r>
              <a:rPr lang="ja-JP" altLang="en-US" sz="2400" dirty="0"/>
              <a:t>を使用するように定められている。</a:t>
            </a:r>
            <a:endParaRPr lang="en-US" altLang="ja-JP" sz="2400" dirty="0"/>
          </a:p>
          <a:p>
            <a:pPr>
              <a:spcBef>
                <a:spcPts val="0"/>
              </a:spcBef>
              <a:spcAft>
                <a:spcPts val="0"/>
              </a:spcAft>
            </a:pPr>
            <a:endParaRPr lang="en-US" altLang="ja-JP" sz="2400" dirty="0"/>
          </a:p>
          <a:p>
            <a:pPr marL="0" indent="0">
              <a:spcBef>
                <a:spcPts val="0"/>
              </a:spcBef>
              <a:spcAft>
                <a:spcPts val="0"/>
              </a:spcAft>
              <a:buNone/>
            </a:pPr>
            <a:endParaRPr lang="en-US" altLang="ja-JP" sz="1800" dirty="0"/>
          </a:p>
          <a:p>
            <a:pPr marL="0" indent="0">
              <a:spcBef>
                <a:spcPts val="0"/>
              </a:spcBef>
              <a:spcAft>
                <a:spcPts val="0"/>
              </a:spcAft>
              <a:buNone/>
            </a:pPr>
            <a:endParaRPr lang="en-US" altLang="ja-JP" sz="1800" dirty="0"/>
          </a:p>
          <a:p>
            <a:pPr marL="0" indent="0">
              <a:spcBef>
                <a:spcPts val="0"/>
              </a:spcBef>
              <a:spcAft>
                <a:spcPts val="0"/>
              </a:spcAft>
              <a:buNone/>
            </a:pPr>
            <a:endParaRPr lang="ja-JP" altLang="en-US" sz="18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endParaRPr kumimoji="1" lang="ja-JP" altLang="en-US" b="1" dirty="0"/>
          </a:p>
        </p:txBody>
      </p:sp>
    </p:spTree>
    <p:extLst>
      <p:ext uri="{BB962C8B-B14F-4D97-AF65-F5344CB8AC3E}">
        <p14:creationId xmlns:p14="http://schemas.microsoft.com/office/powerpoint/2010/main" val="3402664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b="1" dirty="0"/>
              <a:t>2</a:t>
            </a:r>
            <a:r>
              <a:rPr kumimoji="1" lang="en-US" altLang="ja-JP" b="1" dirty="0"/>
              <a:t>-4.</a:t>
            </a:r>
            <a:r>
              <a:rPr kumimoji="1" lang="ja-JP" altLang="en-US" b="1" dirty="0"/>
              <a:t>為替オーバーレイ</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r>
              <a:rPr lang="ja-JP" altLang="en-US" sz="2400" dirty="0"/>
              <a:t>為替オーバーレイ（</a:t>
            </a:r>
            <a:r>
              <a:rPr lang="en-US" altLang="ja-JP" sz="2400" dirty="0"/>
              <a:t>Currency</a:t>
            </a:r>
            <a:r>
              <a:rPr lang="ja-JP" altLang="en-US" sz="2400" dirty="0"/>
              <a:t> </a:t>
            </a:r>
            <a:r>
              <a:rPr lang="en-US" altLang="ja-JP" sz="2400" dirty="0"/>
              <a:t>Overlay</a:t>
            </a:r>
            <a:r>
              <a:rPr lang="ja-JP" altLang="en-US" sz="2400" dirty="0"/>
              <a:t>）とは、外貨建資産の運用部分と為替部分を分離して、為替部分のヘッジを一括して行うもの。</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外貨建資産の運用に長けている者が為替ヘッジも得意としているとは限らない。</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そこで為替部分を分離して、為替ヘッジを得意とする者に委託することにより、為替リスクを低減させ、外貨建資産のトータルでのリターンを向上させる。</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１９８０年代後半に米国で始まり、日本でも今世紀初頭から為替ヘッジ戦略の一手法として注目され、定着しつつある。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marL="0" indent="0">
              <a:spcBef>
                <a:spcPts val="0"/>
              </a:spcBef>
              <a:spcAft>
                <a:spcPts val="0"/>
              </a:spcAft>
              <a:buNone/>
            </a:pPr>
            <a:endParaRPr lang="en-US" altLang="ja-JP" sz="1800" dirty="0"/>
          </a:p>
          <a:p>
            <a:pPr marL="0" indent="0">
              <a:spcBef>
                <a:spcPts val="0"/>
              </a:spcBef>
              <a:spcAft>
                <a:spcPts val="0"/>
              </a:spcAft>
              <a:buNone/>
            </a:pPr>
            <a:endParaRPr lang="en-US" altLang="ja-JP" sz="1800" dirty="0"/>
          </a:p>
          <a:p>
            <a:pPr marL="0" indent="0">
              <a:spcBef>
                <a:spcPts val="0"/>
              </a:spcBef>
              <a:spcAft>
                <a:spcPts val="0"/>
              </a:spcAft>
              <a:buNone/>
            </a:pPr>
            <a:r>
              <a:rPr lang="en-US" altLang="ja-JP" sz="1800" dirty="0"/>
              <a:t>※Overlay</a:t>
            </a:r>
            <a:r>
              <a:rPr lang="ja-JP" altLang="en-US" sz="1800" dirty="0"/>
              <a:t>：上乗せする、重ねる、かぶせる、の意味。システムでは帳票データに重ねる帳票レイアウトをオーバーレイと称する。</a:t>
            </a:r>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p>
        </p:txBody>
      </p:sp>
    </p:spTree>
    <p:extLst>
      <p:ext uri="{BB962C8B-B14F-4D97-AF65-F5344CB8AC3E}">
        <p14:creationId xmlns:p14="http://schemas.microsoft.com/office/powerpoint/2010/main" val="121201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2-4.</a:t>
            </a:r>
            <a:r>
              <a:rPr kumimoji="1" lang="ja-JP" altLang="en-US" b="1" dirty="0"/>
              <a:t>為替オーバーレイ</a:t>
            </a:r>
          </a:p>
        </p:txBody>
      </p:sp>
      <p:sp>
        <p:nvSpPr>
          <p:cNvPr id="3" name="コンテンツ プレースホルダー 2"/>
          <p:cNvSpPr>
            <a:spLocks noGrp="1"/>
          </p:cNvSpPr>
          <p:nvPr>
            <p:ph sz="quarter" idx="18"/>
          </p:nvPr>
        </p:nvSpPr>
        <p:spPr>
          <a:xfrm>
            <a:off x="381000" y="1156851"/>
            <a:ext cx="11429999" cy="475002"/>
          </a:xfrm>
        </p:spPr>
        <p:txBody>
          <a:bodyPr/>
          <a:lstStyle/>
          <a:p>
            <a:pPr>
              <a:spcBef>
                <a:spcPts val="0"/>
              </a:spcBef>
              <a:spcAft>
                <a:spcPts val="0"/>
              </a:spcAft>
            </a:pPr>
            <a:r>
              <a:rPr lang="ja-JP" altLang="en-US" sz="2400" dirty="0"/>
              <a:t>従来の手法では、各運用会社が外国株式、外国債券の運用を行い、為替ヘッジも行う。</a:t>
            </a: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p>
        </p:txBody>
      </p:sp>
      <p:sp>
        <p:nvSpPr>
          <p:cNvPr id="58" name="テキスト ボックス 104"/>
          <p:cNvSpPr txBox="1"/>
          <p:nvPr/>
        </p:nvSpPr>
        <p:spPr>
          <a:xfrm>
            <a:off x="7100047" y="1835769"/>
            <a:ext cx="5051402" cy="4511243"/>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nSpc>
                <a:spcPct val="150000"/>
              </a:lnSpc>
            </a:pPr>
            <a:r>
              <a:rPr lang="ja-JP" altLang="en-US" sz="1800" dirty="0">
                <a:latin typeface="Meiryo UI" panose="020B0604030504040204" pitchFamily="50" charset="-128"/>
                <a:ea typeface="Meiryo UI" panose="020B0604030504040204" pitchFamily="50" charset="-128"/>
              </a:rPr>
              <a:t>資産運用マネージャが為替ヘッジが得意とは限らない</a:t>
            </a:r>
          </a:p>
          <a:p>
            <a:pPr>
              <a:lnSpc>
                <a:spcPct val="150000"/>
              </a:lnSpc>
            </a:pPr>
            <a:r>
              <a:rPr lang="ja-JP" altLang="en-US" sz="1800" dirty="0">
                <a:latin typeface="Meiryo UI" panose="020B0604030504040204" pitchFamily="50" charset="-128"/>
                <a:ea typeface="Meiryo UI" panose="020B0604030504040204" pitchFamily="50" charset="-128"/>
              </a:rPr>
              <a:t>  ✓外国株式・外国債券マネージャは為替リスクをあまり気にしない傾向</a:t>
            </a:r>
          </a:p>
          <a:p>
            <a:pPr>
              <a:lnSpc>
                <a:spcPct val="150000"/>
              </a:lnSpc>
            </a:pPr>
            <a:endParaRPr lang="ja-JP" altLang="en-US" sz="1800" dirty="0">
              <a:latin typeface="Meiryo UI" panose="020B0604030504040204" pitchFamily="50" charset="-128"/>
              <a:ea typeface="Meiryo UI" panose="020B0604030504040204" pitchFamily="50" charset="-128"/>
            </a:endParaRPr>
          </a:p>
          <a:p>
            <a:pPr>
              <a:lnSpc>
                <a:spcPct val="150000"/>
              </a:lnSpc>
            </a:pPr>
            <a:r>
              <a:rPr lang="ja-JP" altLang="en-US" sz="1800" dirty="0">
                <a:latin typeface="Meiryo UI" panose="020B0604030504040204" pitchFamily="50" charset="-128"/>
                <a:ea typeface="Meiryo UI" panose="020B0604030504040204" pitchFamily="50" charset="-128"/>
              </a:rPr>
              <a:t>運用会社毎に為替ヘッジを行うため、非効率	</a:t>
            </a:r>
          </a:p>
          <a:p>
            <a:pPr>
              <a:lnSpc>
                <a:spcPct val="150000"/>
              </a:lnSpc>
            </a:pPr>
            <a:r>
              <a:rPr lang="ja-JP" altLang="en-US" sz="1800" dirty="0">
                <a:latin typeface="Meiryo UI" panose="020B0604030504040204" pitchFamily="50" charset="-128"/>
                <a:ea typeface="Meiryo UI" panose="020B0604030504040204" pitchFamily="50" charset="-128"/>
              </a:rPr>
              <a:t>  ✓運用会社間のシェア調整等で無駄な為替売買が発生</a:t>
            </a:r>
          </a:p>
          <a:p>
            <a:pPr>
              <a:lnSpc>
                <a:spcPct val="150000"/>
              </a:lnSpc>
            </a:pPr>
            <a:endParaRPr lang="ja-JP" altLang="en-US" sz="1800" dirty="0">
              <a:latin typeface="Meiryo UI" panose="020B0604030504040204" pitchFamily="50" charset="-128"/>
              <a:ea typeface="Meiryo UI" panose="020B0604030504040204" pitchFamily="50" charset="-128"/>
            </a:endParaRPr>
          </a:p>
          <a:p>
            <a:pPr>
              <a:lnSpc>
                <a:spcPct val="150000"/>
              </a:lnSpc>
            </a:pPr>
            <a:r>
              <a:rPr lang="ja-JP" altLang="en-US" sz="1800" dirty="0">
                <a:latin typeface="Meiryo UI" panose="020B0604030504040204" pitchFamily="50" charset="-128"/>
                <a:ea typeface="Meiryo UI" panose="020B0604030504040204" pitchFamily="50" charset="-128"/>
              </a:rPr>
              <a:t>運用管理が煩雑・曖昧	</a:t>
            </a:r>
          </a:p>
          <a:p>
            <a:pPr>
              <a:lnSpc>
                <a:spcPct val="150000"/>
              </a:lnSpc>
            </a:pPr>
            <a:r>
              <a:rPr lang="ja-JP" altLang="en-US" sz="1800" dirty="0">
                <a:latin typeface="Meiryo UI" panose="020B0604030504040204" pitchFamily="50" charset="-128"/>
                <a:ea typeface="Meiryo UI" panose="020B0604030504040204" pitchFamily="50" charset="-128"/>
              </a:rPr>
              <a:t>  ✓外貨建資産の運用と為替の区別がない／リターンの源泉が曖昧</a:t>
            </a:r>
          </a:p>
        </p:txBody>
      </p:sp>
      <p:pic>
        <p:nvPicPr>
          <p:cNvPr id="61" name="図 60"/>
          <p:cNvPicPr>
            <a:picLocks noChangeAspect="1"/>
          </p:cNvPicPr>
          <p:nvPr/>
        </p:nvPicPr>
        <p:blipFill>
          <a:blip r:embed="rId2"/>
          <a:stretch>
            <a:fillRect/>
          </a:stretch>
        </p:blipFill>
        <p:spPr>
          <a:xfrm>
            <a:off x="117521" y="1835769"/>
            <a:ext cx="6649039" cy="4363432"/>
          </a:xfrm>
          <a:prstGeom prst="rect">
            <a:avLst/>
          </a:prstGeom>
        </p:spPr>
      </p:pic>
      <p:sp>
        <p:nvSpPr>
          <p:cNvPr id="62" name="角丸四角形 61"/>
          <p:cNvSpPr/>
          <p:nvPr/>
        </p:nvSpPr>
        <p:spPr>
          <a:xfrm>
            <a:off x="8999095" y="197017"/>
            <a:ext cx="2743200" cy="62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為替オーバーレイ導入前</a:t>
            </a:r>
          </a:p>
        </p:txBody>
      </p:sp>
    </p:spTree>
    <p:extLst>
      <p:ext uri="{BB962C8B-B14F-4D97-AF65-F5344CB8AC3E}">
        <p14:creationId xmlns:p14="http://schemas.microsoft.com/office/powerpoint/2010/main" val="256567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2-4.</a:t>
            </a:r>
            <a:r>
              <a:rPr kumimoji="1" lang="ja-JP" altLang="en-US" b="1" dirty="0"/>
              <a:t>為替オーバーレイ</a:t>
            </a:r>
          </a:p>
        </p:txBody>
      </p:sp>
      <p:sp>
        <p:nvSpPr>
          <p:cNvPr id="3" name="コンテンツ プレースホルダー 2"/>
          <p:cNvSpPr>
            <a:spLocks noGrp="1"/>
          </p:cNvSpPr>
          <p:nvPr>
            <p:ph sz="quarter" idx="18"/>
          </p:nvPr>
        </p:nvSpPr>
        <p:spPr>
          <a:xfrm>
            <a:off x="381000" y="1156851"/>
            <a:ext cx="11429999" cy="475002"/>
          </a:xfrm>
        </p:spPr>
        <p:txBody>
          <a:bodyPr/>
          <a:lstStyle/>
          <a:p>
            <a:pPr>
              <a:spcBef>
                <a:spcPts val="0"/>
              </a:spcBef>
              <a:spcAft>
                <a:spcPts val="0"/>
              </a:spcAft>
            </a:pPr>
            <a:r>
              <a:rPr lang="ja-JP" altLang="en-US" sz="2400" dirty="0"/>
              <a:t>外貨建資産の運用は各社で行うが、為替部分を分離して、一元的に為替ヘッジを行う。</a:t>
            </a:r>
          </a:p>
          <a:p>
            <a:pPr marL="0" indent="0">
              <a:spcBef>
                <a:spcPts val="0"/>
              </a:spcBef>
              <a:spcAft>
                <a:spcPts val="0"/>
              </a:spcAft>
              <a:buNone/>
            </a:pPr>
            <a:endParaRPr lang="en-US" altLang="ja-JP" sz="2400" dirty="0"/>
          </a:p>
          <a:p>
            <a:pPr>
              <a:spcBef>
                <a:spcPts val="0"/>
              </a:spcBef>
              <a:spcAft>
                <a:spcPts val="0"/>
              </a:spcAft>
            </a:pPr>
            <a:endParaRPr lang="en-US" altLang="ja-JP" sz="2400" dirty="0"/>
          </a:p>
          <a:p>
            <a:pPr marL="0" indent="0">
              <a:spcBef>
                <a:spcPts val="0"/>
              </a:spcBef>
              <a:spcAft>
                <a:spcPts val="0"/>
              </a:spcAft>
              <a:buNone/>
            </a:pPr>
            <a:endParaRPr lang="en-US" altLang="zh-TW" sz="2400" dirty="0"/>
          </a:p>
          <a:p>
            <a:pPr marL="0" indent="0">
              <a:spcBef>
                <a:spcPts val="0"/>
              </a:spcBef>
              <a:spcAft>
                <a:spcPts val="0"/>
              </a:spcAft>
              <a:buNone/>
            </a:pPr>
            <a:endParaRPr lang="zh-TW" altLang="en-US" sz="2400" dirty="0"/>
          </a:p>
          <a:p>
            <a:pPr>
              <a:spcBef>
                <a:spcPts val="0"/>
              </a:spcBef>
              <a:spcAft>
                <a:spcPts val="0"/>
              </a:spcAft>
            </a:pPr>
            <a:endParaRPr lang="en-US" altLang="ja-JP" sz="2400" dirty="0"/>
          </a:p>
          <a:p>
            <a:pPr marL="0" indent="0">
              <a:spcBef>
                <a:spcPts val="0"/>
              </a:spcBef>
              <a:spcAft>
                <a:spcPts val="0"/>
              </a:spcAft>
              <a:buNone/>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lang="ja-JP" altLang="en-US" b="1" dirty="0"/>
              <a:t>為替のバリエーション</a:t>
            </a:r>
          </a:p>
        </p:txBody>
      </p:sp>
      <p:sp>
        <p:nvSpPr>
          <p:cNvPr id="18" name="テキスト ボックス 104"/>
          <p:cNvSpPr txBox="1"/>
          <p:nvPr/>
        </p:nvSpPr>
        <p:spPr>
          <a:xfrm>
            <a:off x="7100047" y="1835769"/>
            <a:ext cx="5051402" cy="4511243"/>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nSpc>
                <a:spcPct val="150000"/>
              </a:lnSpc>
            </a:pPr>
            <a:r>
              <a:rPr lang="ja-JP" altLang="en-US" sz="1800" dirty="0">
                <a:latin typeface="Meiryo UI" panose="020B0604030504040204" pitchFamily="50" charset="-128"/>
                <a:ea typeface="Meiryo UI" panose="020B0604030504040204" pitchFamily="50" charset="-128"/>
              </a:rPr>
              <a:t>運用会社の得意分野への特化</a:t>
            </a:r>
          </a:p>
          <a:p>
            <a:pPr>
              <a:lnSpc>
                <a:spcPct val="150000"/>
              </a:lnSpc>
            </a:pPr>
            <a:r>
              <a:rPr lang="ja-JP" altLang="en-US" sz="1800" dirty="0">
                <a:latin typeface="Meiryo UI" panose="020B0604030504040204" pitchFamily="50" charset="-128"/>
                <a:ea typeface="Meiryo UI" panose="020B0604030504040204" pitchFamily="50" charset="-128"/>
              </a:rPr>
              <a:t>  ✓運用会社をその得意分野（株式、債券、為替等）に特化</a:t>
            </a:r>
          </a:p>
          <a:p>
            <a:pPr>
              <a:lnSpc>
                <a:spcPct val="150000"/>
              </a:lnSpc>
            </a:pPr>
            <a:endParaRPr lang="ja-JP" altLang="en-US" sz="1800" dirty="0">
              <a:latin typeface="Meiryo UI" panose="020B0604030504040204" pitchFamily="50" charset="-128"/>
              <a:ea typeface="Meiryo UI" panose="020B0604030504040204" pitchFamily="50" charset="-128"/>
            </a:endParaRPr>
          </a:p>
          <a:p>
            <a:pPr>
              <a:lnSpc>
                <a:spcPct val="150000"/>
              </a:lnSpc>
            </a:pPr>
            <a:r>
              <a:rPr lang="ja-JP" altLang="en-US" sz="1800" dirty="0">
                <a:latin typeface="Meiryo UI" panose="020B0604030504040204" pitchFamily="50" charset="-128"/>
                <a:ea typeface="Meiryo UI" panose="020B0604030504040204" pitchFamily="50" charset="-128"/>
              </a:rPr>
              <a:t>為替ヘッジの効率化	</a:t>
            </a:r>
          </a:p>
          <a:p>
            <a:pPr>
              <a:lnSpc>
                <a:spcPct val="150000"/>
              </a:lnSpc>
            </a:pPr>
            <a:r>
              <a:rPr lang="ja-JP" altLang="en-US" sz="1800" dirty="0">
                <a:latin typeface="Meiryo UI" panose="020B0604030504040204" pitchFamily="50" charset="-128"/>
                <a:ea typeface="Meiryo UI" panose="020B0604030504040204" pitchFamily="50" charset="-128"/>
              </a:rPr>
              <a:t>  ✓一元化により、個別にヘッジする無駄を排除</a:t>
            </a:r>
          </a:p>
          <a:p>
            <a:pPr>
              <a:lnSpc>
                <a:spcPct val="150000"/>
              </a:lnSpc>
            </a:pPr>
            <a:r>
              <a:rPr lang="ja-JP" altLang="en-US" sz="1800" dirty="0">
                <a:latin typeface="Meiryo UI" panose="020B0604030504040204" pitchFamily="50" charset="-128"/>
                <a:ea typeface="Meiryo UI" panose="020B0604030504040204" pitchFamily="50" charset="-128"/>
              </a:rPr>
              <a:t>  ✓スケールメリットを享受</a:t>
            </a:r>
          </a:p>
          <a:p>
            <a:pPr>
              <a:lnSpc>
                <a:spcPct val="150000"/>
              </a:lnSpc>
            </a:pPr>
            <a:endParaRPr lang="ja-JP" altLang="en-US" sz="1800" dirty="0">
              <a:latin typeface="Meiryo UI" panose="020B0604030504040204" pitchFamily="50" charset="-128"/>
              <a:ea typeface="Meiryo UI" panose="020B0604030504040204" pitchFamily="50" charset="-128"/>
            </a:endParaRPr>
          </a:p>
          <a:p>
            <a:pPr>
              <a:lnSpc>
                <a:spcPct val="150000"/>
              </a:lnSpc>
            </a:pPr>
            <a:r>
              <a:rPr lang="ja-JP" altLang="en-US" sz="1800" dirty="0">
                <a:latin typeface="Meiryo UI" panose="020B0604030504040204" pitchFamily="50" charset="-128"/>
                <a:ea typeface="Meiryo UI" panose="020B0604030504040204" pitchFamily="50" charset="-128"/>
              </a:rPr>
              <a:t>運用管理の明確・簡素化</a:t>
            </a:r>
          </a:p>
          <a:p>
            <a:pPr>
              <a:lnSpc>
                <a:spcPct val="150000"/>
              </a:lnSpc>
            </a:pPr>
            <a:r>
              <a:rPr lang="ja-JP" altLang="en-US" sz="1800" dirty="0">
                <a:latin typeface="Meiryo UI" panose="020B0604030504040204" pitchFamily="50" charset="-128"/>
                <a:ea typeface="Meiryo UI" panose="020B0604030504040204" pitchFamily="50" charset="-128"/>
              </a:rPr>
              <a:t>  ✓外貨建資産の運用と為替（資金収益と為替差益）を明確に区別することが可能</a:t>
            </a:r>
          </a:p>
        </p:txBody>
      </p:sp>
      <p:pic>
        <p:nvPicPr>
          <p:cNvPr id="16" name="図 15"/>
          <p:cNvPicPr>
            <a:picLocks noChangeAspect="1"/>
          </p:cNvPicPr>
          <p:nvPr/>
        </p:nvPicPr>
        <p:blipFill>
          <a:blip r:embed="rId2"/>
          <a:stretch>
            <a:fillRect/>
          </a:stretch>
        </p:blipFill>
        <p:spPr>
          <a:xfrm>
            <a:off x="112540" y="1809058"/>
            <a:ext cx="6639952" cy="4992934"/>
          </a:xfrm>
          <a:prstGeom prst="rect">
            <a:avLst/>
          </a:prstGeom>
        </p:spPr>
      </p:pic>
      <p:sp>
        <p:nvSpPr>
          <p:cNvPr id="21" name="角丸四角形 20"/>
          <p:cNvSpPr/>
          <p:nvPr/>
        </p:nvSpPr>
        <p:spPr>
          <a:xfrm>
            <a:off x="8999095" y="197017"/>
            <a:ext cx="2743200" cy="621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為替オーバーレイ導入後</a:t>
            </a:r>
          </a:p>
        </p:txBody>
      </p:sp>
    </p:spTree>
    <p:extLst>
      <p:ext uri="{BB962C8B-B14F-4D97-AF65-F5344CB8AC3E}">
        <p14:creationId xmlns:p14="http://schemas.microsoft.com/office/powerpoint/2010/main" val="91570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sz="quarter" idx="18"/>
          </p:nvPr>
        </p:nvSpPr>
        <p:spPr>
          <a:xfrm>
            <a:off x="225083" y="1156851"/>
            <a:ext cx="11698457" cy="475002"/>
          </a:xfrm>
        </p:spPr>
        <p:txBody>
          <a:bodyPr/>
          <a:lstStyle/>
          <a:p>
            <a:pPr>
              <a:spcBef>
                <a:spcPts val="0"/>
              </a:spcBef>
              <a:spcAft>
                <a:spcPts val="0"/>
              </a:spcAft>
            </a:pPr>
            <a:r>
              <a:rPr lang="ja-JP" altLang="en-US" sz="2400" dirty="0"/>
              <a:t>証券システムは対外システムとの接続も多く、多額のシステム投資が必要な装置産業とされる。</a:t>
            </a:r>
          </a:p>
          <a:p>
            <a:pPr marL="0" indent="0">
              <a:spcBef>
                <a:spcPts val="0"/>
              </a:spcBef>
              <a:spcAft>
                <a:spcPts val="0"/>
              </a:spcAft>
              <a:buNone/>
            </a:pPr>
            <a:endParaRPr lang="en-US" altLang="ja-JP" sz="2400" dirty="0"/>
          </a:p>
          <a:p>
            <a:pPr>
              <a:spcBef>
                <a:spcPts val="0"/>
              </a:spcBef>
              <a:spcAft>
                <a:spcPts val="0"/>
              </a:spcAft>
            </a:pPr>
            <a:endParaRPr lang="en-US" altLang="ja-JP" sz="2400" dirty="0"/>
          </a:p>
          <a:p>
            <a:pPr marL="0" indent="0">
              <a:spcBef>
                <a:spcPts val="0"/>
              </a:spcBef>
              <a:spcAft>
                <a:spcPts val="0"/>
              </a:spcAft>
              <a:buNone/>
            </a:pPr>
            <a:endParaRPr lang="en-US" altLang="zh-TW" sz="2400" dirty="0"/>
          </a:p>
          <a:p>
            <a:pPr marL="0" indent="0">
              <a:spcBef>
                <a:spcPts val="0"/>
              </a:spcBef>
              <a:spcAft>
                <a:spcPts val="0"/>
              </a:spcAft>
              <a:buNone/>
            </a:pPr>
            <a:endParaRPr lang="zh-TW" altLang="en-US" sz="2400" dirty="0"/>
          </a:p>
          <a:p>
            <a:pPr>
              <a:spcBef>
                <a:spcPts val="0"/>
              </a:spcBef>
              <a:spcAft>
                <a:spcPts val="0"/>
              </a:spcAft>
            </a:pPr>
            <a:endParaRPr lang="en-US" altLang="ja-JP" sz="2400" dirty="0"/>
          </a:p>
          <a:p>
            <a:pPr marL="0" indent="0">
              <a:spcBef>
                <a:spcPts val="0"/>
              </a:spcBef>
              <a:spcAft>
                <a:spcPts val="0"/>
              </a:spcAft>
              <a:buNone/>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p:txBody>
      </p:sp>
      <p:sp>
        <p:nvSpPr>
          <p:cNvPr id="2" name="タイトル 1"/>
          <p:cNvSpPr>
            <a:spLocks noGrp="1"/>
          </p:cNvSpPr>
          <p:nvPr>
            <p:ph type="title"/>
          </p:nvPr>
        </p:nvSpPr>
        <p:spPr/>
        <p:txBody>
          <a:bodyPr/>
          <a:lstStyle/>
          <a:p>
            <a:r>
              <a:rPr lang="en-US" altLang="ja-JP" b="1" dirty="0"/>
              <a:t>3</a:t>
            </a:r>
            <a:r>
              <a:rPr kumimoji="1" lang="en-US" altLang="ja-JP" b="1" dirty="0"/>
              <a:t>-1.</a:t>
            </a:r>
            <a:r>
              <a:rPr kumimoji="1" lang="ja-JP" altLang="en-US" b="1" dirty="0"/>
              <a:t>証券システムの概要</a:t>
            </a:r>
          </a:p>
        </p:txBody>
      </p:sp>
      <p:sp>
        <p:nvSpPr>
          <p:cNvPr id="4" name="コンテンツ プレースホルダー 3"/>
          <p:cNvSpPr>
            <a:spLocks noGrp="1"/>
          </p:cNvSpPr>
          <p:nvPr>
            <p:ph sz="quarter" idx="19"/>
          </p:nvPr>
        </p:nvSpPr>
        <p:spPr/>
        <p:txBody>
          <a:bodyPr/>
          <a:lstStyle/>
          <a:p>
            <a:pPr marL="0" indent="0">
              <a:buNone/>
            </a:pPr>
            <a:r>
              <a:rPr lang="en-US" altLang="ja-JP" b="1" dirty="0"/>
              <a:t>3.</a:t>
            </a:r>
            <a:r>
              <a:rPr lang="ja-JP" altLang="en-US" b="1" dirty="0"/>
              <a:t>証券システム</a:t>
            </a:r>
            <a:endParaRPr kumimoji="1" lang="ja-JP" altLang="en-US" b="1" dirty="0"/>
          </a:p>
        </p:txBody>
      </p:sp>
      <p:pic>
        <p:nvPicPr>
          <p:cNvPr id="7" name="図 6"/>
          <p:cNvPicPr>
            <a:picLocks noChangeAspect="1"/>
          </p:cNvPicPr>
          <p:nvPr/>
        </p:nvPicPr>
        <p:blipFill>
          <a:blip r:embed="rId2"/>
          <a:stretch>
            <a:fillRect/>
          </a:stretch>
        </p:blipFill>
        <p:spPr>
          <a:xfrm>
            <a:off x="423573" y="1738285"/>
            <a:ext cx="11318722" cy="5119715"/>
          </a:xfrm>
          <a:prstGeom prst="rect">
            <a:avLst/>
          </a:prstGeom>
        </p:spPr>
      </p:pic>
    </p:spTree>
    <p:extLst>
      <p:ext uri="{BB962C8B-B14F-4D97-AF65-F5344CB8AC3E}">
        <p14:creationId xmlns:p14="http://schemas.microsoft.com/office/powerpoint/2010/main" val="36143192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13" ma:contentTypeDescription="Create a new document." ma:contentTypeScope="" ma:versionID="2d2f3a2ac785ac28046e62ce3a0c3d18">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5ae715e7de85c95489ae438eaa7e4bec"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Props1.xml><?xml version="1.0" encoding="utf-8"?>
<ds:datastoreItem xmlns:ds="http://schemas.openxmlformats.org/officeDocument/2006/customXml" ds:itemID="{9781F352-C524-4C44-A1F9-51A32B8B34F6}">
  <ds:schemaRefs>
    <ds:schemaRef ds:uri="http://schemas.microsoft.com/sharepoint/v3/contenttype/forms"/>
  </ds:schemaRefs>
</ds:datastoreItem>
</file>

<file path=customXml/itemProps2.xml><?xml version="1.0" encoding="utf-8"?>
<ds:datastoreItem xmlns:ds="http://schemas.openxmlformats.org/officeDocument/2006/customXml" ds:itemID="{64DDF7A1-FB62-4DAF-B64C-46A8D1700783}"/>
</file>

<file path=customXml/itemProps3.xml><?xml version="1.0" encoding="utf-8"?>
<ds:datastoreItem xmlns:ds="http://schemas.openxmlformats.org/officeDocument/2006/customXml" ds:itemID="{CA7350E9-0508-4B6B-BBEF-3513BDD74D19}">
  <ds:schemaRefs>
    <ds:schemaRef ds:uri="http://purl.org/dc/terms/"/>
    <ds:schemaRef ds:uri="http://purl.org/dc/dcmitype/"/>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elements/1.1/"/>
    <ds:schemaRef ds:uri="http://schemas.openxmlformats.org/package/2006/metadata/core-properties"/>
    <ds:schemaRef ds:uri="adc38d54-8b7f-495c-9205-663ee90ec41c"/>
    <ds:schemaRef ds:uri="92fcded3-db20-43a3-a341-4851807cbd60"/>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18237</TotalTime>
  <Words>1062</Words>
  <Application>Microsoft Office PowerPoint</Application>
  <PresentationFormat>ワイド画面</PresentationFormat>
  <Paragraphs>231</Paragraphs>
  <Slides>12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Graphik</vt:lpstr>
      <vt:lpstr>Meiryo UI</vt:lpstr>
      <vt:lpstr>游ゴシック</vt:lpstr>
      <vt:lpstr>游ゴシック Light</vt:lpstr>
      <vt:lpstr>Arial</vt:lpstr>
      <vt:lpstr>Office テーマ</vt:lpstr>
      <vt:lpstr>PowerPoint プレゼンテーション</vt:lpstr>
      <vt:lpstr>1-1.資産管理専門銀行とは①</vt:lpstr>
      <vt:lpstr>1-1.資産管理専門銀行とは②</vt:lpstr>
      <vt:lpstr>1-2.資産管理専門銀行の主要業務</vt:lpstr>
      <vt:lpstr>1-3.資産管理銀行の立場</vt:lpstr>
      <vt:lpstr>2-1.信託為替</vt:lpstr>
      <vt:lpstr>2-2.頭押さえと足決め</vt:lpstr>
      <vt:lpstr>2-3.投資信託にかかわる外国為替相場</vt:lpstr>
      <vt:lpstr>2-4.為替オーバーレイ</vt:lpstr>
      <vt:lpstr>2-4.為替オーバーレイ</vt:lpstr>
      <vt:lpstr>2-4.為替オーバーレイ</vt:lpstr>
      <vt:lpstr>3-1.証券システムの概要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Windows User</dc:creator>
  <cp:lastModifiedBy>Toyoda, Megumi</cp:lastModifiedBy>
  <cp:revision>313</cp:revision>
  <dcterms:created xsi:type="dcterms:W3CDTF">2020-03-30T06:46:35Z</dcterms:created>
  <dcterms:modified xsi:type="dcterms:W3CDTF">2024-12-16T04:21:58Z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ies>
</file>