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Ex2.xml" ContentType="application/vnd.ms-office.chartex+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42" r:id="rId4"/>
  </p:sldMasterIdLst>
  <p:notesMasterIdLst>
    <p:notesMasterId r:id="rId18"/>
  </p:notesMasterIdLst>
  <p:handoutMasterIdLst>
    <p:handoutMasterId r:id="rId19"/>
  </p:handoutMasterIdLst>
  <p:sldIdLst>
    <p:sldId id="3969" r:id="rId5"/>
    <p:sldId id="4057" r:id="rId6"/>
    <p:sldId id="4061" r:id="rId7"/>
    <p:sldId id="4064" r:id="rId8"/>
    <p:sldId id="4054" r:id="rId9"/>
    <p:sldId id="4068" r:id="rId10"/>
    <p:sldId id="4067" r:id="rId11"/>
    <p:sldId id="4049" r:id="rId12"/>
    <p:sldId id="4055" r:id="rId13"/>
    <p:sldId id="4056" r:id="rId14"/>
    <p:sldId id="3996" r:id="rId15"/>
    <p:sldId id="3995" r:id="rId16"/>
    <p:sldId id="4060" r:id="rId17"/>
  </p:sldIdLst>
  <p:sldSz cx="9901238" cy="6858000"/>
  <p:notesSz cx="6807200" cy="9939338"/>
  <p:custDataLst>
    <p:tags r:id="rId20"/>
  </p:custDataLst>
  <p:kinsoku lang="ja-JP" invalStChars="、。，．・：；？！゛゜ヽヾゝゞ々ー’”）〕］｝〉》」』】°‰′″℃￠％ぁぃぅぇぉっゃゅょゎァィゥェォッャュョヮヵヶ!%),.:;?]}｡｣､･ｧｨｩｪｫｬｭｮｯｰﾞﾟ" invalEndChars="‘“（〔［｛〈《「『【￥＄$([\{｢￡"/>
  <p:defaultTex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p:defaultTextStyle>
  <p:extLst>
    <p:ext uri="{EFAFB233-063F-42B5-8137-9DF3F51BA10A}">
      <p15:sldGuideLst xmlns:p15="http://schemas.microsoft.com/office/powerpoint/2012/main">
        <p15:guide id="4" pos="3844" userDrawn="1">
          <p15:clr>
            <a:srgbClr val="A4A3A4"/>
          </p15:clr>
        </p15:guide>
        <p15:guide id="5" orient="horz" pos="2205" userDrawn="1">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0D69E"/>
    <a:srgbClr val="B4C6E7"/>
    <a:srgbClr val="CCFFFF"/>
    <a:srgbClr val="CCCCFF"/>
    <a:srgbClr val="CCFFCC"/>
    <a:srgbClr val="D5B8EA"/>
    <a:srgbClr val="99CCFF"/>
    <a:srgbClr val="595959"/>
    <a:srgbClr val="666666"/>
    <a:srgbClr val="9C9C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D68B1C-7C1E-7452-F8F7-9FE9DA531259}" v="2" dt="2026-01-14T00:50:57.94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74" autoAdjust="0"/>
  </p:normalViewPr>
  <p:slideViewPr>
    <p:cSldViewPr snapToGrid="0">
      <p:cViewPr varScale="1">
        <p:scale>
          <a:sx n="70" d="100"/>
          <a:sy n="70" d="100"/>
        </p:scale>
        <p:origin x="1012" y="36"/>
      </p:cViewPr>
      <p:guideLst>
        <p:guide pos="3844"/>
        <p:guide orient="horz" pos="2205"/>
      </p:guideLst>
    </p:cSldViewPr>
  </p:slideViewPr>
  <p:notesTextViewPr>
    <p:cViewPr>
      <p:scale>
        <a:sx n="1" d="1"/>
        <a:sy n="1" d="1"/>
      </p:scale>
      <p:origin x="0" y="0"/>
    </p:cViewPr>
  </p:notesTextViewPr>
  <p:notesViewPr>
    <p:cSldViewPr snapToGrid="0">
      <p:cViewPr>
        <p:scale>
          <a:sx n="1" d="2"/>
          <a:sy n="1" d="2"/>
        </p:scale>
        <p:origin x="0" y="0"/>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uma, Kota" userId="S::kota.sakuma@accenture.com::40b628b3-b6bd-4c32-b06a-e5d2c902d4fa" providerId="AD" clId="Web-{1ED68B1C-7C1E-7452-F8F7-9FE9DA531259}"/>
    <pc:docChg chg="addSld delSld">
      <pc:chgData name="Sakuma, Kota" userId="S::kota.sakuma@accenture.com::40b628b3-b6bd-4c32-b06a-e5d2c902d4fa" providerId="AD" clId="Web-{1ED68B1C-7C1E-7452-F8F7-9FE9DA531259}" dt="2026-01-14T00:50:57.946" v="1"/>
      <pc:docMkLst>
        <pc:docMk/>
      </pc:docMkLst>
      <pc:sldChg chg="new del">
        <pc:chgData name="Sakuma, Kota" userId="S::kota.sakuma@accenture.com::40b628b3-b6bd-4c32-b06a-e5d2c902d4fa" providerId="AD" clId="Web-{1ED68B1C-7C1E-7452-F8F7-9FE9DA531259}" dt="2026-01-14T00:50:57.946" v="1"/>
        <pc:sldMkLst>
          <pc:docMk/>
          <pc:sldMk cId="3303684988" sldId="406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2.xlsx"/></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60348297502288"/>
          <c:y val="0.15087840613090567"/>
          <c:w val="0.78957407877164032"/>
          <c:h val="0.55778659332317759"/>
        </c:manualLayout>
      </c:layout>
      <c:scatterChart>
        <c:scatterStyle val="lineMarker"/>
        <c:varyColors val="0"/>
        <c:ser>
          <c:idx val="0"/>
          <c:order val="0"/>
          <c:tx>
            <c:strRef>
              <c:f>Sheet1!$C$1</c:f>
              <c:strCache>
                <c:ptCount val="1"/>
                <c:pt idx="0">
                  <c:v>OHR(営業経費÷業務粗利益)</c:v>
                </c:pt>
              </c:strCache>
            </c:strRef>
          </c:tx>
          <c:spPr>
            <a:ln w="28575" cap="rnd">
              <a:noFill/>
              <a:round/>
            </a:ln>
            <a:effectLst/>
          </c:spPr>
          <c:marker>
            <c:symbol val="circle"/>
            <c:size val="6"/>
            <c:spPr>
              <a:solidFill>
                <a:schemeClr val="tx1"/>
              </a:solidFill>
              <a:ln w="0">
                <a:solidFill>
                  <a:schemeClr val="tx1"/>
                </a:solidFill>
              </a:ln>
              <a:effectLst/>
            </c:spPr>
          </c:marker>
          <c:dPt>
            <c:idx val="9"/>
            <c:bubble3D val="0"/>
            <c:extLst>
              <c:ext xmlns:c16="http://schemas.microsoft.com/office/drawing/2014/chart" uri="{C3380CC4-5D6E-409C-BE32-E72D297353CC}">
                <c16:uniqueId val="{00000007-8AE0-4E3A-8880-F54CA0BEE021}"/>
              </c:ext>
            </c:extLst>
          </c:dPt>
          <c:dPt>
            <c:idx val="10"/>
            <c:bubble3D val="0"/>
            <c:extLst>
              <c:ext xmlns:c16="http://schemas.microsoft.com/office/drawing/2014/chart" uri="{C3380CC4-5D6E-409C-BE32-E72D297353CC}">
                <c16:uniqueId val="{00000006-8AE0-4E3A-8880-F54CA0BEE021}"/>
              </c:ext>
            </c:extLst>
          </c:dPt>
          <c:dPt>
            <c:idx val="11"/>
            <c:bubble3D val="0"/>
            <c:extLst>
              <c:ext xmlns:c16="http://schemas.microsoft.com/office/drawing/2014/chart" uri="{C3380CC4-5D6E-409C-BE32-E72D297353CC}">
                <c16:uniqueId val="{00000004-8AE0-4E3A-8880-F54CA0BEE021}"/>
              </c:ext>
            </c:extLst>
          </c:dPt>
          <c:dLbls>
            <c:dLbl>
              <c:idx val="0"/>
              <c:tx>
                <c:rich>
                  <a:bodyPr/>
                  <a:lstStyle/>
                  <a:p>
                    <a:fld id="{13C8E963-3DCC-4E5E-9910-A24D90F01406}" type="CELLRANGE">
                      <a:rPr lang="en-US" altLang="ja-JP" dirty="0"/>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8AE0-4E3A-8880-F54CA0BEE021}"/>
                </c:ext>
              </c:extLst>
            </c:dLbl>
            <c:dLbl>
              <c:idx val="1"/>
              <c:tx>
                <c:rich>
                  <a:bodyPr/>
                  <a:lstStyle/>
                  <a:p>
                    <a:fld id="{801EF6BE-18E5-463B-BB47-CB944852E02A}"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8AE0-4E3A-8880-F54CA0BEE021}"/>
                </c:ext>
              </c:extLst>
            </c:dLbl>
            <c:dLbl>
              <c:idx val="2"/>
              <c:layout>
                <c:manualLayout>
                  <c:x val="-7.4257706215335881E-2"/>
                  <c:y val="5.997206335775955E-2"/>
                </c:manualLayout>
              </c:layout>
              <c:tx>
                <c:rich>
                  <a:bodyPr/>
                  <a:lstStyle/>
                  <a:p>
                    <a:fld id="{4EA94E03-29A4-43D1-AE91-32594D791FA8}" type="CELLRANGE">
                      <a:rPr lang="ja-JP" altLang="en-US" dirty="0"/>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8AE0-4E3A-8880-F54CA0BEE021}"/>
                </c:ext>
              </c:extLst>
            </c:dLbl>
            <c:dLbl>
              <c:idx val="3"/>
              <c:layout>
                <c:manualLayout>
                  <c:x val="-7.2874628785491183E-2"/>
                  <c:y val="4.947826399507195E-2"/>
                </c:manualLayout>
              </c:layout>
              <c:tx>
                <c:rich>
                  <a:bodyPr/>
                  <a:lstStyle/>
                  <a:p>
                    <a:fld id="{8F248F6D-97C1-42D4-98ED-D9C66AE67739}" type="CELLRANGE">
                      <a:rPr lang="ja-JP" altLang="en-US" dirty="0"/>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8AE0-4E3A-8880-F54CA0BEE021}"/>
                </c:ext>
              </c:extLst>
            </c:dLbl>
            <c:dLbl>
              <c:idx val="4"/>
              <c:tx>
                <c:rich>
                  <a:bodyPr/>
                  <a:lstStyle/>
                  <a:p>
                    <a:fld id="{24C41FD1-5816-40F2-AB24-1C25CF5C42FC}"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8AE0-4E3A-8880-F54CA0BEE021}"/>
                </c:ext>
              </c:extLst>
            </c:dLbl>
            <c:dLbl>
              <c:idx val="5"/>
              <c:tx>
                <c:rich>
                  <a:bodyPr/>
                  <a:lstStyle/>
                  <a:p>
                    <a:fld id="{BCDE1A1B-59C3-41B1-BBFD-6C8C6400744D}"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8AE0-4E3A-8880-F54CA0BEE021}"/>
                </c:ext>
              </c:extLst>
            </c:dLbl>
            <c:dLbl>
              <c:idx val="6"/>
              <c:layout>
                <c:manualLayout>
                  <c:x val="-6.3274795961914973E-2"/>
                  <c:y val="4.4231364313728247E-2"/>
                </c:manualLayout>
              </c:layout>
              <c:tx>
                <c:rich>
                  <a:bodyPr/>
                  <a:lstStyle/>
                  <a:p>
                    <a:fld id="{723D5486-D334-43C0-8C59-581847405CB4}" type="CELLRANGE">
                      <a:rPr lang="ja-JP" altLang="en-US" dirty="0"/>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8AE0-4E3A-8880-F54CA0BEE021}"/>
                </c:ext>
              </c:extLst>
            </c:dLbl>
            <c:dLbl>
              <c:idx val="7"/>
              <c:tx>
                <c:rich>
                  <a:bodyPr/>
                  <a:lstStyle/>
                  <a:p>
                    <a:fld id="{376ED7B3-DDF5-48C4-B79B-C0B43B962D11}"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8AE0-4E3A-8880-F54CA0BEE021}"/>
                </c:ext>
              </c:extLst>
            </c:dLbl>
            <c:dLbl>
              <c:idx val="8"/>
              <c:tx>
                <c:rich>
                  <a:bodyPr rot="0" vert="horz"/>
                  <a:lstStyle/>
                  <a:p>
                    <a:pPr>
                      <a:defRPr lang="ja-JP" sz="900"/>
                    </a:pPr>
                    <a:fld id="{AF499AA4-8FD4-4C7E-AA97-636167623E31}" type="CELLRANGE">
                      <a:rPr lang="en-US"/>
                      <a:pPr>
                        <a:defRPr lang="ja-JP" sz="900"/>
                      </a:pPr>
                      <a:t>[CELLRANGE]</a:t>
                    </a:fld>
                    <a:endParaRPr lang="en-US"/>
                  </a:p>
                </c:rich>
              </c:tx>
              <c:spPr>
                <a:noFill/>
                <a:ln>
                  <a:noFill/>
                </a:ln>
                <a:effectLst/>
              </c:spPr>
              <c:dLblPos val="b"/>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xForSave val="1"/>
                  <c15:showDataLabelsRange val="1"/>
                </c:ext>
                <c:ext xmlns:c16="http://schemas.microsoft.com/office/drawing/2014/chart" uri="{C3380CC4-5D6E-409C-BE32-E72D297353CC}">
                  <c16:uniqueId val="{00000000-8AE0-4E3A-8880-F54CA0BEE021}"/>
                </c:ext>
              </c:extLst>
            </c:dLbl>
            <c:dLbl>
              <c:idx val="9"/>
              <c:tx>
                <c:rich>
                  <a:bodyPr rot="0" vert="horz"/>
                  <a:lstStyle/>
                  <a:p>
                    <a:pPr>
                      <a:defRPr lang="ja-JP" sz="900">
                        <a:solidFill>
                          <a:schemeClr val="bg1">
                            <a:lumMod val="50000"/>
                          </a:schemeClr>
                        </a:solidFill>
                      </a:defRPr>
                    </a:pPr>
                    <a:fld id="{467F1787-7411-42CF-A16A-8B98964963BF}" type="CELLRANGE">
                      <a:rPr lang="ja-JP" altLang="en-US" sz="900">
                        <a:solidFill>
                          <a:schemeClr val="bg1">
                            <a:lumMod val="50000"/>
                          </a:schemeClr>
                        </a:solidFill>
                      </a:rPr>
                      <a:pPr>
                        <a:defRPr lang="ja-JP" sz="900">
                          <a:solidFill>
                            <a:schemeClr val="bg1">
                              <a:lumMod val="50000"/>
                            </a:schemeClr>
                          </a:solidFill>
                        </a:defRPr>
                      </a:pPr>
                      <a:t>[CELLRANGE]</a:t>
                    </a:fld>
                    <a:endParaRPr lang="en-US"/>
                  </a:p>
                </c:rich>
              </c:tx>
              <c:spPr>
                <a:noFill/>
                <a:ln>
                  <a:noFill/>
                </a:ln>
                <a:effectLst/>
              </c:spPr>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8AE0-4E3A-8880-F54CA0BEE021}"/>
                </c:ext>
              </c:extLst>
            </c:dLbl>
            <c:dLbl>
              <c:idx val="10"/>
              <c:tx>
                <c:rich>
                  <a:bodyPr rot="0" vert="horz"/>
                  <a:lstStyle/>
                  <a:p>
                    <a:pPr>
                      <a:defRPr lang="ja-JP" sz="900">
                        <a:solidFill>
                          <a:schemeClr val="bg1">
                            <a:lumMod val="50000"/>
                          </a:schemeClr>
                        </a:solidFill>
                      </a:defRPr>
                    </a:pPr>
                    <a:fld id="{DC4C136F-504F-46A9-A9FA-867679A6F6AE}" type="CELLRANGE">
                      <a:rPr lang="ja-JP" altLang="en-US" sz="900">
                        <a:solidFill>
                          <a:schemeClr val="bg1">
                            <a:lumMod val="50000"/>
                          </a:schemeClr>
                        </a:solidFill>
                      </a:rPr>
                      <a:pPr>
                        <a:defRPr lang="ja-JP" sz="900">
                          <a:solidFill>
                            <a:schemeClr val="bg1">
                              <a:lumMod val="50000"/>
                            </a:schemeClr>
                          </a:solidFill>
                        </a:defRPr>
                      </a:pPr>
                      <a:t>[CELLRANGE]</a:t>
                    </a:fld>
                    <a:endParaRPr lang="en-US"/>
                  </a:p>
                </c:rich>
              </c:tx>
              <c:spPr>
                <a:noFill/>
                <a:ln>
                  <a:noFill/>
                </a:ln>
                <a:effectLst/>
              </c:spPr>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8AE0-4E3A-8880-F54CA0BEE021}"/>
                </c:ext>
              </c:extLst>
            </c:dLbl>
            <c:dLbl>
              <c:idx val="11"/>
              <c:tx>
                <c:rich>
                  <a:bodyPr rot="0" vert="horz"/>
                  <a:lstStyle/>
                  <a:p>
                    <a:pPr>
                      <a:defRPr lang="ja-JP" sz="900">
                        <a:solidFill>
                          <a:schemeClr val="bg1">
                            <a:lumMod val="50000"/>
                          </a:schemeClr>
                        </a:solidFill>
                      </a:defRPr>
                    </a:pPr>
                    <a:fld id="{0E908722-6767-4259-AE76-6E8AE8AE3315}" type="CELLRANGE">
                      <a:rPr lang="ja-JP" altLang="en-US" sz="900">
                        <a:solidFill>
                          <a:schemeClr val="bg1">
                            <a:lumMod val="50000"/>
                          </a:schemeClr>
                        </a:solidFill>
                      </a:rPr>
                      <a:pPr>
                        <a:defRPr lang="ja-JP" sz="900">
                          <a:solidFill>
                            <a:schemeClr val="bg1">
                              <a:lumMod val="50000"/>
                            </a:schemeClr>
                          </a:solidFill>
                        </a:defRPr>
                      </a:pPr>
                      <a:t>[CELLRANGE]</a:t>
                    </a:fld>
                    <a:endParaRPr lang="en-US"/>
                  </a:p>
                </c:rich>
              </c:tx>
              <c:spPr>
                <a:noFill/>
                <a:ln>
                  <a:noFill/>
                </a:ln>
                <a:effectLst/>
              </c:spPr>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8AE0-4E3A-8880-F54CA0BEE021}"/>
                </c:ext>
              </c:extLst>
            </c:dLbl>
            <c:spPr>
              <a:noFill/>
              <a:ln>
                <a:noFill/>
              </a:ln>
              <a:effectLst/>
            </c:spPr>
            <c:txPr>
              <a:bodyPr rot="0" vert="horz"/>
              <a:lstStyle/>
              <a:p>
                <a:pPr>
                  <a:defRPr lang="ja-JP" sz="900"/>
                </a:pPr>
                <a:endParaRPr lang="ja-JP"/>
              </a:p>
            </c:txPr>
            <c:dLblPos val="b"/>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Sheet1!$B$2:$B$10</c:f>
              <c:numCache>
                <c:formatCode>General</c:formatCode>
                <c:ptCount val="9"/>
                <c:pt idx="0">
                  <c:v>285</c:v>
                </c:pt>
                <c:pt idx="1">
                  <c:v>232</c:v>
                </c:pt>
                <c:pt idx="2">
                  <c:v>27</c:v>
                </c:pt>
                <c:pt idx="3">
                  <c:v>66</c:v>
                </c:pt>
                <c:pt idx="4">
                  <c:v>9</c:v>
                </c:pt>
                <c:pt idx="5">
                  <c:v>282</c:v>
                </c:pt>
                <c:pt idx="6">
                  <c:v>21</c:v>
                </c:pt>
                <c:pt idx="7">
                  <c:v>143</c:v>
                </c:pt>
                <c:pt idx="8">
                  <c:v>221</c:v>
                </c:pt>
              </c:numCache>
            </c:numRef>
          </c:xVal>
          <c:yVal>
            <c:numRef>
              <c:f>Sheet1!$C$2:$C$10</c:f>
              <c:numCache>
                <c:formatCode>0.00%</c:formatCode>
                <c:ptCount val="9"/>
                <c:pt idx="0">
                  <c:v>0.64</c:v>
                </c:pt>
                <c:pt idx="1">
                  <c:v>0.62</c:v>
                </c:pt>
                <c:pt idx="2">
                  <c:v>0.65600000000000003</c:v>
                </c:pt>
                <c:pt idx="3">
                  <c:v>0.72299999999999998</c:v>
                </c:pt>
                <c:pt idx="4">
                  <c:v>1.1379999999999999</c:v>
                </c:pt>
                <c:pt idx="5">
                  <c:v>0.95899999999999996</c:v>
                </c:pt>
                <c:pt idx="6">
                  <c:v>0.876</c:v>
                </c:pt>
                <c:pt idx="7">
                  <c:v>0.95899999999999996</c:v>
                </c:pt>
                <c:pt idx="8">
                  <c:v>0.96699999999999997</c:v>
                </c:pt>
              </c:numCache>
            </c:numRef>
          </c:yVal>
          <c:smooth val="0"/>
          <c:extLst>
            <c:ext xmlns:c15="http://schemas.microsoft.com/office/drawing/2012/chart" uri="{02D57815-91ED-43cb-92C2-25804820EDAC}">
              <c15:datalabelsRange>
                <c15:f>Sheet1!$A$2:$A$10</c15:f>
                <c15:dlblRangeCache>
                  <c:ptCount val="9"/>
                  <c:pt idx="0">
                    <c:v>SMTB</c:v>
                  </c:pt>
                  <c:pt idx="1">
                    <c:v>MUTB</c:v>
                  </c:pt>
                  <c:pt idx="2">
                    <c:v>りそな</c:v>
                  </c:pt>
                  <c:pt idx="3">
                    <c:v>みずほ</c:v>
                  </c:pt>
                  <c:pt idx="4">
                    <c:v>SMBC</c:v>
                  </c:pt>
                  <c:pt idx="5">
                    <c:v>JTSB</c:v>
                  </c:pt>
                  <c:pt idx="6">
                    <c:v>野村</c:v>
                  </c:pt>
                  <c:pt idx="7">
                    <c:v>TCSB</c:v>
                  </c:pt>
                  <c:pt idx="8">
                    <c:v>MTBJ</c:v>
                  </c:pt>
                </c15:dlblRangeCache>
              </c15:datalabelsRange>
            </c:ext>
            <c:ext xmlns:c16="http://schemas.microsoft.com/office/drawing/2014/chart" uri="{C3380CC4-5D6E-409C-BE32-E72D297353CC}">
              <c16:uniqueId val="{00000000-041D-4905-82D4-0D834F24EEDC}"/>
            </c:ext>
          </c:extLst>
        </c:ser>
        <c:dLbls>
          <c:showLegendKey val="0"/>
          <c:showVal val="0"/>
          <c:showCatName val="0"/>
          <c:showSerName val="0"/>
          <c:showPercent val="0"/>
          <c:showBubbleSize val="0"/>
        </c:dLbls>
        <c:axId val="617966136"/>
        <c:axId val="617961872"/>
      </c:scatterChart>
      <c:valAx>
        <c:axId val="617966136"/>
        <c:scaling>
          <c:orientation val="minMax"/>
          <c:max val="300"/>
        </c:scaling>
        <c:delete val="0"/>
        <c:axPos val="b"/>
        <c:majorGridlines>
          <c:spPr>
            <a:ln w="9525" cap="flat" cmpd="sng" algn="ctr">
              <a:solidFill>
                <a:schemeClr val="tx1">
                  <a:lumMod val="15000"/>
                  <a:lumOff val="85000"/>
                </a:schemeClr>
              </a:solidFill>
              <a:round/>
            </a:ln>
            <a:effectLst/>
          </c:spPr>
        </c:majorGridlines>
        <c:title>
          <c:tx>
            <c:rich>
              <a:bodyPr rot="0" vert="horz"/>
              <a:lstStyle/>
              <a:p>
                <a:pPr marL="0" marR="0" lvl="0" indent="0" algn="ctr" defTabSz="914400" rtl="0" eaLnBrk="1" fontAlgn="auto" latinLnBrk="0" hangingPunct="1">
                  <a:lnSpc>
                    <a:spcPct val="100000"/>
                  </a:lnSpc>
                  <a:spcBef>
                    <a:spcPts val="0"/>
                  </a:spcBef>
                  <a:spcAft>
                    <a:spcPts val="0"/>
                  </a:spcAft>
                  <a:buClrTx/>
                  <a:buSzTx/>
                  <a:buFontTx/>
                  <a:buNone/>
                  <a:tabLst/>
                  <a:defRPr lang="ja-JP" sz="900" b="0" i="0" u="none" strike="noStrike" kern="1200" baseline="0">
                    <a:solidFill>
                      <a:srgbClr val="000000"/>
                    </a:solidFill>
                    <a:latin typeface="+mn-lt"/>
                    <a:ea typeface="+mn-ea"/>
                    <a:cs typeface="+mn-cs"/>
                  </a:defRPr>
                </a:pPr>
                <a:r>
                  <a:rPr lang="zh-TW" altLang="ja-JP" sz="900" b="0" i="0" baseline="0" dirty="0">
                    <a:effectLst/>
                  </a:rPr>
                  <a:t>信託財産残高</a:t>
                </a:r>
                <a:r>
                  <a:rPr lang="en-US" altLang="ja-JP" sz="900" b="0" i="0" baseline="0" dirty="0">
                    <a:effectLst/>
                  </a:rPr>
                  <a:t>(</a:t>
                </a:r>
                <a:r>
                  <a:rPr lang="zh-TW" altLang="ja-JP" sz="900" b="0" i="0" baseline="0" dirty="0">
                    <a:effectLst/>
                  </a:rPr>
                  <a:t>兆円</a:t>
                </a:r>
                <a:r>
                  <a:rPr lang="en-US" altLang="ja-JP" sz="900" b="0" i="0" baseline="0" dirty="0">
                    <a:effectLst/>
                  </a:rPr>
                  <a:t>)</a:t>
                </a:r>
                <a:endParaRPr lang="ja-JP" altLang="ja-JP" sz="900" dirty="0">
                  <a:effectLst/>
                </a:endParaRPr>
              </a:p>
              <a:p>
                <a:pPr marL="0" marR="0" lvl="0" indent="0" algn="ctr" defTabSz="914400" rtl="0" eaLnBrk="1" fontAlgn="auto" latinLnBrk="0" hangingPunct="1">
                  <a:lnSpc>
                    <a:spcPct val="100000"/>
                  </a:lnSpc>
                  <a:spcBef>
                    <a:spcPts val="0"/>
                  </a:spcBef>
                  <a:spcAft>
                    <a:spcPts val="0"/>
                  </a:spcAft>
                  <a:buClrTx/>
                  <a:buSzTx/>
                  <a:buFontTx/>
                  <a:buNone/>
                  <a:tabLst/>
                  <a:defRPr lang="ja-JP" sz="900" b="0" i="0" u="none" strike="noStrike" kern="1200" baseline="0">
                    <a:solidFill>
                      <a:srgbClr val="000000"/>
                    </a:solidFill>
                    <a:latin typeface="+mn-lt"/>
                    <a:ea typeface="+mn-ea"/>
                    <a:cs typeface="+mn-cs"/>
                  </a:defRPr>
                </a:pPr>
                <a:endParaRPr lang="ja-JP" sz="900" b="0" dirty="0"/>
              </a:p>
            </c:rich>
          </c:tx>
          <c:overlay val="0"/>
          <c:spPr>
            <a:noFill/>
            <a:ln>
              <a:noFill/>
            </a:ln>
            <a:effectLst/>
          </c:spPr>
        </c:title>
        <c:numFmt formatCode="#,##0_);[Red]\(#,##0\)" sourceLinked="0"/>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lang="ja-JP" sz="800"/>
            </a:pPr>
            <a:endParaRPr lang="ja-JP"/>
          </a:p>
        </c:txPr>
        <c:crossAx val="617961872"/>
        <c:crosses val="autoZero"/>
        <c:crossBetween val="midCat"/>
        <c:majorUnit val="100"/>
      </c:valAx>
      <c:valAx>
        <c:axId val="617961872"/>
        <c:scaling>
          <c:orientation val="minMax"/>
          <c:max val="1.5"/>
          <c:min val="0.5"/>
        </c:scaling>
        <c:delete val="0"/>
        <c:axPos val="l"/>
        <c:majorGridlines>
          <c:spPr>
            <a:ln w="9525" cap="flat" cmpd="sng" algn="ctr">
              <a:solidFill>
                <a:schemeClr val="tx1">
                  <a:lumMod val="15000"/>
                  <a:lumOff val="85000"/>
                </a:schemeClr>
              </a:solidFill>
              <a:round/>
            </a:ln>
            <a:effectLst/>
          </c:spPr>
        </c:majorGridlines>
        <c:title>
          <c:tx>
            <c:rich>
              <a:bodyPr rot="0" vert="eaVert"/>
              <a:lstStyle/>
              <a:p>
                <a:pPr>
                  <a:defRPr lang="ja-JP" sz="900" b="0"/>
                </a:pPr>
                <a:r>
                  <a:rPr lang="ja-JP" altLang="en-US" sz="900" b="0" dirty="0"/>
                  <a:t>経費率</a:t>
                </a:r>
                <a:endParaRPr lang="en-US" sz="900" b="0" dirty="0"/>
              </a:p>
            </c:rich>
          </c:tx>
          <c:overlay val="0"/>
          <c:spPr>
            <a:noFill/>
            <a:ln>
              <a:noFill/>
            </a:ln>
            <a:effectLst/>
          </c:sp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lang="ja-JP" sz="800"/>
            </a:pPr>
            <a:endParaRPr lang="ja-JP"/>
          </a:p>
        </c:txPr>
        <c:crossAx val="617966136"/>
        <c:crosses val="autoZero"/>
        <c:crossBetween val="midCat"/>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ja-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61999089253187"/>
          <c:y val="0.15087840613090567"/>
          <c:w val="0.78955771857923496"/>
          <c:h val="0.55778659332317759"/>
        </c:manualLayout>
      </c:layout>
      <c:scatterChart>
        <c:scatterStyle val="lineMarker"/>
        <c:varyColors val="0"/>
        <c:ser>
          <c:idx val="0"/>
          <c:order val="0"/>
          <c:tx>
            <c:strRef>
              <c:f>Sheet1!$C$1</c:f>
              <c:strCache>
                <c:ptCount val="1"/>
                <c:pt idx="0">
                  <c:v>OHR(営業経費÷業務粗利益)</c:v>
                </c:pt>
              </c:strCache>
            </c:strRef>
          </c:tx>
          <c:spPr>
            <a:ln w="28575" cap="rnd">
              <a:noFill/>
              <a:round/>
            </a:ln>
            <a:effectLst/>
          </c:spPr>
          <c:marker>
            <c:symbol val="circle"/>
            <c:size val="6"/>
            <c:spPr>
              <a:solidFill>
                <a:schemeClr val="bg1">
                  <a:lumMod val="75000"/>
                </a:schemeClr>
              </a:solidFill>
              <a:ln w="0">
                <a:solidFill>
                  <a:schemeClr val="bg1">
                    <a:lumMod val="75000"/>
                  </a:schemeClr>
                </a:solidFill>
              </a:ln>
              <a:effectLst/>
            </c:spPr>
          </c:marker>
          <c:dPt>
            <c:idx val="9"/>
            <c:bubble3D val="0"/>
            <c:extLst>
              <c:ext xmlns:c16="http://schemas.microsoft.com/office/drawing/2014/chart" uri="{C3380CC4-5D6E-409C-BE32-E72D297353CC}">
                <c16:uniqueId val="{00000007-8AE0-4E3A-8880-F54CA0BEE021}"/>
              </c:ext>
            </c:extLst>
          </c:dPt>
          <c:dPt>
            <c:idx val="10"/>
            <c:bubble3D val="0"/>
            <c:extLst>
              <c:ext xmlns:c16="http://schemas.microsoft.com/office/drawing/2014/chart" uri="{C3380CC4-5D6E-409C-BE32-E72D297353CC}">
                <c16:uniqueId val="{00000006-8AE0-4E3A-8880-F54CA0BEE021}"/>
              </c:ext>
            </c:extLst>
          </c:dPt>
          <c:dPt>
            <c:idx val="11"/>
            <c:bubble3D val="0"/>
            <c:extLst>
              <c:ext xmlns:c16="http://schemas.microsoft.com/office/drawing/2014/chart" uri="{C3380CC4-5D6E-409C-BE32-E72D297353CC}">
                <c16:uniqueId val="{00000004-8AE0-4E3A-8880-F54CA0BEE021}"/>
              </c:ext>
            </c:extLst>
          </c:dPt>
          <c:dLbls>
            <c:dLbl>
              <c:idx val="0"/>
              <c:tx>
                <c:rich>
                  <a:bodyPr/>
                  <a:lstStyle/>
                  <a:p>
                    <a:fld id="{92EFF153-596C-4C15-92A8-18EA83782CCA}"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8AE0-4E3A-8880-F54CA0BEE021}"/>
                </c:ext>
              </c:extLst>
            </c:dLbl>
            <c:dLbl>
              <c:idx val="1"/>
              <c:tx>
                <c:rich>
                  <a:bodyPr/>
                  <a:lstStyle/>
                  <a:p>
                    <a:fld id="{B7EA6517-FAE1-4B21-8DFD-D91E67267A7E}"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8AE0-4E3A-8880-F54CA0BEE021}"/>
                </c:ext>
              </c:extLst>
            </c:dLbl>
            <c:dLbl>
              <c:idx val="2"/>
              <c:layout>
                <c:manualLayout>
                  <c:x val="-8.5076844262295087E-2"/>
                  <c:y val="4.9478263995072047E-2"/>
                </c:manualLayout>
              </c:layout>
              <c:tx>
                <c:rich>
                  <a:bodyPr/>
                  <a:lstStyle/>
                  <a:p>
                    <a:fld id="{B1FE0266-0D70-412F-9939-CD2249EF5935}" type="CELLRANGE">
                      <a:rPr lang="ja-JP" altLang="en-US" dirty="0"/>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8AE0-4E3A-8880-F54CA0BEE021}"/>
                </c:ext>
              </c:extLst>
            </c:dLbl>
            <c:dLbl>
              <c:idx val="3"/>
              <c:layout>
                <c:manualLayout>
                  <c:x val="-8.3694501366120222E-2"/>
                  <c:y val="4.4231364313728247E-2"/>
                </c:manualLayout>
              </c:layout>
              <c:tx>
                <c:rich>
                  <a:bodyPr/>
                  <a:lstStyle/>
                  <a:p>
                    <a:fld id="{6528F731-F788-4B0F-AA0B-D2C60D5DC5E1}" type="CELLRANGE">
                      <a:rPr lang="ja-JP" altLang="en-US" dirty="0"/>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8AE0-4E3A-8880-F54CA0BEE021}"/>
                </c:ext>
              </c:extLst>
            </c:dLbl>
            <c:dLbl>
              <c:idx val="4"/>
              <c:tx>
                <c:rich>
                  <a:bodyPr/>
                  <a:lstStyle/>
                  <a:p>
                    <a:fld id="{34E761C8-C89B-4966-B25B-B2264DF3E6F1}"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8AE0-4E3A-8880-F54CA0BEE021}"/>
                </c:ext>
              </c:extLst>
            </c:dLbl>
            <c:dLbl>
              <c:idx val="5"/>
              <c:tx>
                <c:rich>
                  <a:bodyPr/>
                  <a:lstStyle/>
                  <a:p>
                    <a:fld id="{5E0615FD-D799-4762-8383-19E15BFF55E1}"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8AE0-4E3A-8880-F54CA0BEE021}"/>
                </c:ext>
              </c:extLst>
            </c:dLbl>
            <c:dLbl>
              <c:idx val="6"/>
              <c:layout>
                <c:manualLayout>
                  <c:x val="-6.6868738615664849E-2"/>
                  <c:y val="5.4725163676415847E-2"/>
                </c:manualLayout>
              </c:layout>
              <c:tx>
                <c:rich>
                  <a:bodyPr/>
                  <a:lstStyle/>
                  <a:p>
                    <a:fld id="{B4FBF4F5-0C97-4DF8-A8ED-C3884D59F74B}" type="CELLRANGE">
                      <a:rPr lang="ja-JP" altLang="en-US" dirty="0"/>
                      <a:pPr/>
                      <a:t>[CELLRANGE]</a:t>
                    </a:fld>
                    <a:endParaRPr 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8AE0-4E3A-8880-F54CA0BEE021}"/>
                </c:ext>
              </c:extLst>
            </c:dLbl>
            <c:dLbl>
              <c:idx val="7"/>
              <c:tx>
                <c:rich>
                  <a:bodyPr/>
                  <a:lstStyle/>
                  <a:p>
                    <a:fld id="{6923E6D6-4150-4FF0-974F-532C773FCE91}" type="CELLRANGE">
                      <a:rPr lang="en-US"/>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8AE0-4E3A-8880-F54CA0BEE021}"/>
                </c:ext>
              </c:extLst>
            </c:dLbl>
            <c:dLbl>
              <c:idx val="8"/>
              <c:tx>
                <c:rich>
                  <a:bodyPr rot="0" vert="horz"/>
                  <a:lstStyle/>
                  <a:p>
                    <a:pPr>
                      <a:defRPr lang="ja-JP" sz="900">
                        <a:solidFill>
                          <a:schemeClr val="bg1">
                            <a:lumMod val="50000"/>
                          </a:schemeClr>
                        </a:solidFill>
                      </a:defRPr>
                    </a:pPr>
                    <a:fld id="{F0F47819-6F27-446D-B739-44AAD46BB56B}" type="CELLRANGE">
                      <a:rPr lang="en-US"/>
                      <a:pPr>
                        <a:defRPr lang="ja-JP" sz="900">
                          <a:solidFill>
                            <a:schemeClr val="bg1">
                              <a:lumMod val="50000"/>
                            </a:schemeClr>
                          </a:solidFill>
                        </a:defRPr>
                      </a:pPr>
                      <a:t>[CELLRANGE]</a:t>
                    </a:fld>
                    <a:endParaRPr lang="en-US"/>
                  </a:p>
                </c:rich>
              </c:tx>
              <c:spPr>
                <a:noFill/>
                <a:ln>
                  <a:noFill/>
                </a:ln>
                <a:effectLst/>
              </c:spPr>
              <c:dLblPos val="b"/>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xForSave val="1"/>
                  <c15:showDataLabelsRange val="1"/>
                </c:ext>
                <c:ext xmlns:c16="http://schemas.microsoft.com/office/drawing/2014/chart" uri="{C3380CC4-5D6E-409C-BE32-E72D297353CC}">
                  <c16:uniqueId val="{00000000-8AE0-4E3A-8880-F54CA0BEE021}"/>
                </c:ext>
              </c:extLst>
            </c:dLbl>
            <c:dLbl>
              <c:idx val="9"/>
              <c:tx>
                <c:rich>
                  <a:bodyPr/>
                  <a:lstStyle/>
                  <a:p>
                    <a:fld id="{AC8ACDB2-B2FF-4A6B-B28C-6661CA6736A6}" type="CELLRANGE">
                      <a:rPr lang="ja-JP" altLang="en-US">
                        <a:solidFill>
                          <a:schemeClr val="bg1">
                            <a:lumMod val="50000"/>
                          </a:schemeClr>
                        </a:solidFill>
                      </a:rPr>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8AE0-4E3A-8880-F54CA0BEE021}"/>
                </c:ext>
              </c:extLst>
            </c:dLbl>
            <c:dLbl>
              <c:idx val="10"/>
              <c:tx>
                <c:rich>
                  <a:bodyPr/>
                  <a:lstStyle/>
                  <a:p>
                    <a:fld id="{2AEE674D-F12F-4CCD-941B-80E3E203A1D2}" type="CELLRANGE">
                      <a:rPr lang="ja-JP" altLang="en-US">
                        <a:solidFill>
                          <a:schemeClr val="bg1">
                            <a:lumMod val="50000"/>
                          </a:schemeClr>
                        </a:solidFill>
                      </a:rPr>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8AE0-4E3A-8880-F54CA0BEE021}"/>
                </c:ext>
              </c:extLst>
            </c:dLbl>
            <c:dLbl>
              <c:idx val="11"/>
              <c:tx>
                <c:rich>
                  <a:bodyPr/>
                  <a:lstStyle/>
                  <a:p>
                    <a:fld id="{07891B6A-2840-42D7-A72C-2EA61613B0A5}" type="CELLRANGE">
                      <a:rPr lang="ja-JP" altLang="en-US">
                        <a:solidFill>
                          <a:schemeClr val="bg1">
                            <a:lumMod val="50000"/>
                          </a:schemeClr>
                        </a:solidFill>
                      </a:rPr>
                      <a:pPr/>
                      <a:t>[CELLRANGE]</a:t>
                    </a:fld>
                    <a:endParaRPr lang="en-US"/>
                  </a:p>
                </c:rich>
              </c:tx>
              <c:dLblPos val="b"/>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8AE0-4E3A-8880-F54CA0BEE021}"/>
                </c:ext>
              </c:extLst>
            </c:dLbl>
            <c:spPr>
              <a:noFill/>
              <a:ln>
                <a:noFill/>
              </a:ln>
              <a:effectLst/>
            </c:spPr>
            <c:txPr>
              <a:bodyPr rot="0" vert="horz"/>
              <a:lstStyle/>
              <a:p>
                <a:pPr>
                  <a:defRPr lang="ja-JP" sz="900">
                    <a:solidFill>
                      <a:schemeClr val="bg1">
                        <a:lumMod val="50000"/>
                      </a:schemeClr>
                    </a:solidFill>
                  </a:defRPr>
                </a:pPr>
                <a:endParaRPr lang="ja-JP"/>
              </a:p>
            </c:txPr>
            <c:dLblPos val="b"/>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Sheet1!$B$2:$B$10</c:f>
              <c:numCache>
                <c:formatCode>General</c:formatCode>
                <c:ptCount val="9"/>
                <c:pt idx="0">
                  <c:v>261</c:v>
                </c:pt>
                <c:pt idx="1">
                  <c:v>208</c:v>
                </c:pt>
                <c:pt idx="2">
                  <c:v>26</c:v>
                </c:pt>
                <c:pt idx="3">
                  <c:v>64</c:v>
                </c:pt>
                <c:pt idx="4">
                  <c:v>6</c:v>
                </c:pt>
                <c:pt idx="5">
                  <c:v>259</c:v>
                </c:pt>
                <c:pt idx="6">
                  <c:v>21</c:v>
                </c:pt>
                <c:pt idx="7">
                  <c:v>146</c:v>
                </c:pt>
                <c:pt idx="8">
                  <c:v>198</c:v>
                </c:pt>
              </c:numCache>
            </c:numRef>
          </c:xVal>
          <c:yVal>
            <c:numRef>
              <c:f>Sheet1!$C$2:$C$10</c:f>
              <c:numCache>
                <c:formatCode>0.00%</c:formatCode>
                <c:ptCount val="9"/>
                <c:pt idx="0">
                  <c:v>0.67100000000000004</c:v>
                </c:pt>
                <c:pt idx="1">
                  <c:v>0.6</c:v>
                </c:pt>
                <c:pt idx="2">
                  <c:v>0.64</c:v>
                </c:pt>
                <c:pt idx="3">
                  <c:v>0.70899999999999996</c:v>
                </c:pt>
                <c:pt idx="4">
                  <c:v>1.4430000000000001</c:v>
                </c:pt>
                <c:pt idx="5">
                  <c:v>0.98099999999999998</c:v>
                </c:pt>
                <c:pt idx="6">
                  <c:v>0.83499999999999996</c:v>
                </c:pt>
                <c:pt idx="7">
                  <c:v>0.95399999999999996</c:v>
                </c:pt>
                <c:pt idx="8">
                  <c:v>0.93899999999999995</c:v>
                </c:pt>
              </c:numCache>
            </c:numRef>
          </c:yVal>
          <c:smooth val="0"/>
          <c:extLst>
            <c:ext xmlns:c15="http://schemas.microsoft.com/office/drawing/2012/chart" uri="{02D57815-91ED-43cb-92C2-25804820EDAC}">
              <c15:datalabelsRange>
                <c15:f>Sheet1!$A$2:$A$10</c15:f>
                <c15:dlblRangeCache>
                  <c:ptCount val="9"/>
                  <c:pt idx="0">
                    <c:v>SMTB</c:v>
                  </c:pt>
                  <c:pt idx="1">
                    <c:v>MUTB</c:v>
                  </c:pt>
                  <c:pt idx="2">
                    <c:v>りそな</c:v>
                  </c:pt>
                  <c:pt idx="3">
                    <c:v>みずほ</c:v>
                  </c:pt>
                  <c:pt idx="4">
                    <c:v>SMBC</c:v>
                  </c:pt>
                  <c:pt idx="5">
                    <c:v>JTSB</c:v>
                  </c:pt>
                  <c:pt idx="6">
                    <c:v>野村</c:v>
                  </c:pt>
                  <c:pt idx="7">
                    <c:v>TCSB</c:v>
                  </c:pt>
                  <c:pt idx="8">
                    <c:v>MTBJ</c:v>
                  </c:pt>
                </c15:dlblRangeCache>
              </c15:datalabelsRange>
            </c:ext>
            <c:ext xmlns:c16="http://schemas.microsoft.com/office/drawing/2014/chart" uri="{C3380CC4-5D6E-409C-BE32-E72D297353CC}">
              <c16:uniqueId val="{00000000-041D-4905-82D4-0D834F24EEDC}"/>
            </c:ext>
          </c:extLst>
        </c:ser>
        <c:dLbls>
          <c:showLegendKey val="0"/>
          <c:showVal val="0"/>
          <c:showCatName val="0"/>
          <c:showSerName val="0"/>
          <c:showPercent val="0"/>
          <c:showBubbleSize val="0"/>
        </c:dLbls>
        <c:axId val="617966136"/>
        <c:axId val="617961872"/>
      </c:scatterChart>
      <c:valAx>
        <c:axId val="617966136"/>
        <c:scaling>
          <c:orientation val="minMax"/>
          <c:max val="300"/>
        </c:scaling>
        <c:delete val="0"/>
        <c:axPos val="b"/>
        <c:majorGridlines>
          <c:spPr>
            <a:ln w="9525" cap="flat" cmpd="sng" algn="ctr">
              <a:solidFill>
                <a:schemeClr val="tx1">
                  <a:lumMod val="15000"/>
                  <a:lumOff val="85000"/>
                </a:schemeClr>
              </a:solidFill>
              <a:round/>
            </a:ln>
            <a:effectLst/>
          </c:spPr>
        </c:majorGridlines>
        <c:title>
          <c:tx>
            <c:rich>
              <a:bodyPr rot="0" vert="horz"/>
              <a:lstStyle/>
              <a:p>
                <a:pPr>
                  <a:defRPr lang="ja-JP" sz="900" b="0"/>
                </a:pPr>
                <a:r>
                  <a:rPr lang="zh-TW" sz="900" b="0" dirty="0"/>
                  <a:t>信託財産残高</a:t>
                </a:r>
                <a:r>
                  <a:rPr lang="en-US" sz="900" b="0" dirty="0"/>
                  <a:t>(</a:t>
                </a:r>
                <a:r>
                  <a:rPr lang="zh-TW" sz="900" b="0" dirty="0"/>
                  <a:t>兆円</a:t>
                </a:r>
                <a:r>
                  <a:rPr lang="en-US" sz="900" b="0" dirty="0"/>
                  <a:t>)</a:t>
                </a:r>
                <a:endParaRPr lang="ja-JP" sz="900" b="0" dirty="0"/>
              </a:p>
            </c:rich>
          </c:tx>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lang="ja-JP" sz="800"/>
            </a:pPr>
            <a:endParaRPr lang="ja-JP"/>
          </a:p>
        </c:txPr>
        <c:crossAx val="617961872"/>
        <c:crosses val="autoZero"/>
        <c:crossBetween val="midCat"/>
        <c:majorUnit val="100"/>
      </c:valAx>
      <c:valAx>
        <c:axId val="617961872"/>
        <c:scaling>
          <c:orientation val="minMax"/>
          <c:min val="0.5"/>
        </c:scaling>
        <c:delete val="0"/>
        <c:axPos val="l"/>
        <c:majorGridlines>
          <c:spPr>
            <a:ln w="9525" cap="flat" cmpd="sng" algn="ctr">
              <a:solidFill>
                <a:schemeClr val="tx1">
                  <a:lumMod val="15000"/>
                  <a:lumOff val="85000"/>
                </a:schemeClr>
              </a:solidFill>
              <a:round/>
            </a:ln>
            <a:effectLst/>
          </c:spPr>
        </c:majorGridlines>
        <c:title>
          <c:tx>
            <c:rich>
              <a:bodyPr rot="0" vert="eaVert"/>
              <a:lstStyle/>
              <a:p>
                <a:pPr>
                  <a:defRPr lang="ja-JP" sz="900" b="0"/>
                </a:pPr>
                <a:r>
                  <a:rPr lang="ja-JP" altLang="en-US" sz="900" b="0" dirty="0"/>
                  <a:t>経費率</a:t>
                </a:r>
                <a:endParaRPr lang="en-US" sz="900" b="0" dirty="0"/>
              </a:p>
            </c:rich>
          </c:tx>
          <c:overlay val="0"/>
          <c:spPr>
            <a:noFill/>
            <a:ln>
              <a:noFill/>
            </a:ln>
            <a:effectLst/>
          </c:sp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lang="ja-JP" sz="800"/>
            </a:pPr>
            <a:endParaRPr lang="ja-JP"/>
          </a:p>
        </c:txPr>
        <c:crossAx val="617966136"/>
        <c:crosses val="autoZero"/>
        <c:crossBetween val="midCat"/>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ja-JP"/>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Sheet1!$A$2:$A$8</cx:f>
        <cx:lvl ptCount="7">
          <cx:pt idx="0">業務粗利</cx:pt>
          <cx:pt idx="1">人件費</cx:pt>
          <cx:pt idx="2">業務委託費</cx:pt>
          <cx:pt idx="3">物件費</cx:pt>
          <cx:pt idx="4">税金</cx:pt>
          <cx:pt idx="5">その他</cx:pt>
          <cx:pt idx="6">業務純益(損失)</cx:pt>
        </cx:lvl>
      </cx:strDim>
      <cx:numDim type="val">
        <cx:f>Sheet1!$B$2:$B$8</cx:f>
        <cx:lvl ptCount="7" formatCode="#,##0;[赤]!-#,##0">
          <cx:pt idx="0">441</cx:pt>
          <cx:pt idx="1">-251</cx:pt>
          <cx:pt idx="2">-92</cx:pt>
          <cx:pt idx="3">-98</cx:pt>
          <cx:pt idx="4">-20</cx:pt>
          <cx:pt idx="5">-45</cx:pt>
          <cx:pt idx="6">-65</cx:pt>
        </cx:lvl>
      </cx:numDim>
    </cx:data>
  </cx:chartData>
  <cx:chart>
    <cx:plotArea>
      <cx:plotAreaRegion>
        <cx:series layoutId="waterfall" uniqueId="{B903D306-F1B4-457F-995F-B4AE0A256184}">
          <cx:tx>
            <cx:txData>
              <cx:f>Sheet1!$B$1</cx:f>
              <cx:v>系列1</cx:v>
            </cx:txData>
          </cx:tx>
          <cx:spPr>
            <a:solidFill>
              <a:schemeClr val="bg1">
                <a:lumMod val="75000"/>
              </a:schemeClr>
            </a:solidFill>
          </cx:spPr>
          <cx:dataPt idx="0">
            <cx:spPr>
              <a:solidFill>
                <a:srgbClr val="C6911F">
                  <a:lumMod val="40000"/>
                  <a:lumOff val="60000"/>
                </a:srgbClr>
              </a:solidFill>
            </cx:spPr>
          </cx:dataPt>
          <cx:dataPt idx="6">
            <cx:spPr>
              <a:solidFill>
                <a:srgbClr val="FFFFFF">
                  <a:lumMod val="50000"/>
                </a:srgbClr>
              </a:solidFill>
            </cx:spPr>
          </cx:dataPt>
          <cx:dataLabels pos="outEnd">
            <cx:txPr>
              <a:bodyPr spcFirstLastPara="1" vertOverflow="ellipsis" horzOverflow="overflow" wrap="square" lIns="0" tIns="0" rIns="0" bIns="0" anchor="ctr" anchorCtr="1"/>
              <a:lstStyle/>
              <a:p>
                <a:pPr algn="ctr" rtl="0">
                  <a:defRPr sz="1100" u="none">
                    <a:solidFill>
                      <a:schemeClr val="tx1"/>
                    </a:solidFill>
                  </a:defRPr>
                </a:pPr>
                <a:endParaRPr lang="ja-JP" altLang="en-US" sz="1100" b="0" i="0" u="none" strike="noStrike" baseline="0">
                  <a:solidFill>
                    <a:schemeClr val="tx1"/>
                  </a:solidFill>
                  <a:latin typeface="Arial"/>
                  <a:ea typeface="Meiryo UI"/>
                </a:endParaRPr>
              </a:p>
            </cx:txPr>
            <cx:visibility seriesName="0" categoryName="0" value="1"/>
            <cx:separator>, </cx:separator>
            <cx:dataLabel idx="0">
              <cx:txPr>
                <a:bodyPr spcFirstLastPara="1" vertOverflow="ellipsis" horzOverflow="overflow" wrap="square" lIns="0" tIns="0" rIns="0" bIns="0" anchor="ctr" anchorCtr="1"/>
                <a:lstStyle/>
                <a:p>
                  <a:pPr algn="ctr" rtl="0">
                    <a:defRPr/>
                  </a:pPr>
                  <a:r>
                    <a:rPr lang="ja-JP" altLang="en-US" sz="1100" b="0" i="0" u="none" strike="noStrike" baseline="0">
                      <a:solidFill>
                        <a:srgbClr val="000000">
                          <a:lumMod val="65000"/>
                          <a:lumOff val="35000"/>
                        </a:srgbClr>
                      </a:solidFill>
                      <a:latin typeface="Arial"/>
                      <a:ea typeface="Meiryo UI"/>
                    </a:rPr>
                    <a:t>441</a:t>
                  </a:r>
                </a:p>
              </cx:txPr>
            </cx:dataLabel>
            <cx:dataLabel idx="1">
              <cx:txPr>
                <a:bodyPr spcFirstLastPara="1" vertOverflow="ellipsis" horzOverflow="overflow" wrap="square" lIns="0" tIns="0" rIns="0" bIns="0" anchor="ctr" anchorCtr="1"/>
                <a:lstStyle/>
                <a:p>
                  <a:pPr algn="ctr" rtl="0">
                    <a:defRPr sz="1200" b="1" u="none">
                      <a:solidFill>
                        <a:srgbClr val="FF0000"/>
                      </a:solidFill>
                    </a:defRPr>
                  </a:pPr>
                  <a:r>
                    <a:rPr lang="ja-JP" altLang="en-US" sz="1200" b="1" i="0" u="none" strike="noStrike" baseline="0">
                      <a:solidFill>
                        <a:srgbClr val="FF0000"/>
                      </a:solidFill>
                      <a:latin typeface="Arial"/>
                      <a:ea typeface="Meiryo UI"/>
                    </a:rPr>
                    <a:t>-251</a:t>
                  </a:r>
                </a:p>
              </cx:txPr>
              <cx:visibility seriesName="0" categoryName="0" value="1"/>
              <cx:separator>, </cx:separator>
            </cx:dataLabel>
            <cx:dataLabel idx="2">
              <cx:txPr>
                <a:bodyPr spcFirstLastPara="1" vertOverflow="ellipsis" horzOverflow="overflow" wrap="square" lIns="0" tIns="0" rIns="0" bIns="0" anchor="ctr" anchorCtr="1"/>
                <a:lstStyle/>
                <a:p>
                  <a:pPr algn="ctr" rtl="0">
                    <a:defRPr sz="1200" b="1" u="none">
                      <a:solidFill>
                        <a:srgbClr val="FF0000"/>
                      </a:solidFill>
                    </a:defRPr>
                  </a:pPr>
                  <a:r>
                    <a:rPr lang="ja-JP" altLang="en-US" sz="1200" b="1" i="0" u="none" strike="noStrike" baseline="0">
                      <a:solidFill>
                        <a:srgbClr val="FF0000"/>
                      </a:solidFill>
                      <a:latin typeface="Arial"/>
                      <a:ea typeface="Meiryo UI"/>
                    </a:rPr>
                    <a:t>-92</a:t>
                  </a:r>
                </a:p>
              </cx:txPr>
              <cx:visibility seriesName="0" categoryName="0" value="1"/>
              <cx:separator>, </cx:separator>
            </cx:dataLabel>
            <cx:dataLabel idx="3">
              <cx:txPr>
                <a:bodyPr spcFirstLastPara="1" vertOverflow="ellipsis" horzOverflow="overflow" wrap="square" lIns="0" tIns="0" rIns="0" bIns="0" anchor="ctr" anchorCtr="1"/>
                <a:lstStyle/>
                <a:p>
                  <a:pPr algn="ctr" rtl="0">
                    <a:defRPr sz="1100" b="0">
                      <a:solidFill>
                        <a:schemeClr val="tx1"/>
                      </a:solidFill>
                    </a:defRPr>
                  </a:pPr>
                  <a:r>
                    <a:rPr lang="ja-JP" altLang="en-US" sz="1100" b="0" i="0" u="none" strike="noStrike" baseline="0">
                      <a:solidFill>
                        <a:schemeClr val="tx1"/>
                      </a:solidFill>
                      <a:latin typeface="Arial"/>
                      <a:ea typeface="Meiryo UI"/>
                    </a:rPr>
                    <a:t>-98</a:t>
                  </a:r>
                </a:p>
              </cx:txPr>
              <cx:visibility seriesName="0" categoryName="0" value="1"/>
              <cx:separator>, </cx:separator>
            </cx:dataLabel>
          </cx:dataLabels>
          <cx:dataId val="0"/>
          <cx:layoutPr>
            <cx:subtotals>
              <cx:idx val="6"/>
            </cx:subtotals>
          </cx:layoutPr>
        </cx:series>
      </cx:plotAreaRegion>
      <cx:axis id="0">
        <cx:catScaling gapWidth="0.5"/>
        <cx:tickLabels/>
        <cx:spPr>
          <a:ln>
            <a:solidFill>
              <a:schemeClr val="bg1">
                <a:lumMod val="50000"/>
              </a:schemeClr>
            </a:solidFill>
          </a:ln>
        </cx:spPr>
        <cx:txPr>
          <a:bodyPr spcFirstLastPara="1" vertOverflow="ellipsis" horzOverflow="overflow" wrap="square" lIns="0" tIns="0" rIns="0" bIns="0" anchor="ctr" anchorCtr="1"/>
          <a:lstStyle/>
          <a:p>
            <a:pPr algn="ctr" rtl="0">
              <a:defRPr sz="1000"/>
            </a:pPr>
            <a:endParaRPr lang="ja-JP" altLang="en-US" sz="1000" b="0" i="0" u="none" strike="noStrike" baseline="0">
              <a:solidFill>
                <a:srgbClr val="000000">
                  <a:lumMod val="65000"/>
                  <a:lumOff val="35000"/>
                </a:srgbClr>
              </a:solidFill>
              <a:latin typeface="Arial"/>
              <a:ea typeface="Meiryo UI"/>
            </a:endParaRPr>
          </a:p>
        </cx:txPr>
      </cx:axis>
      <cx:axis id="1">
        <cx:valScaling/>
        <cx:majorTickMarks type="in"/>
        <cx:tickLabels/>
        <cx:spPr>
          <a:ln>
            <a:solidFill>
              <a:schemeClr val="bg1">
                <a:lumMod val="50000"/>
              </a:schemeClr>
            </a:solidFill>
          </a:ln>
        </cx:spPr>
        <cx:txPr>
          <a:bodyPr spcFirstLastPara="1" vertOverflow="ellipsis" horzOverflow="overflow" wrap="square" lIns="0" tIns="0" rIns="0" bIns="0" anchor="ctr" anchorCtr="1"/>
          <a:lstStyle/>
          <a:p>
            <a:pPr algn="ctr" rtl="0">
              <a:defRPr sz="1000"/>
            </a:pPr>
            <a:endParaRPr lang="ja-JP" altLang="en-US" sz="1000" b="0" i="0" u="none" strike="noStrike" baseline="0">
              <a:solidFill>
                <a:srgbClr val="000000">
                  <a:lumMod val="65000"/>
                  <a:lumOff val="35000"/>
                </a:srgbClr>
              </a:solidFill>
              <a:latin typeface="Arial"/>
              <a:ea typeface="Meiryo UI"/>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Sheet1!$A$2:$A$8</cx:f>
        <cx:lvl ptCount="7">
          <cx:pt idx="0">業務粗利</cx:pt>
          <cx:pt idx="1">人件費</cx:pt>
          <cx:pt idx="2">業務委託費</cx:pt>
          <cx:pt idx="3">物件費</cx:pt>
          <cx:pt idx="4">税金</cx:pt>
          <cx:pt idx="5">その他</cx:pt>
          <cx:pt idx="6">業務純益(損失)</cx:pt>
        </cx:lvl>
      </cx:strDim>
      <cx:numDim type="val">
        <cx:f>Sheet1!$B$2:$B$8</cx:f>
        <cx:lvl ptCount="7" formatCode="#,##0;[赤]!-#,##0">
          <cx:pt idx="0">169</cx:pt>
          <cx:pt idx="1">-52</cx:pt>
          <cx:pt idx="2">0</cx:pt>
          <cx:pt idx="3">-35</cx:pt>
          <cx:pt idx="4">-6</cx:pt>
          <cx:pt idx="5">-53</cx:pt>
          <cx:pt idx="6">23</cx:pt>
        </cx:lvl>
      </cx:numDim>
    </cx:data>
  </cx:chartData>
  <cx:chart>
    <cx:plotArea>
      <cx:plotAreaRegion>
        <cx:series layoutId="waterfall" uniqueId="{B903D306-F1B4-457F-995F-B4AE0A256184}">
          <cx:tx>
            <cx:txData>
              <cx:f>Sheet1!$B$1</cx:f>
              <cx:v>系列1</cx:v>
            </cx:txData>
          </cx:tx>
          <cx:spPr>
            <a:solidFill>
              <a:schemeClr val="bg1">
                <a:lumMod val="75000"/>
              </a:schemeClr>
            </a:solidFill>
          </cx:spPr>
          <cx:dataPt idx="0">
            <cx:spPr>
              <a:solidFill>
                <a:srgbClr val="C6911F">
                  <a:lumMod val="40000"/>
                  <a:lumOff val="60000"/>
                </a:srgbClr>
              </a:solidFill>
            </cx:spPr>
          </cx:dataPt>
          <cx:dataPt idx="6">
            <cx:spPr>
              <a:solidFill>
                <a:srgbClr val="FF0000">
                  <a:lumMod val="20000"/>
                  <a:lumOff val="80000"/>
                </a:srgbClr>
              </a:solidFill>
            </cx:spPr>
          </cx:dataPt>
          <cx:dataLabels pos="outEnd">
            <cx:txPr>
              <a:bodyPr spcFirstLastPara="1" vertOverflow="ellipsis" horzOverflow="overflow" wrap="square" lIns="0" tIns="0" rIns="0" bIns="0" anchor="ctr" anchorCtr="1"/>
              <a:lstStyle/>
              <a:p>
                <a:pPr algn="ctr" rtl="0">
                  <a:defRPr sz="1100" b="0">
                    <a:solidFill>
                      <a:schemeClr val="tx1"/>
                    </a:solidFill>
                  </a:defRPr>
                </a:pPr>
                <a:endParaRPr lang="ja-JP" altLang="en-US" sz="1100" b="0" i="0" u="none" strike="noStrike" baseline="0">
                  <a:solidFill>
                    <a:schemeClr val="tx1"/>
                  </a:solidFill>
                  <a:latin typeface="Arial"/>
                  <a:ea typeface="Meiryo UI"/>
                </a:endParaRPr>
              </a:p>
            </cx:txPr>
            <cx:visibility seriesName="0" categoryName="0" value="1"/>
            <cx:separator>, </cx:separator>
            <cx:dataLabel idx="0">
              <cx:txPr>
                <a:bodyPr spcFirstLastPara="1" vertOverflow="ellipsis" horzOverflow="overflow" wrap="square" lIns="0" tIns="0" rIns="0" bIns="0" anchor="ctr" anchorCtr="1"/>
                <a:lstStyle/>
                <a:p>
                  <a:pPr algn="ctr" rtl="0">
                    <a:defRPr/>
                  </a:pPr>
                  <a:r>
                    <a:rPr lang="ja-JP" altLang="en-US" sz="1100" b="0" i="0" u="none" strike="noStrike" baseline="0">
                      <a:solidFill>
                        <a:srgbClr val="000000">
                          <a:lumMod val="65000"/>
                          <a:lumOff val="35000"/>
                        </a:srgbClr>
                      </a:solidFill>
                      <a:latin typeface="Arial"/>
                      <a:ea typeface="Meiryo UI"/>
                    </a:rPr>
                    <a:t>169</a:t>
                  </a:r>
                </a:p>
              </cx:txPr>
            </cx:dataLabel>
            <cx:dataLabel idx="1">
              <cx:txPr>
                <a:bodyPr spcFirstLastPara="1" vertOverflow="ellipsis" horzOverflow="overflow" wrap="square" lIns="0" tIns="0" rIns="0" bIns="0" anchor="ctr" anchorCtr="1"/>
                <a:lstStyle/>
                <a:p>
                  <a:pPr algn="ctr" rtl="0">
                    <a:defRPr sz="1100" b="0">
                      <a:solidFill>
                        <a:schemeClr val="tx1"/>
                      </a:solidFill>
                    </a:defRPr>
                  </a:pPr>
                  <a:r>
                    <a:rPr lang="ja-JP" altLang="en-US" sz="1100" b="0" i="0" u="none" strike="noStrike" baseline="0">
                      <a:solidFill>
                        <a:schemeClr val="tx1"/>
                      </a:solidFill>
                      <a:latin typeface="Arial"/>
                      <a:ea typeface="Meiryo UI"/>
                    </a:rPr>
                    <a:t>-52</a:t>
                  </a:r>
                </a:p>
              </cx:txPr>
              <cx:visibility seriesName="0" categoryName="0" value="1"/>
              <cx:separator>, </cx:separator>
            </cx:dataLabel>
            <cx:dataLabel idx="2">
              <cx:txPr>
                <a:bodyPr spcFirstLastPara="1" vertOverflow="ellipsis" horzOverflow="overflow" wrap="square" lIns="0" tIns="0" rIns="0" bIns="0" anchor="ctr" anchorCtr="1"/>
                <a:lstStyle/>
                <a:p>
                  <a:pPr algn="ctr" rtl="0">
                    <a:defRPr sz="1100" b="0">
                      <a:solidFill>
                        <a:schemeClr val="tx1"/>
                      </a:solidFill>
                    </a:defRPr>
                  </a:pPr>
                  <a:r>
                    <a:rPr lang="ja-JP" altLang="en-US" sz="1100" b="0" i="0" u="none" strike="noStrike" baseline="0">
                      <a:solidFill>
                        <a:schemeClr val="tx1"/>
                      </a:solidFill>
                      <a:latin typeface="Arial"/>
                      <a:ea typeface="Meiryo UI"/>
                    </a:rPr>
                    <a:t>0</a:t>
                  </a:r>
                </a:p>
              </cx:txPr>
              <cx:visibility seriesName="0" categoryName="0" value="1"/>
              <cx:separator>, </cx:separator>
            </cx:dataLabel>
            <cx:dataLabel idx="3">
              <cx:txPr>
                <a:bodyPr spcFirstLastPara="1" vertOverflow="ellipsis" horzOverflow="overflow" wrap="square" lIns="0" tIns="0" rIns="0" bIns="0" anchor="ctr" anchorCtr="1"/>
                <a:lstStyle/>
                <a:p>
                  <a:pPr algn="ctr" rtl="0">
                    <a:defRPr sz="1100" b="0">
                      <a:solidFill>
                        <a:schemeClr val="tx1"/>
                      </a:solidFill>
                    </a:defRPr>
                  </a:pPr>
                  <a:r>
                    <a:rPr lang="ja-JP" altLang="en-US" sz="1100" b="0" i="0" u="none" strike="noStrike" baseline="0">
                      <a:solidFill>
                        <a:schemeClr val="tx1"/>
                      </a:solidFill>
                      <a:latin typeface="Arial"/>
                      <a:ea typeface="Meiryo UI"/>
                    </a:rPr>
                    <a:t>-35</a:t>
                  </a:r>
                </a:p>
              </cx:txPr>
              <cx:visibility seriesName="0" categoryName="0" value="1"/>
              <cx:separator>, </cx:separator>
            </cx:dataLabel>
          </cx:dataLabels>
          <cx:dataId val="0"/>
          <cx:layoutPr>
            <cx:subtotals>
              <cx:idx val="6"/>
            </cx:subtotals>
          </cx:layoutPr>
        </cx:series>
      </cx:plotAreaRegion>
      <cx:axis id="0">
        <cx:catScaling gapWidth="0.5"/>
        <cx:tickLabels/>
        <cx:spPr>
          <a:ln>
            <a:solidFill>
              <a:schemeClr val="bg1">
                <a:lumMod val="50000"/>
              </a:schemeClr>
            </a:solidFill>
          </a:ln>
        </cx:spPr>
        <cx:txPr>
          <a:bodyPr spcFirstLastPara="1" vertOverflow="ellipsis" horzOverflow="overflow" wrap="square" lIns="0" tIns="0" rIns="0" bIns="0" anchor="ctr" anchorCtr="1"/>
          <a:lstStyle/>
          <a:p>
            <a:pPr algn="ctr" rtl="0">
              <a:defRPr sz="1000"/>
            </a:pPr>
            <a:endParaRPr lang="ja-JP" altLang="en-US" sz="1000" b="0" i="0" u="none" strike="noStrike" baseline="0">
              <a:solidFill>
                <a:srgbClr val="000000">
                  <a:lumMod val="65000"/>
                  <a:lumOff val="35000"/>
                </a:srgbClr>
              </a:solidFill>
              <a:latin typeface="Arial"/>
              <a:ea typeface="Meiryo UI"/>
            </a:endParaRPr>
          </a:p>
        </cx:txPr>
      </cx:axis>
      <cx:axis id="1">
        <cx:valScaling max="500" min="-100"/>
        <cx:majorTickMarks type="in"/>
        <cx:tickLabels/>
        <cx:spPr>
          <a:ln>
            <a:solidFill>
              <a:schemeClr val="bg1">
                <a:lumMod val="50000"/>
              </a:schemeClr>
            </a:solidFill>
          </a:ln>
        </cx:spPr>
        <cx:txPr>
          <a:bodyPr spcFirstLastPara="1" vertOverflow="ellipsis" horzOverflow="overflow" wrap="square" lIns="0" tIns="0" rIns="0" bIns="0" anchor="ctr" anchorCtr="1"/>
          <a:lstStyle/>
          <a:p>
            <a:pPr algn="ctr" rtl="0">
              <a:defRPr sz="1000"/>
            </a:pPr>
            <a:endParaRPr lang="ja-JP" altLang="en-US" sz="1000" b="0" i="0" u="none" strike="noStrike" baseline="0">
              <a:solidFill>
                <a:srgbClr val="000000">
                  <a:lumMod val="65000"/>
                  <a:lumOff val="35000"/>
                </a:srgbClr>
              </a:solidFill>
              <a:latin typeface="Arial"/>
              <a:ea typeface="Meiryo UI"/>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4929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idx="2"/>
          </p:nvPr>
        </p:nvSpPr>
        <p:spPr bwMode="auto">
          <a:xfrm>
            <a:off x="723900" y="750888"/>
            <a:ext cx="5359400" cy="37131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p:cNvSpPr>
            <a:spLocks noGrp="1" noChangeArrowheads="1"/>
          </p:cNvSpPr>
          <p:nvPr>
            <p:ph type="body" sz="quarter" idx="3"/>
          </p:nvPr>
        </p:nvSpPr>
        <p:spPr bwMode="auto">
          <a:xfrm>
            <a:off x="906677" y="4719638"/>
            <a:ext cx="4993851" cy="447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2295" tIns="45343" rIns="92295" bIns="45343"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Tree>
    <p:extLst>
      <p:ext uri="{BB962C8B-B14F-4D97-AF65-F5344CB8AC3E}">
        <p14:creationId xmlns:p14="http://schemas.microsoft.com/office/powerpoint/2010/main" val="421845646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itchFamily="34"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Arial" pitchFamily="34"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Arial" pitchFamily="34"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Arial" pitchFamily="34"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Arial" pitchFamily="34"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4019026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100000"/>
              </a:lnSpc>
              <a:spcBef>
                <a:spcPct val="20000"/>
              </a:spcBef>
              <a:spcAft>
                <a:spcPct val="0"/>
              </a:spcAft>
              <a:buClr>
                <a:schemeClr val="tx1"/>
              </a:buClr>
              <a:buSzTx/>
              <a:tabLst/>
            </a:pPr>
            <a:r>
              <a:rPr kumimoji="0" lang="ja-JP" altLang="en-US" sz="1000" b="0"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指標はいずれも有価証券報告書から引用</a:t>
            </a:r>
            <a:endParaRPr kumimoji="0" lang="en-US" altLang="ja-JP" sz="1000" b="0" i="0" u="sng"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ct val="20000"/>
              </a:spcBef>
              <a:spcAft>
                <a:spcPct val="0"/>
              </a:spcAft>
              <a:buClr>
                <a:schemeClr val="tx1"/>
              </a:buClr>
              <a:buSzTx/>
              <a:tabLs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経常収益・当期純利益・従業員数・信託財産残高</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⇒「企業の概況」欄</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業務粗利益・経費</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⇒会社によって掲載場所が違うので、「粗利」で検索</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ct val="20000"/>
              </a:spcBef>
              <a:spcAft>
                <a:spcPct val="0"/>
              </a:spcAft>
              <a:buClr>
                <a:schemeClr val="tx1"/>
              </a:buClr>
              <a:buSzTx/>
              <a:tabLst/>
            </a:pP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SMTB</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：三井住友トラスト・ホールディングスの「連結」</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MUTB</a:t>
            </a: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：三菱</a:t>
            </a:r>
            <a:r>
              <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UFJ</a:t>
            </a: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信託銀行の「連結」</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※MUFG</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ではないため注意</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りそな：りそな銀行の「連結」</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りそな</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HD</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ではないため注意</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みずほ：みずほ信託銀行の「連結」</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みずほ</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FG</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ではないため注意</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1000" dirty="0">
                <a:latin typeface="Meiryo UI" panose="020B0604030504040204" pitchFamily="50" charset="-128"/>
                <a:ea typeface="Meiryo UI" panose="020B0604030504040204" pitchFamily="50" charset="-128"/>
                <a:cs typeface="Meiryo UI" panose="020B0604030504040204" pitchFamily="50" charset="-128"/>
              </a:rPr>
              <a:t>上位</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4</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社以外は有価証券報告書を作成していないため、ディスクロージャー紙から情報を取得する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743987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latin typeface="Meiryo UI" panose="020B0604030504040204" pitchFamily="50" charset="-128"/>
                <a:ea typeface="Meiryo UI" panose="020B0604030504040204" pitchFamily="50" charset="-128"/>
                <a:cs typeface="Meiryo UI" panose="020B0604030504040204" pitchFamily="50" charset="-128"/>
              </a:rPr>
              <a:t>ディスクロージャー誌のセグメント情報から取得</a:t>
            </a:r>
            <a:endParaRPr lang="en-US" altLang="ja-JP" sz="1200" dirty="0">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dirty="0"/>
          </a:p>
        </p:txBody>
      </p:sp>
    </p:spTree>
    <p:extLst>
      <p:ext uri="{BB962C8B-B14F-4D97-AF65-F5344CB8AC3E}">
        <p14:creationId xmlns:p14="http://schemas.microsoft.com/office/powerpoint/2010/main" val="1604190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dirty="0">
                <a:latin typeface="Meiryo UI"/>
                <a:ea typeface="Meiryo UI"/>
              </a:rPr>
              <a:t>デジタル活用による付加価値向上・業務効率化と部門間連携の強化は全部門共通のトレンド。</a:t>
            </a:r>
            <a:endParaRPr lang="en-US" altLang="ja-JP" sz="1200" dirty="0">
              <a:latin typeface="Meiryo UI"/>
              <a:ea typeface="Meiryo UI"/>
            </a:endParaRPr>
          </a:p>
          <a:p>
            <a:r>
              <a:rPr lang="ja-JP" altLang="en-US" sz="1200" dirty="0">
                <a:latin typeface="Meiryo UI"/>
                <a:ea typeface="Meiryo UI"/>
              </a:rPr>
              <a:t>個人部門においては高齢化への対応、法人の各部門においてはバンキングの収益性低下による他部門の強化が重要。</a:t>
            </a:r>
          </a:p>
          <a:p>
            <a:endParaRPr kumimoji="1" lang="ja-JP" altLang="en-US" dirty="0"/>
          </a:p>
        </p:txBody>
      </p:sp>
    </p:spTree>
    <p:extLst>
      <p:ext uri="{BB962C8B-B14F-4D97-AF65-F5344CB8AC3E}">
        <p14:creationId xmlns:p14="http://schemas.microsoft.com/office/powerpoint/2010/main" val="409493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925951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118883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Ref idx="1001">
        <a:schemeClr val="bg1"/>
      </p:bgRef>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1"/>
            </p:custDataLst>
            <p:extLst>
              <p:ext uri="{D42A27DB-BD31-4B8C-83A1-F6EECF244321}">
                <p14:modId xmlns:p14="http://schemas.microsoft.com/office/powerpoint/2010/main" val="186687992"/>
              </p:ext>
            </p:extLst>
          </p:nvPr>
        </p:nvGraphicFramePr>
        <p:xfrm>
          <a:off x="0" y="0"/>
          <a:ext cx="171896" cy="158750"/>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44" name="Objekt 43"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71896"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itle 1"/>
          <p:cNvSpPr>
            <a:spLocks noGrp="1"/>
          </p:cNvSpPr>
          <p:nvPr>
            <p:ph type="ctrTitle" hasCustomPrompt="1"/>
          </p:nvPr>
        </p:nvSpPr>
        <p:spPr>
          <a:xfrm>
            <a:off x="2605862" y="2924838"/>
            <a:ext cx="4689515" cy="996950"/>
          </a:xfrm>
          <a:prstGeom prst="rect">
            <a:avLst/>
          </a:prstGeom>
        </p:spPr>
        <p:txBody>
          <a:bodyPr lIns="0" tIns="0" anchor="ctr" anchorCtr="0">
            <a:noAutofit/>
          </a:bodyPr>
          <a:lstStyle>
            <a:lvl1pPr algn="ctr">
              <a:lnSpc>
                <a:spcPct val="100000"/>
              </a:lnSpc>
              <a:spcAft>
                <a:spcPts val="0"/>
              </a:spcAft>
              <a:defRPr sz="2400" b="0" spc="0" baseline="0">
                <a:solidFill>
                  <a:schemeClr val="tx1"/>
                </a:solidFill>
                <a:latin typeface="+mj-lt"/>
                <a:ea typeface="+mj-ea"/>
                <a:cs typeface="Meiryo UI" panose="020B0604030504040204" pitchFamily="50" charset="-128"/>
              </a:defRPr>
            </a:lvl1pPr>
          </a:lstStyle>
          <a:p>
            <a:r>
              <a:rPr lang="ja-JP" altLang="en-US"/>
              <a:t>第</a:t>
            </a:r>
            <a:r>
              <a:rPr lang="en-US" altLang="ja-JP"/>
              <a:t>X</a:t>
            </a:r>
            <a:r>
              <a:rPr lang="ja-JP" altLang="en-US"/>
              <a:t>回討議資料</a:t>
            </a:r>
            <a:endParaRPr lang="en-GB"/>
          </a:p>
        </p:txBody>
      </p:sp>
      <p:sp>
        <p:nvSpPr>
          <p:cNvPr id="20" name="Text Placeholder 32"/>
          <p:cNvSpPr>
            <a:spLocks noGrp="1"/>
          </p:cNvSpPr>
          <p:nvPr>
            <p:ph type="body" sz="quarter" idx="10" hasCustomPrompt="1"/>
          </p:nvPr>
        </p:nvSpPr>
        <p:spPr>
          <a:xfrm>
            <a:off x="2605863" y="5071547"/>
            <a:ext cx="4689513" cy="467562"/>
          </a:xfrm>
          <a:prstGeom prst="rect">
            <a:avLst/>
          </a:prstGeom>
        </p:spPr>
        <p:txBody>
          <a:bodyPr anchor="t" anchorCtr="0"/>
          <a:lstStyle>
            <a:lvl1pPr marL="0" indent="0" algn="ctr" rtl="0" eaLnBrk="1" fontAlgn="base" hangingPunct="1">
              <a:lnSpc>
                <a:spcPct val="100000"/>
              </a:lnSpc>
              <a:spcBef>
                <a:spcPct val="0"/>
              </a:spcBef>
              <a:spcAft>
                <a:spcPts val="0"/>
              </a:spcAft>
              <a:buFont typeface="Arial" charset="0"/>
              <a:buNone/>
              <a:defRPr lang="en-US" sz="2000" b="0" kern="1200" spc="0" baseline="0" dirty="0" smtClean="0">
                <a:solidFill>
                  <a:schemeClr val="tx1"/>
                </a:solidFill>
                <a:latin typeface="+mn-lt"/>
                <a:ea typeface="+mn-ea"/>
                <a:cs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a:t>XX</a:t>
            </a:r>
            <a:r>
              <a:rPr lang="ja-JP" altLang="en-US"/>
              <a:t>月</a:t>
            </a:r>
            <a:r>
              <a:rPr lang="en-US" altLang="ja-JP"/>
              <a:t>XX</a:t>
            </a:r>
            <a:r>
              <a:rPr lang="ja-JP" altLang="en-US"/>
              <a:t>日</a:t>
            </a:r>
            <a:endParaRPr lang="en-US"/>
          </a:p>
        </p:txBody>
      </p:sp>
    </p:spTree>
    <p:extLst>
      <p:ext uri="{BB962C8B-B14F-4D97-AF65-F5344CB8AC3E}">
        <p14:creationId xmlns:p14="http://schemas.microsoft.com/office/powerpoint/2010/main" val="2280686884"/>
      </p:ext>
    </p:extLst>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40536653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オブジェクト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lvl1pPr marL="266700" indent="-266700">
              <a:defRPr b="0">
                <a:latin typeface="+mj-lt"/>
                <a:ea typeface="+mj-ea"/>
                <a:cs typeface="Meiryo UI" panose="020B0604030504040204" pitchFamily="50" charset="-128"/>
              </a:defRPr>
            </a:lvl1pPr>
          </a:lstStyle>
          <a:p>
            <a:r>
              <a:rPr lang="ja-JP" altLang="en-US"/>
              <a:t>マスター タイトルの書式設定</a:t>
            </a:r>
          </a:p>
        </p:txBody>
      </p:sp>
      <p:sp>
        <p:nvSpPr>
          <p:cNvPr id="5" name="Slide Number Placeholder 4"/>
          <p:cNvSpPr>
            <a:spLocks noGrp="1"/>
          </p:cNvSpPr>
          <p:nvPr>
            <p:ph type="sldNum" sz="quarter" idx="1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18000" rIns="0" bIns="18000" numCol="1" anchor="b" anchorCtr="0" compatLnSpc="1">
            <a:prstTxWarp prst="textNoShape">
              <a:avLst/>
            </a:prstTxWarp>
          </a:bodyPr>
          <a:lstStyle>
            <a:lvl1pPr>
              <a:defRPr lang="en-US" altLang="ja-JP" sz="1000" smtClean="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1pPr>
          </a:lstStyle>
          <a:p>
            <a:fld id="{48A150E7-E09D-4C31-9917-0D6C90A70F8A}" type="slidenum">
              <a:rPr lang="en-US" altLang="ja-JP" smtClean="0"/>
              <a:pPr/>
              <a:t>‹#›</a:t>
            </a:fld>
            <a:endParaRPr lang="ja-JP" altLang="en-US"/>
          </a:p>
        </p:txBody>
      </p:sp>
      <p:sp>
        <p:nvSpPr>
          <p:cNvPr id="6" name="コンテンツ プレースホルダー 2"/>
          <p:cNvSpPr>
            <a:spLocks noGrp="1"/>
          </p:cNvSpPr>
          <p:nvPr>
            <p:ph idx="1"/>
          </p:nvPr>
        </p:nvSpPr>
        <p:spPr bwMode="auto">
          <a:xfrm>
            <a:off x="127155" y="777701"/>
            <a:ext cx="9648000" cy="335989"/>
          </a:xfrm>
          <a:prstGeom prst="rect">
            <a:avLst/>
          </a:prstGeom>
        </p:spPr>
        <p:txBody>
          <a:bodyPr/>
          <a:lstStyle>
            <a:lvl1pPr marL="0" indent="0">
              <a:buNone/>
              <a:defRPr/>
            </a:lvl1pPr>
          </a:lstStyle>
          <a:p>
            <a:endParaRPr kumimoji="1" lang="en-US" altLang="ja-JP"/>
          </a:p>
          <a:p>
            <a:endParaRPr kumimoji="1" lang="en-US" altLang="ja-JP"/>
          </a:p>
        </p:txBody>
      </p:sp>
    </p:spTree>
    <p:extLst>
      <p:ext uri="{BB962C8B-B14F-4D97-AF65-F5344CB8AC3E}">
        <p14:creationId xmlns:p14="http://schemas.microsoft.com/office/powerpoint/2010/main" val="356486719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5407751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a:defRPr lang="ja-JP" altLang="en-US" b="0" dirty="0"/>
            </a:lvl1pPr>
          </a:lstStyle>
          <a:p>
            <a:pPr lvl="0"/>
            <a:r>
              <a:rPr lang="ja-JP" altLang="en-US"/>
              <a:t>マスター タイトルの書式設定</a:t>
            </a:r>
          </a:p>
        </p:txBody>
      </p:sp>
      <p:sp>
        <p:nvSpPr>
          <p:cNvPr id="5" name="Slide Number Placeholder 4"/>
          <p:cNvSpPr>
            <a:spLocks noGrp="1"/>
          </p:cNvSpPr>
          <p:nvPr>
            <p:ph type="sldNum" sz="quarter" idx="1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18000" rIns="0" bIns="18000" numCol="1" anchor="b" anchorCtr="0" compatLnSpc="1">
            <a:prstTxWarp prst="textNoShape">
              <a:avLst/>
            </a:prstTxWarp>
          </a:bodyPr>
          <a:lstStyle>
            <a:lvl1pPr>
              <a:defRPr lang="en-US" altLang="ja-JP" sz="1000" smtClean="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1pPr>
          </a:lstStyle>
          <a:p>
            <a:fld id="{48A150E7-E09D-4C31-9917-0D6C90A70F8A}" type="slidenum">
              <a:rPr lang="en-US" altLang="ja-JP" smtClean="0"/>
              <a:pPr/>
              <a:t>‹#›</a:t>
            </a:fld>
            <a:endParaRPr lang="ja-JP" altLang="en-US"/>
          </a:p>
        </p:txBody>
      </p:sp>
    </p:spTree>
    <p:extLst>
      <p:ext uri="{BB962C8B-B14F-4D97-AF65-F5344CB8AC3E}">
        <p14:creationId xmlns:p14="http://schemas.microsoft.com/office/powerpoint/2010/main" val="258564216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a:defRPr lang="ja-JP" altLang="en-US" b="0" dirty="0"/>
            </a:lvl1pPr>
          </a:lstStyle>
          <a:p>
            <a:pPr lvl="0"/>
            <a:r>
              <a:rPr lang="ja-JP" altLang="en-US"/>
              <a:t>マスター タイトルの書式設定</a:t>
            </a:r>
          </a:p>
        </p:txBody>
      </p:sp>
      <p:sp>
        <p:nvSpPr>
          <p:cNvPr id="5" name="Slide Number Placeholder 4"/>
          <p:cNvSpPr>
            <a:spLocks noGrp="1"/>
          </p:cNvSpPr>
          <p:nvPr>
            <p:ph type="sldNum" sz="quarter" idx="1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18000" rIns="0" bIns="18000" numCol="1" anchor="b" anchorCtr="0" compatLnSpc="1">
            <a:prstTxWarp prst="textNoShape">
              <a:avLst/>
            </a:prstTxWarp>
          </a:bodyPr>
          <a:lstStyle>
            <a:lvl1pPr>
              <a:defRPr lang="en-US" altLang="ja-JP" sz="1000" smtClean="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1pPr>
          </a:lstStyle>
          <a:p>
            <a:fld id="{48A150E7-E09D-4C31-9917-0D6C90A70F8A}" type="slidenum">
              <a:rPr lang="en-US" altLang="ja-JP" smtClean="0"/>
              <a:pPr/>
              <a:t>‹#›</a:t>
            </a:fld>
            <a:endParaRPr lang="ja-JP" altLang="en-US"/>
          </a:p>
        </p:txBody>
      </p:sp>
    </p:spTree>
    <p:extLst>
      <p:ext uri="{BB962C8B-B14F-4D97-AF65-F5344CB8AC3E}">
        <p14:creationId xmlns:p14="http://schemas.microsoft.com/office/powerpoint/2010/main" val="113077952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245812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a:defRPr lang="ja-JP" altLang="en-US" b="0" dirty="0"/>
            </a:lvl1pPr>
          </a:lstStyle>
          <a:p>
            <a:pPr lvl="0"/>
            <a:r>
              <a:rPr lang="ja-JP" altLang="en-US"/>
              <a:t>目次</a:t>
            </a:r>
          </a:p>
        </p:txBody>
      </p:sp>
      <p:sp>
        <p:nvSpPr>
          <p:cNvPr id="5" name="Slide Number Placeholder 4"/>
          <p:cNvSpPr>
            <a:spLocks noGrp="1"/>
          </p:cNvSpPr>
          <p:nvPr>
            <p:ph type="sldNum" sz="quarter" idx="1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18000" rIns="0" bIns="18000" numCol="1" anchor="b" anchorCtr="0" compatLnSpc="1">
            <a:prstTxWarp prst="textNoShape">
              <a:avLst/>
            </a:prstTxWarp>
          </a:bodyPr>
          <a:lstStyle>
            <a:lvl1pPr>
              <a:defRPr lang="en-US" altLang="ja-JP" sz="1000" smtClean="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1pPr>
          </a:lstStyle>
          <a:p>
            <a:fld id="{48A150E7-E09D-4C31-9917-0D6C90A70F8A}" type="slidenum">
              <a:rPr lang="en-US" altLang="ja-JP" smtClean="0"/>
              <a:pPr/>
              <a:t>‹#›</a:t>
            </a:fld>
            <a:endParaRPr lang="ja-JP" altLang="en-US"/>
          </a:p>
        </p:txBody>
      </p:sp>
      <p:sp>
        <p:nvSpPr>
          <p:cNvPr id="6" name="正方形/長方形 5"/>
          <p:cNvSpPr/>
          <p:nvPr userDrawn="1"/>
        </p:nvSpPr>
        <p:spPr bwMode="auto">
          <a:xfrm>
            <a:off x="2071019" y="1520854"/>
            <a:ext cx="5760000" cy="4284476"/>
          </a:xfrm>
          <a:prstGeom prst="rect">
            <a:avLst/>
          </a:prstGeom>
          <a:noFill/>
          <a:ln w="9525" cap="flat" cmpd="sng" algn="ctr">
            <a:noFill/>
            <a:prstDash val="solid"/>
            <a:round/>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342900" indent="-342900" algn="l" eaLnBrk="0" hangingPunct="0">
              <a:spcBef>
                <a:spcPts val="600"/>
              </a:spcBef>
              <a:buClrTx/>
              <a:buAutoNum type="arabicPeriod"/>
            </a:pPr>
            <a:r>
              <a:rPr lang="ja-JP" altLang="en-US" sz="1800" dirty="0">
                <a:solidFill>
                  <a:srgbClr val="000000"/>
                </a:solidFill>
                <a:latin typeface="+mn-lt"/>
                <a:ea typeface="+mn-ea"/>
                <a:cs typeface="Meiryo UI" panose="020B0604030504040204" pitchFamily="50" charset="-128"/>
              </a:rPr>
              <a:t>資産運用ビジネスの事業環境認識</a:t>
            </a:r>
            <a:endParaRPr lang="en-US" altLang="ja-JP" sz="1800" dirty="0">
              <a:solidFill>
                <a:srgbClr val="000000"/>
              </a:solidFill>
              <a:latin typeface="+mn-lt"/>
              <a:ea typeface="+mn-ea"/>
              <a:cs typeface="Meiryo UI" panose="020B0604030504040204" pitchFamily="50" charset="-128"/>
            </a:endParaRPr>
          </a:p>
          <a:p>
            <a:pPr marL="342900" indent="-342900" algn="l" eaLnBrk="0" hangingPunct="0">
              <a:spcBef>
                <a:spcPts val="600"/>
              </a:spcBef>
              <a:buClrTx/>
              <a:buAutoNum type="arabicPeriod"/>
            </a:pPr>
            <a:endParaRPr lang="en-US" altLang="ja-JP" sz="1800" dirty="0">
              <a:solidFill>
                <a:srgbClr val="000000"/>
              </a:solidFill>
              <a:latin typeface="+mn-lt"/>
              <a:ea typeface="+mn-ea"/>
              <a:cs typeface="Meiryo UI" panose="020B0604030504040204" pitchFamily="50" charset="-128"/>
            </a:endParaRPr>
          </a:p>
          <a:p>
            <a:pPr marL="342900" indent="-342900" algn="l" eaLnBrk="0" hangingPunct="0">
              <a:spcBef>
                <a:spcPts val="600"/>
              </a:spcBef>
              <a:buClrTx/>
              <a:buAutoNum type="arabicPeriod"/>
            </a:pPr>
            <a:r>
              <a:rPr lang="ja-JP" altLang="en-US" sz="1800" dirty="0">
                <a:solidFill>
                  <a:srgbClr val="000000"/>
                </a:solidFill>
                <a:latin typeface="+mn-lt"/>
                <a:ea typeface="+mn-ea"/>
                <a:cs typeface="Meiryo UI" panose="020B0604030504040204" pitchFamily="50" charset="-128"/>
              </a:rPr>
              <a:t>ビジネス変革の方向性</a:t>
            </a:r>
            <a:endParaRPr lang="en-US" altLang="ja-JP" sz="1800" dirty="0">
              <a:solidFill>
                <a:srgbClr val="000000"/>
              </a:solidFill>
              <a:latin typeface="+mn-lt"/>
              <a:ea typeface="+mn-ea"/>
              <a:cs typeface="Meiryo UI" panose="020B0604030504040204" pitchFamily="50" charset="-128"/>
            </a:endParaRPr>
          </a:p>
          <a:p>
            <a:pPr marL="342900" indent="-342900" algn="l" eaLnBrk="0" hangingPunct="0">
              <a:spcBef>
                <a:spcPts val="600"/>
              </a:spcBef>
              <a:buClrTx/>
              <a:buAutoNum type="arabicPeriod"/>
            </a:pPr>
            <a:endParaRPr lang="en-US" altLang="ja-JP" sz="1800" dirty="0">
              <a:solidFill>
                <a:srgbClr val="000000"/>
              </a:solidFill>
              <a:latin typeface="+mn-lt"/>
              <a:ea typeface="+mn-ea"/>
              <a:cs typeface="Meiryo UI" panose="020B0604030504040204" pitchFamily="50" charset="-128"/>
            </a:endParaRPr>
          </a:p>
          <a:p>
            <a:pPr marL="342900" indent="-342900" algn="l" eaLnBrk="0" hangingPunct="0">
              <a:spcBef>
                <a:spcPts val="600"/>
              </a:spcBef>
              <a:buClrTx/>
              <a:buAutoNum type="arabicPeriod"/>
            </a:pPr>
            <a:r>
              <a:rPr lang="ja-JP" altLang="en-US" sz="1800" dirty="0">
                <a:solidFill>
                  <a:srgbClr val="000000"/>
                </a:solidFill>
                <a:latin typeface="+mn-lt"/>
                <a:ea typeface="+mn-ea"/>
                <a:cs typeface="Meiryo UI" panose="020B0604030504040204" pitchFamily="50" charset="-128"/>
              </a:rPr>
              <a:t>システム構造改革の方向性</a:t>
            </a:r>
            <a:r>
              <a:rPr lang="en-US" altLang="ja-JP" sz="1800" dirty="0">
                <a:solidFill>
                  <a:srgbClr val="000000"/>
                </a:solidFill>
                <a:latin typeface="+mn-lt"/>
                <a:ea typeface="+mn-ea"/>
                <a:cs typeface="Meiryo UI" panose="020B0604030504040204" pitchFamily="50" charset="-128"/>
              </a:rPr>
              <a:t>(</a:t>
            </a:r>
            <a:r>
              <a:rPr lang="ja-JP" altLang="en-US" sz="1800" dirty="0">
                <a:solidFill>
                  <a:srgbClr val="000000"/>
                </a:solidFill>
                <a:latin typeface="+mn-lt"/>
                <a:ea typeface="+mn-ea"/>
                <a:cs typeface="Meiryo UI" panose="020B0604030504040204" pitchFamily="50" charset="-128"/>
              </a:rPr>
              <a:t>仮説</a:t>
            </a:r>
            <a:r>
              <a:rPr lang="en-US" altLang="ja-JP" sz="1800" dirty="0">
                <a:solidFill>
                  <a:srgbClr val="000000"/>
                </a:solidFill>
                <a:latin typeface="+mn-lt"/>
                <a:ea typeface="+mn-ea"/>
                <a:cs typeface="Meiryo UI" panose="020B0604030504040204" pitchFamily="50" charset="-128"/>
              </a:rPr>
              <a:t>)</a:t>
            </a:r>
            <a:endParaRPr lang="en-US" altLang="ja-JP" sz="700" dirty="0">
              <a:solidFill>
                <a:srgbClr val="000000"/>
              </a:solidFill>
              <a:latin typeface="+mn-lt"/>
              <a:ea typeface="+mn-ea"/>
              <a:cs typeface="Meiryo UI" panose="020B0604030504040204" pitchFamily="50" charset="-128"/>
            </a:endParaRPr>
          </a:p>
        </p:txBody>
      </p:sp>
    </p:spTree>
    <p:extLst>
      <p:ext uri="{BB962C8B-B14F-4D97-AF65-F5344CB8AC3E}">
        <p14:creationId xmlns:p14="http://schemas.microsoft.com/office/powerpoint/2010/main" val="297479455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ln/>
        </p:spPr>
        <p:txBody>
          <a:bodyPr/>
          <a:lstStyle>
            <a:lvl1pPr>
              <a:defRPr/>
            </a:lvl1pPr>
          </a:lstStyle>
          <a:p>
            <a:pPr>
              <a:defRPr/>
            </a:pPr>
            <a:fld id="{05A06B60-087E-426F-93CE-BE818633695E}" type="slidenum">
              <a:rPr lang="zh-SG" altLang="en-US"/>
              <a:pPr>
                <a:defRPr/>
              </a:pPr>
              <a:t>‹#›</a:t>
            </a:fld>
            <a:endParaRPr lang="en-US" altLang="zh-SG" sz="800"/>
          </a:p>
        </p:txBody>
      </p:sp>
      <p:sp>
        <p:nvSpPr>
          <p:cNvPr id="5" name="Footer Placeholder 2"/>
          <p:cNvSpPr txBox="1">
            <a:spLocks/>
          </p:cNvSpPr>
          <p:nvPr userDrawn="1"/>
        </p:nvSpPr>
        <p:spPr bwMode="auto">
          <a:xfrm>
            <a:off x="200376" y="6627586"/>
            <a:ext cx="5064160" cy="144016"/>
          </a:xfrm>
          <a:prstGeom prst="rect">
            <a:avLst/>
          </a:prstGeom>
          <a:noFill/>
          <a:ln w="12700">
            <a:noFill/>
            <a:miter lim="800000"/>
            <a:headEnd/>
            <a:tailEnd/>
          </a:ln>
          <a:effectLst/>
        </p:spPr>
        <p:txBody>
          <a:bodyPr vert="horz" wrap="square" lIns="0" tIns="0" rIns="0" bIns="0" numCol="1" anchor="b" anchorCtr="0" compatLnSpc="1">
            <a:prstTxWarp prst="textNoShape">
              <a:avLst/>
            </a:prstTxWarp>
          </a:bodyPr>
          <a:lstStyle>
            <a:defPPr>
              <a:defRPr lang="en-GB"/>
            </a:defPPr>
            <a:lvl1pPr algn="l" rtl="0" eaLnBrk="0" fontAlgn="base" hangingPunct="0">
              <a:spcBef>
                <a:spcPct val="0"/>
              </a:spcBef>
              <a:spcAft>
                <a:spcPct val="0"/>
              </a:spcAft>
              <a:defRPr sz="900" kern="1200">
                <a:solidFill>
                  <a:schemeClr val="tx1"/>
                </a:solidFill>
                <a:latin typeface="Arial" charset="0"/>
                <a:ea typeface="宋体" charset="-122"/>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r>
              <a:rPr lang="en-US" altLang="zh-SG" sz="700">
                <a:solidFill>
                  <a:srgbClr val="000000"/>
                </a:solidFill>
              </a:rPr>
              <a:t>Copyright © 2015 Accenture</a:t>
            </a:r>
            <a:r>
              <a:rPr lang="zh-SG" altLang="en-US" sz="700">
                <a:solidFill>
                  <a:srgbClr val="000000"/>
                </a:solidFill>
              </a:rPr>
              <a:t>. All rights reserved. Confidential information of Accenture. For internal use only.</a:t>
            </a:r>
            <a:endParaRPr lang="en-US" altLang="zh-SG" sz="700">
              <a:solidFill>
                <a:srgbClr val="000000"/>
              </a:solidFill>
            </a:endParaRPr>
          </a:p>
        </p:txBody>
      </p:sp>
    </p:spTree>
    <p:extLst>
      <p:ext uri="{BB962C8B-B14F-4D97-AF65-F5344CB8AC3E}">
        <p14:creationId xmlns:p14="http://schemas.microsoft.com/office/powerpoint/2010/main" val="243744345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8"/>
            </p:custDataLst>
            <p:extLst>
              <p:ext uri="{D42A27DB-BD31-4B8C-83A1-F6EECF244321}">
                <p14:modId xmlns:p14="http://schemas.microsoft.com/office/powerpoint/2010/main" val="107396974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 name="Object 1" hidden="1"/>
                      <p:cNvPicPr/>
                      <p:nvPr/>
                    </p:nvPicPr>
                    <p:blipFill>
                      <a:blip r:embed="rId10"/>
                      <a:stretch>
                        <a:fillRect/>
                      </a:stretch>
                    </p:blipFill>
                    <p:spPr>
                      <a:xfrm>
                        <a:off x="1588" y="1588"/>
                        <a:ext cx="1587" cy="1587"/>
                      </a:xfrm>
                      <a:prstGeom prst="rect">
                        <a:avLst/>
                      </a:prstGeom>
                    </p:spPr>
                  </p:pic>
                </p:oleObj>
              </mc:Fallback>
            </mc:AlternateContent>
          </a:graphicData>
        </a:graphic>
      </p:graphicFrame>
      <p:sp>
        <p:nvSpPr>
          <p:cNvPr id="2536452" name="Rectangle 65"/>
          <p:cNvSpPr>
            <a:spLocks noGrp="1" noChangeArrowheads="1"/>
          </p:cNvSpPr>
          <p:nvPr>
            <p:ph type="title"/>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p>
            <a:pPr lvl="0"/>
            <a:r>
              <a:rPr lang="ja-JP" altLang="en-US"/>
              <a:t>マスター タイトルの書式設定</a:t>
            </a:r>
            <a:endParaRPr lang="en-US" altLang="ja-JP"/>
          </a:p>
        </p:txBody>
      </p:sp>
      <p:sp>
        <p:nvSpPr>
          <p:cNvPr id="8" name="Rectangle 3"/>
          <p:cNvSpPr>
            <a:spLocks noGrp="1" noChangeArrowheads="1"/>
          </p:cNvSpPr>
          <p:nvPr>
            <p:ph type="sldNum" sz="quarter" idx="4"/>
          </p:nvPr>
        </p:nvSpPr>
        <p:spPr bwMode="gray">
          <a:xfrm>
            <a:off x="8334376" y="6640513"/>
            <a:ext cx="1439863"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18000" rIns="0" bIns="18000" numCol="1" anchor="b" anchorCtr="0" compatLnSpc="1">
            <a:prstTxWarp prst="textNoShape">
              <a:avLst/>
            </a:prstTxWarp>
          </a:bodyPr>
          <a:lstStyle>
            <a:lvl1pPr algn="r" eaLnBrk="0" hangingPunct="0">
              <a:lnSpc>
                <a:spcPct val="80000"/>
              </a:lnSpc>
              <a:spcBef>
                <a:spcPct val="0"/>
              </a:spcBef>
              <a:buClrTx/>
              <a:buFontTx/>
              <a:buNone/>
              <a:defRPr sz="1000">
                <a:latin typeface="Meiryo UI" panose="020B0604030504040204" pitchFamily="50" charset="-128"/>
                <a:ea typeface="Meiryo UI" panose="020B0604030504040204" pitchFamily="50" charset="-128"/>
                <a:cs typeface="Meiryo UI" panose="020B0604030504040204" pitchFamily="50" charset="-128"/>
              </a:defRPr>
            </a:lvl1pPr>
          </a:lstStyle>
          <a:p>
            <a:fld id="{03440512-5DFA-4D41-AC3A-B0EA1393C7E1}" type="slidenum">
              <a:rPr lang="en-US" altLang="ja-JP" smtClean="0">
                <a:solidFill>
                  <a:srgbClr val="000000"/>
                </a:solidFill>
              </a:rPr>
              <a:pPr/>
              <a:t>‹#›</a:t>
            </a:fld>
            <a:endParaRPr lang="en-US" altLang="ja-JP">
              <a:solidFill>
                <a:srgbClr val="000000"/>
              </a:solidFill>
            </a:endParaRPr>
          </a:p>
        </p:txBody>
      </p:sp>
      <p:cxnSp>
        <p:nvCxnSpPr>
          <p:cNvPr id="12" name="Straight Connector 11"/>
          <p:cNvCxnSpPr>
            <a:cxnSpLocks noChangeShapeType="1"/>
          </p:cNvCxnSpPr>
          <p:nvPr/>
        </p:nvCxnSpPr>
        <p:spPr bwMode="auto">
          <a:xfrm>
            <a:off x="125414" y="754063"/>
            <a:ext cx="9775825" cy="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cxnSp>
      <p:sp>
        <p:nvSpPr>
          <p:cNvPr id="10" name="Footer Placeholder 3"/>
          <p:cNvSpPr txBox="1">
            <a:spLocks/>
          </p:cNvSpPr>
          <p:nvPr userDrawn="1"/>
        </p:nvSpPr>
        <p:spPr>
          <a:xfrm>
            <a:off x="53939" y="6577956"/>
            <a:ext cx="3096430" cy="2548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18000" rIns="0" bIns="18000" numCol="1" anchor="b" anchorCtr="0" compatLnSpc="1">
            <a:prstTxWarp prst="textNoShape">
              <a:avLst/>
            </a:prstTxWarp>
          </a:bodyPr>
          <a:lstStyle>
            <a:defPPr>
              <a:defRPr lang="en-US"/>
            </a:defPPr>
            <a:lvl1pPr algn="ctr" rtl="0" fontAlgn="base">
              <a:spcBef>
                <a:spcPct val="20000"/>
              </a:spcBef>
              <a:spcAft>
                <a:spcPct val="0"/>
              </a:spcAft>
              <a:buClr>
                <a:schemeClr val="tx1"/>
              </a:buClr>
              <a:defRPr lang="en-US" altLang="ja-JP" sz="1000" kern="1200" smtClean="0">
                <a:solidFill>
                  <a:srgbClr val="000000"/>
                </a:solidFill>
                <a:latin typeface="Meiryo UI" panose="020B0604030504040204" pitchFamily="50" charset="-128"/>
                <a:ea typeface="Meiryo UI" panose="020B0604030504040204" pitchFamily="50" charset="-128"/>
                <a:cs typeface="Meiryo UI" panose="020B0604030504040204" pitchFamily="50" charset="-128"/>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lgn="l"/>
            <a:r>
              <a:rPr lang="en-US" sz="1000" b="0" dirty="0"/>
              <a:t>Copyright © 2019 Accenture  All Rights Reserved.</a:t>
            </a:r>
          </a:p>
        </p:txBody>
      </p:sp>
      <p:sp>
        <p:nvSpPr>
          <p:cNvPr id="9" name="コンテンツ プレースホルダー 2"/>
          <p:cNvSpPr txBox="1">
            <a:spLocks/>
          </p:cNvSpPr>
          <p:nvPr userDrawn="1"/>
        </p:nvSpPr>
        <p:spPr bwMode="auto">
          <a:xfrm>
            <a:off x="127155" y="765175"/>
            <a:ext cx="9648000" cy="335989"/>
          </a:xfrm>
          <a:prstGeom prst="rect">
            <a:avLst/>
          </a:prstGeom>
        </p:spPr>
        <p:txBody>
          <a:bodyPr/>
          <a:lstStyle>
            <a:lvl1pPr marL="285750" indent="-285750" algn="l" rtl="0" eaLnBrk="1" fontAlgn="base" hangingPunct="1">
              <a:spcBef>
                <a:spcPct val="20000"/>
              </a:spcBef>
              <a:spcAft>
                <a:spcPct val="0"/>
              </a:spcAft>
              <a:buClr>
                <a:schemeClr val="tx1"/>
              </a:buClr>
              <a:buFont typeface="Wingdings" panose="05000000000000000000" pitchFamily="2" charset="2"/>
              <a:buChar char="p"/>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endParaRPr lang="ja-JP" altLang="en-US" kern="0"/>
          </a:p>
        </p:txBody>
      </p:sp>
    </p:spTree>
    <p:extLst>
      <p:ext uri="{BB962C8B-B14F-4D97-AF65-F5344CB8AC3E}">
        <p14:creationId xmlns:p14="http://schemas.microsoft.com/office/powerpoint/2010/main" val="3802664333"/>
      </p:ext>
    </p:extLst>
  </p:cSld>
  <p:clrMap bg1="lt1" tx1="dk1" bg2="lt2" tx2="dk2" accent1="accent1" accent2="accent2" accent3="accent3" accent4="accent4" accent5="accent5" accent6="accent6" hlink="hlink" folHlink="folHlink"/>
  <p:sldLayoutIdLst>
    <p:sldLayoutId id="2147483847" r:id="rId1"/>
    <p:sldLayoutId id="2147483844" r:id="rId2"/>
    <p:sldLayoutId id="2147483845" r:id="rId3"/>
    <p:sldLayoutId id="2147483848" r:id="rId4"/>
    <p:sldLayoutId id="2147483849" r:id="rId5"/>
    <p:sldLayoutId id="2147483851" r:id="rId6"/>
  </p:sldLayoutIdLst>
  <p:transition/>
  <p:hf hdr="0" ftr="0" dt="0"/>
  <p:txStyles>
    <p:titleStyle>
      <a:lvl1pPr marL="266700" indent="-266700" algn="l" rtl="0" eaLnBrk="1" fontAlgn="base" hangingPunct="1">
        <a:spcBef>
          <a:spcPct val="0"/>
        </a:spcBef>
        <a:spcAft>
          <a:spcPct val="0"/>
        </a:spcAft>
        <a:tabLst/>
        <a:defRPr kumimoji="1" sz="200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p:titleStyle>
    <p:bodyStyle>
      <a:lvl1pPr marL="285750" indent="-285750" algn="l" rtl="0" eaLnBrk="1" fontAlgn="base" hangingPunct="1">
        <a:spcBef>
          <a:spcPct val="20000"/>
        </a:spcBef>
        <a:spcAft>
          <a:spcPct val="0"/>
        </a:spcAft>
        <a:buClr>
          <a:schemeClr val="tx1"/>
        </a:buClr>
        <a:buFont typeface="Wingdings" panose="05000000000000000000" pitchFamily="2" charset="2"/>
        <a:buChar char="p"/>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slideLayout" Target="../slideLayouts/slideLayout2.xml"/><Relationship Id="rId7" Type="http://schemas.openxmlformats.org/officeDocument/2006/relationships/chart" Target="../charts/chart1.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emf"/><Relationship Id="rId5" Type="http://schemas.openxmlformats.org/officeDocument/2006/relationships/oleObject" Target="../embeddings/oleObject6.bin"/><Relationship Id="rId10" Type="http://schemas.openxmlformats.org/officeDocument/2006/relationships/image" Target="../media/image3.svg"/><Relationship Id="rId4" Type="http://schemas.openxmlformats.org/officeDocument/2006/relationships/notesSlide" Target="../notesSlides/notesSlide2.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1.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14/relationships/chartEx" Target="../charts/chartEx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479A52-5353-4D70-A76E-69A8C8F9DAC6}"/>
              </a:ext>
            </a:extLst>
          </p:cNvPr>
          <p:cNvSpPr>
            <a:spLocks noGrp="1"/>
          </p:cNvSpPr>
          <p:nvPr>
            <p:ph type="ctrTitle"/>
          </p:nvPr>
        </p:nvSpPr>
        <p:spPr bwMode="gray"/>
        <p:txBody>
          <a:bodyPr/>
          <a:lstStyle/>
          <a:p>
            <a:pPr marL="0" indent="0"/>
            <a:r>
              <a:rPr lang="ja-JP" altLang="en-US" dirty="0"/>
              <a:t>業界動向調査 </a:t>
            </a:r>
            <a:r>
              <a:rPr lang="en-US" altLang="ja-JP" dirty="0"/>
              <a:t>In-Charge</a:t>
            </a:r>
            <a:br>
              <a:rPr lang="en-US" altLang="ja-JP" dirty="0"/>
            </a:br>
            <a:r>
              <a:rPr kumimoji="1" lang="ja-JP" altLang="en-US" dirty="0"/>
              <a:t>信託銀行</a:t>
            </a:r>
            <a:r>
              <a:rPr lang="ja-JP" altLang="en-US" dirty="0"/>
              <a:t>編</a:t>
            </a:r>
            <a:endParaRPr kumimoji="1" lang="ja-JP" altLang="en-US" dirty="0"/>
          </a:p>
        </p:txBody>
      </p:sp>
      <p:sp>
        <p:nvSpPr>
          <p:cNvPr id="3" name="テキスト プレースホルダー 2">
            <a:extLst>
              <a:ext uri="{FF2B5EF4-FFF2-40B4-BE49-F238E27FC236}">
                <a16:creationId xmlns:a16="http://schemas.microsoft.com/office/drawing/2014/main" id="{FD0D31EC-C5EE-4CC6-86E8-055707F3DD51}"/>
              </a:ext>
            </a:extLst>
          </p:cNvPr>
          <p:cNvSpPr>
            <a:spLocks noGrp="1"/>
          </p:cNvSpPr>
          <p:nvPr>
            <p:ph type="body" sz="quarter" idx="10"/>
          </p:nvPr>
        </p:nvSpPr>
        <p:spPr bwMode="gray">
          <a:xfrm>
            <a:off x="2605862" y="5090797"/>
            <a:ext cx="4689513" cy="467562"/>
          </a:xfrm>
        </p:spPr>
        <p:txBody>
          <a:bodyPr/>
          <a:lstStyle/>
          <a:p>
            <a:r>
              <a:rPr lang="en-US" altLang="ja-JP" dirty="0"/>
              <a:t>2019/3/29</a:t>
            </a:r>
            <a:endParaRPr kumimoji="1" lang="ja-JP" altLang="en-US" dirty="0"/>
          </a:p>
        </p:txBody>
      </p:sp>
    </p:spTree>
    <p:extLst>
      <p:ext uri="{BB962C8B-B14F-4D97-AF65-F5344CB8AC3E}">
        <p14:creationId xmlns:p14="http://schemas.microsoft.com/office/powerpoint/2010/main" val="374381566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8D7112-13C1-4228-9EE3-02E01D155442}"/>
              </a:ext>
            </a:extLst>
          </p:cNvPr>
          <p:cNvSpPr>
            <a:spLocks noGrp="1"/>
          </p:cNvSpPr>
          <p:nvPr>
            <p:ph type="title"/>
          </p:nvPr>
        </p:nvSpPr>
        <p:spPr bwMode="gray"/>
        <p:txBody>
          <a:bodyPr/>
          <a:lstStyle/>
          <a:p>
            <a:r>
              <a:rPr lang="ja-JP" altLang="en-US" dirty="0">
                <a:solidFill>
                  <a:schemeClr val="tx1"/>
                </a:solidFill>
              </a:rPr>
              <a:t>アジェンダ</a:t>
            </a:r>
          </a:p>
        </p:txBody>
      </p:sp>
      <p:sp>
        <p:nvSpPr>
          <p:cNvPr id="3" name="スライド番号プレースホルダー 2">
            <a:extLst>
              <a:ext uri="{FF2B5EF4-FFF2-40B4-BE49-F238E27FC236}">
                <a16:creationId xmlns:a16="http://schemas.microsoft.com/office/drawing/2014/main" id="{E57B2FF3-BB7C-4D89-8D1E-684D760DABFC}"/>
              </a:ext>
            </a:extLst>
          </p:cNvPr>
          <p:cNvSpPr>
            <a:spLocks noGrp="1"/>
          </p:cNvSpPr>
          <p:nvPr>
            <p:ph type="sldNum" sz="quarter" idx="11"/>
          </p:nvPr>
        </p:nvSpPr>
        <p:spPr bwMode="gray"/>
        <p:txBody>
          <a:bodyPr/>
          <a:lstStyle/>
          <a:p>
            <a:fld id="{48A150E7-E09D-4C31-9917-0D6C90A70F8A}" type="slidenum">
              <a:rPr lang="en-US" altLang="ja-JP" smtClean="0"/>
              <a:pPr/>
              <a:t>2</a:t>
            </a:fld>
            <a:endParaRPr lang="ja-JP" altLang="en-US" dirty="0"/>
          </a:p>
        </p:txBody>
      </p:sp>
      <p:sp>
        <p:nvSpPr>
          <p:cNvPr id="4" name="コンテンツ プレースホルダー 3">
            <a:extLst>
              <a:ext uri="{FF2B5EF4-FFF2-40B4-BE49-F238E27FC236}">
                <a16:creationId xmlns:a16="http://schemas.microsoft.com/office/drawing/2014/main" id="{CD628417-1F1A-401C-900D-27AA01A69DDA}"/>
              </a:ext>
            </a:extLst>
          </p:cNvPr>
          <p:cNvSpPr>
            <a:spLocks noGrp="1"/>
          </p:cNvSpPr>
          <p:nvPr>
            <p:ph idx="1"/>
          </p:nvPr>
        </p:nvSpPr>
        <p:spPr bwMode="gray"/>
        <p:txBody>
          <a:bodyPr anchor="t"/>
          <a:lstStyle/>
          <a:p>
            <a:pPr marL="342900" indent="-342900">
              <a:buFont typeface="+mj-lt"/>
              <a:buAutoNum type="arabicPeriod"/>
              <a:tabLst>
                <a:tab pos="266700" algn="l"/>
              </a:tabLst>
            </a:pPr>
            <a:r>
              <a:rPr lang="ja-JP" altLang="en-US" sz="1800" dirty="0"/>
              <a:t>調査のスコープ</a:t>
            </a:r>
            <a:endParaRPr lang="en-US" altLang="ja-JP" sz="1800" dirty="0"/>
          </a:p>
          <a:p>
            <a:pPr marL="342900" indent="-342900">
              <a:buFont typeface="+mj-lt"/>
              <a:buAutoNum type="arabicPeriod"/>
              <a:tabLst>
                <a:tab pos="266700" algn="l"/>
              </a:tabLst>
            </a:pPr>
            <a:endParaRPr lang="en-US" altLang="ja-JP" sz="1800" dirty="0"/>
          </a:p>
          <a:p>
            <a:pPr marL="342900" indent="-342900">
              <a:buFont typeface="+mj-lt"/>
              <a:buAutoNum type="arabicPeriod"/>
              <a:tabLst>
                <a:tab pos="266700" algn="l"/>
              </a:tabLst>
            </a:pPr>
            <a:r>
              <a:rPr lang="ja-JP" altLang="en-US" sz="1800" dirty="0"/>
              <a:t>ビジネス</a:t>
            </a:r>
            <a:endParaRPr lang="en-US" altLang="ja-JP" sz="1800" dirty="0"/>
          </a:p>
          <a:p>
            <a:pPr marL="625475" lvl="1">
              <a:buFont typeface="+mj-lt"/>
              <a:buAutoNum type="romanLcPeriod"/>
              <a:tabLst>
                <a:tab pos="266700" algn="l"/>
              </a:tabLst>
            </a:pPr>
            <a:r>
              <a:rPr lang="ja-JP" altLang="en-US" dirty="0"/>
              <a:t>各社の主要業績指標比較</a:t>
            </a:r>
            <a:endParaRPr lang="en-US" altLang="ja-JP" dirty="0">
              <a:latin typeface="Meiryo UI"/>
              <a:ea typeface="Meiryo UI"/>
            </a:endParaRPr>
          </a:p>
          <a:p>
            <a:pPr marL="625475" lvl="1">
              <a:buFont typeface="+mj-lt"/>
              <a:buAutoNum type="romanLcPeriod"/>
              <a:tabLst>
                <a:tab pos="266700" algn="l"/>
              </a:tabLst>
            </a:pPr>
            <a:r>
              <a:rPr lang="ja-JP" altLang="en-US" dirty="0"/>
              <a:t>各社の注力部門比較</a:t>
            </a:r>
            <a:endParaRPr lang="en-US" altLang="ja-JP" dirty="0"/>
          </a:p>
          <a:p>
            <a:pPr marL="625475" lvl="1">
              <a:buFont typeface="+mj-lt"/>
              <a:buAutoNum type="romanLcPeriod"/>
              <a:tabLst>
                <a:tab pos="266700" algn="l"/>
              </a:tabLst>
            </a:pPr>
            <a:r>
              <a:rPr lang="en-US" altLang="ja-JP" dirty="0"/>
              <a:t>SMBC</a:t>
            </a:r>
            <a:r>
              <a:rPr lang="ja-JP" altLang="en-US" dirty="0"/>
              <a:t>信託の赤字要因分析</a:t>
            </a:r>
            <a:endParaRPr lang="en-US" altLang="ja-JP" dirty="0"/>
          </a:p>
          <a:p>
            <a:pPr marL="625475" lvl="1">
              <a:buFont typeface="+mj-lt"/>
              <a:buAutoNum type="romanLcPeriod"/>
              <a:tabLst>
                <a:tab pos="266700" algn="l"/>
              </a:tabLst>
            </a:pPr>
            <a:r>
              <a:rPr lang="ja-JP" altLang="en-US" dirty="0"/>
              <a:t>業界の</a:t>
            </a:r>
            <a:r>
              <a:rPr lang="ja-JP" altLang="en-US" dirty="0">
                <a:latin typeface="Meiryo UI"/>
              </a:rPr>
              <a:t>トレンド・課題と各社の取組</a:t>
            </a:r>
            <a:endParaRPr lang="en-US" altLang="ja-JP" dirty="0"/>
          </a:p>
          <a:p>
            <a:pPr marL="358775" lvl="1" indent="0">
              <a:buNone/>
              <a:tabLst>
                <a:tab pos="266700" algn="l"/>
              </a:tabLst>
            </a:pPr>
            <a:endParaRPr lang="en-US" altLang="ja-JP" sz="1600" dirty="0"/>
          </a:p>
          <a:p>
            <a:pPr marL="342900" indent="-342900">
              <a:buFont typeface="+mj-lt"/>
              <a:buAutoNum type="arabicPeriod"/>
              <a:tabLst>
                <a:tab pos="266700" algn="l"/>
              </a:tabLst>
            </a:pPr>
            <a:r>
              <a:rPr lang="ja-JP" altLang="en-US" sz="1800" dirty="0"/>
              <a:t>業務</a:t>
            </a:r>
            <a:endParaRPr lang="en-US" altLang="ja-JP" sz="1800" dirty="0"/>
          </a:p>
          <a:p>
            <a:pPr marL="625475" lvl="1">
              <a:buFont typeface="+mj-lt"/>
              <a:buAutoNum type="romanLcPeriod"/>
              <a:tabLst>
                <a:tab pos="266700" algn="l"/>
              </a:tabLst>
            </a:pPr>
            <a:r>
              <a:rPr lang="ja-JP" altLang="en-US" dirty="0"/>
              <a:t>信託銀行の主要業務</a:t>
            </a:r>
            <a:endParaRPr lang="en-US" altLang="ja-JP" dirty="0"/>
          </a:p>
          <a:p>
            <a:pPr marL="625475" lvl="1">
              <a:buFont typeface="+mj-lt"/>
              <a:buAutoNum type="romanLcPeriod"/>
              <a:tabLst>
                <a:tab pos="266700" algn="l"/>
              </a:tabLst>
            </a:pPr>
            <a:r>
              <a:rPr lang="ja-JP" altLang="en-US" dirty="0"/>
              <a:t>各社の取り扱いサービス・商品ラインナップ比較</a:t>
            </a:r>
            <a:endParaRPr lang="en-US" altLang="ja-JP" dirty="0"/>
          </a:p>
          <a:p>
            <a:pPr marL="358775" lvl="1" indent="0">
              <a:buNone/>
              <a:tabLst>
                <a:tab pos="266700" algn="l"/>
              </a:tabLst>
            </a:pPr>
            <a:endParaRPr lang="en-US" altLang="ja-JP" sz="1800" dirty="0"/>
          </a:p>
          <a:p>
            <a:pPr marL="342900" indent="-342900">
              <a:buFont typeface="+mj-lt"/>
              <a:buAutoNum type="arabicPeriod"/>
              <a:tabLst>
                <a:tab pos="266700" algn="l"/>
              </a:tabLst>
            </a:pPr>
            <a:r>
              <a:rPr lang="ja-JP" altLang="en-US" sz="1800" dirty="0"/>
              <a:t>テクノロジー</a:t>
            </a:r>
            <a:endParaRPr lang="en-US" altLang="ja-JP" sz="1800" dirty="0"/>
          </a:p>
          <a:p>
            <a:pPr marL="625475" lvl="1">
              <a:buFont typeface="+mj-lt"/>
              <a:buAutoNum type="romanLcPeriod"/>
              <a:tabLst>
                <a:tab pos="266700" algn="l"/>
              </a:tabLst>
            </a:pPr>
            <a:r>
              <a:rPr lang="ja-JP" altLang="en-US" dirty="0"/>
              <a:t>各社のシステム構成</a:t>
            </a:r>
            <a:endParaRPr lang="en-US" altLang="ja-JP" dirty="0"/>
          </a:p>
          <a:p>
            <a:pPr marL="625475" lvl="1">
              <a:buFont typeface="+mj-lt"/>
              <a:buAutoNum type="romanLcPeriod"/>
              <a:tabLst>
                <a:tab pos="266700" algn="l"/>
              </a:tabLst>
            </a:pPr>
            <a:r>
              <a:rPr lang="en-US" altLang="ja-JP" dirty="0"/>
              <a:t>New</a:t>
            </a:r>
            <a:r>
              <a:rPr lang="ja-JP" altLang="en-US" dirty="0"/>
              <a:t> </a:t>
            </a:r>
            <a:r>
              <a:rPr lang="en-US" altLang="ja-JP" dirty="0"/>
              <a:t>IT</a:t>
            </a:r>
            <a:r>
              <a:rPr lang="ja-JP" altLang="en-US" dirty="0"/>
              <a:t>の活用</a:t>
            </a:r>
            <a:endParaRPr lang="en-US" altLang="ja-JP" dirty="0"/>
          </a:p>
          <a:p>
            <a:pPr>
              <a:tabLst>
                <a:tab pos="266700" algn="l"/>
              </a:tabLst>
            </a:pPr>
            <a:endParaRPr lang="en-US" altLang="ja-JP" sz="1800" dirty="0"/>
          </a:p>
          <a:p>
            <a:pPr>
              <a:tabLst>
                <a:tab pos="266700" algn="l"/>
              </a:tabLst>
            </a:pPr>
            <a:r>
              <a:rPr lang="ja-JP" altLang="en-US" sz="1800" dirty="0"/>
              <a:t>本資料の位置づけ</a:t>
            </a:r>
            <a:endParaRPr lang="en-US" altLang="ja-JP" sz="1800" dirty="0"/>
          </a:p>
          <a:p>
            <a:pPr marL="363538">
              <a:tabLst>
                <a:tab pos="266700" algn="l"/>
              </a:tabLst>
            </a:pPr>
            <a:r>
              <a:rPr lang="ja-JP" altLang="en-US" sz="1400" dirty="0"/>
              <a:t>本資料は、信託銀行業界に関する基礎知識を提供することを目的に、</a:t>
            </a:r>
            <a:endParaRPr lang="en-US" altLang="ja-JP" sz="1400" dirty="0"/>
          </a:p>
          <a:p>
            <a:pPr marL="363538">
              <a:tabLst>
                <a:tab pos="266700" algn="l"/>
              </a:tabLst>
            </a:pPr>
            <a:r>
              <a:rPr lang="ja-JP" altLang="en-US" sz="1400" dirty="0"/>
              <a:t>公開情報をもとに、業界のトレンドおよび業務内容をまとめたものです。</a:t>
            </a:r>
            <a:endParaRPr lang="en-US" altLang="ja-JP" sz="1400" dirty="0"/>
          </a:p>
        </p:txBody>
      </p:sp>
    </p:spTree>
    <p:extLst>
      <p:ext uri="{BB962C8B-B14F-4D97-AF65-F5344CB8AC3E}">
        <p14:creationId xmlns:p14="http://schemas.microsoft.com/office/powerpoint/2010/main" val="14620769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B06E22FC-88F1-4D1E-9776-A60D1A368C40}"/>
              </a:ext>
            </a:extLst>
          </p:cNvPr>
          <p:cNvSpPr/>
          <p:nvPr/>
        </p:nvSpPr>
        <p:spPr bwMode="gray">
          <a:xfrm>
            <a:off x="1230098" y="4379859"/>
            <a:ext cx="3303901" cy="445583"/>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7" name="オブジェクト 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オブジェクト 6"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正方形/長方形 5" hidden="1"/>
          <p:cNvSpPr/>
          <p:nvPr>
            <p:custDataLst>
              <p:tags r:id="rId2"/>
            </p:custDataLst>
          </p:nvPr>
        </p:nvSpPr>
        <p:spPr bwMode="auto">
          <a:xfrm>
            <a:off x="0" y="0"/>
            <a:ext cx="158750" cy="15875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0" rIns="0" bIns="0" numCol="1" spcCol="0" rtlCol="0" anchor="ctr" anchorCtr="0" compatLnSpc="1">
            <a:prstTxWarp prst="textNoShape">
              <a:avLst/>
            </a:prstTxWarp>
            <a:noAutofit/>
          </a:bodyPr>
          <a:lstStyle/>
          <a:p>
            <a:pPr>
              <a:lnSpc>
                <a:spcPct val="90000"/>
              </a:lnSpc>
              <a:spcBef>
                <a:spcPct val="0"/>
              </a:spcBef>
            </a:pPr>
            <a:endParaRPr kumimoji="0" lang="ja-JP" altLang="en-US" sz="1100" u="none" strike="noStrike" cap="none" normalizeH="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p:txBody>
      </p:sp>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3</a:t>
            </a:fld>
            <a:endParaRPr lang="ja-JP" altLang="en-US" dirty="0"/>
          </a:p>
        </p:txBody>
      </p:sp>
      <p:sp>
        <p:nvSpPr>
          <p:cNvPr id="4" name="コンテンツ プレースホルダー 3"/>
          <p:cNvSpPr>
            <a:spLocks noGrp="1"/>
          </p:cNvSpPr>
          <p:nvPr>
            <p:ph idx="1"/>
          </p:nvPr>
        </p:nvSpPr>
        <p:spPr bwMode="gray"/>
        <p:txBody>
          <a:bodyPr/>
          <a:lstStyle/>
          <a:p>
            <a:r>
              <a:rPr kumimoji="1" lang="ja-JP" altLang="en-US" sz="1400" dirty="0"/>
              <a:t>「信託銀行」</a:t>
            </a:r>
            <a:r>
              <a:rPr lang="ja-JP" altLang="en-US" sz="1400" dirty="0"/>
              <a:t>および</a:t>
            </a:r>
            <a:r>
              <a:rPr kumimoji="1" lang="ja-JP" altLang="en-US" sz="1400" dirty="0"/>
              <a:t>「資産管理銀行」のうち、経常収益が</a:t>
            </a:r>
            <a:r>
              <a:rPr kumimoji="1" lang="en-US" altLang="ja-JP" sz="1400" dirty="0"/>
              <a:t>200</a:t>
            </a:r>
            <a:r>
              <a:rPr kumimoji="1" lang="ja-JP" altLang="en-US" sz="1400" dirty="0"/>
              <a:t>億円を超える</a:t>
            </a:r>
            <a:r>
              <a:rPr kumimoji="1" lang="en-US" altLang="ja-JP" sz="1400" dirty="0"/>
              <a:t>9</a:t>
            </a:r>
            <a:r>
              <a:rPr kumimoji="1" lang="ja-JP" altLang="en-US" sz="1400" dirty="0"/>
              <a:t>社を調査対象とする</a:t>
            </a:r>
            <a:r>
              <a:rPr lang="ja-JP" altLang="en-US" sz="1400" dirty="0"/>
              <a:t>。</a:t>
            </a:r>
            <a:endParaRPr kumimoji="1" lang="en-US" altLang="ja-JP" sz="1400" dirty="0"/>
          </a:p>
          <a:p>
            <a:r>
              <a:rPr lang="ja-JP" altLang="en-US" sz="1400" dirty="0"/>
              <a:t>子会社である投信委託会社はアセットマネジメント編で調査するため、信託銀行編では対象外とする。</a:t>
            </a:r>
            <a:endParaRPr lang="en-US" altLang="ja-JP" sz="1400" dirty="0"/>
          </a:p>
        </p:txBody>
      </p:sp>
      <p:sp>
        <p:nvSpPr>
          <p:cNvPr id="5" name="正方形/長方形 4">
            <a:extLst>
              <a:ext uri="{FF2B5EF4-FFF2-40B4-BE49-F238E27FC236}">
                <a16:creationId xmlns:a16="http://schemas.microsoft.com/office/drawing/2014/main" id="{65713B9D-09A4-49FB-BFAE-93907D6DCF48}"/>
              </a:ext>
            </a:extLst>
          </p:cNvPr>
          <p:cNvSpPr/>
          <p:nvPr/>
        </p:nvSpPr>
        <p:spPr bwMode="gray">
          <a:xfrm>
            <a:off x="579351" y="1666931"/>
            <a:ext cx="602002" cy="30888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銀行</a:t>
            </a:r>
          </a:p>
        </p:txBody>
      </p:sp>
      <p:sp>
        <p:nvSpPr>
          <p:cNvPr id="24" name="正方形/長方形 23">
            <a:extLst>
              <a:ext uri="{FF2B5EF4-FFF2-40B4-BE49-F238E27FC236}">
                <a16:creationId xmlns:a16="http://schemas.microsoft.com/office/drawing/2014/main" id="{F80B148E-5512-4E68-9AF7-0AF6D5275E49}"/>
              </a:ext>
            </a:extLst>
          </p:cNvPr>
          <p:cNvSpPr/>
          <p:nvPr/>
        </p:nvSpPr>
        <p:spPr bwMode="gray">
          <a:xfrm>
            <a:off x="577618" y="4825443"/>
            <a:ext cx="602002" cy="720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証券</a:t>
            </a:r>
            <a:endParaRPr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ts val="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会社</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29" name="表 28">
            <a:extLst>
              <a:ext uri="{FF2B5EF4-FFF2-40B4-BE49-F238E27FC236}">
                <a16:creationId xmlns:a16="http://schemas.microsoft.com/office/drawing/2014/main" id="{13A5626E-D8C4-472B-9564-8AE3139B38A0}"/>
              </a:ext>
            </a:extLst>
          </p:cNvPr>
          <p:cNvGraphicFramePr>
            <a:graphicFrameLocks noGrp="1"/>
          </p:cNvGraphicFramePr>
          <p:nvPr>
            <p:extLst>
              <p:ext uri="{D42A27DB-BD31-4B8C-83A1-F6EECF244321}">
                <p14:modId xmlns:p14="http://schemas.microsoft.com/office/powerpoint/2010/main" val="4292467962"/>
              </p:ext>
            </p:extLst>
          </p:nvPr>
        </p:nvGraphicFramePr>
        <p:xfrm>
          <a:off x="5393097" y="2292313"/>
          <a:ext cx="3636603" cy="3295201"/>
        </p:xfrm>
        <a:graphic>
          <a:graphicData uri="http://schemas.openxmlformats.org/drawingml/2006/table">
            <a:tbl>
              <a:tblPr>
                <a:tableStyleId>{5C22544A-7EE6-4342-B048-85BDC9FD1C3A}</a:tableStyleId>
              </a:tblPr>
              <a:tblGrid>
                <a:gridCol w="2468865">
                  <a:extLst>
                    <a:ext uri="{9D8B030D-6E8A-4147-A177-3AD203B41FA5}">
                      <a16:colId xmlns:a16="http://schemas.microsoft.com/office/drawing/2014/main" val="201801165"/>
                    </a:ext>
                  </a:extLst>
                </a:gridCol>
                <a:gridCol w="1167738">
                  <a:extLst>
                    <a:ext uri="{9D8B030D-6E8A-4147-A177-3AD203B41FA5}">
                      <a16:colId xmlns:a16="http://schemas.microsoft.com/office/drawing/2014/main" val="1962082527"/>
                    </a:ext>
                  </a:extLst>
                </a:gridCol>
              </a:tblGrid>
              <a:tr h="258625">
                <a:tc>
                  <a:txBody>
                    <a:bodyPr/>
                    <a:lstStyle/>
                    <a:p>
                      <a:pPr algn="l" fontAlgn="ctr"/>
                      <a:r>
                        <a:rPr lang="ja-JP" altLang="en-US" sz="1100" b="0" i="0" u="none" strike="noStrike" dirty="0">
                          <a:solidFill>
                            <a:schemeClr val="bg1"/>
                          </a:solidFill>
                          <a:effectLst/>
                          <a:latin typeface="Meiryo UI" panose="020B0604030504040204" pitchFamily="50" charset="-128"/>
                          <a:ea typeface="Meiryo UI" panose="020B0604030504040204" pitchFamily="50" charset="-128"/>
                        </a:rPr>
                        <a:t>会社名</a:t>
                      </a:r>
                      <a:endParaRPr lang="zh-TW" altLang="en-US" sz="1100" b="0" i="0" u="none" strike="noStrike" dirty="0">
                        <a:solidFill>
                          <a:schemeClr val="bg1"/>
                        </a:solidFill>
                        <a:effectLst/>
                        <a:latin typeface="Meiryo UI" panose="020B0604030504040204" pitchFamily="50" charset="-128"/>
                        <a:ea typeface="Meiryo UI" panose="020B0604030504040204" pitchFamily="50" charset="-128"/>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2060"/>
                    </a:solidFill>
                  </a:tcPr>
                </a:tc>
                <a:tc>
                  <a:txBody>
                    <a:bodyPr/>
                    <a:lstStyle/>
                    <a:p>
                      <a:pPr algn="l" fontAlgn="ctr"/>
                      <a:r>
                        <a:rPr lang="ja-JP" altLang="en-US" sz="1100" b="0" i="0" u="none" strike="noStrike" dirty="0">
                          <a:solidFill>
                            <a:schemeClr val="bg1"/>
                          </a:solidFill>
                          <a:effectLst/>
                          <a:latin typeface="+mn-ea"/>
                          <a:ea typeface="+mn-ea"/>
                        </a:rPr>
                        <a:t>経常収益</a:t>
                      </a:r>
                      <a:r>
                        <a:rPr lang="en-US" altLang="ja-JP" sz="1100" b="0" i="0" u="none" strike="noStrike" dirty="0">
                          <a:solidFill>
                            <a:schemeClr val="bg1"/>
                          </a:solidFill>
                          <a:effectLst/>
                          <a:latin typeface="+mn-ea"/>
                          <a:ea typeface="+mn-ea"/>
                        </a:rPr>
                        <a:t>(</a:t>
                      </a:r>
                      <a:r>
                        <a:rPr lang="ja-JP" altLang="en-US" sz="1100" b="0" i="0" u="none" strike="noStrike" dirty="0">
                          <a:solidFill>
                            <a:schemeClr val="bg1"/>
                          </a:solidFill>
                          <a:effectLst/>
                          <a:latin typeface="+mn-ea"/>
                          <a:ea typeface="+mn-ea"/>
                        </a:rPr>
                        <a:t>億円</a:t>
                      </a:r>
                      <a:r>
                        <a:rPr lang="en-US" altLang="ja-JP" sz="1100" b="0" i="0" u="none" strike="noStrike" dirty="0">
                          <a:solidFill>
                            <a:schemeClr val="bg1"/>
                          </a:solidFill>
                          <a:effectLst/>
                          <a:latin typeface="+mn-ea"/>
                          <a:ea typeface="+mn-ea"/>
                        </a:rPr>
                        <a:t>)</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245582697"/>
                  </a:ext>
                </a:extLst>
              </a:tr>
              <a:tr h="253048">
                <a:tc>
                  <a:txBody>
                    <a:bodyPr/>
                    <a:lstStyle/>
                    <a:p>
                      <a:pPr algn="l" fontAlgn="ctr"/>
                      <a:r>
                        <a:rPr lang="zh-TW" altLang="en-US" sz="1100" u="none" strike="noStrike" dirty="0">
                          <a:effectLst/>
                          <a:latin typeface="+mn-ea"/>
                          <a:ea typeface="+mn-ea"/>
                        </a:rPr>
                        <a:t>三井住友信託銀行</a:t>
                      </a:r>
                      <a:endParaRPr lang="zh-TW"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13,509</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43117311"/>
                  </a:ext>
                </a:extLst>
              </a:tr>
              <a:tr h="253048">
                <a:tc>
                  <a:txBody>
                    <a:bodyPr/>
                    <a:lstStyle/>
                    <a:p>
                      <a:pPr algn="l" fontAlgn="ctr"/>
                      <a:r>
                        <a:rPr lang="zh-TW" altLang="en-US" sz="1100" u="none" strike="noStrike" dirty="0">
                          <a:effectLst/>
                          <a:latin typeface="+mn-ea"/>
                          <a:ea typeface="+mn-ea"/>
                        </a:rPr>
                        <a:t>三菱</a:t>
                      </a:r>
                      <a:r>
                        <a:rPr lang="en-US" altLang="zh-TW" sz="1100" u="none" strike="noStrike" dirty="0">
                          <a:effectLst/>
                          <a:latin typeface="+mn-ea"/>
                          <a:ea typeface="+mn-ea"/>
                        </a:rPr>
                        <a:t>UFJ</a:t>
                      </a:r>
                      <a:r>
                        <a:rPr lang="zh-TW" altLang="en-US" sz="1100" u="none" strike="noStrike" dirty="0">
                          <a:effectLst/>
                          <a:latin typeface="+mn-ea"/>
                          <a:ea typeface="+mn-ea"/>
                        </a:rPr>
                        <a:t>信託銀行</a:t>
                      </a:r>
                      <a:endParaRPr lang="zh-TW"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8,402</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32695987"/>
                  </a:ext>
                </a:extLst>
              </a:tr>
              <a:tr h="253048">
                <a:tc>
                  <a:txBody>
                    <a:bodyPr/>
                    <a:lstStyle/>
                    <a:p>
                      <a:pPr marL="0" algn="l" defTabSz="914400" rtl="0" eaLnBrk="1" fontAlgn="ctr" latinLnBrk="0" hangingPunct="1"/>
                      <a:r>
                        <a:rPr kumimoji="1" lang="ja-JP" altLang="en-US" sz="1100" u="none" strike="noStrike" kern="1200" dirty="0">
                          <a:solidFill>
                            <a:schemeClr val="dk1"/>
                          </a:solidFill>
                          <a:effectLst/>
                          <a:latin typeface="+mn-ea"/>
                          <a:ea typeface="+mn-ea"/>
                          <a:cs typeface="+mn-cs"/>
                        </a:rPr>
                        <a:t>りそな銀行</a:t>
                      </a:r>
                      <a:endParaRPr kumimoji="1" lang="zh-TW" altLang="en-US" sz="1100" u="none" strike="noStrike" kern="1200" dirty="0">
                        <a:solidFill>
                          <a:schemeClr val="dk1"/>
                        </a:solidFill>
                        <a:effectLst/>
                        <a:latin typeface="+mn-ea"/>
                        <a:ea typeface="+mn-ea"/>
                        <a:cs typeface="+mn-cs"/>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5,069</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87725178"/>
                  </a:ext>
                </a:extLst>
              </a:tr>
              <a:tr h="253048">
                <a:tc>
                  <a:txBody>
                    <a:bodyPr/>
                    <a:lstStyle/>
                    <a:p>
                      <a:pPr algn="l" fontAlgn="ctr"/>
                      <a:r>
                        <a:rPr lang="ja-JP" altLang="en-US" sz="1100" u="none" strike="noStrike" dirty="0">
                          <a:effectLst/>
                          <a:latin typeface="+mn-ea"/>
                          <a:ea typeface="+mn-ea"/>
                        </a:rPr>
                        <a:t>みずほ信託銀行</a:t>
                      </a:r>
                      <a:endParaRPr lang="ja-JP"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2,490</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56213279"/>
                  </a:ext>
                </a:extLst>
              </a:tr>
              <a:tr h="253048">
                <a:tc>
                  <a:txBody>
                    <a:bodyPr/>
                    <a:lstStyle/>
                    <a:p>
                      <a:pPr algn="l" fontAlgn="ctr"/>
                      <a:r>
                        <a:rPr lang="en-US" altLang="ja-JP" sz="1100" b="0" i="0" u="none" strike="noStrike" dirty="0">
                          <a:solidFill>
                            <a:srgbClr val="000000"/>
                          </a:solidFill>
                          <a:effectLst/>
                          <a:latin typeface="+mn-ea"/>
                          <a:ea typeface="+mn-ea"/>
                        </a:rPr>
                        <a:t>SMBC</a:t>
                      </a:r>
                      <a:r>
                        <a:rPr lang="ja-JP" altLang="en-US" sz="1100" b="0" i="0" u="none" strike="noStrike" dirty="0">
                          <a:solidFill>
                            <a:srgbClr val="000000"/>
                          </a:solidFill>
                          <a:effectLst/>
                          <a:latin typeface="+mn-ea"/>
                          <a:ea typeface="+mn-ea"/>
                        </a:rPr>
                        <a:t>信託銀行</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506</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340117641"/>
                  </a:ext>
                </a:extLst>
              </a:tr>
              <a:tr h="253048">
                <a:tc>
                  <a:txBody>
                    <a:bodyPr/>
                    <a:lstStyle/>
                    <a:p>
                      <a:pPr algn="l" fontAlgn="ctr"/>
                      <a:r>
                        <a:rPr lang="ja-JP" altLang="en-US" sz="1100" u="none" strike="noStrike" dirty="0">
                          <a:effectLst/>
                          <a:latin typeface="+mn-ea"/>
                          <a:ea typeface="+mn-ea"/>
                        </a:rPr>
                        <a:t>日本トラスティ・サービス信託銀行</a:t>
                      </a:r>
                      <a:endParaRPr lang="zh-TW"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274</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02471728"/>
                  </a:ext>
                </a:extLst>
              </a:tr>
              <a:tr h="253048">
                <a:tc>
                  <a:txBody>
                    <a:bodyPr/>
                    <a:lstStyle/>
                    <a:p>
                      <a:pPr algn="l" fontAlgn="ctr"/>
                      <a:r>
                        <a:rPr lang="zh-TW" altLang="en-US" sz="1100" u="none" strike="noStrike" dirty="0">
                          <a:effectLst/>
                          <a:latin typeface="+mn-ea"/>
                          <a:ea typeface="+mn-ea"/>
                        </a:rPr>
                        <a:t>野村信託銀行</a:t>
                      </a:r>
                      <a:endParaRPr lang="ja-JP"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259</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45497530"/>
                  </a:ext>
                </a:extLst>
              </a:tr>
              <a:tr h="253048">
                <a:tc>
                  <a:txBody>
                    <a:bodyPr/>
                    <a:lstStyle/>
                    <a:p>
                      <a:pPr algn="l" fontAlgn="ctr"/>
                      <a:r>
                        <a:rPr lang="ja-JP" altLang="en-US" sz="1100" u="none" strike="noStrike" dirty="0">
                          <a:effectLst/>
                          <a:latin typeface="+mn-ea"/>
                          <a:ea typeface="+mn-ea"/>
                        </a:rPr>
                        <a:t>資産管理サービス信託銀行</a:t>
                      </a:r>
                      <a:endParaRPr lang="ja-JP"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238</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23662313"/>
                  </a:ext>
                </a:extLst>
              </a:tr>
              <a:tr h="253048">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100" u="none" strike="noStrike" dirty="0">
                          <a:effectLst/>
                          <a:latin typeface="+mn-ea"/>
                          <a:ea typeface="+mn-ea"/>
                        </a:rPr>
                        <a:t>日本マスタートラスト信託銀行</a:t>
                      </a:r>
                      <a:endParaRPr lang="ja-JP"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225</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932004132"/>
                  </a:ext>
                </a:extLst>
              </a:tr>
              <a:tr h="253048">
                <a:tc>
                  <a:txBody>
                    <a:bodyPr/>
                    <a:lstStyle/>
                    <a:p>
                      <a:pPr algn="l" fontAlgn="ctr"/>
                      <a:r>
                        <a:rPr lang="zh-TW" altLang="en-US" sz="1100" u="none" strike="noStrike" dirty="0">
                          <a:effectLst/>
                          <a:latin typeface="+mn-ea"/>
                          <a:ea typeface="+mn-ea"/>
                        </a:rPr>
                        <a:t>農中信託銀行</a:t>
                      </a:r>
                      <a:endParaRPr lang="zh-TW"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47</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9058176"/>
                  </a:ext>
                </a:extLst>
              </a:tr>
              <a:tr h="253048">
                <a:tc>
                  <a:txBody>
                    <a:bodyPr/>
                    <a:lstStyle/>
                    <a:p>
                      <a:pPr algn="l" fontAlgn="ctr"/>
                      <a:r>
                        <a:rPr lang="zh-TW" altLang="en-US" sz="1100" u="none" strike="noStrike" dirty="0">
                          <a:effectLst/>
                          <a:latin typeface="+mn-ea"/>
                          <a:ea typeface="+mn-ea"/>
                        </a:rPr>
                        <a:t>日証金信託銀行</a:t>
                      </a:r>
                      <a:endParaRPr lang="zh-TW"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30</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49575522"/>
                  </a:ext>
                </a:extLst>
              </a:tr>
              <a:tr h="253048">
                <a:tc>
                  <a:txBody>
                    <a:bodyPr/>
                    <a:lstStyle/>
                    <a:p>
                      <a:pPr algn="l" fontAlgn="ctr"/>
                      <a:r>
                        <a:rPr lang="zh-TW" altLang="en-US" sz="1100" u="none" strike="noStrike" dirty="0">
                          <a:effectLst/>
                          <a:latin typeface="+mn-ea"/>
                          <a:ea typeface="+mn-ea"/>
                        </a:rPr>
                        <a:t>新生信託銀行</a:t>
                      </a:r>
                      <a:endParaRPr lang="zh-TW" altLang="en-US" sz="1100" b="0" i="0" u="none" strike="noStrike" dirty="0">
                        <a:solidFill>
                          <a:srgbClr val="000000"/>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n-ea"/>
                          <a:ea typeface="+mn-ea"/>
                        </a:rPr>
                        <a:t>14</a:t>
                      </a: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66007137"/>
                  </a:ext>
                </a:extLst>
              </a:tr>
            </a:tbl>
          </a:graphicData>
        </a:graphic>
      </p:graphicFrame>
      <p:cxnSp>
        <p:nvCxnSpPr>
          <p:cNvPr id="20" name="直線コネクタ 19">
            <a:extLst>
              <a:ext uri="{FF2B5EF4-FFF2-40B4-BE49-F238E27FC236}">
                <a16:creationId xmlns:a16="http://schemas.microsoft.com/office/drawing/2014/main" id="{F775929E-1FA7-4CCC-BA4D-D1A90F18F495}"/>
              </a:ext>
            </a:extLst>
          </p:cNvPr>
          <p:cNvCxnSpPr>
            <a:cxnSpLocks/>
          </p:cNvCxnSpPr>
          <p:nvPr/>
        </p:nvCxnSpPr>
        <p:spPr bwMode="gray">
          <a:xfrm flipH="1">
            <a:off x="4426213" y="2537906"/>
            <a:ext cx="928327" cy="189272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 name="直線コネクタ 29">
            <a:extLst>
              <a:ext uri="{FF2B5EF4-FFF2-40B4-BE49-F238E27FC236}">
                <a16:creationId xmlns:a16="http://schemas.microsoft.com/office/drawing/2014/main" id="{C31FB672-7BB3-4646-9B70-AAFF44E56151}"/>
              </a:ext>
            </a:extLst>
          </p:cNvPr>
          <p:cNvCxnSpPr>
            <a:cxnSpLocks/>
          </p:cNvCxnSpPr>
          <p:nvPr/>
        </p:nvCxnSpPr>
        <p:spPr bwMode="gray">
          <a:xfrm>
            <a:off x="4426213" y="4754629"/>
            <a:ext cx="928327" cy="78962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9" name="正方形/長方形 38">
            <a:extLst>
              <a:ext uri="{FF2B5EF4-FFF2-40B4-BE49-F238E27FC236}">
                <a16:creationId xmlns:a16="http://schemas.microsoft.com/office/drawing/2014/main" id="{63E12425-B6CB-45F8-AA7F-6C70BF507C12}"/>
              </a:ext>
            </a:extLst>
          </p:cNvPr>
          <p:cNvSpPr/>
          <p:nvPr/>
        </p:nvSpPr>
        <p:spPr bwMode="gray">
          <a:xfrm>
            <a:off x="1305563" y="4430629"/>
            <a:ext cx="3121200"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信託銀行、資産管理銀行</a:t>
            </a:r>
          </a:p>
        </p:txBody>
      </p:sp>
      <p:grpSp>
        <p:nvGrpSpPr>
          <p:cNvPr id="54" name="グループ化 53">
            <a:extLst>
              <a:ext uri="{FF2B5EF4-FFF2-40B4-BE49-F238E27FC236}">
                <a16:creationId xmlns:a16="http://schemas.microsoft.com/office/drawing/2014/main" id="{812E6329-7D9C-4188-84CC-7A8B7B7CC172}"/>
              </a:ext>
            </a:extLst>
          </p:cNvPr>
          <p:cNvGrpSpPr/>
          <p:nvPr/>
        </p:nvGrpSpPr>
        <p:grpSpPr bwMode="gray">
          <a:xfrm>
            <a:off x="2031776" y="3641001"/>
            <a:ext cx="2394437" cy="718814"/>
            <a:chOff x="2298476" y="3670030"/>
            <a:chExt cx="2394437" cy="718814"/>
          </a:xfrm>
        </p:grpSpPr>
        <p:sp>
          <p:nvSpPr>
            <p:cNvPr id="38" name="正方形/長方形 37">
              <a:extLst>
                <a:ext uri="{FF2B5EF4-FFF2-40B4-BE49-F238E27FC236}">
                  <a16:creationId xmlns:a16="http://schemas.microsoft.com/office/drawing/2014/main" id="{44727F2C-95B8-4AEC-B5E5-42EDA00732C1}"/>
                </a:ext>
              </a:extLst>
            </p:cNvPr>
            <p:cNvSpPr/>
            <p:nvPr/>
          </p:nvSpPr>
          <p:spPr bwMode="gray">
            <a:xfrm>
              <a:off x="2298476" y="3670030"/>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信金、労金、信組</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正方形/長方形 39">
              <a:extLst>
                <a:ext uri="{FF2B5EF4-FFF2-40B4-BE49-F238E27FC236}">
                  <a16:creationId xmlns:a16="http://schemas.microsoft.com/office/drawing/2014/main" id="{5F1E65C5-8D26-493A-9BC5-BBE79CD2552D}"/>
                </a:ext>
              </a:extLst>
            </p:cNvPr>
            <p:cNvSpPr/>
            <p:nvPr/>
          </p:nvSpPr>
          <p:spPr bwMode="gray">
            <a:xfrm>
              <a:off x="2298476" y="4064844"/>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農協、漁協</a:t>
              </a:r>
            </a:p>
          </p:txBody>
        </p:sp>
      </p:grpSp>
      <p:sp>
        <p:nvSpPr>
          <p:cNvPr id="42" name="正方形/長方形 41">
            <a:extLst>
              <a:ext uri="{FF2B5EF4-FFF2-40B4-BE49-F238E27FC236}">
                <a16:creationId xmlns:a16="http://schemas.microsoft.com/office/drawing/2014/main" id="{7C676591-54AA-4735-9397-8A718E5B438C}"/>
              </a:ext>
            </a:extLst>
          </p:cNvPr>
          <p:cNvSpPr/>
          <p:nvPr/>
        </p:nvSpPr>
        <p:spPr bwMode="gray">
          <a:xfrm>
            <a:off x="1305563" y="4825443"/>
            <a:ext cx="3121200"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既存型証券</a:t>
            </a:r>
          </a:p>
        </p:txBody>
      </p:sp>
      <p:sp>
        <p:nvSpPr>
          <p:cNvPr id="43" name="正方形/長方形 42">
            <a:extLst>
              <a:ext uri="{FF2B5EF4-FFF2-40B4-BE49-F238E27FC236}">
                <a16:creationId xmlns:a16="http://schemas.microsoft.com/office/drawing/2014/main" id="{12381D23-EFD9-4D8A-AA6B-BDACFB00F635}"/>
              </a:ext>
            </a:extLst>
          </p:cNvPr>
          <p:cNvSpPr/>
          <p:nvPr/>
        </p:nvSpPr>
        <p:spPr bwMode="gray">
          <a:xfrm>
            <a:off x="1305563" y="5220257"/>
            <a:ext cx="3121200"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ネット証券</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05871AF2-364B-48A4-86C3-6D778019172C}"/>
              </a:ext>
            </a:extLst>
          </p:cNvPr>
          <p:cNvSpPr/>
          <p:nvPr/>
        </p:nvSpPr>
        <p:spPr bwMode="gray">
          <a:xfrm>
            <a:off x="1305563" y="5615071"/>
            <a:ext cx="3121200"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国内系</a:t>
            </a:r>
          </a:p>
        </p:txBody>
      </p:sp>
      <p:sp>
        <p:nvSpPr>
          <p:cNvPr id="45" name="正方形/長方形 44">
            <a:extLst>
              <a:ext uri="{FF2B5EF4-FFF2-40B4-BE49-F238E27FC236}">
                <a16:creationId xmlns:a16="http://schemas.microsoft.com/office/drawing/2014/main" id="{96F0185F-0935-4016-974F-573D2183FE4E}"/>
              </a:ext>
            </a:extLst>
          </p:cNvPr>
          <p:cNvSpPr/>
          <p:nvPr/>
        </p:nvSpPr>
        <p:spPr bwMode="gray">
          <a:xfrm>
            <a:off x="1305563" y="6009882"/>
            <a:ext cx="3121200"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外資</a:t>
            </a: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系</a:t>
            </a:r>
          </a:p>
        </p:txBody>
      </p:sp>
      <p:sp>
        <p:nvSpPr>
          <p:cNvPr id="10" name="正方形/長方形 9">
            <a:extLst>
              <a:ext uri="{FF2B5EF4-FFF2-40B4-BE49-F238E27FC236}">
                <a16:creationId xmlns:a16="http://schemas.microsoft.com/office/drawing/2014/main" id="{9F7813ED-5057-477C-97B3-8FB9603587AB}"/>
              </a:ext>
            </a:extLst>
          </p:cNvPr>
          <p:cNvSpPr/>
          <p:nvPr/>
        </p:nvSpPr>
        <p:spPr bwMode="gray">
          <a:xfrm>
            <a:off x="2031776" y="1666931"/>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都市銀行</a:t>
            </a:r>
          </a:p>
        </p:txBody>
      </p:sp>
      <p:sp>
        <p:nvSpPr>
          <p:cNvPr id="33" name="正方形/長方形 32">
            <a:extLst>
              <a:ext uri="{FF2B5EF4-FFF2-40B4-BE49-F238E27FC236}">
                <a16:creationId xmlns:a16="http://schemas.microsoft.com/office/drawing/2014/main" id="{51409F1E-857B-4E70-8657-EBA051DB11DE}"/>
              </a:ext>
            </a:extLst>
          </p:cNvPr>
          <p:cNvSpPr/>
          <p:nvPr/>
        </p:nvSpPr>
        <p:spPr bwMode="gray">
          <a:xfrm>
            <a:off x="2031776" y="2061745"/>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地銀</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正方形/長方形 33">
            <a:extLst>
              <a:ext uri="{FF2B5EF4-FFF2-40B4-BE49-F238E27FC236}">
                <a16:creationId xmlns:a16="http://schemas.microsoft.com/office/drawing/2014/main" id="{9D30C7BC-109C-4BCA-8F2B-7B49F99BEA98}"/>
              </a:ext>
            </a:extLst>
          </p:cNvPr>
          <p:cNvSpPr/>
          <p:nvPr/>
        </p:nvSpPr>
        <p:spPr bwMode="gray">
          <a:xfrm>
            <a:off x="2031776" y="2456559"/>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第二地銀</a:t>
            </a:r>
          </a:p>
        </p:txBody>
      </p:sp>
      <p:sp>
        <p:nvSpPr>
          <p:cNvPr id="35" name="正方形/長方形 34">
            <a:extLst>
              <a:ext uri="{FF2B5EF4-FFF2-40B4-BE49-F238E27FC236}">
                <a16:creationId xmlns:a16="http://schemas.microsoft.com/office/drawing/2014/main" id="{BF3BF398-8850-4D70-B004-5E361E8884C0}"/>
              </a:ext>
            </a:extLst>
          </p:cNvPr>
          <p:cNvSpPr/>
          <p:nvPr/>
        </p:nvSpPr>
        <p:spPr bwMode="gray">
          <a:xfrm>
            <a:off x="2031776" y="2851373"/>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外銀</a:t>
            </a:r>
          </a:p>
        </p:txBody>
      </p:sp>
      <p:sp>
        <p:nvSpPr>
          <p:cNvPr id="41" name="正方形/長方形 40">
            <a:extLst>
              <a:ext uri="{FF2B5EF4-FFF2-40B4-BE49-F238E27FC236}">
                <a16:creationId xmlns:a16="http://schemas.microsoft.com/office/drawing/2014/main" id="{CBFAA128-46F6-4A0F-B9D1-2D0828720616}"/>
              </a:ext>
            </a:extLst>
          </p:cNvPr>
          <p:cNvSpPr/>
          <p:nvPr/>
        </p:nvSpPr>
        <p:spPr bwMode="gray">
          <a:xfrm>
            <a:off x="2031776" y="3246187"/>
            <a:ext cx="2394437" cy="324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ネット専業</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6" name="正方形/長方形 45">
            <a:extLst>
              <a:ext uri="{FF2B5EF4-FFF2-40B4-BE49-F238E27FC236}">
                <a16:creationId xmlns:a16="http://schemas.microsoft.com/office/drawing/2014/main" id="{45695FEA-4C5B-4B66-A185-67F2B07C0449}"/>
              </a:ext>
            </a:extLst>
          </p:cNvPr>
          <p:cNvSpPr/>
          <p:nvPr/>
        </p:nvSpPr>
        <p:spPr bwMode="gray">
          <a:xfrm>
            <a:off x="1305564" y="1666931"/>
            <a:ext cx="602002" cy="19044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普通</a:t>
            </a: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銀行</a:t>
            </a:r>
          </a:p>
        </p:txBody>
      </p:sp>
      <p:sp>
        <p:nvSpPr>
          <p:cNvPr id="50" name="正方形/長方形 49">
            <a:extLst>
              <a:ext uri="{FF2B5EF4-FFF2-40B4-BE49-F238E27FC236}">
                <a16:creationId xmlns:a16="http://schemas.microsoft.com/office/drawing/2014/main" id="{0C8CDB37-ADE0-432C-AED4-5A84D4DD1614}"/>
              </a:ext>
            </a:extLst>
          </p:cNvPr>
          <p:cNvSpPr/>
          <p:nvPr/>
        </p:nvSpPr>
        <p:spPr bwMode="gray">
          <a:xfrm>
            <a:off x="577618" y="5615071"/>
            <a:ext cx="602002" cy="720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投信</a:t>
            </a:r>
            <a:endPar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ts val="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委託</a:t>
            </a:r>
            <a:endParaRPr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ts val="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会社</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正方形/長方形 52">
            <a:extLst>
              <a:ext uri="{FF2B5EF4-FFF2-40B4-BE49-F238E27FC236}">
                <a16:creationId xmlns:a16="http://schemas.microsoft.com/office/drawing/2014/main" id="{C5786EC7-E969-4D79-A11B-284E11DBB997}"/>
              </a:ext>
            </a:extLst>
          </p:cNvPr>
          <p:cNvSpPr/>
          <p:nvPr/>
        </p:nvSpPr>
        <p:spPr bwMode="gray">
          <a:xfrm>
            <a:off x="1305564" y="3641001"/>
            <a:ext cx="602002" cy="720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協働組織</a:t>
            </a:r>
            <a:endPar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金融機関</a:t>
            </a:r>
            <a:endPar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正方形/長方形 64">
            <a:extLst>
              <a:ext uri="{FF2B5EF4-FFF2-40B4-BE49-F238E27FC236}">
                <a16:creationId xmlns:a16="http://schemas.microsoft.com/office/drawing/2014/main" id="{0C4B4CCB-6011-4A46-8F97-BDEE2EA79DA2}"/>
              </a:ext>
            </a:extLst>
          </p:cNvPr>
          <p:cNvSpPr/>
          <p:nvPr/>
        </p:nvSpPr>
        <p:spPr bwMode="gray">
          <a:xfrm>
            <a:off x="5367240" y="2537906"/>
            <a:ext cx="3979960" cy="2271106"/>
          </a:xfrm>
          <a:prstGeom prst="rect">
            <a:avLst/>
          </a:prstGeom>
          <a:noFill/>
          <a:ln w="38100"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square" lIns="72000" tIns="36000" rIns="72000" bIns="3600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ja-JP" altLang="en-US" sz="14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調査対象</a:t>
            </a:r>
            <a:endParaRPr kumimoji="0" lang="ja-JP" altLang="en-US" sz="1400" b="1"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タイトル 1">
            <a:extLst>
              <a:ext uri="{FF2B5EF4-FFF2-40B4-BE49-F238E27FC236}">
                <a16:creationId xmlns:a16="http://schemas.microsoft.com/office/drawing/2014/main" id="{9340900A-FE58-4A6F-A35D-FEF27A25E274}"/>
              </a:ext>
            </a:extLst>
          </p:cNvPr>
          <p:cNvSpPr>
            <a:spLocks noGrp="1"/>
          </p:cNvSpPr>
          <p:nvPr>
            <p:ph type="title"/>
          </p:nvPr>
        </p:nvSpPr>
        <p:spPr bwMode="gray">
          <a:xfrm>
            <a:off x="126239" y="360363"/>
            <a:ext cx="9648000" cy="393700"/>
          </a:xfrm>
        </p:spPr>
        <p:txBody>
          <a:bodyPr/>
          <a:lstStyle/>
          <a:p>
            <a:pPr>
              <a:tabLst>
                <a:tab pos="176213" algn="l"/>
              </a:tabLst>
            </a:pPr>
            <a:r>
              <a:rPr lang="ja-JP" altLang="en-US" dirty="0">
                <a:latin typeface="Meiryo UI"/>
                <a:ea typeface="Meiryo UI"/>
              </a:rPr>
              <a:t>１</a:t>
            </a:r>
            <a:r>
              <a:rPr lang="en-US" altLang="ja-JP" dirty="0">
                <a:latin typeface="Meiryo UI"/>
                <a:ea typeface="Meiryo UI"/>
              </a:rPr>
              <a:t>. </a:t>
            </a:r>
            <a:r>
              <a:rPr lang="ja-JP" altLang="en-US" dirty="0">
                <a:latin typeface="Meiryo UI"/>
                <a:ea typeface="Meiryo UI"/>
              </a:rPr>
              <a:t>調査のスコープ</a:t>
            </a:r>
            <a:br>
              <a:rPr lang="en-US" altLang="ja-JP" dirty="0">
                <a:latin typeface="Meiryo UI" panose="020B0604030504040204" pitchFamily="50" charset="-128"/>
                <a:ea typeface="Meiryo UI" panose="020B0604030504040204" pitchFamily="50" charset="-128"/>
              </a:rPr>
            </a:br>
            <a:endParaRPr kumimoji="1" lang="ja-JP" altLang="en-US" dirty="0"/>
          </a:p>
        </p:txBody>
      </p:sp>
    </p:spTree>
    <p:extLst>
      <p:ext uri="{BB962C8B-B14F-4D97-AF65-F5344CB8AC3E}">
        <p14:creationId xmlns:p14="http://schemas.microsoft.com/office/powerpoint/2010/main" val="281272764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オブジェクト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正方形/長方形 5" hidden="1"/>
          <p:cNvSpPr/>
          <p:nvPr>
            <p:custDataLst>
              <p:tags r:id="rId2"/>
            </p:custDataLst>
          </p:nvPr>
        </p:nvSpPr>
        <p:spPr bwMode="auto">
          <a:xfrm>
            <a:off x="0" y="0"/>
            <a:ext cx="158750" cy="15875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0" rIns="0" bIns="0" numCol="1" spcCol="0" rtlCol="0" anchor="ctr" anchorCtr="0" compatLnSpc="1">
            <a:prstTxWarp prst="textNoShape">
              <a:avLst/>
            </a:prstTxWarp>
            <a:noAutofit/>
          </a:bodyPr>
          <a:lstStyle/>
          <a:p>
            <a:pPr>
              <a:lnSpc>
                <a:spcPct val="90000"/>
              </a:lnSpc>
              <a:spcBef>
                <a:spcPct val="0"/>
              </a:spcBef>
            </a:pPr>
            <a:endParaRPr kumimoji="0" lang="ja-JP" altLang="en-US" sz="1100" u="none" strike="noStrike" cap="none" normalizeH="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p:txBody>
      </p:sp>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4</a:t>
            </a:fld>
            <a:endParaRPr lang="ja-JP" altLang="en-US" dirty="0"/>
          </a:p>
        </p:txBody>
      </p:sp>
      <p:sp>
        <p:nvSpPr>
          <p:cNvPr id="4" name="コンテンツ プレースホルダー 3"/>
          <p:cNvSpPr>
            <a:spLocks noGrp="1"/>
          </p:cNvSpPr>
          <p:nvPr>
            <p:ph idx="1"/>
          </p:nvPr>
        </p:nvSpPr>
        <p:spPr bwMode="gray">
          <a:xfrm>
            <a:off x="127155" y="777701"/>
            <a:ext cx="9648000" cy="729566"/>
          </a:xfrm>
        </p:spPr>
        <p:txBody>
          <a:bodyPr anchor="t"/>
          <a:lstStyle/>
          <a:p>
            <a:r>
              <a:rPr lang="ja-JP" altLang="en-US" sz="1400" dirty="0"/>
              <a:t>業界全体として大きな変化は見られない。</a:t>
            </a:r>
            <a:br>
              <a:rPr lang="en-US" altLang="ja-JP" sz="1400" dirty="0"/>
            </a:br>
            <a:r>
              <a:rPr lang="ja-JP" altLang="en-US" sz="1400" dirty="0"/>
              <a:t>経常収益は、</a:t>
            </a:r>
            <a:r>
              <a:rPr lang="en-US" altLang="ja-JP" sz="1400" dirty="0"/>
              <a:t>SMTB</a:t>
            </a:r>
            <a:r>
              <a:rPr lang="ja-JP" altLang="en-US" sz="1400" dirty="0"/>
              <a:t>がトップ。当期純利益は、</a:t>
            </a:r>
            <a:r>
              <a:rPr lang="en-US" altLang="ja-JP" sz="1400" dirty="0"/>
              <a:t>2017</a:t>
            </a:r>
            <a:r>
              <a:rPr lang="ja-JP" altLang="en-US" sz="1400" dirty="0"/>
              <a:t>年は</a:t>
            </a:r>
            <a:r>
              <a:rPr lang="en-US" altLang="ja-JP" sz="1400" dirty="0"/>
              <a:t>SMTB</a:t>
            </a:r>
            <a:r>
              <a:rPr lang="ja-JP" altLang="en-US" sz="1400" dirty="0"/>
              <a:t>がトップであったが、</a:t>
            </a:r>
            <a:r>
              <a:rPr lang="en-US" altLang="ja-JP" sz="1400" dirty="0"/>
              <a:t>2018</a:t>
            </a:r>
            <a:r>
              <a:rPr lang="ja-JP" altLang="en-US" sz="1400" dirty="0"/>
              <a:t>年は</a:t>
            </a:r>
            <a:r>
              <a:rPr lang="en-US" altLang="ja-JP" sz="1400" dirty="0"/>
              <a:t>MUTB</a:t>
            </a:r>
            <a:r>
              <a:rPr lang="ja-JP" altLang="en-US" sz="1400" dirty="0"/>
              <a:t>が逆転。</a:t>
            </a:r>
            <a:br>
              <a:rPr lang="en-US" altLang="ja-JP" sz="1400" dirty="0"/>
            </a:br>
            <a:r>
              <a:rPr lang="ja-JP" altLang="en-US" sz="1400" dirty="0"/>
              <a:t>信託財産規模が大きい割にコスト効率が悪い資産管理会社</a:t>
            </a:r>
            <a:r>
              <a:rPr lang="en-US" altLang="ja-JP" sz="1400" dirty="0"/>
              <a:t>3</a:t>
            </a:r>
            <a:r>
              <a:rPr lang="ja-JP" altLang="en-US" sz="1400" dirty="0"/>
              <a:t>社と、慢性的な赤字体質の</a:t>
            </a:r>
            <a:r>
              <a:rPr lang="en-US" altLang="ja-JP" sz="1400" dirty="0"/>
              <a:t>SMBC</a:t>
            </a:r>
            <a:r>
              <a:rPr lang="ja-JP" altLang="en-US" sz="1400" dirty="0"/>
              <a:t>信託はコスト見直しの余地あり。</a:t>
            </a:r>
            <a:endParaRPr lang="en-US" altLang="ja-JP" sz="1400" dirty="0"/>
          </a:p>
        </p:txBody>
      </p:sp>
      <p:graphicFrame>
        <p:nvGraphicFramePr>
          <p:cNvPr id="13" name="グラフ 12">
            <a:extLst>
              <a:ext uri="{FF2B5EF4-FFF2-40B4-BE49-F238E27FC236}">
                <a16:creationId xmlns:a16="http://schemas.microsoft.com/office/drawing/2014/main" id="{08582E2C-CA66-4FCD-A661-E674F9213A33}"/>
              </a:ext>
            </a:extLst>
          </p:cNvPr>
          <p:cNvGraphicFramePr/>
          <p:nvPr>
            <p:extLst>
              <p:ext uri="{D42A27DB-BD31-4B8C-83A1-F6EECF244321}">
                <p14:modId xmlns:p14="http://schemas.microsoft.com/office/powerpoint/2010/main" val="2184389964"/>
              </p:ext>
            </p:extLst>
          </p:nvPr>
        </p:nvGraphicFramePr>
        <p:xfrm>
          <a:off x="2351314" y="4166042"/>
          <a:ext cx="3512457" cy="2420477"/>
        </p:xfrm>
        <a:graphic>
          <a:graphicData uri="http://schemas.openxmlformats.org/drawingml/2006/chart">
            <c:chart xmlns:c="http://schemas.openxmlformats.org/drawingml/2006/chart" xmlns:r="http://schemas.openxmlformats.org/officeDocument/2006/relationships" r:id="rId7"/>
          </a:graphicData>
        </a:graphic>
      </p:graphicFrame>
      <p:sp>
        <p:nvSpPr>
          <p:cNvPr id="32" name="楕円 31">
            <a:extLst>
              <a:ext uri="{FF2B5EF4-FFF2-40B4-BE49-F238E27FC236}">
                <a16:creationId xmlns:a16="http://schemas.microsoft.com/office/drawing/2014/main" id="{44871446-BF65-452F-B3F9-1A02C64DAF77}"/>
              </a:ext>
            </a:extLst>
          </p:cNvPr>
          <p:cNvSpPr/>
          <p:nvPr/>
        </p:nvSpPr>
        <p:spPr bwMode="gray">
          <a:xfrm>
            <a:off x="4070605" y="4895446"/>
            <a:ext cx="1551465" cy="577848"/>
          </a:xfrm>
          <a:prstGeom prst="ellipse">
            <a:avLst/>
          </a:prstGeom>
          <a:solidFill>
            <a:schemeClr val="bg1">
              <a:lumMod val="95000"/>
              <a:alpha val="30000"/>
            </a:schemeClr>
          </a:solidFill>
          <a:ln w="9525" cap="flat" cmpd="sng" algn="ctr">
            <a:solidFill>
              <a:schemeClr val="bg2">
                <a:lumMod val="90000"/>
              </a:schemeClr>
            </a:solidFill>
            <a:prstDash val="dash"/>
            <a:round/>
            <a:headEnd type="none" w="med" len="med"/>
            <a:tailEnd type="none" w="med" len="med"/>
          </a:ln>
          <a:effectLst/>
        </p:spPr>
        <p:txBody>
          <a:bodyPr vert="horz" wrap="squar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8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資産管理銀行</a:t>
            </a:r>
            <a:endParaRPr kumimoji="0" lang="ja-JP" altLang="en-US" sz="80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 name="直線コネクタ 10">
            <a:extLst>
              <a:ext uri="{FF2B5EF4-FFF2-40B4-BE49-F238E27FC236}">
                <a16:creationId xmlns:a16="http://schemas.microsoft.com/office/drawing/2014/main" id="{5131DAEE-B4E8-4930-8ED1-7349DBA8B7E0}"/>
              </a:ext>
            </a:extLst>
          </p:cNvPr>
          <p:cNvCxnSpPr/>
          <p:nvPr/>
        </p:nvCxnSpPr>
        <p:spPr bwMode="gray">
          <a:xfrm>
            <a:off x="2894326" y="5208403"/>
            <a:ext cx="2772000"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graphicFrame>
        <p:nvGraphicFramePr>
          <p:cNvPr id="40" name="グラフ 39">
            <a:extLst>
              <a:ext uri="{FF2B5EF4-FFF2-40B4-BE49-F238E27FC236}">
                <a16:creationId xmlns:a16="http://schemas.microsoft.com/office/drawing/2014/main" id="{A541B175-CA35-4DF1-A2C9-54AD4462DD99}"/>
              </a:ext>
            </a:extLst>
          </p:cNvPr>
          <p:cNvGraphicFramePr/>
          <p:nvPr>
            <p:extLst>
              <p:ext uri="{D42A27DB-BD31-4B8C-83A1-F6EECF244321}">
                <p14:modId xmlns:p14="http://schemas.microsoft.com/office/powerpoint/2010/main" val="1457574734"/>
              </p:ext>
            </p:extLst>
          </p:nvPr>
        </p:nvGraphicFramePr>
        <p:xfrm>
          <a:off x="5992749" y="4166042"/>
          <a:ext cx="3513600" cy="2420477"/>
        </p:xfrm>
        <a:graphic>
          <a:graphicData uri="http://schemas.openxmlformats.org/drawingml/2006/chart">
            <c:chart xmlns:c="http://schemas.openxmlformats.org/drawingml/2006/chart" xmlns:r="http://schemas.openxmlformats.org/officeDocument/2006/relationships" r:id="rId8"/>
          </a:graphicData>
        </a:graphic>
      </p:graphicFrame>
      <p:sp>
        <p:nvSpPr>
          <p:cNvPr id="50" name="タイトル 1">
            <a:extLst>
              <a:ext uri="{FF2B5EF4-FFF2-40B4-BE49-F238E27FC236}">
                <a16:creationId xmlns:a16="http://schemas.microsoft.com/office/drawing/2014/main" id="{D41774C4-0A2A-4AE5-A130-2A2A309BE54B}"/>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２</a:t>
            </a:r>
            <a:r>
              <a:rPr lang="en-US" altLang="ja-JP" kern="0" dirty="0">
                <a:latin typeface="Meiryo UI"/>
                <a:ea typeface="Meiryo UI"/>
              </a:rPr>
              <a:t>.</a:t>
            </a:r>
            <a:r>
              <a:rPr lang="ja-JP" altLang="en-US" kern="0" dirty="0">
                <a:latin typeface="Meiryo UI"/>
                <a:ea typeface="Meiryo UI"/>
              </a:rPr>
              <a:t> ビジネス</a:t>
            </a:r>
            <a:br>
              <a:rPr lang="en-US" altLang="ja-JP" kern="0" dirty="0">
                <a:latin typeface="Meiryo UI" panose="020B0604030504040204" pitchFamily="50" charset="-128"/>
                <a:ea typeface="Meiryo UI" panose="020B0604030504040204" pitchFamily="50" charset="-128"/>
              </a:rPr>
            </a:br>
            <a:r>
              <a:rPr lang="en-US" altLang="ja-JP" kern="0" dirty="0" err="1">
                <a:latin typeface="Meiryo UI" panose="020B0604030504040204" pitchFamily="50" charset="-128"/>
                <a:ea typeface="Meiryo UI" panose="020B0604030504040204" pitchFamily="50" charset="-128"/>
              </a:rPr>
              <a:t>i</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 各社の主要業績指標比較</a:t>
            </a:r>
            <a:endParaRPr lang="ja-JP" altLang="en-US" kern="0" dirty="0"/>
          </a:p>
        </p:txBody>
      </p:sp>
      <p:sp>
        <p:nvSpPr>
          <p:cNvPr id="2" name="正方形/長方形 1">
            <a:extLst>
              <a:ext uri="{FF2B5EF4-FFF2-40B4-BE49-F238E27FC236}">
                <a16:creationId xmlns:a16="http://schemas.microsoft.com/office/drawing/2014/main" id="{A5C5F240-6AF5-45ED-8F43-0C60B3BAFA84}"/>
              </a:ext>
            </a:extLst>
          </p:cNvPr>
          <p:cNvSpPr/>
          <p:nvPr/>
        </p:nvSpPr>
        <p:spPr bwMode="gray">
          <a:xfrm>
            <a:off x="2328453" y="1633764"/>
            <a:ext cx="3528000" cy="216834"/>
          </a:xfrm>
          <a:prstGeom prst="rect">
            <a:avLst/>
          </a:prstGeom>
          <a:solidFill>
            <a:schemeClr val="tx1"/>
          </a:solidFill>
          <a:ln w="9525" cap="flat" cmpd="sng" algn="ctr">
            <a:solidFill>
              <a:schemeClr val="bg1">
                <a:lumMod val="50000"/>
              </a:schemeClr>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2018</a:t>
            </a:r>
            <a:r>
              <a:rPr kumimoji="0" lang="ja-JP" altLang="en-US"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年</a:t>
            </a:r>
            <a:r>
              <a:rPr kumimoji="0" lang="en-US" altLang="ja-JP"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3</a:t>
            </a:r>
            <a:r>
              <a:rPr kumimoji="0" lang="ja-JP" altLang="en-US"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月期</a:t>
            </a:r>
            <a:endParaRPr kumimoji="0" lang="ja-JP" altLang="en-US" b="0" i="0" u="none" strike="noStrike" cap="none" normalizeH="0" baseline="3000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正方形/長方形 26">
            <a:extLst>
              <a:ext uri="{FF2B5EF4-FFF2-40B4-BE49-F238E27FC236}">
                <a16:creationId xmlns:a16="http://schemas.microsoft.com/office/drawing/2014/main" id="{CC6EB739-B854-4D0A-AA18-11B0A1CC4CA8}"/>
              </a:ext>
            </a:extLst>
          </p:cNvPr>
          <p:cNvSpPr/>
          <p:nvPr/>
        </p:nvSpPr>
        <p:spPr bwMode="gray">
          <a:xfrm>
            <a:off x="5980048" y="1633764"/>
            <a:ext cx="3528000" cy="216834"/>
          </a:xfrm>
          <a:prstGeom prst="rect">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b="0" i="0" u="none" strike="noStrike" cap="none" normalizeH="0" baseline="0" dirty="0">
                <a:ln>
                  <a:noFill/>
                </a:ln>
                <a:solidFill>
                  <a:schemeClr val="bg1">
                    <a:lumMod val="50000"/>
                  </a:schemeClr>
                </a:solidFill>
                <a:effectLst/>
                <a:latin typeface="Meiryo UI" panose="020B0604030504040204" pitchFamily="50" charset="-128"/>
                <a:ea typeface="Meiryo UI" panose="020B0604030504040204" pitchFamily="50" charset="-128"/>
                <a:cs typeface="Meiryo UI" panose="020B0604030504040204" pitchFamily="50" charset="-128"/>
              </a:rPr>
              <a:t>201</a:t>
            </a:r>
            <a:r>
              <a:rPr lang="en-US" altLang="ja-JP" dirty="0">
                <a:solidFill>
                  <a:schemeClr val="bg1">
                    <a:lumMod val="50000"/>
                  </a:schemeClr>
                </a:solidFill>
                <a:latin typeface="Meiryo UI" panose="020B0604030504040204" pitchFamily="50" charset="-128"/>
                <a:ea typeface="Meiryo UI" panose="020B0604030504040204" pitchFamily="50" charset="-128"/>
                <a:cs typeface="Meiryo UI" panose="020B0604030504040204" pitchFamily="50" charset="-128"/>
              </a:rPr>
              <a:t>7</a:t>
            </a:r>
            <a:r>
              <a:rPr kumimoji="0" lang="ja-JP" altLang="en-US" b="0" i="0" u="none" strike="noStrike" cap="none" normalizeH="0" baseline="0" dirty="0">
                <a:ln>
                  <a:noFill/>
                </a:ln>
                <a:solidFill>
                  <a:schemeClr val="bg1">
                    <a:lumMod val="50000"/>
                  </a:schemeClr>
                </a:solidFill>
                <a:effectLst/>
                <a:latin typeface="Meiryo UI" panose="020B0604030504040204" pitchFamily="50" charset="-128"/>
                <a:ea typeface="Meiryo UI" panose="020B0604030504040204" pitchFamily="50" charset="-128"/>
                <a:cs typeface="Meiryo UI" panose="020B0604030504040204" pitchFamily="50" charset="-128"/>
              </a:rPr>
              <a:t>年</a:t>
            </a:r>
            <a:r>
              <a:rPr kumimoji="0" lang="en-US" altLang="ja-JP" b="0" i="0" u="none" strike="noStrike" cap="none" normalizeH="0" baseline="0" dirty="0">
                <a:ln>
                  <a:noFill/>
                </a:ln>
                <a:solidFill>
                  <a:schemeClr val="bg1">
                    <a:lumMod val="50000"/>
                  </a:schemeClr>
                </a:solidFill>
                <a:effectLst/>
                <a:latin typeface="Meiryo UI" panose="020B0604030504040204" pitchFamily="50" charset="-128"/>
                <a:ea typeface="Meiryo UI" panose="020B0604030504040204" pitchFamily="50" charset="-128"/>
                <a:cs typeface="Meiryo UI" panose="020B0604030504040204" pitchFamily="50" charset="-128"/>
              </a:rPr>
              <a:t>3</a:t>
            </a:r>
            <a:r>
              <a:rPr kumimoji="0" lang="ja-JP" altLang="en-US" b="0" i="0" u="none" strike="noStrike" cap="none" normalizeH="0" baseline="0" dirty="0">
                <a:ln>
                  <a:noFill/>
                </a:ln>
                <a:solidFill>
                  <a:schemeClr val="bg1">
                    <a:lumMod val="50000"/>
                  </a:schemeClr>
                </a:solidFill>
                <a:effectLst/>
                <a:latin typeface="Meiryo UI" panose="020B0604030504040204" pitchFamily="50" charset="-128"/>
                <a:ea typeface="Meiryo UI" panose="020B0604030504040204" pitchFamily="50" charset="-128"/>
                <a:cs typeface="Meiryo UI" panose="020B0604030504040204" pitchFamily="50" charset="-128"/>
              </a:rPr>
              <a:t>月期</a:t>
            </a:r>
          </a:p>
        </p:txBody>
      </p:sp>
      <p:sp>
        <p:nvSpPr>
          <p:cNvPr id="28" name="楕円 27">
            <a:extLst>
              <a:ext uri="{FF2B5EF4-FFF2-40B4-BE49-F238E27FC236}">
                <a16:creationId xmlns:a16="http://schemas.microsoft.com/office/drawing/2014/main" id="{A2E57120-6312-4BEB-8217-2C5CFBF79CB6}"/>
              </a:ext>
            </a:extLst>
          </p:cNvPr>
          <p:cNvSpPr/>
          <p:nvPr/>
        </p:nvSpPr>
        <p:spPr bwMode="gray">
          <a:xfrm>
            <a:off x="7615721" y="4895446"/>
            <a:ext cx="1551465" cy="577848"/>
          </a:xfrm>
          <a:prstGeom prst="ellipse">
            <a:avLst/>
          </a:prstGeom>
          <a:solidFill>
            <a:schemeClr val="bg1">
              <a:lumMod val="95000"/>
              <a:alpha val="30000"/>
            </a:schemeClr>
          </a:solidFill>
          <a:ln w="9525" cap="flat" cmpd="sng" algn="ctr">
            <a:solidFill>
              <a:schemeClr val="bg2">
                <a:lumMod val="90000"/>
              </a:schemeClr>
            </a:solidFill>
            <a:prstDash val="dash"/>
            <a:round/>
            <a:headEnd type="none" w="med" len="med"/>
            <a:tailEnd type="none" w="med" len="med"/>
          </a:ln>
          <a:effectLst/>
        </p:spPr>
        <p:txBody>
          <a:bodyPr vert="horz" wrap="square" lIns="72000" tIns="36000" rIns="72000" bIns="3600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800" b="0" i="0" u="none" strike="noStrike" cap="none" normalizeH="0" baseline="0" dirty="0">
                <a:ln>
                  <a:noFill/>
                </a:ln>
                <a:solidFill>
                  <a:schemeClr val="bg1">
                    <a:lumMod val="50000"/>
                  </a:schemeClr>
                </a:solidFill>
                <a:effectLst/>
                <a:latin typeface="Meiryo UI" panose="020B0604030504040204" pitchFamily="50" charset="-128"/>
                <a:ea typeface="Meiryo UI" panose="020B0604030504040204" pitchFamily="50" charset="-128"/>
                <a:cs typeface="Meiryo UI" panose="020B0604030504040204" pitchFamily="50" charset="-128"/>
              </a:rPr>
              <a:t>資産管理銀行</a:t>
            </a:r>
            <a:endParaRPr kumimoji="0" lang="ja-JP" altLang="en-US" sz="800" i="0" u="none" strike="noStrike" cap="none" normalizeH="0" baseline="0" dirty="0">
              <a:ln>
                <a:noFill/>
              </a:ln>
              <a:solidFill>
                <a:schemeClr val="bg1">
                  <a:lumMod val="50000"/>
                </a:schemeClr>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正方形/長方形 35">
            <a:extLst>
              <a:ext uri="{FF2B5EF4-FFF2-40B4-BE49-F238E27FC236}">
                <a16:creationId xmlns:a16="http://schemas.microsoft.com/office/drawing/2014/main" id="{5B002BF3-D814-4C69-A3FE-E97B43878300}"/>
              </a:ext>
            </a:extLst>
          </p:cNvPr>
          <p:cNvSpPr/>
          <p:nvPr/>
        </p:nvSpPr>
        <p:spPr bwMode="gray">
          <a:xfrm>
            <a:off x="201756" y="1992314"/>
            <a:ext cx="376273" cy="2160000"/>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eaVert"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dirty="0">
                <a:latin typeface="Meiryo UI" panose="020B0604030504040204" pitchFamily="50" charset="-128"/>
                <a:ea typeface="Meiryo UI" panose="020B0604030504040204" pitchFamily="50" charset="-128"/>
                <a:cs typeface="Meiryo UI" panose="020B0604030504040204" pitchFamily="50" charset="-128"/>
              </a:rPr>
              <a:t>経常収益・当期純利益</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正方形/長方形 38">
            <a:extLst>
              <a:ext uri="{FF2B5EF4-FFF2-40B4-BE49-F238E27FC236}">
                <a16:creationId xmlns:a16="http://schemas.microsoft.com/office/drawing/2014/main" id="{944B05B4-1BF5-4B9B-8284-26BC105E84B7}"/>
              </a:ext>
            </a:extLst>
          </p:cNvPr>
          <p:cNvSpPr/>
          <p:nvPr/>
        </p:nvSpPr>
        <p:spPr bwMode="gray">
          <a:xfrm>
            <a:off x="201756" y="4254895"/>
            <a:ext cx="376273" cy="2160000"/>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eaVert"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dirty="0">
                <a:latin typeface="Meiryo UI" panose="020B0604030504040204" pitchFamily="50" charset="-128"/>
                <a:ea typeface="Meiryo UI" panose="020B0604030504040204" pitchFamily="50" charset="-128"/>
                <a:cs typeface="Meiryo UI" panose="020B0604030504040204" pitchFamily="50" charset="-128"/>
              </a:rPr>
              <a:t>信託財産残高・経費率</a:t>
            </a:r>
            <a:endParaRPr kumimoji="0" lang="ja-JP" altLang="en-US"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49" name="表 48">
            <a:extLst>
              <a:ext uri="{FF2B5EF4-FFF2-40B4-BE49-F238E27FC236}">
                <a16:creationId xmlns:a16="http://schemas.microsoft.com/office/drawing/2014/main" id="{23B5315A-B548-4698-A000-FFB7FB2D05BA}"/>
              </a:ext>
            </a:extLst>
          </p:cNvPr>
          <p:cNvGraphicFramePr>
            <a:graphicFrameLocks noGrp="1"/>
          </p:cNvGraphicFramePr>
          <p:nvPr>
            <p:extLst>
              <p:ext uri="{D42A27DB-BD31-4B8C-83A1-F6EECF244321}">
                <p14:modId xmlns:p14="http://schemas.microsoft.com/office/powerpoint/2010/main" val="3006136892"/>
              </p:ext>
            </p:extLst>
          </p:nvPr>
        </p:nvGraphicFramePr>
        <p:xfrm>
          <a:off x="690229" y="1995278"/>
          <a:ext cx="8816116" cy="2133120"/>
        </p:xfrm>
        <a:graphic>
          <a:graphicData uri="http://schemas.openxmlformats.org/drawingml/2006/table">
            <a:tbl>
              <a:tblPr>
                <a:tableStyleId>{5C22544A-7EE6-4342-B048-85BDC9FD1C3A}</a:tableStyleId>
              </a:tblPr>
              <a:tblGrid>
                <a:gridCol w="1512000">
                  <a:extLst>
                    <a:ext uri="{9D8B030D-6E8A-4147-A177-3AD203B41FA5}">
                      <a16:colId xmlns:a16="http://schemas.microsoft.com/office/drawing/2014/main" val="201801165"/>
                    </a:ext>
                  </a:extLst>
                </a:gridCol>
                <a:gridCol w="133400">
                  <a:extLst>
                    <a:ext uri="{9D8B030D-6E8A-4147-A177-3AD203B41FA5}">
                      <a16:colId xmlns:a16="http://schemas.microsoft.com/office/drawing/2014/main" val="1772658953"/>
                    </a:ext>
                  </a:extLst>
                </a:gridCol>
                <a:gridCol w="544457">
                  <a:extLst>
                    <a:ext uri="{9D8B030D-6E8A-4147-A177-3AD203B41FA5}">
                      <a16:colId xmlns:a16="http://schemas.microsoft.com/office/drawing/2014/main" val="1962082527"/>
                    </a:ext>
                  </a:extLst>
                </a:gridCol>
                <a:gridCol w="307996">
                  <a:extLst>
                    <a:ext uri="{9D8B030D-6E8A-4147-A177-3AD203B41FA5}">
                      <a16:colId xmlns:a16="http://schemas.microsoft.com/office/drawing/2014/main" val="1317710097"/>
                    </a:ext>
                  </a:extLst>
                </a:gridCol>
                <a:gridCol w="544457">
                  <a:extLst>
                    <a:ext uri="{9D8B030D-6E8A-4147-A177-3AD203B41FA5}">
                      <a16:colId xmlns:a16="http://schemas.microsoft.com/office/drawing/2014/main" val="3874208637"/>
                    </a:ext>
                  </a:extLst>
                </a:gridCol>
                <a:gridCol w="307996">
                  <a:extLst>
                    <a:ext uri="{9D8B030D-6E8A-4147-A177-3AD203B41FA5}">
                      <a16:colId xmlns:a16="http://schemas.microsoft.com/office/drawing/2014/main" val="3496474802"/>
                    </a:ext>
                  </a:extLst>
                </a:gridCol>
                <a:gridCol w="581770">
                  <a:extLst>
                    <a:ext uri="{9D8B030D-6E8A-4147-A177-3AD203B41FA5}">
                      <a16:colId xmlns:a16="http://schemas.microsoft.com/office/drawing/2014/main" val="4067839726"/>
                    </a:ext>
                  </a:extLst>
                </a:gridCol>
                <a:gridCol w="581770">
                  <a:extLst>
                    <a:ext uri="{9D8B030D-6E8A-4147-A177-3AD203B41FA5}">
                      <a16:colId xmlns:a16="http://schemas.microsoft.com/office/drawing/2014/main" val="2560148388"/>
                    </a:ext>
                  </a:extLst>
                </a:gridCol>
                <a:gridCol w="650212">
                  <a:extLst>
                    <a:ext uri="{9D8B030D-6E8A-4147-A177-3AD203B41FA5}">
                      <a16:colId xmlns:a16="http://schemas.microsoft.com/office/drawing/2014/main" val="1255579996"/>
                    </a:ext>
                  </a:extLst>
                </a:gridCol>
                <a:gridCol w="133400">
                  <a:extLst>
                    <a:ext uri="{9D8B030D-6E8A-4147-A177-3AD203B41FA5}">
                      <a16:colId xmlns:a16="http://schemas.microsoft.com/office/drawing/2014/main" val="2953429289"/>
                    </a:ext>
                  </a:extLst>
                </a:gridCol>
                <a:gridCol w="544457">
                  <a:extLst>
                    <a:ext uri="{9D8B030D-6E8A-4147-A177-3AD203B41FA5}">
                      <a16:colId xmlns:a16="http://schemas.microsoft.com/office/drawing/2014/main" val="639850485"/>
                    </a:ext>
                  </a:extLst>
                </a:gridCol>
                <a:gridCol w="307996">
                  <a:extLst>
                    <a:ext uri="{9D8B030D-6E8A-4147-A177-3AD203B41FA5}">
                      <a16:colId xmlns:a16="http://schemas.microsoft.com/office/drawing/2014/main" val="764504566"/>
                    </a:ext>
                  </a:extLst>
                </a:gridCol>
                <a:gridCol w="544457">
                  <a:extLst>
                    <a:ext uri="{9D8B030D-6E8A-4147-A177-3AD203B41FA5}">
                      <a16:colId xmlns:a16="http://schemas.microsoft.com/office/drawing/2014/main" val="2611900371"/>
                    </a:ext>
                  </a:extLst>
                </a:gridCol>
                <a:gridCol w="307996">
                  <a:extLst>
                    <a:ext uri="{9D8B030D-6E8A-4147-A177-3AD203B41FA5}">
                      <a16:colId xmlns:a16="http://schemas.microsoft.com/office/drawing/2014/main" val="1418190207"/>
                    </a:ext>
                  </a:extLst>
                </a:gridCol>
                <a:gridCol w="581770">
                  <a:extLst>
                    <a:ext uri="{9D8B030D-6E8A-4147-A177-3AD203B41FA5}">
                      <a16:colId xmlns:a16="http://schemas.microsoft.com/office/drawing/2014/main" val="2351406255"/>
                    </a:ext>
                  </a:extLst>
                </a:gridCol>
                <a:gridCol w="581770">
                  <a:extLst>
                    <a:ext uri="{9D8B030D-6E8A-4147-A177-3AD203B41FA5}">
                      <a16:colId xmlns:a16="http://schemas.microsoft.com/office/drawing/2014/main" val="2808297774"/>
                    </a:ext>
                  </a:extLst>
                </a:gridCol>
                <a:gridCol w="650212">
                  <a:extLst>
                    <a:ext uri="{9D8B030D-6E8A-4147-A177-3AD203B41FA5}">
                      <a16:colId xmlns:a16="http://schemas.microsoft.com/office/drawing/2014/main" val="273477547"/>
                    </a:ext>
                  </a:extLst>
                </a:gridCol>
              </a:tblGrid>
              <a:tr h="189114">
                <a:tc rowSpan="2">
                  <a:txBody>
                    <a:bodyPr/>
                    <a:lstStyle/>
                    <a:p>
                      <a:pPr algn="l" fontAlgn="ctr"/>
                      <a:r>
                        <a:rPr lang="ja-JP" altLang="en-US" sz="800" b="0" i="0" u="none" strike="noStrike" dirty="0">
                          <a:solidFill>
                            <a:schemeClr val="bg1"/>
                          </a:solidFill>
                          <a:effectLst/>
                          <a:latin typeface="Meiryo UI" panose="020B0604030504040204" pitchFamily="50" charset="-128"/>
                          <a:ea typeface="Meiryo UI" panose="020B0604030504040204" pitchFamily="50" charset="-128"/>
                        </a:rPr>
                        <a:t>会社名</a:t>
                      </a:r>
                      <a:endParaRPr lang="ja-JP" altLang="en-US" sz="1100" b="0" i="0" u="none" strike="noStrike" dirty="0">
                        <a:solidFill>
                          <a:schemeClr val="bg1"/>
                        </a:solidFill>
                        <a:effectLst/>
                        <a:latin typeface="Meiryo UI" panose="020B0604030504040204" pitchFamily="50" charset="-128"/>
                        <a:ea typeface="Meiryo UI" panose="020B0604030504040204" pitchFamily="50" charset="-128"/>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6350" cap="flat" cmpd="sng" algn="ctr">
                      <a:noFill/>
                      <a:prstDash val="solid"/>
                      <a:round/>
                      <a:headEnd type="none" w="med" len="med"/>
                      <a:tailEnd type="none" w="med" len="med"/>
                    </a:lnTlToBr>
                    <a:lnBlToTr w="12700" cmpd="sng">
                      <a:noFill/>
                      <a:prstDash val="solid"/>
                    </a:lnBlToTr>
                    <a:solidFill>
                      <a:schemeClr val="tx1"/>
                    </a:solidFill>
                  </a:tcPr>
                </a:tc>
                <a:tc>
                  <a:txBody>
                    <a:bodyPr/>
                    <a:lstStyle/>
                    <a:p>
                      <a:pPr algn="ctr" fontAlgn="ctr"/>
                      <a:endParaRPr lang="en-US" altLang="ja-JP" sz="800" b="0" i="0" u="none" strike="noStrike" dirty="0">
                        <a:solidFill>
                          <a:schemeClr val="bg1"/>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r>
                        <a:rPr lang="ja-JP" altLang="en-US" sz="800" u="none" strike="noStrike" dirty="0">
                          <a:solidFill>
                            <a:schemeClr val="bg1"/>
                          </a:solidFill>
                          <a:effectLst/>
                          <a:latin typeface="+mn-ea"/>
                          <a:ea typeface="+mn-ea"/>
                        </a:rPr>
                        <a:t>経常収益</a:t>
                      </a:r>
                      <a:r>
                        <a:rPr lang="en-US" altLang="ja-JP" sz="700" u="none" strike="noStrike" dirty="0">
                          <a:solidFill>
                            <a:schemeClr val="bg1"/>
                          </a:solidFill>
                          <a:effectLst/>
                          <a:latin typeface="+mn-ea"/>
                          <a:ea typeface="+mn-ea"/>
                        </a:rPr>
                        <a:t>(</a:t>
                      </a:r>
                      <a:r>
                        <a:rPr lang="ja-JP" altLang="en-US" sz="700" u="none" strike="noStrike" dirty="0">
                          <a:solidFill>
                            <a:schemeClr val="bg1"/>
                          </a:solidFill>
                          <a:effectLst/>
                          <a:latin typeface="+mn-ea"/>
                          <a:ea typeface="+mn-ea"/>
                        </a:rPr>
                        <a:t>億円</a:t>
                      </a:r>
                      <a:r>
                        <a:rPr lang="en-US" altLang="ja-JP" sz="700" u="none" strike="noStrike" dirty="0">
                          <a:solidFill>
                            <a:schemeClr val="bg1"/>
                          </a:solidFill>
                          <a:effectLst/>
                          <a:latin typeface="+mn-ea"/>
                          <a:ea typeface="+mn-ea"/>
                        </a:rPr>
                        <a:t>)</a:t>
                      </a:r>
                      <a:endParaRPr lang="en-US" altLang="ja-JP" sz="800" b="0" i="0" u="none" strike="noStrike" dirty="0">
                        <a:solidFill>
                          <a:schemeClr val="bg1"/>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h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algn="ctr" fontAlgn="ctr"/>
                      <a:r>
                        <a:rPr lang="ja-JP" altLang="en-US" sz="800" u="none" strike="noStrike" dirty="0">
                          <a:solidFill>
                            <a:schemeClr val="bg1"/>
                          </a:solidFill>
                          <a:effectLst/>
                          <a:latin typeface="+mn-ea"/>
                          <a:ea typeface="+mn-ea"/>
                        </a:rPr>
                        <a:t>当期純利益</a:t>
                      </a:r>
                      <a:r>
                        <a:rPr lang="en-US" altLang="ja-JP" sz="700" u="none" strike="noStrike" dirty="0">
                          <a:solidFill>
                            <a:schemeClr val="bg1"/>
                          </a:solidFill>
                          <a:effectLst/>
                          <a:latin typeface="+mn-ea"/>
                          <a:ea typeface="+mn-ea"/>
                        </a:rPr>
                        <a:t>(</a:t>
                      </a:r>
                      <a:r>
                        <a:rPr lang="ja-JP" altLang="en-US" sz="700" u="none" strike="noStrike" dirty="0">
                          <a:solidFill>
                            <a:schemeClr val="bg1"/>
                          </a:solidFill>
                          <a:effectLst/>
                          <a:latin typeface="+mn-ea"/>
                          <a:ea typeface="+mn-ea"/>
                        </a:rPr>
                        <a:t>億円</a:t>
                      </a:r>
                      <a:r>
                        <a:rPr lang="en-US" altLang="ja-JP" sz="700" u="none" strike="noStrike" dirty="0">
                          <a:solidFill>
                            <a:schemeClr val="bg1"/>
                          </a:solidFill>
                          <a:effectLst/>
                          <a:latin typeface="+mn-ea"/>
                          <a:ea typeface="+mn-ea"/>
                        </a:rPr>
                        <a:t>)</a:t>
                      </a:r>
                      <a:endParaRPr lang="ja-JP" altLang="en-US" sz="800" b="0" i="0" u="none" strike="noStrike" dirty="0">
                        <a:solidFill>
                          <a:schemeClr val="bg1"/>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h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ja-JP" altLang="en-US" sz="800" b="0" i="0" u="none" strike="noStrike" dirty="0">
                          <a:solidFill>
                            <a:schemeClr val="bg1"/>
                          </a:solidFill>
                          <a:effectLst/>
                          <a:latin typeface="+mn-ea"/>
                          <a:ea typeface="+mn-ea"/>
                        </a:rPr>
                        <a:t>純利益率</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rowSpan="2">
                  <a:txBody>
                    <a:bodyPr/>
                    <a:lstStyle/>
                    <a:p>
                      <a:pPr algn="ctr" fontAlgn="ctr"/>
                      <a:r>
                        <a:rPr lang="ja-JP" altLang="en-US" sz="800" b="0" i="0" u="none" strike="noStrike" dirty="0">
                          <a:solidFill>
                            <a:schemeClr val="bg1"/>
                          </a:solidFill>
                          <a:effectLst/>
                          <a:latin typeface="+mn-ea"/>
                          <a:ea typeface="+mn-ea"/>
                        </a:rPr>
                        <a:t>従業員数</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rowSpan="2">
                  <a:txBody>
                    <a:bodyPr/>
                    <a:lstStyle/>
                    <a:p>
                      <a:pPr algn="ctr" fontAlgn="ctr"/>
                      <a:r>
                        <a:rPr lang="ja-JP" altLang="en-US" sz="700" b="0" i="0" u="none" strike="noStrike" dirty="0">
                          <a:solidFill>
                            <a:schemeClr val="bg1"/>
                          </a:solidFill>
                          <a:effectLst/>
                          <a:latin typeface="+mn-ea"/>
                          <a:ea typeface="+mn-ea"/>
                        </a:rPr>
                        <a:t>従業員一人</a:t>
                      </a:r>
                      <a:endParaRPr lang="en-US" altLang="ja-JP" sz="700" b="0" i="0" u="none" strike="noStrike" dirty="0">
                        <a:solidFill>
                          <a:schemeClr val="bg1"/>
                        </a:solidFill>
                        <a:effectLst/>
                        <a:latin typeface="+mn-ea"/>
                        <a:ea typeface="+mn-ea"/>
                      </a:endParaRPr>
                    </a:p>
                    <a:p>
                      <a:pPr algn="ctr" fontAlgn="ctr"/>
                      <a:r>
                        <a:rPr lang="ja-JP" altLang="en-US" sz="700" b="0" i="0" u="none" strike="noStrike" dirty="0">
                          <a:solidFill>
                            <a:schemeClr val="bg1"/>
                          </a:solidFill>
                          <a:effectLst/>
                          <a:latin typeface="+mn-ea"/>
                          <a:ea typeface="+mn-ea"/>
                        </a:rPr>
                        <a:t>当り利益</a:t>
                      </a:r>
                      <a:br>
                        <a:rPr lang="en-US" altLang="ja-JP" sz="700" b="0" i="0" u="none" strike="noStrike" dirty="0">
                          <a:solidFill>
                            <a:schemeClr val="bg1"/>
                          </a:solidFill>
                          <a:effectLst/>
                          <a:latin typeface="+mn-ea"/>
                          <a:ea typeface="+mn-ea"/>
                        </a:rPr>
                      </a:br>
                      <a:r>
                        <a:rPr lang="en-US" altLang="ja-JP" sz="600" b="0" i="0" u="none" strike="noStrike" dirty="0">
                          <a:solidFill>
                            <a:schemeClr val="bg1"/>
                          </a:solidFill>
                          <a:effectLst/>
                          <a:latin typeface="+mn-ea"/>
                          <a:ea typeface="+mn-ea"/>
                        </a:rPr>
                        <a:t>(</a:t>
                      </a:r>
                      <a:r>
                        <a:rPr lang="ja-JP" altLang="en-US" sz="600" b="0" i="0" u="none" strike="noStrike" dirty="0">
                          <a:solidFill>
                            <a:schemeClr val="bg1"/>
                          </a:solidFill>
                          <a:effectLst/>
                          <a:latin typeface="+mn-ea"/>
                          <a:ea typeface="+mn-ea"/>
                        </a:rPr>
                        <a:t>百万円</a:t>
                      </a:r>
                      <a:r>
                        <a:rPr lang="en-US" altLang="ja-JP" sz="600" b="0" i="0" u="none" strike="noStrike" dirty="0">
                          <a:solidFill>
                            <a:schemeClr val="bg1"/>
                          </a:solidFill>
                          <a:effectLst/>
                          <a:latin typeface="+mn-ea"/>
                          <a:ea typeface="+mn-ea"/>
                        </a:rPr>
                        <a:t>)</a:t>
                      </a:r>
                      <a:endParaRPr lang="ja-JP" altLang="en-US" sz="700" b="0" i="0" u="none" strike="noStrike" dirty="0">
                        <a:solidFill>
                          <a:schemeClr val="bg1"/>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endParaRPr lang="en-US" altLang="ja-JP" sz="800" b="0" i="0" u="none" strike="noStrike" dirty="0">
                        <a:solidFill>
                          <a:schemeClr val="bg1"/>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fontAlgn="ctr"/>
                      <a:r>
                        <a:rPr lang="ja-JP" altLang="en-US" sz="800" u="none" strike="noStrike" dirty="0">
                          <a:solidFill>
                            <a:schemeClr val="bg1">
                              <a:lumMod val="50000"/>
                            </a:schemeClr>
                          </a:solidFill>
                          <a:effectLst/>
                          <a:latin typeface="+mn-ea"/>
                          <a:ea typeface="+mn-ea"/>
                        </a:rPr>
                        <a:t>経常収益</a:t>
                      </a:r>
                      <a:r>
                        <a:rPr lang="en-US" altLang="ja-JP" sz="700" u="none" strike="noStrike" dirty="0">
                          <a:solidFill>
                            <a:schemeClr val="bg1">
                              <a:lumMod val="50000"/>
                            </a:schemeClr>
                          </a:solidFill>
                          <a:effectLst/>
                          <a:latin typeface="+mn-ea"/>
                          <a:ea typeface="+mn-ea"/>
                        </a:rPr>
                        <a:t>(</a:t>
                      </a:r>
                      <a:r>
                        <a:rPr lang="ja-JP" altLang="en-US" sz="700" u="none" strike="noStrike" dirty="0">
                          <a:solidFill>
                            <a:schemeClr val="bg1">
                              <a:lumMod val="50000"/>
                            </a:schemeClr>
                          </a:solidFill>
                          <a:effectLst/>
                          <a:latin typeface="+mn-ea"/>
                          <a:ea typeface="+mn-ea"/>
                        </a:rPr>
                        <a:t>億円</a:t>
                      </a:r>
                      <a:r>
                        <a:rPr lang="en-US" altLang="ja-JP" sz="700" u="none" strike="noStrike" dirty="0">
                          <a:solidFill>
                            <a:schemeClr val="bg1">
                              <a:lumMod val="50000"/>
                            </a:schemeClr>
                          </a:solidFill>
                          <a:effectLst/>
                          <a:latin typeface="+mn-ea"/>
                          <a:ea typeface="+mn-ea"/>
                        </a:rPr>
                        <a:t>)</a:t>
                      </a:r>
                      <a:endParaRPr lang="en-US" altLang="ja-JP" sz="800" b="0" i="0" u="none" strike="noStrike" dirty="0">
                        <a:solidFill>
                          <a:schemeClr val="bg1">
                            <a:lumMod val="50000"/>
                          </a:schemeClr>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h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gridSpan="2">
                  <a:txBody>
                    <a:bodyPr/>
                    <a:lstStyle/>
                    <a:p>
                      <a:pPr algn="ctr" fontAlgn="ctr"/>
                      <a:r>
                        <a:rPr lang="ja-JP" altLang="en-US" sz="800" u="none" strike="noStrike" dirty="0">
                          <a:solidFill>
                            <a:schemeClr val="bg1">
                              <a:lumMod val="50000"/>
                            </a:schemeClr>
                          </a:solidFill>
                          <a:effectLst/>
                          <a:latin typeface="+mn-ea"/>
                          <a:ea typeface="+mn-ea"/>
                        </a:rPr>
                        <a:t>当期純利益</a:t>
                      </a:r>
                      <a:r>
                        <a:rPr lang="en-US" altLang="ja-JP" sz="700" u="none" strike="noStrike" dirty="0">
                          <a:solidFill>
                            <a:schemeClr val="bg1">
                              <a:lumMod val="50000"/>
                            </a:schemeClr>
                          </a:solidFill>
                          <a:effectLst/>
                          <a:latin typeface="+mn-ea"/>
                          <a:ea typeface="+mn-ea"/>
                        </a:rPr>
                        <a:t>(</a:t>
                      </a:r>
                      <a:r>
                        <a:rPr lang="ja-JP" altLang="en-US" sz="700" u="none" strike="noStrike" dirty="0">
                          <a:solidFill>
                            <a:schemeClr val="bg1">
                              <a:lumMod val="50000"/>
                            </a:schemeClr>
                          </a:solidFill>
                          <a:effectLst/>
                          <a:latin typeface="+mn-ea"/>
                          <a:ea typeface="+mn-ea"/>
                        </a:rPr>
                        <a:t>億円</a:t>
                      </a:r>
                      <a:r>
                        <a:rPr lang="en-US" altLang="ja-JP" sz="700" u="none" strike="noStrike" dirty="0">
                          <a:solidFill>
                            <a:schemeClr val="bg1">
                              <a:lumMod val="50000"/>
                            </a:schemeClr>
                          </a:solidFill>
                          <a:effectLst/>
                          <a:latin typeface="+mn-ea"/>
                          <a:ea typeface="+mn-ea"/>
                        </a:rPr>
                        <a:t>)</a:t>
                      </a:r>
                      <a:endParaRPr lang="ja-JP" altLang="en-US" sz="800" b="0" i="0" u="none" strike="noStrike" dirty="0">
                        <a:solidFill>
                          <a:schemeClr val="bg1">
                            <a:lumMod val="50000"/>
                          </a:schemeClr>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h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rowSpan="2">
                  <a:txBody>
                    <a:bodyPr/>
                    <a:lstStyle/>
                    <a:p>
                      <a:pPr algn="ctr" fontAlgn="ctr"/>
                      <a:r>
                        <a:rPr lang="ja-JP" altLang="en-US" sz="800" b="0" i="0" u="none" strike="noStrike" dirty="0">
                          <a:solidFill>
                            <a:schemeClr val="bg1">
                              <a:lumMod val="50000"/>
                            </a:schemeClr>
                          </a:solidFill>
                          <a:effectLst/>
                          <a:latin typeface="+mn-ea"/>
                          <a:ea typeface="+mn-ea"/>
                        </a:rPr>
                        <a:t>純利益率</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fontAlgn="ctr"/>
                      <a:r>
                        <a:rPr lang="ja-JP" altLang="en-US" sz="800" b="0" i="0" u="none" strike="noStrike" dirty="0">
                          <a:solidFill>
                            <a:schemeClr val="bg1">
                              <a:lumMod val="50000"/>
                            </a:schemeClr>
                          </a:solidFill>
                          <a:effectLst/>
                          <a:latin typeface="+mn-ea"/>
                          <a:ea typeface="+mn-ea"/>
                        </a:rPr>
                        <a:t>従業員数</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fontAlgn="ctr"/>
                      <a:r>
                        <a:rPr lang="ja-JP" altLang="en-US" sz="700" b="0" i="0" u="none" strike="noStrike" dirty="0">
                          <a:solidFill>
                            <a:schemeClr val="bg1">
                              <a:lumMod val="50000"/>
                            </a:schemeClr>
                          </a:solidFill>
                          <a:effectLst/>
                          <a:latin typeface="+mn-ea"/>
                          <a:ea typeface="+mn-ea"/>
                        </a:rPr>
                        <a:t>従業員一人</a:t>
                      </a:r>
                      <a:endParaRPr lang="en-US" altLang="ja-JP" sz="700" b="0" i="0" u="none" strike="noStrike" dirty="0">
                        <a:solidFill>
                          <a:schemeClr val="bg1">
                            <a:lumMod val="50000"/>
                          </a:schemeClr>
                        </a:solidFill>
                        <a:effectLst/>
                        <a:latin typeface="+mn-ea"/>
                        <a:ea typeface="+mn-ea"/>
                      </a:endParaRPr>
                    </a:p>
                    <a:p>
                      <a:pPr algn="ctr" fontAlgn="ctr"/>
                      <a:r>
                        <a:rPr lang="ja-JP" altLang="en-US" sz="700" b="0" i="0" u="none" strike="noStrike" dirty="0">
                          <a:solidFill>
                            <a:schemeClr val="bg1">
                              <a:lumMod val="50000"/>
                            </a:schemeClr>
                          </a:solidFill>
                          <a:effectLst/>
                          <a:latin typeface="+mn-ea"/>
                          <a:ea typeface="+mn-ea"/>
                        </a:rPr>
                        <a:t>当り利益</a:t>
                      </a:r>
                      <a:br>
                        <a:rPr lang="en-US" altLang="ja-JP" sz="700" b="0" i="0" u="none" strike="noStrike" dirty="0">
                          <a:solidFill>
                            <a:schemeClr val="bg1">
                              <a:lumMod val="50000"/>
                            </a:schemeClr>
                          </a:solidFill>
                          <a:effectLst/>
                          <a:latin typeface="+mn-ea"/>
                          <a:ea typeface="+mn-ea"/>
                        </a:rPr>
                      </a:br>
                      <a:r>
                        <a:rPr lang="en-US" altLang="ja-JP" sz="600" b="0" i="0" u="none" strike="noStrike" dirty="0">
                          <a:solidFill>
                            <a:schemeClr val="bg1">
                              <a:lumMod val="50000"/>
                            </a:schemeClr>
                          </a:solidFill>
                          <a:effectLst/>
                          <a:latin typeface="+mn-ea"/>
                          <a:ea typeface="+mn-ea"/>
                        </a:rPr>
                        <a:t>(</a:t>
                      </a:r>
                      <a:r>
                        <a:rPr lang="ja-JP" altLang="en-US" sz="600" b="0" i="0" u="none" strike="noStrike" dirty="0">
                          <a:solidFill>
                            <a:schemeClr val="bg1">
                              <a:lumMod val="50000"/>
                            </a:schemeClr>
                          </a:solidFill>
                          <a:effectLst/>
                          <a:latin typeface="+mn-ea"/>
                          <a:ea typeface="+mn-ea"/>
                        </a:rPr>
                        <a:t>百万円</a:t>
                      </a:r>
                      <a:r>
                        <a:rPr lang="en-US" altLang="ja-JP" sz="600" b="0" i="0" u="none" strike="noStrike" dirty="0">
                          <a:solidFill>
                            <a:schemeClr val="bg1">
                              <a:lumMod val="50000"/>
                            </a:schemeClr>
                          </a:solidFill>
                          <a:effectLst/>
                          <a:latin typeface="+mn-ea"/>
                          <a:ea typeface="+mn-ea"/>
                        </a:rPr>
                        <a:t>)</a:t>
                      </a:r>
                      <a:endParaRPr lang="ja-JP" altLang="en-US" sz="700" b="0" i="0" u="none" strike="noStrike" dirty="0">
                        <a:solidFill>
                          <a:schemeClr val="bg1">
                            <a:lumMod val="50000"/>
                          </a:schemeClr>
                        </a:solidFill>
                        <a:effectLst/>
                        <a:latin typeface="+mn-ea"/>
                        <a:ea typeface="+mn-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7245765"/>
                  </a:ext>
                </a:extLst>
              </a:tr>
              <a:tr h="146238">
                <a:tc vMerge="1">
                  <a:txBody>
                    <a:bodyPr/>
                    <a:lstStyle/>
                    <a:p>
                      <a:pPr algn="l" fontAlgn="ct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endParaRPr lang="en-US" altLang="ja-JP" sz="800" b="0" i="0" u="none" strike="noStrike" dirty="0">
                        <a:solidFill>
                          <a:schemeClr val="bg1"/>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endParaRPr lang="en-US" altLang="ja-JP" sz="800" b="0" i="0" u="none" strike="noStrike" dirty="0">
                        <a:solidFill>
                          <a:schemeClr val="bg1"/>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ja-JP" altLang="en-US" sz="700" b="0" i="0" u="none" strike="noStrike" dirty="0">
                          <a:solidFill>
                            <a:schemeClr val="bg1"/>
                          </a:solidFill>
                          <a:effectLst/>
                          <a:latin typeface="+mn-ea"/>
                          <a:ea typeface="+mn-ea"/>
                        </a:rPr>
                        <a:t>順位</a:t>
                      </a:r>
                      <a:endParaRPr lang="en-US" altLang="ja-JP" sz="700" b="0" i="0" u="none" strike="noStrike" dirty="0">
                        <a:solidFill>
                          <a:schemeClr val="bg1"/>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endParaRPr lang="en-US" altLang="ja-JP" sz="500" b="0" i="0" u="none" strike="noStrike" dirty="0">
                        <a:solidFill>
                          <a:schemeClr val="bg1"/>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a:txBody>
                    <a:bodyPr/>
                    <a:lstStyle/>
                    <a:p>
                      <a:pPr algn="ctr" fontAlgn="ctr"/>
                      <a:r>
                        <a:rPr lang="ja-JP" altLang="en-US" sz="700" b="0" i="0" u="none" strike="noStrike" dirty="0">
                          <a:solidFill>
                            <a:schemeClr val="bg1"/>
                          </a:solidFill>
                          <a:effectLst/>
                          <a:latin typeface="+mn-ea"/>
                          <a:ea typeface="+mn-ea"/>
                        </a:rPr>
                        <a:t>順位</a:t>
                      </a:r>
                      <a:endParaRPr lang="en-US" altLang="ja-JP" sz="700" b="0" i="0" u="none" strike="noStrike" dirty="0">
                        <a:solidFill>
                          <a:schemeClr val="bg1"/>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solidFill>
                  </a:tcPr>
                </a:tc>
                <a:tc vMerge="1">
                  <a:txBody>
                    <a:bodyPr/>
                    <a:lstStyle/>
                    <a:p>
                      <a:pPr algn="ctr" fontAlgn="ctr"/>
                      <a:endParaRPr lang="en-US" altLang="ja-JP" sz="1000" b="0" i="0" u="none" strike="noStrike">
                        <a:solidFill>
                          <a:schemeClr val="bg1"/>
                        </a:solidFill>
                        <a:effectLst/>
                        <a:latin typeface="Meiryo UI" panose="020B0604030504040204" pitchFamily="50" charset="-128"/>
                        <a:ea typeface="Meiryo UI" panose="020B0604030504040204" pitchFamily="50" charset="-128"/>
                      </a:endParaRPr>
                    </a:p>
                  </a:txBody>
                  <a:tcPr marL="72000" marR="36000" marT="36000" marB="36000" anchor="ctr">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endParaRPr lang="en-US" altLang="ja-JP" sz="800" b="0" i="0" u="none" strike="noStrike" dirty="0">
                        <a:solidFill>
                          <a:schemeClr val="bg1"/>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fontAlgn="ctr"/>
                      <a:endParaRPr lang="en-US" altLang="ja-JP" sz="800" b="0" i="0" u="none" strike="noStrike" dirty="0">
                        <a:solidFill>
                          <a:schemeClr val="bg1">
                            <a:lumMod val="50000"/>
                          </a:schemeClr>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ja-JP" altLang="en-US" sz="700" b="0" i="0" u="none" strike="noStrike" dirty="0">
                          <a:solidFill>
                            <a:schemeClr val="bg1">
                              <a:lumMod val="50000"/>
                            </a:schemeClr>
                          </a:solidFill>
                          <a:effectLst/>
                          <a:latin typeface="+mn-ea"/>
                          <a:ea typeface="+mn-ea"/>
                        </a:rPr>
                        <a:t>順位</a:t>
                      </a:r>
                      <a:endParaRPr lang="en-US" altLang="ja-JP" sz="800" b="0" i="0" u="none" strike="noStrike" dirty="0">
                        <a:solidFill>
                          <a:schemeClr val="bg1">
                            <a:lumMod val="50000"/>
                          </a:schemeClr>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endParaRPr lang="en-US" altLang="ja-JP" sz="500" b="0" i="0" u="none" strike="noStrike" dirty="0">
                        <a:solidFill>
                          <a:schemeClr val="bg1">
                            <a:lumMod val="50000"/>
                          </a:schemeClr>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fontAlgn="ctr"/>
                      <a:r>
                        <a:rPr lang="ja-JP" altLang="en-US" sz="700" b="0" i="0" u="none" strike="noStrike" dirty="0">
                          <a:solidFill>
                            <a:schemeClr val="bg1">
                              <a:lumMod val="50000"/>
                            </a:schemeClr>
                          </a:solidFill>
                          <a:effectLst/>
                          <a:latin typeface="+mn-ea"/>
                          <a:ea typeface="+mn-ea"/>
                        </a:rPr>
                        <a:t>順位</a:t>
                      </a:r>
                      <a:endParaRPr lang="en-US" altLang="ja-JP" sz="700" b="0" i="0" u="none" strike="noStrike" dirty="0">
                        <a:solidFill>
                          <a:schemeClr val="bg1">
                            <a:lumMod val="50000"/>
                          </a:schemeClr>
                        </a:solidFill>
                        <a:effectLst/>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fontAlgn="ctr"/>
                      <a:endParaRPr lang="en-US" altLang="ja-JP" sz="1000" b="0" i="0" u="none" strike="noStrike">
                        <a:solidFill>
                          <a:schemeClr val="bg1"/>
                        </a:solidFill>
                        <a:effectLst/>
                        <a:latin typeface="Meiryo UI" panose="020B0604030504040204" pitchFamily="50" charset="-128"/>
                        <a:ea typeface="Meiryo UI" panose="020B0604030504040204" pitchFamily="50" charset="-128"/>
                      </a:endParaRPr>
                    </a:p>
                  </a:txBody>
                  <a:tcPr marL="72000" marR="36000" marT="36000" marB="36000" anchor="ct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45582697"/>
                  </a:ext>
                </a:extLst>
              </a:tr>
              <a:tr h="146238">
                <a:tc>
                  <a:txBody>
                    <a:bodyPr/>
                    <a:lstStyle/>
                    <a:p>
                      <a:pPr algn="l" fontAlgn="ctr"/>
                      <a:r>
                        <a:rPr lang="zh-TW" altLang="en-US" sz="800" u="none" strike="noStrike" dirty="0">
                          <a:effectLst/>
                          <a:latin typeface="+mn-ea"/>
                          <a:ea typeface="+mn-ea"/>
                        </a:rPr>
                        <a:t>三井住友信託銀行</a:t>
                      </a:r>
                      <a:endParaRPr lang="zh-TW"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70C0"/>
                          </a:solidFill>
                          <a:effectLst/>
                          <a:uLnTx/>
                          <a:uFillTx/>
                          <a:latin typeface="+mn-ea"/>
                          <a:ea typeface="+mn-ea"/>
                        </a:rPr>
                        <a:t>13,509</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a:solidFill>
                            <a:sysClr val="windowText" lastClr="000000"/>
                          </a:solidFill>
                          <a:effectLst/>
                          <a:latin typeface="+mn-ea"/>
                          <a:ea typeface="+mn-ea"/>
                        </a:rPr>
                        <a:t>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70C0"/>
                          </a:solidFill>
                          <a:effectLst/>
                          <a:latin typeface="+mn-ea"/>
                          <a:ea typeface="+mn-ea"/>
                        </a:rPr>
                        <a:t>1,539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70C0"/>
                          </a:solidFill>
                          <a:effectLst/>
                          <a:latin typeface="+mn-ea"/>
                          <a:ea typeface="+mn-ea"/>
                        </a:rPr>
                        <a:t>11.4%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22,351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70C0"/>
                          </a:solidFill>
                          <a:effectLst/>
                          <a:latin typeface="+mn-ea"/>
                          <a:ea typeface="+mn-ea"/>
                        </a:rPr>
                        <a:t>6.9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12,612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1,214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9.6%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22,143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5.5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117311"/>
                  </a:ext>
                </a:extLst>
              </a:tr>
              <a:tr h="146238">
                <a:tc>
                  <a:txBody>
                    <a:bodyPr/>
                    <a:lstStyle/>
                    <a:p>
                      <a:pPr algn="l" fontAlgn="ctr"/>
                      <a:r>
                        <a:rPr lang="zh-TW" altLang="en-US" sz="800" u="none" strike="noStrike" dirty="0">
                          <a:effectLst/>
                          <a:latin typeface="+mn-ea"/>
                          <a:ea typeface="+mn-ea"/>
                        </a:rPr>
                        <a:t>三菱</a:t>
                      </a:r>
                      <a:r>
                        <a:rPr lang="en-US" altLang="zh-TW" sz="800" u="none" strike="noStrike" dirty="0">
                          <a:effectLst/>
                          <a:latin typeface="+mn-ea"/>
                          <a:ea typeface="+mn-ea"/>
                        </a:rPr>
                        <a:t>UFJ</a:t>
                      </a:r>
                      <a:r>
                        <a:rPr lang="zh-TW" altLang="en-US" sz="800" u="none" strike="noStrike" dirty="0">
                          <a:effectLst/>
                          <a:latin typeface="+mn-ea"/>
                          <a:ea typeface="+mn-ea"/>
                        </a:rPr>
                        <a:t>信託銀行</a:t>
                      </a:r>
                      <a:endParaRPr lang="zh-TW"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70C0"/>
                          </a:solidFill>
                          <a:effectLst/>
                          <a:uLnTx/>
                          <a:uFillTx/>
                          <a:latin typeface="+mn-ea"/>
                          <a:ea typeface="+mn-ea"/>
                        </a:rPr>
                        <a:t>8,402</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u="none" strike="noStrike" kern="1200" dirty="0">
                          <a:solidFill>
                            <a:srgbClr val="0070C0"/>
                          </a:solidFill>
                          <a:effectLst/>
                          <a:latin typeface="+mn-ea"/>
                          <a:ea typeface="+mn-ea"/>
                          <a:cs typeface="+mn-cs"/>
                        </a:rPr>
                        <a:t>1,682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70C0"/>
                          </a:solidFill>
                          <a:effectLst/>
                          <a:latin typeface="+mn-ea"/>
                          <a:ea typeface="+mn-ea"/>
                        </a:rPr>
                        <a:t>20.0%</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12,825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70C0"/>
                          </a:solidFill>
                          <a:effectLst/>
                          <a:latin typeface="+mn-ea"/>
                          <a:ea typeface="+mn-ea"/>
                        </a:rPr>
                        <a:t>13.1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7,582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1,143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ysClr val="windowText" lastClr="000000"/>
                          </a:solidFill>
                          <a:effectLst/>
                          <a:latin typeface="+mn-ea"/>
                          <a:ea typeface="+mn-ea"/>
                        </a:rPr>
                        <a:t>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a:solidFill>
                            <a:srgbClr val="000000"/>
                          </a:solidFill>
                          <a:effectLst/>
                          <a:latin typeface="+mn-ea"/>
                          <a:ea typeface="+mn-ea"/>
                        </a:rPr>
                        <a:t>15.1%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a:solidFill>
                            <a:srgbClr val="000000"/>
                          </a:solidFill>
                          <a:effectLst/>
                          <a:latin typeface="+mn-ea"/>
                          <a:ea typeface="+mn-ea"/>
                        </a:rPr>
                        <a:t>13,015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a:solidFill>
                            <a:srgbClr val="000000"/>
                          </a:solidFill>
                          <a:effectLst/>
                          <a:latin typeface="+mn-ea"/>
                          <a:ea typeface="+mn-ea"/>
                        </a:rPr>
                        <a:t>8.8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2695987"/>
                  </a:ext>
                </a:extLst>
              </a:tr>
              <a:tr h="146238">
                <a:tc>
                  <a:txBody>
                    <a:bodyPr/>
                    <a:lstStyle/>
                    <a:p>
                      <a:pPr marL="0" algn="l" defTabSz="914400" rtl="0" eaLnBrk="1" fontAlgn="ctr" latinLnBrk="0" hangingPunct="1"/>
                      <a:r>
                        <a:rPr kumimoji="1" lang="ja-JP" altLang="en-US" sz="800" u="none" strike="noStrike" kern="1200" dirty="0">
                          <a:solidFill>
                            <a:schemeClr val="dk1"/>
                          </a:solidFill>
                          <a:effectLst/>
                          <a:latin typeface="+mn-ea"/>
                          <a:ea typeface="+mn-ea"/>
                          <a:cs typeface="+mn-cs"/>
                        </a:rPr>
                        <a:t>りそな銀行</a:t>
                      </a:r>
                      <a:endParaRPr kumimoji="1" lang="zh-TW" altLang="en-US" sz="800" u="none" strike="noStrike" kern="1200" dirty="0">
                        <a:solidFill>
                          <a:schemeClr val="dk1"/>
                        </a:solidFill>
                        <a:effectLst/>
                        <a:latin typeface="+mn-ea"/>
                        <a:ea typeface="+mn-ea"/>
                        <a:cs typeface="+mn-cs"/>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FF000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FF0000"/>
                          </a:solidFill>
                          <a:effectLst/>
                          <a:uLnTx/>
                          <a:uFillTx/>
                          <a:latin typeface="+mn-ea"/>
                          <a:ea typeface="+mn-ea"/>
                        </a:rPr>
                        <a:t>5,069</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u="none" strike="noStrike" kern="1200" dirty="0">
                          <a:solidFill>
                            <a:srgbClr val="FF0000"/>
                          </a:solidFill>
                          <a:effectLst/>
                          <a:latin typeface="+mn-ea"/>
                          <a:ea typeface="+mn-ea"/>
                          <a:cs typeface="+mn-cs"/>
                        </a:rPr>
                        <a:t>962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b="0" i="0" u="none" strike="noStrike" kern="1200" dirty="0">
                          <a:solidFill>
                            <a:srgbClr val="FF0000"/>
                          </a:solidFill>
                          <a:effectLst/>
                          <a:latin typeface="+mn-ea"/>
                          <a:ea typeface="+mn-ea"/>
                          <a:cs typeface="+mn-cs"/>
                        </a:rPr>
                        <a:t>19.0%</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a:solidFill>
                            <a:sysClr val="windowText" lastClr="000000"/>
                          </a:solidFill>
                          <a:effectLst/>
                          <a:latin typeface="+mn-ea"/>
                          <a:ea typeface="+mn-ea"/>
                        </a:rPr>
                        <a:t>9,573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FF0000"/>
                          </a:solidFill>
                          <a:effectLst/>
                          <a:latin typeface="+mn-ea"/>
                          <a:ea typeface="+mn-ea"/>
                        </a:rPr>
                        <a:t>10.0</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5,167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1,072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20.7%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a:solidFill>
                            <a:srgbClr val="000000"/>
                          </a:solidFill>
                          <a:effectLst/>
                          <a:latin typeface="+mn-ea"/>
                          <a:ea typeface="+mn-ea"/>
                        </a:rPr>
                        <a:t>9,741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ja-JP" sz="800" b="0" i="0" u="none" strike="noStrike" dirty="0">
                          <a:solidFill>
                            <a:srgbClr val="000000"/>
                          </a:solidFill>
                          <a:effectLst/>
                          <a:latin typeface="+mn-ea"/>
                          <a:ea typeface="+mn-ea"/>
                        </a:rPr>
                        <a:t>11.0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7725178"/>
                  </a:ext>
                </a:extLst>
              </a:tr>
              <a:tr h="146238">
                <a:tc>
                  <a:txBody>
                    <a:bodyPr/>
                    <a:lstStyle/>
                    <a:p>
                      <a:pPr algn="l" fontAlgn="ctr"/>
                      <a:r>
                        <a:rPr lang="ja-JP" altLang="en-US" sz="800" u="none" strike="noStrike" dirty="0">
                          <a:effectLst/>
                          <a:latin typeface="+mn-ea"/>
                          <a:ea typeface="+mn-ea"/>
                        </a:rPr>
                        <a:t>みずほ信託銀行</a:t>
                      </a:r>
                      <a:endParaRPr lang="ja-JP"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70C0"/>
                          </a:solidFill>
                          <a:effectLst/>
                          <a:uLnTx/>
                          <a:uFillTx/>
                          <a:latin typeface="+mn-ea"/>
                          <a:ea typeface="+mn-ea"/>
                        </a:rPr>
                        <a:t>2,490</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u="none" strike="noStrike" kern="1200" dirty="0">
                          <a:solidFill>
                            <a:srgbClr val="0070C0"/>
                          </a:solidFill>
                          <a:effectLst/>
                          <a:latin typeface="+mn-ea"/>
                          <a:ea typeface="+mn-ea"/>
                          <a:cs typeface="+mn-cs"/>
                        </a:rPr>
                        <a:t>473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rgbClr val="FF0000"/>
                          </a:solidFill>
                          <a:effectLst/>
                          <a:latin typeface="+mn-ea"/>
                          <a:ea typeface="+mn-ea"/>
                          <a:cs typeface="+mn-cs"/>
                        </a:rPr>
                        <a:t>19.0%</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ysClr val="windowText" lastClr="000000"/>
                          </a:solidFill>
                          <a:effectLst/>
                          <a:latin typeface="+mn-ea"/>
                          <a:ea typeface="+mn-ea"/>
                        </a:rPr>
                        <a:t>5,019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ysClr val="windowText" lastClr="000000"/>
                          </a:solidFill>
                          <a:effectLst/>
                          <a:latin typeface="+mn-ea"/>
                          <a:ea typeface="+mn-ea"/>
                        </a:rPr>
                        <a:t>9.4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2,373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453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19.1%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rgbClr val="000000"/>
                          </a:solidFill>
                          <a:effectLst/>
                          <a:latin typeface="+mn-ea"/>
                          <a:ea typeface="+mn-ea"/>
                        </a:rPr>
                        <a:t>4,843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rgbClr val="000000"/>
                          </a:solidFill>
                          <a:effectLst/>
                          <a:latin typeface="+mn-ea"/>
                          <a:ea typeface="+mn-ea"/>
                        </a:rPr>
                        <a:t>9.4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6213279"/>
                  </a:ext>
                </a:extLst>
              </a:tr>
              <a:tr h="146238">
                <a:tc>
                  <a:txBody>
                    <a:bodyPr/>
                    <a:lstStyle/>
                    <a:p>
                      <a:pPr algn="l" fontAlgn="ctr"/>
                      <a:r>
                        <a:rPr lang="en-US" altLang="ja-JP" sz="800" b="0" i="0" u="none" strike="noStrike">
                          <a:solidFill>
                            <a:srgbClr val="000000"/>
                          </a:solidFill>
                          <a:effectLst/>
                          <a:latin typeface="+mn-ea"/>
                          <a:ea typeface="+mn-ea"/>
                        </a:rPr>
                        <a:t>SMBC</a:t>
                      </a:r>
                      <a:r>
                        <a:rPr lang="ja-JP" altLang="en-US" sz="800" b="0" i="0" u="none" strike="noStrike">
                          <a:solidFill>
                            <a:srgbClr val="000000"/>
                          </a:solidFill>
                          <a:effectLst/>
                          <a:latin typeface="+mn-ea"/>
                          <a:ea typeface="+mn-ea"/>
                        </a:rPr>
                        <a:t>信託銀行</a:t>
                      </a: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70C0"/>
                          </a:solidFill>
                          <a:effectLst/>
                          <a:uLnTx/>
                          <a:uFillTx/>
                          <a:latin typeface="+mn-ea"/>
                          <a:ea typeface="+mn-ea"/>
                        </a:rPr>
                        <a:t>506</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ja-JP" altLang="en-US" sz="800" u="none" strike="noStrike" kern="1200" dirty="0">
                          <a:solidFill>
                            <a:srgbClr val="FF0000"/>
                          </a:solidFill>
                          <a:effectLst/>
                          <a:latin typeface="+mn-ea"/>
                          <a:ea typeface="+mn-ea"/>
                          <a:cs typeface="+mn-cs"/>
                        </a:rPr>
                        <a:t>▲</a:t>
                      </a:r>
                      <a:r>
                        <a:rPr kumimoji="1" lang="en-US" altLang="ja-JP" sz="800" u="none" strike="noStrike" kern="1200" dirty="0">
                          <a:solidFill>
                            <a:srgbClr val="FF0000"/>
                          </a:solidFill>
                          <a:effectLst/>
                          <a:latin typeface="+mn-ea"/>
                          <a:ea typeface="+mn-ea"/>
                          <a:cs typeface="+mn-cs"/>
                        </a:rPr>
                        <a:t>57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12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ysClr val="windowText" lastClr="000000"/>
                          </a:solidFill>
                          <a:effectLst/>
                          <a:latin typeface="+mn-ea"/>
                          <a:ea typeface="+mn-ea"/>
                        </a:rPr>
                        <a:t>1,988</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ysClr val="windowText" lastClr="000000"/>
                          </a:solidFill>
                          <a:effectLst/>
                          <a:latin typeface="+mn-ea"/>
                          <a:ea typeface="+mn-ea"/>
                        </a:rPr>
                        <a:t>-</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399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ja-JP" altLang="en-US" sz="800" b="0" i="0" u="none" strike="noStrike" dirty="0">
                          <a:solidFill>
                            <a:srgbClr val="000000"/>
                          </a:solidFill>
                          <a:effectLst/>
                          <a:latin typeface="+mn-ea"/>
                          <a:ea typeface="+mn-ea"/>
                        </a:rPr>
                        <a:t>▲</a:t>
                      </a:r>
                      <a:r>
                        <a:rPr lang="en-US" altLang="ja-JP" sz="800" b="0" i="0" u="none" strike="noStrike" dirty="0">
                          <a:solidFill>
                            <a:srgbClr val="000000"/>
                          </a:solidFill>
                          <a:effectLst/>
                          <a:latin typeface="+mn-ea"/>
                          <a:ea typeface="+mn-ea"/>
                        </a:rPr>
                        <a:t>41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12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2,064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0117641"/>
                  </a:ext>
                </a:extLst>
              </a:tr>
              <a:tr h="146238">
                <a:tc>
                  <a:txBody>
                    <a:bodyPr/>
                    <a:lstStyle/>
                    <a:p>
                      <a:pPr algn="l" fontAlgn="ctr"/>
                      <a:r>
                        <a:rPr lang="ja-JP" altLang="en-US" sz="800" u="none" strike="noStrike" dirty="0">
                          <a:effectLst/>
                          <a:latin typeface="+mn-ea"/>
                          <a:ea typeface="+mn-ea"/>
                        </a:rPr>
                        <a:t>日本トラスティ・サービス信託銀行</a:t>
                      </a:r>
                      <a:endParaRPr lang="zh-TW"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70C0"/>
                          </a:solidFill>
                          <a:effectLst/>
                          <a:uLnTx/>
                          <a:uFillTx/>
                          <a:latin typeface="+mn-ea"/>
                          <a:ea typeface="+mn-ea"/>
                        </a:rPr>
                        <a:t>274</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6</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u="none" strike="noStrike" kern="1200" dirty="0">
                          <a:solidFill>
                            <a:srgbClr val="0070C0"/>
                          </a:solidFill>
                          <a:effectLst/>
                          <a:latin typeface="+mn-ea"/>
                          <a:ea typeface="+mn-ea"/>
                          <a:cs typeface="+mn-cs"/>
                        </a:rPr>
                        <a:t>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rgbClr val="0070C0"/>
                          </a:solidFill>
                          <a:effectLst/>
                          <a:latin typeface="+mn-ea"/>
                          <a:ea typeface="+mn-ea"/>
                          <a:cs typeface="+mn-cs"/>
                        </a:rPr>
                        <a:t>1.5%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ysClr val="windowText" lastClr="000000"/>
                          </a:solidFill>
                          <a:effectLst/>
                          <a:latin typeface="+mn-ea"/>
                          <a:ea typeface="+mn-ea"/>
                        </a:rPr>
                        <a:t>1,052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70C0"/>
                          </a:solidFill>
                          <a:effectLst/>
                          <a:latin typeface="+mn-ea"/>
                          <a:ea typeface="+mn-ea"/>
                        </a:rPr>
                        <a:t>0.4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265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1.1%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rgbClr val="000000"/>
                          </a:solidFill>
                          <a:effectLst/>
                          <a:latin typeface="+mn-ea"/>
                          <a:ea typeface="+mn-ea"/>
                        </a:rPr>
                        <a:t>1,016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rgbClr val="000000"/>
                          </a:solidFill>
                          <a:effectLst/>
                          <a:latin typeface="+mn-ea"/>
                          <a:ea typeface="+mn-ea"/>
                        </a:rPr>
                        <a:t>0.3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471728"/>
                  </a:ext>
                </a:extLst>
              </a:tr>
              <a:tr h="146238">
                <a:tc>
                  <a:txBody>
                    <a:bodyPr/>
                    <a:lstStyle/>
                    <a:p>
                      <a:pPr algn="l" fontAlgn="ctr"/>
                      <a:r>
                        <a:rPr lang="zh-TW" altLang="en-US" sz="800" u="none" strike="noStrike" dirty="0">
                          <a:effectLst/>
                          <a:latin typeface="+mn-ea"/>
                          <a:ea typeface="+mn-ea"/>
                        </a:rPr>
                        <a:t>野村信託銀行</a:t>
                      </a:r>
                      <a:endParaRPr lang="ja-JP"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FF000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FF0000"/>
                          </a:solidFill>
                          <a:effectLst/>
                          <a:uLnTx/>
                          <a:uFillTx/>
                          <a:latin typeface="+mn-ea"/>
                          <a:ea typeface="+mn-ea"/>
                        </a:rPr>
                        <a:t>259</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u="none" strike="noStrike" kern="1200" dirty="0">
                          <a:solidFill>
                            <a:srgbClr val="FF0000"/>
                          </a:solidFill>
                          <a:effectLst/>
                          <a:latin typeface="+mn-ea"/>
                          <a:ea typeface="+mn-ea"/>
                          <a:cs typeface="+mn-cs"/>
                        </a:rPr>
                        <a:t>10</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rgbClr val="FF0000"/>
                          </a:solidFill>
                          <a:effectLst/>
                          <a:latin typeface="+mn-ea"/>
                          <a:ea typeface="+mn-ea"/>
                          <a:cs typeface="+mn-cs"/>
                        </a:rPr>
                        <a:t>3.9%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ysClr val="windowText" lastClr="000000"/>
                          </a:solidFill>
                          <a:effectLst/>
                          <a:latin typeface="+mn-ea"/>
                          <a:ea typeface="+mn-ea"/>
                        </a:rPr>
                        <a:t>451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FF0000"/>
                          </a:solidFill>
                          <a:effectLst/>
                          <a:latin typeface="+mn-ea"/>
                          <a:ea typeface="+mn-ea"/>
                        </a:rPr>
                        <a:t>2.2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265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6</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17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6.4%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457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rgbClr val="000000"/>
                          </a:solidFill>
                          <a:effectLst/>
                          <a:latin typeface="+mn-ea"/>
                          <a:ea typeface="+mn-ea"/>
                        </a:rPr>
                        <a:t>3.7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16273"/>
                  </a:ext>
                </a:extLst>
              </a:tr>
              <a:tr h="146238">
                <a:tc>
                  <a:txBody>
                    <a:bodyPr/>
                    <a:lstStyle/>
                    <a:p>
                      <a:pPr algn="l" fontAlgn="ctr"/>
                      <a:r>
                        <a:rPr lang="ja-JP" altLang="en-US" sz="800" u="none" strike="noStrike" dirty="0">
                          <a:effectLst/>
                          <a:latin typeface="+mn-ea"/>
                          <a:ea typeface="+mn-ea"/>
                        </a:rPr>
                        <a:t>資産管理サービス信託銀行</a:t>
                      </a:r>
                      <a:endParaRPr lang="ja-JP"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70C0"/>
                          </a:solidFill>
                          <a:effectLst/>
                          <a:uLnTx/>
                          <a:uFillTx/>
                          <a:latin typeface="+mn-ea"/>
                          <a:ea typeface="+mn-ea"/>
                        </a:rPr>
                        <a:t>238</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8</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u="none" strike="noStrike" kern="1200" dirty="0">
                          <a:solidFill>
                            <a:srgbClr val="FF0000"/>
                          </a:solidFill>
                          <a:effectLst/>
                          <a:latin typeface="+mn-ea"/>
                          <a:ea typeface="+mn-ea"/>
                          <a:cs typeface="+mn-cs"/>
                        </a:rPr>
                        <a:t>5</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8</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rgbClr val="FF0000"/>
                          </a:solidFill>
                          <a:effectLst/>
                          <a:latin typeface="+mn-ea"/>
                          <a:ea typeface="+mn-ea"/>
                          <a:cs typeface="+mn-cs"/>
                        </a:rPr>
                        <a:t>2.1%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ysClr val="windowText" lastClr="000000"/>
                          </a:solidFill>
                          <a:effectLst/>
                          <a:latin typeface="+mn-ea"/>
                          <a:ea typeface="+mn-ea"/>
                        </a:rPr>
                        <a:t>671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FF0000"/>
                          </a:solidFill>
                          <a:effectLst/>
                          <a:latin typeface="+mn-ea"/>
                          <a:ea typeface="+mn-ea"/>
                        </a:rPr>
                        <a:t>0.7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234</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8</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8</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2.6%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652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a:solidFill>
                            <a:srgbClr val="000000"/>
                          </a:solidFill>
                          <a:effectLst/>
                          <a:latin typeface="+mn-ea"/>
                          <a:ea typeface="+mn-ea"/>
                        </a:rPr>
                        <a:t>0.9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3738459"/>
                  </a:ext>
                </a:extLst>
              </a:tr>
              <a:tr h="146238">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800" u="none" strike="noStrike" dirty="0">
                          <a:effectLst/>
                          <a:latin typeface="+mn-ea"/>
                          <a:ea typeface="+mn-ea"/>
                        </a:rPr>
                        <a:t>日本マスタートラスト信託銀行</a:t>
                      </a:r>
                      <a:endParaRPr lang="ja-JP" altLang="en-US" sz="800" b="0" i="0" u="none" strike="noStrike" dirty="0">
                        <a:solidFill>
                          <a:srgbClr val="000000"/>
                        </a:solidFill>
                        <a:effectLst/>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FF0000"/>
                        </a:solidFill>
                        <a:effectLst/>
                        <a:uLnTx/>
                        <a:uFillTx/>
                        <a:latin typeface="+mn-ea"/>
                        <a:ea typeface="+mn-ea"/>
                      </a:endParaRPr>
                    </a:p>
                  </a:txBody>
                  <a:tcPr marL="72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FF0000"/>
                          </a:solidFill>
                          <a:effectLst/>
                          <a:uLnTx/>
                          <a:uFillTx/>
                          <a:latin typeface="+mn-ea"/>
                          <a:ea typeface="+mn-ea"/>
                        </a:rPr>
                        <a:t>225</a:t>
                      </a:r>
                    </a:p>
                  </a:txBody>
                  <a:tcPr marL="72000" marR="36000" marT="36000" marB="36000" anchor="ctr">
                    <a:lnL w="12700" cap="flat" cmpd="sng" algn="ctr">
                      <a:solidFill>
                        <a:schemeClr val="bg1">
                          <a:lumMod val="50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u="none" strike="noStrike" kern="1200" dirty="0">
                          <a:solidFill>
                            <a:srgbClr val="FF0000"/>
                          </a:solidFill>
                          <a:effectLst/>
                          <a:latin typeface="+mn-ea"/>
                          <a:ea typeface="+mn-ea"/>
                          <a:cs typeface="+mn-cs"/>
                        </a:rPr>
                        <a:t>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7</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rgbClr val="FF0000"/>
                          </a:solidFill>
                          <a:effectLst/>
                          <a:latin typeface="+mn-ea"/>
                          <a:ea typeface="+mn-ea"/>
                          <a:cs typeface="+mn-cs"/>
                        </a:rPr>
                        <a:t>3.1%</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ysClr val="windowText" lastClr="000000"/>
                          </a:solidFill>
                          <a:effectLst/>
                          <a:latin typeface="+mn-ea"/>
                          <a:ea typeface="+mn-ea"/>
                        </a:rPr>
                        <a:t>762</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FF0000"/>
                          </a:solidFill>
                          <a:effectLst/>
                          <a:latin typeface="+mn-ea"/>
                          <a:ea typeface="+mn-ea"/>
                        </a:rPr>
                        <a:t>0.9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ysClr val="windowText" lastClr="000000"/>
                        </a:solidFill>
                        <a:effectLst/>
                        <a:uLnTx/>
                        <a:uFillTx/>
                        <a:latin typeface="+mn-ea"/>
                        <a:ea typeface="+mn-ea"/>
                      </a:endParaRP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ysClr val="windowText" lastClr="000000"/>
                          </a:solidFill>
                          <a:effectLst/>
                          <a:uLnTx/>
                          <a:uFillTx/>
                          <a:latin typeface="+mn-ea"/>
                          <a:ea typeface="+mn-ea"/>
                        </a:rPr>
                        <a:t>233</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a:solidFill>
                            <a:sysClr val="windowText" lastClr="000000"/>
                          </a:solidFill>
                          <a:effectLst/>
                          <a:latin typeface="+mn-ea"/>
                          <a:ea typeface="+mn-ea"/>
                          <a:cs typeface="+mn-cs"/>
                        </a:rPr>
                        <a:t>9</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fontAlgn="ctr" latinLnBrk="0" hangingPunct="1"/>
                      <a:r>
                        <a:rPr kumimoji="1" lang="en-US" altLang="ja-JP" sz="800" b="0" i="0" u="none" strike="noStrike" kern="1200" dirty="0">
                          <a:solidFill>
                            <a:sysClr val="windowText" lastClr="000000"/>
                          </a:solidFill>
                          <a:effectLst/>
                          <a:latin typeface="+mn-ea"/>
                          <a:ea typeface="+mn-ea"/>
                          <a:cs typeface="+mn-cs"/>
                        </a:rPr>
                        <a:t>6</a:t>
                      </a:r>
                    </a:p>
                  </a:txBody>
                  <a:tcPr marL="72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3.4%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757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r>
                        <a:rPr lang="en-US" altLang="ja-JP" sz="800" b="0" i="0" u="none" strike="noStrike" dirty="0">
                          <a:solidFill>
                            <a:srgbClr val="000000"/>
                          </a:solidFill>
                          <a:effectLst/>
                          <a:latin typeface="+mn-ea"/>
                          <a:ea typeface="+mn-ea"/>
                        </a:rPr>
                        <a:t>1.1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4447609"/>
                  </a:ext>
                </a:extLst>
              </a:tr>
            </a:tbl>
          </a:graphicData>
        </a:graphic>
      </p:graphicFrame>
      <p:pic>
        <p:nvPicPr>
          <p:cNvPr id="30" name="グラフィックス 29" descr="王冠">
            <a:extLst>
              <a:ext uri="{FF2B5EF4-FFF2-40B4-BE49-F238E27FC236}">
                <a16:creationId xmlns:a16="http://schemas.microsoft.com/office/drawing/2014/main" id="{64B211CD-48D0-4CB9-BB65-ED58429CB96A}"/>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gray">
          <a:xfrm>
            <a:off x="3758517" y="2600616"/>
            <a:ext cx="180000" cy="180000"/>
          </a:xfrm>
          <a:prstGeom prst="rect">
            <a:avLst/>
          </a:prstGeom>
        </p:spPr>
      </p:pic>
      <p:pic>
        <p:nvPicPr>
          <p:cNvPr id="31" name="グラフィックス 30" descr="王冠">
            <a:extLst>
              <a:ext uri="{FF2B5EF4-FFF2-40B4-BE49-F238E27FC236}">
                <a16:creationId xmlns:a16="http://schemas.microsoft.com/office/drawing/2014/main" id="{F2C72E9C-401B-4E09-ACB3-5AF4CA29F8AC}"/>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bwMode="gray">
          <a:xfrm>
            <a:off x="2910980" y="2411826"/>
            <a:ext cx="180000" cy="180000"/>
          </a:xfrm>
          <a:prstGeom prst="rect">
            <a:avLst/>
          </a:prstGeom>
        </p:spPr>
      </p:pic>
      <p:sp>
        <p:nvSpPr>
          <p:cNvPr id="18" name="正方形/長方形 17">
            <a:extLst>
              <a:ext uri="{FF2B5EF4-FFF2-40B4-BE49-F238E27FC236}">
                <a16:creationId xmlns:a16="http://schemas.microsoft.com/office/drawing/2014/main" id="{28034088-3241-41C4-9081-56F68C7F9A62}"/>
              </a:ext>
            </a:extLst>
          </p:cNvPr>
          <p:cNvSpPr/>
          <p:nvPr/>
        </p:nvSpPr>
        <p:spPr bwMode="gray">
          <a:xfrm>
            <a:off x="2328453" y="4254895"/>
            <a:ext cx="3528000" cy="2160000"/>
          </a:xfrm>
          <a:prstGeom prst="rect">
            <a:avLst/>
          </a:prstGeom>
          <a:noFill/>
          <a:ln w="952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正方形/長方形 54">
            <a:extLst>
              <a:ext uri="{FF2B5EF4-FFF2-40B4-BE49-F238E27FC236}">
                <a16:creationId xmlns:a16="http://schemas.microsoft.com/office/drawing/2014/main" id="{646BFAAA-0613-4DB2-8E7F-2484580DFB35}"/>
              </a:ext>
            </a:extLst>
          </p:cNvPr>
          <p:cNvSpPr/>
          <p:nvPr/>
        </p:nvSpPr>
        <p:spPr bwMode="gray">
          <a:xfrm>
            <a:off x="5980048" y="4254895"/>
            <a:ext cx="3528000" cy="2160000"/>
          </a:xfrm>
          <a:prstGeom prst="rect">
            <a:avLst/>
          </a:prstGeom>
          <a:noFill/>
          <a:ln w="952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A6211AAD-087F-4C3A-8CCA-E8F9E6161232}"/>
              </a:ext>
            </a:extLst>
          </p:cNvPr>
          <p:cNvSpPr/>
          <p:nvPr/>
        </p:nvSpPr>
        <p:spPr bwMode="gray">
          <a:xfrm>
            <a:off x="690229" y="4254895"/>
            <a:ext cx="1509246" cy="2160000"/>
          </a:xfrm>
          <a:prstGeom prst="rect">
            <a:avLst/>
          </a:prstGeom>
          <a:noFill/>
          <a:ln w="952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algn="l">
              <a:spcBef>
                <a:spcPts val="600"/>
              </a:spcBef>
            </a:pPr>
            <a:r>
              <a:rPr lang="ja-JP" altLang="en-US" sz="900" u="sng" dirty="0">
                <a:latin typeface="Meiryo UI" panose="020B0604030504040204" pitchFamily="50" charset="-128"/>
                <a:ea typeface="Meiryo UI" panose="020B0604030504040204" pitchFamily="50" charset="-128"/>
                <a:cs typeface="Meiryo UI" panose="020B0604030504040204" pitchFamily="50" charset="-128"/>
              </a:rPr>
              <a:t>信託財産残高</a:t>
            </a:r>
            <a:endParaRPr lang="en-US" altLang="ja-JP" sz="900" u="sng" dirty="0">
              <a:latin typeface="Meiryo UI" panose="020B0604030504040204" pitchFamily="50" charset="-128"/>
              <a:ea typeface="Meiryo UI" panose="020B0604030504040204" pitchFamily="50" charset="-128"/>
              <a:cs typeface="Meiryo UI" panose="020B0604030504040204" pitchFamily="50" charset="-128"/>
            </a:endParaRPr>
          </a:p>
          <a:p>
            <a:pPr marL="88900" algn="l">
              <a:spcBef>
                <a:spcPts val="0"/>
              </a:spcBef>
            </a:pPr>
            <a:r>
              <a:rPr lang="ja-JP" altLang="en-US" sz="900" dirty="0">
                <a:latin typeface="Meiryo UI" panose="020B0604030504040204" pitchFamily="50" charset="-128"/>
                <a:ea typeface="Meiryo UI" panose="020B0604030504040204" pitchFamily="50" charset="-128"/>
                <a:cs typeface="Meiryo UI" panose="020B0604030504040204" pitchFamily="50" charset="-128"/>
              </a:rPr>
              <a:t>顧客から受託する資産の残高。一般的に、数値が大きいほど規模のメリットが働く。</a:t>
            </a:r>
            <a:endParaRPr lang="en-US" altLang="ja-JP" sz="900" u="sng" dirty="0">
              <a:latin typeface="Meiryo UI" panose="020B0604030504040204" pitchFamily="50" charset="-128"/>
              <a:ea typeface="Meiryo UI" panose="020B0604030504040204" pitchFamily="50" charset="-128"/>
              <a:cs typeface="Meiryo UI" panose="020B0604030504040204" pitchFamily="50" charset="-128"/>
            </a:endParaRPr>
          </a:p>
          <a:p>
            <a:pPr algn="l">
              <a:spcBef>
                <a:spcPts val="600"/>
              </a:spcBef>
            </a:pPr>
            <a:r>
              <a:rPr lang="ja-JP" altLang="en-US" sz="900" u="sng" dirty="0">
                <a:latin typeface="Meiryo UI" panose="020B0604030504040204" pitchFamily="50" charset="-128"/>
                <a:ea typeface="Meiryo UI" panose="020B0604030504040204" pitchFamily="50" charset="-128"/>
                <a:cs typeface="Meiryo UI" panose="020B0604030504040204" pitchFamily="50" charset="-128"/>
              </a:rPr>
              <a:t>経費率</a:t>
            </a:r>
            <a:endParaRPr lang="en-US" altLang="ja-JP" sz="900" u="sng" dirty="0">
              <a:latin typeface="Meiryo UI" panose="020B0604030504040204" pitchFamily="50" charset="-128"/>
              <a:ea typeface="Meiryo UI" panose="020B0604030504040204" pitchFamily="50" charset="-128"/>
              <a:cs typeface="Meiryo UI" panose="020B0604030504040204" pitchFamily="50" charset="-128"/>
            </a:endParaRPr>
          </a:p>
          <a:p>
            <a:pPr marL="88900" algn="l">
              <a:spcBef>
                <a:spcPts val="0"/>
              </a:spcBef>
            </a:pPr>
            <a:r>
              <a:rPr lang="ja-JP" altLang="en-US" sz="900" dirty="0">
                <a:latin typeface="Meiryo UI" panose="020B0604030504040204" pitchFamily="50" charset="-128"/>
                <a:ea typeface="Meiryo UI" panose="020B0604030504040204" pitchFamily="50" charset="-128"/>
                <a:cs typeface="Meiryo UI" panose="020B0604030504040204" pitchFamily="50" charset="-128"/>
              </a:rPr>
              <a:t>業務粗利に対する営業経費の割合。数値が大きいほどコスト効率が悪く。</a:t>
            </a:r>
            <a:r>
              <a:rPr lang="en-US" altLang="ja-JP" sz="900" dirty="0">
                <a:latin typeface="Meiryo UI" panose="020B0604030504040204" pitchFamily="50" charset="-128"/>
                <a:ea typeface="Meiryo UI" panose="020B0604030504040204" pitchFamily="50" charset="-128"/>
                <a:cs typeface="Meiryo UI" panose="020B0604030504040204" pitchFamily="50" charset="-128"/>
              </a:rPr>
              <a:t>100%</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超は赤字。</a:t>
            </a:r>
            <a:endParaRPr kumimoji="0" lang="en-US" altLang="ja-JP" sz="9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4" name="直線コネクタ 23">
            <a:extLst>
              <a:ext uri="{FF2B5EF4-FFF2-40B4-BE49-F238E27FC236}">
                <a16:creationId xmlns:a16="http://schemas.microsoft.com/office/drawing/2014/main" id="{0450D2C3-7821-4FCA-9DF2-9FF774E1900D}"/>
              </a:ext>
            </a:extLst>
          </p:cNvPr>
          <p:cNvCxnSpPr/>
          <p:nvPr/>
        </p:nvCxnSpPr>
        <p:spPr bwMode="gray">
          <a:xfrm>
            <a:off x="6564626" y="5208403"/>
            <a:ext cx="2772000" cy="0"/>
          </a:xfrm>
          <a:prstGeom prst="line">
            <a:avLst/>
          </a:prstGeom>
          <a:noFill/>
          <a:ln w="25400" algn="ctr">
            <a:solidFill>
              <a:schemeClr val="bg1">
                <a:lumMod val="50000"/>
              </a:schemeClr>
            </a:solidFill>
            <a:round/>
            <a:headEnd/>
            <a:tailEnd/>
          </a:ln>
          <a:extLst>
            <a:ext uri="{909E8E84-426E-40DD-AFC4-6F175D3DCCD1}">
              <a14:hiddenFill xmlns:a14="http://schemas.microsoft.com/office/drawing/2010/main">
                <a:noFill/>
              </a14:hiddenFill>
            </a:ext>
          </a:extLst>
        </p:spPr>
      </p:cxnSp>
      <p:sp>
        <p:nvSpPr>
          <p:cNvPr id="29" name="正方形/長方形 28">
            <a:extLst>
              <a:ext uri="{FF2B5EF4-FFF2-40B4-BE49-F238E27FC236}">
                <a16:creationId xmlns:a16="http://schemas.microsoft.com/office/drawing/2014/main" id="{A2BF68F8-261E-455C-8FC9-5FCE460EEEF7}"/>
              </a:ext>
            </a:extLst>
          </p:cNvPr>
          <p:cNvSpPr/>
          <p:nvPr/>
        </p:nvSpPr>
        <p:spPr bwMode="gray">
          <a:xfrm>
            <a:off x="4200453" y="1864233"/>
            <a:ext cx="1656000" cy="112862"/>
          </a:xfrm>
          <a:prstGeom prst="rect">
            <a:avLst/>
          </a:prstGeom>
          <a:no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r" defTabSz="914400" rtl="0" eaLnBrk="1" fontAlgn="base" latinLnBrk="0" hangingPunct="1">
              <a:lnSpc>
                <a:spcPct val="100000"/>
              </a:lnSpc>
              <a:spcBef>
                <a:spcPct val="20000"/>
              </a:spcBef>
              <a:spcAft>
                <a:spcPct val="0"/>
              </a:spcAft>
              <a:buClr>
                <a:schemeClr val="tx1"/>
              </a:buClr>
              <a:buSzTx/>
              <a:tabLst/>
            </a:pPr>
            <a:r>
              <a:rPr lang="en-US" altLang="ja-JP" sz="700"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700"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青字は前年比上昇</a:t>
            </a:r>
            <a:r>
              <a:rPr lang="ja-JP" altLang="en-US" sz="700" dirty="0">
                <a:latin typeface="Meiryo UI" panose="020B0604030504040204" pitchFamily="50" charset="-128"/>
                <a:ea typeface="Meiryo UI" panose="020B0604030504040204" pitchFamily="50" charset="-128"/>
                <a:cs typeface="Meiryo UI" panose="020B0604030504040204" pitchFamily="50" charset="-128"/>
              </a:rPr>
              <a:t>、</a:t>
            </a:r>
            <a:r>
              <a:rPr lang="ja-JP" altLang="en-US" sz="7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赤字は前年比下落</a:t>
            </a:r>
            <a:endParaRPr kumimoji="0" lang="ja-JP" altLang="en-US" sz="700" b="0" i="0" u="none" cap="none" normalizeH="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9156705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2DF4B101-30FB-46F4-AF67-9848719B9082}"/>
              </a:ext>
            </a:extLst>
          </p:cNvPr>
          <p:cNvSpPr>
            <a:spLocks noGrp="1"/>
          </p:cNvSpPr>
          <p:nvPr>
            <p:ph type="sldNum" sz="quarter" idx="11"/>
          </p:nvPr>
        </p:nvSpPr>
        <p:spPr bwMode="gray">
          <a:xfrm>
            <a:off x="8334376" y="6640513"/>
            <a:ext cx="1439863" cy="215900"/>
          </a:xfrm>
        </p:spPr>
        <p:txBody>
          <a:bodyPr/>
          <a:lstStyle/>
          <a:p>
            <a:fld id="{48A150E7-E09D-4C31-9917-0D6C90A70F8A}" type="slidenum">
              <a:rPr lang="en-US" altLang="ja-JP" smtClean="0"/>
              <a:pPr/>
              <a:t>5</a:t>
            </a:fld>
            <a:endParaRPr lang="ja-JP" altLang="en-US"/>
          </a:p>
        </p:txBody>
      </p:sp>
      <p:sp>
        <p:nvSpPr>
          <p:cNvPr id="94" name="テキスト ボックス 93">
            <a:extLst>
              <a:ext uri="{FF2B5EF4-FFF2-40B4-BE49-F238E27FC236}">
                <a16:creationId xmlns:a16="http://schemas.microsoft.com/office/drawing/2014/main" id="{E114873F-8FB0-45E6-89AF-6DB06219D9F1}"/>
              </a:ext>
            </a:extLst>
          </p:cNvPr>
          <p:cNvSpPr txBox="1"/>
          <p:nvPr/>
        </p:nvSpPr>
        <p:spPr bwMode="gray">
          <a:xfrm>
            <a:off x="4353556" y="6489395"/>
            <a:ext cx="5171711" cy="35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t">
            <a:spAutoFit/>
          </a:bodyPr>
          <a:lstStyle/>
          <a:p>
            <a:pPr marL="0" indent="0" algn="l">
              <a:spcBef>
                <a:spcPts val="0"/>
              </a:spcBef>
              <a:buClrTx/>
              <a:buFont typeface="Wingdings" pitchFamily="2" charset="2"/>
              <a:buNone/>
            </a:pPr>
            <a:r>
              <a:rPr kumimoji="1" lang="en-US" altLang="ja-JP" sz="700" b="0" dirty="0">
                <a:latin typeface="Meiryo UI" panose="020B0604030504040204" pitchFamily="50" charset="-128"/>
                <a:ea typeface="Meiryo UI" panose="020B0604030504040204" pitchFamily="50" charset="-128"/>
                <a:cs typeface="Meiryo UI" panose="020B0604030504040204" pitchFamily="50" charset="-128"/>
              </a:rPr>
              <a:t>*1 MUTB</a:t>
            </a:r>
            <a:r>
              <a:rPr kumimoji="1" lang="ja-JP" altLang="en-US" sz="700" b="0" dirty="0">
                <a:latin typeface="Meiryo UI" panose="020B0604030504040204" pitchFamily="50" charset="-128"/>
                <a:ea typeface="Meiryo UI" panose="020B0604030504040204" pitchFamily="50" charset="-128"/>
                <a:cs typeface="Meiryo UI" panose="020B0604030504040204" pitchFamily="50" charset="-128"/>
              </a:rPr>
              <a:t>以外は</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月期の値を使用、</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MUTB</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は</a:t>
            </a:r>
            <a:r>
              <a:rPr kumimoji="1" lang="en-US" altLang="ja-JP" sz="700" b="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700" b="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700" b="0" dirty="0">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700" b="0" dirty="0">
                <a:latin typeface="Meiryo UI" panose="020B0604030504040204" pitchFamily="50" charset="-128"/>
                <a:ea typeface="Meiryo UI" panose="020B0604030504040204" pitchFamily="50" charset="-128"/>
                <a:cs typeface="Meiryo UI" panose="020B0604030504040204" pitchFamily="50" charset="-128"/>
              </a:rPr>
              <a:t>月の部門再編</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を反映するため、</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月中間期の値を</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倍にした値を使用。</a:t>
            </a:r>
            <a:endParaRPr kumimoji="1" lang="en-US" altLang="ja-JP" sz="700" b="0" dirty="0">
              <a:latin typeface="Meiryo UI" panose="020B0604030504040204" pitchFamily="50" charset="-128"/>
              <a:ea typeface="Meiryo UI" panose="020B0604030504040204" pitchFamily="50" charset="-128"/>
              <a:cs typeface="Meiryo UI" panose="020B0604030504040204" pitchFamily="50" charset="-128"/>
            </a:endParaRPr>
          </a:p>
          <a:p>
            <a:pPr marL="0" indent="0" algn="l">
              <a:spcBef>
                <a:spcPts val="0"/>
              </a:spcBef>
              <a:buClrTx/>
              <a:buFont typeface="Wingdings" pitchFamily="2" charset="2"/>
              <a:buNone/>
            </a:pPr>
            <a:r>
              <a:rPr kumimoji="1" lang="en-US" altLang="ja-JP" sz="700" b="0" dirty="0">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 りそなの法人はバンキング・不動産・受託の合計。</a:t>
            </a:r>
            <a:endParaRPr kumimoji="1" lang="en-US" altLang="ja-JP" sz="700" b="0" dirty="0">
              <a:latin typeface="Meiryo UI" panose="020B0604030504040204" pitchFamily="50" charset="-128"/>
              <a:ea typeface="Meiryo UI" panose="020B0604030504040204" pitchFamily="50" charset="-128"/>
              <a:cs typeface="Meiryo UI" panose="020B0604030504040204" pitchFamily="50" charset="-128"/>
            </a:endParaRPr>
          </a:p>
          <a:p>
            <a:pPr marL="0" indent="0" algn="l">
              <a:spcBef>
                <a:spcPts val="0"/>
              </a:spcBef>
              <a:buClrTx/>
              <a:buFont typeface="Wingdings" pitchFamily="2" charset="2"/>
              <a:buNone/>
            </a:pP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*3 </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みずほの法人は不動産・代行・受託の合計。</a:t>
            </a: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80" name="テキスト ボックス 179">
            <a:extLst>
              <a:ext uri="{FF2B5EF4-FFF2-40B4-BE49-F238E27FC236}">
                <a16:creationId xmlns:a16="http://schemas.microsoft.com/office/drawing/2014/main" id="{99899DAC-910B-49B4-98F4-F8873F5C68EB}"/>
              </a:ext>
            </a:extLst>
          </p:cNvPr>
          <p:cNvSpPr txBox="1"/>
          <p:nvPr/>
        </p:nvSpPr>
        <p:spPr bwMode="gray">
          <a:xfrm>
            <a:off x="238712" y="6489395"/>
            <a:ext cx="6261279" cy="12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t">
            <a:spAutoFit/>
          </a:bodyPr>
          <a:lstStyle/>
          <a:p>
            <a:pPr marL="0" indent="0" algn="l">
              <a:buClrTx/>
              <a:buFont typeface="Wingdings" pitchFamily="2" charset="2"/>
              <a:buNone/>
            </a:pPr>
            <a:r>
              <a:rPr kumimoji="1" lang="ja-JP" altLang="en-US" sz="600" b="0" dirty="0">
                <a:latin typeface="Meiryo UI" panose="020B0604030504040204" pitchFamily="50" charset="-128"/>
                <a:ea typeface="Meiryo UI" panose="020B0604030504040204" pitchFamily="50" charset="-128"/>
                <a:cs typeface="Meiryo UI" panose="020B0604030504040204" pitchFamily="50" charset="-128"/>
              </a:rPr>
              <a:t>出典：各社のディスクロージャー資料</a:t>
            </a:r>
          </a:p>
        </p:txBody>
      </p:sp>
      <p:sp>
        <p:nvSpPr>
          <p:cNvPr id="4" name="テキスト ボックス 3">
            <a:extLst>
              <a:ext uri="{FF2B5EF4-FFF2-40B4-BE49-F238E27FC236}">
                <a16:creationId xmlns:a16="http://schemas.microsoft.com/office/drawing/2014/main" id="{52EDB318-FA01-48B7-AA84-A8108F3F62F4}"/>
              </a:ext>
            </a:extLst>
          </p:cNvPr>
          <p:cNvSpPr txBox="1"/>
          <p:nvPr/>
        </p:nvSpPr>
        <p:spPr bwMode="gray">
          <a:xfrm>
            <a:off x="8684839" y="2078769"/>
            <a:ext cx="846276" cy="18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ctr">
              <a:buClrTx/>
              <a:buFont typeface="Wingdings" pitchFamily="2" charset="2"/>
              <a:buNone/>
            </a:pPr>
            <a:r>
              <a:rPr kumimoji="1" lang="ja-JP" altLang="en-US" sz="900">
                <a:latin typeface="Meiryo UI" panose="020B0604030504040204" pitchFamily="50" charset="-128"/>
                <a:ea typeface="Meiryo UI" panose="020B0604030504040204" pitchFamily="50" charset="-128"/>
                <a:cs typeface="Meiryo UI" panose="020B0604030504040204" pitchFamily="50" charset="-128"/>
              </a:rPr>
              <a:t>単位：億円</a:t>
            </a:r>
            <a:endParaRPr kumimoji="1" lang="ja-JP" altLang="en-US" sz="900" b="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7" name="直線コネクタ 16">
            <a:extLst>
              <a:ext uri="{FF2B5EF4-FFF2-40B4-BE49-F238E27FC236}">
                <a16:creationId xmlns:a16="http://schemas.microsoft.com/office/drawing/2014/main" id="{8884DC0A-E005-4E2D-B283-AD906EB5FCE0}"/>
              </a:ext>
            </a:extLst>
          </p:cNvPr>
          <p:cNvCxnSpPr/>
          <p:nvPr/>
        </p:nvCxnSpPr>
        <p:spPr bwMode="gray">
          <a:xfrm>
            <a:off x="238713" y="2261933"/>
            <a:ext cx="92052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90" name="テキスト ボックス 189">
            <a:extLst>
              <a:ext uri="{FF2B5EF4-FFF2-40B4-BE49-F238E27FC236}">
                <a16:creationId xmlns:a16="http://schemas.microsoft.com/office/drawing/2014/main" id="{9331773B-97DA-43E2-B76E-4D9114B16330}"/>
              </a:ext>
            </a:extLst>
          </p:cNvPr>
          <p:cNvSpPr txBox="1"/>
          <p:nvPr/>
        </p:nvSpPr>
        <p:spPr bwMode="gray">
          <a:xfrm>
            <a:off x="238713" y="2035105"/>
            <a:ext cx="9205200" cy="22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t">
            <a:spAutoFit/>
          </a:bodyPr>
          <a:lstStyle/>
          <a:p>
            <a:pPr marL="0" indent="0">
              <a:buClrTx/>
              <a:buFont typeface="Wingdings" pitchFamily="2" charset="2"/>
              <a:buNone/>
            </a:pP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部門毎の業務粗利、業務純益</a:t>
            </a:r>
            <a:r>
              <a:rPr kumimoji="1" lang="ja-JP" altLang="en-US" baseline="300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baseline="30000" dirty="0">
                <a:latin typeface="Meiryo UI" panose="020B0604030504040204" pitchFamily="50" charset="-128"/>
                <a:ea typeface="Meiryo UI" panose="020B0604030504040204" pitchFamily="50" charset="-128"/>
                <a:cs typeface="Meiryo UI" panose="020B0604030504040204" pitchFamily="50" charset="-128"/>
              </a:rPr>
              <a:t>1</a:t>
            </a:r>
            <a:endParaRPr kumimoji="1" lang="en-US" altLang="ja-JP" b="0" baseline="30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89" name="直線コネクタ 288">
            <a:extLst>
              <a:ext uri="{FF2B5EF4-FFF2-40B4-BE49-F238E27FC236}">
                <a16:creationId xmlns:a16="http://schemas.microsoft.com/office/drawing/2014/main" id="{60AD6C83-23D6-4477-8BF6-878E0F3C1DAD}"/>
              </a:ext>
            </a:extLst>
          </p:cNvPr>
          <p:cNvCxnSpPr>
            <a:cxnSpLocks/>
          </p:cNvCxnSpPr>
          <p:nvPr/>
        </p:nvCxnSpPr>
        <p:spPr bwMode="gray">
          <a:xfrm flipH="1">
            <a:off x="1042167" y="4186221"/>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0" name="直線コネクタ 289">
            <a:extLst>
              <a:ext uri="{FF2B5EF4-FFF2-40B4-BE49-F238E27FC236}">
                <a16:creationId xmlns:a16="http://schemas.microsoft.com/office/drawing/2014/main" id="{C6A98F89-69A3-42BA-91AA-EC198A9F42FC}"/>
              </a:ext>
            </a:extLst>
          </p:cNvPr>
          <p:cNvCxnSpPr>
            <a:cxnSpLocks/>
          </p:cNvCxnSpPr>
          <p:nvPr/>
        </p:nvCxnSpPr>
        <p:spPr bwMode="gray">
          <a:xfrm flipH="1">
            <a:off x="1042167" y="4436438"/>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1" name="直線コネクタ 290">
            <a:extLst>
              <a:ext uri="{FF2B5EF4-FFF2-40B4-BE49-F238E27FC236}">
                <a16:creationId xmlns:a16="http://schemas.microsoft.com/office/drawing/2014/main" id="{98751A54-439B-4312-947E-915EE8F954E1}"/>
              </a:ext>
            </a:extLst>
          </p:cNvPr>
          <p:cNvCxnSpPr>
            <a:cxnSpLocks/>
          </p:cNvCxnSpPr>
          <p:nvPr/>
        </p:nvCxnSpPr>
        <p:spPr bwMode="gray">
          <a:xfrm flipH="1">
            <a:off x="1042167" y="4686652"/>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2" name="直線コネクタ 291">
            <a:extLst>
              <a:ext uri="{FF2B5EF4-FFF2-40B4-BE49-F238E27FC236}">
                <a16:creationId xmlns:a16="http://schemas.microsoft.com/office/drawing/2014/main" id="{E2F42DF6-F797-423F-81E8-3F517D141AF9}"/>
              </a:ext>
            </a:extLst>
          </p:cNvPr>
          <p:cNvCxnSpPr>
            <a:cxnSpLocks/>
          </p:cNvCxnSpPr>
          <p:nvPr/>
        </p:nvCxnSpPr>
        <p:spPr bwMode="gray">
          <a:xfrm flipH="1">
            <a:off x="1042167" y="4936869"/>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3" name="直線コネクタ 292">
            <a:extLst>
              <a:ext uri="{FF2B5EF4-FFF2-40B4-BE49-F238E27FC236}">
                <a16:creationId xmlns:a16="http://schemas.microsoft.com/office/drawing/2014/main" id="{044C6E6A-5F97-4C17-AF51-2CF977BE1B7B}"/>
              </a:ext>
            </a:extLst>
          </p:cNvPr>
          <p:cNvCxnSpPr>
            <a:cxnSpLocks/>
          </p:cNvCxnSpPr>
          <p:nvPr/>
        </p:nvCxnSpPr>
        <p:spPr bwMode="gray">
          <a:xfrm flipH="1">
            <a:off x="1042167" y="5437299"/>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4" name="直線コネクタ 293">
            <a:extLst>
              <a:ext uri="{FF2B5EF4-FFF2-40B4-BE49-F238E27FC236}">
                <a16:creationId xmlns:a16="http://schemas.microsoft.com/office/drawing/2014/main" id="{3F12214A-66A0-41FF-9F3E-F6F673D94688}"/>
              </a:ext>
            </a:extLst>
          </p:cNvPr>
          <p:cNvCxnSpPr>
            <a:cxnSpLocks/>
          </p:cNvCxnSpPr>
          <p:nvPr/>
        </p:nvCxnSpPr>
        <p:spPr bwMode="gray">
          <a:xfrm flipH="1">
            <a:off x="1042167" y="5937730"/>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5" name="直線コネクタ 294">
            <a:extLst>
              <a:ext uri="{FF2B5EF4-FFF2-40B4-BE49-F238E27FC236}">
                <a16:creationId xmlns:a16="http://schemas.microsoft.com/office/drawing/2014/main" id="{6D609344-A887-424F-AA4E-AC8E8BFAE98C}"/>
              </a:ext>
            </a:extLst>
          </p:cNvPr>
          <p:cNvCxnSpPr>
            <a:cxnSpLocks/>
          </p:cNvCxnSpPr>
          <p:nvPr/>
        </p:nvCxnSpPr>
        <p:spPr bwMode="gray">
          <a:xfrm flipH="1">
            <a:off x="1042167" y="6187945"/>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7" name="直線コネクタ 296">
            <a:extLst>
              <a:ext uri="{FF2B5EF4-FFF2-40B4-BE49-F238E27FC236}">
                <a16:creationId xmlns:a16="http://schemas.microsoft.com/office/drawing/2014/main" id="{A6AFF8E7-61CD-427B-AB3F-32A7B5DF8924}"/>
              </a:ext>
            </a:extLst>
          </p:cNvPr>
          <p:cNvCxnSpPr>
            <a:cxnSpLocks/>
          </p:cNvCxnSpPr>
          <p:nvPr/>
        </p:nvCxnSpPr>
        <p:spPr bwMode="gray">
          <a:xfrm flipH="1">
            <a:off x="1042167" y="5687515"/>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cxnSp>
        <p:nvCxnSpPr>
          <p:cNvPr id="298" name="直線コネクタ 297">
            <a:extLst>
              <a:ext uri="{FF2B5EF4-FFF2-40B4-BE49-F238E27FC236}">
                <a16:creationId xmlns:a16="http://schemas.microsoft.com/office/drawing/2014/main" id="{F610EA4D-880E-4CE7-B742-66F53DCF1168}"/>
              </a:ext>
            </a:extLst>
          </p:cNvPr>
          <p:cNvCxnSpPr>
            <a:cxnSpLocks/>
          </p:cNvCxnSpPr>
          <p:nvPr/>
        </p:nvCxnSpPr>
        <p:spPr bwMode="gray">
          <a:xfrm flipH="1">
            <a:off x="1042167" y="5187085"/>
            <a:ext cx="8496000" cy="0"/>
          </a:xfrm>
          <a:prstGeom prst="line">
            <a:avLst/>
          </a:prstGeom>
          <a:noFill/>
          <a:ln w="9525" algn="ctr">
            <a:solidFill>
              <a:schemeClr val="bg1">
                <a:lumMod val="75000"/>
              </a:schemeClr>
            </a:solidFill>
            <a:prstDash val="dash"/>
            <a:round/>
            <a:headEnd/>
            <a:tailEnd/>
          </a:ln>
          <a:extLst>
            <a:ext uri="{909E8E84-426E-40DD-AFC4-6F175D3DCCD1}">
              <a14:hiddenFill xmlns:a14="http://schemas.microsoft.com/office/drawing/2010/main">
                <a:noFill/>
              </a14:hiddenFill>
            </a:ext>
          </a:extLst>
        </p:spPr>
      </p:cxnSp>
      <p:sp>
        <p:nvSpPr>
          <p:cNvPr id="157" name="正方形/長方形 156">
            <a:extLst>
              <a:ext uri="{FF2B5EF4-FFF2-40B4-BE49-F238E27FC236}">
                <a16:creationId xmlns:a16="http://schemas.microsoft.com/office/drawing/2014/main" id="{20A40326-2D31-45DB-AFFF-563685538807}"/>
              </a:ext>
            </a:extLst>
          </p:cNvPr>
          <p:cNvSpPr/>
          <p:nvPr/>
        </p:nvSpPr>
        <p:spPr bwMode="gray">
          <a:xfrm>
            <a:off x="3844930" y="3936477"/>
            <a:ext cx="342883" cy="246216"/>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2,856</a:t>
            </a:r>
            <a:endPar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(41.3%)</a:t>
            </a:r>
          </a:p>
        </p:txBody>
      </p:sp>
      <p:sp>
        <p:nvSpPr>
          <p:cNvPr id="35" name="正方形/長方形 34">
            <a:extLst>
              <a:ext uri="{FF2B5EF4-FFF2-40B4-BE49-F238E27FC236}">
                <a16:creationId xmlns:a16="http://schemas.microsoft.com/office/drawing/2014/main" id="{3A5391B6-D4A9-4D0E-8FA4-7B1C49777162}"/>
              </a:ext>
            </a:extLst>
          </p:cNvPr>
          <p:cNvSpPr/>
          <p:nvPr/>
        </p:nvSpPr>
        <p:spPr bwMode="gray">
          <a:xfrm>
            <a:off x="2811549" y="3936477"/>
            <a:ext cx="136447" cy="250168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正方形/長方形 61">
            <a:extLst>
              <a:ext uri="{FF2B5EF4-FFF2-40B4-BE49-F238E27FC236}">
                <a16:creationId xmlns:a16="http://schemas.microsoft.com/office/drawing/2014/main" id="{F57D5658-DFFB-4949-B602-3F486D0C3E55}"/>
              </a:ext>
            </a:extLst>
          </p:cNvPr>
          <p:cNvSpPr/>
          <p:nvPr/>
        </p:nvSpPr>
        <p:spPr bwMode="gray">
          <a:xfrm>
            <a:off x="1139104" y="3936477"/>
            <a:ext cx="752405" cy="250168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正方形/長方形 62">
            <a:extLst>
              <a:ext uri="{FF2B5EF4-FFF2-40B4-BE49-F238E27FC236}">
                <a16:creationId xmlns:a16="http://schemas.microsoft.com/office/drawing/2014/main" id="{4176C5D2-8C23-41A9-8B14-2371EBE0921B}"/>
              </a:ext>
            </a:extLst>
          </p:cNvPr>
          <p:cNvSpPr/>
          <p:nvPr/>
        </p:nvSpPr>
        <p:spPr bwMode="gray">
          <a:xfrm>
            <a:off x="1891509" y="3936477"/>
            <a:ext cx="713420" cy="250168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正方形/長方形 64">
            <a:extLst>
              <a:ext uri="{FF2B5EF4-FFF2-40B4-BE49-F238E27FC236}">
                <a16:creationId xmlns:a16="http://schemas.microsoft.com/office/drawing/2014/main" id="{CE0E6ABB-0390-491D-8216-01F7CEDE5072}"/>
              </a:ext>
            </a:extLst>
          </p:cNvPr>
          <p:cNvSpPr/>
          <p:nvPr/>
        </p:nvSpPr>
        <p:spPr bwMode="gray">
          <a:xfrm>
            <a:off x="2604929" y="3936477"/>
            <a:ext cx="206620" cy="250168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1" name="正方形/長方形 70">
            <a:extLst>
              <a:ext uri="{FF2B5EF4-FFF2-40B4-BE49-F238E27FC236}">
                <a16:creationId xmlns:a16="http://schemas.microsoft.com/office/drawing/2014/main" id="{893258DF-7435-4D4A-A69F-CEA728AC4548}"/>
              </a:ext>
            </a:extLst>
          </p:cNvPr>
          <p:cNvSpPr/>
          <p:nvPr/>
        </p:nvSpPr>
        <p:spPr bwMode="gray">
          <a:xfrm>
            <a:off x="2947997" y="3936477"/>
            <a:ext cx="658843" cy="250168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3" name="正方形/長方形 72">
            <a:extLst>
              <a:ext uri="{FF2B5EF4-FFF2-40B4-BE49-F238E27FC236}">
                <a16:creationId xmlns:a16="http://schemas.microsoft.com/office/drawing/2014/main" id="{D738B970-20E3-45D8-8215-0C6992B2DF9E}"/>
              </a:ext>
            </a:extLst>
          </p:cNvPr>
          <p:cNvSpPr/>
          <p:nvPr/>
        </p:nvSpPr>
        <p:spPr bwMode="gray">
          <a:xfrm>
            <a:off x="3606837" y="3936477"/>
            <a:ext cx="210518" cy="250168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84" name="正方形/長方形 83">
            <a:extLst>
              <a:ext uri="{FF2B5EF4-FFF2-40B4-BE49-F238E27FC236}">
                <a16:creationId xmlns:a16="http://schemas.microsoft.com/office/drawing/2014/main" id="{60104A2C-1560-436C-814F-3ABB4F306E2F}"/>
              </a:ext>
            </a:extLst>
          </p:cNvPr>
          <p:cNvSpPr/>
          <p:nvPr/>
        </p:nvSpPr>
        <p:spPr bwMode="gray">
          <a:xfrm>
            <a:off x="1139106" y="3936477"/>
            <a:ext cx="751782" cy="302704"/>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234</a:t>
            </a:r>
          </a:p>
          <a:p>
            <a:pPr marL="0" marR="0" indent="0" defTabSz="914400" rtl="0" eaLnBrk="1" fontAlgn="base" latinLnBrk="0" hangingPunct="1">
              <a:lnSpc>
                <a:spcPct val="100000"/>
              </a:lnSpc>
              <a:spcBef>
                <a:spcPts val="0"/>
              </a:spcBef>
              <a:spcAft>
                <a:spcPct val="0"/>
              </a:spcAft>
              <a:buClr>
                <a:schemeClr val="tx1"/>
              </a:buClr>
              <a:buSzTx/>
              <a:tabLst/>
            </a:pPr>
            <a:r>
              <a:rPr kumimoji="0" lang="en-US" altLang="ja-JP" sz="7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(12.1%)</a:t>
            </a:r>
            <a:endParaRPr kumimoji="0" lang="ja-JP" altLang="en-US" sz="7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85" name="正方形/長方形 84">
            <a:extLst>
              <a:ext uri="{FF2B5EF4-FFF2-40B4-BE49-F238E27FC236}">
                <a16:creationId xmlns:a16="http://schemas.microsoft.com/office/drawing/2014/main" id="{F0D147CA-9374-4BA4-A619-084BFD07BC6E}"/>
              </a:ext>
            </a:extLst>
          </p:cNvPr>
          <p:cNvSpPr/>
          <p:nvPr/>
        </p:nvSpPr>
        <p:spPr bwMode="gray">
          <a:xfrm>
            <a:off x="1891512" y="3936477"/>
            <a:ext cx="713420" cy="1591071"/>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1,166</a:t>
            </a: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(63.6%)</a:t>
            </a:r>
            <a:endParaRPr kumimoji="0"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83" name="正方形/長方形 82">
            <a:extLst>
              <a:ext uri="{FF2B5EF4-FFF2-40B4-BE49-F238E27FC236}">
                <a16:creationId xmlns:a16="http://schemas.microsoft.com/office/drawing/2014/main" id="{A260B840-7DA9-47B7-A715-B0CB757DE8CC}"/>
              </a:ext>
            </a:extLst>
          </p:cNvPr>
          <p:cNvSpPr/>
          <p:nvPr/>
        </p:nvSpPr>
        <p:spPr bwMode="gray">
          <a:xfrm>
            <a:off x="2604932" y="3936477"/>
            <a:ext cx="206620" cy="1385933"/>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298</a:t>
            </a:r>
          </a:p>
          <a:p>
            <a:pPr marL="0" marR="0" indent="0"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(55.4%)</a:t>
            </a:r>
            <a:endParaRPr kumimoji="0"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9" name="正方形/長方形 78">
            <a:extLst>
              <a:ext uri="{FF2B5EF4-FFF2-40B4-BE49-F238E27FC236}">
                <a16:creationId xmlns:a16="http://schemas.microsoft.com/office/drawing/2014/main" id="{8696EA16-3BD1-49D0-A15A-3F86B7B0F1E9}"/>
              </a:ext>
            </a:extLst>
          </p:cNvPr>
          <p:cNvSpPr/>
          <p:nvPr/>
        </p:nvSpPr>
        <p:spPr bwMode="gray">
          <a:xfrm>
            <a:off x="2947998" y="3936477"/>
            <a:ext cx="658843" cy="870586"/>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591</a:t>
            </a: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(34.8%)</a:t>
            </a:r>
            <a:endParaRPr kumimoji="0"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7" name="正方形/長方形 76">
            <a:extLst>
              <a:ext uri="{FF2B5EF4-FFF2-40B4-BE49-F238E27FC236}">
                <a16:creationId xmlns:a16="http://schemas.microsoft.com/office/drawing/2014/main" id="{285BE2E6-0CFB-49EA-B7BE-B6DBC0239DB1}"/>
              </a:ext>
            </a:extLst>
          </p:cNvPr>
          <p:cNvSpPr/>
          <p:nvPr/>
        </p:nvSpPr>
        <p:spPr bwMode="gray">
          <a:xfrm>
            <a:off x="3606840" y="3936477"/>
            <a:ext cx="210517" cy="1806215"/>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en-US" altLang="ja-JP" sz="700" b="0" i="0"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rPr>
              <a:t>393</a:t>
            </a: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(72.2%)</a:t>
            </a:r>
            <a:endParaRPr kumimoji="0" lang="ja-JP" altLang="en-US" sz="700" b="1"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正方形/長方形 79">
            <a:extLst>
              <a:ext uri="{FF2B5EF4-FFF2-40B4-BE49-F238E27FC236}">
                <a16:creationId xmlns:a16="http://schemas.microsoft.com/office/drawing/2014/main" id="{7332CB9D-0CA3-4995-9077-ED32376AF686}"/>
              </a:ext>
            </a:extLst>
          </p:cNvPr>
          <p:cNvSpPr/>
          <p:nvPr/>
        </p:nvSpPr>
        <p:spPr bwMode="gray">
          <a:xfrm>
            <a:off x="2811551" y="3936477"/>
            <a:ext cx="136447" cy="1213315"/>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174</a:t>
            </a:r>
          </a:p>
          <a:p>
            <a:pPr marL="0" marR="0" indent="0" algn="l"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(48.5%)</a:t>
            </a:r>
            <a:endParaRPr kumimoji="0"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60" name="正方形/長方形 159">
            <a:extLst>
              <a:ext uri="{FF2B5EF4-FFF2-40B4-BE49-F238E27FC236}">
                <a16:creationId xmlns:a16="http://schemas.microsoft.com/office/drawing/2014/main" id="{1EE1526F-2CD8-4094-A413-C2A52C6F61B5}"/>
              </a:ext>
            </a:extLst>
          </p:cNvPr>
          <p:cNvSpPr/>
          <p:nvPr/>
        </p:nvSpPr>
        <p:spPr bwMode="gray">
          <a:xfrm>
            <a:off x="8025574" y="3936477"/>
            <a:ext cx="342883" cy="246216"/>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1,482</a:t>
            </a:r>
          </a:p>
          <a:p>
            <a:pPr marL="0" marR="0" indent="0"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(41.0%)</a:t>
            </a:r>
          </a:p>
        </p:txBody>
      </p:sp>
      <p:sp>
        <p:nvSpPr>
          <p:cNvPr id="36" name="正方形/長方形 35">
            <a:extLst>
              <a:ext uri="{FF2B5EF4-FFF2-40B4-BE49-F238E27FC236}">
                <a16:creationId xmlns:a16="http://schemas.microsoft.com/office/drawing/2014/main" id="{E42F00E8-84D8-4631-9DDD-751FCFC04BA4}"/>
              </a:ext>
            </a:extLst>
          </p:cNvPr>
          <p:cNvSpPr/>
          <p:nvPr/>
        </p:nvSpPr>
        <p:spPr bwMode="gray">
          <a:xfrm>
            <a:off x="6597651" y="3936822"/>
            <a:ext cx="458527" cy="2501339"/>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8" name="正方形/長方形 107">
            <a:extLst>
              <a:ext uri="{FF2B5EF4-FFF2-40B4-BE49-F238E27FC236}">
                <a16:creationId xmlns:a16="http://schemas.microsoft.com/office/drawing/2014/main" id="{52087CB5-2642-4C84-B09A-AD20DBF5C685}"/>
              </a:ext>
            </a:extLst>
          </p:cNvPr>
          <p:cNvSpPr/>
          <p:nvPr/>
        </p:nvSpPr>
        <p:spPr bwMode="gray">
          <a:xfrm>
            <a:off x="7056179" y="3936822"/>
            <a:ext cx="784934" cy="2501339"/>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9" name="正方形/長方形 108">
            <a:extLst>
              <a:ext uri="{FF2B5EF4-FFF2-40B4-BE49-F238E27FC236}">
                <a16:creationId xmlns:a16="http://schemas.microsoft.com/office/drawing/2014/main" id="{D20C178B-2077-4DC2-8971-449397367763}"/>
              </a:ext>
            </a:extLst>
          </p:cNvPr>
          <p:cNvSpPr/>
          <p:nvPr/>
        </p:nvSpPr>
        <p:spPr bwMode="gray">
          <a:xfrm>
            <a:off x="7841114" y="3936822"/>
            <a:ext cx="155433" cy="2501339"/>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14" name="正方形/長方形 113">
            <a:extLst>
              <a:ext uri="{FF2B5EF4-FFF2-40B4-BE49-F238E27FC236}">
                <a16:creationId xmlns:a16="http://schemas.microsoft.com/office/drawing/2014/main" id="{0D1B2F4D-45D0-4417-8DE7-787713ABF817}"/>
              </a:ext>
            </a:extLst>
          </p:cNvPr>
          <p:cNvSpPr/>
          <p:nvPr/>
        </p:nvSpPr>
        <p:spPr bwMode="gray">
          <a:xfrm>
            <a:off x="6597653" y="3936477"/>
            <a:ext cx="458487" cy="447738"/>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211</a:t>
            </a:r>
          </a:p>
          <a:p>
            <a:pPr marL="0" marR="0" indent="0" algn="r" defTabSz="914400" rtl="0" eaLnBrk="1" fontAlgn="base" latinLnBrk="0" hangingPunct="1">
              <a:lnSpc>
                <a:spcPct val="100000"/>
              </a:lnSpc>
              <a:spcBef>
                <a:spcPts val="0"/>
              </a:spcBef>
              <a:spcAft>
                <a:spcPct val="0"/>
              </a:spcAft>
              <a:buClr>
                <a:schemeClr val="tx1"/>
              </a:buClr>
              <a:buSzTx/>
              <a:tabLst/>
            </a:pPr>
            <a:r>
              <a:rPr lang="en-US" altLang="ja-JP" sz="7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(17.9%)</a:t>
            </a:r>
          </a:p>
        </p:txBody>
      </p:sp>
      <p:sp>
        <p:nvSpPr>
          <p:cNvPr id="115" name="正方形/長方形 114">
            <a:extLst>
              <a:ext uri="{FF2B5EF4-FFF2-40B4-BE49-F238E27FC236}">
                <a16:creationId xmlns:a16="http://schemas.microsoft.com/office/drawing/2014/main" id="{40EA7D26-C603-495D-B954-B7CE3D34D8B9}"/>
              </a:ext>
            </a:extLst>
          </p:cNvPr>
          <p:cNvSpPr/>
          <p:nvPr/>
        </p:nvSpPr>
        <p:spPr bwMode="gray">
          <a:xfrm>
            <a:off x="7056179" y="3936477"/>
            <a:ext cx="785494" cy="1163122"/>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942</a:t>
            </a: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(46.5%)</a:t>
            </a:r>
          </a:p>
        </p:txBody>
      </p:sp>
      <p:sp>
        <p:nvSpPr>
          <p:cNvPr id="113" name="正方形/長方形 112">
            <a:extLst>
              <a:ext uri="{FF2B5EF4-FFF2-40B4-BE49-F238E27FC236}">
                <a16:creationId xmlns:a16="http://schemas.microsoft.com/office/drawing/2014/main" id="{3C5F39AE-527C-4900-9E54-925720BC0BFB}"/>
              </a:ext>
            </a:extLst>
          </p:cNvPr>
          <p:cNvSpPr/>
          <p:nvPr/>
        </p:nvSpPr>
        <p:spPr bwMode="gray">
          <a:xfrm>
            <a:off x="7841114" y="3936477"/>
            <a:ext cx="155077" cy="2011076"/>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
                <a:schemeClr val="tx1"/>
              </a:buClr>
              <a:buSzTx/>
              <a:tabLst/>
            </a:pPr>
            <a:r>
              <a:rPr lang="en-US" altLang="ja-JP" sz="8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327</a:t>
            </a:r>
            <a:br>
              <a:rPr lang="en-US" altLang="ja-JP" sz="8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br>
            <a:r>
              <a:rPr lang="en-US" altLang="ja-JP" sz="7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(80.4%)</a:t>
            </a:r>
          </a:p>
        </p:txBody>
      </p:sp>
      <p:sp>
        <p:nvSpPr>
          <p:cNvPr id="159" name="正方形/長方形 158">
            <a:extLst>
              <a:ext uri="{FF2B5EF4-FFF2-40B4-BE49-F238E27FC236}">
                <a16:creationId xmlns:a16="http://schemas.microsoft.com/office/drawing/2014/main" id="{0376E2EA-60FC-4CE1-BF42-9444DD8EAAFE}"/>
              </a:ext>
            </a:extLst>
          </p:cNvPr>
          <p:cNvSpPr/>
          <p:nvPr/>
        </p:nvSpPr>
        <p:spPr bwMode="gray">
          <a:xfrm>
            <a:off x="9100170" y="3936477"/>
            <a:ext cx="342883" cy="246216"/>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495</a:t>
            </a:r>
          </a:p>
          <a:p>
            <a:pPr marL="0" marR="0" indent="0"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(35.6%)</a:t>
            </a:r>
          </a:p>
        </p:txBody>
      </p:sp>
      <p:sp>
        <p:nvSpPr>
          <p:cNvPr id="100" name="正方形/長方形 99">
            <a:extLst>
              <a:ext uri="{FF2B5EF4-FFF2-40B4-BE49-F238E27FC236}">
                <a16:creationId xmlns:a16="http://schemas.microsoft.com/office/drawing/2014/main" id="{9BA83A9B-1809-4153-AF14-53C1EFCC049E}"/>
              </a:ext>
            </a:extLst>
          </p:cNvPr>
          <p:cNvSpPr/>
          <p:nvPr/>
        </p:nvSpPr>
        <p:spPr bwMode="gray">
          <a:xfrm>
            <a:off x="8533153" y="3801386"/>
            <a:ext cx="206620" cy="135090"/>
          </a:xfrm>
          <a:prstGeom prst="rect">
            <a:avLst/>
          </a:prstGeom>
          <a:solidFill>
            <a:schemeClr val="bg1">
              <a:lumMod val="5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8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29</a:t>
            </a:r>
            <a:endParaRPr kumimoji="0" lang="ja-JP" altLang="en-US" sz="8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9" name="正方形/長方形 68">
            <a:extLst>
              <a:ext uri="{FF2B5EF4-FFF2-40B4-BE49-F238E27FC236}">
                <a16:creationId xmlns:a16="http://schemas.microsoft.com/office/drawing/2014/main" id="{61F55D0C-DF40-4483-BBDB-4CD026151D70}"/>
              </a:ext>
            </a:extLst>
          </p:cNvPr>
          <p:cNvSpPr/>
          <p:nvPr/>
        </p:nvSpPr>
        <p:spPr bwMode="gray">
          <a:xfrm>
            <a:off x="9004868" y="3936477"/>
            <a:ext cx="66275"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87" name="正方形/長方形 86">
            <a:extLst>
              <a:ext uri="{FF2B5EF4-FFF2-40B4-BE49-F238E27FC236}">
                <a16:creationId xmlns:a16="http://schemas.microsoft.com/office/drawing/2014/main" id="{021F9630-5142-4A3F-B2AB-374D25926AB7}"/>
              </a:ext>
            </a:extLst>
          </p:cNvPr>
          <p:cNvSpPr/>
          <p:nvPr/>
        </p:nvSpPr>
        <p:spPr bwMode="gray">
          <a:xfrm>
            <a:off x="8533153" y="3936477"/>
            <a:ext cx="205644"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88" name="正方形/長方形 87">
            <a:extLst>
              <a:ext uri="{FF2B5EF4-FFF2-40B4-BE49-F238E27FC236}">
                <a16:creationId xmlns:a16="http://schemas.microsoft.com/office/drawing/2014/main" id="{ACC78A3F-A488-45FE-8612-537CDBCF36A9}"/>
              </a:ext>
            </a:extLst>
          </p:cNvPr>
          <p:cNvSpPr/>
          <p:nvPr/>
        </p:nvSpPr>
        <p:spPr bwMode="gray">
          <a:xfrm>
            <a:off x="8738796" y="3936477"/>
            <a:ext cx="265096"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1" name="正方形/長方形 100">
            <a:extLst>
              <a:ext uri="{FF2B5EF4-FFF2-40B4-BE49-F238E27FC236}">
                <a16:creationId xmlns:a16="http://schemas.microsoft.com/office/drawing/2014/main" id="{5DC6432E-4B61-4859-A091-83D7AFCBC08A}"/>
              </a:ext>
            </a:extLst>
          </p:cNvPr>
          <p:cNvSpPr/>
          <p:nvPr/>
        </p:nvSpPr>
        <p:spPr bwMode="gray">
          <a:xfrm>
            <a:off x="8738796" y="3936476"/>
            <a:ext cx="266326" cy="1496007"/>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407</a:t>
            </a:r>
          </a:p>
          <a:p>
            <a:pPr marL="0" marR="0" indent="0" algn="r"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(59.8%)</a:t>
            </a:r>
          </a:p>
        </p:txBody>
      </p:sp>
      <p:sp>
        <p:nvSpPr>
          <p:cNvPr id="98" name="正方形/長方形 97">
            <a:extLst>
              <a:ext uri="{FF2B5EF4-FFF2-40B4-BE49-F238E27FC236}">
                <a16:creationId xmlns:a16="http://schemas.microsoft.com/office/drawing/2014/main" id="{2BCBBEB1-E955-4266-9CE7-FB22284FAF44}"/>
              </a:ext>
            </a:extLst>
          </p:cNvPr>
          <p:cNvSpPr/>
          <p:nvPr/>
        </p:nvSpPr>
        <p:spPr bwMode="gray">
          <a:xfrm>
            <a:off x="9004868" y="3936476"/>
            <a:ext cx="67424" cy="1673627"/>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r>
              <a:rPr lang="en-US" altLang="ja-JP" sz="8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117</a:t>
            </a:r>
          </a:p>
          <a:p>
            <a:pPr marL="0" marR="0" indent="0" algn="l" defTabSz="914400" rtl="0" eaLnBrk="1" fontAlgn="base" latinLnBrk="0" hangingPunct="1">
              <a:lnSpc>
                <a:spcPct val="100000"/>
              </a:lnSpc>
              <a:spcBef>
                <a:spcPts val="0"/>
              </a:spcBef>
              <a:spcAft>
                <a:spcPct val="0"/>
              </a:spcAft>
              <a:buClr>
                <a:schemeClr val="tx1"/>
              </a:buClr>
              <a:buSzTx/>
              <a:tabLst/>
            </a:pPr>
            <a:r>
              <a:rPr kumimoji="0" lang="en-US" altLang="ja-JP" sz="700" b="1"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rPr>
              <a:t>(66.9%)</a:t>
            </a:r>
            <a:endParaRPr kumimoji="0" lang="ja-JP" altLang="en-US" sz="700" b="1"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10" name="テキスト ボックス 309">
            <a:extLst>
              <a:ext uri="{FF2B5EF4-FFF2-40B4-BE49-F238E27FC236}">
                <a16:creationId xmlns:a16="http://schemas.microsoft.com/office/drawing/2014/main" id="{EAA53B88-50C9-4B2D-AFB5-5123E43CB104}"/>
              </a:ext>
            </a:extLst>
          </p:cNvPr>
          <p:cNvSpPr txBox="1"/>
          <p:nvPr/>
        </p:nvSpPr>
        <p:spPr bwMode="gray">
          <a:xfrm>
            <a:off x="9592906" y="3782998"/>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b="0">
                <a:latin typeface="Meiryo UI" panose="020B0604030504040204" pitchFamily="50" charset="-128"/>
                <a:ea typeface="Meiryo UI" panose="020B0604030504040204" pitchFamily="50" charset="-128"/>
                <a:cs typeface="Meiryo UI" panose="020B0604030504040204" pitchFamily="50" charset="-128"/>
              </a:rPr>
              <a:t>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1" name="テキスト ボックス 310">
            <a:extLst>
              <a:ext uri="{FF2B5EF4-FFF2-40B4-BE49-F238E27FC236}">
                <a16:creationId xmlns:a16="http://schemas.microsoft.com/office/drawing/2014/main" id="{5629693B-4856-42B4-BF4D-9E177E3DF241}"/>
              </a:ext>
            </a:extLst>
          </p:cNvPr>
          <p:cNvSpPr txBox="1"/>
          <p:nvPr/>
        </p:nvSpPr>
        <p:spPr bwMode="gray">
          <a:xfrm>
            <a:off x="9592906" y="4033212"/>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b="0" dirty="0">
                <a:latin typeface="Meiryo UI" panose="020B0604030504040204" pitchFamily="50" charset="-128"/>
                <a:ea typeface="Meiryo UI" panose="020B0604030504040204" pitchFamily="50" charset="-128"/>
                <a:cs typeface="Meiryo UI" panose="020B0604030504040204" pitchFamily="50" charset="-128"/>
              </a:rPr>
              <a:t>10</a:t>
            </a:r>
            <a:endParaRPr kumimoji="1" lang="ja-JP" altLang="en-US" sz="800" b="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2" name="テキスト ボックス 311">
            <a:extLst>
              <a:ext uri="{FF2B5EF4-FFF2-40B4-BE49-F238E27FC236}">
                <a16:creationId xmlns:a16="http://schemas.microsoft.com/office/drawing/2014/main" id="{D4305A66-89ED-4CEA-87E7-CF2BB8CC1CD2}"/>
              </a:ext>
            </a:extLst>
          </p:cNvPr>
          <p:cNvSpPr txBox="1"/>
          <p:nvPr/>
        </p:nvSpPr>
        <p:spPr bwMode="gray">
          <a:xfrm>
            <a:off x="9592906" y="4533644"/>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3</a:t>
            </a:r>
            <a:r>
              <a:rPr kumimoji="1" lang="en-US" altLang="ja-JP" sz="800" b="0">
                <a:latin typeface="Meiryo UI" panose="020B0604030504040204" pitchFamily="50" charset="-128"/>
                <a:ea typeface="Meiryo UI" panose="020B0604030504040204" pitchFamily="50" charset="-128"/>
                <a:cs typeface="Meiryo UI" panose="020B0604030504040204" pitchFamily="50" charset="-128"/>
              </a:rPr>
              <a:t>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3" name="テキスト ボックス 312">
            <a:extLst>
              <a:ext uri="{FF2B5EF4-FFF2-40B4-BE49-F238E27FC236}">
                <a16:creationId xmlns:a16="http://schemas.microsoft.com/office/drawing/2014/main" id="{73796FA3-7B4F-48A1-8615-20C3F84181B1}"/>
              </a:ext>
            </a:extLst>
          </p:cNvPr>
          <p:cNvSpPr txBox="1"/>
          <p:nvPr/>
        </p:nvSpPr>
        <p:spPr bwMode="gray">
          <a:xfrm>
            <a:off x="9592906" y="4783858"/>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40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4" name="テキスト ボックス 313">
            <a:extLst>
              <a:ext uri="{FF2B5EF4-FFF2-40B4-BE49-F238E27FC236}">
                <a16:creationId xmlns:a16="http://schemas.microsoft.com/office/drawing/2014/main" id="{A5E6BC3A-C733-4B49-85BC-A07504C621CB}"/>
              </a:ext>
            </a:extLst>
          </p:cNvPr>
          <p:cNvSpPr txBox="1"/>
          <p:nvPr/>
        </p:nvSpPr>
        <p:spPr bwMode="gray">
          <a:xfrm>
            <a:off x="9592906" y="5034073"/>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50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5" name="テキスト ボックス 314">
            <a:extLst>
              <a:ext uri="{FF2B5EF4-FFF2-40B4-BE49-F238E27FC236}">
                <a16:creationId xmlns:a16="http://schemas.microsoft.com/office/drawing/2014/main" id="{94AE7427-A804-4A9D-9B0B-6A1D79736DC1}"/>
              </a:ext>
            </a:extLst>
          </p:cNvPr>
          <p:cNvSpPr txBox="1"/>
          <p:nvPr/>
        </p:nvSpPr>
        <p:spPr bwMode="gray">
          <a:xfrm>
            <a:off x="9592906" y="5284288"/>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60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6" name="テキスト ボックス 315">
            <a:extLst>
              <a:ext uri="{FF2B5EF4-FFF2-40B4-BE49-F238E27FC236}">
                <a16:creationId xmlns:a16="http://schemas.microsoft.com/office/drawing/2014/main" id="{71B85980-EFA7-417B-ABBB-4351DCB79634}"/>
              </a:ext>
            </a:extLst>
          </p:cNvPr>
          <p:cNvSpPr txBox="1"/>
          <p:nvPr/>
        </p:nvSpPr>
        <p:spPr bwMode="gray">
          <a:xfrm>
            <a:off x="9592906" y="5534503"/>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7</a:t>
            </a:r>
            <a:r>
              <a:rPr kumimoji="1" lang="en-US" altLang="ja-JP" sz="800" b="0">
                <a:latin typeface="Meiryo UI" panose="020B0604030504040204" pitchFamily="50" charset="-128"/>
                <a:ea typeface="Meiryo UI" panose="020B0604030504040204" pitchFamily="50" charset="-128"/>
                <a:cs typeface="Meiryo UI" panose="020B0604030504040204" pitchFamily="50" charset="-128"/>
              </a:rPr>
              <a:t>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7" name="テキスト ボックス 316">
            <a:extLst>
              <a:ext uri="{FF2B5EF4-FFF2-40B4-BE49-F238E27FC236}">
                <a16:creationId xmlns:a16="http://schemas.microsoft.com/office/drawing/2014/main" id="{BFF157FD-DC4F-4659-B521-4F63CA68B703}"/>
              </a:ext>
            </a:extLst>
          </p:cNvPr>
          <p:cNvSpPr txBox="1"/>
          <p:nvPr/>
        </p:nvSpPr>
        <p:spPr bwMode="gray">
          <a:xfrm>
            <a:off x="9592906" y="5784719"/>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80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8" name="テキスト ボックス 317">
            <a:extLst>
              <a:ext uri="{FF2B5EF4-FFF2-40B4-BE49-F238E27FC236}">
                <a16:creationId xmlns:a16="http://schemas.microsoft.com/office/drawing/2014/main" id="{23F13126-BCE4-4747-8848-20CF189B0A3A}"/>
              </a:ext>
            </a:extLst>
          </p:cNvPr>
          <p:cNvSpPr txBox="1"/>
          <p:nvPr/>
        </p:nvSpPr>
        <p:spPr bwMode="gray">
          <a:xfrm>
            <a:off x="9592906" y="6034934"/>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a:latin typeface="Meiryo UI" panose="020B0604030504040204" pitchFamily="50" charset="-128"/>
                <a:ea typeface="Meiryo UI" panose="020B0604030504040204" pitchFamily="50" charset="-128"/>
                <a:cs typeface="Meiryo UI" panose="020B0604030504040204" pitchFamily="50" charset="-128"/>
              </a:rPr>
              <a:t>90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19" name="テキスト ボックス 318">
            <a:extLst>
              <a:ext uri="{FF2B5EF4-FFF2-40B4-BE49-F238E27FC236}">
                <a16:creationId xmlns:a16="http://schemas.microsoft.com/office/drawing/2014/main" id="{559D8D3E-412F-4069-992F-4B86AAE08F93}"/>
              </a:ext>
            </a:extLst>
          </p:cNvPr>
          <p:cNvSpPr txBox="1"/>
          <p:nvPr/>
        </p:nvSpPr>
        <p:spPr bwMode="gray">
          <a:xfrm>
            <a:off x="9592906" y="6285152"/>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b="0">
                <a:latin typeface="Meiryo UI" panose="020B0604030504040204" pitchFamily="50" charset="-128"/>
                <a:ea typeface="Meiryo UI" panose="020B0604030504040204" pitchFamily="50" charset="-128"/>
                <a:cs typeface="Meiryo UI" panose="020B0604030504040204" pitchFamily="50" charset="-128"/>
              </a:rPr>
              <a:t>100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320" name="テキスト ボックス 319">
            <a:extLst>
              <a:ext uri="{FF2B5EF4-FFF2-40B4-BE49-F238E27FC236}">
                <a16:creationId xmlns:a16="http://schemas.microsoft.com/office/drawing/2014/main" id="{BD5CFD9F-F02B-4684-B25D-506CB5D5548A}"/>
              </a:ext>
            </a:extLst>
          </p:cNvPr>
          <p:cNvSpPr txBox="1"/>
          <p:nvPr/>
        </p:nvSpPr>
        <p:spPr bwMode="gray">
          <a:xfrm>
            <a:off x="9592906" y="4283428"/>
            <a:ext cx="259058" cy="153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l">
              <a:buClrTx/>
              <a:buFont typeface="Wingdings" pitchFamily="2" charset="2"/>
              <a:buNone/>
            </a:pPr>
            <a:r>
              <a:rPr kumimoji="1" lang="en-US" altLang="ja-JP" sz="800" b="0">
                <a:latin typeface="Meiryo UI" panose="020B0604030504040204" pitchFamily="50" charset="-128"/>
                <a:ea typeface="Meiryo UI" panose="020B0604030504040204" pitchFamily="50" charset="-128"/>
                <a:cs typeface="Meiryo UI" panose="020B0604030504040204" pitchFamily="50" charset="-128"/>
              </a:rPr>
              <a:t>20</a:t>
            </a:r>
            <a:endParaRPr kumimoji="1" lang="ja-JP" altLang="en-US" sz="800" b="0">
              <a:latin typeface="Meiryo UI" panose="020B0604030504040204" pitchFamily="50" charset="-128"/>
              <a:ea typeface="Meiryo UI" panose="020B0604030504040204" pitchFamily="50" charset="-128"/>
              <a:cs typeface="Meiryo UI" panose="020B0604030504040204" pitchFamily="50" charset="-128"/>
            </a:endParaRPr>
          </a:p>
        </p:txBody>
      </p:sp>
      <p:sp>
        <p:nvSpPr>
          <p:cNvPr id="158" name="正方形/長方形 157">
            <a:extLst>
              <a:ext uri="{FF2B5EF4-FFF2-40B4-BE49-F238E27FC236}">
                <a16:creationId xmlns:a16="http://schemas.microsoft.com/office/drawing/2014/main" id="{F6115D6D-D8F8-4287-BACD-99F8D1BEC8D3}"/>
              </a:ext>
            </a:extLst>
          </p:cNvPr>
          <p:cNvSpPr/>
          <p:nvPr/>
        </p:nvSpPr>
        <p:spPr bwMode="gray">
          <a:xfrm>
            <a:off x="6090121" y="3936477"/>
            <a:ext cx="342883" cy="246216"/>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1,963</a:t>
            </a:r>
          </a:p>
          <a:p>
            <a:pPr marL="0" marR="0" indent="0"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(44.6%)</a:t>
            </a:r>
            <a:endParaRPr kumimoji="0" lang="en-US" altLang="ja-JP"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正方形/長方形 36">
            <a:extLst>
              <a:ext uri="{FF2B5EF4-FFF2-40B4-BE49-F238E27FC236}">
                <a16:creationId xmlns:a16="http://schemas.microsoft.com/office/drawing/2014/main" id="{36051C2C-22D9-454F-80DE-EB2674250AF4}"/>
              </a:ext>
            </a:extLst>
          </p:cNvPr>
          <p:cNvSpPr/>
          <p:nvPr/>
        </p:nvSpPr>
        <p:spPr bwMode="gray">
          <a:xfrm>
            <a:off x="4353557" y="3936477"/>
            <a:ext cx="249502"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正方形/長方形 38">
            <a:extLst>
              <a:ext uri="{FF2B5EF4-FFF2-40B4-BE49-F238E27FC236}">
                <a16:creationId xmlns:a16="http://schemas.microsoft.com/office/drawing/2014/main" id="{FF3B70B5-79D9-4C47-A520-FA0FBE494389}"/>
              </a:ext>
            </a:extLst>
          </p:cNvPr>
          <p:cNvSpPr/>
          <p:nvPr/>
        </p:nvSpPr>
        <p:spPr bwMode="gray">
          <a:xfrm>
            <a:off x="4700523" y="3936477"/>
            <a:ext cx="152041"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正方形/長方形 37">
            <a:extLst>
              <a:ext uri="{FF2B5EF4-FFF2-40B4-BE49-F238E27FC236}">
                <a16:creationId xmlns:a16="http://schemas.microsoft.com/office/drawing/2014/main" id="{8FBEC951-E44F-4A57-89FC-6615D4EAFAF1}"/>
              </a:ext>
            </a:extLst>
          </p:cNvPr>
          <p:cNvSpPr/>
          <p:nvPr/>
        </p:nvSpPr>
        <p:spPr bwMode="gray">
          <a:xfrm>
            <a:off x="4603060" y="3936477"/>
            <a:ext cx="97462"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正方形/長方形 47">
            <a:extLst>
              <a:ext uri="{FF2B5EF4-FFF2-40B4-BE49-F238E27FC236}">
                <a16:creationId xmlns:a16="http://schemas.microsoft.com/office/drawing/2014/main" id="{2C6CDF03-03C5-4714-AC34-81D18F539784}"/>
              </a:ext>
            </a:extLst>
          </p:cNvPr>
          <p:cNvSpPr/>
          <p:nvPr/>
        </p:nvSpPr>
        <p:spPr bwMode="gray">
          <a:xfrm>
            <a:off x="5694633" y="3936477"/>
            <a:ext cx="366457" cy="2501683"/>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6" name="正方形/長方形 45">
            <a:extLst>
              <a:ext uri="{FF2B5EF4-FFF2-40B4-BE49-F238E27FC236}">
                <a16:creationId xmlns:a16="http://schemas.microsoft.com/office/drawing/2014/main" id="{B974C37D-BE6E-46C9-8FAC-D1AF66D165BE}"/>
              </a:ext>
            </a:extLst>
          </p:cNvPr>
          <p:cNvSpPr/>
          <p:nvPr/>
        </p:nvSpPr>
        <p:spPr bwMode="gray">
          <a:xfrm>
            <a:off x="4852563" y="3936822"/>
            <a:ext cx="843259" cy="2501339"/>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正方形/長方形 53">
            <a:extLst>
              <a:ext uri="{FF2B5EF4-FFF2-40B4-BE49-F238E27FC236}">
                <a16:creationId xmlns:a16="http://schemas.microsoft.com/office/drawing/2014/main" id="{CD124C91-C5A4-47F1-8EF5-C90F35A63300}"/>
              </a:ext>
            </a:extLst>
          </p:cNvPr>
          <p:cNvSpPr/>
          <p:nvPr/>
        </p:nvSpPr>
        <p:spPr bwMode="gray">
          <a:xfrm>
            <a:off x="4852565" y="3936477"/>
            <a:ext cx="842805" cy="1063069"/>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921</a:t>
            </a: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(42.5%)</a:t>
            </a:r>
          </a:p>
        </p:txBody>
      </p:sp>
      <p:sp>
        <p:nvSpPr>
          <p:cNvPr id="52" name="正方形/長方形 51">
            <a:extLst>
              <a:ext uri="{FF2B5EF4-FFF2-40B4-BE49-F238E27FC236}">
                <a16:creationId xmlns:a16="http://schemas.microsoft.com/office/drawing/2014/main" id="{B62CE699-C362-4D3A-A9D1-3000527FF325}"/>
              </a:ext>
            </a:extLst>
          </p:cNvPr>
          <p:cNvSpPr/>
          <p:nvPr/>
        </p:nvSpPr>
        <p:spPr bwMode="gray">
          <a:xfrm>
            <a:off x="5694635" y="3936477"/>
            <a:ext cx="367463" cy="1791206"/>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rPr>
              <a:t>676</a:t>
            </a: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(71.6%)</a:t>
            </a:r>
            <a:endParaRPr kumimoji="0" lang="ja-JP" altLang="en-US" sz="700" b="1"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EC091C78-6FD6-4568-90FE-2A48B2AED3D1}"/>
              </a:ext>
            </a:extLst>
          </p:cNvPr>
          <p:cNvSpPr/>
          <p:nvPr/>
        </p:nvSpPr>
        <p:spPr bwMode="gray">
          <a:xfrm>
            <a:off x="4700861" y="3936477"/>
            <a:ext cx="151705" cy="1548545"/>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245</a:t>
            </a:r>
          </a:p>
          <a:p>
            <a:pPr marL="0" marR="0" indent="0" defTabSz="914400" rtl="0" eaLnBrk="1" fontAlgn="base" latinLnBrk="0" hangingPunct="1">
              <a:lnSpc>
                <a:spcPct val="100000"/>
              </a:lnSpc>
              <a:spcBef>
                <a:spcPts val="0"/>
              </a:spcBef>
              <a:spcAft>
                <a:spcPct val="0"/>
              </a:spcAft>
              <a:buClr>
                <a:schemeClr val="tx1"/>
              </a:buClr>
              <a:buSzTx/>
              <a:tabLst/>
            </a:pPr>
            <a:r>
              <a:rPr lang="en-US" altLang="ja-JP" sz="700" dirty="0">
                <a:latin typeface="Meiryo UI" panose="020B0604030504040204" pitchFamily="50" charset="-128"/>
                <a:ea typeface="Meiryo UI" panose="020B0604030504040204" pitchFamily="50" charset="-128"/>
                <a:cs typeface="Meiryo UI" panose="020B0604030504040204" pitchFamily="50" charset="-128"/>
              </a:rPr>
              <a:t>(61.9%)</a:t>
            </a:r>
            <a:endParaRPr kumimoji="0"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正方形/長方形 59">
            <a:extLst>
              <a:ext uri="{FF2B5EF4-FFF2-40B4-BE49-F238E27FC236}">
                <a16:creationId xmlns:a16="http://schemas.microsoft.com/office/drawing/2014/main" id="{27A2F7AA-2905-4C47-98AE-3C0F1EAD7557}"/>
              </a:ext>
            </a:extLst>
          </p:cNvPr>
          <p:cNvSpPr/>
          <p:nvPr/>
        </p:nvSpPr>
        <p:spPr bwMode="gray">
          <a:xfrm>
            <a:off x="4603061" y="3936477"/>
            <a:ext cx="97766" cy="1038199"/>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b"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104</a:t>
            </a:r>
          </a:p>
          <a:p>
            <a:pPr marL="0" marR="0" indent="0"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(41.5%)</a:t>
            </a:r>
            <a:endParaRPr kumimoji="0"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9" name="正方形/長方形 58">
            <a:extLst>
              <a:ext uri="{FF2B5EF4-FFF2-40B4-BE49-F238E27FC236}">
                <a16:creationId xmlns:a16="http://schemas.microsoft.com/office/drawing/2014/main" id="{94796737-A330-4E6D-9843-53D4A283C9FD}"/>
              </a:ext>
            </a:extLst>
          </p:cNvPr>
          <p:cNvSpPr/>
          <p:nvPr/>
        </p:nvSpPr>
        <p:spPr bwMode="gray">
          <a:xfrm>
            <a:off x="4353590" y="3936477"/>
            <a:ext cx="249471" cy="60040"/>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15</a:t>
            </a:r>
          </a:p>
          <a:p>
            <a:pPr marL="0" marR="0" indent="0" defTabSz="914400" rtl="0" eaLnBrk="1" fontAlgn="base" latinLnBrk="0" hangingPunct="1">
              <a:lnSpc>
                <a:spcPct val="100000"/>
              </a:lnSpc>
              <a:spcBef>
                <a:spcPts val="0"/>
              </a:spcBef>
              <a:spcAft>
                <a:spcPct val="0"/>
              </a:spcAft>
              <a:buClr>
                <a:schemeClr val="tx1"/>
              </a:buClr>
              <a:buSzTx/>
              <a:tabLst/>
            </a:pPr>
            <a:r>
              <a:rPr kumimoji="0" lang="en-US" altLang="ja-JP" sz="7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(2.4%)</a:t>
            </a:r>
            <a:endParaRPr kumimoji="0" lang="ja-JP" altLang="en-US" sz="7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00" name="直線矢印コネクタ 199">
            <a:extLst>
              <a:ext uri="{FF2B5EF4-FFF2-40B4-BE49-F238E27FC236}">
                <a16:creationId xmlns:a16="http://schemas.microsoft.com/office/drawing/2014/main" id="{2BAC06DE-65CA-4C0E-87ED-B6E608D0F24A}"/>
              </a:ext>
            </a:extLst>
          </p:cNvPr>
          <p:cNvCxnSpPr/>
          <p:nvPr/>
        </p:nvCxnSpPr>
        <p:spPr bwMode="gray">
          <a:xfrm>
            <a:off x="1042167" y="3936007"/>
            <a:ext cx="0" cy="2502152"/>
          </a:xfrm>
          <a:prstGeom prst="straightConnector1">
            <a:avLst/>
          </a:prstGeom>
          <a:noFill/>
          <a:ln w="9525" algn="ctr">
            <a:solidFill>
              <a:schemeClr val="bg1">
                <a:lumMod val="50000"/>
              </a:schemeClr>
            </a:solidFill>
            <a:round/>
            <a:headEnd type="none"/>
            <a:tailEnd type="none"/>
          </a:ln>
          <a:extLst>
            <a:ext uri="{909E8E84-426E-40DD-AFC4-6F175D3DCCD1}">
              <a14:hiddenFill xmlns:a14="http://schemas.microsoft.com/office/drawing/2010/main">
                <a:noFill/>
              </a14:hiddenFill>
            </a:ext>
          </a:extLst>
        </p:spPr>
      </p:cxnSp>
      <p:cxnSp>
        <p:nvCxnSpPr>
          <p:cNvPr id="26" name="直線矢印コネクタ 25">
            <a:extLst>
              <a:ext uri="{FF2B5EF4-FFF2-40B4-BE49-F238E27FC236}">
                <a16:creationId xmlns:a16="http://schemas.microsoft.com/office/drawing/2014/main" id="{BBD16D7E-4BF3-4467-A364-705A0D9B5FCF}"/>
              </a:ext>
            </a:extLst>
          </p:cNvPr>
          <p:cNvCxnSpPr/>
          <p:nvPr/>
        </p:nvCxnSpPr>
        <p:spPr bwMode="gray">
          <a:xfrm>
            <a:off x="9536422" y="3936007"/>
            <a:ext cx="0" cy="2502152"/>
          </a:xfrm>
          <a:prstGeom prst="straightConnector1">
            <a:avLst/>
          </a:prstGeom>
          <a:noFill/>
          <a:ln w="9525" algn="ctr">
            <a:solidFill>
              <a:schemeClr val="tx1"/>
            </a:solidFill>
            <a:round/>
            <a:headEnd type="none"/>
            <a:tailEnd type="triangle"/>
          </a:ln>
          <a:extLst>
            <a:ext uri="{909E8E84-426E-40DD-AFC4-6F175D3DCCD1}">
              <a14:hiddenFill xmlns:a14="http://schemas.microsoft.com/office/drawing/2010/main">
                <a:noFill/>
              </a14:hiddenFill>
            </a:ext>
          </a:extLst>
        </p:spPr>
      </p:cxnSp>
      <p:sp>
        <p:nvSpPr>
          <p:cNvPr id="178" name="正方形/長方形 177">
            <a:extLst>
              <a:ext uri="{FF2B5EF4-FFF2-40B4-BE49-F238E27FC236}">
                <a16:creationId xmlns:a16="http://schemas.microsoft.com/office/drawing/2014/main" id="{558C78AF-B5CD-4F17-BC24-699ABF6CE786}"/>
              </a:ext>
            </a:extLst>
          </p:cNvPr>
          <p:cNvSpPr/>
          <p:nvPr/>
        </p:nvSpPr>
        <p:spPr bwMode="gray">
          <a:xfrm>
            <a:off x="238712" y="3936007"/>
            <a:ext cx="689877" cy="2502152"/>
          </a:xfrm>
          <a:prstGeom prst="rect">
            <a:avLst/>
          </a:prstGeom>
          <a:solidFill>
            <a:schemeClr val="bg1">
              <a:lumMod val="75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経費</a:t>
            </a:r>
          </a:p>
        </p:txBody>
      </p:sp>
      <p:sp>
        <p:nvSpPr>
          <p:cNvPr id="179" name="正方形/長方形 178">
            <a:extLst>
              <a:ext uri="{FF2B5EF4-FFF2-40B4-BE49-F238E27FC236}">
                <a16:creationId xmlns:a16="http://schemas.microsoft.com/office/drawing/2014/main" id="{D34E9E33-981F-4454-9218-3B52847708F3}"/>
              </a:ext>
            </a:extLst>
          </p:cNvPr>
          <p:cNvSpPr/>
          <p:nvPr/>
        </p:nvSpPr>
        <p:spPr bwMode="gray">
          <a:xfrm>
            <a:off x="238714" y="3936477"/>
            <a:ext cx="689306" cy="302704"/>
          </a:xfrm>
          <a:prstGeom prst="rect">
            <a:avLst/>
          </a:prstGeom>
          <a:solidFill>
            <a:srgbClr val="FFCCCC"/>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業務純益</a:t>
            </a:r>
            <a:endParaRPr kumimoji="0" lang="ja-JP" altLang="en-US" sz="10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12" name="正方形/長方形 211">
            <a:extLst>
              <a:ext uri="{FF2B5EF4-FFF2-40B4-BE49-F238E27FC236}">
                <a16:creationId xmlns:a16="http://schemas.microsoft.com/office/drawing/2014/main" id="{5DBA87E7-6424-4CE2-BCCF-768321CD43F9}"/>
              </a:ext>
            </a:extLst>
          </p:cNvPr>
          <p:cNvSpPr/>
          <p:nvPr/>
        </p:nvSpPr>
        <p:spPr bwMode="gray">
          <a:xfrm>
            <a:off x="3606840" y="2508877"/>
            <a:ext cx="210517"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市場</a:t>
            </a:r>
          </a:p>
        </p:txBody>
      </p:sp>
      <p:sp>
        <p:nvSpPr>
          <p:cNvPr id="208" name="正方形/長方形 207">
            <a:extLst>
              <a:ext uri="{FF2B5EF4-FFF2-40B4-BE49-F238E27FC236}">
                <a16:creationId xmlns:a16="http://schemas.microsoft.com/office/drawing/2014/main" id="{F5BE5CD7-0A44-440F-A3DA-0EB7F591D31D}"/>
              </a:ext>
            </a:extLst>
          </p:cNvPr>
          <p:cNvSpPr/>
          <p:nvPr/>
        </p:nvSpPr>
        <p:spPr bwMode="gray">
          <a:xfrm>
            <a:off x="1139106" y="2508877"/>
            <a:ext cx="752406"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個人</a:t>
            </a:r>
          </a:p>
        </p:txBody>
      </p:sp>
      <p:sp>
        <p:nvSpPr>
          <p:cNvPr id="283" name="正方形/長方形 282">
            <a:extLst>
              <a:ext uri="{FF2B5EF4-FFF2-40B4-BE49-F238E27FC236}">
                <a16:creationId xmlns:a16="http://schemas.microsoft.com/office/drawing/2014/main" id="{4CFEBD0E-81D4-4E22-890E-B8382C026524}"/>
              </a:ext>
            </a:extLst>
          </p:cNvPr>
          <p:cNvSpPr/>
          <p:nvPr/>
        </p:nvSpPr>
        <p:spPr bwMode="gray">
          <a:xfrm>
            <a:off x="3844930" y="2508877"/>
            <a:ext cx="342883" cy="555162"/>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合計</a:t>
            </a:r>
            <a:endParaRPr kumimoji="0"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07" name="正方形/長方形 206">
            <a:extLst>
              <a:ext uri="{FF2B5EF4-FFF2-40B4-BE49-F238E27FC236}">
                <a16:creationId xmlns:a16="http://schemas.microsoft.com/office/drawing/2014/main" id="{D5F2F2C2-7297-41FB-A821-549E86B74447}"/>
              </a:ext>
            </a:extLst>
          </p:cNvPr>
          <p:cNvSpPr/>
          <p:nvPr/>
        </p:nvSpPr>
        <p:spPr bwMode="gray">
          <a:xfrm>
            <a:off x="2811551" y="2641754"/>
            <a:ext cx="136447" cy="422287"/>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代行</a:t>
            </a:r>
          </a:p>
        </p:txBody>
      </p:sp>
      <p:sp>
        <p:nvSpPr>
          <p:cNvPr id="209" name="正方形/長方形 208">
            <a:extLst>
              <a:ext uri="{FF2B5EF4-FFF2-40B4-BE49-F238E27FC236}">
                <a16:creationId xmlns:a16="http://schemas.microsoft.com/office/drawing/2014/main" id="{53623799-EF21-4C59-A2B2-3EC168595CCC}"/>
              </a:ext>
            </a:extLst>
          </p:cNvPr>
          <p:cNvSpPr/>
          <p:nvPr/>
        </p:nvSpPr>
        <p:spPr bwMode="gray">
          <a:xfrm>
            <a:off x="1891512" y="2641754"/>
            <a:ext cx="713420" cy="422287"/>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バンキング</a:t>
            </a:r>
          </a:p>
        </p:txBody>
      </p:sp>
      <p:sp>
        <p:nvSpPr>
          <p:cNvPr id="210" name="正方形/長方形 209">
            <a:extLst>
              <a:ext uri="{FF2B5EF4-FFF2-40B4-BE49-F238E27FC236}">
                <a16:creationId xmlns:a16="http://schemas.microsoft.com/office/drawing/2014/main" id="{8368C5EC-2428-4E4C-B387-8BCA34A3CBAF}"/>
              </a:ext>
            </a:extLst>
          </p:cNvPr>
          <p:cNvSpPr/>
          <p:nvPr/>
        </p:nvSpPr>
        <p:spPr bwMode="gray">
          <a:xfrm>
            <a:off x="2604932" y="2641754"/>
            <a:ext cx="206620" cy="422287"/>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不動産</a:t>
            </a:r>
          </a:p>
        </p:txBody>
      </p:sp>
      <p:sp>
        <p:nvSpPr>
          <p:cNvPr id="211" name="正方形/長方形 210">
            <a:extLst>
              <a:ext uri="{FF2B5EF4-FFF2-40B4-BE49-F238E27FC236}">
                <a16:creationId xmlns:a16="http://schemas.microsoft.com/office/drawing/2014/main" id="{F270AC17-E6DF-4935-B5D7-443F2F80A42F}"/>
              </a:ext>
            </a:extLst>
          </p:cNvPr>
          <p:cNvSpPr/>
          <p:nvPr/>
        </p:nvSpPr>
        <p:spPr bwMode="gray">
          <a:xfrm>
            <a:off x="2947998" y="2641754"/>
            <a:ext cx="658843" cy="422287"/>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受託</a:t>
            </a:r>
          </a:p>
        </p:txBody>
      </p:sp>
      <p:sp>
        <p:nvSpPr>
          <p:cNvPr id="124" name="正方形/長方形 123">
            <a:extLst>
              <a:ext uri="{FF2B5EF4-FFF2-40B4-BE49-F238E27FC236}">
                <a16:creationId xmlns:a16="http://schemas.microsoft.com/office/drawing/2014/main" id="{A6869D85-A21D-41DB-8023-DCEC9ABF1CD0}"/>
              </a:ext>
            </a:extLst>
          </p:cNvPr>
          <p:cNvSpPr/>
          <p:nvPr/>
        </p:nvSpPr>
        <p:spPr bwMode="gray">
          <a:xfrm>
            <a:off x="8025574" y="2508877"/>
            <a:ext cx="342883" cy="555162"/>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a:latin typeface="Meiryo UI" panose="020B0604030504040204" pitchFamily="50" charset="-128"/>
                <a:ea typeface="Meiryo UI" panose="020B0604030504040204" pitchFamily="50" charset="-128"/>
                <a:cs typeface="Meiryo UI" panose="020B0604030504040204" pitchFamily="50" charset="-128"/>
              </a:rPr>
              <a:t>合計</a:t>
            </a:r>
            <a:endParaRPr kumimoji="0"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21" name="正方形/長方形 220">
            <a:extLst>
              <a:ext uri="{FF2B5EF4-FFF2-40B4-BE49-F238E27FC236}">
                <a16:creationId xmlns:a16="http://schemas.microsoft.com/office/drawing/2014/main" id="{47E68A91-864D-4EED-90A8-147C038D507F}"/>
              </a:ext>
            </a:extLst>
          </p:cNvPr>
          <p:cNvSpPr/>
          <p:nvPr/>
        </p:nvSpPr>
        <p:spPr bwMode="gray">
          <a:xfrm>
            <a:off x="6597652" y="2508877"/>
            <a:ext cx="458527"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個人</a:t>
            </a:r>
          </a:p>
        </p:txBody>
      </p:sp>
      <p:sp>
        <p:nvSpPr>
          <p:cNvPr id="222" name="正方形/長方形 221">
            <a:extLst>
              <a:ext uri="{FF2B5EF4-FFF2-40B4-BE49-F238E27FC236}">
                <a16:creationId xmlns:a16="http://schemas.microsoft.com/office/drawing/2014/main" id="{FC7FB7BA-4C17-473D-A335-A421ACCFE8E0}"/>
              </a:ext>
            </a:extLst>
          </p:cNvPr>
          <p:cNvSpPr/>
          <p:nvPr/>
        </p:nvSpPr>
        <p:spPr bwMode="gray">
          <a:xfrm>
            <a:off x="7056179" y="2508877"/>
            <a:ext cx="784934"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法人</a:t>
            </a:r>
            <a:r>
              <a:rPr kumimoji="0" lang="en-US" altLang="ja-JP" sz="1000" b="0" i="0" u="none" strike="noStrike" cap="none" normalizeH="0" baseline="3000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endParaRPr kumimoji="0" lang="ja-JP" altLang="en-US" sz="1000" b="0" i="0" u="none" strike="noStrike" cap="none" normalizeH="0" baseline="3000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23" name="正方形/長方形 222">
            <a:extLst>
              <a:ext uri="{FF2B5EF4-FFF2-40B4-BE49-F238E27FC236}">
                <a16:creationId xmlns:a16="http://schemas.microsoft.com/office/drawing/2014/main" id="{541092EB-7113-4AAE-82EB-B5E2ED23E882}"/>
              </a:ext>
            </a:extLst>
          </p:cNvPr>
          <p:cNvSpPr/>
          <p:nvPr/>
        </p:nvSpPr>
        <p:spPr bwMode="gray">
          <a:xfrm>
            <a:off x="7841113" y="2508877"/>
            <a:ext cx="155433"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市場</a:t>
            </a:r>
          </a:p>
        </p:txBody>
      </p:sp>
      <p:sp>
        <p:nvSpPr>
          <p:cNvPr id="216" name="正方形/長方形 215">
            <a:extLst>
              <a:ext uri="{FF2B5EF4-FFF2-40B4-BE49-F238E27FC236}">
                <a16:creationId xmlns:a16="http://schemas.microsoft.com/office/drawing/2014/main" id="{E5E3D9A9-271A-463B-B48B-3912DB8A6EC8}"/>
              </a:ext>
            </a:extLst>
          </p:cNvPr>
          <p:cNvSpPr/>
          <p:nvPr/>
        </p:nvSpPr>
        <p:spPr bwMode="gray">
          <a:xfrm>
            <a:off x="8738796" y="2508877"/>
            <a:ext cx="265096"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法人</a:t>
            </a:r>
            <a:r>
              <a:rPr kumimoji="0" lang="en-US" altLang="ja-JP" sz="1000" b="0" i="0" u="none" strike="noStrike" cap="none" normalizeH="0" baseline="3000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endParaRPr kumimoji="0" lang="ja-JP" altLang="en-US" sz="1000" b="0" i="0" u="none" strike="noStrike" cap="none" normalizeH="0" baseline="3000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14" name="正方形/長方形 213">
            <a:extLst>
              <a:ext uri="{FF2B5EF4-FFF2-40B4-BE49-F238E27FC236}">
                <a16:creationId xmlns:a16="http://schemas.microsoft.com/office/drawing/2014/main" id="{C5CD71D5-DBFB-4EE0-81E1-902A8AA430DF}"/>
              </a:ext>
            </a:extLst>
          </p:cNvPr>
          <p:cNvSpPr/>
          <p:nvPr/>
        </p:nvSpPr>
        <p:spPr bwMode="gray">
          <a:xfrm>
            <a:off x="8533153" y="2508877"/>
            <a:ext cx="206620"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個人</a:t>
            </a:r>
            <a:endParaRPr kumimoji="0" lang="ja-JP" altLang="en-US" sz="1000" b="0" i="0" u="none" strike="noStrike" cap="none" normalizeH="0" baseline="3000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22" name="正方形/長方形 121">
            <a:extLst>
              <a:ext uri="{FF2B5EF4-FFF2-40B4-BE49-F238E27FC236}">
                <a16:creationId xmlns:a16="http://schemas.microsoft.com/office/drawing/2014/main" id="{FC0B2560-5592-41B3-B4CC-C8E1CA1BDD4F}"/>
              </a:ext>
            </a:extLst>
          </p:cNvPr>
          <p:cNvSpPr/>
          <p:nvPr/>
        </p:nvSpPr>
        <p:spPr bwMode="gray">
          <a:xfrm>
            <a:off x="9100170" y="2508877"/>
            <a:ext cx="342883" cy="555162"/>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合計</a:t>
            </a:r>
            <a:endPar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15" name="正方形/長方形 214">
            <a:extLst>
              <a:ext uri="{FF2B5EF4-FFF2-40B4-BE49-F238E27FC236}">
                <a16:creationId xmlns:a16="http://schemas.microsoft.com/office/drawing/2014/main" id="{8C19C3CD-A05B-4A5C-9005-ED7A31551022}"/>
              </a:ext>
            </a:extLst>
          </p:cNvPr>
          <p:cNvSpPr/>
          <p:nvPr/>
        </p:nvSpPr>
        <p:spPr bwMode="gray">
          <a:xfrm>
            <a:off x="9004868" y="2508877"/>
            <a:ext cx="66275"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市場</a:t>
            </a:r>
          </a:p>
        </p:txBody>
      </p:sp>
      <p:sp>
        <p:nvSpPr>
          <p:cNvPr id="202" name="正方形/長方形 201">
            <a:extLst>
              <a:ext uri="{FF2B5EF4-FFF2-40B4-BE49-F238E27FC236}">
                <a16:creationId xmlns:a16="http://schemas.microsoft.com/office/drawing/2014/main" id="{3EB79D3D-C698-4609-BA09-B9FC42C77A71}"/>
              </a:ext>
            </a:extLst>
          </p:cNvPr>
          <p:cNvSpPr/>
          <p:nvPr/>
        </p:nvSpPr>
        <p:spPr bwMode="gray">
          <a:xfrm>
            <a:off x="4353558" y="2508877"/>
            <a:ext cx="249502"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個人</a:t>
            </a:r>
          </a:p>
        </p:txBody>
      </p:sp>
      <p:sp>
        <p:nvSpPr>
          <p:cNvPr id="120" name="正方形/長方形 119">
            <a:extLst>
              <a:ext uri="{FF2B5EF4-FFF2-40B4-BE49-F238E27FC236}">
                <a16:creationId xmlns:a16="http://schemas.microsoft.com/office/drawing/2014/main" id="{EE5461FE-B19E-403E-96C8-F842671DC944}"/>
              </a:ext>
            </a:extLst>
          </p:cNvPr>
          <p:cNvSpPr/>
          <p:nvPr/>
        </p:nvSpPr>
        <p:spPr bwMode="gray">
          <a:xfrm>
            <a:off x="6090121" y="2508877"/>
            <a:ext cx="342883" cy="555162"/>
          </a:xfrm>
          <a:prstGeom prst="rect">
            <a:avLst/>
          </a:prstGeom>
          <a:solidFill>
            <a:schemeClr val="bg1"/>
          </a:solidFill>
          <a:ln w="9525" cap="flat" cmpd="sng" algn="ctr">
            <a:noFill/>
            <a:prstDash val="solid"/>
            <a:round/>
            <a:headEnd type="none" w="med" len="med"/>
            <a:tailEnd type="none" w="med" len="med"/>
          </a:ln>
          <a:effectLst/>
        </p:spPr>
        <p:txBody>
          <a:bodyPr vert="horz" wrap="non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a:latin typeface="Meiryo UI" panose="020B0604030504040204" pitchFamily="50" charset="-128"/>
                <a:ea typeface="Meiryo UI" panose="020B0604030504040204" pitchFamily="50" charset="-128"/>
                <a:cs typeface="Meiryo UI" panose="020B0604030504040204" pitchFamily="50" charset="-128"/>
              </a:rPr>
              <a:t>合計</a:t>
            </a:r>
            <a:endParaRPr kumimoji="0"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01" name="正方形/長方形 200">
            <a:extLst>
              <a:ext uri="{FF2B5EF4-FFF2-40B4-BE49-F238E27FC236}">
                <a16:creationId xmlns:a16="http://schemas.microsoft.com/office/drawing/2014/main" id="{3D39A1F1-E028-44ED-B190-F4E7D728E033}"/>
              </a:ext>
            </a:extLst>
          </p:cNvPr>
          <p:cNvSpPr/>
          <p:nvPr/>
        </p:nvSpPr>
        <p:spPr bwMode="gray">
          <a:xfrm>
            <a:off x="4700525" y="2641791"/>
            <a:ext cx="152041" cy="422406"/>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代行</a:t>
            </a:r>
          </a:p>
        </p:txBody>
      </p:sp>
      <p:sp>
        <p:nvSpPr>
          <p:cNvPr id="203" name="正方形/長方形 202">
            <a:extLst>
              <a:ext uri="{FF2B5EF4-FFF2-40B4-BE49-F238E27FC236}">
                <a16:creationId xmlns:a16="http://schemas.microsoft.com/office/drawing/2014/main" id="{7B5EFB23-62EE-4E29-94E6-D26800516F6A}"/>
              </a:ext>
            </a:extLst>
          </p:cNvPr>
          <p:cNvSpPr/>
          <p:nvPr/>
        </p:nvSpPr>
        <p:spPr bwMode="gray">
          <a:xfrm>
            <a:off x="4603062" y="2641791"/>
            <a:ext cx="97461" cy="422406"/>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a:latin typeface="Meiryo UI" panose="020B0604030504040204" pitchFamily="50" charset="-128"/>
                <a:ea typeface="Meiryo UI" panose="020B0604030504040204" pitchFamily="50" charset="-128"/>
                <a:cs typeface="Meiryo UI" panose="020B0604030504040204" pitchFamily="50" charset="-128"/>
              </a:rPr>
              <a:t>不動産</a:t>
            </a:r>
            <a:endPar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04" name="正方形/長方形 203">
            <a:extLst>
              <a:ext uri="{FF2B5EF4-FFF2-40B4-BE49-F238E27FC236}">
                <a16:creationId xmlns:a16="http://schemas.microsoft.com/office/drawing/2014/main" id="{1A8262B0-0613-4B3E-988E-7D4B59E0E2B7}"/>
              </a:ext>
            </a:extLst>
          </p:cNvPr>
          <p:cNvSpPr/>
          <p:nvPr/>
        </p:nvSpPr>
        <p:spPr bwMode="gray">
          <a:xfrm>
            <a:off x="4852565" y="2641791"/>
            <a:ext cx="843259" cy="422406"/>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受託</a:t>
            </a:r>
          </a:p>
        </p:txBody>
      </p:sp>
      <p:sp>
        <p:nvSpPr>
          <p:cNvPr id="205" name="正方形/長方形 204">
            <a:extLst>
              <a:ext uri="{FF2B5EF4-FFF2-40B4-BE49-F238E27FC236}">
                <a16:creationId xmlns:a16="http://schemas.microsoft.com/office/drawing/2014/main" id="{E27DDB49-78EB-4B7C-B496-93ACDBA04BAA}"/>
              </a:ext>
            </a:extLst>
          </p:cNvPr>
          <p:cNvSpPr/>
          <p:nvPr/>
        </p:nvSpPr>
        <p:spPr bwMode="gray">
          <a:xfrm>
            <a:off x="5694635" y="2508877"/>
            <a:ext cx="366457"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市場</a:t>
            </a:r>
          </a:p>
        </p:txBody>
      </p:sp>
      <p:sp>
        <p:nvSpPr>
          <p:cNvPr id="128" name="正方形/長方形 127">
            <a:extLst>
              <a:ext uri="{FF2B5EF4-FFF2-40B4-BE49-F238E27FC236}">
                <a16:creationId xmlns:a16="http://schemas.microsoft.com/office/drawing/2014/main" id="{64D4A492-F493-4610-A790-E2445B769909}"/>
              </a:ext>
            </a:extLst>
          </p:cNvPr>
          <p:cNvSpPr/>
          <p:nvPr/>
        </p:nvSpPr>
        <p:spPr bwMode="gray">
          <a:xfrm>
            <a:off x="1139103" y="2298162"/>
            <a:ext cx="3049200" cy="184056"/>
          </a:xfrm>
          <a:prstGeom prst="rect">
            <a:avLst/>
          </a:prstGeom>
          <a:solidFill>
            <a:srgbClr val="00B0F0"/>
          </a:solidFill>
          <a:ln>
            <a:solidFill>
              <a:schemeClr val="bg1"/>
            </a:solidFill>
          </a:ln>
          <a:effectLst/>
        </p:spPr>
        <p:txBody>
          <a:bodyPr rot="0" spcFirstLastPara="0" vert="horz" wrap="square" lIns="72000" tIns="36000" rIns="72000" bIns="36000" numCol="1" spcCol="0" rtlCol="0" fromWordArt="0" anchor="ctr" anchorCtr="0" forceAA="0" compatLnSpc="1">
            <a:prstTxWarp prst="textNoShape">
              <a:avLst/>
            </a:prstTxWarp>
            <a:noAutofit/>
          </a:bodyPr>
          <a:ls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spcBef>
                <a:spcPts val="0"/>
              </a:spcBef>
            </a:pPr>
            <a:r>
              <a:rPr kumimoji="1" lang="en-US" altLang="ja-JP"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SMTB</a:t>
            </a:r>
            <a:endParaRPr kumimoji="1" lang="ja-JP" altLang="en-US"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7" name="正方形/長方形 116">
            <a:extLst>
              <a:ext uri="{FF2B5EF4-FFF2-40B4-BE49-F238E27FC236}">
                <a16:creationId xmlns:a16="http://schemas.microsoft.com/office/drawing/2014/main" id="{1D6CD5A3-27BB-4B45-A21A-7CB2713D7249}"/>
              </a:ext>
            </a:extLst>
          </p:cNvPr>
          <p:cNvSpPr/>
          <p:nvPr/>
        </p:nvSpPr>
        <p:spPr bwMode="gray">
          <a:xfrm>
            <a:off x="6597653" y="2298162"/>
            <a:ext cx="1771200" cy="184056"/>
          </a:xfrm>
          <a:prstGeom prst="rect">
            <a:avLst/>
          </a:prstGeom>
          <a:solidFill>
            <a:srgbClr val="92D050"/>
          </a:solidFill>
          <a:ln>
            <a:solidFill>
              <a:schemeClr val="bg1"/>
            </a:solidFill>
          </a:ln>
          <a:effectLst/>
        </p:spPr>
        <p:txBody>
          <a:bodyPr rot="0" spcFirstLastPara="0" vert="horz" wrap="square" lIns="72000" tIns="36000" rIns="72000" bIns="36000" numCol="1" spcCol="0" rtlCol="0" fromWordArt="0" anchor="ctr" anchorCtr="0" forceAA="0" compatLnSpc="1">
            <a:prstTxWarp prst="textNoShape">
              <a:avLst/>
            </a:prstTxWarp>
            <a:noAutofit/>
          </a:bodyPr>
          <a:ls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spcBef>
                <a:spcPts val="0"/>
              </a:spcBef>
            </a:pPr>
            <a:r>
              <a:rPr kumimoji="1" lang="ja-JP" altLang="en-US"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りそな</a:t>
            </a:r>
          </a:p>
        </p:txBody>
      </p:sp>
      <p:sp>
        <p:nvSpPr>
          <p:cNvPr id="106" name="正方形/長方形 105">
            <a:extLst>
              <a:ext uri="{FF2B5EF4-FFF2-40B4-BE49-F238E27FC236}">
                <a16:creationId xmlns:a16="http://schemas.microsoft.com/office/drawing/2014/main" id="{A0493C2E-9D5D-4C8F-804E-833AB902B8E0}"/>
              </a:ext>
            </a:extLst>
          </p:cNvPr>
          <p:cNvSpPr/>
          <p:nvPr/>
        </p:nvSpPr>
        <p:spPr bwMode="gray">
          <a:xfrm>
            <a:off x="8533152" y="2298162"/>
            <a:ext cx="910800" cy="184056"/>
          </a:xfrm>
          <a:prstGeom prst="rect">
            <a:avLst/>
          </a:prstGeom>
          <a:solidFill>
            <a:srgbClr val="002060"/>
          </a:solidFill>
          <a:ln>
            <a:solidFill>
              <a:schemeClr val="bg1"/>
            </a:solidFill>
          </a:ln>
          <a:effectLst/>
        </p:spPr>
        <p:txBody>
          <a:bodyPr rot="0" spcFirstLastPara="0" vert="horz" wrap="square" lIns="72000" tIns="36000" rIns="72000" bIns="36000" numCol="1" spcCol="0" rtlCol="0" fromWordArt="0" anchor="ctr" anchorCtr="0" forceAA="0" compatLnSpc="1">
            <a:prstTxWarp prst="textNoShape">
              <a:avLst/>
            </a:prstTxWarp>
            <a:noAutofit/>
          </a:bodyPr>
          <a:ls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spcBef>
                <a:spcPts val="0"/>
              </a:spcBef>
            </a:pPr>
            <a:r>
              <a:rPr kumimoji="1" lang="ja-JP" altLang="en-US"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みずほ</a:t>
            </a:r>
          </a:p>
        </p:txBody>
      </p:sp>
      <p:sp>
        <p:nvSpPr>
          <p:cNvPr id="244" name="正方形/長方形 243">
            <a:extLst>
              <a:ext uri="{FF2B5EF4-FFF2-40B4-BE49-F238E27FC236}">
                <a16:creationId xmlns:a16="http://schemas.microsoft.com/office/drawing/2014/main" id="{F399C17E-56CD-43A5-9669-7C6F0AC81869}"/>
              </a:ext>
            </a:extLst>
          </p:cNvPr>
          <p:cNvSpPr/>
          <p:nvPr/>
        </p:nvSpPr>
        <p:spPr bwMode="gray">
          <a:xfrm>
            <a:off x="4353556" y="2298162"/>
            <a:ext cx="2080800" cy="184056"/>
          </a:xfrm>
          <a:prstGeom prst="rect">
            <a:avLst/>
          </a:prstGeom>
          <a:solidFill>
            <a:schemeClr val="accent1"/>
          </a:solidFill>
          <a:ln>
            <a:solidFill>
              <a:schemeClr val="bg1"/>
            </a:solidFill>
          </a:ln>
          <a:effectLst/>
        </p:spPr>
        <p:txBody>
          <a:bodyPr rot="0" spcFirstLastPara="0" vert="horz" wrap="square" lIns="72000" tIns="36000" rIns="72000" bIns="36000" numCol="1" spcCol="0" rtlCol="0" fromWordArt="0" anchor="ctr" anchorCtr="0" forceAA="0" compatLnSpc="1">
            <a:prstTxWarp prst="textNoShape">
              <a:avLst/>
            </a:prstTxWarp>
            <a:noAutofit/>
          </a:bodyPr>
          <a:ls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spcBef>
                <a:spcPts val="0"/>
              </a:spcBef>
            </a:pPr>
            <a:r>
              <a:rPr kumimoji="1" lang="en-US" altLang="ja-JP" b="1" kern="0">
                <a:solidFill>
                  <a:schemeClr val="bg1"/>
                </a:solidFill>
                <a:latin typeface="Meiryo UI" panose="020B0604030504040204" pitchFamily="50" charset="-128"/>
                <a:ea typeface="Meiryo UI" panose="020B0604030504040204" pitchFamily="50" charset="-128"/>
                <a:cs typeface="Meiryo UI" panose="020B0604030504040204" pitchFamily="50" charset="-128"/>
              </a:rPr>
              <a:t>MUTB</a:t>
            </a:r>
            <a:r>
              <a:rPr kumimoji="1" lang="en-US" altLang="ja-JP" b="1" kern="0"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b="1" kern="0"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0" name="正方形/長方形 149">
            <a:extLst>
              <a:ext uri="{FF2B5EF4-FFF2-40B4-BE49-F238E27FC236}">
                <a16:creationId xmlns:a16="http://schemas.microsoft.com/office/drawing/2014/main" id="{22DCECD3-6975-45AC-9CE1-CF4999CCEED3}"/>
              </a:ext>
            </a:extLst>
          </p:cNvPr>
          <p:cNvSpPr/>
          <p:nvPr/>
        </p:nvSpPr>
        <p:spPr bwMode="gray">
          <a:xfrm>
            <a:off x="1891511" y="2508877"/>
            <a:ext cx="1715934" cy="135773"/>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a:latin typeface="Meiryo UI" panose="020B0604030504040204" pitchFamily="50" charset="-128"/>
                <a:ea typeface="Meiryo UI" panose="020B0604030504040204" pitchFamily="50" charset="-128"/>
                <a:cs typeface="Meiryo UI" panose="020B0604030504040204" pitchFamily="50" charset="-128"/>
              </a:rPr>
              <a:t>法人</a:t>
            </a:r>
            <a:endParaRPr kumimoji="0"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3" name="正方形/長方形 152">
            <a:extLst>
              <a:ext uri="{FF2B5EF4-FFF2-40B4-BE49-F238E27FC236}">
                <a16:creationId xmlns:a16="http://schemas.microsoft.com/office/drawing/2014/main" id="{1E882701-987D-4200-9FA1-9AD6E4F25E19}"/>
              </a:ext>
            </a:extLst>
          </p:cNvPr>
          <p:cNvSpPr/>
          <p:nvPr/>
        </p:nvSpPr>
        <p:spPr bwMode="gray">
          <a:xfrm>
            <a:off x="4603062" y="2508877"/>
            <a:ext cx="1091661" cy="135773"/>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a:latin typeface="Meiryo UI" panose="020B0604030504040204" pitchFamily="50" charset="-128"/>
                <a:ea typeface="Meiryo UI" panose="020B0604030504040204" pitchFamily="50" charset="-128"/>
                <a:cs typeface="Meiryo UI" panose="020B0604030504040204" pitchFamily="50" charset="-128"/>
              </a:rPr>
              <a:t>法人</a:t>
            </a:r>
            <a:endParaRPr kumimoji="0" lang="ja-JP" altLang="en-US" sz="1000" b="0" i="0" u="none" strike="noStrike" cap="none" normalizeH="0" baseline="3000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77" name="正方形/長方形 176">
            <a:extLst>
              <a:ext uri="{FF2B5EF4-FFF2-40B4-BE49-F238E27FC236}">
                <a16:creationId xmlns:a16="http://schemas.microsoft.com/office/drawing/2014/main" id="{8AD3CA6F-BA3C-4465-A235-551D517F29D9}"/>
              </a:ext>
            </a:extLst>
          </p:cNvPr>
          <p:cNvSpPr/>
          <p:nvPr/>
        </p:nvSpPr>
        <p:spPr bwMode="gray">
          <a:xfrm>
            <a:off x="238713" y="2508877"/>
            <a:ext cx="689879" cy="555162"/>
          </a:xfrm>
          <a:prstGeom prst="rect">
            <a:avLst/>
          </a:prstGeom>
          <a:solidFill>
            <a:schemeClr val="bg1">
              <a:lumMod val="85000"/>
            </a:schemeClr>
          </a:solidFill>
          <a:ln w="9525" cap="flat" cmpd="sng" algn="ctr">
            <a:solidFill>
              <a:schemeClr val="bg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部門</a:t>
            </a:r>
            <a:endParaRPr kumimoji="0" lang="ja-JP" altLang="en-US" sz="10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5" name="正方形/長方形 184">
            <a:extLst>
              <a:ext uri="{FF2B5EF4-FFF2-40B4-BE49-F238E27FC236}">
                <a16:creationId xmlns:a16="http://schemas.microsoft.com/office/drawing/2014/main" id="{F35156AE-7A51-4F38-B784-22E0FE9AF4FB}"/>
              </a:ext>
            </a:extLst>
          </p:cNvPr>
          <p:cNvSpPr/>
          <p:nvPr/>
        </p:nvSpPr>
        <p:spPr bwMode="gray">
          <a:xfrm>
            <a:off x="1891513" y="3169466"/>
            <a:ext cx="713420"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1,834</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6" name="正方形/長方形 185">
            <a:extLst>
              <a:ext uri="{FF2B5EF4-FFF2-40B4-BE49-F238E27FC236}">
                <a16:creationId xmlns:a16="http://schemas.microsoft.com/office/drawing/2014/main" id="{B853C290-49C8-479C-B9AD-2D4EF10F272F}"/>
              </a:ext>
            </a:extLst>
          </p:cNvPr>
          <p:cNvSpPr/>
          <p:nvPr/>
        </p:nvSpPr>
        <p:spPr bwMode="gray">
          <a:xfrm>
            <a:off x="2604933" y="3169466"/>
            <a:ext cx="206620"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538</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7" name="正方形/長方形 186">
            <a:extLst>
              <a:ext uri="{FF2B5EF4-FFF2-40B4-BE49-F238E27FC236}">
                <a16:creationId xmlns:a16="http://schemas.microsoft.com/office/drawing/2014/main" id="{F477138B-1E97-49C9-92A7-1AAE41A97574}"/>
              </a:ext>
            </a:extLst>
          </p:cNvPr>
          <p:cNvSpPr/>
          <p:nvPr/>
        </p:nvSpPr>
        <p:spPr bwMode="gray">
          <a:xfrm>
            <a:off x="2947999" y="3169466"/>
            <a:ext cx="658843"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1,697</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8" name="正方形/長方形 187">
            <a:extLst>
              <a:ext uri="{FF2B5EF4-FFF2-40B4-BE49-F238E27FC236}">
                <a16:creationId xmlns:a16="http://schemas.microsoft.com/office/drawing/2014/main" id="{0E713D33-BD9F-4E0B-8C87-D4907DA594B6}"/>
              </a:ext>
            </a:extLst>
          </p:cNvPr>
          <p:cNvSpPr/>
          <p:nvPr/>
        </p:nvSpPr>
        <p:spPr bwMode="gray">
          <a:xfrm>
            <a:off x="3606841" y="3169466"/>
            <a:ext cx="210517"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544</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3" name="正方形/長方形 182">
            <a:extLst>
              <a:ext uri="{FF2B5EF4-FFF2-40B4-BE49-F238E27FC236}">
                <a16:creationId xmlns:a16="http://schemas.microsoft.com/office/drawing/2014/main" id="{89878CD9-E168-48ED-9394-4F0F8FE9DA55}"/>
              </a:ext>
            </a:extLst>
          </p:cNvPr>
          <p:cNvSpPr/>
          <p:nvPr/>
        </p:nvSpPr>
        <p:spPr bwMode="gray">
          <a:xfrm>
            <a:off x="2811552" y="3169466"/>
            <a:ext cx="136447"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endPar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359</a:t>
            </a:r>
            <a:endPar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19" name="正方形/長方形 118">
            <a:extLst>
              <a:ext uri="{FF2B5EF4-FFF2-40B4-BE49-F238E27FC236}">
                <a16:creationId xmlns:a16="http://schemas.microsoft.com/office/drawing/2014/main" id="{C9A935FE-804C-4EF9-BDBE-A0A4C9E0DF90}"/>
              </a:ext>
            </a:extLst>
          </p:cNvPr>
          <p:cNvSpPr/>
          <p:nvPr/>
        </p:nvSpPr>
        <p:spPr bwMode="gray">
          <a:xfrm>
            <a:off x="3844930" y="3169467"/>
            <a:ext cx="342883" cy="23433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6,909</a:t>
            </a:r>
          </a:p>
        </p:txBody>
      </p:sp>
      <p:sp>
        <p:nvSpPr>
          <p:cNvPr id="164" name="正方形/長方形 163">
            <a:extLst>
              <a:ext uri="{FF2B5EF4-FFF2-40B4-BE49-F238E27FC236}">
                <a16:creationId xmlns:a16="http://schemas.microsoft.com/office/drawing/2014/main" id="{5818B579-9064-4511-A104-55A8158C80D4}"/>
              </a:ext>
            </a:extLst>
          </p:cNvPr>
          <p:cNvSpPr/>
          <p:nvPr/>
        </p:nvSpPr>
        <p:spPr bwMode="gray">
          <a:xfrm>
            <a:off x="1139106" y="3492764"/>
            <a:ext cx="752406"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800" b="1" dirty="0">
                <a:solidFill>
                  <a:srgbClr val="00B050"/>
                </a:solidFill>
                <a:latin typeface="Meiryo UI" panose="020B0604030504040204" pitchFamily="50" charset="-128"/>
                <a:ea typeface="Meiryo UI" panose="020B0604030504040204" pitchFamily="50" charset="-128"/>
                <a:cs typeface="Meiryo UI" panose="020B0604030504040204" pitchFamily="50" charset="-128"/>
              </a:rPr>
              <a:t>28.0%</a:t>
            </a:r>
          </a:p>
        </p:txBody>
      </p:sp>
      <p:sp>
        <p:nvSpPr>
          <p:cNvPr id="165" name="正方形/長方形 164">
            <a:extLst>
              <a:ext uri="{FF2B5EF4-FFF2-40B4-BE49-F238E27FC236}">
                <a16:creationId xmlns:a16="http://schemas.microsoft.com/office/drawing/2014/main" id="{2129A4F0-6001-4979-978B-76D586850109}"/>
              </a:ext>
            </a:extLst>
          </p:cNvPr>
          <p:cNvSpPr/>
          <p:nvPr/>
        </p:nvSpPr>
        <p:spPr bwMode="gray">
          <a:xfrm>
            <a:off x="1890887" y="3492764"/>
            <a:ext cx="714699"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a:ln>
                  <a:noFill/>
                </a:ln>
                <a:solidFill>
                  <a:srgbClr val="00B050"/>
                </a:solidFill>
                <a:effectLst/>
                <a:latin typeface="Meiryo UI" panose="020B0604030504040204" pitchFamily="50" charset="-128"/>
                <a:ea typeface="Meiryo UI" panose="020B0604030504040204" pitchFamily="50" charset="-128"/>
                <a:cs typeface="Meiryo UI" panose="020B0604030504040204" pitchFamily="50" charset="-128"/>
              </a:rPr>
              <a:t>26.5%</a:t>
            </a:r>
          </a:p>
        </p:txBody>
      </p:sp>
      <p:sp>
        <p:nvSpPr>
          <p:cNvPr id="166" name="正方形/長方形 165">
            <a:extLst>
              <a:ext uri="{FF2B5EF4-FFF2-40B4-BE49-F238E27FC236}">
                <a16:creationId xmlns:a16="http://schemas.microsoft.com/office/drawing/2014/main" id="{CF846093-198A-4209-BF49-F31CAC655DA9}"/>
              </a:ext>
            </a:extLst>
          </p:cNvPr>
          <p:cNvSpPr/>
          <p:nvPr/>
        </p:nvSpPr>
        <p:spPr bwMode="gray">
          <a:xfrm>
            <a:off x="2604932" y="3492764"/>
            <a:ext cx="205644"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7.8%</a:t>
            </a:r>
          </a:p>
        </p:txBody>
      </p:sp>
      <p:sp>
        <p:nvSpPr>
          <p:cNvPr id="167" name="正方形/長方形 166">
            <a:extLst>
              <a:ext uri="{FF2B5EF4-FFF2-40B4-BE49-F238E27FC236}">
                <a16:creationId xmlns:a16="http://schemas.microsoft.com/office/drawing/2014/main" id="{E1B28FB2-1C7D-4B04-9AA8-736DD6373EDA}"/>
              </a:ext>
            </a:extLst>
          </p:cNvPr>
          <p:cNvSpPr/>
          <p:nvPr/>
        </p:nvSpPr>
        <p:spPr bwMode="gray">
          <a:xfrm>
            <a:off x="2947998" y="3492764"/>
            <a:ext cx="657388"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7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24.6%</a:t>
            </a:r>
          </a:p>
        </p:txBody>
      </p:sp>
      <p:sp>
        <p:nvSpPr>
          <p:cNvPr id="168" name="正方形/長方形 167">
            <a:extLst>
              <a:ext uri="{FF2B5EF4-FFF2-40B4-BE49-F238E27FC236}">
                <a16:creationId xmlns:a16="http://schemas.microsoft.com/office/drawing/2014/main" id="{BFC126B5-6795-4BE4-B298-563578F0B654}"/>
              </a:ext>
            </a:extLst>
          </p:cNvPr>
          <p:cNvSpPr/>
          <p:nvPr/>
        </p:nvSpPr>
        <p:spPr bwMode="gray">
          <a:xfrm>
            <a:off x="3606840" y="3492764"/>
            <a:ext cx="209016"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7.9%</a:t>
            </a:r>
          </a:p>
        </p:txBody>
      </p:sp>
      <p:sp>
        <p:nvSpPr>
          <p:cNvPr id="169" name="正方形/長方形 168">
            <a:extLst>
              <a:ext uri="{FF2B5EF4-FFF2-40B4-BE49-F238E27FC236}">
                <a16:creationId xmlns:a16="http://schemas.microsoft.com/office/drawing/2014/main" id="{7AE8180F-3F46-4E4C-84C7-EC215AD79FD3}"/>
              </a:ext>
            </a:extLst>
          </p:cNvPr>
          <p:cNvSpPr/>
          <p:nvPr/>
        </p:nvSpPr>
        <p:spPr bwMode="gray">
          <a:xfrm>
            <a:off x="2811551" y="3492764"/>
            <a:ext cx="138220"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ts val="0"/>
              </a:spcBef>
              <a:spcAft>
                <a:spcPct val="0"/>
              </a:spcAft>
              <a:buClr>
                <a:schemeClr val="tx1"/>
              </a:buClr>
              <a:buSzTx/>
              <a:tabLst/>
            </a:pPr>
            <a:endParaRPr kumimoji="0" lang="en-US" altLang="ja-JP" sz="7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5.2%</a:t>
            </a:r>
          </a:p>
        </p:txBody>
      </p:sp>
      <p:cxnSp>
        <p:nvCxnSpPr>
          <p:cNvPr id="236" name="直線矢印コネクタ 235">
            <a:extLst>
              <a:ext uri="{FF2B5EF4-FFF2-40B4-BE49-F238E27FC236}">
                <a16:creationId xmlns:a16="http://schemas.microsoft.com/office/drawing/2014/main" id="{10241D29-F961-4396-9863-26D67961804F}"/>
              </a:ext>
            </a:extLst>
          </p:cNvPr>
          <p:cNvCxnSpPr/>
          <p:nvPr/>
        </p:nvCxnSpPr>
        <p:spPr bwMode="gray">
          <a:xfrm>
            <a:off x="1139106" y="3469146"/>
            <a:ext cx="751782"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182" name="直線矢印コネクタ 181">
            <a:extLst>
              <a:ext uri="{FF2B5EF4-FFF2-40B4-BE49-F238E27FC236}">
                <a16:creationId xmlns:a16="http://schemas.microsoft.com/office/drawing/2014/main" id="{FE8B2712-A0CD-4C36-BC48-5E89026A59F1}"/>
              </a:ext>
            </a:extLst>
          </p:cNvPr>
          <p:cNvCxnSpPr/>
          <p:nvPr/>
        </p:nvCxnSpPr>
        <p:spPr bwMode="gray">
          <a:xfrm>
            <a:off x="1890888" y="3469146"/>
            <a:ext cx="714699"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189" name="直線矢印コネクタ 188">
            <a:extLst>
              <a:ext uri="{FF2B5EF4-FFF2-40B4-BE49-F238E27FC236}">
                <a16:creationId xmlns:a16="http://schemas.microsoft.com/office/drawing/2014/main" id="{145EE43B-C97C-4E7F-9067-EBF95973B8C3}"/>
              </a:ext>
            </a:extLst>
          </p:cNvPr>
          <p:cNvCxnSpPr/>
          <p:nvPr/>
        </p:nvCxnSpPr>
        <p:spPr bwMode="gray">
          <a:xfrm>
            <a:off x="2604932" y="3469146"/>
            <a:ext cx="205644"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199" name="直線矢印コネクタ 198">
            <a:extLst>
              <a:ext uri="{FF2B5EF4-FFF2-40B4-BE49-F238E27FC236}">
                <a16:creationId xmlns:a16="http://schemas.microsoft.com/office/drawing/2014/main" id="{19BA65A0-27E6-41EB-BC9A-D1451CB7A8C3}"/>
              </a:ext>
            </a:extLst>
          </p:cNvPr>
          <p:cNvCxnSpPr/>
          <p:nvPr/>
        </p:nvCxnSpPr>
        <p:spPr bwMode="gray">
          <a:xfrm>
            <a:off x="2811551" y="3469146"/>
            <a:ext cx="138220"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06" name="直線矢印コネクタ 205">
            <a:extLst>
              <a:ext uri="{FF2B5EF4-FFF2-40B4-BE49-F238E27FC236}">
                <a16:creationId xmlns:a16="http://schemas.microsoft.com/office/drawing/2014/main" id="{8C9D48A9-DC26-405E-9FBC-CD2578AC5B3A}"/>
              </a:ext>
            </a:extLst>
          </p:cNvPr>
          <p:cNvCxnSpPr/>
          <p:nvPr/>
        </p:nvCxnSpPr>
        <p:spPr bwMode="gray">
          <a:xfrm>
            <a:off x="3606840" y="3469146"/>
            <a:ext cx="209016"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20" name="直線矢印コネクタ 219">
            <a:extLst>
              <a:ext uri="{FF2B5EF4-FFF2-40B4-BE49-F238E27FC236}">
                <a16:creationId xmlns:a16="http://schemas.microsoft.com/office/drawing/2014/main" id="{4B64C0A6-F5A5-4308-9368-8BCAB35B187F}"/>
              </a:ext>
            </a:extLst>
          </p:cNvPr>
          <p:cNvCxnSpPr/>
          <p:nvPr/>
        </p:nvCxnSpPr>
        <p:spPr bwMode="gray">
          <a:xfrm>
            <a:off x="2947998" y="3469146"/>
            <a:ext cx="657388"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217" name="正方形/長方形 216">
            <a:extLst>
              <a:ext uri="{FF2B5EF4-FFF2-40B4-BE49-F238E27FC236}">
                <a16:creationId xmlns:a16="http://schemas.microsoft.com/office/drawing/2014/main" id="{0E4446AD-3990-4465-AC86-B16F0C23DB4C}"/>
              </a:ext>
            </a:extLst>
          </p:cNvPr>
          <p:cNvSpPr/>
          <p:nvPr/>
        </p:nvSpPr>
        <p:spPr bwMode="gray">
          <a:xfrm>
            <a:off x="6597651" y="3169467"/>
            <a:ext cx="458527"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1,184</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18" name="正方形/長方形 217">
            <a:extLst>
              <a:ext uri="{FF2B5EF4-FFF2-40B4-BE49-F238E27FC236}">
                <a16:creationId xmlns:a16="http://schemas.microsoft.com/office/drawing/2014/main" id="{A52F5D40-5BBB-4AF9-B441-86450D302728}"/>
              </a:ext>
            </a:extLst>
          </p:cNvPr>
          <p:cNvSpPr/>
          <p:nvPr/>
        </p:nvSpPr>
        <p:spPr bwMode="gray">
          <a:xfrm>
            <a:off x="7056179" y="3169467"/>
            <a:ext cx="784934"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2,025</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25" name="正方形/長方形 124">
            <a:extLst>
              <a:ext uri="{FF2B5EF4-FFF2-40B4-BE49-F238E27FC236}">
                <a16:creationId xmlns:a16="http://schemas.microsoft.com/office/drawing/2014/main" id="{EBF3F27C-56F0-4822-9C59-484153497E99}"/>
              </a:ext>
            </a:extLst>
          </p:cNvPr>
          <p:cNvSpPr/>
          <p:nvPr/>
        </p:nvSpPr>
        <p:spPr bwMode="gray">
          <a:xfrm>
            <a:off x="8025574" y="3169467"/>
            <a:ext cx="342883" cy="23433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800" dirty="0">
                <a:latin typeface="Meiryo UI" panose="020B0604030504040204" pitchFamily="50" charset="-128"/>
                <a:ea typeface="Meiryo UI" panose="020B0604030504040204" pitchFamily="50" charset="-128"/>
                <a:cs typeface="Meiryo UI" panose="020B0604030504040204" pitchFamily="50" charset="-128"/>
              </a:rPr>
              <a:t>3,618</a:t>
            </a:r>
          </a:p>
        </p:txBody>
      </p:sp>
      <p:sp>
        <p:nvSpPr>
          <p:cNvPr id="255" name="正方形/長方形 254">
            <a:extLst>
              <a:ext uri="{FF2B5EF4-FFF2-40B4-BE49-F238E27FC236}">
                <a16:creationId xmlns:a16="http://schemas.microsoft.com/office/drawing/2014/main" id="{DD673354-F6AC-4AFE-886E-D9E981B2FDA1}"/>
              </a:ext>
            </a:extLst>
          </p:cNvPr>
          <p:cNvSpPr/>
          <p:nvPr/>
        </p:nvSpPr>
        <p:spPr bwMode="gray">
          <a:xfrm>
            <a:off x="6597652" y="3492764"/>
            <a:ext cx="458487"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800" b="1">
                <a:solidFill>
                  <a:srgbClr val="00B050"/>
                </a:solidFill>
                <a:latin typeface="Meiryo UI" panose="020B0604030504040204" pitchFamily="50" charset="-128"/>
                <a:ea typeface="Meiryo UI" panose="020B0604030504040204" pitchFamily="50" charset="-128"/>
                <a:cs typeface="Meiryo UI" panose="020B0604030504040204" pitchFamily="50" charset="-128"/>
              </a:rPr>
              <a:t>32.7%</a:t>
            </a:r>
          </a:p>
        </p:txBody>
      </p:sp>
      <p:sp>
        <p:nvSpPr>
          <p:cNvPr id="260" name="正方形/長方形 259">
            <a:extLst>
              <a:ext uri="{FF2B5EF4-FFF2-40B4-BE49-F238E27FC236}">
                <a16:creationId xmlns:a16="http://schemas.microsoft.com/office/drawing/2014/main" id="{E26A5520-14B1-4B51-8C13-53537E733C7D}"/>
              </a:ext>
            </a:extLst>
          </p:cNvPr>
          <p:cNvSpPr/>
          <p:nvPr/>
        </p:nvSpPr>
        <p:spPr bwMode="gray">
          <a:xfrm>
            <a:off x="7056179" y="3492764"/>
            <a:ext cx="785494"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7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56.0%</a:t>
            </a:r>
          </a:p>
        </p:txBody>
      </p:sp>
      <p:sp>
        <p:nvSpPr>
          <p:cNvPr id="261" name="正方形/長方形 260">
            <a:extLst>
              <a:ext uri="{FF2B5EF4-FFF2-40B4-BE49-F238E27FC236}">
                <a16:creationId xmlns:a16="http://schemas.microsoft.com/office/drawing/2014/main" id="{FDCD4E8C-D846-480D-AF30-8904D9A02C40}"/>
              </a:ext>
            </a:extLst>
          </p:cNvPr>
          <p:cNvSpPr/>
          <p:nvPr/>
        </p:nvSpPr>
        <p:spPr bwMode="gray">
          <a:xfrm>
            <a:off x="7841113" y="3492764"/>
            <a:ext cx="155077"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11.3%</a:t>
            </a:r>
          </a:p>
        </p:txBody>
      </p:sp>
      <p:cxnSp>
        <p:nvCxnSpPr>
          <p:cNvPr id="268" name="直線矢印コネクタ 267">
            <a:extLst>
              <a:ext uri="{FF2B5EF4-FFF2-40B4-BE49-F238E27FC236}">
                <a16:creationId xmlns:a16="http://schemas.microsoft.com/office/drawing/2014/main" id="{4F0F37CD-7530-43A4-9FEE-619B13C3FBE1}"/>
              </a:ext>
            </a:extLst>
          </p:cNvPr>
          <p:cNvCxnSpPr/>
          <p:nvPr/>
        </p:nvCxnSpPr>
        <p:spPr bwMode="gray">
          <a:xfrm>
            <a:off x="6597652" y="3469146"/>
            <a:ext cx="458487"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69" name="直線矢印コネクタ 268">
            <a:extLst>
              <a:ext uri="{FF2B5EF4-FFF2-40B4-BE49-F238E27FC236}">
                <a16:creationId xmlns:a16="http://schemas.microsoft.com/office/drawing/2014/main" id="{237AFDFF-47DB-484F-884A-ABEF376C0021}"/>
              </a:ext>
            </a:extLst>
          </p:cNvPr>
          <p:cNvCxnSpPr/>
          <p:nvPr/>
        </p:nvCxnSpPr>
        <p:spPr bwMode="gray">
          <a:xfrm>
            <a:off x="7056179" y="3469146"/>
            <a:ext cx="785494"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70" name="直線矢印コネクタ 269">
            <a:extLst>
              <a:ext uri="{FF2B5EF4-FFF2-40B4-BE49-F238E27FC236}">
                <a16:creationId xmlns:a16="http://schemas.microsoft.com/office/drawing/2014/main" id="{1166D293-EDE9-4C71-AA0D-152495BE0343}"/>
              </a:ext>
            </a:extLst>
          </p:cNvPr>
          <p:cNvCxnSpPr/>
          <p:nvPr/>
        </p:nvCxnSpPr>
        <p:spPr bwMode="gray">
          <a:xfrm>
            <a:off x="7841113" y="3469146"/>
            <a:ext cx="155077"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196" name="正方形/長方形 195">
            <a:extLst>
              <a:ext uri="{FF2B5EF4-FFF2-40B4-BE49-F238E27FC236}">
                <a16:creationId xmlns:a16="http://schemas.microsoft.com/office/drawing/2014/main" id="{274BA302-CD17-4D42-B857-19753F504EC6}"/>
              </a:ext>
            </a:extLst>
          </p:cNvPr>
          <p:cNvSpPr/>
          <p:nvPr/>
        </p:nvSpPr>
        <p:spPr bwMode="gray">
          <a:xfrm>
            <a:off x="8533154" y="3169467"/>
            <a:ext cx="206620"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534</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8" name="正方形/長方形 197">
            <a:extLst>
              <a:ext uri="{FF2B5EF4-FFF2-40B4-BE49-F238E27FC236}">
                <a16:creationId xmlns:a16="http://schemas.microsoft.com/office/drawing/2014/main" id="{5BCFE51E-EA07-41E5-B43B-8D66566CCF45}"/>
              </a:ext>
            </a:extLst>
          </p:cNvPr>
          <p:cNvSpPr/>
          <p:nvPr/>
        </p:nvSpPr>
        <p:spPr bwMode="gray">
          <a:xfrm>
            <a:off x="8738796" y="3169467"/>
            <a:ext cx="265096"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681</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7" name="正方形/長方形 196">
            <a:extLst>
              <a:ext uri="{FF2B5EF4-FFF2-40B4-BE49-F238E27FC236}">
                <a16:creationId xmlns:a16="http://schemas.microsoft.com/office/drawing/2014/main" id="{568A26AA-E20C-4236-B8AF-0CC0A0B1C48D}"/>
              </a:ext>
            </a:extLst>
          </p:cNvPr>
          <p:cNvSpPr/>
          <p:nvPr/>
        </p:nvSpPr>
        <p:spPr bwMode="gray">
          <a:xfrm>
            <a:off x="9004871" y="3169467"/>
            <a:ext cx="66275"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endPar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175</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23" name="正方形/長方形 122">
            <a:extLst>
              <a:ext uri="{FF2B5EF4-FFF2-40B4-BE49-F238E27FC236}">
                <a16:creationId xmlns:a16="http://schemas.microsoft.com/office/drawing/2014/main" id="{6F00A8DA-19BA-4258-86BF-943E1096FE48}"/>
              </a:ext>
            </a:extLst>
          </p:cNvPr>
          <p:cNvSpPr/>
          <p:nvPr/>
        </p:nvSpPr>
        <p:spPr bwMode="gray">
          <a:xfrm>
            <a:off x="9100170" y="3169467"/>
            <a:ext cx="342883" cy="23433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1,390</a:t>
            </a:r>
          </a:p>
        </p:txBody>
      </p:sp>
      <p:sp>
        <p:nvSpPr>
          <p:cNvPr id="263" name="正方形/長方形 262">
            <a:extLst>
              <a:ext uri="{FF2B5EF4-FFF2-40B4-BE49-F238E27FC236}">
                <a16:creationId xmlns:a16="http://schemas.microsoft.com/office/drawing/2014/main" id="{DBDE73CC-0D64-4D34-88ED-4D06589C5021}"/>
              </a:ext>
            </a:extLst>
          </p:cNvPr>
          <p:cNvSpPr/>
          <p:nvPr/>
        </p:nvSpPr>
        <p:spPr bwMode="gray">
          <a:xfrm>
            <a:off x="8738796" y="3492764"/>
            <a:ext cx="266326"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en-US" altLang="ja-JP" sz="7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base" latinLnBrk="0" hangingPunct="1">
              <a:lnSpc>
                <a:spcPct val="100000"/>
              </a:lnSpc>
              <a:spcBef>
                <a:spcPts val="0"/>
              </a:spcBef>
              <a:spcAft>
                <a:spcPct val="0"/>
              </a:spcAft>
              <a:buClr>
                <a:schemeClr val="tx1"/>
              </a:buClr>
              <a:buSzTx/>
              <a:tabLst/>
            </a:pPr>
            <a:r>
              <a:rPr kumimoji="0" lang="en-US" altLang="ja-JP" sz="7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49.0%</a:t>
            </a:r>
          </a:p>
        </p:txBody>
      </p:sp>
      <p:sp>
        <p:nvSpPr>
          <p:cNvPr id="264" name="正方形/長方形 263">
            <a:extLst>
              <a:ext uri="{FF2B5EF4-FFF2-40B4-BE49-F238E27FC236}">
                <a16:creationId xmlns:a16="http://schemas.microsoft.com/office/drawing/2014/main" id="{6DCC9A72-EF8E-4E3D-9B59-ABABB351EADE}"/>
              </a:ext>
            </a:extLst>
          </p:cNvPr>
          <p:cNvSpPr/>
          <p:nvPr/>
        </p:nvSpPr>
        <p:spPr bwMode="gray">
          <a:xfrm>
            <a:off x="9004868" y="3492764"/>
            <a:ext cx="67424"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12.6%</a:t>
            </a:r>
          </a:p>
        </p:txBody>
      </p:sp>
      <p:sp>
        <p:nvSpPr>
          <p:cNvPr id="265" name="正方形/長方形 264">
            <a:extLst>
              <a:ext uri="{FF2B5EF4-FFF2-40B4-BE49-F238E27FC236}">
                <a16:creationId xmlns:a16="http://schemas.microsoft.com/office/drawing/2014/main" id="{FDC3314C-0DCB-4497-9040-90D9D5900E19}"/>
              </a:ext>
            </a:extLst>
          </p:cNvPr>
          <p:cNvSpPr/>
          <p:nvPr/>
        </p:nvSpPr>
        <p:spPr bwMode="gray">
          <a:xfrm>
            <a:off x="8533153" y="3492764"/>
            <a:ext cx="205644"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800" b="1">
                <a:solidFill>
                  <a:srgbClr val="00B050"/>
                </a:solidFill>
                <a:latin typeface="Meiryo UI" panose="020B0604030504040204" pitchFamily="50" charset="-128"/>
                <a:ea typeface="Meiryo UI" panose="020B0604030504040204" pitchFamily="50" charset="-128"/>
                <a:cs typeface="Meiryo UI" panose="020B0604030504040204" pitchFamily="50" charset="-128"/>
              </a:rPr>
              <a:t>38.4%</a:t>
            </a:r>
            <a:endParaRPr kumimoji="0" lang="en-US" altLang="ja-JP" sz="800" b="1" i="0" strike="noStrike" cap="none" normalizeH="0" baseline="0">
              <a:ln>
                <a:noFill/>
              </a:ln>
              <a:solidFill>
                <a:srgbClr val="00B050"/>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71" name="直線矢印コネクタ 270">
            <a:extLst>
              <a:ext uri="{FF2B5EF4-FFF2-40B4-BE49-F238E27FC236}">
                <a16:creationId xmlns:a16="http://schemas.microsoft.com/office/drawing/2014/main" id="{9A82ADC6-F20F-42F1-80DB-2B17465F1885}"/>
              </a:ext>
            </a:extLst>
          </p:cNvPr>
          <p:cNvCxnSpPr/>
          <p:nvPr/>
        </p:nvCxnSpPr>
        <p:spPr bwMode="gray">
          <a:xfrm>
            <a:off x="8533153" y="3469146"/>
            <a:ext cx="205644"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76" name="直線矢印コネクタ 275">
            <a:extLst>
              <a:ext uri="{FF2B5EF4-FFF2-40B4-BE49-F238E27FC236}">
                <a16:creationId xmlns:a16="http://schemas.microsoft.com/office/drawing/2014/main" id="{750CC104-AE42-4420-A225-149388D0CF1A}"/>
              </a:ext>
            </a:extLst>
          </p:cNvPr>
          <p:cNvCxnSpPr/>
          <p:nvPr/>
        </p:nvCxnSpPr>
        <p:spPr bwMode="gray">
          <a:xfrm>
            <a:off x="9004868" y="3469146"/>
            <a:ext cx="67424"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78" name="直線矢印コネクタ 277">
            <a:extLst>
              <a:ext uri="{FF2B5EF4-FFF2-40B4-BE49-F238E27FC236}">
                <a16:creationId xmlns:a16="http://schemas.microsoft.com/office/drawing/2014/main" id="{64BD6E44-4AD9-4827-AC36-D34AB9E953CD}"/>
              </a:ext>
            </a:extLst>
          </p:cNvPr>
          <p:cNvCxnSpPr/>
          <p:nvPr/>
        </p:nvCxnSpPr>
        <p:spPr bwMode="gray">
          <a:xfrm>
            <a:off x="8738796" y="3469146"/>
            <a:ext cx="266326"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237" name="正方形/長方形 236">
            <a:extLst>
              <a:ext uri="{FF2B5EF4-FFF2-40B4-BE49-F238E27FC236}">
                <a16:creationId xmlns:a16="http://schemas.microsoft.com/office/drawing/2014/main" id="{08CDAB24-9ED2-4760-A4AE-1D5962F0061E}"/>
              </a:ext>
            </a:extLst>
          </p:cNvPr>
          <p:cNvSpPr/>
          <p:nvPr/>
        </p:nvSpPr>
        <p:spPr bwMode="gray">
          <a:xfrm>
            <a:off x="4353558" y="3492764"/>
            <a:ext cx="249471"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14.6%</a:t>
            </a:r>
          </a:p>
        </p:txBody>
      </p:sp>
      <p:cxnSp>
        <p:nvCxnSpPr>
          <p:cNvPr id="245" name="直線矢印コネクタ 244">
            <a:extLst>
              <a:ext uri="{FF2B5EF4-FFF2-40B4-BE49-F238E27FC236}">
                <a16:creationId xmlns:a16="http://schemas.microsoft.com/office/drawing/2014/main" id="{B5BF4BBF-058F-4B03-ABF2-71B100CF19FB}"/>
              </a:ext>
            </a:extLst>
          </p:cNvPr>
          <p:cNvCxnSpPr/>
          <p:nvPr/>
        </p:nvCxnSpPr>
        <p:spPr bwMode="gray">
          <a:xfrm>
            <a:off x="4353558" y="3469146"/>
            <a:ext cx="249471"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192" name="正方形/長方形 191">
            <a:extLst>
              <a:ext uri="{FF2B5EF4-FFF2-40B4-BE49-F238E27FC236}">
                <a16:creationId xmlns:a16="http://schemas.microsoft.com/office/drawing/2014/main" id="{B7FF1582-CD6F-4B4A-AC45-09887C959895}"/>
              </a:ext>
            </a:extLst>
          </p:cNvPr>
          <p:cNvSpPr/>
          <p:nvPr/>
        </p:nvSpPr>
        <p:spPr bwMode="gray">
          <a:xfrm>
            <a:off x="4353557" y="3169466"/>
            <a:ext cx="249502" cy="234337"/>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645</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21" name="正方形/長方形 120">
            <a:extLst>
              <a:ext uri="{FF2B5EF4-FFF2-40B4-BE49-F238E27FC236}">
                <a16:creationId xmlns:a16="http://schemas.microsoft.com/office/drawing/2014/main" id="{9D2F3860-7111-4FE1-9906-76F04B5B0296}"/>
              </a:ext>
            </a:extLst>
          </p:cNvPr>
          <p:cNvSpPr/>
          <p:nvPr/>
        </p:nvSpPr>
        <p:spPr bwMode="gray">
          <a:xfrm>
            <a:off x="6090121" y="3169467"/>
            <a:ext cx="342883" cy="234338"/>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4,407</a:t>
            </a:r>
          </a:p>
        </p:txBody>
      </p:sp>
      <p:sp>
        <p:nvSpPr>
          <p:cNvPr id="194" name="正方形/長方形 193">
            <a:extLst>
              <a:ext uri="{FF2B5EF4-FFF2-40B4-BE49-F238E27FC236}">
                <a16:creationId xmlns:a16="http://schemas.microsoft.com/office/drawing/2014/main" id="{E1D787EE-843B-423C-9D50-ABC26A77F282}"/>
              </a:ext>
            </a:extLst>
          </p:cNvPr>
          <p:cNvSpPr/>
          <p:nvPr/>
        </p:nvSpPr>
        <p:spPr bwMode="gray">
          <a:xfrm>
            <a:off x="4852565" y="3169465"/>
            <a:ext cx="843259" cy="234337"/>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2,167</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5" name="正方形/長方形 194">
            <a:extLst>
              <a:ext uri="{FF2B5EF4-FFF2-40B4-BE49-F238E27FC236}">
                <a16:creationId xmlns:a16="http://schemas.microsoft.com/office/drawing/2014/main" id="{EE158139-2BE6-4688-A196-4AC5BB79AE75}"/>
              </a:ext>
            </a:extLst>
          </p:cNvPr>
          <p:cNvSpPr/>
          <p:nvPr/>
        </p:nvSpPr>
        <p:spPr bwMode="gray">
          <a:xfrm>
            <a:off x="5694635" y="3169466"/>
            <a:ext cx="366457" cy="234337"/>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945</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1" name="正方形/長方形 190">
            <a:extLst>
              <a:ext uri="{FF2B5EF4-FFF2-40B4-BE49-F238E27FC236}">
                <a16:creationId xmlns:a16="http://schemas.microsoft.com/office/drawing/2014/main" id="{37386A23-FA19-409E-BC44-D0DF3B520944}"/>
              </a:ext>
            </a:extLst>
          </p:cNvPr>
          <p:cNvSpPr/>
          <p:nvPr/>
        </p:nvSpPr>
        <p:spPr bwMode="gray">
          <a:xfrm>
            <a:off x="4700524" y="3169465"/>
            <a:ext cx="152041" cy="234337"/>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396</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93" name="正方形/長方形 192">
            <a:extLst>
              <a:ext uri="{FF2B5EF4-FFF2-40B4-BE49-F238E27FC236}">
                <a16:creationId xmlns:a16="http://schemas.microsoft.com/office/drawing/2014/main" id="{31601741-0B40-444B-95B9-3054C634A35F}"/>
              </a:ext>
            </a:extLst>
          </p:cNvPr>
          <p:cNvSpPr/>
          <p:nvPr/>
        </p:nvSpPr>
        <p:spPr bwMode="gray">
          <a:xfrm>
            <a:off x="4603060" y="3169465"/>
            <a:ext cx="97461" cy="234337"/>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endPar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252</a:t>
            </a:r>
            <a:endPar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8" name="正方形/長方形 237">
            <a:extLst>
              <a:ext uri="{FF2B5EF4-FFF2-40B4-BE49-F238E27FC236}">
                <a16:creationId xmlns:a16="http://schemas.microsoft.com/office/drawing/2014/main" id="{24614327-8290-4E1E-95F6-D062916D0E0B}"/>
              </a:ext>
            </a:extLst>
          </p:cNvPr>
          <p:cNvSpPr/>
          <p:nvPr/>
        </p:nvSpPr>
        <p:spPr bwMode="gray">
          <a:xfrm>
            <a:off x="4603062" y="3492764"/>
            <a:ext cx="97766"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lang="en-US" altLang="ja-JP" sz="700">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ts val="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5.7%</a:t>
            </a:r>
          </a:p>
        </p:txBody>
      </p:sp>
      <p:sp>
        <p:nvSpPr>
          <p:cNvPr id="239" name="正方形/長方形 238">
            <a:extLst>
              <a:ext uri="{FF2B5EF4-FFF2-40B4-BE49-F238E27FC236}">
                <a16:creationId xmlns:a16="http://schemas.microsoft.com/office/drawing/2014/main" id="{48872765-F7AB-452A-8A4F-C6D61FBBF021}"/>
              </a:ext>
            </a:extLst>
          </p:cNvPr>
          <p:cNvSpPr/>
          <p:nvPr/>
        </p:nvSpPr>
        <p:spPr bwMode="gray">
          <a:xfrm>
            <a:off x="4700525" y="3492764"/>
            <a:ext cx="151705"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r>
              <a:rPr lang="en-US" altLang="ja-JP" sz="700">
                <a:latin typeface="Meiryo UI" panose="020B0604030504040204" pitchFamily="50" charset="-128"/>
                <a:ea typeface="Meiryo UI" panose="020B0604030504040204" pitchFamily="50" charset="-128"/>
                <a:cs typeface="Meiryo UI" panose="020B0604030504040204" pitchFamily="50" charset="-128"/>
              </a:rPr>
              <a:t>9.0%</a:t>
            </a:r>
          </a:p>
        </p:txBody>
      </p:sp>
      <p:sp>
        <p:nvSpPr>
          <p:cNvPr id="240" name="正方形/長方形 239">
            <a:extLst>
              <a:ext uri="{FF2B5EF4-FFF2-40B4-BE49-F238E27FC236}">
                <a16:creationId xmlns:a16="http://schemas.microsoft.com/office/drawing/2014/main" id="{3E561DDE-1CF5-43B1-AC64-C4BAFB9D8E41}"/>
              </a:ext>
            </a:extLst>
          </p:cNvPr>
          <p:cNvSpPr/>
          <p:nvPr/>
        </p:nvSpPr>
        <p:spPr bwMode="gray">
          <a:xfrm>
            <a:off x="5708460" y="3492764"/>
            <a:ext cx="367463"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a:ln>
                  <a:noFill/>
                </a:ln>
                <a:solidFill>
                  <a:srgbClr val="00B050"/>
                </a:solidFill>
                <a:effectLst/>
                <a:latin typeface="Meiryo UI" panose="020B0604030504040204" pitchFamily="50" charset="-128"/>
                <a:ea typeface="Meiryo UI" panose="020B0604030504040204" pitchFamily="50" charset="-128"/>
                <a:cs typeface="Meiryo UI" panose="020B0604030504040204" pitchFamily="50" charset="-128"/>
              </a:rPr>
              <a:t>24.6%</a:t>
            </a:r>
          </a:p>
        </p:txBody>
      </p:sp>
      <p:sp>
        <p:nvSpPr>
          <p:cNvPr id="242" name="正方形/長方形 241">
            <a:extLst>
              <a:ext uri="{FF2B5EF4-FFF2-40B4-BE49-F238E27FC236}">
                <a16:creationId xmlns:a16="http://schemas.microsoft.com/office/drawing/2014/main" id="{EE30A007-1C73-41EC-A607-C7E8C2C848F2}"/>
              </a:ext>
            </a:extLst>
          </p:cNvPr>
          <p:cNvSpPr/>
          <p:nvPr/>
        </p:nvSpPr>
        <p:spPr bwMode="gray">
          <a:xfrm>
            <a:off x="4852565" y="3492764"/>
            <a:ext cx="842805" cy="146462"/>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kumimoji="0" lang="en-US" altLang="ja-JP" sz="800" b="1" i="0" strike="noStrike" cap="none" normalizeH="0" baseline="0" dirty="0">
                <a:ln>
                  <a:noFill/>
                </a:ln>
                <a:solidFill>
                  <a:srgbClr val="00B050"/>
                </a:solidFill>
                <a:effectLst/>
                <a:latin typeface="Meiryo UI" panose="020B0604030504040204" pitchFamily="50" charset="-128"/>
                <a:ea typeface="Meiryo UI" panose="020B0604030504040204" pitchFamily="50" charset="-128"/>
                <a:cs typeface="Meiryo UI" panose="020B0604030504040204" pitchFamily="50" charset="-128"/>
              </a:rPr>
              <a:t>49.2%</a:t>
            </a:r>
          </a:p>
        </p:txBody>
      </p:sp>
      <p:cxnSp>
        <p:nvCxnSpPr>
          <p:cNvPr id="246" name="直線矢印コネクタ 245">
            <a:extLst>
              <a:ext uri="{FF2B5EF4-FFF2-40B4-BE49-F238E27FC236}">
                <a16:creationId xmlns:a16="http://schemas.microsoft.com/office/drawing/2014/main" id="{D21D6829-CB69-41D5-AAF1-92D824D2B45A}"/>
              </a:ext>
            </a:extLst>
          </p:cNvPr>
          <p:cNvCxnSpPr/>
          <p:nvPr/>
        </p:nvCxnSpPr>
        <p:spPr bwMode="gray">
          <a:xfrm>
            <a:off x="4603062" y="3469146"/>
            <a:ext cx="97766"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47" name="直線矢印コネクタ 246">
            <a:extLst>
              <a:ext uri="{FF2B5EF4-FFF2-40B4-BE49-F238E27FC236}">
                <a16:creationId xmlns:a16="http://schemas.microsoft.com/office/drawing/2014/main" id="{37CA6A97-D557-42EA-952E-1A9766D32D25}"/>
              </a:ext>
            </a:extLst>
          </p:cNvPr>
          <p:cNvCxnSpPr/>
          <p:nvPr/>
        </p:nvCxnSpPr>
        <p:spPr bwMode="gray">
          <a:xfrm>
            <a:off x="4700525" y="3469146"/>
            <a:ext cx="151705"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48" name="直線矢印コネクタ 247">
            <a:extLst>
              <a:ext uri="{FF2B5EF4-FFF2-40B4-BE49-F238E27FC236}">
                <a16:creationId xmlns:a16="http://schemas.microsoft.com/office/drawing/2014/main" id="{42139BA6-04BF-4E1E-8F0D-C94223BB5473}"/>
              </a:ext>
            </a:extLst>
          </p:cNvPr>
          <p:cNvCxnSpPr/>
          <p:nvPr/>
        </p:nvCxnSpPr>
        <p:spPr bwMode="gray">
          <a:xfrm>
            <a:off x="4852565" y="3469146"/>
            <a:ext cx="842805"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251" name="直線矢印コネクタ 250">
            <a:extLst>
              <a:ext uri="{FF2B5EF4-FFF2-40B4-BE49-F238E27FC236}">
                <a16:creationId xmlns:a16="http://schemas.microsoft.com/office/drawing/2014/main" id="{239F7462-9165-4FE0-9DFC-273BCF32669A}"/>
              </a:ext>
            </a:extLst>
          </p:cNvPr>
          <p:cNvCxnSpPr/>
          <p:nvPr/>
        </p:nvCxnSpPr>
        <p:spPr bwMode="gray">
          <a:xfrm>
            <a:off x="5694636" y="3469146"/>
            <a:ext cx="367463" cy="0"/>
          </a:xfrm>
          <a:prstGeom prst="straightConnector1">
            <a:avLst/>
          </a:prstGeom>
          <a:noFill/>
          <a:ln w="9525" algn="ctr">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219" name="正方形/長方形 218">
            <a:extLst>
              <a:ext uri="{FF2B5EF4-FFF2-40B4-BE49-F238E27FC236}">
                <a16:creationId xmlns:a16="http://schemas.microsoft.com/office/drawing/2014/main" id="{45A11CBE-B3AD-4D82-96E7-6D0631C3C973}"/>
              </a:ext>
            </a:extLst>
          </p:cNvPr>
          <p:cNvSpPr/>
          <p:nvPr/>
        </p:nvSpPr>
        <p:spPr bwMode="gray">
          <a:xfrm>
            <a:off x="7841113" y="3169467"/>
            <a:ext cx="155433"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lang="en-US" altLang="ja-JP" sz="800">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800">
                <a:latin typeface="Meiryo UI" panose="020B0604030504040204" pitchFamily="50" charset="-128"/>
                <a:ea typeface="Meiryo UI" panose="020B0604030504040204" pitchFamily="50" charset="-128"/>
                <a:cs typeface="Meiryo UI" panose="020B0604030504040204" pitchFamily="50" charset="-128"/>
              </a:rPr>
              <a:t>407</a:t>
            </a:r>
            <a:endParaRPr kumimoji="0" lang="ja-JP" altLang="en-US" sz="8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84" name="正方形/長方形 183">
            <a:extLst>
              <a:ext uri="{FF2B5EF4-FFF2-40B4-BE49-F238E27FC236}">
                <a16:creationId xmlns:a16="http://schemas.microsoft.com/office/drawing/2014/main" id="{35F21ECB-F751-4D1C-BB3C-9645604B2BEE}"/>
              </a:ext>
            </a:extLst>
          </p:cNvPr>
          <p:cNvSpPr/>
          <p:nvPr/>
        </p:nvSpPr>
        <p:spPr bwMode="gray">
          <a:xfrm>
            <a:off x="1139106" y="3169466"/>
            <a:ext cx="752406" cy="234338"/>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1,937</a:t>
            </a:r>
            <a:endPar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29" name="正方形/長方形 228">
            <a:extLst>
              <a:ext uri="{FF2B5EF4-FFF2-40B4-BE49-F238E27FC236}">
                <a16:creationId xmlns:a16="http://schemas.microsoft.com/office/drawing/2014/main" id="{B8E4627D-693E-48F2-8E0F-5F42BF690C7A}"/>
              </a:ext>
            </a:extLst>
          </p:cNvPr>
          <p:cNvSpPr/>
          <p:nvPr/>
        </p:nvSpPr>
        <p:spPr bwMode="gray">
          <a:xfrm>
            <a:off x="238713" y="3169465"/>
            <a:ext cx="691200" cy="525061"/>
          </a:xfrm>
          <a:prstGeom prst="rect">
            <a:avLst/>
          </a:prstGeom>
          <a:solidFill>
            <a:schemeClr val="accent5">
              <a:lumMod val="40000"/>
              <a:lumOff val="6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
                <a:schemeClr val="tx1"/>
              </a:buClr>
              <a:buSzTx/>
              <a:tabLst/>
            </a:pPr>
            <a:endParaRPr kumimoji="0" lang="en-US" altLang="ja-JP" sz="3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ts val="0"/>
              </a:spcBef>
              <a:spcAft>
                <a:spcPct val="0"/>
              </a:spcAft>
              <a:buClr>
                <a:schemeClr val="tx1"/>
              </a:buClr>
              <a:buSzTx/>
              <a:tabLst/>
            </a:pPr>
            <a:r>
              <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業務</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粗利</a:t>
            </a:r>
            <a:endPar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24" name="正方形/長方形 223">
            <a:extLst>
              <a:ext uri="{FF2B5EF4-FFF2-40B4-BE49-F238E27FC236}">
                <a16:creationId xmlns:a16="http://schemas.microsoft.com/office/drawing/2014/main" id="{0E817511-92C9-46BF-861C-8E6129332594}"/>
              </a:ext>
            </a:extLst>
          </p:cNvPr>
          <p:cNvSpPr/>
          <p:nvPr/>
        </p:nvSpPr>
        <p:spPr bwMode="gray">
          <a:xfrm>
            <a:off x="480264" y="3393595"/>
            <a:ext cx="448328" cy="302365"/>
          </a:xfrm>
          <a:prstGeom prst="rect">
            <a:avLst/>
          </a:prstGeom>
          <a:solidFill>
            <a:schemeClr val="bg1"/>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800" dirty="0">
                <a:latin typeface="Meiryo UI" panose="020B0604030504040204" pitchFamily="50" charset="-128"/>
                <a:ea typeface="Meiryo UI" panose="020B0604030504040204" pitchFamily="50" charset="-128"/>
                <a:cs typeface="Meiryo UI" panose="020B0604030504040204" pitchFamily="50" charset="-128"/>
              </a:rPr>
              <a:t>部門ごと</a:t>
            </a:r>
            <a:endParaRPr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marL="0" marR="0" indent="0" algn="ctr" defTabSz="914400" rtl="0" eaLnBrk="1" fontAlgn="base" latinLnBrk="0" hangingPunct="1">
              <a:lnSpc>
                <a:spcPct val="100000"/>
              </a:lnSpc>
              <a:spcBef>
                <a:spcPts val="0"/>
              </a:spcBef>
              <a:spcAft>
                <a:spcPct val="0"/>
              </a:spcAft>
              <a:buClr>
                <a:schemeClr val="tx1"/>
              </a:buClr>
              <a:buSzTx/>
              <a:tabLst/>
            </a:pPr>
            <a:r>
              <a:rPr kumimoji="0" lang="ja-JP" altLang="en-US" sz="800" i="0"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rPr>
              <a:t>の割合</a:t>
            </a:r>
            <a:endParaRPr kumimoji="0" lang="ja-JP" altLang="en-US" sz="8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1" name="正方形/長方形 230">
            <a:extLst>
              <a:ext uri="{FF2B5EF4-FFF2-40B4-BE49-F238E27FC236}">
                <a16:creationId xmlns:a16="http://schemas.microsoft.com/office/drawing/2014/main" id="{7BEFAC55-94E1-43BC-861B-DB886C916A25}"/>
              </a:ext>
            </a:extLst>
          </p:cNvPr>
          <p:cNvSpPr/>
          <p:nvPr/>
        </p:nvSpPr>
        <p:spPr bwMode="gray">
          <a:xfrm>
            <a:off x="238306" y="3801386"/>
            <a:ext cx="691200" cy="135090"/>
          </a:xfrm>
          <a:prstGeom prst="rect">
            <a:avLst/>
          </a:prstGeom>
          <a:solidFill>
            <a:schemeClr val="bg1">
              <a:lumMod val="50000"/>
            </a:schemeClr>
          </a:solidFill>
          <a:ln w="9525" cap="flat" cmpd="sng" algn="ctr">
            <a:solidFill>
              <a:schemeClr val="bg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0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損失</a:t>
            </a:r>
            <a:endParaRPr kumimoji="0" lang="ja-JP" altLang="en-US" sz="1000" i="0"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88" name="直線コネクタ 287">
            <a:extLst>
              <a:ext uri="{FF2B5EF4-FFF2-40B4-BE49-F238E27FC236}">
                <a16:creationId xmlns:a16="http://schemas.microsoft.com/office/drawing/2014/main" id="{60B63542-FE89-4BB3-9711-62E87D5BAFF7}"/>
              </a:ext>
            </a:extLst>
          </p:cNvPr>
          <p:cNvCxnSpPr>
            <a:cxnSpLocks/>
          </p:cNvCxnSpPr>
          <p:nvPr/>
        </p:nvCxnSpPr>
        <p:spPr bwMode="gray">
          <a:xfrm flipH="1">
            <a:off x="1042167" y="3936007"/>
            <a:ext cx="8496000" cy="0"/>
          </a:xfrm>
          <a:prstGeom prst="line">
            <a:avLst/>
          </a:prstGeom>
          <a:noFill/>
          <a:ln w="9525" algn="ctr">
            <a:solidFill>
              <a:schemeClr val="bg1">
                <a:lumMod val="75000"/>
              </a:schemeClr>
            </a:solidFill>
            <a:prstDash val="solid"/>
            <a:round/>
            <a:headEnd/>
            <a:tailEnd/>
          </a:ln>
          <a:extLst>
            <a:ext uri="{909E8E84-426E-40DD-AFC4-6F175D3DCCD1}">
              <a14:hiddenFill xmlns:a14="http://schemas.microsoft.com/office/drawing/2010/main">
                <a:noFill/>
              </a14:hiddenFill>
            </a:ext>
          </a:extLst>
        </p:spPr>
      </p:cxnSp>
      <p:cxnSp>
        <p:nvCxnSpPr>
          <p:cNvPr id="296" name="直線コネクタ 295">
            <a:extLst>
              <a:ext uri="{FF2B5EF4-FFF2-40B4-BE49-F238E27FC236}">
                <a16:creationId xmlns:a16="http://schemas.microsoft.com/office/drawing/2014/main" id="{CC792EF7-01C3-43DF-95B8-AF4D20B3D1A1}"/>
              </a:ext>
            </a:extLst>
          </p:cNvPr>
          <p:cNvCxnSpPr>
            <a:cxnSpLocks/>
          </p:cNvCxnSpPr>
          <p:nvPr/>
        </p:nvCxnSpPr>
        <p:spPr bwMode="gray">
          <a:xfrm flipH="1">
            <a:off x="1042167" y="6438162"/>
            <a:ext cx="8496000" cy="0"/>
          </a:xfrm>
          <a:prstGeom prst="line">
            <a:avLst/>
          </a:prstGeom>
          <a:noFill/>
          <a:ln w="9525" algn="ctr">
            <a:solidFill>
              <a:schemeClr val="bg1">
                <a:lumMod val="75000"/>
              </a:schemeClr>
            </a:solidFill>
            <a:prstDash val="solid"/>
            <a:round/>
            <a:headEnd/>
            <a:tailEnd/>
          </a:ln>
          <a:extLst>
            <a:ext uri="{909E8E84-426E-40DD-AFC4-6F175D3DCCD1}">
              <a14:hiddenFill xmlns:a14="http://schemas.microsoft.com/office/drawing/2010/main">
                <a:noFill/>
              </a14:hiddenFill>
            </a:ext>
          </a:extLst>
        </p:spPr>
      </p:cxnSp>
      <p:sp>
        <p:nvSpPr>
          <p:cNvPr id="172" name="タイトル 1">
            <a:extLst>
              <a:ext uri="{FF2B5EF4-FFF2-40B4-BE49-F238E27FC236}">
                <a16:creationId xmlns:a16="http://schemas.microsoft.com/office/drawing/2014/main" id="{48F176A9-88F6-4896-BC2D-2C940A66C50E}"/>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２</a:t>
            </a:r>
            <a:r>
              <a:rPr lang="en-US" altLang="ja-JP" kern="0" dirty="0">
                <a:latin typeface="Meiryo UI"/>
                <a:ea typeface="Meiryo UI"/>
              </a:rPr>
              <a:t>.</a:t>
            </a:r>
            <a:r>
              <a:rPr lang="ja-JP" altLang="en-US" kern="0" dirty="0">
                <a:latin typeface="Meiryo UI"/>
                <a:ea typeface="Meiryo UI"/>
              </a:rPr>
              <a:t> ビジネス</a:t>
            </a:r>
            <a:br>
              <a:rPr lang="en-US" altLang="ja-JP" kern="0" dirty="0">
                <a:latin typeface="Meiryo UI" panose="020B0604030504040204" pitchFamily="50" charset="-128"/>
                <a:ea typeface="Meiryo UI" panose="020B0604030504040204" pitchFamily="50" charset="-128"/>
              </a:rPr>
            </a:br>
            <a:r>
              <a:rPr lang="en-US" altLang="ja-JP" kern="0" dirty="0">
                <a:latin typeface="Meiryo UI" panose="020B0604030504040204" pitchFamily="50" charset="-128"/>
                <a:ea typeface="Meiryo UI" panose="020B0604030504040204" pitchFamily="50" charset="-128"/>
              </a:rPr>
              <a:t>ii.</a:t>
            </a:r>
            <a:r>
              <a:rPr lang="ja-JP" altLang="en-US" kern="0" dirty="0">
                <a:latin typeface="Meiryo UI" panose="020B0604030504040204" pitchFamily="50" charset="-128"/>
                <a:ea typeface="Meiryo UI" panose="020B0604030504040204" pitchFamily="50" charset="-128"/>
              </a:rPr>
              <a:t> 各社の注力部門比較</a:t>
            </a:r>
            <a:endParaRPr lang="ja-JP" altLang="en-US" kern="0" dirty="0"/>
          </a:p>
        </p:txBody>
      </p:sp>
      <p:sp>
        <p:nvSpPr>
          <p:cNvPr id="173" name="コンテンツ プレースホルダー 3">
            <a:extLst>
              <a:ext uri="{FF2B5EF4-FFF2-40B4-BE49-F238E27FC236}">
                <a16:creationId xmlns:a16="http://schemas.microsoft.com/office/drawing/2014/main" id="{3733BC38-479A-4BC0-8ACE-F36A7324C2A6}"/>
              </a:ext>
            </a:extLst>
          </p:cNvPr>
          <p:cNvSpPr txBox="1">
            <a:spLocks/>
          </p:cNvSpPr>
          <p:nvPr/>
        </p:nvSpPr>
        <p:spPr bwMode="gray">
          <a:xfrm>
            <a:off x="127155" y="777701"/>
            <a:ext cx="9648000" cy="335989"/>
          </a:xfrm>
          <a:prstGeom prst="rect">
            <a:avLst/>
          </a:prstGeom>
        </p:spPr>
        <p:txBody>
          <a:bodyPr/>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pPr>
              <a:spcBef>
                <a:spcPts val="300"/>
              </a:spcBef>
              <a:buClrTx/>
            </a:pPr>
            <a:r>
              <a:rPr lang="en-US" altLang="ja-JP" sz="1400" dirty="0"/>
              <a:t>SMTB</a:t>
            </a:r>
            <a:r>
              <a:rPr lang="ja-JP" altLang="en-US" sz="1400" dirty="0"/>
              <a:t>はグループ内に普通銀行がなく、独力での顧客基盤構築が必要となるため、全国に多数の店舗を設置しており、</a:t>
            </a:r>
            <a:r>
              <a:rPr lang="en-US" altLang="ja-JP" sz="1400" dirty="0"/>
              <a:t>MUTB</a:t>
            </a:r>
            <a:r>
              <a:rPr lang="ja-JP" altLang="en-US" sz="1400" dirty="0"/>
              <a:t>より個人部門への注力度合いが大きい。また、普通銀行が得意とするバンキング部門にも注力。</a:t>
            </a:r>
            <a:endParaRPr lang="en-US" altLang="ja-JP" sz="1400" dirty="0"/>
          </a:p>
          <a:p>
            <a:pPr>
              <a:spcBef>
                <a:spcPts val="300"/>
              </a:spcBef>
              <a:buClrTx/>
            </a:pPr>
            <a:r>
              <a:rPr lang="en-US" altLang="ja-JP" sz="1400" dirty="0"/>
              <a:t>MUTB</a:t>
            </a:r>
            <a:r>
              <a:rPr lang="ja-JP" altLang="en-US" sz="1400" dirty="0"/>
              <a:t>は安定的な収益を産む受託部門と、利益率の高い市場部門に注力。当初は三菱</a:t>
            </a:r>
            <a:r>
              <a:rPr lang="en-US" altLang="ja-JP" sz="1400" dirty="0"/>
              <a:t>UFJ</a:t>
            </a:r>
            <a:r>
              <a:rPr lang="ja-JP" altLang="en-US" sz="1400" dirty="0"/>
              <a:t>銀行と同様バンキング部門にも取り組んでいたが、金利低下等の環境変化を踏まえグループ全体で選択と集中を行い、バンキング部門を三菱</a:t>
            </a:r>
            <a:r>
              <a:rPr lang="en-US" altLang="ja-JP" sz="1400" dirty="0"/>
              <a:t>UFJ</a:t>
            </a:r>
            <a:r>
              <a:rPr lang="ja-JP" altLang="en-US" sz="1400" dirty="0"/>
              <a:t>銀行に委譲し撤退。</a:t>
            </a:r>
            <a:endParaRPr lang="en-US" altLang="ja-JP" sz="1400" dirty="0"/>
          </a:p>
          <a:p>
            <a:pPr>
              <a:spcBef>
                <a:spcPts val="300"/>
              </a:spcBef>
              <a:buClrTx/>
            </a:pPr>
            <a:r>
              <a:rPr lang="ja-JP" altLang="en-US" sz="1400" dirty="0"/>
              <a:t>りそな、みずほは</a:t>
            </a:r>
            <a:r>
              <a:rPr lang="en-US" altLang="ja-JP" sz="1400" dirty="0"/>
              <a:t>SMTB</a:t>
            </a:r>
            <a:r>
              <a:rPr lang="ja-JP" altLang="en-US" sz="1400" dirty="0"/>
              <a:t>・</a:t>
            </a:r>
            <a:r>
              <a:rPr lang="en-US" altLang="ja-JP" sz="1400" dirty="0"/>
              <a:t>MUTB</a:t>
            </a:r>
            <a:r>
              <a:rPr lang="ja-JP" altLang="en-US" sz="1400" dirty="0"/>
              <a:t>より個人への注力度合いが大きい。</a:t>
            </a:r>
            <a:endParaRPr lang="en-US" altLang="ja-JP" sz="1400" dirty="0">
              <a:solidFill>
                <a:srgbClr val="FF0000"/>
              </a:solidFill>
            </a:endParaRPr>
          </a:p>
        </p:txBody>
      </p:sp>
      <p:sp>
        <p:nvSpPr>
          <p:cNvPr id="163" name="正方形/長方形 162">
            <a:extLst>
              <a:ext uri="{FF2B5EF4-FFF2-40B4-BE49-F238E27FC236}">
                <a16:creationId xmlns:a16="http://schemas.microsoft.com/office/drawing/2014/main" id="{FC9388A4-358D-48D8-8863-CA9FFFB0BC33}"/>
              </a:ext>
            </a:extLst>
          </p:cNvPr>
          <p:cNvSpPr/>
          <p:nvPr/>
        </p:nvSpPr>
        <p:spPr bwMode="gray">
          <a:xfrm>
            <a:off x="7750620" y="124224"/>
            <a:ext cx="1837573" cy="556269"/>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t" anchorCtr="0" compatLnSpc="1">
            <a:prstTxWarp prst="textNoShape">
              <a:avLst/>
            </a:prstTxWarp>
          </a:bodyPr>
          <a:lstStyle/>
          <a:p>
            <a:pPr marL="87313" marR="0" algn="l" defTabSz="914400" rtl="0" eaLnBrk="1" fontAlgn="base" latinLnBrk="0" hangingPunct="1">
              <a:lnSpc>
                <a:spcPct val="100000"/>
              </a:lnSpc>
              <a:spcBef>
                <a:spcPct val="20000"/>
              </a:spcBef>
              <a:spcAft>
                <a:spcPct val="0"/>
              </a:spcAft>
              <a:buClr>
                <a:schemeClr val="tx1"/>
              </a:buClr>
              <a:buSzTx/>
              <a:tabLst/>
            </a:pPr>
            <a:endParaRPr kumimoji="0" lang="en-US" altLang="ja-JP" sz="900" b="0" i="0"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endParaRPr>
          </a:p>
          <a:p>
            <a:pPr marL="87313" algn="l">
              <a:spcBef>
                <a:spcPts val="0"/>
              </a:spcBef>
            </a:pPr>
            <a:r>
              <a:rPr kumimoji="0" lang="ja-JP" altLang="en-US" sz="800" b="1" i="0" strike="noStrike" cap="none" normalizeH="0" baseline="0" dirty="0">
                <a:ln>
                  <a:noFill/>
                </a:ln>
                <a:solidFill>
                  <a:srgbClr val="00B050"/>
                </a:solidFill>
                <a:effectLst/>
                <a:latin typeface="Meiryo UI" panose="020B0604030504040204" pitchFamily="50" charset="-128"/>
                <a:ea typeface="Meiryo UI" panose="020B0604030504040204" pitchFamily="50" charset="-128"/>
                <a:cs typeface="Meiryo UI" panose="020B0604030504040204" pitchFamily="50" charset="-128"/>
              </a:rPr>
              <a:t>他社と比較して注力度合が大きい</a:t>
            </a:r>
            <a:endParaRPr kumimoji="0" lang="en-US" altLang="ja-JP" sz="800" b="1" i="0" strike="noStrike" cap="none" normalizeH="0" baseline="0" dirty="0">
              <a:ln>
                <a:noFill/>
              </a:ln>
              <a:solidFill>
                <a:srgbClr val="00B050"/>
              </a:solidFill>
              <a:effectLst/>
              <a:latin typeface="Meiryo UI" panose="020B0604030504040204" pitchFamily="50" charset="-128"/>
              <a:ea typeface="Meiryo UI" panose="020B0604030504040204" pitchFamily="50" charset="-128"/>
              <a:cs typeface="Meiryo UI" panose="020B0604030504040204" pitchFamily="50" charset="-128"/>
            </a:endParaRPr>
          </a:p>
          <a:p>
            <a:pPr marL="87313" algn="l">
              <a:spcBef>
                <a:spcPts val="300"/>
              </a:spcBef>
            </a:pPr>
            <a:r>
              <a:rPr lang="ja-JP" altLang="en-US" sz="8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収益性が高い</a:t>
            </a:r>
            <a:r>
              <a:rPr kumimoji="0" lang="ja-JP" altLang="en-US" sz="800" i="0"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0" lang="ja-JP" altLang="en-US" sz="8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収益性が低い</a:t>
            </a:r>
            <a:endParaRPr kumimoji="0" lang="en-US" altLang="ja-JP" sz="8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70" name="Rectangle 3">
            <a:extLst>
              <a:ext uri="{FF2B5EF4-FFF2-40B4-BE49-F238E27FC236}">
                <a16:creationId xmlns:a16="http://schemas.microsoft.com/office/drawing/2014/main" id="{BCCD4BAA-36C3-4B58-831B-36A94743F263}"/>
              </a:ext>
            </a:extLst>
          </p:cNvPr>
          <p:cNvSpPr/>
          <p:nvPr/>
        </p:nvSpPr>
        <p:spPr bwMode="gray">
          <a:xfrm>
            <a:off x="7783547" y="66687"/>
            <a:ext cx="360000" cy="167560"/>
          </a:xfrm>
          <a:prstGeom prst="rect">
            <a:avLst/>
          </a:prstGeom>
          <a:solidFill>
            <a:schemeClr val="bg1"/>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r>
              <a:rPr lang="ja-JP" altLang="en-US" sz="1050" dirty="0">
                <a:latin typeface="Meiryo UI" panose="020B0604030504040204" pitchFamily="50" charset="-128"/>
                <a:ea typeface="Meiryo UI" panose="020B0604030504040204" pitchFamily="50" charset="-128"/>
                <a:cs typeface="Arial" charset="0"/>
              </a:rPr>
              <a:t>凡例</a:t>
            </a:r>
            <a:endParaRPr lang="en-US" altLang="ja-JP" sz="1050" dirty="0">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178475767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A1BA1E0-A26B-4666-8F07-E4EBA59761E3}"/>
              </a:ext>
            </a:extLst>
          </p:cNvPr>
          <p:cNvSpPr>
            <a:spLocks noGrp="1"/>
          </p:cNvSpPr>
          <p:nvPr>
            <p:ph type="sldNum" sz="quarter" idx="11"/>
          </p:nvPr>
        </p:nvSpPr>
        <p:spPr bwMode="gray"/>
        <p:txBody>
          <a:bodyPr/>
          <a:lstStyle/>
          <a:p>
            <a:fld id="{48A150E7-E09D-4C31-9917-0D6C90A70F8A}" type="slidenum">
              <a:rPr lang="en-US" altLang="ja-JP" smtClean="0"/>
              <a:pPr/>
              <a:t>6</a:t>
            </a:fld>
            <a:endParaRPr lang="ja-JP" altLang="en-US"/>
          </a:p>
        </p:txBody>
      </p:sp>
      <p:sp>
        <p:nvSpPr>
          <p:cNvPr id="5" name="タイトル 1">
            <a:extLst>
              <a:ext uri="{FF2B5EF4-FFF2-40B4-BE49-F238E27FC236}">
                <a16:creationId xmlns:a16="http://schemas.microsoft.com/office/drawing/2014/main" id="{BD99C2BB-08AF-46DC-AAE9-C16E890BCD4D}"/>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２</a:t>
            </a:r>
            <a:r>
              <a:rPr lang="en-US" altLang="ja-JP" kern="0" dirty="0">
                <a:latin typeface="Meiryo UI"/>
                <a:ea typeface="Meiryo UI"/>
              </a:rPr>
              <a:t>.</a:t>
            </a:r>
            <a:r>
              <a:rPr lang="ja-JP" altLang="en-US" kern="0" dirty="0">
                <a:latin typeface="Meiryo UI"/>
                <a:ea typeface="Meiryo UI"/>
              </a:rPr>
              <a:t> ビジネス</a:t>
            </a:r>
            <a:br>
              <a:rPr lang="en-US" altLang="ja-JP" kern="0" dirty="0">
                <a:latin typeface="Meiryo UI" panose="020B0604030504040204" pitchFamily="50" charset="-128"/>
                <a:ea typeface="Meiryo UI" panose="020B0604030504040204" pitchFamily="50" charset="-128"/>
              </a:rPr>
            </a:br>
            <a:r>
              <a:rPr lang="en-US" altLang="ja-JP" kern="0" dirty="0">
                <a:latin typeface="Meiryo UI" panose="020B0604030504040204" pitchFamily="50" charset="-128"/>
                <a:ea typeface="Meiryo UI" panose="020B0604030504040204" pitchFamily="50" charset="-128"/>
              </a:rPr>
              <a:t>iii.</a:t>
            </a:r>
            <a:r>
              <a:rPr lang="ja-JP" altLang="en-US" kern="0" dirty="0">
                <a:latin typeface="Meiryo UI" panose="020B0604030504040204" pitchFamily="50" charset="-128"/>
                <a:ea typeface="Meiryo UI" panose="020B0604030504040204" pitchFamily="50" charset="-128"/>
              </a:rPr>
              <a:t> </a:t>
            </a:r>
            <a:r>
              <a:rPr lang="en-US" altLang="ja-JP" kern="0" dirty="0">
                <a:latin typeface="Meiryo UI" panose="020B0604030504040204" pitchFamily="50" charset="-128"/>
                <a:ea typeface="Meiryo UI" panose="020B0604030504040204" pitchFamily="50" charset="-128"/>
              </a:rPr>
              <a:t>SMBC</a:t>
            </a:r>
            <a:r>
              <a:rPr lang="ja-JP" altLang="en-US" kern="0" dirty="0">
                <a:latin typeface="Meiryo UI" panose="020B0604030504040204" pitchFamily="50" charset="-128"/>
                <a:ea typeface="Meiryo UI" panose="020B0604030504040204" pitchFamily="50" charset="-128"/>
              </a:rPr>
              <a:t>信託の赤字要因分析</a:t>
            </a:r>
            <a:endParaRPr lang="ja-JP" altLang="en-US" kern="0" dirty="0"/>
          </a:p>
        </p:txBody>
      </p:sp>
      <p:sp>
        <p:nvSpPr>
          <p:cNvPr id="4" name="コンテンツ プレースホルダー 3">
            <a:extLst>
              <a:ext uri="{FF2B5EF4-FFF2-40B4-BE49-F238E27FC236}">
                <a16:creationId xmlns:a16="http://schemas.microsoft.com/office/drawing/2014/main" id="{161A782C-F158-45FF-A448-21787F6D1A45}"/>
              </a:ext>
            </a:extLst>
          </p:cNvPr>
          <p:cNvSpPr>
            <a:spLocks noGrp="1"/>
          </p:cNvSpPr>
          <p:nvPr>
            <p:ph idx="1"/>
          </p:nvPr>
        </p:nvSpPr>
        <p:spPr bwMode="gray">
          <a:xfrm>
            <a:off x="127155" y="777700"/>
            <a:ext cx="9648000" cy="540000"/>
          </a:xfrm>
        </p:spPr>
        <p:txBody>
          <a:bodyPr lIns="36000" tIns="36000" rIns="36000" bIns="36000"/>
          <a:lstStyle/>
          <a:p>
            <a:r>
              <a:rPr lang="en-US" altLang="ja-JP" sz="1400" dirty="0"/>
              <a:t>SMBC</a:t>
            </a:r>
            <a:r>
              <a:rPr lang="ja-JP" altLang="en-US" sz="1400" dirty="0"/>
              <a:t>信託における赤字の最大要因は、人件費・業務委託費および支店の賃借費用が大きすぎることであるため、業務効率化や店舗</a:t>
            </a:r>
            <a:br>
              <a:rPr lang="en-US" altLang="ja-JP" sz="1400" dirty="0"/>
            </a:br>
            <a:r>
              <a:rPr lang="ja-JP" altLang="en-US" sz="1400" dirty="0"/>
              <a:t>集約等による収益改善の余地は大きいと考える。</a:t>
            </a:r>
            <a:endParaRPr lang="en-US" altLang="ja-JP" sz="1400" dirty="0"/>
          </a:p>
          <a:p>
            <a:r>
              <a:rPr lang="ja-JP" altLang="en-US" sz="1400" dirty="0"/>
              <a:t>野村は、業務粗利の規模では</a:t>
            </a:r>
            <a:r>
              <a:rPr lang="en-US" altLang="ja-JP" sz="1400" dirty="0"/>
              <a:t>SMBC</a:t>
            </a:r>
            <a:r>
              <a:rPr lang="ja-JP" altLang="en-US" sz="1400" dirty="0"/>
              <a:t>信託に劣るが、固有の店舗を持たないなどコスト効率がよい。</a:t>
            </a:r>
            <a:endParaRPr lang="en-US" altLang="ja-JP" sz="1400" dirty="0"/>
          </a:p>
        </p:txBody>
      </p:sp>
      <p:cxnSp>
        <p:nvCxnSpPr>
          <p:cNvPr id="16" name="直線コネクタ 15">
            <a:extLst>
              <a:ext uri="{FF2B5EF4-FFF2-40B4-BE49-F238E27FC236}">
                <a16:creationId xmlns:a16="http://schemas.microsoft.com/office/drawing/2014/main" id="{C59AE253-45F7-4563-9A7D-D5FD7DC31C21}"/>
              </a:ext>
            </a:extLst>
          </p:cNvPr>
          <p:cNvCxnSpPr/>
          <p:nvPr/>
        </p:nvCxnSpPr>
        <p:spPr bwMode="gray">
          <a:xfrm>
            <a:off x="269233" y="1928097"/>
            <a:ext cx="9266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7" name="テキスト ボックス 16">
            <a:extLst>
              <a:ext uri="{FF2B5EF4-FFF2-40B4-BE49-F238E27FC236}">
                <a16:creationId xmlns:a16="http://schemas.microsoft.com/office/drawing/2014/main" id="{1D13EBE2-9E17-4D76-99D0-36DD0D11976E}"/>
              </a:ext>
            </a:extLst>
          </p:cNvPr>
          <p:cNvSpPr txBox="1"/>
          <p:nvPr/>
        </p:nvSpPr>
        <p:spPr bwMode="gray">
          <a:xfrm>
            <a:off x="269233" y="1701269"/>
            <a:ext cx="9266400" cy="22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t">
            <a:spAutoFit/>
          </a:bodyPr>
          <a:lstStyle/>
          <a:p>
            <a:pPr marL="0" indent="0">
              <a:buClrTx/>
              <a:buFont typeface="Wingdings" pitchFamily="2" charset="2"/>
              <a:buNone/>
            </a:pP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SMBC</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信託と野村のコスト構造比較</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dirty="0">
                <a:latin typeface="Meiryo UI" panose="020B0604030504040204" pitchFamily="50" charset="-128"/>
                <a:ea typeface="Meiryo UI" panose="020B0604030504040204" pitchFamily="50" charset="-128"/>
                <a:cs typeface="Meiryo UI" panose="020B0604030504040204" pitchFamily="50" charset="-128"/>
              </a:rPr>
              <a:t>月期</a:t>
            </a:r>
            <a:r>
              <a:rPr kumimoji="1" lang="en-US" altLang="ja-JP" dirty="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b="0" baseline="30000" dirty="0">
              <a:latin typeface="Meiryo UI" panose="020B0604030504040204" pitchFamily="50" charset="-128"/>
              <a:ea typeface="Meiryo UI" panose="020B0604030504040204" pitchFamily="50" charset="-128"/>
              <a:cs typeface="Meiryo UI" panose="020B0604030504040204" pitchFamily="50" charset="-128"/>
            </a:endParaRPr>
          </a:p>
        </p:txBody>
      </p:sp>
      <mc:AlternateContent xmlns:mc="http://schemas.openxmlformats.org/markup-compatibility/2006" xmlns:cx1="http://schemas.microsoft.com/office/drawing/2015/9/8/chartex">
        <mc:Choice Requires="cx1">
          <p:graphicFrame>
            <p:nvGraphicFramePr>
              <p:cNvPr id="10" name="グラフ 9">
                <a:extLst>
                  <a:ext uri="{FF2B5EF4-FFF2-40B4-BE49-F238E27FC236}">
                    <a16:creationId xmlns:a16="http://schemas.microsoft.com/office/drawing/2014/main" id="{5A96D938-2B31-4912-9CE8-B5B666FCB71F}"/>
                  </a:ext>
                </a:extLst>
              </p:cNvPr>
              <p:cNvGraphicFramePr/>
              <p:nvPr>
                <p:extLst>
                  <p:ext uri="{D42A27DB-BD31-4B8C-83A1-F6EECF244321}">
                    <p14:modId xmlns:p14="http://schemas.microsoft.com/office/powerpoint/2010/main" val="773557253"/>
                  </p:ext>
                </p:extLst>
              </p:nvPr>
            </p:nvGraphicFramePr>
            <p:xfrm>
              <a:off x="1417847" y="3239745"/>
              <a:ext cx="3960000" cy="339680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0" name="グラフ 9">
                <a:extLst>
                  <a:ext uri="{FF2B5EF4-FFF2-40B4-BE49-F238E27FC236}">
                    <a16:creationId xmlns:a16="http://schemas.microsoft.com/office/drawing/2014/main" id="{5A96D938-2B31-4912-9CE8-B5B666FCB71F}"/>
                  </a:ext>
                </a:extLst>
              </p:cNvPr>
              <p:cNvPicPr>
                <a:picLocks noGrp="1" noRot="1" noChangeAspect="1" noMove="1" noResize="1" noEditPoints="1" noAdjustHandles="1" noChangeArrowheads="1" noChangeShapeType="1"/>
              </p:cNvPicPr>
              <p:nvPr/>
            </p:nvPicPr>
            <p:blipFill>
              <a:blip r:embed="rId3"/>
              <a:stretch>
                <a:fillRect/>
              </a:stretch>
            </p:blipFill>
            <p:spPr>
              <a:xfrm>
                <a:off x="1417847" y="3239745"/>
                <a:ext cx="3960000" cy="3396800"/>
              </a:xfrm>
              <a:prstGeom prst="rect">
                <a:avLst/>
              </a:prstGeom>
            </p:spPr>
          </p:pic>
        </mc:Fallback>
      </mc:AlternateContent>
      <p:sp>
        <p:nvSpPr>
          <p:cNvPr id="40" name="吹き出し: 四角形 39">
            <a:extLst>
              <a:ext uri="{FF2B5EF4-FFF2-40B4-BE49-F238E27FC236}">
                <a16:creationId xmlns:a16="http://schemas.microsoft.com/office/drawing/2014/main" id="{AF37EEA7-870D-4BE5-A67D-A99553C60FE4}"/>
              </a:ext>
            </a:extLst>
          </p:cNvPr>
          <p:cNvSpPr/>
          <p:nvPr/>
        </p:nvSpPr>
        <p:spPr bwMode="gray">
          <a:xfrm>
            <a:off x="3485274" y="4084442"/>
            <a:ext cx="1440000" cy="728040"/>
          </a:xfrm>
          <a:prstGeom prst="wedgeRectCallout">
            <a:avLst>
              <a:gd name="adj1" fmla="val -42920"/>
              <a:gd name="adj2" fmla="val 75482"/>
            </a:avLst>
          </a:prstGeom>
          <a:solidFill>
            <a:schemeClr val="bg1"/>
          </a:solidFill>
          <a:ln w="9525" cap="flat" cmpd="sng" algn="ctr">
            <a:solidFill>
              <a:schemeClr val="tx1"/>
            </a:solidFill>
            <a:prstDash val="solid"/>
            <a:round/>
            <a:headEnd type="none" w="med" len="med"/>
            <a:tailEnd type="none" w="med" len="med"/>
          </a:ln>
          <a:effectLst/>
        </p:spPr>
        <p:txBody>
          <a:bodyPr vert="horz" wrap="none" lIns="36000" tIns="0" rIns="0" bIns="0" numCol="1" rtlCol="0" anchor="ctr" anchorCtr="0" compatLnSpc="1">
            <a:prstTxWarp prst="textNoShape">
              <a:avLst/>
            </a:prstTxWarp>
          </a:bodyPr>
          <a:lstStyle/>
          <a:p>
            <a:pPr algn="l" defTabSz="179388"/>
            <a:r>
              <a:rPr lang="ja-JP" altLang="en-US" sz="800" u="sng" dirty="0">
                <a:latin typeface="Meiryo UI" panose="020B0604030504040204" pitchFamily="50" charset="-128"/>
                <a:ea typeface="Meiryo UI" panose="020B0604030504040204" pitchFamily="50" charset="-128"/>
                <a:cs typeface="Meiryo UI" panose="020B0604030504040204" pitchFamily="50" charset="-128"/>
              </a:rPr>
              <a:t>主要な物件費</a:t>
            </a:r>
            <a:endParaRPr lang="en-US" altLang="ja-JP" sz="800" u="sng" dirty="0">
              <a:latin typeface="Meiryo UI" panose="020B0604030504040204" pitchFamily="50" charset="-128"/>
              <a:ea typeface="Meiryo UI" panose="020B0604030504040204" pitchFamily="50" charset="-128"/>
              <a:cs typeface="Meiryo UI" panose="020B0604030504040204" pitchFamily="50" charset="-128"/>
            </a:endParaRPr>
          </a:p>
          <a:p>
            <a:pPr marL="87313" algn="l" defTabSz="179388"/>
            <a:r>
              <a:rPr lang="ja-JP" altLang="en-US" sz="800" dirty="0">
                <a:latin typeface="Meiryo UI" panose="020B0604030504040204" pitchFamily="50" charset="-128"/>
                <a:ea typeface="Meiryo UI" panose="020B0604030504040204" pitchFamily="50" charset="-128"/>
                <a:cs typeface="Meiryo UI" panose="020B0604030504040204" pitchFamily="50" charset="-128"/>
              </a:rPr>
              <a:t>減価償却費</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15</a:t>
            </a:r>
          </a:p>
          <a:p>
            <a:pPr marL="87313" algn="l" defTabSz="179388"/>
            <a:r>
              <a:rPr lang="zh-TW" altLang="en-US" sz="800" dirty="0">
                <a:latin typeface="Meiryo UI" panose="020B0604030504040204" pitchFamily="50" charset="-128"/>
                <a:ea typeface="Meiryo UI" panose="020B0604030504040204" pitchFamily="50" charset="-128"/>
                <a:cs typeface="Meiryo UI" panose="020B0604030504040204" pitchFamily="50" charset="-128"/>
              </a:rPr>
              <a:t>土地建物機械賃借料</a:t>
            </a:r>
            <a:r>
              <a:rPr lang="en-US" altLang="zh-TW"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49</a:t>
            </a:r>
          </a:p>
          <a:p>
            <a:pPr marL="87313" algn="l" defTabSz="179388"/>
            <a:r>
              <a:rPr lang="ja-JP" altLang="en-US" sz="800" dirty="0">
                <a:latin typeface="Meiryo UI" panose="020B0604030504040204" pitchFamily="50" charset="-128"/>
                <a:ea typeface="Meiryo UI" panose="020B0604030504040204" pitchFamily="50" charset="-128"/>
                <a:cs typeface="Meiryo UI" panose="020B0604030504040204" pitchFamily="50" charset="-128"/>
              </a:rPr>
              <a:t>広告宣伝費</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16</a:t>
            </a:r>
          </a:p>
          <a:p>
            <a:pPr marL="87313" algn="l" defTabSz="179388"/>
            <a:r>
              <a:rPr lang="ja-JP" altLang="en-US" sz="800" dirty="0">
                <a:latin typeface="Meiryo UI" panose="020B0604030504040204" pitchFamily="50" charset="-128"/>
                <a:ea typeface="Meiryo UI" panose="020B0604030504040204" pitchFamily="50" charset="-128"/>
                <a:cs typeface="Meiryo UI" panose="020B0604030504040204" pitchFamily="50" charset="-128"/>
              </a:rPr>
              <a:t>通信費</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9</a:t>
            </a:r>
          </a:p>
        </p:txBody>
      </p:sp>
      <p:sp>
        <p:nvSpPr>
          <p:cNvPr id="43" name="正方形/長方形 42">
            <a:extLst>
              <a:ext uri="{FF2B5EF4-FFF2-40B4-BE49-F238E27FC236}">
                <a16:creationId xmlns:a16="http://schemas.microsoft.com/office/drawing/2014/main" id="{DD4BA369-9962-48FD-845C-94A790FC57DA}"/>
              </a:ext>
            </a:extLst>
          </p:cNvPr>
          <p:cNvSpPr/>
          <p:nvPr/>
        </p:nvSpPr>
        <p:spPr bwMode="gray">
          <a:xfrm>
            <a:off x="1417847" y="2024456"/>
            <a:ext cx="3960000" cy="184056"/>
          </a:xfrm>
          <a:prstGeom prst="rect">
            <a:avLst/>
          </a:prstGeom>
          <a:solidFill>
            <a:schemeClr val="accent6">
              <a:lumMod val="75000"/>
            </a:schemeClr>
          </a:solidFill>
          <a:ln>
            <a:noFill/>
          </a:ln>
          <a:effectLst/>
        </p:spPr>
        <p:txBody>
          <a:bodyPr rot="0" spcFirstLastPara="0" vert="horz" wrap="square" lIns="72000" tIns="36000" rIns="72000" bIns="36000" numCol="1" spcCol="0" rtlCol="0" fromWordArt="0" anchor="ctr" anchorCtr="0" forceAA="0" compatLnSpc="1">
            <a:prstTxWarp prst="textNoShape">
              <a:avLst/>
            </a:prstTxWarp>
            <a:noAutofit/>
          </a:bodyPr>
          <a:ls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spcBef>
                <a:spcPts val="0"/>
              </a:spcBef>
            </a:pPr>
            <a:r>
              <a:rPr kumimoji="1" lang="en-US" altLang="ja-JP"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SMBC</a:t>
            </a:r>
            <a:endParaRPr kumimoji="1" lang="ja-JP" altLang="en-US"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正方形/長方形 53">
            <a:extLst>
              <a:ext uri="{FF2B5EF4-FFF2-40B4-BE49-F238E27FC236}">
                <a16:creationId xmlns:a16="http://schemas.microsoft.com/office/drawing/2014/main" id="{75FC0AC4-33D0-4237-8F8F-2496844E75F9}"/>
              </a:ext>
            </a:extLst>
          </p:cNvPr>
          <p:cNvSpPr/>
          <p:nvPr/>
        </p:nvSpPr>
        <p:spPr bwMode="gray">
          <a:xfrm>
            <a:off x="1417847" y="2705702"/>
            <a:ext cx="3960000" cy="346000"/>
          </a:xfrm>
          <a:prstGeom prst="rect">
            <a:avLst/>
          </a:prstGeom>
          <a:solidFill>
            <a:schemeClr val="bg1"/>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1100" dirty="0">
                <a:latin typeface="Meiryo UI" panose="020B0604030504040204" pitchFamily="50" charset="-128"/>
                <a:ea typeface="Meiryo UI" panose="020B0604030504040204" pitchFamily="50" charset="-128"/>
                <a:cs typeface="Meiryo UI" panose="020B0604030504040204" pitchFamily="50" charset="-128"/>
              </a:rPr>
              <a:t>29</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店</a:t>
            </a:r>
            <a:endParaRPr kumimoji="0" lang="ja-JP" altLang="en-US" sz="11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56" name="直線コネクタ 55">
            <a:extLst>
              <a:ext uri="{FF2B5EF4-FFF2-40B4-BE49-F238E27FC236}">
                <a16:creationId xmlns:a16="http://schemas.microsoft.com/office/drawing/2014/main" id="{B152BEC0-02A3-4E23-A62A-7DAD16492A4B}"/>
              </a:ext>
            </a:extLst>
          </p:cNvPr>
          <p:cNvCxnSpPr/>
          <p:nvPr/>
        </p:nvCxnSpPr>
        <p:spPr bwMode="gray">
          <a:xfrm>
            <a:off x="1417847" y="2667905"/>
            <a:ext cx="3960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8" name="直線コネクタ 57">
            <a:extLst>
              <a:ext uri="{FF2B5EF4-FFF2-40B4-BE49-F238E27FC236}">
                <a16:creationId xmlns:a16="http://schemas.microsoft.com/office/drawing/2014/main" id="{2E541E52-0C35-43C1-9343-B53EBA006B1C}"/>
              </a:ext>
            </a:extLst>
          </p:cNvPr>
          <p:cNvCxnSpPr/>
          <p:nvPr/>
        </p:nvCxnSpPr>
        <p:spPr bwMode="gray">
          <a:xfrm>
            <a:off x="1417847" y="3089501"/>
            <a:ext cx="3960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cx1="http://schemas.microsoft.com/office/drawing/2015/9/8/chartex">
        <mc:Choice Requires="cx1">
          <p:graphicFrame>
            <p:nvGraphicFramePr>
              <p:cNvPr id="42" name="グラフ 41">
                <a:extLst>
                  <a:ext uri="{FF2B5EF4-FFF2-40B4-BE49-F238E27FC236}">
                    <a16:creationId xmlns:a16="http://schemas.microsoft.com/office/drawing/2014/main" id="{8E3D398E-2D33-4EFB-89FA-C5F02C4BC949}"/>
                  </a:ext>
                </a:extLst>
              </p:cNvPr>
              <p:cNvGraphicFramePr/>
              <p:nvPr>
                <p:extLst>
                  <p:ext uri="{D42A27DB-BD31-4B8C-83A1-F6EECF244321}">
                    <p14:modId xmlns:p14="http://schemas.microsoft.com/office/powerpoint/2010/main" val="3164075438"/>
                  </p:ext>
                </p:extLst>
              </p:nvPr>
            </p:nvGraphicFramePr>
            <p:xfrm>
              <a:off x="5576493" y="3239745"/>
              <a:ext cx="3960000" cy="3396800"/>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42" name="グラフ 41">
                <a:extLst>
                  <a:ext uri="{FF2B5EF4-FFF2-40B4-BE49-F238E27FC236}">
                    <a16:creationId xmlns:a16="http://schemas.microsoft.com/office/drawing/2014/main" id="{8E3D398E-2D33-4EFB-89FA-C5F02C4BC949}"/>
                  </a:ext>
                </a:extLst>
              </p:cNvPr>
              <p:cNvPicPr>
                <a:picLocks noGrp="1" noRot="1" noChangeAspect="1" noMove="1" noResize="1" noEditPoints="1" noAdjustHandles="1" noChangeArrowheads="1" noChangeShapeType="1"/>
              </p:cNvPicPr>
              <p:nvPr/>
            </p:nvPicPr>
            <p:blipFill>
              <a:blip r:embed="rId5"/>
              <a:stretch>
                <a:fillRect/>
              </a:stretch>
            </p:blipFill>
            <p:spPr>
              <a:xfrm>
                <a:off x="5576493" y="3239745"/>
                <a:ext cx="3960000" cy="3396800"/>
              </a:xfrm>
              <a:prstGeom prst="rect">
                <a:avLst/>
              </a:prstGeom>
            </p:spPr>
          </p:pic>
        </mc:Fallback>
      </mc:AlternateContent>
      <p:sp>
        <p:nvSpPr>
          <p:cNvPr id="44" name="正方形/長方形 43">
            <a:extLst>
              <a:ext uri="{FF2B5EF4-FFF2-40B4-BE49-F238E27FC236}">
                <a16:creationId xmlns:a16="http://schemas.microsoft.com/office/drawing/2014/main" id="{8871A06E-63F3-4DAE-93C7-0D88774F7603}"/>
              </a:ext>
            </a:extLst>
          </p:cNvPr>
          <p:cNvSpPr/>
          <p:nvPr/>
        </p:nvSpPr>
        <p:spPr bwMode="gray">
          <a:xfrm>
            <a:off x="5576493" y="2024456"/>
            <a:ext cx="3960000" cy="184056"/>
          </a:xfrm>
          <a:prstGeom prst="rect">
            <a:avLst/>
          </a:prstGeom>
          <a:solidFill>
            <a:schemeClr val="accent1">
              <a:lumMod val="75000"/>
            </a:schemeClr>
          </a:solidFill>
          <a:ln>
            <a:noFill/>
          </a:ln>
          <a:effectLst/>
        </p:spPr>
        <p:txBody>
          <a:bodyPr rot="0" spcFirstLastPara="0" vert="horz" wrap="square" lIns="72000" tIns="36000" rIns="72000" bIns="36000" numCol="1" spcCol="0" rtlCol="0" fromWordArt="0" anchor="ctr" anchorCtr="0" forceAA="0" compatLnSpc="1">
            <a:prstTxWarp prst="textNoShape">
              <a:avLst/>
            </a:prstTxWarp>
            <a:noAutofit/>
          </a:bodyPr>
          <a:lstStyle>
            <a:defPPr>
              <a:defRPr lang="en-US"/>
            </a:defPPr>
            <a:lvl1pPr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1pPr>
            <a:lvl2pPr marL="4572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2pPr>
            <a:lvl3pPr marL="9144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3pPr>
            <a:lvl4pPr marL="13716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4pPr>
            <a:lvl5pPr marL="1828800" algn="ctr" rtl="0" fontAlgn="base">
              <a:spcBef>
                <a:spcPct val="20000"/>
              </a:spcBef>
              <a:spcAft>
                <a:spcPct val="0"/>
              </a:spcAft>
              <a:buClr>
                <a:schemeClr val="tx1"/>
              </a:buClr>
              <a:defRPr sz="1200" kern="1200">
                <a:solidFill>
                  <a:schemeClr val="tx1"/>
                </a:solidFill>
                <a:latin typeface="Arial" pitchFamily="34" charset="0"/>
                <a:ea typeface="HGPｺﾞｼｯｸE" pitchFamily="50" charset="-128"/>
                <a:cs typeface="+mn-cs"/>
              </a:defRPr>
            </a:lvl5pPr>
            <a:lvl6pPr marL="2286000" algn="l" defTabSz="914400" rtl="0" eaLnBrk="1" latinLnBrk="0" hangingPunct="1">
              <a:defRPr sz="1200" kern="1200">
                <a:solidFill>
                  <a:schemeClr val="tx1"/>
                </a:solidFill>
                <a:latin typeface="Arial" pitchFamily="34" charset="0"/>
                <a:ea typeface="HGPｺﾞｼｯｸE" pitchFamily="50" charset="-128"/>
                <a:cs typeface="+mn-cs"/>
              </a:defRPr>
            </a:lvl6pPr>
            <a:lvl7pPr marL="2743200" algn="l" defTabSz="914400" rtl="0" eaLnBrk="1" latinLnBrk="0" hangingPunct="1">
              <a:defRPr sz="1200" kern="1200">
                <a:solidFill>
                  <a:schemeClr val="tx1"/>
                </a:solidFill>
                <a:latin typeface="Arial" pitchFamily="34" charset="0"/>
                <a:ea typeface="HGPｺﾞｼｯｸE" pitchFamily="50" charset="-128"/>
                <a:cs typeface="+mn-cs"/>
              </a:defRPr>
            </a:lvl7pPr>
            <a:lvl8pPr marL="3200400" algn="l" defTabSz="914400" rtl="0" eaLnBrk="1" latinLnBrk="0" hangingPunct="1">
              <a:defRPr sz="1200" kern="1200">
                <a:solidFill>
                  <a:schemeClr val="tx1"/>
                </a:solidFill>
                <a:latin typeface="Arial" pitchFamily="34" charset="0"/>
                <a:ea typeface="HGPｺﾞｼｯｸE" pitchFamily="50" charset="-128"/>
                <a:cs typeface="+mn-cs"/>
              </a:defRPr>
            </a:lvl8pPr>
            <a:lvl9pPr marL="3657600" algn="l" defTabSz="914400" rtl="0" eaLnBrk="1" latinLnBrk="0" hangingPunct="1">
              <a:defRPr sz="1200" kern="1200">
                <a:solidFill>
                  <a:schemeClr val="tx1"/>
                </a:solidFill>
                <a:latin typeface="Arial" pitchFamily="34" charset="0"/>
                <a:ea typeface="HGPｺﾞｼｯｸE" pitchFamily="50" charset="-128"/>
                <a:cs typeface="+mn-cs"/>
              </a:defRPr>
            </a:lvl9pPr>
          </a:lstStyle>
          <a:p>
            <a:pPr>
              <a:spcBef>
                <a:spcPts val="0"/>
              </a:spcBef>
            </a:pPr>
            <a:r>
              <a:rPr kumimoji="1" lang="ja-JP" altLang="en-US"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野村</a:t>
            </a:r>
          </a:p>
        </p:txBody>
      </p:sp>
      <p:sp>
        <p:nvSpPr>
          <p:cNvPr id="45" name="正方形/長方形 44">
            <a:extLst>
              <a:ext uri="{FF2B5EF4-FFF2-40B4-BE49-F238E27FC236}">
                <a16:creationId xmlns:a16="http://schemas.microsoft.com/office/drawing/2014/main" id="{648710E6-5752-4453-9590-D97E8FF1E75F}"/>
              </a:ext>
            </a:extLst>
          </p:cNvPr>
          <p:cNvSpPr/>
          <p:nvPr/>
        </p:nvSpPr>
        <p:spPr bwMode="gray">
          <a:xfrm>
            <a:off x="269233" y="3127297"/>
            <a:ext cx="949969" cy="3509248"/>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コスト構造</a:t>
            </a:r>
          </a:p>
        </p:txBody>
      </p:sp>
      <p:sp>
        <p:nvSpPr>
          <p:cNvPr id="48" name="正方形/長方形 47">
            <a:extLst>
              <a:ext uri="{FF2B5EF4-FFF2-40B4-BE49-F238E27FC236}">
                <a16:creationId xmlns:a16="http://schemas.microsoft.com/office/drawing/2014/main" id="{FBEBC2FA-896B-4863-AC8F-4EF46B2220E9}"/>
              </a:ext>
            </a:extLst>
          </p:cNvPr>
          <p:cNvSpPr/>
          <p:nvPr/>
        </p:nvSpPr>
        <p:spPr bwMode="gray">
          <a:xfrm>
            <a:off x="269233" y="2705703"/>
            <a:ext cx="949969" cy="346000"/>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dirty="0">
                <a:latin typeface="Meiryo UI" panose="020B0604030504040204" pitchFamily="50" charset="-128"/>
                <a:ea typeface="Meiryo UI" panose="020B0604030504040204" pitchFamily="50" charset="-128"/>
                <a:cs typeface="Meiryo UI" panose="020B0604030504040204" pitchFamily="50" charset="-128"/>
              </a:rPr>
              <a:t>店舗</a:t>
            </a:r>
            <a:r>
              <a:rPr kumimoji="0" lang="ja-JP" altLang="en-US"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数</a:t>
            </a:r>
          </a:p>
        </p:txBody>
      </p:sp>
      <p:sp>
        <p:nvSpPr>
          <p:cNvPr id="47" name="正方形/長方形 46">
            <a:extLst>
              <a:ext uri="{FF2B5EF4-FFF2-40B4-BE49-F238E27FC236}">
                <a16:creationId xmlns:a16="http://schemas.microsoft.com/office/drawing/2014/main" id="{B3CF0DB5-C6F1-4656-9D3E-78B76E5C9386}"/>
              </a:ext>
            </a:extLst>
          </p:cNvPr>
          <p:cNvSpPr/>
          <p:nvPr/>
        </p:nvSpPr>
        <p:spPr bwMode="gray">
          <a:xfrm>
            <a:off x="269233" y="2284107"/>
            <a:ext cx="949969" cy="346000"/>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dirty="0">
                <a:latin typeface="Meiryo UI" panose="020B0604030504040204" pitchFamily="50" charset="-128"/>
                <a:ea typeface="Meiryo UI" panose="020B0604030504040204" pitchFamily="50" charset="-128"/>
                <a:cs typeface="Meiryo UI" panose="020B0604030504040204" pitchFamily="50" charset="-128"/>
              </a:rPr>
              <a:t>従業員数</a:t>
            </a:r>
            <a:endParaRPr kumimoji="0" lang="ja-JP" altLang="en-US"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正方形/長方形 52">
            <a:extLst>
              <a:ext uri="{FF2B5EF4-FFF2-40B4-BE49-F238E27FC236}">
                <a16:creationId xmlns:a16="http://schemas.microsoft.com/office/drawing/2014/main" id="{86E9037D-CEFB-47E1-A6DE-455B9657F4B9}"/>
              </a:ext>
            </a:extLst>
          </p:cNvPr>
          <p:cNvSpPr/>
          <p:nvPr/>
        </p:nvSpPr>
        <p:spPr bwMode="gray">
          <a:xfrm>
            <a:off x="1417847" y="2284107"/>
            <a:ext cx="3960000" cy="346000"/>
          </a:xfrm>
          <a:prstGeom prst="rect">
            <a:avLst/>
          </a:prstGeom>
          <a:solidFill>
            <a:schemeClr val="bg1"/>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1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1,988</a:t>
            </a:r>
            <a:r>
              <a:rPr kumimoji="0" lang="ja-JP" altLang="en-US" sz="1100" b="1" i="0"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名</a:t>
            </a:r>
          </a:p>
        </p:txBody>
      </p:sp>
      <p:sp>
        <p:nvSpPr>
          <p:cNvPr id="50" name="正方形/長方形 49">
            <a:extLst>
              <a:ext uri="{FF2B5EF4-FFF2-40B4-BE49-F238E27FC236}">
                <a16:creationId xmlns:a16="http://schemas.microsoft.com/office/drawing/2014/main" id="{C05AAD14-49D8-4C18-A805-B3111EB3CF53}"/>
              </a:ext>
            </a:extLst>
          </p:cNvPr>
          <p:cNvSpPr/>
          <p:nvPr/>
        </p:nvSpPr>
        <p:spPr bwMode="gray">
          <a:xfrm>
            <a:off x="5576492" y="2284107"/>
            <a:ext cx="3960000" cy="346000"/>
          </a:xfrm>
          <a:prstGeom prst="rect">
            <a:avLst/>
          </a:prstGeom>
          <a:solidFill>
            <a:schemeClr val="bg1"/>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1100" dirty="0">
                <a:latin typeface="Meiryo UI" panose="020B0604030504040204" pitchFamily="50" charset="-128"/>
                <a:ea typeface="Meiryo UI" panose="020B0604030504040204" pitchFamily="50" charset="-128"/>
                <a:cs typeface="Meiryo UI" panose="020B0604030504040204" pitchFamily="50" charset="-128"/>
              </a:rPr>
              <a:t>451</a:t>
            </a:r>
            <a:r>
              <a:rPr lang="ja-JP" altLang="en-US" sz="1100" dirty="0">
                <a:latin typeface="Meiryo UI" panose="020B0604030504040204" pitchFamily="50" charset="-128"/>
                <a:ea typeface="Meiryo UI" panose="020B0604030504040204" pitchFamily="50" charset="-128"/>
                <a:cs typeface="Meiryo UI" panose="020B0604030504040204" pitchFamily="50" charset="-128"/>
              </a:rPr>
              <a:t>名</a:t>
            </a:r>
            <a:endParaRPr kumimoji="0" lang="ja-JP" altLang="en-US" sz="11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正方形/長方形 51">
            <a:extLst>
              <a:ext uri="{FF2B5EF4-FFF2-40B4-BE49-F238E27FC236}">
                <a16:creationId xmlns:a16="http://schemas.microsoft.com/office/drawing/2014/main" id="{9F754464-AAB4-43A3-94CD-44941BC85D00}"/>
              </a:ext>
            </a:extLst>
          </p:cNvPr>
          <p:cNvSpPr/>
          <p:nvPr/>
        </p:nvSpPr>
        <p:spPr bwMode="gray">
          <a:xfrm>
            <a:off x="5576492" y="2705702"/>
            <a:ext cx="3960000" cy="346000"/>
          </a:xfrm>
          <a:prstGeom prst="rect">
            <a:avLst/>
          </a:prstGeom>
          <a:solidFill>
            <a:schemeClr val="bg1"/>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代理店である野村証券を通じて営業しており、固有の店舗なし</a:t>
            </a:r>
            <a:endParaRPr kumimoji="0" lang="ja-JP" altLang="en-US" sz="11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2" name="直線コネクタ 61">
            <a:extLst>
              <a:ext uri="{FF2B5EF4-FFF2-40B4-BE49-F238E27FC236}">
                <a16:creationId xmlns:a16="http://schemas.microsoft.com/office/drawing/2014/main" id="{F4F9F102-0B59-42BC-BC31-DEEB9EC649A9}"/>
              </a:ext>
            </a:extLst>
          </p:cNvPr>
          <p:cNvCxnSpPr/>
          <p:nvPr/>
        </p:nvCxnSpPr>
        <p:spPr bwMode="gray">
          <a:xfrm>
            <a:off x="5576492" y="2667905"/>
            <a:ext cx="3960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3" name="直線コネクタ 62">
            <a:extLst>
              <a:ext uri="{FF2B5EF4-FFF2-40B4-BE49-F238E27FC236}">
                <a16:creationId xmlns:a16="http://schemas.microsoft.com/office/drawing/2014/main" id="{DC633F83-6AE7-4F38-8C28-8A2702651259}"/>
              </a:ext>
            </a:extLst>
          </p:cNvPr>
          <p:cNvCxnSpPr/>
          <p:nvPr/>
        </p:nvCxnSpPr>
        <p:spPr bwMode="gray">
          <a:xfrm>
            <a:off x="5576492" y="3089501"/>
            <a:ext cx="3960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8" name="テキスト ボックス 67">
            <a:extLst>
              <a:ext uri="{FF2B5EF4-FFF2-40B4-BE49-F238E27FC236}">
                <a16:creationId xmlns:a16="http://schemas.microsoft.com/office/drawing/2014/main" id="{F1D279BA-1DD8-4F7A-BD33-EF4DD7BA7107}"/>
              </a:ext>
            </a:extLst>
          </p:cNvPr>
          <p:cNvSpPr txBox="1"/>
          <p:nvPr/>
        </p:nvSpPr>
        <p:spPr bwMode="gray">
          <a:xfrm>
            <a:off x="1222314" y="3135285"/>
            <a:ext cx="846276" cy="17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ctr">
              <a:buClrTx/>
              <a:buFont typeface="Wingdings" pitchFamily="2" charset="2"/>
              <a:buNone/>
            </a:pP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億円</a:t>
            </a:r>
            <a:endParaRPr kumimoji="1" lang="ja-JP" altLang="en-US" sz="900" b="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1" name="吹き出し: 四角形 70">
            <a:extLst>
              <a:ext uri="{FF2B5EF4-FFF2-40B4-BE49-F238E27FC236}">
                <a16:creationId xmlns:a16="http://schemas.microsoft.com/office/drawing/2014/main" id="{2D8996FF-2D26-43DF-918A-E012A94957BF}"/>
              </a:ext>
            </a:extLst>
          </p:cNvPr>
          <p:cNvSpPr/>
          <p:nvPr/>
        </p:nvSpPr>
        <p:spPr bwMode="gray">
          <a:xfrm>
            <a:off x="7655976" y="3939300"/>
            <a:ext cx="1440000" cy="728040"/>
          </a:xfrm>
          <a:prstGeom prst="wedgeRectCallout">
            <a:avLst>
              <a:gd name="adj1" fmla="val -42920"/>
              <a:gd name="adj2" fmla="val 75482"/>
            </a:avLst>
          </a:prstGeom>
          <a:solidFill>
            <a:schemeClr val="bg1"/>
          </a:solidFill>
          <a:ln w="9525" cap="flat" cmpd="sng" algn="ctr">
            <a:solidFill>
              <a:schemeClr val="tx1"/>
            </a:solidFill>
            <a:prstDash val="solid"/>
            <a:round/>
            <a:headEnd type="none" w="med" len="med"/>
            <a:tailEnd type="none" w="med" len="med"/>
          </a:ln>
          <a:effectLst/>
        </p:spPr>
        <p:txBody>
          <a:bodyPr vert="horz" wrap="none" lIns="36000" tIns="0" rIns="0" bIns="0" numCol="1" rtlCol="0" anchor="ctr" anchorCtr="0" compatLnSpc="1">
            <a:prstTxWarp prst="textNoShape">
              <a:avLst/>
            </a:prstTxWarp>
          </a:bodyPr>
          <a:lstStyle/>
          <a:p>
            <a:pPr algn="l" defTabSz="179388"/>
            <a:r>
              <a:rPr lang="ja-JP" altLang="en-US" sz="800" u="sng" dirty="0">
                <a:latin typeface="Meiryo UI" panose="020B0604030504040204" pitchFamily="50" charset="-128"/>
                <a:ea typeface="Meiryo UI" panose="020B0604030504040204" pitchFamily="50" charset="-128"/>
                <a:cs typeface="Meiryo UI" panose="020B0604030504040204" pitchFamily="50" charset="-128"/>
              </a:rPr>
              <a:t>主要な物件費</a:t>
            </a:r>
            <a:endParaRPr lang="en-US" altLang="ja-JP" sz="800" u="sng" dirty="0">
              <a:latin typeface="Meiryo UI" panose="020B0604030504040204" pitchFamily="50" charset="-128"/>
              <a:ea typeface="Meiryo UI" panose="020B0604030504040204" pitchFamily="50" charset="-128"/>
              <a:cs typeface="Meiryo UI" panose="020B0604030504040204" pitchFamily="50" charset="-128"/>
            </a:endParaRPr>
          </a:p>
          <a:p>
            <a:pPr marL="87313" algn="l" defTabSz="179388"/>
            <a:r>
              <a:rPr lang="ja-JP" altLang="en-US" sz="800" dirty="0">
                <a:latin typeface="Meiryo UI" panose="020B0604030504040204" pitchFamily="50" charset="-128"/>
                <a:ea typeface="Meiryo UI" panose="020B0604030504040204" pitchFamily="50" charset="-128"/>
                <a:cs typeface="Meiryo UI" panose="020B0604030504040204" pitchFamily="50" charset="-128"/>
              </a:rPr>
              <a:t>減価償却費</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24</a:t>
            </a:r>
          </a:p>
          <a:p>
            <a:pPr marL="87313" algn="l" defTabSz="179388"/>
            <a:r>
              <a:rPr lang="zh-TW" altLang="en-US" sz="800" dirty="0">
                <a:latin typeface="Meiryo UI" panose="020B0604030504040204" pitchFamily="50" charset="-128"/>
                <a:ea typeface="Meiryo UI" panose="020B0604030504040204" pitchFamily="50" charset="-128"/>
                <a:cs typeface="Meiryo UI" panose="020B0604030504040204" pitchFamily="50" charset="-128"/>
              </a:rPr>
              <a:t>土地建物機械賃借料</a:t>
            </a:r>
            <a:r>
              <a:rPr lang="en-US" altLang="zh-TW"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5</a:t>
            </a:r>
          </a:p>
          <a:p>
            <a:pPr marL="87313" algn="l" defTabSz="179388"/>
            <a:r>
              <a:rPr lang="ja-JP" altLang="en-US" sz="800" dirty="0">
                <a:latin typeface="Meiryo UI" panose="020B0604030504040204" pitchFamily="50" charset="-128"/>
                <a:ea typeface="Meiryo UI" panose="020B0604030504040204" pitchFamily="50" charset="-128"/>
                <a:cs typeface="Meiryo UI" panose="020B0604030504040204" pitchFamily="50" charset="-128"/>
              </a:rPr>
              <a:t>広告宣伝費</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err="1">
                <a:latin typeface="Meiryo UI" panose="020B0604030504040204" pitchFamily="50" charset="-128"/>
                <a:ea typeface="Meiryo UI" panose="020B0604030504040204" pitchFamily="50" charset="-128"/>
                <a:cs typeface="Meiryo UI" panose="020B0604030504040204" pitchFamily="50" charset="-128"/>
              </a:rPr>
              <a:t>ー</a:t>
            </a:r>
            <a:endParaRPr lang="en-US" altLang="ja-JP" sz="800" dirty="0">
              <a:latin typeface="Meiryo UI" panose="020B0604030504040204" pitchFamily="50" charset="-128"/>
              <a:ea typeface="Meiryo UI" panose="020B0604030504040204" pitchFamily="50" charset="-128"/>
              <a:cs typeface="Meiryo UI" panose="020B0604030504040204" pitchFamily="50" charset="-128"/>
            </a:endParaRPr>
          </a:p>
          <a:p>
            <a:pPr marL="87313" algn="l" defTabSz="179388"/>
            <a:r>
              <a:rPr lang="ja-JP" altLang="en-US" sz="800" dirty="0">
                <a:latin typeface="Meiryo UI" panose="020B0604030504040204" pitchFamily="50" charset="-128"/>
                <a:ea typeface="Meiryo UI" panose="020B0604030504040204" pitchFamily="50" charset="-128"/>
                <a:cs typeface="Meiryo UI" panose="020B0604030504040204" pitchFamily="50" charset="-128"/>
              </a:rPr>
              <a:t>通信費</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en-US" altLang="ja-JP" sz="800" dirty="0">
                <a:latin typeface="Meiryo UI" panose="020B0604030504040204" pitchFamily="50" charset="-128"/>
                <a:ea typeface="Meiryo UI" panose="020B0604030504040204" pitchFamily="50" charset="-128"/>
                <a:cs typeface="Meiryo UI" panose="020B0604030504040204" pitchFamily="50" charset="-128"/>
              </a:rPr>
              <a:t>4</a:t>
            </a:r>
          </a:p>
        </p:txBody>
      </p:sp>
      <p:sp>
        <p:nvSpPr>
          <p:cNvPr id="33" name="テキスト ボックス 32">
            <a:extLst>
              <a:ext uri="{FF2B5EF4-FFF2-40B4-BE49-F238E27FC236}">
                <a16:creationId xmlns:a16="http://schemas.microsoft.com/office/drawing/2014/main" id="{2D4181D4-C886-425A-BC2E-72DB07C66258}"/>
              </a:ext>
            </a:extLst>
          </p:cNvPr>
          <p:cNvSpPr txBox="1"/>
          <p:nvPr/>
        </p:nvSpPr>
        <p:spPr bwMode="gray">
          <a:xfrm>
            <a:off x="5377847" y="3135285"/>
            <a:ext cx="846276" cy="17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b">
            <a:spAutoFit/>
          </a:bodyPr>
          <a:lstStyle/>
          <a:p>
            <a:pPr marL="0" indent="0" algn="ctr">
              <a:buClrTx/>
              <a:buFont typeface="Wingdings" pitchFamily="2" charset="2"/>
              <a:buNone/>
            </a:pPr>
            <a:r>
              <a:rPr kumimoji="1" lang="ja-JP" altLang="en-US" sz="900" dirty="0">
                <a:latin typeface="Meiryo UI" panose="020B0604030504040204" pitchFamily="50" charset="-128"/>
                <a:ea typeface="Meiryo UI" panose="020B0604030504040204" pitchFamily="50" charset="-128"/>
                <a:cs typeface="Meiryo UI" panose="020B0604030504040204" pitchFamily="50" charset="-128"/>
              </a:rPr>
              <a:t>億円</a:t>
            </a:r>
            <a:endParaRPr kumimoji="1" lang="ja-JP" altLang="en-US" sz="900" b="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正方形/長方形 36">
            <a:extLst>
              <a:ext uri="{FF2B5EF4-FFF2-40B4-BE49-F238E27FC236}">
                <a16:creationId xmlns:a16="http://schemas.microsoft.com/office/drawing/2014/main" id="{56A8A3DD-AFBA-4DD2-8A9C-BAC4289B8740}"/>
              </a:ext>
            </a:extLst>
          </p:cNvPr>
          <p:cNvSpPr/>
          <p:nvPr/>
        </p:nvSpPr>
        <p:spPr bwMode="gray">
          <a:xfrm>
            <a:off x="3705481" y="3170839"/>
            <a:ext cx="543824" cy="129716"/>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9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経費</a:t>
            </a:r>
          </a:p>
        </p:txBody>
      </p:sp>
      <p:sp>
        <p:nvSpPr>
          <p:cNvPr id="38" name="正方形/長方形 37">
            <a:extLst>
              <a:ext uri="{FF2B5EF4-FFF2-40B4-BE49-F238E27FC236}">
                <a16:creationId xmlns:a16="http://schemas.microsoft.com/office/drawing/2014/main" id="{96FAB597-BEE0-4609-B8FD-3AD400AC210E}"/>
              </a:ext>
            </a:extLst>
          </p:cNvPr>
          <p:cNvSpPr/>
          <p:nvPr/>
        </p:nvSpPr>
        <p:spPr bwMode="gray">
          <a:xfrm>
            <a:off x="4269457" y="3170839"/>
            <a:ext cx="543373" cy="129716"/>
          </a:xfrm>
          <a:prstGeom prst="rect">
            <a:avLst/>
          </a:prstGeom>
          <a:solidFill>
            <a:srgbClr val="FFCCCC"/>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ja-JP" altLang="en-US" sz="900" dirty="0">
                <a:latin typeface="Meiryo UI" panose="020B0604030504040204" pitchFamily="50" charset="-128"/>
                <a:ea typeface="Meiryo UI" panose="020B0604030504040204" pitchFamily="50" charset="-128"/>
                <a:cs typeface="Meiryo UI" panose="020B0604030504040204" pitchFamily="50" charset="-128"/>
              </a:rPr>
              <a:t>業務純益</a:t>
            </a:r>
            <a:endParaRPr kumimoji="0" lang="ja-JP" altLang="en-US" sz="9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正方形/長方形 38">
            <a:extLst>
              <a:ext uri="{FF2B5EF4-FFF2-40B4-BE49-F238E27FC236}">
                <a16:creationId xmlns:a16="http://schemas.microsoft.com/office/drawing/2014/main" id="{07D12A51-273C-4CF6-83C0-7D4AEE15B040}"/>
              </a:ext>
            </a:extLst>
          </p:cNvPr>
          <p:cNvSpPr/>
          <p:nvPr/>
        </p:nvSpPr>
        <p:spPr bwMode="gray">
          <a:xfrm>
            <a:off x="3140463" y="3170839"/>
            <a:ext cx="544866" cy="129716"/>
          </a:xfrm>
          <a:prstGeom prst="rect">
            <a:avLst/>
          </a:prstGeom>
          <a:solidFill>
            <a:srgbClr val="F0D69E"/>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
                <a:schemeClr val="tx1"/>
              </a:buClr>
              <a:buSzTx/>
              <a:tabLst/>
            </a:pPr>
            <a:r>
              <a:rPr kumimoji="0"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業務</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粗利</a:t>
            </a:r>
            <a:endParaRPr kumimoji="0"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正方形/長方形 40">
            <a:extLst>
              <a:ext uri="{FF2B5EF4-FFF2-40B4-BE49-F238E27FC236}">
                <a16:creationId xmlns:a16="http://schemas.microsoft.com/office/drawing/2014/main" id="{30D5135E-18EA-4B0F-9D9D-554AF322A157}"/>
              </a:ext>
            </a:extLst>
          </p:cNvPr>
          <p:cNvSpPr/>
          <p:nvPr/>
        </p:nvSpPr>
        <p:spPr bwMode="gray">
          <a:xfrm>
            <a:off x="4832981" y="3170839"/>
            <a:ext cx="544866" cy="129716"/>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損失</a:t>
            </a:r>
            <a:endParaRPr kumimoji="0" lang="ja-JP" altLang="en-US" sz="900" i="0"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正方形/長方形 48">
            <a:extLst>
              <a:ext uri="{FF2B5EF4-FFF2-40B4-BE49-F238E27FC236}">
                <a16:creationId xmlns:a16="http://schemas.microsoft.com/office/drawing/2014/main" id="{82CB68C7-0329-446D-8626-43B00AE46AC2}"/>
              </a:ext>
            </a:extLst>
          </p:cNvPr>
          <p:cNvSpPr/>
          <p:nvPr/>
        </p:nvSpPr>
        <p:spPr bwMode="gray">
          <a:xfrm>
            <a:off x="7864127" y="3170839"/>
            <a:ext cx="543824" cy="129716"/>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9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経費</a:t>
            </a:r>
          </a:p>
        </p:txBody>
      </p:sp>
      <p:sp>
        <p:nvSpPr>
          <p:cNvPr id="51" name="正方形/長方形 50">
            <a:extLst>
              <a:ext uri="{FF2B5EF4-FFF2-40B4-BE49-F238E27FC236}">
                <a16:creationId xmlns:a16="http://schemas.microsoft.com/office/drawing/2014/main" id="{614CB03E-6A0D-45F8-8400-9BF81235B8CE}"/>
              </a:ext>
            </a:extLst>
          </p:cNvPr>
          <p:cNvSpPr/>
          <p:nvPr/>
        </p:nvSpPr>
        <p:spPr bwMode="gray">
          <a:xfrm>
            <a:off x="8428103" y="3170839"/>
            <a:ext cx="543373" cy="129716"/>
          </a:xfrm>
          <a:prstGeom prst="rect">
            <a:avLst/>
          </a:prstGeom>
          <a:solidFill>
            <a:srgbClr val="FFCCCC"/>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914400" rtl="0" eaLnBrk="1" fontAlgn="base" latinLnBrk="0" hangingPunct="1">
              <a:lnSpc>
                <a:spcPct val="100000"/>
              </a:lnSpc>
              <a:spcBef>
                <a:spcPct val="20000"/>
              </a:spcBef>
              <a:spcAft>
                <a:spcPct val="0"/>
              </a:spcAft>
              <a:buClr>
                <a:schemeClr val="tx1"/>
              </a:buClr>
              <a:buSzTx/>
              <a:tabLst/>
            </a:pPr>
            <a:r>
              <a:rPr lang="ja-JP" altLang="en-US" sz="900" dirty="0">
                <a:latin typeface="Meiryo UI" panose="020B0604030504040204" pitchFamily="50" charset="-128"/>
                <a:ea typeface="Meiryo UI" panose="020B0604030504040204" pitchFamily="50" charset="-128"/>
                <a:cs typeface="Meiryo UI" panose="020B0604030504040204" pitchFamily="50" charset="-128"/>
              </a:rPr>
              <a:t>業務純益</a:t>
            </a:r>
            <a:endParaRPr kumimoji="0" lang="ja-JP" altLang="en-US" sz="900" i="0"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正方形/長方形 54">
            <a:extLst>
              <a:ext uri="{FF2B5EF4-FFF2-40B4-BE49-F238E27FC236}">
                <a16:creationId xmlns:a16="http://schemas.microsoft.com/office/drawing/2014/main" id="{CD115B0F-69AA-453A-B9A0-6DE18BACFD29}"/>
              </a:ext>
            </a:extLst>
          </p:cNvPr>
          <p:cNvSpPr/>
          <p:nvPr/>
        </p:nvSpPr>
        <p:spPr bwMode="gray">
          <a:xfrm>
            <a:off x="7299109" y="3170839"/>
            <a:ext cx="544866" cy="129716"/>
          </a:xfrm>
          <a:prstGeom prst="rect">
            <a:avLst/>
          </a:prstGeom>
          <a:solidFill>
            <a:srgbClr val="F0D69E"/>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ts val="0"/>
              </a:spcBef>
              <a:spcAft>
                <a:spcPct val="0"/>
              </a:spcAft>
              <a:buClr>
                <a:schemeClr val="tx1"/>
              </a:buClr>
              <a:buSzTx/>
              <a:tabLst/>
            </a:pPr>
            <a:r>
              <a:rPr kumimoji="0"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業務</a:t>
            </a:r>
            <a:r>
              <a:rPr lang="ja-JP" altLang="en-US" sz="900" dirty="0">
                <a:latin typeface="Meiryo UI" panose="020B0604030504040204" pitchFamily="50" charset="-128"/>
                <a:ea typeface="Meiryo UI" panose="020B0604030504040204" pitchFamily="50" charset="-128"/>
                <a:cs typeface="Meiryo UI" panose="020B0604030504040204" pitchFamily="50" charset="-128"/>
              </a:rPr>
              <a:t>粗利</a:t>
            </a:r>
            <a:endParaRPr kumimoji="0" lang="ja-JP" altLang="en-US" sz="9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693B96C7-03E5-442D-9E2B-AD41364E7EEF}"/>
              </a:ext>
            </a:extLst>
          </p:cNvPr>
          <p:cNvSpPr/>
          <p:nvPr/>
        </p:nvSpPr>
        <p:spPr bwMode="gray">
          <a:xfrm>
            <a:off x="8991627" y="3170839"/>
            <a:ext cx="544866" cy="129716"/>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ja-JP" altLang="en-US" sz="9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損失</a:t>
            </a:r>
            <a:endParaRPr kumimoji="0" lang="ja-JP" altLang="en-US" sz="900" i="0"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1759504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AFCCB5C-65D8-4EE1-B374-CBFD20C85B5C}"/>
              </a:ext>
            </a:extLst>
          </p:cNvPr>
          <p:cNvSpPr>
            <a:spLocks noGrp="1"/>
          </p:cNvSpPr>
          <p:nvPr>
            <p:ph type="sldNum" sz="quarter" idx="11"/>
          </p:nvPr>
        </p:nvSpPr>
        <p:spPr bwMode="gray"/>
        <p:txBody>
          <a:bodyPr/>
          <a:lstStyle/>
          <a:p>
            <a:fld id="{48A150E7-E09D-4C31-9917-0D6C90A70F8A}" type="slidenum">
              <a:rPr lang="en-US" altLang="ja-JP" smtClean="0"/>
              <a:pPr/>
              <a:t>7</a:t>
            </a:fld>
            <a:endParaRPr lang="ja-JP" altLang="en-US" dirty="0"/>
          </a:p>
        </p:txBody>
      </p:sp>
      <p:sp>
        <p:nvSpPr>
          <p:cNvPr id="71" name="タイトル 1">
            <a:extLst>
              <a:ext uri="{FF2B5EF4-FFF2-40B4-BE49-F238E27FC236}">
                <a16:creationId xmlns:a16="http://schemas.microsoft.com/office/drawing/2014/main" id="{A57CD01E-664A-4BCE-9B9B-161A11F9DD6B}"/>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２</a:t>
            </a:r>
            <a:r>
              <a:rPr lang="en-US" altLang="ja-JP" kern="0" dirty="0">
                <a:latin typeface="Meiryo UI"/>
                <a:ea typeface="Meiryo UI"/>
              </a:rPr>
              <a:t>.</a:t>
            </a:r>
            <a:r>
              <a:rPr lang="ja-JP" altLang="en-US" kern="0" dirty="0">
                <a:latin typeface="Meiryo UI"/>
                <a:ea typeface="Meiryo UI"/>
              </a:rPr>
              <a:t> ビジネス</a:t>
            </a:r>
            <a:br>
              <a:rPr lang="en-US" altLang="ja-JP" kern="0" dirty="0">
                <a:latin typeface="Meiryo UI" panose="020B0604030504040204" pitchFamily="50" charset="-128"/>
                <a:ea typeface="Meiryo UI" panose="020B0604030504040204" pitchFamily="50" charset="-128"/>
              </a:rPr>
            </a:br>
            <a:r>
              <a:rPr lang="en-US" altLang="ja-JP" kern="0" dirty="0">
                <a:latin typeface="Meiryo UI" panose="020B0604030504040204" pitchFamily="50" charset="-128"/>
                <a:ea typeface="Meiryo UI" panose="020B0604030504040204" pitchFamily="50" charset="-128"/>
              </a:rPr>
              <a:t>iv.</a:t>
            </a:r>
            <a:r>
              <a:rPr lang="ja-JP" altLang="en-US" kern="0" dirty="0">
                <a:latin typeface="Meiryo UI" panose="020B0604030504040204" pitchFamily="50" charset="-128"/>
                <a:ea typeface="Meiryo UI" panose="020B0604030504040204" pitchFamily="50" charset="-128"/>
              </a:rPr>
              <a:t> 業界の</a:t>
            </a:r>
            <a:r>
              <a:rPr lang="ja-JP" altLang="en-US" dirty="0">
                <a:latin typeface="Meiryo UI"/>
              </a:rPr>
              <a:t>トレンド・課題と各社の取組</a:t>
            </a:r>
            <a:endParaRPr lang="ja-JP" altLang="en-US" kern="0" dirty="0"/>
          </a:p>
        </p:txBody>
      </p:sp>
      <p:sp>
        <p:nvSpPr>
          <p:cNvPr id="72" name="コンテンツ プレースホルダー 3">
            <a:extLst>
              <a:ext uri="{FF2B5EF4-FFF2-40B4-BE49-F238E27FC236}">
                <a16:creationId xmlns:a16="http://schemas.microsoft.com/office/drawing/2014/main" id="{7D57F033-0E26-4BE1-A583-876CB5E0CC6F}"/>
              </a:ext>
            </a:extLst>
          </p:cNvPr>
          <p:cNvSpPr txBox="1">
            <a:spLocks/>
          </p:cNvSpPr>
          <p:nvPr/>
        </p:nvSpPr>
        <p:spPr bwMode="gray">
          <a:xfrm>
            <a:off x="127155" y="777701"/>
            <a:ext cx="9648000" cy="335989"/>
          </a:xfrm>
          <a:prstGeom prst="rect">
            <a:avLst/>
          </a:prstGeom>
        </p:spPr>
        <p:txBody>
          <a:bodyPr/>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400" dirty="0">
                <a:latin typeface="Meiryo UI"/>
                <a:ea typeface="Meiryo UI"/>
              </a:rPr>
              <a:t>全部門通じて、デジタル活用による付加価値向上・業務効率化と新たな収益機会の創出を推進している。</a:t>
            </a:r>
            <a:endParaRPr lang="en-US" altLang="ja-JP" sz="1400" dirty="0">
              <a:latin typeface="Meiryo UI"/>
              <a:ea typeface="Meiryo UI"/>
            </a:endParaRPr>
          </a:p>
          <a:p>
            <a:r>
              <a:rPr lang="ja-JP" altLang="en-US" sz="1400" dirty="0">
                <a:latin typeface="Meiryo UI"/>
                <a:ea typeface="Meiryo UI"/>
              </a:rPr>
              <a:t>各社とも部門間協働・シナジー効果創出を主要な課題と位置付けるも、有効な取組を打ち出せていないと思われる。</a:t>
            </a:r>
            <a:endParaRPr lang="en-US" altLang="ja-JP" sz="1400" dirty="0">
              <a:latin typeface="Meiryo UI"/>
              <a:ea typeface="Meiryo UI"/>
            </a:endParaRPr>
          </a:p>
        </p:txBody>
      </p:sp>
      <p:sp>
        <p:nvSpPr>
          <p:cNvPr id="73" name="正方形/長方形 72">
            <a:extLst>
              <a:ext uri="{FF2B5EF4-FFF2-40B4-BE49-F238E27FC236}">
                <a16:creationId xmlns:a16="http://schemas.microsoft.com/office/drawing/2014/main" id="{77EE5ECB-E612-4124-AE08-613DF89D8AFE}"/>
              </a:ext>
            </a:extLst>
          </p:cNvPr>
          <p:cNvSpPr/>
          <p:nvPr/>
        </p:nvSpPr>
        <p:spPr bwMode="gray">
          <a:xfrm>
            <a:off x="5355772" y="124224"/>
            <a:ext cx="4238174" cy="587774"/>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t" anchorCtr="0" compatLnSpc="1">
            <a:prstTxWarp prst="textNoShape">
              <a:avLst/>
            </a:prstTxWarp>
          </a:bodyPr>
          <a:lstStyle/>
          <a:p>
            <a:pPr marL="87313" marR="0" algn="l" defTabSz="914400" rtl="0" eaLnBrk="1" fontAlgn="base" latinLnBrk="0" hangingPunct="1">
              <a:lnSpc>
                <a:spcPct val="100000"/>
              </a:lnSpc>
              <a:spcBef>
                <a:spcPct val="20000"/>
              </a:spcBef>
              <a:spcAft>
                <a:spcPct val="0"/>
              </a:spcAft>
              <a:buClr>
                <a:schemeClr val="tx1"/>
              </a:buClr>
              <a:buSzTx/>
              <a:tabLst/>
            </a:pPr>
            <a:endParaRPr kumimoji="0" lang="en-US" altLang="ja-JP" sz="1050" b="0" i="0" u="none"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endParaRPr>
          </a:p>
          <a:p>
            <a:pPr marL="87313" algn="l">
              <a:spcBef>
                <a:spcPts val="0"/>
              </a:spcBef>
            </a:pPr>
            <a:r>
              <a:rPr kumimoji="0" lang="ja-JP" altLang="en-US" sz="1050" b="0" i="0" u="none" strike="noStrike" cap="none" normalizeH="0" baseline="0" dirty="0">
                <a:ln>
                  <a:noFill/>
                </a:ln>
                <a:solidFill>
                  <a:srgbClr val="0070C0"/>
                </a:solidFill>
                <a:effectLst/>
                <a:latin typeface="Meiryo UI" panose="020B0604030504040204" pitchFamily="50" charset="-128"/>
                <a:ea typeface="Meiryo UI" panose="020B0604030504040204" pitchFamily="50" charset="-128"/>
                <a:cs typeface="Meiryo UI" panose="020B0604030504040204" pitchFamily="50" charset="-128"/>
              </a:rPr>
              <a:t>収益にプラスインパクトのトレンド</a:t>
            </a:r>
            <a:r>
              <a:rPr kumimoji="0"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0" lang="ja-JP" altLang="en-US" sz="105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rPr>
              <a:t>マイナスインパクトのトレンド</a:t>
            </a:r>
            <a:endParaRPr kumimoji="0" lang="en-US" altLang="ja-JP" sz="105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a:p>
            <a:pPr marL="258763" indent="-171450" algn="l">
              <a:spcBef>
                <a:spcPts val="0"/>
              </a:spcBef>
              <a:buFont typeface="Wingdings" panose="05000000000000000000" pitchFamily="2" charset="2"/>
              <a:buChar char="u"/>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：デジタル活用による取組　　□：新たな収益機会創出のための取組</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テキスト ボックス 74">
            <a:extLst>
              <a:ext uri="{FF2B5EF4-FFF2-40B4-BE49-F238E27FC236}">
                <a16:creationId xmlns:a16="http://schemas.microsoft.com/office/drawing/2014/main" id="{5F40180C-5530-4EB5-BE72-D427555FCD79}"/>
              </a:ext>
            </a:extLst>
          </p:cNvPr>
          <p:cNvSpPr txBox="1"/>
          <p:nvPr/>
        </p:nvSpPr>
        <p:spPr bwMode="gray">
          <a:xfrm>
            <a:off x="4293902" y="6498469"/>
            <a:ext cx="5328000" cy="35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t">
            <a:spAutoFit/>
          </a:bodyPr>
          <a:lstStyle/>
          <a:p>
            <a:pPr marL="0" indent="0" algn="l">
              <a:spcBef>
                <a:spcPts val="0"/>
              </a:spcBef>
              <a:buClrTx/>
              <a:buFont typeface="Wingdings" pitchFamily="2" charset="2"/>
              <a:buNone/>
            </a:pPr>
            <a:r>
              <a:rPr kumimoji="1" lang="en-US" altLang="ja-JP" sz="700" b="0" dirty="0">
                <a:latin typeface="Meiryo UI" panose="020B0604030504040204" pitchFamily="50" charset="-128"/>
                <a:ea typeface="Meiryo UI" panose="020B0604030504040204" pitchFamily="50" charset="-128"/>
                <a:cs typeface="Meiryo UI" panose="020B0604030504040204" pitchFamily="50" charset="-128"/>
              </a:rPr>
              <a:t>*1 </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DB(Defined Benefit)…</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確定</a:t>
            </a:r>
            <a:r>
              <a:rPr kumimoji="1" lang="ja-JP" altLang="en-US" sz="700" b="0" dirty="0">
                <a:latin typeface="Meiryo UI" panose="020B0604030504040204" pitchFamily="50" charset="-128"/>
                <a:ea typeface="Meiryo UI" panose="020B0604030504040204" pitchFamily="50" charset="-128"/>
                <a:cs typeface="Meiryo UI" panose="020B0604030504040204" pitchFamily="50" charset="-128"/>
              </a:rPr>
              <a:t>給付年金。従業員への給付額を固定し、</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給付額を賄えるように掛け金の拠出や運用をするスタイルの年金制度。</a:t>
            </a:r>
            <a:endParaRPr kumimoji="1" lang="en-US" altLang="ja-JP" sz="700" b="0" dirty="0">
              <a:latin typeface="Meiryo UI" panose="020B0604030504040204" pitchFamily="50" charset="-128"/>
              <a:ea typeface="Meiryo UI" panose="020B0604030504040204" pitchFamily="50" charset="-128"/>
              <a:cs typeface="Meiryo UI" panose="020B0604030504040204" pitchFamily="50" charset="-128"/>
            </a:endParaRPr>
          </a:p>
          <a:p>
            <a:pPr marL="0" indent="0" algn="l">
              <a:spcBef>
                <a:spcPts val="0"/>
              </a:spcBef>
              <a:buClrTx/>
              <a:buFont typeface="Wingdings" pitchFamily="2" charset="2"/>
              <a:buNone/>
            </a:pP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*2 DC(Defined Contribution)…</a:t>
            </a:r>
            <a:r>
              <a:rPr kumimoji="1" lang="ja-JP" altLang="en-US" sz="700" b="0" dirty="0">
                <a:latin typeface="Meiryo UI" panose="020B0604030504040204" pitchFamily="50" charset="-128"/>
                <a:ea typeface="Meiryo UI" panose="020B0604030504040204" pitchFamily="50" charset="-128"/>
                <a:cs typeface="Meiryo UI" panose="020B0604030504040204" pitchFamily="50" charset="-128"/>
              </a:rPr>
              <a:t>確定拠出年金。拠出額を固定し、運用</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結果に応じて従業員への</a:t>
            </a:r>
            <a:r>
              <a:rPr kumimoji="1" lang="ja-JP" altLang="en-US" sz="700" b="0" dirty="0">
                <a:latin typeface="Meiryo UI" panose="020B0604030504040204" pitchFamily="50" charset="-128"/>
                <a:ea typeface="Meiryo UI" panose="020B0604030504040204" pitchFamily="50" charset="-128"/>
                <a:cs typeface="Meiryo UI" panose="020B0604030504040204" pitchFamily="50" charset="-128"/>
              </a:rPr>
              <a:t>給付額が変動するスタイルの企業年金。</a:t>
            </a:r>
            <a:endParaRPr kumimoji="1" lang="en-US" altLang="ja-JP" sz="700" b="0" dirty="0">
              <a:latin typeface="Meiryo UI" panose="020B0604030504040204" pitchFamily="50" charset="-128"/>
              <a:ea typeface="Meiryo UI" panose="020B0604030504040204" pitchFamily="50" charset="-128"/>
              <a:cs typeface="Meiryo UI" panose="020B0604030504040204" pitchFamily="50" charset="-128"/>
            </a:endParaRPr>
          </a:p>
          <a:p>
            <a:pPr marL="0" indent="0" algn="l">
              <a:spcBef>
                <a:spcPts val="0"/>
              </a:spcBef>
              <a:buClrTx/>
              <a:buFont typeface="Wingdings" pitchFamily="2" charset="2"/>
              <a:buNone/>
            </a:pPr>
            <a:r>
              <a:rPr kumimoji="1" lang="en-US" altLang="ja-JP" sz="700" b="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ESG</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投資</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長期的成長の原動力となる</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Environment</a:t>
            </a:r>
            <a:r>
              <a:rPr kumimoji="1" lang="ja-JP" altLang="en-US" sz="7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Social</a:t>
            </a:r>
            <a:r>
              <a:rPr kumimoji="1" lang="ja-JP" altLang="en-US" sz="7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700" dirty="0">
                <a:latin typeface="Meiryo UI" panose="020B0604030504040204" pitchFamily="50" charset="-128"/>
                <a:ea typeface="Meiryo UI" panose="020B0604030504040204" pitchFamily="50" charset="-128"/>
                <a:cs typeface="Meiryo UI" panose="020B0604030504040204" pitchFamily="50" charset="-128"/>
              </a:rPr>
              <a:t>Governance</a:t>
            </a:r>
            <a:r>
              <a:rPr kumimoji="1" lang="ja-JP" altLang="en-US" sz="700" dirty="0">
                <a:latin typeface="Meiryo UI" panose="020B0604030504040204" pitchFamily="50" charset="-128"/>
                <a:ea typeface="Meiryo UI" panose="020B0604030504040204" pitchFamily="50" charset="-128"/>
                <a:cs typeface="Meiryo UI" panose="020B0604030504040204" pitchFamily="50" charset="-128"/>
              </a:rPr>
              <a:t>を重視して投資先企業を決める運用手法。</a:t>
            </a:r>
            <a:endParaRPr kumimoji="1" lang="en-US" altLang="ja-JP" sz="7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正方形/長方形 9">
            <a:extLst>
              <a:ext uri="{FF2B5EF4-FFF2-40B4-BE49-F238E27FC236}">
                <a16:creationId xmlns:a16="http://schemas.microsoft.com/office/drawing/2014/main" id="{83501CCE-B1B8-45CD-AAEB-1B16B6A61F3B}"/>
              </a:ext>
            </a:extLst>
          </p:cNvPr>
          <p:cNvSpPr/>
          <p:nvPr/>
        </p:nvSpPr>
        <p:spPr bwMode="gray">
          <a:xfrm>
            <a:off x="277188" y="1407885"/>
            <a:ext cx="2509477" cy="24547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spcBef>
                <a:spcPts val="600"/>
              </a:spcBef>
            </a:pPr>
            <a:r>
              <a:rPr lang="ja-JP" altLang="en-US" dirty="0">
                <a:latin typeface="+mj-ea"/>
                <a:ea typeface="+mj-ea"/>
              </a:rPr>
              <a:t>部門</a:t>
            </a:r>
          </a:p>
        </p:txBody>
      </p:sp>
      <p:cxnSp>
        <p:nvCxnSpPr>
          <p:cNvPr id="11" name="直線コネクタ 10">
            <a:extLst>
              <a:ext uri="{FF2B5EF4-FFF2-40B4-BE49-F238E27FC236}">
                <a16:creationId xmlns:a16="http://schemas.microsoft.com/office/drawing/2014/main" id="{4D457019-D07D-4484-A8A1-EA13DB777281}"/>
              </a:ext>
            </a:extLst>
          </p:cNvPr>
          <p:cNvCxnSpPr>
            <a:cxnSpLocks/>
          </p:cNvCxnSpPr>
          <p:nvPr/>
        </p:nvCxnSpPr>
        <p:spPr bwMode="gray">
          <a:xfrm>
            <a:off x="277188" y="1645299"/>
            <a:ext cx="250947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1" name="正方形/長方形 20">
            <a:extLst>
              <a:ext uri="{FF2B5EF4-FFF2-40B4-BE49-F238E27FC236}">
                <a16:creationId xmlns:a16="http://schemas.microsoft.com/office/drawing/2014/main" id="{64916D86-A6A9-4C02-BA2D-33BB6131C231}"/>
              </a:ext>
            </a:extLst>
          </p:cNvPr>
          <p:cNvSpPr/>
          <p:nvPr/>
        </p:nvSpPr>
        <p:spPr bwMode="gray">
          <a:xfrm>
            <a:off x="1210197" y="3049132"/>
            <a:ext cx="1576546" cy="648646"/>
          </a:xfrm>
          <a:prstGeom prst="rect">
            <a:avLst/>
          </a:pr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latin typeface="+mj-ea"/>
                <a:ea typeface="+mj-ea"/>
              </a:rPr>
              <a:t>預金・決済・融資</a:t>
            </a:r>
          </a:p>
        </p:txBody>
      </p:sp>
      <p:sp>
        <p:nvSpPr>
          <p:cNvPr id="22" name="正方形/長方形 21">
            <a:extLst>
              <a:ext uri="{FF2B5EF4-FFF2-40B4-BE49-F238E27FC236}">
                <a16:creationId xmlns:a16="http://schemas.microsoft.com/office/drawing/2014/main" id="{A220C815-B8C9-4015-B1E2-72F1D085CD5C}"/>
              </a:ext>
            </a:extLst>
          </p:cNvPr>
          <p:cNvSpPr/>
          <p:nvPr/>
        </p:nvSpPr>
        <p:spPr bwMode="gray">
          <a:xfrm>
            <a:off x="1210197" y="3733556"/>
            <a:ext cx="1576546" cy="648646"/>
          </a:xfrm>
          <a:prstGeom prst="rect">
            <a:avLst/>
          </a:pr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latin typeface="+mj-ea"/>
                <a:ea typeface="+mj-ea"/>
              </a:rPr>
              <a:t>不動産売買・賃貸借仲介</a:t>
            </a:r>
            <a:endParaRPr lang="en-US" altLang="ja-JP" sz="900" dirty="0">
              <a:latin typeface="+mj-ea"/>
              <a:ea typeface="+mj-ea"/>
            </a:endParaRPr>
          </a:p>
          <a:p>
            <a:pPr algn="l"/>
            <a:r>
              <a:rPr lang="ja-JP" altLang="en-US" sz="900" dirty="0">
                <a:latin typeface="+mj-ea"/>
                <a:ea typeface="+mj-ea"/>
              </a:rPr>
              <a:t>不動産鑑定評価</a:t>
            </a:r>
          </a:p>
        </p:txBody>
      </p:sp>
      <p:sp>
        <p:nvSpPr>
          <p:cNvPr id="23" name="正方形/長方形 22">
            <a:extLst>
              <a:ext uri="{FF2B5EF4-FFF2-40B4-BE49-F238E27FC236}">
                <a16:creationId xmlns:a16="http://schemas.microsoft.com/office/drawing/2014/main" id="{F6425964-5C0A-487B-A7EE-87936F121198}"/>
              </a:ext>
            </a:extLst>
          </p:cNvPr>
          <p:cNvSpPr/>
          <p:nvPr/>
        </p:nvSpPr>
        <p:spPr bwMode="gray">
          <a:xfrm>
            <a:off x="1210197" y="4417981"/>
            <a:ext cx="1576546" cy="648646"/>
          </a:xfrm>
          <a:prstGeom prst="rect">
            <a:avLst/>
          </a:pr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latin typeface="+mj-ea"/>
                <a:ea typeface="+mj-ea"/>
              </a:rPr>
              <a:t>株式関連事務の代行</a:t>
            </a:r>
            <a:endParaRPr lang="en-US" altLang="ja-JP" sz="900" dirty="0">
              <a:latin typeface="+mj-ea"/>
              <a:ea typeface="+mj-ea"/>
            </a:endParaRPr>
          </a:p>
          <a:p>
            <a:pPr algn="l"/>
            <a:r>
              <a:rPr lang="en-US" altLang="ja-JP" sz="900" dirty="0">
                <a:latin typeface="+mj-ea"/>
                <a:ea typeface="+mj-ea"/>
              </a:rPr>
              <a:t>SR/IR</a:t>
            </a:r>
            <a:r>
              <a:rPr lang="ja-JP" altLang="en-US" sz="900" dirty="0">
                <a:latin typeface="+mj-ea"/>
                <a:ea typeface="+mj-ea"/>
              </a:rPr>
              <a:t>活動支援</a:t>
            </a:r>
            <a:endParaRPr lang="en-US" altLang="ja-JP" sz="900" dirty="0">
              <a:latin typeface="+mj-ea"/>
              <a:ea typeface="+mj-ea"/>
            </a:endParaRPr>
          </a:p>
        </p:txBody>
      </p:sp>
      <p:sp>
        <p:nvSpPr>
          <p:cNvPr id="34" name="正方形/長方形 33">
            <a:extLst>
              <a:ext uri="{FF2B5EF4-FFF2-40B4-BE49-F238E27FC236}">
                <a16:creationId xmlns:a16="http://schemas.microsoft.com/office/drawing/2014/main" id="{8924057C-57DE-4D62-A403-3498A7B7A3E6}"/>
              </a:ext>
            </a:extLst>
          </p:cNvPr>
          <p:cNvSpPr/>
          <p:nvPr/>
        </p:nvSpPr>
        <p:spPr bwMode="gray">
          <a:xfrm>
            <a:off x="1210197" y="5102404"/>
            <a:ext cx="1576546" cy="648646"/>
          </a:xfrm>
          <a:prstGeom prst="rect">
            <a:avLst/>
          </a:pr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latin typeface="+mj-ea"/>
                <a:ea typeface="+mj-ea"/>
              </a:rPr>
              <a:t>年金制度設計・運用</a:t>
            </a:r>
            <a:endParaRPr lang="en-US" altLang="ja-JP" sz="900" dirty="0">
              <a:latin typeface="+mj-ea"/>
              <a:ea typeface="+mj-ea"/>
            </a:endParaRPr>
          </a:p>
          <a:p>
            <a:pPr algn="l"/>
            <a:r>
              <a:rPr lang="ja-JP" altLang="en-US" sz="900" dirty="0">
                <a:latin typeface="+mj-ea"/>
                <a:ea typeface="+mj-ea"/>
              </a:rPr>
              <a:t>資産運用</a:t>
            </a:r>
            <a:endParaRPr lang="en-US" altLang="ja-JP" sz="900" dirty="0">
              <a:latin typeface="+mj-ea"/>
              <a:ea typeface="+mj-ea"/>
            </a:endParaRPr>
          </a:p>
          <a:p>
            <a:pPr algn="l"/>
            <a:r>
              <a:rPr lang="ja-JP" altLang="en-US" sz="900" dirty="0">
                <a:latin typeface="+mj-ea"/>
                <a:ea typeface="+mj-ea"/>
              </a:rPr>
              <a:t>資産管理、アセットマネジメント</a:t>
            </a:r>
          </a:p>
        </p:txBody>
      </p:sp>
      <p:sp>
        <p:nvSpPr>
          <p:cNvPr id="37" name="正方形/長方形 36">
            <a:extLst>
              <a:ext uri="{FF2B5EF4-FFF2-40B4-BE49-F238E27FC236}">
                <a16:creationId xmlns:a16="http://schemas.microsoft.com/office/drawing/2014/main" id="{8D3FE277-3213-46F0-97D4-51448C778653}"/>
              </a:ext>
            </a:extLst>
          </p:cNvPr>
          <p:cNvSpPr/>
          <p:nvPr/>
        </p:nvSpPr>
        <p:spPr bwMode="gray">
          <a:xfrm>
            <a:off x="1210197" y="5786828"/>
            <a:ext cx="1576546" cy="648646"/>
          </a:xfrm>
          <a:prstGeom prst="rect">
            <a:avLst/>
          </a:pr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latin typeface="+mj-ea"/>
                <a:ea typeface="+mj-ea"/>
              </a:rPr>
              <a:t>自己勘定の運用</a:t>
            </a:r>
          </a:p>
        </p:txBody>
      </p:sp>
      <p:sp>
        <p:nvSpPr>
          <p:cNvPr id="44" name="正方形/長方形 43">
            <a:extLst>
              <a:ext uri="{FF2B5EF4-FFF2-40B4-BE49-F238E27FC236}">
                <a16:creationId xmlns:a16="http://schemas.microsoft.com/office/drawing/2014/main" id="{54414651-4CED-4EBF-BB9B-D652404F1AFE}"/>
              </a:ext>
            </a:extLst>
          </p:cNvPr>
          <p:cNvSpPr/>
          <p:nvPr/>
        </p:nvSpPr>
        <p:spPr bwMode="gray">
          <a:xfrm>
            <a:off x="277187" y="5786828"/>
            <a:ext cx="878400"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市場</a:t>
            </a:r>
            <a:endParaRPr lang="zh-TW" altLang="en-US" sz="900" dirty="0">
              <a:latin typeface="+mj-ea"/>
              <a:ea typeface="+mj-ea"/>
            </a:endParaRPr>
          </a:p>
        </p:txBody>
      </p:sp>
      <p:sp>
        <p:nvSpPr>
          <p:cNvPr id="106" name="正方形/長方形 105">
            <a:extLst>
              <a:ext uri="{FF2B5EF4-FFF2-40B4-BE49-F238E27FC236}">
                <a16:creationId xmlns:a16="http://schemas.microsoft.com/office/drawing/2014/main" id="{CF7F6FF3-5A6F-414D-8A47-4ACD918F2879}"/>
              </a:ext>
            </a:extLst>
          </p:cNvPr>
          <p:cNvSpPr/>
          <p:nvPr/>
        </p:nvSpPr>
        <p:spPr bwMode="gray">
          <a:xfrm>
            <a:off x="277187" y="2364707"/>
            <a:ext cx="878400"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個人</a:t>
            </a:r>
            <a:endParaRPr lang="zh-TW" altLang="en-US" sz="900" dirty="0">
              <a:latin typeface="+mj-ea"/>
              <a:ea typeface="+mj-ea"/>
            </a:endParaRPr>
          </a:p>
        </p:txBody>
      </p:sp>
      <p:sp>
        <p:nvSpPr>
          <p:cNvPr id="20" name="正方形/長方形 19">
            <a:extLst>
              <a:ext uri="{FF2B5EF4-FFF2-40B4-BE49-F238E27FC236}">
                <a16:creationId xmlns:a16="http://schemas.microsoft.com/office/drawing/2014/main" id="{B6D67979-3407-4C76-873F-C71F26C946A8}"/>
              </a:ext>
            </a:extLst>
          </p:cNvPr>
          <p:cNvSpPr/>
          <p:nvPr/>
        </p:nvSpPr>
        <p:spPr bwMode="gray">
          <a:xfrm>
            <a:off x="1210196" y="2364707"/>
            <a:ext cx="1575985" cy="648646"/>
          </a:xfrm>
          <a:prstGeom prst="rect">
            <a:avLst/>
          </a:pr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latin typeface="+mj-ea"/>
                <a:ea typeface="+mj-ea"/>
              </a:rPr>
              <a:t>預金・決済・融資</a:t>
            </a:r>
            <a:endParaRPr lang="en-US" altLang="ja-JP" sz="900" dirty="0">
              <a:latin typeface="+mj-ea"/>
              <a:ea typeface="+mj-ea"/>
            </a:endParaRPr>
          </a:p>
          <a:p>
            <a:pPr algn="l"/>
            <a:r>
              <a:rPr lang="ja-JP" altLang="en-US" sz="900" dirty="0">
                <a:latin typeface="+mj-ea"/>
                <a:ea typeface="+mj-ea"/>
              </a:rPr>
              <a:t>運用商品販売</a:t>
            </a:r>
            <a:endParaRPr lang="en-US" altLang="ja-JP" sz="900" dirty="0">
              <a:latin typeface="+mj-ea"/>
              <a:ea typeface="+mj-ea"/>
            </a:endParaRPr>
          </a:p>
          <a:p>
            <a:pPr algn="l"/>
            <a:r>
              <a:rPr lang="ja-JP" altLang="en-US" sz="900" dirty="0">
                <a:latin typeface="+mj-ea"/>
                <a:ea typeface="+mj-ea"/>
              </a:rPr>
              <a:t>遺言信託・事業承継</a:t>
            </a:r>
            <a:endParaRPr lang="en-US" altLang="ja-JP" sz="900" dirty="0">
              <a:latin typeface="+mj-ea"/>
              <a:ea typeface="+mj-ea"/>
            </a:endParaRPr>
          </a:p>
          <a:p>
            <a:pPr algn="l"/>
            <a:r>
              <a:rPr lang="ja-JP" altLang="en-US" sz="900" dirty="0">
                <a:latin typeface="+mj-ea"/>
                <a:ea typeface="+mj-ea"/>
              </a:rPr>
              <a:t>不動産売買仲介</a:t>
            </a:r>
            <a:endParaRPr lang="en-US" altLang="ja-JP" sz="900" dirty="0">
              <a:latin typeface="+mj-ea"/>
              <a:ea typeface="+mj-ea"/>
            </a:endParaRPr>
          </a:p>
        </p:txBody>
      </p:sp>
      <p:sp>
        <p:nvSpPr>
          <p:cNvPr id="108" name="正方形/長方形 107">
            <a:extLst>
              <a:ext uri="{FF2B5EF4-FFF2-40B4-BE49-F238E27FC236}">
                <a16:creationId xmlns:a16="http://schemas.microsoft.com/office/drawing/2014/main" id="{586E26F8-A75D-4F6A-A41E-7D5C5126CB1B}"/>
              </a:ext>
            </a:extLst>
          </p:cNvPr>
          <p:cNvSpPr/>
          <p:nvPr/>
        </p:nvSpPr>
        <p:spPr bwMode="gray">
          <a:xfrm>
            <a:off x="686279" y="3049132"/>
            <a:ext cx="468000"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バンキング</a:t>
            </a:r>
            <a:endParaRPr lang="zh-TW" altLang="en-US" sz="900" dirty="0">
              <a:latin typeface="+mj-ea"/>
              <a:ea typeface="+mj-ea"/>
            </a:endParaRPr>
          </a:p>
        </p:txBody>
      </p:sp>
      <p:sp>
        <p:nvSpPr>
          <p:cNvPr id="110" name="正方形/長方形 109">
            <a:extLst>
              <a:ext uri="{FF2B5EF4-FFF2-40B4-BE49-F238E27FC236}">
                <a16:creationId xmlns:a16="http://schemas.microsoft.com/office/drawing/2014/main" id="{77D56026-FB15-49BC-B811-38C9E73BDBC4}"/>
              </a:ext>
            </a:extLst>
          </p:cNvPr>
          <p:cNvSpPr/>
          <p:nvPr/>
        </p:nvSpPr>
        <p:spPr bwMode="gray">
          <a:xfrm>
            <a:off x="686279" y="4417981"/>
            <a:ext cx="468000"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証券代行</a:t>
            </a:r>
            <a:endParaRPr lang="ja-JP" altLang="en-US" sz="900" dirty="0">
              <a:latin typeface="Meiryo UI"/>
              <a:ea typeface="Meiryo UI"/>
            </a:endParaRPr>
          </a:p>
        </p:txBody>
      </p:sp>
      <p:sp>
        <p:nvSpPr>
          <p:cNvPr id="41" name="正方形/長方形 40">
            <a:extLst>
              <a:ext uri="{FF2B5EF4-FFF2-40B4-BE49-F238E27FC236}">
                <a16:creationId xmlns:a16="http://schemas.microsoft.com/office/drawing/2014/main" id="{6B684B6D-5920-4F78-93EC-59E31B07C379}"/>
              </a:ext>
            </a:extLst>
          </p:cNvPr>
          <p:cNvSpPr/>
          <p:nvPr/>
        </p:nvSpPr>
        <p:spPr bwMode="gray">
          <a:xfrm>
            <a:off x="686279" y="3733556"/>
            <a:ext cx="468000"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不動産</a:t>
            </a:r>
            <a:endParaRPr lang="zh-TW" altLang="en-US" sz="900" dirty="0">
              <a:latin typeface="+mj-ea"/>
              <a:ea typeface="+mj-ea"/>
            </a:endParaRPr>
          </a:p>
        </p:txBody>
      </p:sp>
      <p:sp>
        <p:nvSpPr>
          <p:cNvPr id="43" name="正方形/長方形 42">
            <a:extLst>
              <a:ext uri="{FF2B5EF4-FFF2-40B4-BE49-F238E27FC236}">
                <a16:creationId xmlns:a16="http://schemas.microsoft.com/office/drawing/2014/main" id="{38F594D8-2465-454C-ACA1-AE50D367D91C}"/>
              </a:ext>
            </a:extLst>
          </p:cNvPr>
          <p:cNvSpPr/>
          <p:nvPr/>
        </p:nvSpPr>
        <p:spPr bwMode="gray">
          <a:xfrm>
            <a:off x="686279" y="5102404"/>
            <a:ext cx="468000"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a:latin typeface="+mj-ea"/>
                <a:ea typeface="+mj-ea"/>
              </a:rPr>
              <a:t>受託</a:t>
            </a:r>
            <a:endParaRPr lang="zh-TW" altLang="en-US" sz="900">
              <a:latin typeface="+mj-ea"/>
              <a:ea typeface="+mj-ea"/>
            </a:endParaRPr>
          </a:p>
        </p:txBody>
      </p:sp>
      <p:sp>
        <p:nvSpPr>
          <p:cNvPr id="38" name="正方形/長方形 37">
            <a:extLst>
              <a:ext uri="{FF2B5EF4-FFF2-40B4-BE49-F238E27FC236}">
                <a16:creationId xmlns:a16="http://schemas.microsoft.com/office/drawing/2014/main" id="{38E4A252-BCB7-4A7C-9262-B7851D82CDE7}"/>
              </a:ext>
            </a:extLst>
          </p:cNvPr>
          <p:cNvSpPr/>
          <p:nvPr/>
        </p:nvSpPr>
        <p:spPr bwMode="gray">
          <a:xfrm>
            <a:off x="277187" y="3049132"/>
            <a:ext cx="353176" cy="2700723"/>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a:latin typeface="+mj-ea"/>
                <a:ea typeface="+mj-ea"/>
              </a:rPr>
              <a:t>法人</a:t>
            </a:r>
            <a:endParaRPr lang="zh-TW" altLang="en-US" sz="900">
              <a:latin typeface="+mj-ea"/>
              <a:ea typeface="+mj-ea"/>
            </a:endParaRPr>
          </a:p>
        </p:txBody>
      </p:sp>
      <p:sp>
        <p:nvSpPr>
          <p:cNvPr id="66" name="正方形/長方形 65">
            <a:extLst>
              <a:ext uri="{FF2B5EF4-FFF2-40B4-BE49-F238E27FC236}">
                <a16:creationId xmlns:a16="http://schemas.microsoft.com/office/drawing/2014/main" id="{C1EB499D-57C6-423D-908B-3792ED648C9B}"/>
              </a:ext>
            </a:extLst>
          </p:cNvPr>
          <p:cNvSpPr/>
          <p:nvPr/>
        </p:nvSpPr>
        <p:spPr bwMode="gray">
          <a:xfrm>
            <a:off x="277186" y="1683754"/>
            <a:ext cx="2508995" cy="64864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全社</a:t>
            </a:r>
            <a:endParaRPr lang="zh-TW" altLang="en-US" sz="900" dirty="0">
              <a:latin typeface="+mj-ea"/>
              <a:ea typeface="+mj-ea"/>
            </a:endParaRPr>
          </a:p>
        </p:txBody>
      </p:sp>
      <p:sp>
        <p:nvSpPr>
          <p:cNvPr id="58" name="正方形/長方形 57">
            <a:extLst>
              <a:ext uri="{FF2B5EF4-FFF2-40B4-BE49-F238E27FC236}">
                <a16:creationId xmlns:a16="http://schemas.microsoft.com/office/drawing/2014/main" id="{2DA1201B-DA4D-4678-9E39-C789EDC291B0}"/>
              </a:ext>
            </a:extLst>
          </p:cNvPr>
          <p:cNvSpPr/>
          <p:nvPr/>
        </p:nvSpPr>
        <p:spPr bwMode="gray">
          <a:xfrm>
            <a:off x="2967530" y="1407885"/>
            <a:ext cx="2663680" cy="245476"/>
          </a:xfrm>
          <a:prstGeom prst="rect">
            <a:avLst/>
          </a:prstGeom>
          <a:solidFill>
            <a:srgbClr val="002060"/>
          </a:solidFill>
          <a:ln w="9525" cap="flat" cmpd="sng" algn="ctr">
            <a:noFill/>
            <a:prstDash val="solid"/>
            <a:round/>
            <a:headEnd type="none" w="med" len="med"/>
            <a:tailEnd type="none" w="med" len="me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spcBef>
                <a:spcPts val="600"/>
              </a:spcBef>
            </a:pPr>
            <a:r>
              <a:rPr lang="ja-JP" altLang="en-US" dirty="0">
                <a:solidFill>
                  <a:schemeClr val="bg1"/>
                </a:solidFill>
                <a:latin typeface="+mj-ea"/>
                <a:ea typeface="+mj-ea"/>
              </a:rPr>
              <a:t>業界全体のトレンド・課題</a:t>
            </a:r>
          </a:p>
        </p:txBody>
      </p:sp>
      <p:sp>
        <p:nvSpPr>
          <p:cNvPr id="47" name="正方形/長方形 46">
            <a:extLst>
              <a:ext uri="{FF2B5EF4-FFF2-40B4-BE49-F238E27FC236}">
                <a16:creationId xmlns:a16="http://schemas.microsoft.com/office/drawing/2014/main" id="{83C0BA5B-834C-49CD-890F-DCF8FF89D772}"/>
              </a:ext>
            </a:extLst>
          </p:cNvPr>
          <p:cNvSpPr/>
          <p:nvPr/>
        </p:nvSpPr>
        <p:spPr bwMode="gray">
          <a:xfrm>
            <a:off x="2967530" y="3049132"/>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l">
              <a:buClr>
                <a:srgbClr val="000000"/>
              </a:buClr>
            </a:pPr>
            <a:r>
              <a:rPr lang="ja-JP" altLang="en-US" sz="900" dirty="0">
                <a:solidFill>
                  <a:srgbClr val="0070C0"/>
                </a:solidFill>
                <a:latin typeface="Meiryo UI"/>
                <a:ea typeface="Meiryo UI"/>
              </a:rPr>
              <a:t>デジタル活用による業務効率化</a:t>
            </a:r>
            <a:endParaRPr lang="en-US" altLang="ja-JP" sz="900" dirty="0">
              <a:solidFill>
                <a:srgbClr val="FF0000"/>
              </a:solidFill>
              <a:latin typeface="+mj-ea"/>
              <a:ea typeface="+mj-ea"/>
            </a:endParaRPr>
          </a:p>
          <a:p>
            <a:pPr algn="l"/>
            <a:r>
              <a:rPr lang="ja-JP" altLang="en-US" sz="900" dirty="0">
                <a:solidFill>
                  <a:srgbClr val="FF0000"/>
                </a:solidFill>
                <a:latin typeface="+mj-ea"/>
                <a:ea typeface="+mj-ea"/>
              </a:rPr>
              <a:t>金利低下・外貨調達コスト上昇による収益性低下</a:t>
            </a:r>
            <a:endParaRPr lang="en-US" altLang="ja-JP" sz="900" dirty="0">
              <a:solidFill>
                <a:srgbClr val="FF0000"/>
              </a:solidFill>
              <a:latin typeface="+mj-ea"/>
              <a:ea typeface="+mj-ea"/>
            </a:endParaRPr>
          </a:p>
        </p:txBody>
      </p:sp>
      <p:sp>
        <p:nvSpPr>
          <p:cNvPr id="48" name="正方形/長方形 47">
            <a:extLst>
              <a:ext uri="{FF2B5EF4-FFF2-40B4-BE49-F238E27FC236}">
                <a16:creationId xmlns:a16="http://schemas.microsoft.com/office/drawing/2014/main" id="{41ECAD97-A049-41D6-833D-662C5C775A41}"/>
              </a:ext>
            </a:extLst>
          </p:cNvPr>
          <p:cNvSpPr/>
          <p:nvPr/>
        </p:nvSpPr>
        <p:spPr bwMode="gray">
          <a:xfrm>
            <a:off x="2967530" y="3733556"/>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l">
              <a:buClr>
                <a:srgbClr val="000000"/>
              </a:buClr>
            </a:pPr>
            <a:r>
              <a:rPr lang="ja-JP" altLang="en-US" sz="900" dirty="0">
                <a:solidFill>
                  <a:srgbClr val="0070C0"/>
                </a:solidFill>
                <a:latin typeface="Meiryo UI"/>
                <a:ea typeface="Meiryo UI"/>
              </a:rPr>
              <a:t>デジタル活用による付加価値向上</a:t>
            </a:r>
            <a:endParaRPr lang="en-US" altLang="ja-JP" sz="900" dirty="0">
              <a:solidFill>
                <a:srgbClr val="0070C0"/>
              </a:solidFill>
              <a:latin typeface="Meiryo UI"/>
              <a:ea typeface="Meiryo UI"/>
            </a:endParaRPr>
          </a:p>
          <a:p>
            <a:pPr lvl="0" algn="l">
              <a:buClr>
                <a:srgbClr val="000000"/>
              </a:buClr>
            </a:pPr>
            <a:r>
              <a:rPr lang="ja-JP" altLang="en-US" sz="900" dirty="0">
                <a:solidFill>
                  <a:srgbClr val="0070C0"/>
                </a:solidFill>
                <a:latin typeface="Meiryo UI"/>
                <a:ea typeface="Meiryo UI"/>
              </a:rPr>
              <a:t>デジタル活用による業務効率化</a:t>
            </a:r>
            <a:endParaRPr lang="en-US" altLang="ja-JP" sz="900" dirty="0">
              <a:solidFill>
                <a:srgbClr val="FF0000"/>
              </a:solidFill>
              <a:latin typeface="+mj-ea"/>
              <a:ea typeface="+mj-ea"/>
            </a:endParaRPr>
          </a:p>
          <a:p>
            <a:pPr algn="l"/>
            <a:r>
              <a:rPr lang="ja-JP" altLang="en-US" sz="900" dirty="0">
                <a:solidFill>
                  <a:srgbClr val="FF0000"/>
                </a:solidFill>
                <a:latin typeface="+mj-ea"/>
                <a:ea typeface="+mj-ea"/>
              </a:rPr>
              <a:t>東京五輪後の不動産市況懸念</a:t>
            </a:r>
          </a:p>
        </p:txBody>
      </p:sp>
      <p:sp>
        <p:nvSpPr>
          <p:cNvPr id="49" name="正方形/長方形 48">
            <a:extLst>
              <a:ext uri="{FF2B5EF4-FFF2-40B4-BE49-F238E27FC236}">
                <a16:creationId xmlns:a16="http://schemas.microsoft.com/office/drawing/2014/main" id="{B097B517-89B6-4E8D-B4CE-7DF62B1DBE94}"/>
              </a:ext>
            </a:extLst>
          </p:cNvPr>
          <p:cNvSpPr/>
          <p:nvPr/>
        </p:nvSpPr>
        <p:spPr bwMode="gray">
          <a:xfrm>
            <a:off x="2967530" y="4417981"/>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lgn="l">
              <a:buClr>
                <a:srgbClr val="000000"/>
              </a:buClr>
            </a:pPr>
            <a:r>
              <a:rPr lang="ja-JP" altLang="en-US" sz="900" dirty="0">
                <a:solidFill>
                  <a:srgbClr val="0070C0"/>
                </a:solidFill>
                <a:latin typeface="Meiryo UI"/>
                <a:ea typeface="Meiryo UI"/>
              </a:rPr>
              <a:t>デジタル活用による業務効率化</a:t>
            </a:r>
            <a:endParaRPr lang="en-US" altLang="ja-JP" sz="900" dirty="0">
              <a:solidFill>
                <a:srgbClr val="0070C0"/>
              </a:solidFill>
              <a:latin typeface="+mj-ea"/>
              <a:ea typeface="+mj-ea"/>
            </a:endParaRPr>
          </a:p>
          <a:p>
            <a:pPr algn="l"/>
            <a:r>
              <a:rPr lang="ja-JP" altLang="en-US" sz="900" dirty="0">
                <a:solidFill>
                  <a:srgbClr val="0070C0"/>
                </a:solidFill>
                <a:latin typeface="+mj-ea"/>
                <a:ea typeface="+mj-ea"/>
              </a:rPr>
              <a:t>株主対応・投資家対応の必要性向上</a:t>
            </a:r>
            <a:endParaRPr lang="en-US" altLang="ja-JP" sz="900" dirty="0">
              <a:solidFill>
                <a:srgbClr val="0070C0"/>
              </a:solidFill>
              <a:latin typeface="+mj-ea"/>
              <a:ea typeface="+mj-ea"/>
            </a:endParaRPr>
          </a:p>
        </p:txBody>
      </p:sp>
      <p:sp>
        <p:nvSpPr>
          <p:cNvPr id="50" name="正方形/長方形 49">
            <a:extLst>
              <a:ext uri="{FF2B5EF4-FFF2-40B4-BE49-F238E27FC236}">
                <a16:creationId xmlns:a16="http://schemas.microsoft.com/office/drawing/2014/main" id="{3A3DDB04-0D21-46FD-BD2F-C99640A85A50}"/>
              </a:ext>
            </a:extLst>
          </p:cNvPr>
          <p:cNvSpPr/>
          <p:nvPr/>
        </p:nvSpPr>
        <p:spPr bwMode="gray">
          <a:xfrm>
            <a:off x="2967530" y="5102404"/>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solidFill>
                  <a:srgbClr val="0070C0"/>
                </a:solidFill>
                <a:latin typeface="Meiryo UI"/>
                <a:ea typeface="Meiryo UI"/>
              </a:rPr>
              <a:t>デジタル活用による業務効率化</a:t>
            </a:r>
            <a:endParaRPr lang="en-US" altLang="ja-JP" sz="900" dirty="0">
              <a:solidFill>
                <a:srgbClr val="0070C0"/>
              </a:solidFill>
              <a:latin typeface="+mj-ea"/>
              <a:ea typeface="+mj-ea"/>
            </a:endParaRPr>
          </a:p>
          <a:p>
            <a:pPr algn="l"/>
            <a:r>
              <a:rPr lang="ja-JP" altLang="en-US" sz="900" dirty="0">
                <a:solidFill>
                  <a:srgbClr val="0070C0"/>
                </a:solidFill>
                <a:latin typeface="+mj-ea"/>
                <a:ea typeface="+mj-ea"/>
              </a:rPr>
              <a:t>企業年金における</a:t>
            </a:r>
            <a:r>
              <a:rPr lang="en-US" altLang="ja-JP" sz="900" dirty="0">
                <a:solidFill>
                  <a:srgbClr val="0070C0"/>
                </a:solidFill>
                <a:latin typeface="+mj-ea"/>
                <a:ea typeface="+mj-ea"/>
              </a:rPr>
              <a:t>DB</a:t>
            </a:r>
            <a:r>
              <a:rPr lang="en-US" altLang="ja-JP" sz="900" baseline="30000" dirty="0">
                <a:solidFill>
                  <a:srgbClr val="0070C0"/>
                </a:solidFill>
                <a:latin typeface="+mj-ea"/>
                <a:ea typeface="+mj-ea"/>
              </a:rPr>
              <a:t>*1</a:t>
            </a:r>
            <a:r>
              <a:rPr lang="ja-JP" altLang="en-US" sz="900" dirty="0">
                <a:solidFill>
                  <a:srgbClr val="0070C0"/>
                </a:solidFill>
                <a:latin typeface="+mj-ea"/>
                <a:ea typeface="+mj-ea"/>
              </a:rPr>
              <a:t>から</a:t>
            </a:r>
            <a:r>
              <a:rPr lang="en-US" altLang="ja-JP" sz="900" dirty="0">
                <a:solidFill>
                  <a:srgbClr val="0070C0"/>
                </a:solidFill>
                <a:latin typeface="+mj-ea"/>
                <a:ea typeface="+mj-ea"/>
              </a:rPr>
              <a:t>DC</a:t>
            </a:r>
            <a:r>
              <a:rPr lang="en-US" altLang="ja-JP" sz="900" baseline="30000" dirty="0">
                <a:solidFill>
                  <a:srgbClr val="0070C0"/>
                </a:solidFill>
                <a:latin typeface="+mj-ea"/>
                <a:ea typeface="+mj-ea"/>
              </a:rPr>
              <a:t>*2</a:t>
            </a:r>
            <a:r>
              <a:rPr lang="ja-JP" altLang="en-US" sz="900" dirty="0" err="1">
                <a:solidFill>
                  <a:srgbClr val="0070C0"/>
                </a:solidFill>
                <a:latin typeface="+mj-ea"/>
                <a:ea typeface="+mj-ea"/>
              </a:rPr>
              <a:t>への</a:t>
            </a:r>
            <a:r>
              <a:rPr lang="ja-JP" altLang="en-US" sz="900" dirty="0">
                <a:solidFill>
                  <a:srgbClr val="0070C0"/>
                </a:solidFill>
                <a:latin typeface="+mj-ea"/>
                <a:ea typeface="+mj-ea"/>
              </a:rPr>
              <a:t>シフト</a:t>
            </a:r>
            <a:endParaRPr lang="en-US" altLang="ja-JP" sz="900" dirty="0">
              <a:solidFill>
                <a:srgbClr val="0070C0"/>
              </a:solidFill>
              <a:latin typeface="+mj-ea"/>
              <a:ea typeface="+mj-ea"/>
            </a:endParaRPr>
          </a:p>
          <a:p>
            <a:pPr algn="l"/>
            <a:r>
              <a:rPr lang="ja-JP" altLang="en-US" sz="900" dirty="0">
                <a:solidFill>
                  <a:srgbClr val="0070C0"/>
                </a:solidFill>
                <a:latin typeface="+mj-ea"/>
                <a:ea typeface="+mj-ea"/>
              </a:rPr>
              <a:t>新たな切り口での運用商品開発</a:t>
            </a:r>
            <a:endParaRPr lang="en-US" altLang="ja-JP" sz="900" dirty="0">
              <a:solidFill>
                <a:srgbClr val="0070C0"/>
              </a:solidFill>
              <a:latin typeface="+mj-ea"/>
              <a:ea typeface="+mj-ea"/>
            </a:endParaRPr>
          </a:p>
          <a:p>
            <a:pPr algn="l"/>
            <a:r>
              <a:rPr lang="ja-JP" altLang="en-US" sz="900" dirty="0">
                <a:solidFill>
                  <a:srgbClr val="0070C0"/>
                </a:solidFill>
                <a:latin typeface="+mj-ea"/>
                <a:ea typeface="+mj-ea"/>
              </a:rPr>
              <a:t>新規顧客の開拓</a:t>
            </a:r>
            <a:endParaRPr lang="en-US" altLang="ja-JP" sz="900" dirty="0">
              <a:solidFill>
                <a:srgbClr val="0070C0"/>
              </a:solidFill>
              <a:latin typeface="+mj-ea"/>
              <a:ea typeface="+mj-ea"/>
            </a:endParaRPr>
          </a:p>
        </p:txBody>
      </p:sp>
      <p:sp>
        <p:nvSpPr>
          <p:cNvPr id="51" name="正方形/長方形 50">
            <a:extLst>
              <a:ext uri="{FF2B5EF4-FFF2-40B4-BE49-F238E27FC236}">
                <a16:creationId xmlns:a16="http://schemas.microsoft.com/office/drawing/2014/main" id="{ABBAF345-FC4B-4F4D-ADC1-92FE0F44D37D}"/>
              </a:ext>
            </a:extLst>
          </p:cNvPr>
          <p:cNvSpPr/>
          <p:nvPr/>
        </p:nvSpPr>
        <p:spPr bwMode="gray">
          <a:xfrm>
            <a:off x="2967530" y="5786828"/>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solidFill>
                  <a:srgbClr val="FF0000"/>
                </a:solidFill>
                <a:latin typeface="+mj-ea"/>
                <a:ea typeface="+mj-ea"/>
              </a:rPr>
              <a:t>国債の利回り低下による代替商品の発掘</a:t>
            </a:r>
          </a:p>
        </p:txBody>
      </p:sp>
      <p:sp>
        <p:nvSpPr>
          <p:cNvPr id="46" name="正方形/長方形 45">
            <a:extLst>
              <a:ext uri="{FF2B5EF4-FFF2-40B4-BE49-F238E27FC236}">
                <a16:creationId xmlns:a16="http://schemas.microsoft.com/office/drawing/2014/main" id="{D826F1EE-C3F7-40ED-B213-C37FAC1AC805}"/>
              </a:ext>
            </a:extLst>
          </p:cNvPr>
          <p:cNvSpPr/>
          <p:nvPr/>
        </p:nvSpPr>
        <p:spPr bwMode="gray">
          <a:xfrm>
            <a:off x="2967530" y="2364707"/>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solidFill>
                  <a:srgbClr val="0070C0"/>
                </a:solidFill>
                <a:latin typeface="+mj-ea"/>
                <a:ea typeface="+mj-ea"/>
              </a:rPr>
              <a:t>デジタル活用による付加価値向上</a:t>
            </a:r>
          </a:p>
          <a:p>
            <a:pPr algn="l"/>
            <a:r>
              <a:rPr lang="ja-JP" altLang="en-US" sz="900" dirty="0">
                <a:solidFill>
                  <a:srgbClr val="0070C0"/>
                </a:solidFill>
                <a:latin typeface="+mj-ea"/>
                <a:ea typeface="+mj-ea"/>
              </a:rPr>
              <a:t>高齢化</a:t>
            </a:r>
            <a:endParaRPr lang="en-US" altLang="ja-JP" sz="900" dirty="0">
              <a:solidFill>
                <a:srgbClr val="0070C0"/>
              </a:solidFill>
              <a:latin typeface="+mj-ea"/>
              <a:ea typeface="+mj-ea"/>
            </a:endParaRPr>
          </a:p>
          <a:p>
            <a:pPr algn="l"/>
            <a:r>
              <a:rPr lang="ja-JP" altLang="en-US" sz="900" dirty="0">
                <a:solidFill>
                  <a:srgbClr val="0070C0"/>
                </a:solidFill>
                <a:latin typeface="+mj-ea"/>
                <a:ea typeface="+mj-ea"/>
              </a:rPr>
              <a:t>税制改正</a:t>
            </a:r>
          </a:p>
          <a:p>
            <a:pPr algn="l"/>
            <a:r>
              <a:rPr lang="ja-JP" altLang="en-US" sz="900" dirty="0">
                <a:solidFill>
                  <a:srgbClr val="0070C0"/>
                </a:solidFill>
                <a:latin typeface="+mj-ea"/>
                <a:ea typeface="+mj-ea"/>
              </a:rPr>
              <a:t>新商品・新マーケット開拓</a:t>
            </a:r>
            <a:endParaRPr lang="en-US" altLang="ja-JP" sz="900" dirty="0">
              <a:solidFill>
                <a:srgbClr val="0070C0"/>
              </a:solidFill>
              <a:latin typeface="+mj-ea"/>
              <a:ea typeface="+mj-ea"/>
            </a:endParaRPr>
          </a:p>
        </p:txBody>
      </p:sp>
      <p:cxnSp>
        <p:nvCxnSpPr>
          <p:cNvPr id="15" name="直線コネクタ 14">
            <a:extLst>
              <a:ext uri="{FF2B5EF4-FFF2-40B4-BE49-F238E27FC236}">
                <a16:creationId xmlns:a16="http://schemas.microsoft.com/office/drawing/2014/main" id="{3B6EEF42-F5A5-4475-942A-225E36D3B01B}"/>
              </a:ext>
            </a:extLst>
          </p:cNvPr>
          <p:cNvCxnSpPr>
            <a:cxnSpLocks/>
          </p:cNvCxnSpPr>
          <p:nvPr/>
        </p:nvCxnSpPr>
        <p:spPr bwMode="gray">
          <a:xfrm>
            <a:off x="2967529" y="3031242"/>
            <a:ext cx="266368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2" name="直線コネクタ 61">
            <a:extLst>
              <a:ext uri="{FF2B5EF4-FFF2-40B4-BE49-F238E27FC236}">
                <a16:creationId xmlns:a16="http://schemas.microsoft.com/office/drawing/2014/main" id="{7C0E8396-ED84-4CEE-8301-AAEE809CF15F}"/>
              </a:ext>
            </a:extLst>
          </p:cNvPr>
          <p:cNvCxnSpPr>
            <a:cxnSpLocks/>
          </p:cNvCxnSpPr>
          <p:nvPr/>
        </p:nvCxnSpPr>
        <p:spPr bwMode="gray">
          <a:xfrm>
            <a:off x="2967529" y="3715666"/>
            <a:ext cx="2663680" cy="0"/>
          </a:xfrm>
          <a:prstGeom prst="line">
            <a:avLst/>
          </a:prstGeom>
          <a:noFill/>
          <a:ln w="9525" algn="ctr">
            <a:solidFill>
              <a:schemeClr val="tx1"/>
            </a:solidFill>
            <a:prstDash val="solid"/>
            <a:round/>
            <a:headEnd/>
            <a:tailEnd/>
          </a:ln>
          <a:extLst>
            <a:ext uri="{909E8E84-426E-40DD-AFC4-6F175D3DCCD1}">
              <a14:hiddenFill xmlns:a14="http://schemas.microsoft.com/office/drawing/2010/main">
                <a:noFill/>
              </a14:hiddenFill>
            </a:ext>
          </a:extLst>
        </p:spPr>
      </p:cxnSp>
      <p:cxnSp>
        <p:nvCxnSpPr>
          <p:cNvPr id="63" name="直線コネクタ 62">
            <a:extLst>
              <a:ext uri="{FF2B5EF4-FFF2-40B4-BE49-F238E27FC236}">
                <a16:creationId xmlns:a16="http://schemas.microsoft.com/office/drawing/2014/main" id="{C8114F9A-9162-4E5C-A1E4-8C6BC03861BB}"/>
              </a:ext>
            </a:extLst>
          </p:cNvPr>
          <p:cNvCxnSpPr>
            <a:cxnSpLocks/>
          </p:cNvCxnSpPr>
          <p:nvPr/>
        </p:nvCxnSpPr>
        <p:spPr bwMode="gray">
          <a:xfrm>
            <a:off x="2967529" y="4400090"/>
            <a:ext cx="2663680" cy="0"/>
          </a:xfrm>
          <a:prstGeom prst="line">
            <a:avLst/>
          </a:prstGeom>
          <a:noFill/>
          <a:ln w="9525" algn="ctr">
            <a:solidFill>
              <a:schemeClr val="tx1"/>
            </a:solidFill>
            <a:prstDash val="solid"/>
            <a:round/>
            <a:headEnd/>
            <a:tailEnd/>
          </a:ln>
          <a:extLst>
            <a:ext uri="{909E8E84-426E-40DD-AFC4-6F175D3DCCD1}">
              <a14:hiddenFill xmlns:a14="http://schemas.microsoft.com/office/drawing/2010/main">
                <a:noFill/>
              </a14:hiddenFill>
            </a:ext>
          </a:extLst>
        </p:spPr>
      </p:cxnSp>
      <p:cxnSp>
        <p:nvCxnSpPr>
          <p:cNvPr id="64" name="直線コネクタ 63">
            <a:extLst>
              <a:ext uri="{FF2B5EF4-FFF2-40B4-BE49-F238E27FC236}">
                <a16:creationId xmlns:a16="http://schemas.microsoft.com/office/drawing/2014/main" id="{AFDCF759-E05F-4CB4-B10A-E57082136D30}"/>
              </a:ext>
            </a:extLst>
          </p:cNvPr>
          <p:cNvCxnSpPr>
            <a:cxnSpLocks/>
          </p:cNvCxnSpPr>
          <p:nvPr/>
        </p:nvCxnSpPr>
        <p:spPr bwMode="gray">
          <a:xfrm>
            <a:off x="2967529" y="5084516"/>
            <a:ext cx="2663680" cy="0"/>
          </a:xfrm>
          <a:prstGeom prst="line">
            <a:avLst/>
          </a:prstGeom>
          <a:noFill/>
          <a:ln w="9525" algn="ctr">
            <a:solidFill>
              <a:schemeClr val="tx1"/>
            </a:solidFill>
            <a:prstDash val="solid"/>
            <a:round/>
            <a:headEnd/>
            <a:tailEnd/>
          </a:ln>
          <a:extLst>
            <a:ext uri="{909E8E84-426E-40DD-AFC4-6F175D3DCCD1}">
              <a14:hiddenFill xmlns:a14="http://schemas.microsoft.com/office/drawing/2010/main">
                <a:noFill/>
              </a14:hiddenFill>
            </a:ext>
          </a:extLst>
        </p:spPr>
      </p:cxnSp>
      <p:cxnSp>
        <p:nvCxnSpPr>
          <p:cNvPr id="65" name="直線コネクタ 64">
            <a:extLst>
              <a:ext uri="{FF2B5EF4-FFF2-40B4-BE49-F238E27FC236}">
                <a16:creationId xmlns:a16="http://schemas.microsoft.com/office/drawing/2014/main" id="{8CBDE60F-DDF7-43BE-A1C7-93612AA7F3D1}"/>
              </a:ext>
            </a:extLst>
          </p:cNvPr>
          <p:cNvCxnSpPr>
            <a:cxnSpLocks/>
          </p:cNvCxnSpPr>
          <p:nvPr/>
        </p:nvCxnSpPr>
        <p:spPr bwMode="gray">
          <a:xfrm>
            <a:off x="2967529" y="5768939"/>
            <a:ext cx="266368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7" name="正方形/長方形 66">
            <a:extLst>
              <a:ext uri="{FF2B5EF4-FFF2-40B4-BE49-F238E27FC236}">
                <a16:creationId xmlns:a16="http://schemas.microsoft.com/office/drawing/2014/main" id="{150E7F5F-76BA-48B3-AC47-F8FA2931DA02}"/>
              </a:ext>
            </a:extLst>
          </p:cNvPr>
          <p:cNvSpPr/>
          <p:nvPr/>
        </p:nvSpPr>
        <p:spPr bwMode="gray">
          <a:xfrm>
            <a:off x="2967530" y="1683754"/>
            <a:ext cx="2663680"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ja-JP" altLang="en-US" sz="900" dirty="0">
                <a:solidFill>
                  <a:srgbClr val="0070C0"/>
                </a:solidFill>
                <a:latin typeface="+mj-ea"/>
                <a:ea typeface="+mj-ea"/>
              </a:rPr>
              <a:t>デジタル活用による業務効率化</a:t>
            </a:r>
          </a:p>
          <a:p>
            <a:pPr algn="l"/>
            <a:r>
              <a:rPr lang="ja-JP" altLang="en-US" sz="900" dirty="0">
                <a:solidFill>
                  <a:srgbClr val="0070C0"/>
                </a:solidFill>
                <a:latin typeface="+mj-ea"/>
                <a:ea typeface="+mj-ea"/>
              </a:rPr>
              <a:t>新たな収益機会の創出</a:t>
            </a:r>
            <a:endParaRPr lang="en-US" altLang="ja-JP" sz="900" dirty="0">
              <a:solidFill>
                <a:srgbClr val="0070C0"/>
              </a:solidFill>
              <a:latin typeface="+mj-ea"/>
              <a:ea typeface="+mj-ea"/>
            </a:endParaRPr>
          </a:p>
          <a:p>
            <a:pPr algn="l"/>
            <a:r>
              <a:rPr lang="ja-JP" altLang="en-US" sz="900" dirty="0">
                <a:solidFill>
                  <a:srgbClr val="0070C0"/>
                </a:solidFill>
                <a:latin typeface="+mj-ea"/>
                <a:ea typeface="+mj-ea"/>
              </a:rPr>
              <a:t>部門間協働・シナジー効果創出</a:t>
            </a:r>
          </a:p>
        </p:txBody>
      </p:sp>
      <p:cxnSp>
        <p:nvCxnSpPr>
          <p:cNvPr id="68" name="直線コネクタ 67">
            <a:extLst>
              <a:ext uri="{FF2B5EF4-FFF2-40B4-BE49-F238E27FC236}">
                <a16:creationId xmlns:a16="http://schemas.microsoft.com/office/drawing/2014/main" id="{688D0509-127B-476B-84D3-4B3D64E6B528}"/>
              </a:ext>
            </a:extLst>
          </p:cNvPr>
          <p:cNvCxnSpPr>
            <a:cxnSpLocks/>
          </p:cNvCxnSpPr>
          <p:nvPr/>
        </p:nvCxnSpPr>
        <p:spPr bwMode="gray">
          <a:xfrm>
            <a:off x="2967529" y="2348552"/>
            <a:ext cx="266368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9" name="正方形/長方形 58">
            <a:extLst>
              <a:ext uri="{FF2B5EF4-FFF2-40B4-BE49-F238E27FC236}">
                <a16:creationId xmlns:a16="http://schemas.microsoft.com/office/drawing/2014/main" id="{0AEBE1D8-ADC5-40FC-9C2D-3B36DC720DFD}"/>
              </a:ext>
            </a:extLst>
          </p:cNvPr>
          <p:cNvSpPr/>
          <p:nvPr/>
        </p:nvSpPr>
        <p:spPr bwMode="gray">
          <a:xfrm>
            <a:off x="5824208" y="1407885"/>
            <a:ext cx="3740704" cy="245476"/>
          </a:xfrm>
          <a:prstGeom prst="rect">
            <a:avLst/>
          </a:prstGeom>
          <a:solidFill>
            <a:srgbClr val="002060"/>
          </a:solidFill>
          <a:ln w="9525" cap="flat" cmpd="sng" algn="ctr">
            <a:noFill/>
            <a:prstDash val="solid"/>
            <a:round/>
            <a:headEnd type="none" w="med" len="med"/>
            <a:tailEnd type="none" w="med" len="me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spcBef>
                <a:spcPts val="600"/>
              </a:spcBef>
            </a:pPr>
            <a:r>
              <a:rPr lang="ja-JP" altLang="en-US" dirty="0">
                <a:solidFill>
                  <a:schemeClr val="bg1"/>
                </a:solidFill>
                <a:latin typeface="+mj-ea"/>
                <a:ea typeface="+mj-ea"/>
              </a:rPr>
              <a:t>各社の取組</a:t>
            </a:r>
          </a:p>
        </p:txBody>
      </p:sp>
      <p:sp>
        <p:nvSpPr>
          <p:cNvPr id="52" name="正方形/長方形 51">
            <a:extLst>
              <a:ext uri="{FF2B5EF4-FFF2-40B4-BE49-F238E27FC236}">
                <a16:creationId xmlns:a16="http://schemas.microsoft.com/office/drawing/2014/main" id="{DEEFCBB3-1041-42C1-ADCA-2E2079AF5A75}"/>
              </a:ext>
            </a:extLst>
          </p:cNvPr>
          <p:cNvSpPr/>
          <p:nvPr/>
        </p:nvSpPr>
        <p:spPr bwMode="gray">
          <a:xfrm>
            <a:off x="5824208" y="2364707"/>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indent="-228600" algn="l">
              <a:buFont typeface="Wingdings" panose="05000000000000000000" pitchFamily="2" charset="2"/>
              <a:buChar char="u"/>
            </a:pPr>
            <a:r>
              <a:rPr lang="ja-JP" altLang="en-US" sz="900" dirty="0">
                <a:solidFill>
                  <a:srgbClr val="000000"/>
                </a:solidFill>
                <a:latin typeface="Meiryo UI"/>
                <a:ea typeface="Meiryo UI"/>
              </a:rPr>
              <a:t>適正ポートフォリオ提案のため</a:t>
            </a:r>
            <a:r>
              <a:rPr lang="ja-JP" altLang="en-US" sz="900" b="1" u="sng" dirty="0">
                <a:solidFill>
                  <a:srgbClr val="000000"/>
                </a:solidFill>
                <a:latin typeface="Meiryo UI"/>
                <a:ea typeface="Meiryo UI"/>
              </a:rPr>
              <a:t>ロボアドバイザー</a:t>
            </a:r>
            <a:r>
              <a:rPr lang="ja-JP" altLang="en-US" sz="900" dirty="0">
                <a:solidFill>
                  <a:srgbClr val="000000"/>
                </a:solidFill>
                <a:latin typeface="Meiryo UI"/>
                <a:ea typeface="Meiryo UI"/>
              </a:rPr>
              <a:t>導入</a:t>
            </a:r>
            <a:r>
              <a:rPr lang="en-US" altLang="ja-JP" sz="900" dirty="0">
                <a:solidFill>
                  <a:srgbClr val="000000"/>
                </a:solidFill>
                <a:latin typeface="Meiryo UI"/>
                <a:ea typeface="Meiryo UI"/>
              </a:rPr>
              <a:t>(SMTB</a:t>
            </a:r>
            <a:r>
              <a:rPr lang="ja-JP" altLang="en-US" sz="900" dirty="0" err="1">
                <a:solidFill>
                  <a:srgbClr val="000000"/>
                </a:solidFill>
                <a:latin typeface="Meiryo UI"/>
                <a:ea typeface="Meiryo UI"/>
              </a:rPr>
              <a:t>、</a:t>
            </a:r>
            <a:r>
              <a:rPr lang="ja-JP" altLang="en-US" sz="900" dirty="0">
                <a:solidFill>
                  <a:srgbClr val="000000"/>
                </a:solidFill>
                <a:latin typeface="Meiryo UI"/>
                <a:ea typeface="Meiryo UI"/>
              </a:rPr>
              <a:t>りそな</a:t>
            </a:r>
            <a:r>
              <a:rPr lang="en-US" altLang="ja-JP" sz="900" dirty="0">
                <a:solidFill>
                  <a:srgbClr val="000000"/>
                </a:solidFill>
                <a:latin typeface="Meiryo UI"/>
                <a:ea typeface="Meiryo UI"/>
              </a:rPr>
              <a:t>)</a:t>
            </a:r>
            <a:endParaRPr lang="en-US" altLang="ja-JP" sz="900" b="1" u="sng" dirty="0">
              <a:latin typeface="+mj-ea"/>
              <a:ea typeface="+mj-ea"/>
            </a:endParaRPr>
          </a:p>
          <a:p>
            <a:pPr marL="228600" indent="-228600" algn="l">
              <a:buFont typeface="Wingdings" panose="05000000000000000000" pitchFamily="2" charset="2"/>
              <a:buChar char="p"/>
            </a:pPr>
            <a:r>
              <a:rPr lang="ja-JP" altLang="en-US" sz="900" b="1" u="sng" dirty="0">
                <a:latin typeface="+mj-ea"/>
                <a:ea typeface="+mj-ea"/>
              </a:rPr>
              <a:t>高齢者保護</a:t>
            </a:r>
            <a:r>
              <a:rPr lang="ja-JP" altLang="en-US" sz="900" dirty="0">
                <a:latin typeface="+mj-ea"/>
                <a:ea typeface="+mj-ea"/>
              </a:rPr>
              <a:t>が可能な信託商品開発</a:t>
            </a:r>
            <a:r>
              <a:rPr lang="en-US" altLang="ja-JP" sz="900" dirty="0">
                <a:latin typeface="+mj-ea"/>
                <a:ea typeface="+mj-ea"/>
              </a:rPr>
              <a:t>(SMTB,MUTB)</a:t>
            </a:r>
          </a:p>
          <a:p>
            <a:pPr marL="228600" indent="-228600" algn="l">
              <a:buFont typeface="Wingdings" panose="05000000000000000000" pitchFamily="2" charset="2"/>
              <a:buChar char="p"/>
            </a:pPr>
            <a:r>
              <a:rPr lang="ja-JP" altLang="en-US" sz="900" b="1" u="sng" dirty="0">
                <a:latin typeface="+mj-ea"/>
                <a:ea typeface="+mj-ea"/>
              </a:rPr>
              <a:t>新税制</a:t>
            </a:r>
            <a:r>
              <a:rPr lang="ja-JP" altLang="en-US" sz="900" dirty="0">
                <a:latin typeface="+mj-ea"/>
                <a:ea typeface="+mj-ea"/>
              </a:rPr>
              <a:t>に応じた信託商品開発</a:t>
            </a:r>
            <a:r>
              <a:rPr lang="en-US" altLang="ja-JP" sz="900" dirty="0">
                <a:latin typeface="+mj-ea"/>
                <a:ea typeface="+mj-ea"/>
              </a:rPr>
              <a:t>(</a:t>
            </a:r>
            <a:r>
              <a:rPr lang="ja-JP" altLang="en-US" sz="900" dirty="0">
                <a:latin typeface="+mj-ea"/>
                <a:ea typeface="+mj-ea"/>
              </a:rPr>
              <a:t>各社</a:t>
            </a:r>
            <a:r>
              <a:rPr lang="en-US" altLang="ja-JP" sz="900" dirty="0">
                <a:latin typeface="+mj-ea"/>
                <a:ea typeface="+mj-ea"/>
              </a:rPr>
              <a:t>)</a:t>
            </a:r>
          </a:p>
          <a:p>
            <a:pPr marL="228600" indent="-228600" algn="l">
              <a:buFont typeface="Wingdings" panose="05000000000000000000" pitchFamily="2" charset="2"/>
              <a:buChar char="p"/>
            </a:pPr>
            <a:r>
              <a:rPr lang="ja-JP" altLang="en-US" sz="900" b="1" u="sng" dirty="0">
                <a:latin typeface="+mj-ea"/>
                <a:ea typeface="+mj-ea"/>
              </a:rPr>
              <a:t>地銀による</a:t>
            </a:r>
            <a:r>
              <a:rPr lang="ja-JP" altLang="en-US" sz="900" dirty="0">
                <a:latin typeface="+mj-ea"/>
                <a:ea typeface="+mj-ea"/>
              </a:rPr>
              <a:t>信託商品販売代理</a:t>
            </a:r>
            <a:r>
              <a:rPr lang="en-US" altLang="ja-JP" sz="900" dirty="0">
                <a:latin typeface="+mj-ea"/>
                <a:ea typeface="+mj-ea"/>
              </a:rPr>
              <a:t>(</a:t>
            </a:r>
            <a:r>
              <a:rPr lang="ja-JP" altLang="en-US" sz="900">
                <a:latin typeface="+mj-ea"/>
                <a:ea typeface="+mj-ea"/>
              </a:rPr>
              <a:t>みず</a:t>
            </a:r>
            <a:r>
              <a:rPr lang="ja-JP" altLang="en-US" sz="900" dirty="0">
                <a:latin typeface="+mj-ea"/>
                <a:ea typeface="+mj-ea"/>
              </a:rPr>
              <a:t>ほ</a:t>
            </a:r>
            <a:r>
              <a:rPr lang="en-US" altLang="ja-JP" sz="900">
                <a:latin typeface="+mj-ea"/>
                <a:ea typeface="+mj-ea"/>
              </a:rPr>
              <a:t>)</a:t>
            </a:r>
            <a:r>
              <a:rPr lang="ja-JP" altLang="en-US" sz="900" dirty="0" err="1">
                <a:latin typeface="+mj-ea"/>
                <a:ea typeface="+mj-ea"/>
              </a:rPr>
              <a:t>、</a:t>
            </a:r>
            <a:r>
              <a:rPr lang="ja-JP" altLang="en-US" sz="900" b="1" u="sng" dirty="0">
                <a:latin typeface="+mj-ea"/>
                <a:ea typeface="+mj-ea"/>
              </a:rPr>
              <a:t>外銀との商品共同開発</a:t>
            </a:r>
            <a:r>
              <a:rPr lang="en-US" altLang="ja-JP" sz="900" dirty="0">
                <a:latin typeface="+mj-ea"/>
                <a:ea typeface="+mj-ea"/>
              </a:rPr>
              <a:t>(SMBC)</a:t>
            </a:r>
          </a:p>
        </p:txBody>
      </p:sp>
      <p:sp>
        <p:nvSpPr>
          <p:cNvPr id="53" name="正方形/長方形 52">
            <a:extLst>
              <a:ext uri="{FF2B5EF4-FFF2-40B4-BE49-F238E27FC236}">
                <a16:creationId xmlns:a16="http://schemas.microsoft.com/office/drawing/2014/main" id="{1E2D2B0F-074E-4473-BDE2-5BDD484DB6B7}"/>
              </a:ext>
            </a:extLst>
          </p:cNvPr>
          <p:cNvSpPr/>
          <p:nvPr/>
        </p:nvSpPr>
        <p:spPr bwMode="gray">
          <a:xfrm>
            <a:off x="5824208" y="3049132"/>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lvl="0" indent="-228600" algn="l">
              <a:buClr>
                <a:srgbClr val="000000"/>
              </a:buClr>
              <a:buFont typeface="Wingdings" panose="05000000000000000000" pitchFamily="2" charset="2"/>
              <a:buChar char="u"/>
            </a:pPr>
            <a:r>
              <a:rPr lang="ja-JP" altLang="en-US" sz="900" dirty="0">
                <a:solidFill>
                  <a:srgbClr val="000000"/>
                </a:solidFill>
                <a:latin typeface="Meiryo UI"/>
                <a:ea typeface="Meiryo UI"/>
              </a:rPr>
              <a:t>債権流動化業務で</a:t>
            </a:r>
            <a:r>
              <a:rPr lang="ja-JP" altLang="en-US" sz="900" b="1" u="sng" dirty="0">
                <a:solidFill>
                  <a:srgbClr val="000000"/>
                </a:solidFill>
                <a:latin typeface="Meiryo UI"/>
                <a:ea typeface="Meiryo UI"/>
              </a:rPr>
              <a:t>ブロックチェーン</a:t>
            </a:r>
            <a:r>
              <a:rPr lang="ja-JP" altLang="en-US" sz="900" dirty="0">
                <a:solidFill>
                  <a:srgbClr val="000000"/>
                </a:solidFill>
                <a:latin typeface="Meiryo UI"/>
                <a:ea typeface="Meiryo UI"/>
              </a:rPr>
              <a:t>を活用</a:t>
            </a:r>
            <a:r>
              <a:rPr lang="en-US" altLang="ja-JP" sz="900" dirty="0">
                <a:solidFill>
                  <a:srgbClr val="000000"/>
                </a:solidFill>
                <a:latin typeface="Meiryo UI"/>
                <a:ea typeface="Meiryo UI"/>
              </a:rPr>
              <a:t>(SMTB)</a:t>
            </a:r>
            <a:endParaRPr lang="en-US" altLang="ja-JP" sz="900" dirty="0">
              <a:latin typeface="+mj-ea"/>
              <a:ea typeface="+mj-ea"/>
            </a:endParaRPr>
          </a:p>
          <a:p>
            <a:pPr marL="228600" indent="-228600" algn="l">
              <a:buFont typeface="Wingdings" panose="05000000000000000000" pitchFamily="2" charset="2"/>
              <a:buChar char="p"/>
            </a:pPr>
            <a:r>
              <a:rPr lang="ja-JP" altLang="en-US" sz="900" dirty="0">
                <a:latin typeface="+mj-ea"/>
                <a:ea typeface="+mj-ea"/>
              </a:rPr>
              <a:t>創業直後や一時的に業績が悪化した企業等、</a:t>
            </a:r>
            <a:r>
              <a:rPr lang="ja-JP" altLang="en-US" sz="900" b="1" u="sng" dirty="0">
                <a:latin typeface="+mj-ea"/>
                <a:ea typeface="+mj-ea"/>
              </a:rPr>
              <a:t>融資対象の拡大</a:t>
            </a:r>
            <a:r>
              <a:rPr lang="en-US" altLang="ja-JP" sz="900" dirty="0">
                <a:latin typeface="+mj-ea"/>
                <a:ea typeface="+mj-ea"/>
              </a:rPr>
              <a:t>(</a:t>
            </a:r>
            <a:r>
              <a:rPr lang="ja-JP" altLang="en-US" sz="900" dirty="0">
                <a:latin typeface="+mj-ea"/>
                <a:ea typeface="+mj-ea"/>
              </a:rPr>
              <a:t>りそな</a:t>
            </a:r>
            <a:r>
              <a:rPr lang="en-US" altLang="ja-JP" sz="900" dirty="0">
                <a:latin typeface="+mj-ea"/>
                <a:ea typeface="+mj-ea"/>
              </a:rPr>
              <a:t>)</a:t>
            </a:r>
          </a:p>
        </p:txBody>
      </p:sp>
      <p:sp>
        <p:nvSpPr>
          <p:cNvPr id="54" name="正方形/長方形 53">
            <a:extLst>
              <a:ext uri="{FF2B5EF4-FFF2-40B4-BE49-F238E27FC236}">
                <a16:creationId xmlns:a16="http://schemas.microsoft.com/office/drawing/2014/main" id="{708D8E87-C2F0-4E20-9EAE-C3EA27817CB8}"/>
              </a:ext>
            </a:extLst>
          </p:cNvPr>
          <p:cNvSpPr/>
          <p:nvPr/>
        </p:nvSpPr>
        <p:spPr bwMode="gray">
          <a:xfrm>
            <a:off x="5824208" y="3733556"/>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lvl="0" indent="-228600" algn="l">
              <a:buClr>
                <a:srgbClr val="000000"/>
              </a:buClr>
              <a:buFont typeface="Wingdings" panose="05000000000000000000" pitchFamily="2" charset="2"/>
              <a:buChar char="u"/>
            </a:pPr>
            <a:r>
              <a:rPr lang="en-US" altLang="ja-JP" sz="900" b="1" u="sng" dirty="0">
                <a:solidFill>
                  <a:srgbClr val="000000"/>
                </a:solidFill>
                <a:latin typeface="Meiryo UI"/>
                <a:ea typeface="Meiryo UI"/>
              </a:rPr>
              <a:t>AI</a:t>
            </a:r>
            <a:r>
              <a:rPr lang="ja-JP" altLang="en-US" sz="900" dirty="0">
                <a:solidFill>
                  <a:srgbClr val="000000"/>
                </a:solidFill>
                <a:latin typeface="Meiryo UI"/>
                <a:ea typeface="Meiryo UI"/>
              </a:rPr>
              <a:t>を用いた不動産関連情報分析</a:t>
            </a:r>
            <a:r>
              <a:rPr lang="en-US" altLang="ja-JP" sz="900" dirty="0">
                <a:solidFill>
                  <a:srgbClr val="000000"/>
                </a:solidFill>
                <a:latin typeface="Meiryo UI"/>
                <a:ea typeface="Meiryo UI"/>
              </a:rPr>
              <a:t>(SMTB)</a:t>
            </a:r>
            <a:endParaRPr lang="ja-JP" altLang="en-US" sz="900" dirty="0">
              <a:solidFill>
                <a:srgbClr val="000000"/>
              </a:solidFill>
              <a:latin typeface="Meiryo UI"/>
              <a:ea typeface="Meiryo UI"/>
            </a:endParaRPr>
          </a:p>
          <a:p>
            <a:pPr marL="228600" lvl="0" indent="-228600" algn="l">
              <a:buClr>
                <a:srgbClr val="000000"/>
              </a:buClr>
              <a:buFont typeface="Wingdings" panose="05000000000000000000" pitchFamily="2" charset="2"/>
              <a:buChar char="u"/>
            </a:pPr>
            <a:r>
              <a:rPr lang="ja-JP" altLang="en-US" sz="900" dirty="0">
                <a:solidFill>
                  <a:srgbClr val="000000"/>
                </a:solidFill>
                <a:latin typeface="Meiryo UI"/>
                <a:ea typeface="Meiryo UI"/>
              </a:rPr>
              <a:t>不動産の取引記録を</a:t>
            </a:r>
            <a:r>
              <a:rPr lang="ja-JP" altLang="en-US" sz="900" b="1" u="sng" dirty="0">
                <a:solidFill>
                  <a:srgbClr val="000000"/>
                </a:solidFill>
                <a:latin typeface="Meiryo UI"/>
                <a:ea typeface="Meiryo UI"/>
              </a:rPr>
              <a:t>ブロックチェーン</a:t>
            </a:r>
            <a:r>
              <a:rPr lang="ja-JP" altLang="en-US" sz="900" dirty="0">
                <a:solidFill>
                  <a:srgbClr val="000000"/>
                </a:solidFill>
                <a:latin typeface="Meiryo UI"/>
                <a:ea typeface="Meiryo UI"/>
              </a:rPr>
              <a:t>で管理</a:t>
            </a:r>
            <a:r>
              <a:rPr lang="en-US" altLang="ja-JP" sz="900" dirty="0">
                <a:solidFill>
                  <a:srgbClr val="000000"/>
                </a:solidFill>
                <a:latin typeface="Meiryo UI"/>
                <a:ea typeface="Meiryo UI"/>
              </a:rPr>
              <a:t>(SMTB)</a:t>
            </a:r>
            <a:endParaRPr lang="en-US" altLang="ja-JP" sz="900" dirty="0">
              <a:latin typeface="+mj-ea"/>
              <a:ea typeface="+mj-ea"/>
            </a:endParaRPr>
          </a:p>
          <a:p>
            <a:pPr marL="228600" indent="-228600" algn="l">
              <a:buFont typeface="Wingdings" panose="05000000000000000000" pitchFamily="2" charset="2"/>
              <a:buChar char="p"/>
            </a:pPr>
            <a:r>
              <a:rPr lang="ja-JP" altLang="en-US" sz="900" dirty="0">
                <a:latin typeface="+mj-ea"/>
                <a:ea typeface="+mj-ea"/>
              </a:rPr>
              <a:t>三菱地所と新会社を設立し、</a:t>
            </a:r>
            <a:r>
              <a:rPr lang="ja-JP" altLang="en-US" sz="900" b="1" u="sng" dirty="0">
                <a:latin typeface="+mj-ea"/>
                <a:ea typeface="+mj-ea"/>
              </a:rPr>
              <a:t>支店跡地の再開発推進</a:t>
            </a:r>
            <a:r>
              <a:rPr lang="en-US" altLang="ja-JP" sz="900" dirty="0">
                <a:latin typeface="+mj-ea"/>
                <a:ea typeface="+mj-ea"/>
              </a:rPr>
              <a:t>(MUTB)</a:t>
            </a:r>
          </a:p>
        </p:txBody>
      </p:sp>
      <p:sp>
        <p:nvSpPr>
          <p:cNvPr id="55" name="正方形/長方形 54">
            <a:extLst>
              <a:ext uri="{FF2B5EF4-FFF2-40B4-BE49-F238E27FC236}">
                <a16:creationId xmlns:a16="http://schemas.microsoft.com/office/drawing/2014/main" id="{1329FC01-55CB-4750-BB28-E3D6AA740235}"/>
              </a:ext>
            </a:extLst>
          </p:cNvPr>
          <p:cNvSpPr/>
          <p:nvPr/>
        </p:nvSpPr>
        <p:spPr bwMode="gray">
          <a:xfrm>
            <a:off x="5824208" y="4417981"/>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lvl="0" indent="-228600" algn="l">
              <a:buClr>
                <a:srgbClr val="000000"/>
              </a:buClr>
              <a:buFont typeface="Wingdings" panose="05000000000000000000" pitchFamily="2" charset="2"/>
              <a:buChar char="u"/>
            </a:pPr>
            <a:r>
              <a:rPr lang="ja-JP" altLang="en-US" sz="900" dirty="0">
                <a:solidFill>
                  <a:srgbClr val="000000"/>
                </a:solidFill>
                <a:latin typeface="Meiryo UI"/>
                <a:ea typeface="Meiryo UI"/>
              </a:rPr>
              <a:t>コールセンターの業務に</a:t>
            </a:r>
            <a:r>
              <a:rPr lang="en-US" altLang="ja-JP" sz="900" b="1" u="sng" dirty="0">
                <a:solidFill>
                  <a:srgbClr val="000000"/>
                </a:solidFill>
                <a:latin typeface="Meiryo UI"/>
                <a:ea typeface="Meiryo UI"/>
              </a:rPr>
              <a:t>AI</a:t>
            </a:r>
            <a:r>
              <a:rPr lang="ja-JP" altLang="en-US" sz="900" dirty="0">
                <a:solidFill>
                  <a:srgbClr val="000000"/>
                </a:solidFill>
                <a:latin typeface="Meiryo UI"/>
                <a:ea typeface="Meiryo UI"/>
              </a:rPr>
              <a:t>を活用</a:t>
            </a:r>
            <a:r>
              <a:rPr lang="en-US" altLang="ja-JP" sz="900" dirty="0">
                <a:solidFill>
                  <a:srgbClr val="000000"/>
                </a:solidFill>
                <a:latin typeface="Meiryo UI"/>
                <a:ea typeface="Meiryo UI"/>
              </a:rPr>
              <a:t>(SMTB)</a:t>
            </a:r>
            <a:endParaRPr lang="en-US" altLang="ja-JP" sz="900" b="1" u="sng" dirty="0">
              <a:latin typeface="+mj-ea"/>
              <a:ea typeface="+mj-ea"/>
            </a:endParaRPr>
          </a:p>
          <a:p>
            <a:pPr marL="228600" indent="-228600" algn="l">
              <a:buFont typeface="Wingdings" panose="05000000000000000000" pitchFamily="2" charset="2"/>
              <a:buChar char="p"/>
            </a:pPr>
            <a:r>
              <a:rPr lang="ja-JP" altLang="en-US" sz="900" b="1" u="sng" dirty="0">
                <a:latin typeface="+mj-ea"/>
                <a:ea typeface="+mj-ea"/>
              </a:rPr>
              <a:t>機関投資家訪問セッティング等</a:t>
            </a:r>
            <a:r>
              <a:rPr lang="ja-JP" altLang="en-US" sz="900" dirty="0">
                <a:latin typeface="+mj-ea"/>
                <a:ea typeface="+mj-ea"/>
              </a:rPr>
              <a:t>の新商品開発</a:t>
            </a:r>
            <a:r>
              <a:rPr lang="en-US" altLang="ja-JP" sz="900" dirty="0">
                <a:latin typeface="+mj-ea"/>
                <a:ea typeface="+mj-ea"/>
              </a:rPr>
              <a:t>(SMTB</a:t>
            </a:r>
            <a:r>
              <a:rPr lang="ja-JP" altLang="en-US" sz="900" dirty="0" err="1">
                <a:latin typeface="+mj-ea"/>
                <a:ea typeface="+mj-ea"/>
              </a:rPr>
              <a:t>、</a:t>
            </a:r>
            <a:r>
              <a:rPr lang="en-US" altLang="ja-JP" sz="900" dirty="0">
                <a:latin typeface="+mj-ea"/>
                <a:ea typeface="+mj-ea"/>
              </a:rPr>
              <a:t>MUTB)</a:t>
            </a:r>
          </a:p>
        </p:txBody>
      </p:sp>
      <p:sp>
        <p:nvSpPr>
          <p:cNvPr id="56" name="正方形/長方形 55">
            <a:extLst>
              <a:ext uri="{FF2B5EF4-FFF2-40B4-BE49-F238E27FC236}">
                <a16:creationId xmlns:a16="http://schemas.microsoft.com/office/drawing/2014/main" id="{1B7B54D0-4D20-4547-B599-E430E11C6BD5}"/>
              </a:ext>
            </a:extLst>
          </p:cNvPr>
          <p:cNvSpPr/>
          <p:nvPr/>
        </p:nvSpPr>
        <p:spPr bwMode="gray">
          <a:xfrm>
            <a:off x="5824208" y="5102404"/>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indent="-228600" algn="l">
              <a:buFont typeface="Wingdings" panose="05000000000000000000" pitchFamily="2" charset="2"/>
              <a:buChar char="u"/>
            </a:pPr>
            <a:r>
              <a:rPr lang="ja-JP" altLang="en-US" sz="900" dirty="0">
                <a:solidFill>
                  <a:srgbClr val="000000"/>
                </a:solidFill>
                <a:latin typeface="Meiryo UI"/>
                <a:ea typeface="Meiryo UI"/>
              </a:rPr>
              <a:t>約定照合やグローバル・カストディ業務に</a:t>
            </a:r>
            <a:r>
              <a:rPr lang="ja-JP" altLang="en-US" sz="900" b="1" u="sng" dirty="0">
                <a:solidFill>
                  <a:srgbClr val="000000"/>
                </a:solidFill>
                <a:latin typeface="Meiryo UI"/>
                <a:ea typeface="Meiryo UI"/>
              </a:rPr>
              <a:t>ブロックチェーン</a:t>
            </a:r>
            <a:r>
              <a:rPr lang="ja-JP" altLang="en-US" sz="900" dirty="0">
                <a:solidFill>
                  <a:srgbClr val="000000"/>
                </a:solidFill>
                <a:latin typeface="Meiryo UI"/>
                <a:ea typeface="Meiryo UI"/>
              </a:rPr>
              <a:t>を活用</a:t>
            </a:r>
            <a:r>
              <a:rPr lang="en-US" altLang="ja-JP" sz="900" dirty="0">
                <a:solidFill>
                  <a:srgbClr val="000000"/>
                </a:solidFill>
                <a:latin typeface="Meiryo UI"/>
                <a:ea typeface="Meiryo UI"/>
              </a:rPr>
              <a:t>(SMTB)</a:t>
            </a:r>
            <a:endParaRPr lang="en-US" altLang="ja-JP" sz="900" b="1" u="sng" dirty="0">
              <a:latin typeface="+mj-ea"/>
              <a:ea typeface="+mj-ea"/>
            </a:endParaRPr>
          </a:p>
          <a:p>
            <a:pPr marL="228600" indent="-228600" algn="l">
              <a:buFont typeface="Wingdings" panose="05000000000000000000" pitchFamily="2" charset="2"/>
              <a:buChar char="p"/>
            </a:pPr>
            <a:r>
              <a:rPr lang="en-US" altLang="ja-JP" sz="900" b="1" u="sng" dirty="0">
                <a:latin typeface="+mj-ea"/>
                <a:ea typeface="+mj-ea"/>
              </a:rPr>
              <a:t>DC</a:t>
            </a:r>
            <a:r>
              <a:rPr lang="ja-JP" altLang="en-US" sz="900" b="1" u="sng" dirty="0">
                <a:latin typeface="+mj-ea"/>
                <a:ea typeface="+mj-ea"/>
              </a:rPr>
              <a:t>の基本商品</a:t>
            </a:r>
            <a:r>
              <a:rPr lang="ja-JP" altLang="en-US" sz="900" dirty="0">
                <a:latin typeface="+mj-ea"/>
                <a:ea typeface="+mj-ea"/>
              </a:rPr>
              <a:t>を預金から投資信託へ転換推進</a:t>
            </a:r>
            <a:r>
              <a:rPr lang="en-US" altLang="ja-JP" sz="900" dirty="0">
                <a:latin typeface="+mj-ea"/>
                <a:ea typeface="+mj-ea"/>
              </a:rPr>
              <a:t>(</a:t>
            </a:r>
            <a:r>
              <a:rPr lang="ja-JP" altLang="en-US" sz="900" dirty="0">
                <a:latin typeface="+mj-ea"/>
                <a:ea typeface="+mj-ea"/>
              </a:rPr>
              <a:t>りそな</a:t>
            </a:r>
            <a:r>
              <a:rPr lang="en-US" altLang="ja-JP" sz="900" dirty="0">
                <a:latin typeface="+mj-ea"/>
                <a:ea typeface="+mj-ea"/>
              </a:rPr>
              <a:t>)</a:t>
            </a:r>
          </a:p>
          <a:p>
            <a:pPr marL="228600" indent="-228600" algn="l">
              <a:buFont typeface="Wingdings" panose="05000000000000000000" pitchFamily="2" charset="2"/>
              <a:buChar char="p"/>
            </a:pPr>
            <a:r>
              <a:rPr lang="en-US" altLang="ja-JP" sz="900" b="1" u="sng" dirty="0">
                <a:latin typeface="+mj-ea"/>
                <a:ea typeface="+mj-ea"/>
              </a:rPr>
              <a:t>ESG</a:t>
            </a:r>
            <a:r>
              <a:rPr lang="ja-JP" altLang="en-US" sz="900" b="1" u="sng" dirty="0">
                <a:latin typeface="+mj-ea"/>
                <a:ea typeface="+mj-ea"/>
              </a:rPr>
              <a:t>投資</a:t>
            </a:r>
            <a:r>
              <a:rPr lang="en-US" altLang="ja-JP" sz="900" b="1" u="sng" baseline="30000" dirty="0">
                <a:latin typeface="+mj-ea"/>
                <a:ea typeface="+mj-ea"/>
              </a:rPr>
              <a:t>*3</a:t>
            </a:r>
            <a:r>
              <a:rPr lang="ja-JP" altLang="en-US" sz="900" b="1" u="sng" dirty="0">
                <a:latin typeface="+mj-ea"/>
                <a:ea typeface="+mj-ea"/>
              </a:rPr>
              <a:t>用</a:t>
            </a:r>
            <a:r>
              <a:rPr lang="ja-JP" altLang="en-US" sz="900" dirty="0">
                <a:latin typeface="+mj-ea"/>
                <a:ea typeface="+mj-ea"/>
              </a:rPr>
              <a:t>貸付信託</a:t>
            </a:r>
            <a:r>
              <a:rPr lang="en-US" altLang="ja-JP" sz="900" dirty="0">
                <a:latin typeface="+mj-ea"/>
                <a:ea typeface="+mj-ea"/>
              </a:rPr>
              <a:t>(SMTB)</a:t>
            </a:r>
            <a:r>
              <a:rPr lang="ja-JP" altLang="en-US" sz="900" dirty="0" err="1">
                <a:latin typeface="+mj-ea"/>
                <a:ea typeface="+mj-ea"/>
              </a:rPr>
              <a:t>、</a:t>
            </a:r>
            <a:r>
              <a:rPr lang="en-US" altLang="ja-JP" sz="900" b="1" u="sng" dirty="0">
                <a:latin typeface="+mj-ea"/>
                <a:ea typeface="+mj-ea"/>
              </a:rPr>
              <a:t>AI</a:t>
            </a:r>
            <a:r>
              <a:rPr lang="ja-JP" altLang="en-US" sz="900" b="1" u="sng" dirty="0">
                <a:latin typeface="+mj-ea"/>
                <a:ea typeface="+mj-ea"/>
              </a:rPr>
              <a:t>が運用</a:t>
            </a:r>
            <a:r>
              <a:rPr lang="ja-JP" altLang="en-US" sz="900" dirty="0">
                <a:latin typeface="+mj-ea"/>
                <a:ea typeface="+mj-ea"/>
              </a:rPr>
              <a:t>する投資信託</a:t>
            </a:r>
            <a:r>
              <a:rPr lang="en-US" altLang="ja-JP" sz="900" dirty="0">
                <a:latin typeface="+mj-ea"/>
                <a:ea typeface="+mj-ea"/>
              </a:rPr>
              <a:t>(MUTB)</a:t>
            </a:r>
          </a:p>
          <a:p>
            <a:pPr marL="228600" indent="-228600" algn="l">
              <a:buFont typeface="Wingdings" panose="05000000000000000000" pitchFamily="2" charset="2"/>
              <a:buChar char="p"/>
            </a:pPr>
            <a:r>
              <a:rPr lang="ja-JP" altLang="en-US" sz="900" b="1" u="sng" dirty="0">
                <a:latin typeface="+mj-ea"/>
                <a:ea typeface="+mj-ea"/>
              </a:rPr>
              <a:t>地銀向け</a:t>
            </a:r>
            <a:r>
              <a:rPr lang="ja-JP" altLang="en-US" sz="900" dirty="0">
                <a:latin typeface="+mj-ea"/>
                <a:ea typeface="+mj-ea"/>
              </a:rPr>
              <a:t>に市場取引の事務代行サービス開始</a:t>
            </a:r>
            <a:r>
              <a:rPr lang="en-US" altLang="ja-JP" sz="900" dirty="0">
                <a:latin typeface="+mj-ea"/>
                <a:ea typeface="+mj-ea"/>
              </a:rPr>
              <a:t>(</a:t>
            </a:r>
            <a:r>
              <a:rPr lang="ja-JP" altLang="en-US" sz="900" dirty="0">
                <a:latin typeface="+mj-ea"/>
                <a:ea typeface="+mj-ea"/>
              </a:rPr>
              <a:t>みずほ</a:t>
            </a:r>
            <a:r>
              <a:rPr lang="en-US" altLang="ja-JP" sz="900" dirty="0">
                <a:latin typeface="+mj-ea"/>
                <a:ea typeface="+mj-ea"/>
              </a:rPr>
              <a:t>)</a:t>
            </a:r>
          </a:p>
        </p:txBody>
      </p:sp>
      <p:sp>
        <p:nvSpPr>
          <p:cNvPr id="57" name="正方形/長方形 56">
            <a:extLst>
              <a:ext uri="{FF2B5EF4-FFF2-40B4-BE49-F238E27FC236}">
                <a16:creationId xmlns:a16="http://schemas.microsoft.com/office/drawing/2014/main" id="{72D4C0FD-7B85-4D69-9A6E-F47CC50E28FF}"/>
              </a:ext>
            </a:extLst>
          </p:cNvPr>
          <p:cNvSpPr/>
          <p:nvPr/>
        </p:nvSpPr>
        <p:spPr bwMode="gray">
          <a:xfrm>
            <a:off x="5824208" y="5786828"/>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indent="-228600" algn="l">
              <a:buFont typeface="Wingdings" panose="05000000000000000000" pitchFamily="2" charset="2"/>
              <a:buChar char="p"/>
            </a:pPr>
            <a:r>
              <a:rPr lang="ja-JP" altLang="en-US" sz="900" b="1" u="sng" dirty="0">
                <a:latin typeface="+mj-ea"/>
                <a:ea typeface="+mj-ea"/>
              </a:rPr>
              <a:t>金融法人</a:t>
            </a:r>
            <a:r>
              <a:rPr lang="en-US" altLang="ja-JP" sz="900" b="1" u="sng" dirty="0">
                <a:latin typeface="+mj-ea"/>
                <a:ea typeface="+mj-ea"/>
              </a:rPr>
              <a:t>(</a:t>
            </a:r>
            <a:r>
              <a:rPr lang="ja-JP" altLang="en-US" sz="900" b="1" u="sng" dirty="0">
                <a:latin typeface="+mj-ea"/>
                <a:ea typeface="+mj-ea"/>
              </a:rPr>
              <a:t>地銀等</a:t>
            </a:r>
            <a:r>
              <a:rPr lang="en-US" altLang="ja-JP" sz="900" b="1" u="sng" dirty="0">
                <a:latin typeface="+mj-ea"/>
                <a:ea typeface="+mj-ea"/>
              </a:rPr>
              <a:t>)</a:t>
            </a:r>
            <a:r>
              <a:rPr lang="ja-JP" altLang="en-US" sz="900" b="1" u="sng" dirty="0">
                <a:latin typeface="+mj-ea"/>
                <a:ea typeface="+mj-ea"/>
              </a:rPr>
              <a:t>向け</a:t>
            </a:r>
            <a:r>
              <a:rPr lang="ja-JP" altLang="en-US" sz="900" dirty="0">
                <a:latin typeface="+mj-ea"/>
                <a:ea typeface="+mj-ea"/>
              </a:rPr>
              <a:t>の外為・デリバティブ取引拡大</a:t>
            </a:r>
            <a:r>
              <a:rPr lang="en-US" altLang="ja-JP" sz="900" dirty="0">
                <a:latin typeface="+mj-ea"/>
                <a:ea typeface="+mj-ea"/>
              </a:rPr>
              <a:t>(SMTB)</a:t>
            </a:r>
            <a:endParaRPr lang="ja-JP" altLang="en-US" sz="900" dirty="0">
              <a:latin typeface="+mj-ea"/>
              <a:ea typeface="+mj-ea"/>
            </a:endParaRPr>
          </a:p>
        </p:txBody>
      </p:sp>
      <p:cxnSp>
        <p:nvCxnSpPr>
          <p:cNvPr id="40" name="直線コネクタ 39">
            <a:extLst>
              <a:ext uri="{FF2B5EF4-FFF2-40B4-BE49-F238E27FC236}">
                <a16:creationId xmlns:a16="http://schemas.microsoft.com/office/drawing/2014/main" id="{0ED1A1F6-F281-4BC6-AB27-19CAD743CA24}"/>
              </a:ext>
            </a:extLst>
          </p:cNvPr>
          <p:cNvCxnSpPr>
            <a:cxnSpLocks/>
          </p:cNvCxnSpPr>
          <p:nvPr/>
        </p:nvCxnSpPr>
        <p:spPr bwMode="gray">
          <a:xfrm>
            <a:off x="5824208" y="3031242"/>
            <a:ext cx="374070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2" name="直線コネクタ 41">
            <a:extLst>
              <a:ext uri="{FF2B5EF4-FFF2-40B4-BE49-F238E27FC236}">
                <a16:creationId xmlns:a16="http://schemas.microsoft.com/office/drawing/2014/main" id="{D4F99A16-A275-416F-945C-5784A5F35326}"/>
              </a:ext>
            </a:extLst>
          </p:cNvPr>
          <p:cNvCxnSpPr>
            <a:cxnSpLocks/>
          </p:cNvCxnSpPr>
          <p:nvPr/>
        </p:nvCxnSpPr>
        <p:spPr bwMode="gray">
          <a:xfrm>
            <a:off x="5824208" y="3715666"/>
            <a:ext cx="3740704" cy="0"/>
          </a:xfrm>
          <a:prstGeom prst="line">
            <a:avLst/>
          </a:prstGeom>
          <a:noFill/>
          <a:ln w="9525" algn="ctr">
            <a:solidFill>
              <a:schemeClr val="tx1"/>
            </a:solidFill>
            <a:prstDash val="solid"/>
            <a:round/>
            <a:headEnd/>
            <a:tailEnd/>
          </a:ln>
          <a:extLst>
            <a:ext uri="{909E8E84-426E-40DD-AFC4-6F175D3DCCD1}">
              <a14:hiddenFill xmlns:a14="http://schemas.microsoft.com/office/drawing/2010/main">
                <a:noFill/>
              </a14:hiddenFill>
            </a:ext>
          </a:extLst>
        </p:spPr>
      </p:cxnSp>
      <p:cxnSp>
        <p:nvCxnSpPr>
          <p:cNvPr id="45" name="直線コネクタ 44">
            <a:extLst>
              <a:ext uri="{FF2B5EF4-FFF2-40B4-BE49-F238E27FC236}">
                <a16:creationId xmlns:a16="http://schemas.microsoft.com/office/drawing/2014/main" id="{45D8F782-5D18-4356-9194-64D8EBCBA1B6}"/>
              </a:ext>
            </a:extLst>
          </p:cNvPr>
          <p:cNvCxnSpPr>
            <a:cxnSpLocks/>
          </p:cNvCxnSpPr>
          <p:nvPr/>
        </p:nvCxnSpPr>
        <p:spPr bwMode="gray">
          <a:xfrm>
            <a:off x="5824208" y="4400090"/>
            <a:ext cx="3740704" cy="0"/>
          </a:xfrm>
          <a:prstGeom prst="line">
            <a:avLst/>
          </a:prstGeom>
          <a:noFill/>
          <a:ln w="9525" algn="ctr">
            <a:solidFill>
              <a:schemeClr val="tx1"/>
            </a:solidFill>
            <a:prstDash val="solid"/>
            <a:round/>
            <a:headEnd/>
            <a:tailEnd/>
          </a:ln>
          <a:extLst>
            <a:ext uri="{909E8E84-426E-40DD-AFC4-6F175D3DCCD1}">
              <a14:hiddenFill xmlns:a14="http://schemas.microsoft.com/office/drawing/2010/main">
                <a:noFill/>
              </a14:hiddenFill>
            </a:ext>
          </a:extLst>
        </p:spPr>
      </p:cxnSp>
      <p:cxnSp>
        <p:nvCxnSpPr>
          <p:cNvPr id="60" name="直線コネクタ 59">
            <a:extLst>
              <a:ext uri="{FF2B5EF4-FFF2-40B4-BE49-F238E27FC236}">
                <a16:creationId xmlns:a16="http://schemas.microsoft.com/office/drawing/2014/main" id="{EAA0BBC4-369E-4897-957E-4AD65137E25E}"/>
              </a:ext>
            </a:extLst>
          </p:cNvPr>
          <p:cNvCxnSpPr>
            <a:cxnSpLocks/>
          </p:cNvCxnSpPr>
          <p:nvPr/>
        </p:nvCxnSpPr>
        <p:spPr bwMode="gray">
          <a:xfrm>
            <a:off x="5824208" y="5084516"/>
            <a:ext cx="3740704" cy="0"/>
          </a:xfrm>
          <a:prstGeom prst="line">
            <a:avLst/>
          </a:prstGeom>
          <a:noFill/>
          <a:ln w="9525" algn="ctr">
            <a:solidFill>
              <a:schemeClr val="tx1"/>
            </a:solidFill>
            <a:prstDash val="solid"/>
            <a:round/>
            <a:headEnd/>
            <a:tailEnd/>
          </a:ln>
          <a:extLst>
            <a:ext uri="{909E8E84-426E-40DD-AFC4-6F175D3DCCD1}">
              <a14:hiddenFill xmlns:a14="http://schemas.microsoft.com/office/drawing/2010/main">
                <a:noFill/>
              </a14:hiddenFill>
            </a:ext>
          </a:extLst>
        </p:spPr>
      </p:cxnSp>
      <p:cxnSp>
        <p:nvCxnSpPr>
          <p:cNvPr id="61" name="直線コネクタ 60">
            <a:extLst>
              <a:ext uri="{FF2B5EF4-FFF2-40B4-BE49-F238E27FC236}">
                <a16:creationId xmlns:a16="http://schemas.microsoft.com/office/drawing/2014/main" id="{FE52F03A-3E42-4641-851B-687BB02B9DB5}"/>
              </a:ext>
            </a:extLst>
          </p:cNvPr>
          <p:cNvCxnSpPr>
            <a:cxnSpLocks/>
          </p:cNvCxnSpPr>
          <p:nvPr/>
        </p:nvCxnSpPr>
        <p:spPr bwMode="gray">
          <a:xfrm>
            <a:off x="5824208" y="5768939"/>
            <a:ext cx="374070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9" name="正方形/長方形 68">
            <a:extLst>
              <a:ext uri="{FF2B5EF4-FFF2-40B4-BE49-F238E27FC236}">
                <a16:creationId xmlns:a16="http://schemas.microsoft.com/office/drawing/2014/main" id="{689B6B25-FBBC-479C-AB76-CB9EC530326F}"/>
              </a:ext>
            </a:extLst>
          </p:cNvPr>
          <p:cNvSpPr/>
          <p:nvPr/>
        </p:nvSpPr>
        <p:spPr bwMode="gray">
          <a:xfrm>
            <a:off x="5824208" y="1683754"/>
            <a:ext cx="3740704" cy="64864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28600" indent="-228600" algn="l">
              <a:buFont typeface="Wingdings" panose="05000000000000000000" pitchFamily="2" charset="2"/>
              <a:buChar char="u"/>
            </a:pPr>
            <a:r>
              <a:rPr lang="en-US" altLang="ja-JP" sz="900" b="1" u="sng" dirty="0">
                <a:latin typeface="+mj-ea"/>
                <a:ea typeface="+mj-ea"/>
              </a:rPr>
              <a:t>RPA</a:t>
            </a:r>
            <a:r>
              <a:rPr lang="ja-JP" altLang="en-US" sz="900" b="1" u="sng" dirty="0">
                <a:latin typeface="+mj-ea"/>
                <a:ea typeface="+mj-ea"/>
              </a:rPr>
              <a:t>導入</a:t>
            </a:r>
            <a:r>
              <a:rPr lang="ja-JP" altLang="en-US" sz="900" dirty="0">
                <a:latin typeface="+mj-ea"/>
                <a:ea typeface="+mj-ea"/>
              </a:rPr>
              <a:t>による業務効率化</a:t>
            </a:r>
            <a:r>
              <a:rPr lang="en-US" altLang="ja-JP" sz="900" dirty="0">
                <a:latin typeface="+mj-ea"/>
                <a:ea typeface="+mj-ea"/>
              </a:rPr>
              <a:t>(SMTB</a:t>
            </a:r>
            <a:r>
              <a:rPr lang="ja-JP" altLang="en-US" sz="900" dirty="0" err="1">
                <a:latin typeface="+mj-ea"/>
                <a:ea typeface="+mj-ea"/>
              </a:rPr>
              <a:t>、</a:t>
            </a:r>
            <a:r>
              <a:rPr lang="ja-JP" altLang="en-US" sz="900" dirty="0">
                <a:latin typeface="+mj-ea"/>
                <a:ea typeface="+mj-ea"/>
              </a:rPr>
              <a:t>りそな</a:t>
            </a:r>
            <a:r>
              <a:rPr lang="en-US" altLang="ja-JP" sz="900" dirty="0">
                <a:latin typeface="+mj-ea"/>
                <a:ea typeface="+mj-ea"/>
              </a:rPr>
              <a:t>)</a:t>
            </a:r>
          </a:p>
          <a:p>
            <a:pPr marL="228600" indent="-228600" algn="l">
              <a:buFont typeface="Wingdings" panose="05000000000000000000" pitchFamily="2" charset="2"/>
              <a:buChar char="p"/>
            </a:pPr>
            <a:r>
              <a:rPr lang="ja-JP" altLang="en-US" sz="900" dirty="0">
                <a:latin typeface="+mj-ea"/>
                <a:ea typeface="+mj-ea"/>
              </a:rPr>
              <a:t>個人が</a:t>
            </a:r>
            <a:r>
              <a:rPr lang="ja-JP" altLang="en-US" sz="900" b="1" u="sng" dirty="0">
                <a:latin typeface="+mj-ea"/>
                <a:ea typeface="+mj-ea"/>
              </a:rPr>
              <a:t>自らの個人情報を運用</a:t>
            </a:r>
            <a:r>
              <a:rPr lang="ja-JP" altLang="en-US" sz="900" dirty="0">
                <a:latin typeface="+mj-ea"/>
                <a:ea typeface="+mj-ea"/>
              </a:rPr>
              <a:t>できる信託型プラットフォーム形成</a:t>
            </a:r>
            <a:r>
              <a:rPr lang="en-US" altLang="ja-JP" sz="900" dirty="0">
                <a:latin typeface="+mj-ea"/>
                <a:ea typeface="+mj-ea"/>
              </a:rPr>
              <a:t>(MUTB)</a:t>
            </a:r>
          </a:p>
          <a:p>
            <a:pPr marL="228600" indent="-228600" algn="l">
              <a:buFont typeface="Wingdings" panose="05000000000000000000" pitchFamily="2" charset="2"/>
              <a:buChar char="p"/>
            </a:pPr>
            <a:r>
              <a:rPr lang="ja-JP" altLang="en-US" sz="900" dirty="0">
                <a:latin typeface="+mj-ea"/>
                <a:ea typeface="+mj-ea"/>
              </a:rPr>
              <a:t>各社とも優先的に取り組むべき課題としているが、</a:t>
            </a:r>
            <a:r>
              <a:rPr lang="ja-JP" altLang="en-US" sz="900" b="1" u="sng" dirty="0">
                <a:latin typeface="+mj-ea"/>
                <a:ea typeface="+mj-ea"/>
              </a:rPr>
              <a:t>足元有効な打ち手なし</a:t>
            </a:r>
            <a:endParaRPr lang="en-US" altLang="ja-JP" sz="900" b="1" u="sng" dirty="0">
              <a:latin typeface="+mj-ea"/>
              <a:ea typeface="+mj-ea"/>
            </a:endParaRPr>
          </a:p>
        </p:txBody>
      </p:sp>
      <p:cxnSp>
        <p:nvCxnSpPr>
          <p:cNvPr id="70" name="直線コネクタ 69">
            <a:extLst>
              <a:ext uri="{FF2B5EF4-FFF2-40B4-BE49-F238E27FC236}">
                <a16:creationId xmlns:a16="http://schemas.microsoft.com/office/drawing/2014/main" id="{5C59C766-C59C-48C8-AB41-4C7D901A3F3B}"/>
              </a:ext>
            </a:extLst>
          </p:cNvPr>
          <p:cNvCxnSpPr>
            <a:cxnSpLocks/>
          </p:cNvCxnSpPr>
          <p:nvPr/>
        </p:nvCxnSpPr>
        <p:spPr bwMode="gray">
          <a:xfrm>
            <a:off x="5824208" y="2348552"/>
            <a:ext cx="374070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7" name="直線コネクタ 76">
            <a:extLst>
              <a:ext uri="{FF2B5EF4-FFF2-40B4-BE49-F238E27FC236}">
                <a16:creationId xmlns:a16="http://schemas.microsoft.com/office/drawing/2014/main" id="{E7282FF2-DBF8-4C3C-9570-0540B4614BD7}"/>
              </a:ext>
            </a:extLst>
          </p:cNvPr>
          <p:cNvCxnSpPr/>
          <p:nvPr/>
        </p:nvCxnSpPr>
        <p:spPr bwMode="gray">
          <a:xfrm>
            <a:off x="238712" y="6465423"/>
            <a:ext cx="9612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4" name="Rectangle 3">
            <a:extLst>
              <a:ext uri="{FF2B5EF4-FFF2-40B4-BE49-F238E27FC236}">
                <a16:creationId xmlns:a16="http://schemas.microsoft.com/office/drawing/2014/main" id="{DE1F727B-4DF8-470D-82E5-59A8DBAADDAC}"/>
              </a:ext>
            </a:extLst>
          </p:cNvPr>
          <p:cNvSpPr/>
          <p:nvPr/>
        </p:nvSpPr>
        <p:spPr bwMode="gray">
          <a:xfrm>
            <a:off x="5388700" y="66687"/>
            <a:ext cx="360000" cy="167560"/>
          </a:xfrm>
          <a:prstGeom prst="rect">
            <a:avLst/>
          </a:prstGeom>
          <a:solidFill>
            <a:schemeClr val="bg1"/>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r>
              <a:rPr lang="ja-JP" altLang="en-US" sz="1050" dirty="0">
                <a:latin typeface="Meiryo UI" panose="020B0604030504040204" pitchFamily="50" charset="-128"/>
                <a:ea typeface="Meiryo UI" panose="020B0604030504040204" pitchFamily="50" charset="-128"/>
                <a:cs typeface="Arial" charset="0"/>
              </a:rPr>
              <a:t>凡例</a:t>
            </a:r>
            <a:endParaRPr lang="en-US" altLang="ja-JP" sz="1050" dirty="0">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395381704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7" name="オブジェクト 6"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正方形/長方形 5" hidden="1"/>
          <p:cNvSpPr/>
          <p:nvPr>
            <p:custDataLst>
              <p:tags r:id="rId2"/>
            </p:custDataLst>
          </p:nvPr>
        </p:nvSpPr>
        <p:spPr bwMode="auto">
          <a:xfrm>
            <a:off x="0" y="0"/>
            <a:ext cx="158750" cy="15875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0" rIns="0" bIns="0" numCol="1" spcCol="0" rtlCol="0" anchor="ctr" anchorCtr="0" compatLnSpc="1">
            <a:prstTxWarp prst="textNoShape">
              <a:avLst/>
            </a:prstTxWarp>
            <a:noAutofit/>
          </a:bodyPr>
          <a:lstStyle/>
          <a:p>
            <a:pPr>
              <a:lnSpc>
                <a:spcPct val="90000"/>
              </a:lnSpc>
              <a:spcBef>
                <a:spcPct val="0"/>
              </a:spcBef>
            </a:pPr>
            <a:endParaRPr kumimoji="0" lang="ja-JP" altLang="en-US" sz="1100" u="none" strike="noStrike" cap="none" normalizeH="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p:txBody>
      </p:sp>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8</a:t>
            </a:fld>
            <a:endParaRPr lang="ja-JP" altLang="en-US" dirty="0"/>
          </a:p>
        </p:txBody>
      </p:sp>
      <p:graphicFrame>
        <p:nvGraphicFramePr>
          <p:cNvPr id="5" name="表 4">
            <a:extLst>
              <a:ext uri="{FF2B5EF4-FFF2-40B4-BE49-F238E27FC236}">
                <a16:creationId xmlns:a16="http://schemas.microsoft.com/office/drawing/2014/main" id="{D82DEB51-C9C9-479D-9A4D-207A34A9A385}"/>
              </a:ext>
            </a:extLst>
          </p:cNvPr>
          <p:cNvGraphicFramePr>
            <a:graphicFrameLocks noGrp="1"/>
          </p:cNvGraphicFramePr>
          <p:nvPr>
            <p:extLst>
              <p:ext uri="{D42A27DB-BD31-4B8C-83A1-F6EECF244321}">
                <p14:modId xmlns:p14="http://schemas.microsoft.com/office/powerpoint/2010/main" val="3569387829"/>
              </p:ext>
            </p:extLst>
          </p:nvPr>
        </p:nvGraphicFramePr>
        <p:xfrm>
          <a:off x="213070" y="1196192"/>
          <a:ext cx="9337952" cy="5229865"/>
        </p:xfrm>
        <a:graphic>
          <a:graphicData uri="http://schemas.openxmlformats.org/drawingml/2006/table">
            <a:tbl>
              <a:tblPr/>
              <a:tblGrid>
                <a:gridCol w="588325">
                  <a:extLst>
                    <a:ext uri="{9D8B030D-6E8A-4147-A177-3AD203B41FA5}">
                      <a16:colId xmlns:a16="http://schemas.microsoft.com/office/drawing/2014/main" val="1935775637"/>
                    </a:ext>
                  </a:extLst>
                </a:gridCol>
                <a:gridCol w="868982">
                  <a:extLst>
                    <a:ext uri="{9D8B030D-6E8A-4147-A177-3AD203B41FA5}">
                      <a16:colId xmlns:a16="http://schemas.microsoft.com/office/drawing/2014/main" val="2295029005"/>
                    </a:ext>
                  </a:extLst>
                </a:gridCol>
                <a:gridCol w="1240184">
                  <a:extLst>
                    <a:ext uri="{9D8B030D-6E8A-4147-A177-3AD203B41FA5}">
                      <a16:colId xmlns:a16="http://schemas.microsoft.com/office/drawing/2014/main" val="4019434208"/>
                    </a:ext>
                  </a:extLst>
                </a:gridCol>
                <a:gridCol w="331698">
                  <a:extLst>
                    <a:ext uri="{9D8B030D-6E8A-4147-A177-3AD203B41FA5}">
                      <a16:colId xmlns:a16="http://schemas.microsoft.com/office/drawing/2014/main" val="3626924088"/>
                    </a:ext>
                  </a:extLst>
                </a:gridCol>
                <a:gridCol w="5049713">
                  <a:extLst>
                    <a:ext uri="{9D8B030D-6E8A-4147-A177-3AD203B41FA5}">
                      <a16:colId xmlns:a16="http://schemas.microsoft.com/office/drawing/2014/main" val="1637051455"/>
                    </a:ext>
                  </a:extLst>
                </a:gridCol>
                <a:gridCol w="1259050">
                  <a:extLst>
                    <a:ext uri="{9D8B030D-6E8A-4147-A177-3AD203B41FA5}">
                      <a16:colId xmlns:a16="http://schemas.microsoft.com/office/drawing/2014/main" val="196426682"/>
                    </a:ext>
                  </a:extLst>
                </a:gridCol>
              </a:tblGrid>
              <a:tr h="331255">
                <a:tc gridSpan="3">
                  <a:txBody>
                    <a:bodyPr/>
                    <a:lstStyle/>
                    <a:p>
                      <a:pPr algn="ctr" fontAlgn="ctr"/>
                      <a:r>
                        <a:rPr lang="ja-JP" altLang="en-US" sz="900" b="0" i="0" u="none" strike="noStrike" dirty="0">
                          <a:solidFill>
                            <a:srgbClr val="000000"/>
                          </a:solidFill>
                          <a:effectLst/>
                          <a:latin typeface="+mj-ea"/>
                          <a:ea typeface="+mj-ea"/>
                        </a:rPr>
                        <a:t>業務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a:txBody>
                    <a:bodyPr/>
                    <a:lstStyle/>
                    <a:p>
                      <a:pPr algn="ctr" fontAlgn="ctr"/>
                      <a:r>
                        <a:rPr lang="en-US" altLang="ja-JP" sz="900" b="0" i="0" u="none" strike="noStrike" dirty="0">
                          <a:solidFill>
                            <a:srgbClr val="000000"/>
                          </a:solidFill>
                          <a:effectLst/>
                          <a:latin typeface="+mj-ea"/>
                          <a:ea typeface="+mj-ea"/>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lang="ja-JP" altLang="en-US" sz="900" b="0" i="0" u="none" strike="noStrike" dirty="0">
                          <a:solidFill>
                            <a:srgbClr val="000000"/>
                          </a:solidFill>
                          <a:effectLst/>
                          <a:latin typeface="+mj-ea"/>
                          <a:ea typeface="+mj-ea"/>
                        </a:rPr>
                        <a:t>業務内容</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lang="ja-JP" altLang="en-US" sz="900" b="0" i="0" u="none" strike="noStrike" dirty="0">
                          <a:solidFill>
                            <a:srgbClr val="000000"/>
                          </a:solidFill>
                          <a:effectLst/>
                          <a:latin typeface="+mj-ea"/>
                          <a:ea typeface="+mj-ea"/>
                        </a:rPr>
                        <a:t>収益内容</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extLst>
                  <a:ext uri="{0D108BD9-81ED-4DB2-BD59-A6C34878D82A}">
                    <a16:rowId xmlns:a16="http://schemas.microsoft.com/office/drawing/2014/main" val="1932892148"/>
                  </a:ext>
                </a:extLst>
              </a:tr>
              <a:tr h="257745">
                <a:tc rowSpan="6" gridSpan="2">
                  <a:txBody>
                    <a:bodyPr/>
                    <a:lstStyle/>
                    <a:p>
                      <a:pPr algn="ctr" fontAlgn="ctr"/>
                      <a:r>
                        <a:rPr lang="ja-JP" altLang="en-US" sz="1100" b="0" i="0" u="none" strike="noStrike" dirty="0">
                          <a:solidFill>
                            <a:srgbClr val="000000"/>
                          </a:solidFill>
                          <a:effectLst/>
                          <a:latin typeface="+mj-ea"/>
                          <a:ea typeface="+mj-ea"/>
                        </a:rPr>
                        <a:t>個人</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rowSpan="6"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a:txBody>
                    <a:bodyPr/>
                    <a:lstStyle/>
                    <a:p>
                      <a:pPr algn="ctr" fontAlgn="ctr"/>
                      <a:r>
                        <a:rPr lang="ja-JP" altLang="en-US" sz="1100" b="0" i="0" u="none" strike="noStrike" dirty="0">
                          <a:solidFill>
                            <a:srgbClr val="000000"/>
                          </a:solidFill>
                          <a:effectLst/>
                          <a:latin typeface="+mj-ea"/>
                          <a:ea typeface="+mj-ea"/>
                        </a:rPr>
                        <a:t>預金</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fontAlgn="ctr"/>
                      <a:r>
                        <a:rPr lang="ja-JP" altLang="en-US" sz="1000" b="1" i="0" u="sng" strike="noStrike" dirty="0">
                          <a:solidFill>
                            <a:srgbClr val="000000"/>
                          </a:solidFill>
                          <a:effectLst/>
                          <a:latin typeface="+mj-ea"/>
                          <a:ea typeface="+mj-ea"/>
                        </a:rPr>
                        <a:t>円貨・外貨の預金</a:t>
                      </a:r>
                      <a:r>
                        <a:rPr lang="ja-JP" altLang="en-US" sz="1000" b="0" i="0" u="none" strike="noStrike" dirty="0">
                          <a:solidFill>
                            <a:srgbClr val="000000"/>
                          </a:solidFill>
                          <a:effectLst/>
                          <a:latin typeface="+mj-ea"/>
                          <a:ea typeface="+mj-ea"/>
                        </a:rPr>
                        <a:t>を受け入れ、貸出等の原資とする。顧客には利息を支払う。</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mj-ea"/>
                          <a:ea typeface="+mj-ea"/>
                        </a:rPr>
                        <a:t>-</a:t>
                      </a:r>
                      <a:endParaRPr lang="zh-TW" altLang="en-US" sz="1000" b="0" i="0" u="none" strike="noStrike" dirty="0">
                        <a:solidFill>
                          <a:srgbClr val="000000"/>
                        </a:solidFill>
                        <a:effectLst/>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29843960"/>
                  </a:ext>
                </a:extLst>
              </a:tr>
              <a:tr h="257745">
                <a:tc gridSpan="2" vMerge="1">
                  <a:txBody>
                    <a:bodyPr/>
                    <a:lstStyle/>
                    <a:p>
                      <a:endParaRPr kumimoji="1" lang="ja-JP" altLang="en-US"/>
                    </a:p>
                  </a:txBody>
                  <a:tcPr/>
                </a:tc>
                <a:tc hMerge="1" vMerge="1">
                  <a:txBody>
                    <a:bodyPr/>
                    <a:lstStyle/>
                    <a:p>
                      <a:endParaRPr kumimoji="1" lang="ja-JP" altLang="en-US"/>
                    </a:p>
                  </a:txBody>
                  <a:tcPr/>
                </a:tc>
                <a:tc>
                  <a:txBody>
                    <a:bodyPr/>
                    <a:lstStyle/>
                    <a:p>
                      <a:pPr algn="ctr" fontAlgn="ctr"/>
                      <a:r>
                        <a:rPr lang="ja-JP" altLang="en-US" sz="1100" b="0" i="0" u="none" strike="noStrike" dirty="0">
                          <a:solidFill>
                            <a:srgbClr val="000000"/>
                          </a:solidFill>
                          <a:effectLst/>
                          <a:latin typeface="+mj-ea"/>
                          <a:ea typeface="+mj-ea"/>
                        </a:rPr>
                        <a:t>決済</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fontAlgn="ctr"/>
                      <a:r>
                        <a:rPr lang="ja-JP" altLang="en-US" sz="1000" b="1" i="0" u="sng" strike="noStrike" dirty="0">
                          <a:solidFill>
                            <a:srgbClr val="000000"/>
                          </a:solidFill>
                          <a:effectLst/>
                          <a:latin typeface="+mj-ea"/>
                          <a:ea typeface="+mj-ea"/>
                        </a:rPr>
                        <a:t>送金</a:t>
                      </a:r>
                      <a:r>
                        <a:rPr lang="ja-JP" altLang="en-US" sz="1000" b="0" i="0" u="none" strike="noStrike" dirty="0">
                          <a:solidFill>
                            <a:srgbClr val="000000"/>
                          </a:solidFill>
                          <a:effectLst/>
                          <a:latin typeface="+mj-ea"/>
                          <a:ea typeface="+mj-ea"/>
                        </a:rPr>
                        <a:t>に関する業務。内国為替、外国為替。</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j-ea"/>
                          <a:ea typeface="+mj-ea"/>
                        </a:rPr>
                        <a:t>送金手数料</a:t>
                      </a:r>
                      <a:endParaRPr lang="zh-TW" altLang="en-US" sz="1000" b="0" i="0" u="none" strike="noStrike" dirty="0">
                        <a:solidFill>
                          <a:srgbClr val="000000"/>
                        </a:solidFill>
                        <a:effectLst/>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34804474"/>
                  </a:ext>
                </a:extLst>
              </a:tr>
              <a:tr h="257745">
                <a:tc gridSpan="2" vMerge="1">
                  <a:txBody>
                    <a:bodyPr/>
                    <a:lstStyle/>
                    <a:p>
                      <a:endParaRPr kumimoji="1" lang="ja-JP" altLang="en-US"/>
                    </a:p>
                  </a:txBody>
                  <a:tcPr/>
                </a:tc>
                <a:tc hMerge="1" vMerge="1">
                  <a:txBody>
                    <a:bodyPr/>
                    <a:lstStyle/>
                    <a:p>
                      <a:endParaRPr kumimoji="1" lang="ja-JP" altLang="en-US"/>
                    </a:p>
                  </a:txBody>
                  <a:tcPr/>
                </a:tc>
                <a:tc>
                  <a:txBody>
                    <a:bodyPr/>
                    <a:lstStyle/>
                    <a:p>
                      <a:pPr algn="ctr" fontAlgn="ctr"/>
                      <a:r>
                        <a:rPr lang="ja-JP" altLang="en-US" sz="1100" b="0" i="0" u="none" strike="noStrike" dirty="0">
                          <a:solidFill>
                            <a:srgbClr val="000000"/>
                          </a:solidFill>
                          <a:effectLst/>
                          <a:latin typeface="+mj-ea"/>
                          <a:ea typeface="+mj-ea"/>
                        </a:rPr>
                        <a:t>ファイナンス</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fontAlgn="ctr"/>
                      <a:r>
                        <a:rPr lang="ja-JP" altLang="en-US" sz="1000" b="0" i="0" u="none" strike="noStrike" dirty="0">
                          <a:solidFill>
                            <a:srgbClr val="000000"/>
                          </a:solidFill>
                          <a:effectLst/>
                          <a:latin typeface="+mj-ea"/>
                          <a:ea typeface="+mj-ea"/>
                        </a:rPr>
                        <a:t>個人向け融資。</a:t>
                      </a:r>
                      <a:r>
                        <a:rPr lang="ja-JP" altLang="en-US" sz="1000" b="1" i="0" u="sng" strike="noStrike" dirty="0">
                          <a:solidFill>
                            <a:srgbClr val="000000"/>
                          </a:solidFill>
                          <a:effectLst/>
                          <a:latin typeface="+mj-ea"/>
                          <a:ea typeface="+mj-ea"/>
                        </a:rPr>
                        <a:t>住宅ローン</a:t>
                      </a:r>
                      <a:r>
                        <a:rPr lang="ja-JP" altLang="en-US" sz="1000" b="0" i="0" u="none" strike="noStrike" dirty="0">
                          <a:solidFill>
                            <a:srgbClr val="000000"/>
                          </a:solidFill>
                          <a:effectLst/>
                          <a:latin typeface="+mj-ea"/>
                          <a:ea typeface="+mj-ea"/>
                        </a:rPr>
                        <a:t>・アパートローン・カードローン等。</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j-ea"/>
                          <a:ea typeface="+mj-ea"/>
                        </a:rPr>
                        <a:t>金利</a:t>
                      </a:r>
                      <a:endParaRPr lang="zh-TW" altLang="en-US" sz="1000" b="0" i="0" u="none" strike="noStrike" dirty="0">
                        <a:solidFill>
                          <a:srgbClr val="000000"/>
                        </a:solidFill>
                        <a:effectLst/>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165763367"/>
                  </a:ext>
                </a:extLst>
              </a:tr>
              <a:tr h="257745">
                <a:tc gridSpan="2" vMerge="1">
                  <a:txBody>
                    <a:bodyPr/>
                    <a:lstStyle/>
                    <a:p>
                      <a:endParaRPr kumimoji="1" lang="ja-JP" altLang="en-US"/>
                    </a:p>
                  </a:txBody>
                  <a:tcPr/>
                </a:tc>
                <a:tc hMerge="1"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a:txBody>
                    <a:bodyPr/>
                    <a:lstStyle/>
                    <a:p>
                      <a:pPr algn="ctr" fontAlgn="ctr"/>
                      <a:r>
                        <a:rPr lang="ja-JP" altLang="en-US" sz="1100" b="0" i="0" u="none" strike="noStrike" dirty="0">
                          <a:solidFill>
                            <a:srgbClr val="000000"/>
                          </a:solidFill>
                          <a:effectLst/>
                          <a:latin typeface="+mj-ea"/>
                          <a:ea typeface="+mj-ea"/>
                        </a:rPr>
                        <a:t>運用商品販売</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fontAlgn="ctr"/>
                      <a:r>
                        <a:rPr lang="ja-JP" altLang="en-US" sz="1000" b="1" i="0" u="sng" strike="noStrike" dirty="0">
                          <a:solidFill>
                            <a:srgbClr val="000000"/>
                          </a:solidFill>
                          <a:effectLst/>
                          <a:latin typeface="+mj-ea"/>
                          <a:ea typeface="+mj-ea"/>
                        </a:rPr>
                        <a:t>投資信託</a:t>
                      </a:r>
                      <a:r>
                        <a:rPr lang="ja-JP" altLang="en-US" sz="1000" b="0" i="0" u="none" strike="noStrike" dirty="0">
                          <a:solidFill>
                            <a:srgbClr val="000000"/>
                          </a:solidFill>
                          <a:effectLst/>
                          <a:latin typeface="+mj-ea"/>
                          <a:ea typeface="+mj-ea"/>
                        </a:rPr>
                        <a:t>・投資一任商品</a:t>
                      </a:r>
                      <a:r>
                        <a:rPr lang="en-US" altLang="ja-JP" sz="1000" b="0" i="0" u="none" strike="noStrike" dirty="0">
                          <a:solidFill>
                            <a:srgbClr val="000000"/>
                          </a:solidFill>
                          <a:effectLst/>
                          <a:latin typeface="+mj-ea"/>
                          <a:ea typeface="+mj-ea"/>
                        </a:rPr>
                        <a:t>(</a:t>
                      </a:r>
                      <a:r>
                        <a:rPr lang="ja-JP" altLang="en-US" sz="1000" b="0" i="0" u="none" strike="noStrike" dirty="0">
                          <a:solidFill>
                            <a:srgbClr val="000000"/>
                          </a:solidFill>
                          <a:effectLst/>
                          <a:latin typeface="+mj-ea"/>
                          <a:ea typeface="+mj-ea"/>
                        </a:rPr>
                        <a:t>ラップ</a:t>
                      </a:r>
                      <a:r>
                        <a:rPr lang="en-US" altLang="ja-JP" sz="1000" b="0" i="0" u="none" strike="noStrike" dirty="0">
                          <a:solidFill>
                            <a:srgbClr val="000000"/>
                          </a:solidFill>
                          <a:effectLst/>
                          <a:latin typeface="+mj-ea"/>
                          <a:ea typeface="+mj-ea"/>
                        </a:rPr>
                        <a:t>)</a:t>
                      </a:r>
                      <a:r>
                        <a:rPr lang="ja-JP" altLang="en-US" sz="1000" b="0" i="0" u="none" strike="noStrike" dirty="0">
                          <a:solidFill>
                            <a:srgbClr val="000000"/>
                          </a:solidFill>
                          <a:effectLst/>
                          <a:latin typeface="+mj-ea"/>
                          <a:ea typeface="+mj-ea"/>
                        </a:rPr>
                        <a:t>・保険販売代理等。</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ja-JP" altLang="en-US" sz="1000" b="0" i="0" u="none" strike="noStrike" dirty="0">
                          <a:solidFill>
                            <a:srgbClr val="000000"/>
                          </a:solidFill>
                          <a:effectLst/>
                          <a:latin typeface="+mj-ea"/>
                          <a:ea typeface="+mj-ea"/>
                        </a:rPr>
                        <a:t>販売手数料</a:t>
                      </a:r>
                      <a:endParaRPr lang="zh-TW" altLang="en-US" sz="1000" b="0" i="0" u="none" strike="noStrike" dirty="0">
                        <a:solidFill>
                          <a:srgbClr val="000000"/>
                        </a:solidFill>
                        <a:effectLst/>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51362333"/>
                  </a:ext>
                </a:extLst>
              </a:tr>
              <a:tr h="257745">
                <a:tc gridSpan="2" vMerge="1">
                  <a:txBody>
                    <a:bodyPr/>
                    <a:lstStyle/>
                    <a:p>
                      <a:endParaRPr kumimoji="1" lang="ja-JP" altLang="en-US"/>
                    </a:p>
                  </a:txBody>
                  <a:tcPr/>
                </a:tc>
                <a:tc hMerge="1" vMerge="1">
                  <a:txBody>
                    <a:bodyPr/>
                    <a:lstStyle/>
                    <a:p>
                      <a:endParaRPr kumimoji="1" lang="ja-JP" altLang="en-US"/>
                    </a:p>
                  </a:txBody>
                  <a:tcPr/>
                </a:tc>
                <a:tc>
                  <a:txBody>
                    <a:bodyPr/>
                    <a:lstStyle/>
                    <a:p>
                      <a:pPr algn="ctr" fontAlgn="ctr"/>
                      <a:r>
                        <a:rPr lang="ja-JP" altLang="en-US" sz="1100" b="0" i="0" u="none" strike="noStrike" dirty="0">
                          <a:solidFill>
                            <a:srgbClr val="000000"/>
                          </a:solidFill>
                          <a:effectLst/>
                          <a:latin typeface="+mj-ea"/>
                          <a:ea typeface="+mj-ea"/>
                        </a:rPr>
                        <a:t>資産管理</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金銭や有価証券等、顧客の資産を管理。</a:t>
                      </a:r>
                      <a:r>
                        <a:rPr kumimoji="1" lang="ja-JP" altLang="en-US" sz="1000" b="1" i="0" u="sng" strike="noStrike" kern="1200" cap="none" spc="0" normalizeH="0" baseline="0" noProof="0" dirty="0">
                          <a:ln>
                            <a:noFill/>
                          </a:ln>
                          <a:solidFill>
                            <a:srgbClr val="000000"/>
                          </a:solidFill>
                          <a:effectLst/>
                          <a:uLnTx/>
                          <a:uFillTx/>
                          <a:latin typeface="+mj-ea"/>
                          <a:ea typeface="+mj-ea"/>
                        </a:rPr>
                        <a:t>遺言執行の代理</a:t>
                      </a:r>
                      <a:r>
                        <a:rPr kumimoji="1" lang="ja-JP" altLang="en-US" sz="1000" b="0" i="0" u="none" strike="noStrike" kern="1200" cap="none" spc="0" normalizeH="0" baseline="0" noProof="0" dirty="0">
                          <a:ln>
                            <a:noFill/>
                          </a:ln>
                          <a:solidFill>
                            <a:srgbClr val="000000"/>
                          </a:solidFill>
                          <a:effectLst/>
                          <a:uLnTx/>
                          <a:uFillTx/>
                          <a:latin typeface="+mj-ea"/>
                          <a:ea typeface="+mj-ea"/>
                        </a:rPr>
                        <a:t>・遺産整理、事業承継等。</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受託手数料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0973568"/>
                  </a:ext>
                </a:extLst>
              </a:tr>
              <a:tr h="257745">
                <a:tc gridSpan="2" vMerge="1">
                  <a:txBody>
                    <a:bodyPr/>
                    <a:lstStyle/>
                    <a:p>
                      <a:endParaRPr kumimoji="1" lang="ja-JP" altLang="en-US"/>
                    </a:p>
                  </a:txBody>
                  <a:tcPr/>
                </a:tc>
                <a:tc hMerge="1" vMerge="1">
                  <a:txBody>
                    <a:bodyPr/>
                    <a:lstStyle/>
                    <a:p>
                      <a:endParaRPr kumimoji="1" lang="ja-JP" altLang="en-US"/>
                    </a:p>
                  </a:txBody>
                  <a:tcPr/>
                </a:tc>
                <a:tc>
                  <a:txBody>
                    <a:bodyPr/>
                    <a:lstStyle/>
                    <a:p>
                      <a:pPr algn="ctr" fontAlgn="ctr"/>
                      <a:r>
                        <a:rPr lang="ja-JP" altLang="en-US" sz="1100" b="0" i="0" u="none" strike="noStrike" dirty="0">
                          <a:solidFill>
                            <a:srgbClr val="000000"/>
                          </a:solidFill>
                          <a:effectLst/>
                          <a:latin typeface="+mj-ea"/>
                          <a:ea typeface="+mj-ea"/>
                        </a:rPr>
                        <a:t>不動産</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6</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cap="none" spc="0" normalizeH="0" baseline="0" noProof="0" dirty="0">
                          <a:ln>
                            <a:noFill/>
                          </a:ln>
                          <a:solidFill>
                            <a:srgbClr val="000000"/>
                          </a:solidFill>
                          <a:effectLst/>
                          <a:uLnTx/>
                          <a:uFillTx/>
                          <a:latin typeface="+mj-ea"/>
                          <a:ea typeface="+mj-ea"/>
                        </a:rPr>
                        <a:t>不動産売買の仲介</a:t>
                      </a:r>
                      <a:r>
                        <a:rPr kumimoji="1" lang="ja-JP" altLang="en-US" sz="1000" b="0" i="0" u="none" strike="noStrike" kern="1200" cap="none" spc="0" normalizeH="0" baseline="0" noProof="0" dirty="0">
                          <a:ln>
                            <a:noFill/>
                          </a:ln>
                          <a:solidFill>
                            <a:srgbClr val="000000"/>
                          </a:solidFill>
                          <a:effectLst/>
                          <a:uLnTx/>
                          <a:uFillTx/>
                          <a:latin typeface="+mj-ea"/>
                          <a:ea typeface="+mj-ea"/>
                        </a:rPr>
                        <a:t>。居住用物件や投資用物件を対象とする。</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仲介手数料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08899350"/>
                  </a:ext>
                </a:extLst>
              </a:tr>
              <a:tr h="257745">
                <a:tc rowSpan="11">
                  <a:txBody>
                    <a:bodyPr/>
                    <a:lstStyle/>
                    <a:p>
                      <a:pPr algn="ctr" fontAlgn="ctr"/>
                      <a:r>
                        <a:rPr lang="ja-JP" altLang="en-US" sz="1100" b="0" i="0" u="none" strike="noStrike" dirty="0">
                          <a:solidFill>
                            <a:srgbClr val="000000"/>
                          </a:solidFill>
                          <a:effectLst/>
                          <a:latin typeface="+mj-ea"/>
                          <a:ea typeface="+mj-ea"/>
                        </a:rPr>
                        <a:t>法人</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rowSpan="3">
                  <a:txBody>
                    <a:bodyPr/>
                    <a:lstStyle/>
                    <a:p>
                      <a:pPr algn="ctr"/>
                      <a:r>
                        <a:rPr kumimoji="1" lang="ja-JP" altLang="en-US" sz="1100" b="0" i="0" u="none" strike="noStrike" kern="1200" cap="none" spc="0" normalizeH="0" baseline="0" noProof="0" dirty="0">
                          <a:ln>
                            <a:noFill/>
                          </a:ln>
                          <a:solidFill>
                            <a:schemeClr val="tx1"/>
                          </a:solidFill>
                          <a:effectLst/>
                          <a:uLnTx/>
                          <a:uFillTx/>
                          <a:latin typeface="Meiryo UI"/>
                          <a:ea typeface="+mn-ea"/>
                        </a:rPr>
                        <a:t>バンキング</a:t>
                      </a:r>
                      <a:endParaRPr kumimoji="1" lang="ja-JP" altLang="en-US" sz="2800"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ja-JP" altLang="en-US" sz="1100" b="0" i="0" u="none" strike="noStrike" dirty="0">
                          <a:solidFill>
                            <a:srgbClr val="000000"/>
                          </a:solidFill>
                          <a:effectLst/>
                          <a:latin typeface="+mj-ea"/>
                          <a:ea typeface="+mj-ea"/>
                        </a:rPr>
                        <a:t>預金</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7</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dirty="0">
                          <a:solidFill>
                            <a:srgbClr val="000000"/>
                          </a:solidFill>
                          <a:effectLst/>
                          <a:latin typeface="+mj-ea"/>
                          <a:ea typeface="+mn-ea"/>
                          <a:cs typeface="+mn-cs"/>
                        </a:rPr>
                        <a:t>円貨・外貨の預金</a:t>
                      </a:r>
                      <a:r>
                        <a:rPr kumimoji="1" lang="ja-JP" altLang="en-US" sz="1000" b="0" i="0" u="none" strike="noStrike" kern="1200" dirty="0">
                          <a:solidFill>
                            <a:srgbClr val="000000"/>
                          </a:solidFill>
                          <a:effectLst/>
                          <a:latin typeface="+mj-ea"/>
                          <a:ea typeface="+mn-ea"/>
                          <a:cs typeface="+mn-cs"/>
                        </a:rPr>
                        <a:t>を受け入れ、貸出等の原資とする。顧客には利息を支払う。</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mj-ea"/>
                          <a:ea typeface="+mj-ea"/>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00280745"/>
                  </a:ext>
                </a:extLst>
              </a:tr>
              <a:tr h="257745">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dirty="0">
                          <a:solidFill>
                            <a:srgbClr val="000000"/>
                          </a:solidFill>
                          <a:effectLst/>
                          <a:latin typeface="+mj-ea"/>
                          <a:ea typeface="+mj-ea"/>
                          <a:cs typeface="+mn-cs"/>
                        </a:rPr>
                        <a:t>決済</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8</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dirty="0">
                          <a:solidFill>
                            <a:srgbClr val="000000"/>
                          </a:solidFill>
                          <a:effectLst/>
                          <a:latin typeface="+mj-ea"/>
                          <a:ea typeface="+mn-ea"/>
                          <a:cs typeface="+mn-cs"/>
                        </a:rPr>
                        <a:t>送金</a:t>
                      </a:r>
                      <a:r>
                        <a:rPr kumimoji="1" lang="ja-JP" altLang="en-US" sz="1000" b="0" i="0" u="none" strike="noStrike" kern="1200" dirty="0">
                          <a:solidFill>
                            <a:srgbClr val="000000"/>
                          </a:solidFill>
                          <a:effectLst/>
                          <a:latin typeface="+mj-ea"/>
                          <a:ea typeface="+mn-ea"/>
                          <a:cs typeface="+mn-cs"/>
                        </a:rPr>
                        <a:t>に関する業務。内国為替・外国為替。</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送金手数料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39486734"/>
                  </a:ext>
                </a:extLst>
              </a:tr>
              <a:tr h="257745">
                <a:tc vMerge="1">
                  <a:txBody>
                    <a:bodyPr/>
                    <a:lstStyle/>
                    <a:p>
                      <a:endParaRPr kumimoji="1" lang="ja-JP" altLang="en-US"/>
                    </a:p>
                  </a:txBody>
                  <a:tcPr/>
                </a:tc>
                <a:tc vMerge="1">
                  <a:txBody>
                    <a:bodyPr/>
                    <a:lstStyle/>
                    <a:p>
                      <a:endParaRPr kumimoji="1" lang="ja-JP" altLang="en-US"/>
                    </a:p>
                  </a:txBody>
                  <a:tcPr/>
                </a:tc>
                <a:tc>
                  <a:txBody>
                    <a:bodyPr/>
                    <a:lstStyle/>
                    <a:p>
                      <a:pPr algn="ctr" fontAlgn="ctr"/>
                      <a:r>
                        <a:rPr kumimoji="1" lang="ja-JP" altLang="en-US" sz="1100" b="0" i="0" u="none" strike="noStrike" kern="1200" dirty="0">
                          <a:solidFill>
                            <a:srgbClr val="000000"/>
                          </a:solidFill>
                          <a:effectLst/>
                          <a:latin typeface="+mj-ea"/>
                          <a:ea typeface="+mn-ea"/>
                          <a:cs typeface="+mn-cs"/>
                        </a:rPr>
                        <a:t>ファイナンス</a:t>
                      </a:r>
                      <a:endParaRPr lang="ja-JP" altLang="en-US" sz="1100" b="0" i="0" u="none" strike="noStrike" dirty="0">
                        <a:solidFill>
                          <a:srgbClr val="000000"/>
                        </a:solidFill>
                        <a:effectLst/>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9</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000" b="1" u="sng" dirty="0">
                          <a:latin typeface="+mj-ea"/>
                          <a:ea typeface="+mj-ea"/>
                        </a:rPr>
                        <a:t>法人向け融資</a:t>
                      </a:r>
                      <a:r>
                        <a:rPr kumimoji="1" lang="ja-JP" altLang="en-US" sz="1000" b="0" u="none" dirty="0">
                          <a:latin typeface="+mj-ea"/>
                          <a:ea typeface="+mj-ea"/>
                        </a:rPr>
                        <a:t>。</a:t>
                      </a:r>
                      <a:r>
                        <a:rPr kumimoji="1" lang="ja-JP" altLang="en-US" sz="1000" b="0" u="none" kern="1200" dirty="0">
                          <a:solidFill>
                            <a:schemeClr val="tx1"/>
                          </a:solidFill>
                          <a:latin typeface="+mj-ea"/>
                          <a:ea typeface="+mn-ea"/>
                          <a:cs typeface="+mn-cs"/>
                        </a:rPr>
                        <a:t>プロジェクトファイナンス、シンジケートローン、債券流動化を含む</a:t>
                      </a:r>
                      <a:r>
                        <a:rPr kumimoji="1" lang="ja-JP" altLang="en-US" sz="1000" b="0" u="none" dirty="0">
                          <a:latin typeface="+mj-ea"/>
                          <a:ea typeface="+mj-ea"/>
                        </a:rPr>
                        <a:t>。</a:t>
                      </a:r>
                      <a:endParaRPr kumimoji="1" lang="en-US" altLang="ja-JP" sz="1000" b="0" u="none" dirty="0">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金利、手数料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1072716"/>
                  </a:ext>
                </a:extLst>
              </a:tr>
              <a:tr h="257745">
                <a:tc vMerge="1">
                  <a:txBody>
                    <a:bodyPr/>
                    <a:lstStyle/>
                    <a:p>
                      <a:endParaRPr kumimoji="1" lang="ja-JP" altLang="en-US"/>
                    </a:p>
                  </a:txBody>
                  <a:tcPr/>
                </a:tc>
                <a:tc rowSpan="3">
                  <a:txBody>
                    <a:bodyPr/>
                    <a:lstStyle/>
                    <a:p>
                      <a:pPr algn="ctr"/>
                      <a:r>
                        <a:rPr kumimoji="1" lang="ja-JP" altLang="en-US" sz="1100" dirty="0">
                          <a:solidFill>
                            <a:schemeClr val="tx1"/>
                          </a:solidFill>
                          <a:latin typeface="+mj-ea"/>
                          <a:ea typeface="+mj-ea"/>
                        </a:rPr>
                        <a:t>不動産</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rPr>
                        <a:t>売買仲介</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10</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cap="none" spc="0" normalizeH="0" baseline="0" noProof="0" dirty="0">
                          <a:ln>
                            <a:noFill/>
                          </a:ln>
                          <a:solidFill>
                            <a:srgbClr val="000000"/>
                          </a:solidFill>
                          <a:effectLst/>
                          <a:uLnTx/>
                          <a:uFillTx/>
                          <a:latin typeface="+mj-ea"/>
                          <a:ea typeface="+mn-ea"/>
                          <a:cs typeface="+mn-cs"/>
                        </a:rPr>
                        <a:t>不動産売買の仲介</a:t>
                      </a:r>
                      <a:r>
                        <a:rPr kumimoji="1" lang="ja-JP" altLang="en-US" sz="1000" b="0" i="0" u="none" strike="noStrike" kern="1200" cap="none" spc="0" normalizeH="0" baseline="0" noProof="0" dirty="0">
                          <a:ln>
                            <a:noFill/>
                          </a:ln>
                          <a:solidFill>
                            <a:srgbClr val="000000"/>
                          </a:solidFill>
                          <a:effectLst/>
                          <a:uLnTx/>
                          <a:uFillTx/>
                          <a:latin typeface="+mj-ea"/>
                          <a:ea typeface="+mn-ea"/>
                          <a:cs typeface="+mn-cs"/>
                        </a:rPr>
                        <a:t>。事業用物件や投資用物件を対象とする。</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仲介手数料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42520485"/>
                  </a:ext>
                </a:extLst>
              </a:tr>
              <a:tr h="257745">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rPr>
                        <a:t>不動産管理</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11</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顧客が保有する不動産を運用管理。</a:t>
                      </a:r>
                      <a:r>
                        <a:rPr kumimoji="1" lang="ja-JP" altLang="en-US" sz="1000" b="1" i="0" u="sng" strike="noStrike" kern="1200" cap="none" spc="0" normalizeH="0" baseline="0" noProof="0" dirty="0">
                          <a:ln>
                            <a:noFill/>
                          </a:ln>
                          <a:solidFill>
                            <a:srgbClr val="000000"/>
                          </a:solidFill>
                          <a:effectLst/>
                          <a:uLnTx/>
                          <a:uFillTx/>
                          <a:latin typeface="+mj-ea"/>
                          <a:ea typeface="+mj-ea"/>
                        </a:rPr>
                        <a:t>収益物件のビルマネジメント</a:t>
                      </a:r>
                      <a:r>
                        <a:rPr kumimoji="1" lang="ja-JP" altLang="en-US" sz="1000" b="0" i="0" u="none" strike="noStrike" kern="1200" cap="none" spc="0" normalizeH="0" baseline="0" noProof="0" dirty="0">
                          <a:ln>
                            <a:noFill/>
                          </a:ln>
                          <a:solidFill>
                            <a:srgbClr val="000000"/>
                          </a:solidFill>
                          <a:effectLst/>
                          <a:uLnTx/>
                          <a:uFillTx/>
                          <a:latin typeface="+mj-ea"/>
                          <a:ea typeface="+mj-ea"/>
                        </a:rPr>
                        <a:t>や土地信託等。</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信託報酬</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2769742"/>
                  </a:ext>
                </a:extLst>
              </a:tr>
              <a:tr h="257745">
                <a:tc vMerge="1">
                  <a:txBody>
                    <a:bodyPr/>
                    <a:lstStyle/>
                    <a:p>
                      <a:endParaRPr kumimoji="1" lang="ja-JP" altLang="en-US"/>
                    </a:p>
                  </a:txBody>
                  <a:tcPr/>
                </a:tc>
                <a:tc vMerge="1">
                  <a:txBody>
                    <a:bodyPr/>
                    <a:lstStyle/>
                    <a:p>
                      <a:pPr algn="ctr"/>
                      <a:endParaRPr kumimoji="1" lang="ja-JP" altLang="en-US" sz="900">
                        <a:latin typeface="+mj-ea"/>
                        <a:ea typeface="+mj-ea"/>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rPr>
                        <a:t>鑑定評価</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12</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顧客が保有する</a:t>
                      </a:r>
                      <a:r>
                        <a:rPr kumimoji="1" lang="ja-JP" altLang="en-US" sz="1000" b="1" i="0" u="sng" strike="noStrike" kern="1200" cap="none" spc="0" normalizeH="0" baseline="0" noProof="0" dirty="0">
                          <a:ln>
                            <a:noFill/>
                          </a:ln>
                          <a:solidFill>
                            <a:srgbClr val="000000"/>
                          </a:solidFill>
                          <a:effectLst/>
                          <a:uLnTx/>
                          <a:uFillTx/>
                          <a:latin typeface="+mj-ea"/>
                          <a:ea typeface="+mj-ea"/>
                        </a:rPr>
                        <a:t>不動産の価格を査定</a:t>
                      </a:r>
                      <a:r>
                        <a:rPr kumimoji="1" lang="ja-JP" altLang="en-US" sz="1000" b="0" i="0" u="none" strike="noStrike" kern="1200" cap="none" spc="0" normalizeH="0" baseline="0" noProof="0" dirty="0">
                          <a:ln>
                            <a:noFill/>
                          </a:ln>
                          <a:solidFill>
                            <a:srgbClr val="000000"/>
                          </a:solidFill>
                          <a:effectLst/>
                          <a:uLnTx/>
                          <a:uFillTx/>
                          <a:latin typeface="+mj-ea"/>
                          <a:ea typeface="+mj-ea"/>
                        </a:rPr>
                        <a:t>して鑑定書を発行。</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92120898"/>
                  </a:ext>
                </a:extLst>
              </a:tr>
              <a:tr h="257745">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rowSpan="2">
                  <a:txBody>
                    <a:bodyPr/>
                    <a:lstStyle/>
                    <a:p>
                      <a:pPr algn="ctr"/>
                      <a:r>
                        <a:rPr kumimoji="1" lang="ja-JP" altLang="en-US" sz="1100" dirty="0">
                          <a:solidFill>
                            <a:schemeClr val="tx1"/>
                          </a:solidFill>
                          <a:latin typeface="+mj-ea"/>
                          <a:ea typeface="+mj-ea"/>
                        </a:rPr>
                        <a:t>証券代行</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kumimoji="1" lang="ja-JP" altLang="en-US" sz="1100" dirty="0">
                          <a:latin typeface="+mj-ea"/>
                          <a:ea typeface="+mj-ea"/>
                        </a:rPr>
                        <a:t>株主名簿管理</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13</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株式関連事務の代行。株主名簿作成・</a:t>
                      </a:r>
                      <a:r>
                        <a:rPr kumimoji="1" lang="ja-JP" altLang="en-US" sz="1000" b="1" i="0" u="sng" strike="noStrike" kern="1200" cap="none" spc="0" normalizeH="0" baseline="0" noProof="0" dirty="0">
                          <a:ln>
                            <a:noFill/>
                          </a:ln>
                          <a:solidFill>
                            <a:srgbClr val="000000"/>
                          </a:solidFill>
                          <a:effectLst/>
                          <a:uLnTx/>
                          <a:uFillTx/>
                          <a:latin typeface="+mj-ea"/>
                          <a:ea typeface="+mj-ea"/>
                        </a:rPr>
                        <a:t>招集通知送付</a:t>
                      </a:r>
                      <a:r>
                        <a:rPr kumimoji="1" lang="ja-JP" altLang="en-US" sz="1000" b="0" i="0" u="none" strike="noStrike" kern="1200" cap="none" spc="0" normalizeH="0" baseline="0" noProof="0" dirty="0">
                          <a:ln>
                            <a:noFill/>
                          </a:ln>
                          <a:solidFill>
                            <a:srgbClr val="000000"/>
                          </a:solidFill>
                          <a:effectLst/>
                          <a:uLnTx/>
                          <a:uFillTx/>
                          <a:latin typeface="+mj-ea"/>
                          <a:ea typeface="+mj-ea"/>
                        </a:rPr>
                        <a:t>・配当金支払い等。</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名簿管理手数料</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80002095"/>
                  </a:ext>
                </a:extLst>
              </a:tr>
              <a:tr h="257745">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tc>
                <a:tc>
                  <a:txBody>
                    <a:bodyPr/>
                    <a:lstStyle/>
                    <a:p>
                      <a:pPr algn="ctr"/>
                      <a:r>
                        <a:rPr kumimoji="1" lang="en-US" altLang="ja-JP" sz="1100" dirty="0">
                          <a:latin typeface="+mj-ea"/>
                          <a:ea typeface="+mj-ea"/>
                        </a:rPr>
                        <a:t>SR</a:t>
                      </a:r>
                      <a:r>
                        <a:rPr kumimoji="1" lang="en-US" altLang="ja-JP" sz="1100" baseline="30000" dirty="0">
                          <a:latin typeface="+mj-ea"/>
                          <a:ea typeface="+mj-ea"/>
                        </a:rPr>
                        <a:t>*1</a:t>
                      </a:r>
                      <a:r>
                        <a:rPr kumimoji="1" lang="en-US" altLang="ja-JP" sz="1100" dirty="0">
                          <a:latin typeface="+mj-ea"/>
                          <a:ea typeface="+mj-ea"/>
                        </a:rPr>
                        <a:t>/IR</a:t>
                      </a:r>
                      <a:r>
                        <a:rPr kumimoji="1" lang="en-US" altLang="ja-JP" sz="1100" kern="1200" baseline="30000" dirty="0">
                          <a:solidFill>
                            <a:schemeClr val="tx1"/>
                          </a:solidFill>
                          <a:latin typeface="+mj-ea"/>
                          <a:ea typeface="+mn-ea"/>
                          <a:cs typeface="+mn-cs"/>
                        </a:rPr>
                        <a:t>*2</a:t>
                      </a:r>
                      <a:r>
                        <a:rPr kumimoji="1" lang="ja-JP" altLang="en-US" sz="1100" dirty="0">
                          <a:latin typeface="+mj-ea"/>
                          <a:ea typeface="+mj-ea"/>
                        </a:rPr>
                        <a:t>支援</a:t>
                      </a:r>
                      <a:endParaRPr kumimoji="1" lang="ja-JP" altLang="en-US" sz="1100" dirty="0">
                        <a:solidFill>
                          <a:schemeClr val="bg1">
                            <a:lumMod val="50000"/>
                          </a:schemeClr>
                        </a:solidFill>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14</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投資家・株主対応支援。</a:t>
                      </a:r>
                      <a:r>
                        <a:rPr kumimoji="1" lang="ja-JP" altLang="en-US" sz="1000" b="1" i="0" u="sng" strike="noStrike" kern="1200" cap="none" spc="0" normalizeH="0" baseline="0" noProof="0" dirty="0">
                          <a:ln>
                            <a:noFill/>
                          </a:ln>
                          <a:solidFill>
                            <a:srgbClr val="000000"/>
                          </a:solidFill>
                          <a:effectLst/>
                          <a:uLnTx/>
                          <a:uFillTx/>
                          <a:latin typeface="+mj-ea"/>
                          <a:ea typeface="+mj-ea"/>
                        </a:rPr>
                        <a:t>開示資料作成支援</a:t>
                      </a:r>
                      <a:r>
                        <a:rPr kumimoji="1" lang="ja-JP" altLang="en-US" sz="1000" b="0" i="0" u="none" strike="noStrike" kern="1200" cap="none" spc="0" normalizeH="0" baseline="0" noProof="0" dirty="0">
                          <a:ln>
                            <a:noFill/>
                          </a:ln>
                          <a:solidFill>
                            <a:srgbClr val="000000"/>
                          </a:solidFill>
                          <a:effectLst/>
                          <a:uLnTx/>
                          <a:uFillTx/>
                          <a:latin typeface="+mj-ea"/>
                          <a:ea typeface="+mj-ea"/>
                        </a:rPr>
                        <a:t>、勉強会、海外投資家訪問セッティング等。</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n-ea"/>
                          <a:cs typeface="+mn-cs"/>
                        </a:rPr>
                        <a:t>コンサル手数料</a:t>
                      </a:r>
                      <a:endParaRPr kumimoji="1" lang="ja-JP" altLang="en-US" sz="1000" b="0" i="0" u="none" strike="noStrike" kern="1200" cap="none" spc="0" normalizeH="0" baseline="0" noProof="0" dirty="0">
                        <a:ln>
                          <a:noFill/>
                        </a:ln>
                        <a:solidFill>
                          <a:srgbClr val="000000"/>
                        </a:solidFill>
                        <a:effectLst/>
                        <a:uLnTx/>
                        <a:uFillTx/>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89907378"/>
                  </a:ext>
                </a:extLst>
              </a:tr>
              <a:tr h="257745">
                <a:tc vMerge="1">
                  <a:txBody>
                    <a:bodyPr/>
                    <a:lstStyle/>
                    <a:p>
                      <a:endParaRPr kumimoji="1" lang="ja-JP" altLang="en-US"/>
                    </a:p>
                  </a:txBody>
                  <a:tcPr/>
                </a:tc>
                <a:tc rowSpan="3">
                  <a:txBody>
                    <a:bodyPr/>
                    <a:lstStyle/>
                    <a:p>
                      <a:pPr algn="ctr"/>
                      <a:r>
                        <a:rPr kumimoji="1" lang="ja-JP" altLang="en-US" sz="1100" dirty="0">
                          <a:solidFill>
                            <a:schemeClr val="tx1"/>
                          </a:solidFill>
                          <a:latin typeface="+mj-ea"/>
                          <a:ea typeface="+mj-ea"/>
                        </a:rPr>
                        <a:t>受託</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rPr>
                        <a:t>年金</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15</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cap="none" spc="0" normalizeH="0" baseline="0" noProof="0" dirty="0">
                          <a:ln>
                            <a:noFill/>
                          </a:ln>
                          <a:solidFill>
                            <a:srgbClr val="000000"/>
                          </a:solidFill>
                          <a:effectLst/>
                          <a:uLnTx/>
                          <a:uFillTx/>
                          <a:latin typeface="+mj-ea"/>
                          <a:ea typeface="+mj-ea"/>
                        </a:rPr>
                        <a:t>企業年金資産の運用</a:t>
                      </a:r>
                      <a:r>
                        <a:rPr kumimoji="1" lang="ja-JP" altLang="en-US" sz="1000" b="0" i="0" u="none" strike="noStrike" kern="1200" cap="none" spc="0" normalizeH="0" baseline="0" noProof="0" dirty="0">
                          <a:ln>
                            <a:noFill/>
                          </a:ln>
                          <a:solidFill>
                            <a:srgbClr val="000000"/>
                          </a:solidFill>
                          <a:effectLst/>
                          <a:uLnTx/>
                          <a:uFillTx/>
                          <a:latin typeface="+mj-ea"/>
                          <a:ea typeface="+mj-ea"/>
                        </a:rPr>
                        <a:t>、制度の設計支援。</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n-ea"/>
                          <a:cs typeface="+mn-cs"/>
                        </a:rPr>
                        <a:t>信託報酬</a:t>
                      </a:r>
                      <a:endParaRPr kumimoji="1" lang="ja-JP" altLang="en-US" sz="1000" b="0" i="0" u="none" strike="noStrike" kern="1200" cap="none" spc="0" normalizeH="0" baseline="0" noProof="0" dirty="0">
                        <a:ln>
                          <a:noFill/>
                        </a:ln>
                        <a:solidFill>
                          <a:srgbClr val="000000"/>
                        </a:solidFill>
                        <a:effectLst/>
                        <a:uLnTx/>
                        <a:uFillTx/>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12964088"/>
                  </a:ext>
                </a:extLst>
              </a:tr>
              <a:tr h="257745">
                <a:tc vMerge="1">
                  <a:txBody>
                    <a:bodyPr/>
                    <a:lstStyle/>
                    <a:p>
                      <a:endParaRPr kumimoji="1" lang="ja-JP" altLang="en-US"/>
                    </a:p>
                  </a:txBody>
                  <a:tcPr/>
                </a:tc>
                <a:tc v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rPr>
                        <a:t>運用</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16</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cap="none" spc="0" normalizeH="0" baseline="0" noProof="0" dirty="0">
                          <a:ln>
                            <a:noFill/>
                          </a:ln>
                          <a:solidFill>
                            <a:srgbClr val="000000"/>
                          </a:solidFill>
                          <a:effectLst/>
                          <a:uLnTx/>
                          <a:uFillTx/>
                          <a:latin typeface="+mj-ea"/>
                          <a:ea typeface="+mj-ea"/>
                        </a:rPr>
                        <a:t>余剰資金の運用</a:t>
                      </a:r>
                      <a:r>
                        <a:rPr kumimoji="1" lang="ja-JP" altLang="en-US" sz="1000" b="0" i="0" u="none" strike="noStrike" kern="1200" cap="none" spc="0" normalizeH="0" baseline="0" noProof="0" dirty="0">
                          <a:ln>
                            <a:noFill/>
                          </a:ln>
                          <a:solidFill>
                            <a:srgbClr val="000000"/>
                          </a:solidFill>
                          <a:effectLst/>
                          <a:uLnTx/>
                          <a:uFillTx/>
                          <a:latin typeface="+mj-ea"/>
                          <a:ea typeface="+mj-ea"/>
                        </a:rPr>
                        <a:t>。複数社の資金を合同で運用する場合と一社の資金を単独で運用する場合あり。</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信託報酬</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70265392"/>
                  </a:ext>
                </a:extLst>
              </a:tr>
              <a:tr h="257745">
                <a:tc vMerge="1">
                  <a:txBody>
                    <a:bodyPr/>
                    <a:lstStyle/>
                    <a:p>
                      <a:endParaRPr kumimoji="1" lang="ja-JP" altLang="en-US"/>
                    </a:p>
                  </a:txBody>
                  <a:tcPr>
                    <a:lnT w="6350" cap="flat" cmpd="sng" algn="ctr">
                      <a:solidFill>
                        <a:schemeClr val="bg1">
                          <a:lumMod val="50000"/>
                        </a:schemeClr>
                      </a:solidFill>
                      <a:prstDash val="solid"/>
                      <a:round/>
                      <a:headEnd type="none" w="med" len="med"/>
                      <a:tailEnd type="none" w="med" len="med"/>
                    </a:lnT>
                  </a:tcPr>
                </a:tc>
                <a:tc v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rPr>
                        <a:t>資産管理</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17</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金銭や有価証券等、</a:t>
                      </a:r>
                      <a:r>
                        <a:rPr kumimoji="1" lang="ja-JP" altLang="en-US" sz="1000" b="1" i="0" u="sng" strike="noStrike" kern="1200" cap="none" spc="0" normalizeH="0" baseline="0" noProof="0" dirty="0">
                          <a:ln>
                            <a:noFill/>
                          </a:ln>
                          <a:solidFill>
                            <a:srgbClr val="000000"/>
                          </a:solidFill>
                          <a:effectLst/>
                          <a:uLnTx/>
                          <a:uFillTx/>
                          <a:latin typeface="+mj-ea"/>
                          <a:ea typeface="+mj-ea"/>
                        </a:rPr>
                        <a:t>顧客の資産を管理</a:t>
                      </a:r>
                      <a:r>
                        <a:rPr kumimoji="1" lang="ja-JP" altLang="en-US" sz="1000" b="0" i="0" u="none" strike="noStrike" kern="1200" cap="none" spc="0" normalizeH="0" baseline="0" noProof="0" dirty="0">
                          <a:ln>
                            <a:noFill/>
                          </a:ln>
                          <a:solidFill>
                            <a:srgbClr val="000000"/>
                          </a:solidFill>
                          <a:effectLst/>
                          <a:uLnTx/>
                          <a:uFillTx/>
                          <a:latin typeface="+mj-ea"/>
                          <a:ea typeface="+mj-ea"/>
                        </a:rPr>
                        <a:t>。国内外機関投資家向けのカストディアン業務を含む。</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n-ea"/>
                          <a:cs typeface="+mn-cs"/>
                        </a:rPr>
                        <a:t>信託報酬・手数料</a:t>
                      </a:r>
                      <a:endParaRPr kumimoji="1" lang="ja-JP" altLang="en-US" sz="1000" b="0" i="0" u="none" strike="noStrike" kern="1200" cap="none" spc="0" normalizeH="0" baseline="0" noProof="0" dirty="0">
                        <a:ln>
                          <a:noFill/>
                        </a:ln>
                        <a:solidFill>
                          <a:srgbClr val="000000"/>
                        </a:solidFill>
                        <a:effectLst/>
                        <a:uLnTx/>
                        <a:uFillTx/>
                        <a:latin typeface="+mj-ea"/>
                        <a:ea typeface="+mj-ea"/>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041494925"/>
                  </a:ext>
                </a:extLst>
              </a:tr>
              <a:tr h="257745">
                <a:tc rowSpan="2" gridSpan="2">
                  <a:txBody>
                    <a:bodyPr/>
                    <a:lstStyle/>
                    <a:p>
                      <a:pPr algn="ctr"/>
                      <a:r>
                        <a:rPr kumimoji="1" lang="ja-JP" altLang="en-US" sz="1100" b="0" i="0" u="none" strike="noStrike" kern="1200" cap="none" spc="0" normalizeH="0" baseline="0" noProof="0" dirty="0">
                          <a:ln>
                            <a:noFill/>
                          </a:ln>
                          <a:solidFill>
                            <a:srgbClr val="000000"/>
                          </a:solidFill>
                          <a:effectLst/>
                          <a:uLnTx/>
                          <a:uFillTx/>
                          <a:latin typeface="Meiryo UI"/>
                          <a:ea typeface="+mn-ea"/>
                        </a:rPr>
                        <a:t>市場</a:t>
                      </a:r>
                      <a:endParaRPr kumimoji="1" lang="ja-JP" altLang="en-US" sz="2800" dirty="0"/>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rowSpan="2" hMerge="1">
                  <a:txBody>
                    <a:bodyPr/>
                    <a:lstStyle/>
                    <a:p>
                      <a:pPr algn="ctr"/>
                      <a:endParaRPr kumimoji="1" lang="ja-JP" altLang="en-US"/>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j-ea"/>
                          <a:ea typeface="+mj-ea"/>
                          <a:cs typeface="+mn-cs"/>
                        </a:rPr>
                        <a:t>プロップディーリング</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18</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cap="none" spc="0" normalizeH="0" baseline="0" noProof="0" dirty="0">
                          <a:ln>
                            <a:noFill/>
                          </a:ln>
                          <a:solidFill>
                            <a:srgbClr val="000000"/>
                          </a:solidFill>
                          <a:effectLst/>
                          <a:uLnTx/>
                          <a:uFillTx/>
                          <a:latin typeface="+mj-ea"/>
                          <a:ea typeface="+mj-ea"/>
                        </a:rPr>
                        <a:t>自己勘定</a:t>
                      </a:r>
                      <a:r>
                        <a:rPr kumimoji="1" lang="ja-JP" altLang="en-US" sz="1000" b="0" i="0" u="none" strike="noStrike" kern="1200" cap="none" spc="0" normalizeH="0" baseline="0" noProof="0" dirty="0">
                          <a:ln>
                            <a:noFill/>
                          </a:ln>
                          <a:solidFill>
                            <a:srgbClr val="000000"/>
                          </a:solidFill>
                          <a:effectLst/>
                          <a:uLnTx/>
                          <a:uFillTx/>
                          <a:latin typeface="+mj-ea"/>
                          <a:ea typeface="+mj-ea"/>
                        </a:rPr>
                        <a:t>の運用。</a:t>
                      </a:r>
                      <a:r>
                        <a:rPr kumimoji="1" lang="ja-JP" altLang="en-US" sz="1000" b="0" i="0" u="none" strike="noStrike" kern="1200" cap="none" spc="0" normalizeH="0" baseline="0" noProof="0" dirty="0">
                          <a:ln>
                            <a:noFill/>
                          </a:ln>
                          <a:solidFill>
                            <a:srgbClr val="000000"/>
                          </a:solidFill>
                          <a:effectLst/>
                          <a:uLnTx/>
                          <a:uFillTx/>
                          <a:latin typeface="+mj-ea"/>
                          <a:ea typeface="+mn-ea"/>
                          <a:cs typeface="+mn-cs"/>
                        </a:rPr>
                        <a:t>為替・証券・デリバティブ商品等</a:t>
                      </a:r>
                      <a:r>
                        <a:rPr kumimoji="1" lang="ja-JP" altLang="en-US" sz="1000" b="0" i="0" u="none" strike="noStrike" kern="1200" cap="none" spc="0" normalizeH="0" baseline="0" noProof="0" dirty="0">
                          <a:ln>
                            <a:noFill/>
                          </a:ln>
                          <a:solidFill>
                            <a:srgbClr val="000000"/>
                          </a:solidFill>
                          <a:effectLst/>
                          <a:uLnTx/>
                          <a:uFillTx/>
                          <a:latin typeface="+mj-ea"/>
                          <a:ea typeface="+mj-ea"/>
                        </a:rPr>
                        <a:t>の金融商品を対象とする。</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j-ea"/>
                          <a:ea typeface="+mj-ea"/>
                        </a:rPr>
                        <a:t>運用収益</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11971449"/>
                  </a:ext>
                </a:extLst>
              </a:tr>
              <a:tr h="259200">
                <a:tc gridSpan="2" vMerge="1">
                  <a:txBody>
                    <a:bodyPr/>
                    <a:lstStyle/>
                    <a:p>
                      <a:pPr algn="ctr"/>
                      <a:endParaRPr kumimoji="1" lang="ja-JP" altLang="en-US" sz="1100" dirty="0"/>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vMerge="1">
                  <a:txBody>
                    <a:bodyPr/>
                    <a:lstStyle/>
                    <a:p>
                      <a:endParaRPr kumimoji="1" lang="ja-JP" altLang="en-US"/>
                    </a:p>
                  </a:txBody>
                  <a:tcPr/>
                </a:tc>
                <a:tc>
                  <a:txBody>
                    <a:bodyPr/>
                    <a:lstStyle/>
                    <a:p>
                      <a:pPr algn="ctr"/>
                      <a:r>
                        <a:rPr kumimoji="1" lang="ja-JP" altLang="en-US" sz="1100" b="0" i="0" u="none" strike="noStrike" kern="1200" cap="none" spc="0" normalizeH="0" baseline="0" dirty="0">
                          <a:ln>
                            <a:noFill/>
                          </a:ln>
                          <a:solidFill>
                            <a:srgbClr val="000000"/>
                          </a:solidFill>
                          <a:effectLst/>
                          <a:uLnTx/>
                          <a:uFillTx/>
                          <a:latin typeface="+mj-ea"/>
                          <a:ea typeface="+mj-ea"/>
                          <a:cs typeface="+mn-cs"/>
                        </a:rPr>
                        <a:t>カスタマーディーリング</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fontAlgn="ctr"/>
                      <a:r>
                        <a:rPr lang="en-US" altLang="ja-JP" sz="1050" b="0" i="0" u="none" strike="noStrike" dirty="0">
                          <a:solidFill>
                            <a:srgbClr val="000000"/>
                          </a:solidFill>
                          <a:effectLst/>
                          <a:latin typeface="+mj-ea"/>
                          <a:ea typeface="+mj-ea"/>
                        </a:rPr>
                        <a:t>19</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000" b="1" i="0" u="sng" strike="noStrike" kern="1200" cap="none" spc="0" normalizeH="0" baseline="0" noProof="0" dirty="0">
                          <a:ln>
                            <a:noFill/>
                          </a:ln>
                          <a:solidFill>
                            <a:schemeClr val="tx1"/>
                          </a:solidFill>
                          <a:effectLst/>
                          <a:uLnTx/>
                          <a:uFillTx/>
                          <a:latin typeface="+mj-ea"/>
                          <a:ea typeface="+mj-ea"/>
                        </a:rPr>
                        <a:t>顧客向けの金融商品取引</a:t>
                      </a:r>
                      <a:r>
                        <a:rPr kumimoji="1" lang="ja-JP" altLang="en-US" sz="1000" b="0" i="0" u="none" strike="noStrike" kern="1200" cap="none" spc="0" normalizeH="0" baseline="0" noProof="0" dirty="0">
                          <a:ln>
                            <a:noFill/>
                          </a:ln>
                          <a:solidFill>
                            <a:schemeClr val="tx1"/>
                          </a:solidFill>
                          <a:effectLst/>
                          <a:uLnTx/>
                          <a:uFillTx/>
                          <a:latin typeface="+mj-ea"/>
                          <a:ea typeface="+mj-ea"/>
                        </a:rPr>
                        <a:t>。顧客の需要に応じて為替・資金・デリバティブ商品等を調達する。</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j-ea"/>
                          <a:ea typeface="+mj-ea"/>
                        </a:rPr>
                        <a:t>運用収益</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69474291"/>
                  </a:ext>
                </a:extLst>
              </a:tr>
            </a:tbl>
          </a:graphicData>
        </a:graphic>
      </p:graphicFrame>
      <p:sp>
        <p:nvSpPr>
          <p:cNvPr id="13" name="コンテンツ プレースホルダー 3">
            <a:extLst>
              <a:ext uri="{FF2B5EF4-FFF2-40B4-BE49-F238E27FC236}">
                <a16:creationId xmlns:a16="http://schemas.microsoft.com/office/drawing/2014/main" id="{D2AEF900-B82A-45D8-82A5-D37743B9F3BC}"/>
              </a:ext>
            </a:extLst>
          </p:cNvPr>
          <p:cNvSpPr>
            <a:spLocks noGrp="1"/>
          </p:cNvSpPr>
          <p:nvPr>
            <p:ph idx="1"/>
          </p:nvPr>
        </p:nvSpPr>
        <p:spPr bwMode="gray">
          <a:xfrm>
            <a:off x="127155" y="777700"/>
            <a:ext cx="9648000" cy="540000"/>
          </a:xfrm>
        </p:spPr>
        <p:txBody>
          <a:bodyPr lIns="36000" tIns="36000" rIns="36000" bIns="36000"/>
          <a:lstStyle/>
          <a:p>
            <a:r>
              <a:rPr lang="ja-JP" altLang="en-US" sz="1400" dirty="0"/>
              <a:t>信託銀行の部門は、個人・バンキング・不動産・証券代行・受託・市場の</a:t>
            </a:r>
            <a:r>
              <a:rPr lang="en-US" altLang="ja-JP" sz="1400" dirty="0"/>
              <a:t>6</a:t>
            </a:r>
            <a:r>
              <a:rPr lang="ja-JP" altLang="en-US" sz="1400" dirty="0" err="1"/>
              <a:t>つに</a:t>
            </a:r>
            <a:r>
              <a:rPr lang="ja-JP" altLang="en-US" sz="1400" dirty="0"/>
              <a:t>分類される。各部門の業務内容と収益源は以下の通り。</a:t>
            </a:r>
            <a:endParaRPr lang="en-US" altLang="ja-JP" sz="1400" dirty="0"/>
          </a:p>
        </p:txBody>
      </p:sp>
      <p:sp>
        <p:nvSpPr>
          <p:cNvPr id="8" name="タイトル 1">
            <a:extLst>
              <a:ext uri="{FF2B5EF4-FFF2-40B4-BE49-F238E27FC236}">
                <a16:creationId xmlns:a16="http://schemas.microsoft.com/office/drawing/2014/main" id="{1D4468A0-EEA3-4E34-BF62-5856290B151F}"/>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３</a:t>
            </a:r>
            <a:r>
              <a:rPr lang="en-US" altLang="ja-JP" kern="0" dirty="0">
                <a:latin typeface="Meiryo UI"/>
                <a:ea typeface="Meiryo UI"/>
              </a:rPr>
              <a:t>.</a:t>
            </a:r>
            <a:r>
              <a:rPr lang="ja-JP" altLang="en-US" kern="0" dirty="0">
                <a:latin typeface="Meiryo UI"/>
                <a:ea typeface="Meiryo UI"/>
              </a:rPr>
              <a:t> 業務</a:t>
            </a:r>
            <a:br>
              <a:rPr lang="en-US" altLang="ja-JP" kern="0" dirty="0">
                <a:latin typeface="Meiryo UI" panose="020B0604030504040204" pitchFamily="50" charset="-128"/>
                <a:ea typeface="Meiryo UI" panose="020B0604030504040204" pitchFamily="50" charset="-128"/>
              </a:rPr>
            </a:br>
            <a:r>
              <a:rPr lang="en-US" altLang="ja-JP" kern="0" dirty="0" err="1">
                <a:latin typeface="Meiryo UI" panose="020B0604030504040204" pitchFamily="50" charset="-128"/>
                <a:ea typeface="Meiryo UI" panose="020B0604030504040204" pitchFamily="50" charset="-128"/>
              </a:rPr>
              <a:t>i</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 信託銀行の主要業務</a:t>
            </a:r>
            <a:endParaRPr lang="ja-JP" altLang="en-US" kern="0" dirty="0"/>
          </a:p>
        </p:txBody>
      </p:sp>
      <p:sp>
        <p:nvSpPr>
          <p:cNvPr id="9" name="楕円 8">
            <a:extLst>
              <a:ext uri="{FF2B5EF4-FFF2-40B4-BE49-F238E27FC236}">
                <a16:creationId xmlns:a16="http://schemas.microsoft.com/office/drawing/2014/main" id="{B01B620D-1F36-48F2-9BAB-14FE5371CA8C}"/>
              </a:ext>
            </a:extLst>
          </p:cNvPr>
          <p:cNvSpPr/>
          <p:nvPr/>
        </p:nvSpPr>
        <p:spPr bwMode="gray">
          <a:xfrm>
            <a:off x="630345" y="2165333"/>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1</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楕円 9">
            <a:extLst>
              <a:ext uri="{FF2B5EF4-FFF2-40B4-BE49-F238E27FC236}">
                <a16:creationId xmlns:a16="http://schemas.microsoft.com/office/drawing/2014/main" id="{F446A7B3-5B42-4442-9A52-678E920B41DE}"/>
              </a:ext>
            </a:extLst>
          </p:cNvPr>
          <p:cNvSpPr/>
          <p:nvPr/>
        </p:nvSpPr>
        <p:spPr bwMode="gray">
          <a:xfrm>
            <a:off x="798063" y="4094436"/>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3</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楕円 10">
            <a:extLst>
              <a:ext uri="{FF2B5EF4-FFF2-40B4-BE49-F238E27FC236}">
                <a16:creationId xmlns:a16="http://schemas.microsoft.com/office/drawing/2014/main" id="{A9E9C2BD-8FAE-4E3A-90D5-6B0DDA4FE79B}"/>
              </a:ext>
            </a:extLst>
          </p:cNvPr>
          <p:cNvSpPr/>
          <p:nvPr/>
        </p:nvSpPr>
        <p:spPr bwMode="gray">
          <a:xfrm>
            <a:off x="798063" y="3330239"/>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2</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楕円 11">
            <a:extLst>
              <a:ext uri="{FF2B5EF4-FFF2-40B4-BE49-F238E27FC236}">
                <a16:creationId xmlns:a16="http://schemas.microsoft.com/office/drawing/2014/main" id="{72942620-C410-48C7-8E25-F10453A8F48F}"/>
              </a:ext>
            </a:extLst>
          </p:cNvPr>
          <p:cNvSpPr/>
          <p:nvPr/>
        </p:nvSpPr>
        <p:spPr bwMode="gray">
          <a:xfrm>
            <a:off x="811711" y="5364083"/>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5</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楕円 13">
            <a:extLst>
              <a:ext uri="{FF2B5EF4-FFF2-40B4-BE49-F238E27FC236}">
                <a16:creationId xmlns:a16="http://schemas.microsoft.com/office/drawing/2014/main" id="{BF5191BA-7B46-4CFC-8031-12790D3B5C47}"/>
              </a:ext>
            </a:extLst>
          </p:cNvPr>
          <p:cNvSpPr/>
          <p:nvPr/>
        </p:nvSpPr>
        <p:spPr bwMode="gray">
          <a:xfrm>
            <a:off x="630345" y="6027723"/>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6</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楕円 14">
            <a:extLst>
              <a:ext uri="{FF2B5EF4-FFF2-40B4-BE49-F238E27FC236}">
                <a16:creationId xmlns:a16="http://schemas.microsoft.com/office/drawing/2014/main" id="{E9952D1F-35C4-489D-AA4A-77906DD110C8}"/>
              </a:ext>
            </a:extLst>
          </p:cNvPr>
          <p:cNvSpPr/>
          <p:nvPr/>
        </p:nvSpPr>
        <p:spPr bwMode="gray">
          <a:xfrm>
            <a:off x="804372" y="4725150"/>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4</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テキスト ボックス 15">
            <a:extLst>
              <a:ext uri="{FF2B5EF4-FFF2-40B4-BE49-F238E27FC236}">
                <a16:creationId xmlns:a16="http://schemas.microsoft.com/office/drawing/2014/main" id="{F097FB7D-0B22-406E-913C-ABDCA6DBF3EF}"/>
              </a:ext>
            </a:extLst>
          </p:cNvPr>
          <p:cNvSpPr txBox="1"/>
          <p:nvPr/>
        </p:nvSpPr>
        <p:spPr bwMode="gray">
          <a:xfrm>
            <a:off x="3789064" y="6465535"/>
            <a:ext cx="6191257" cy="25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36000" rtlCol="0" anchor="t">
            <a:spAutoFit/>
          </a:bodyPr>
          <a:lstStyle/>
          <a:p>
            <a:pPr marL="0" indent="0" algn="l">
              <a:spcBef>
                <a:spcPts val="0"/>
              </a:spcBef>
              <a:buClrTx/>
              <a:buFont typeface="Wingdings" pitchFamily="2" charset="2"/>
              <a:buNone/>
            </a:pPr>
            <a:r>
              <a:rPr lang="en-US" altLang="ja-JP" sz="700" dirty="0">
                <a:latin typeface="+mn-ea"/>
                <a:ea typeface="+mn-ea"/>
              </a:rPr>
              <a:t>*1</a:t>
            </a:r>
            <a:r>
              <a:rPr lang="ja-JP" altLang="en-US" sz="700" dirty="0">
                <a:latin typeface="+mn-ea"/>
                <a:ea typeface="+mn-ea"/>
              </a:rPr>
              <a:t> </a:t>
            </a:r>
            <a:r>
              <a:rPr lang="en-US" altLang="ja-JP" sz="700" dirty="0">
                <a:latin typeface="+mn-ea"/>
                <a:ea typeface="+mn-ea"/>
              </a:rPr>
              <a:t>Shareholder Relations…</a:t>
            </a:r>
            <a:r>
              <a:rPr lang="ja-JP" altLang="en-US" sz="700" dirty="0">
                <a:latin typeface="+mn-ea"/>
                <a:ea typeface="+mn-ea"/>
              </a:rPr>
              <a:t>株主対応。すでに自社の株を持っている株主に対し、引き続き保有してもらえるように働きかける活動を指す。</a:t>
            </a:r>
            <a:endParaRPr lang="en-US" altLang="ja-JP" sz="700" dirty="0">
              <a:latin typeface="+mn-ea"/>
              <a:ea typeface="+mn-ea"/>
            </a:endParaRPr>
          </a:p>
          <a:p>
            <a:pPr marL="0" indent="0" algn="l">
              <a:spcBef>
                <a:spcPts val="0"/>
              </a:spcBef>
              <a:buClrTx/>
              <a:buFont typeface="Wingdings" pitchFamily="2" charset="2"/>
              <a:buNone/>
            </a:pPr>
            <a:r>
              <a:rPr lang="en-US" altLang="ja-JP" sz="700" dirty="0">
                <a:latin typeface="+mn-ea"/>
                <a:ea typeface="+mn-ea"/>
              </a:rPr>
              <a:t>*2 Investor Relations…</a:t>
            </a:r>
            <a:r>
              <a:rPr lang="ja-JP" altLang="en-US" sz="700" dirty="0">
                <a:latin typeface="+mn-ea"/>
                <a:ea typeface="+mn-ea"/>
              </a:rPr>
              <a:t>投資家対応。まだ自社の株を持っていない投資家に対し、将来的に株式を購入してもらえるように働きかける活動を指す。</a:t>
            </a:r>
            <a:endParaRPr lang="en-US" altLang="ja-JP" sz="700" dirty="0">
              <a:latin typeface="+mn-ea"/>
              <a:ea typeface="+mn-ea"/>
            </a:endParaRPr>
          </a:p>
        </p:txBody>
      </p:sp>
    </p:spTree>
    <p:extLst>
      <p:ext uri="{BB962C8B-B14F-4D97-AF65-F5344CB8AC3E}">
        <p14:creationId xmlns:p14="http://schemas.microsoft.com/office/powerpoint/2010/main" val="104444473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オブジェクト 6"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正方形/長方形 5" hidden="1"/>
          <p:cNvSpPr/>
          <p:nvPr>
            <p:custDataLst>
              <p:tags r:id="rId2"/>
            </p:custDataLst>
          </p:nvPr>
        </p:nvSpPr>
        <p:spPr bwMode="auto">
          <a:xfrm>
            <a:off x="0" y="0"/>
            <a:ext cx="158750" cy="15875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0" tIns="0" rIns="0" bIns="0" numCol="1" spcCol="0" rtlCol="0" anchor="ctr" anchorCtr="0" compatLnSpc="1">
            <a:prstTxWarp prst="textNoShape">
              <a:avLst/>
            </a:prstTxWarp>
            <a:noAutofit/>
          </a:bodyPr>
          <a:lstStyle/>
          <a:p>
            <a:pPr>
              <a:lnSpc>
                <a:spcPct val="90000"/>
              </a:lnSpc>
              <a:spcBef>
                <a:spcPct val="0"/>
              </a:spcBef>
            </a:pPr>
            <a:endParaRPr kumimoji="0" lang="ja-JP" altLang="en-US" sz="1100" u="none" strike="noStrike" cap="none" normalizeH="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endParaRPr>
          </a:p>
        </p:txBody>
      </p:sp>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9</a:t>
            </a:fld>
            <a:endParaRPr lang="ja-JP" altLang="en-US"/>
          </a:p>
        </p:txBody>
      </p:sp>
      <p:sp>
        <p:nvSpPr>
          <p:cNvPr id="4" name="コンテンツ プレースホルダー 3"/>
          <p:cNvSpPr>
            <a:spLocks noGrp="1"/>
          </p:cNvSpPr>
          <p:nvPr>
            <p:ph idx="1"/>
          </p:nvPr>
        </p:nvSpPr>
        <p:spPr bwMode="gray">
          <a:xfrm>
            <a:off x="127155" y="777700"/>
            <a:ext cx="9648000" cy="540000"/>
          </a:xfrm>
        </p:spPr>
        <p:txBody>
          <a:bodyPr lIns="36000" tIns="36000" rIns="36000" bIns="36000"/>
          <a:lstStyle/>
          <a:p>
            <a:r>
              <a:rPr lang="en-US" altLang="ja-JP" sz="1400" dirty="0"/>
              <a:t>SMTB</a:t>
            </a:r>
            <a:r>
              <a:rPr lang="ja-JP" altLang="en-US" sz="1400" dirty="0"/>
              <a:t>はフルパッケージ。</a:t>
            </a:r>
            <a:r>
              <a:rPr lang="en-US" altLang="ja-JP" sz="1400" dirty="0"/>
              <a:t>MUTB</a:t>
            </a:r>
            <a:r>
              <a:rPr lang="ja-JP" altLang="en-US" sz="1400" dirty="0"/>
              <a:t>・みずほは、グループ内重複回避のためファイナンス業務は消極。みずほはさらに</a:t>
            </a:r>
            <a:r>
              <a:rPr lang="en-US" altLang="ja-JP" sz="1400" dirty="0"/>
              <a:t>SR/IR</a:t>
            </a:r>
            <a:r>
              <a:rPr lang="ja-JP" altLang="en-US" sz="1400" dirty="0"/>
              <a:t>支援も取組なし。</a:t>
            </a:r>
            <a:endParaRPr lang="en-US" altLang="ja-JP" sz="1400" dirty="0"/>
          </a:p>
          <a:p>
            <a:r>
              <a:rPr lang="ja-JP" altLang="en-US" sz="1400" dirty="0"/>
              <a:t>りそなは証券代行業務と不動産業務の一部に取組なし。うち不動産業務については、参入により収益機会拡大の余地があると考える。</a:t>
            </a:r>
            <a:endParaRPr lang="en-US" altLang="ja-JP" sz="1400" dirty="0"/>
          </a:p>
          <a:p>
            <a:r>
              <a:rPr lang="en-US" altLang="ja-JP" sz="1400" dirty="0"/>
              <a:t>SMBC</a:t>
            </a:r>
            <a:r>
              <a:rPr lang="ja-JP" altLang="en-US" sz="1400" dirty="0"/>
              <a:t>信託は個人向け中心も、一部の不動産・受託業務は法人に展開。野村はグループ会社に配慮して取り組まないサービスあり。</a:t>
            </a:r>
            <a:endParaRPr lang="en-US" altLang="ja-JP" sz="1400" dirty="0"/>
          </a:p>
        </p:txBody>
      </p:sp>
      <p:graphicFrame>
        <p:nvGraphicFramePr>
          <p:cNvPr id="26" name="表 25">
            <a:extLst>
              <a:ext uri="{FF2B5EF4-FFF2-40B4-BE49-F238E27FC236}">
                <a16:creationId xmlns:a16="http://schemas.microsoft.com/office/drawing/2014/main" id="{F47E70F9-5DE3-4BB7-8B26-7C2459D21220}"/>
              </a:ext>
            </a:extLst>
          </p:cNvPr>
          <p:cNvGraphicFramePr>
            <a:graphicFrameLocks noGrp="1"/>
          </p:cNvGraphicFramePr>
          <p:nvPr>
            <p:extLst>
              <p:ext uri="{D42A27DB-BD31-4B8C-83A1-F6EECF244321}">
                <p14:modId xmlns:p14="http://schemas.microsoft.com/office/powerpoint/2010/main" val="3939756988"/>
              </p:ext>
            </p:extLst>
          </p:nvPr>
        </p:nvGraphicFramePr>
        <p:xfrm>
          <a:off x="197959" y="1753045"/>
          <a:ext cx="4581774" cy="4753015"/>
        </p:xfrm>
        <a:graphic>
          <a:graphicData uri="http://schemas.openxmlformats.org/drawingml/2006/table">
            <a:tbl>
              <a:tblPr>
                <a:tableStyleId>{5C22544A-7EE6-4342-B048-85BDC9FD1C3A}</a:tableStyleId>
              </a:tblPr>
              <a:tblGrid>
                <a:gridCol w="479663">
                  <a:extLst>
                    <a:ext uri="{9D8B030D-6E8A-4147-A177-3AD203B41FA5}">
                      <a16:colId xmlns:a16="http://schemas.microsoft.com/office/drawing/2014/main" val="4156090854"/>
                    </a:ext>
                  </a:extLst>
                </a:gridCol>
                <a:gridCol w="685967">
                  <a:extLst>
                    <a:ext uri="{9D8B030D-6E8A-4147-A177-3AD203B41FA5}">
                      <a16:colId xmlns:a16="http://schemas.microsoft.com/office/drawing/2014/main" val="775493869"/>
                    </a:ext>
                  </a:extLst>
                </a:gridCol>
                <a:gridCol w="1055334">
                  <a:extLst>
                    <a:ext uri="{9D8B030D-6E8A-4147-A177-3AD203B41FA5}">
                      <a16:colId xmlns:a16="http://schemas.microsoft.com/office/drawing/2014/main" val="201801165"/>
                    </a:ext>
                  </a:extLst>
                </a:gridCol>
                <a:gridCol w="342983">
                  <a:extLst>
                    <a:ext uri="{9D8B030D-6E8A-4147-A177-3AD203B41FA5}">
                      <a16:colId xmlns:a16="http://schemas.microsoft.com/office/drawing/2014/main" val="197369805"/>
                    </a:ext>
                  </a:extLst>
                </a:gridCol>
                <a:gridCol w="224203">
                  <a:extLst>
                    <a:ext uri="{9D8B030D-6E8A-4147-A177-3AD203B41FA5}">
                      <a16:colId xmlns:a16="http://schemas.microsoft.com/office/drawing/2014/main" val="1962082527"/>
                    </a:ext>
                  </a:extLst>
                </a:gridCol>
                <a:gridCol w="224203">
                  <a:extLst>
                    <a:ext uri="{9D8B030D-6E8A-4147-A177-3AD203B41FA5}">
                      <a16:colId xmlns:a16="http://schemas.microsoft.com/office/drawing/2014/main" val="3435552275"/>
                    </a:ext>
                  </a:extLst>
                </a:gridCol>
                <a:gridCol w="224203">
                  <a:extLst>
                    <a:ext uri="{9D8B030D-6E8A-4147-A177-3AD203B41FA5}">
                      <a16:colId xmlns:a16="http://schemas.microsoft.com/office/drawing/2014/main" val="732581732"/>
                    </a:ext>
                  </a:extLst>
                </a:gridCol>
                <a:gridCol w="224203">
                  <a:extLst>
                    <a:ext uri="{9D8B030D-6E8A-4147-A177-3AD203B41FA5}">
                      <a16:colId xmlns:a16="http://schemas.microsoft.com/office/drawing/2014/main" val="2229345835"/>
                    </a:ext>
                  </a:extLst>
                </a:gridCol>
                <a:gridCol w="224203">
                  <a:extLst>
                    <a:ext uri="{9D8B030D-6E8A-4147-A177-3AD203B41FA5}">
                      <a16:colId xmlns:a16="http://schemas.microsoft.com/office/drawing/2014/main" val="1750774019"/>
                    </a:ext>
                  </a:extLst>
                </a:gridCol>
                <a:gridCol w="224203">
                  <a:extLst>
                    <a:ext uri="{9D8B030D-6E8A-4147-A177-3AD203B41FA5}">
                      <a16:colId xmlns:a16="http://schemas.microsoft.com/office/drawing/2014/main" val="589180744"/>
                    </a:ext>
                  </a:extLst>
                </a:gridCol>
                <a:gridCol w="224203">
                  <a:extLst>
                    <a:ext uri="{9D8B030D-6E8A-4147-A177-3AD203B41FA5}">
                      <a16:colId xmlns:a16="http://schemas.microsoft.com/office/drawing/2014/main" val="838373988"/>
                    </a:ext>
                  </a:extLst>
                </a:gridCol>
                <a:gridCol w="224203">
                  <a:extLst>
                    <a:ext uri="{9D8B030D-6E8A-4147-A177-3AD203B41FA5}">
                      <a16:colId xmlns:a16="http://schemas.microsoft.com/office/drawing/2014/main" val="3754984480"/>
                    </a:ext>
                  </a:extLst>
                </a:gridCol>
                <a:gridCol w="224203">
                  <a:extLst>
                    <a:ext uri="{9D8B030D-6E8A-4147-A177-3AD203B41FA5}">
                      <a16:colId xmlns:a16="http://schemas.microsoft.com/office/drawing/2014/main" val="2450401301"/>
                    </a:ext>
                  </a:extLst>
                </a:gridCol>
              </a:tblGrid>
              <a:tr h="168204">
                <a:tc rowSpan="2" gridSpan="4">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業務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ap="flat" cmpd="sng" algn="ctr">
                      <a:noFill/>
                      <a:prstDash val="solid"/>
                      <a:round/>
                      <a:headEnd type="none" w="med" len="med"/>
                      <a:tailEnd type="none" w="med" len="med"/>
                    </a:lnTlToBr>
                    <a:solidFill>
                      <a:srgbClr val="B4C6E7"/>
                    </a:solidFill>
                  </a:tcPr>
                </a:tc>
                <a:tc rowSpan="2" hMerge="1">
                  <a:txBody>
                    <a:bodyPr/>
                    <a:lstStyle/>
                    <a:p>
                      <a:endParaRPr kumimoji="1" lang="ja-JP" altLang="en-US"/>
                    </a:p>
                  </a:txBody>
                  <a:tcPr/>
                </a:tc>
                <a:tc rowSpan="2" hMerge="1">
                  <a:txBody>
                    <a:bodyPr/>
                    <a:lstStyle/>
                    <a:p>
                      <a:endParaRPr kumimoji="1" lang="ja-JP" altLang="en-US"/>
                    </a:p>
                  </a:txBody>
                  <a:tcPr>
                    <a:lnL w="9525" cap="flat" cmpd="sng" algn="ctr">
                      <a:solidFill>
                        <a:schemeClr val="bg1">
                          <a:lumMod val="50000"/>
                        </a:schemeClr>
                      </a:solidFill>
                      <a:prstDash val="solid"/>
                      <a:round/>
                      <a:headEnd type="none" w="med" len="med"/>
                      <a:tailEnd type="none" w="med" len="med"/>
                    </a:lnL>
                  </a:tcPr>
                </a:tc>
                <a:tc rowSpan="2" hMerge="1">
                  <a:txBody>
                    <a:bodyPr/>
                    <a:lstStyle/>
                    <a:p>
                      <a:endParaRPr kumimoji="1" lang="ja-JP" altLang="en-US"/>
                    </a:p>
                  </a:txBody>
                  <a:tcPr/>
                </a:tc>
                <a:tc gridSpan="6">
                  <a:txBody>
                    <a:bodyPr/>
                    <a:lstStyle/>
                    <a:p>
                      <a:pPr algn="ctr"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信託銀行</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hMerge="1">
                  <a:txBody>
                    <a:bodyPr/>
                    <a:lstStyle/>
                    <a:p>
                      <a:pPr algn="ctr" fontAlgn="ct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hMerge="1">
                  <a:txBody>
                    <a:bodyPr/>
                    <a:lstStyle/>
                    <a:p>
                      <a:pPr algn="ctr" fontAlgn="ct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hMerge="1">
                  <a:txBody>
                    <a:bodyPr/>
                    <a:lstStyle/>
                    <a:p>
                      <a:pPr algn="ctr" fontAlgn="ct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hMerge="1">
                  <a:txBody>
                    <a:bodyPr/>
                    <a:lstStyle/>
                    <a:p>
                      <a:pPr algn="ctr" fontAlgn="ct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hMerge="1">
                  <a:txBody>
                    <a:bodyPr/>
                    <a:lstStyle/>
                    <a:p>
                      <a:pPr algn="ctr" fontAlgn="ct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gridSpan="3">
                  <a:txBody>
                    <a:bodyPr/>
                    <a:lstStyle/>
                    <a:p>
                      <a:pPr algn="ctr" fontAlgn="ctr"/>
                      <a:r>
                        <a:rPr lang="ja-JP" altLang="en-US" sz="900" b="0" i="0" u="none" strike="noStrike">
                          <a:solidFill>
                            <a:schemeClr val="tx1"/>
                          </a:solidFill>
                          <a:effectLst/>
                          <a:latin typeface="Meiryo UI" panose="020B0604030504040204" pitchFamily="50" charset="-128"/>
                          <a:ea typeface="Meiryo UI" panose="020B0604030504040204" pitchFamily="50" charset="-128"/>
                        </a:rPr>
                        <a:t>資産管理</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p>
                      <a:pPr algn="ctr" fontAlgn="ctr"/>
                      <a:r>
                        <a:rPr lang="ja-JP" altLang="en-US" sz="900" b="0" i="0" u="none" strike="noStrike">
                          <a:solidFill>
                            <a:schemeClr val="tx1"/>
                          </a:solidFill>
                          <a:effectLst/>
                          <a:latin typeface="Meiryo UI" panose="020B0604030504040204" pitchFamily="50" charset="-128"/>
                          <a:ea typeface="Meiryo UI" panose="020B0604030504040204" pitchFamily="50" charset="-128"/>
                        </a:rPr>
                        <a:t>銀行</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hMerge="1">
                  <a:txBody>
                    <a:bodyPr/>
                    <a:lstStyle/>
                    <a:p>
                      <a:pPr algn="ctr" fontAlgn="ct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hMerge="1">
                  <a:txBody>
                    <a:bodyPr/>
                    <a:lstStyle/>
                    <a:p>
                      <a:pPr algn="ctr" fontAlgn="ct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extLst>
                  <a:ext uri="{0D108BD9-81ED-4DB2-BD59-A6C34878D82A}">
                    <a16:rowId xmlns:a16="http://schemas.microsoft.com/office/drawing/2014/main" val="3525880754"/>
                  </a:ext>
                </a:extLst>
              </a:tr>
              <a:tr h="432655">
                <a:tc gridSpan="4" v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ap="flat" cmpd="sng" algn="ctr">
                      <a:noFill/>
                      <a:prstDash val="solid"/>
                      <a:round/>
                      <a:headEnd type="none" w="med" len="med"/>
                      <a:tailEnd type="none" w="med" len="med"/>
                    </a:lnTlToBr>
                    <a:solidFill>
                      <a:srgbClr val="99CCFF"/>
                    </a:solidFill>
                  </a:tcPr>
                </a:tc>
                <a:tc hMerge="1" v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ap="flat" cmpd="sng" algn="ctr">
                      <a:noFill/>
                      <a:prstDash val="solid"/>
                      <a:round/>
                      <a:headEnd type="none" w="med" len="med"/>
                      <a:tailEnd type="none" w="med" len="med"/>
                    </a:lnTlToBr>
                    <a:solidFill>
                      <a:srgbClr val="99CCFF"/>
                    </a:solidFill>
                  </a:tcPr>
                </a:tc>
                <a:tc hMerge="1" vMerge="1">
                  <a:txBody>
                    <a:body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ap="flat" cmpd="sng" algn="ctr">
                      <a:noFill/>
                      <a:prstDash val="solid"/>
                      <a:round/>
                      <a:headEnd type="none" w="med" len="med"/>
                      <a:tailEnd type="none" w="med" len="med"/>
                    </a:lnTlToBr>
                    <a:solidFill>
                      <a:srgbClr val="99CCFF"/>
                    </a:solidFill>
                  </a:tcPr>
                </a:tc>
                <a:tc hMerge="1" vMerge="1">
                  <a:txBody>
                    <a:bodyPr/>
                    <a:lstStyle/>
                    <a:p>
                      <a:pPr algn="ctr" fontAlgn="ct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99C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SMTB</a:t>
                      </a: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MUTB</a:t>
                      </a: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りそな</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みずほ</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SMBC</a:t>
                      </a: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kumimoji="1" lang="ja-JP" altLang="en-US"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野村</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JTSB</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TCSB</a:t>
                      </a: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MTBJ</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vert="eaVert"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B4C6E7"/>
                    </a:solidFill>
                  </a:tcPr>
                </a:tc>
                <a:extLst>
                  <a:ext uri="{0D108BD9-81ED-4DB2-BD59-A6C34878D82A}">
                    <a16:rowId xmlns:a16="http://schemas.microsoft.com/office/drawing/2014/main" val="1027245765"/>
                  </a:ext>
                </a:extLst>
              </a:tr>
              <a:tr h="176238">
                <a:tc rowSpan="6" gridSpan="2">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個人</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6" h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預金</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ja-JP" sz="900" b="0" i="0" u="none" strike="noStrike" dirty="0">
                          <a:solidFill>
                            <a:srgbClr val="000000"/>
                          </a:solidFill>
                          <a:effectLst/>
                          <a:latin typeface="+mj-ea"/>
                          <a:ea typeface="+mj-ea"/>
                        </a:rPr>
                        <a:t>1</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43117311"/>
                  </a:ext>
                </a:extLst>
              </a:tr>
              <a:tr h="176238">
                <a:tc gridSpan="2" vMerge="1">
                  <a:txBody>
                    <a:bodyPr/>
                    <a:lstStyle/>
                    <a:p>
                      <a:endParaRPr kumimoji="1" lang="ja-JP" altLang="en-US"/>
                    </a:p>
                  </a:txBody>
                  <a:tcPr/>
                </a:tc>
                <a:tc hMerge="1"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決済</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2</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n-ea"/>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32695987"/>
                  </a:ext>
                </a:extLst>
              </a:tr>
              <a:tr h="176238">
                <a:tc gridSpan="2" vMerge="1">
                  <a:txBody>
                    <a:bodyPr/>
                    <a:lstStyle/>
                    <a:p>
                      <a:endParaRPr kumimoji="1" lang="ja-JP" altLang="en-US"/>
                    </a:p>
                  </a:txBody>
                  <a:tcPr/>
                </a:tc>
                <a:tc hMerge="1"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ファイナンス</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3</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n-ea"/>
                        </a:rPr>
                        <a:t>○</a:t>
                      </a:r>
                      <a:endParaRPr kumimoji="1" lang="en-US" altLang="ja-JP" sz="900" b="0" i="0" u="none" strike="noStrike" kern="1200" cap="none" spc="0" normalizeH="0" baseline="0" noProof="0" dirty="0">
                        <a:ln>
                          <a:noFill/>
                        </a:ln>
                        <a:solidFill>
                          <a:srgbClr val="000000"/>
                        </a:solidFill>
                        <a:effectLst/>
                        <a:uLnTx/>
                        <a:uFillTx/>
                        <a:latin typeface="Meiryo UI"/>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n-ea"/>
                        </a:rPr>
                        <a:t>○</a:t>
                      </a:r>
                      <a:endParaRPr kumimoji="1" lang="en-US" altLang="ja-JP" sz="900" b="0" i="0" u="none" strike="noStrike" kern="1200" cap="none" spc="0" normalizeH="0" baseline="0" noProof="0" dirty="0">
                        <a:ln>
                          <a:noFill/>
                        </a:ln>
                        <a:solidFill>
                          <a:srgbClr val="000000"/>
                        </a:solidFill>
                        <a:effectLst/>
                        <a:uLnTx/>
                        <a:uFillTx/>
                        <a:latin typeface="Meiryo UI"/>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n-ea"/>
                        </a:rPr>
                        <a:t>○</a:t>
                      </a:r>
                      <a:endParaRPr kumimoji="1" lang="en-US" altLang="ja-JP" sz="900" b="0" i="0" u="none" strike="noStrike" kern="1200" cap="none" spc="0" normalizeH="0" baseline="0" noProof="0">
                        <a:ln>
                          <a:noFill/>
                        </a:ln>
                        <a:solidFill>
                          <a:srgbClr val="000000"/>
                        </a:solidFill>
                        <a:effectLst/>
                        <a:uLnTx/>
                        <a:uFillTx/>
                        <a:latin typeface="Meiryo UI"/>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n-ea"/>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87725178"/>
                  </a:ext>
                </a:extLst>
              </a:tr>
              <a:tr h="176238">
                <a:tc gridSpan="2" vMerge="1">
                  <a:txBody>
                    <a:bodyPr/>
                    <a:lstStyle/>
                    <a:p>
                      <a:endParaRPr kumimoji="1" lang="ja-JP" altLang="en-US"/>
                    </a:p>
                  </a:txBody>
                  <a:tcPr/>
                </a:tc>
                <a:tc hMerge="1" vMerge="1">
                  <a:txBody>
                    <a:bodyPr/>
                    <a:lstStyle/>
                    <a:p>
                      <a:pPr algn="l" fontAlgn="ct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zh-TW" altLang="en-US" sz="900" b="0" i="0" u="none" strike="noStrike" dirty="0">
                          <a:solidFill>
                            <a:srgbClr val="000000"/>
                          </a:solidFill>
                          <a:effectLst/>
                          <a:latin typeface="Meiryo UI" panose="020B0604030504040204" pitchFamily="50" charset="-128"/>
                          <a:ea typeface="Meiryo UI" panose="020B0604030504040204" pitchFamily="50" charset="-128"/>
                        </a:rPr>
                        <a:t>運用商品販売</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4</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56213279"/>
                  </a:ext>
                </a:extLst>
              </a:tr>
              <a:tr h="176238">
                <a:tc gridSpan="2" vMerge="1">
                  <a:txBody>
                    <a:bodyPr/>
                    <a:lstStyle/>
                    <a:p>
                      <a:endParaRPr kumimoji="1" lang="ja-JP" altLang="en-US"/>
                    </a:p>
                  </a:txBody>
                  <a:tcPr/>
                </a:tc>
                <a:tc hMerge="1"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資産管理</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5</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rPr>
                        <a:t>▲</a:t>
                      </a:r>
                      <a:endParaRPr kumimoji="1" lang="en-US" altLang="ja-JP" sz="900" b="0" i="0" u="none" strike="noStrike" kern="1200" cap="none" spc="0" normalizeH="0" baseline="0" noProof="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40117641"/>
                  </a:ext>
                </a:extLst>
              </a:tr>
              <a:tr h="176238">
                <a:tc gridSpan="2" vMerge="1">
                  <a:txBody>
                    <a:bodyPr/>
                    <a:lstStyle/>
                    <a:p>
                      <a:endParaRPr kumimoji="1" lang="ja-JP" altLang="en-US"/>
                    </a:p>
                  </a:txBody>
                  <a:tcPr/>
                </a:tc>
                <a:tc hMerge="1"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不動産</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6</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n-ea"/>
                        </a:rPr>
                        <a:t>○</a:t>
                      </a:r>
                      <a:endParaRPr kumimoji="1" lang="en-US" altLang="ja-JP" sz="900" b="0" i="0" u="none" strike="noStrike" kern="1200" cap="none" spc="0" normalizeH="0" baseline="0" noProof="0" dirty="0">
                        <a:ln>
                          <a:noFill/>
                        </a:ln>
                        <a:solidFill>
                          <a:srgbClr val="000000"/>
                        </a:solidFill>
                        <a:effectLst/>
                        <a:uLnTx/>
                        <a:uFillTx/>
                        <a:latin typeface="Meiryo UI"/>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02471728"/>
                  </a:ext>
                </a:extLst>
              </a:tr>
              <a:tr h="176238">
                <a:tc rowSpan="11">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法人</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3">
                  <a:txBody>
                    <a:bodyPr/>
                    <a:lstStyle/>
                    <a:p>
                      <a:pPr algn="ctr"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バンキング</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預金</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algn="ctr" defTabSz="914400" rtl="0" eaLnBrk="1" fontAlgn="ctr" latinLnBrk="0" hangingPunct="1"/>
                      <a:r>
                        <a:rPr kumimoji="1" lang="ja-JP" altLang="en-US" sz="900" u="none" strike="noStrike" kern="1200">
                          <a:solidFill>
                            <a:schemeClr val="dk1"/>
                          </a:solidFill>
                          <a:effectLst/>
                          <a:latin typeface="+mj-ea"/>
                          <a:ea typeface="+mn-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116273"/>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決済</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n-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63738459"/>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ファイナンス</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9</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u="none" strike="noStrike" kern="1200">
                          <a:solidFill>
                            <a:schemeClr val="dk1"/>
                          </a:solidFill>
                          <a:effectLst/>
                          <a:latin typeface="+mj-ea"/>
                          <a:ea typeface="+mj-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a:solidFill>
                            <a:schemeClr val="dk1"/>
                          </a:solidFill>
                          <a:effectLst/>
                          <a:latin typeface="+mj-ea"/>
                          <a:ea typeface="+mj-ea"/>
                          <a:cs typeface="+mn-cs"/>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algn="ctr" defTabSz="914400" rtl="0" eaLnBrk="1" fontAlgn="ctr" latinLnBrk="0" hangingPunct="1"/>
                      <a:r>
                        <a:rPr kumimoji="1" lang="ja-JP" altLang="en-US" sz="900" u="none" strike="noStrike" kern="1200" dirty="0">
                          <a:solidFill>
                            <a:schemeClr val="dk1"/>
                          </a:solidFill>
                          <a:effectLst/>
                          <a:latin typeface="+mj-ea"/>
                          <a:ea typeface="+mj-ea"/>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n-ea"/>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24447609"/>
                  </a:ext>
                </a:extLst>
              </a:tr>
              <a:tr h="176238">
                <a:tc vMerge="1">
                  <a:txBody>
                    <a:bodyPr/>
                    <a:lstStyle/>
                    <a:p>
                      <a:endParaRPr kumimoji="1" lang="ja-JP" altLang="en-US"/>
                    </a:p>
                  </a:txBody>
                  <a:tcPr/>
                </a:tc>
                <a:tc rowSpan="3">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不動産</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売買仲介</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10</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44462385"/>
                  </a:ext>
                </a:extLst>
              </a:tr>
              <a:tr h="176238">
                <a:tc vMerge="1">
                  <a:txBody>
                    <a:bodyPr/>
                    <a:lstStyle/>
                    <a:p>
                      <a:endParaRPr kumimoji="1" lang="ja-JP" altLang="en-US"/>
                    </a:p>
                  </a:txBody>
                  <a:tcPr/>
                </a:tc>
                <a:tc vMerge="1">
                  <a:txBody>
                    <a:bodyPr/>
                    <a:lstStyle/>
                    <a:p>
                      <a:endParaRPr kumimoji="1" lang="ja-JP" altLang="en-US"/>
                    </a:p>
                  </a:txBody>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不動産管理</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11</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cs typeface="+mn-cs"/>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n-ea"/>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70883651"/>
                  </a:ext>
                </a:extLst>
              </a:tr>
              <a:tr h="176238">
                <a:tc vMerge="1">
                  <a:txBody>
                    <a:bodyPr/>
                    <a:lstStyle/>
                    <a:p>
                      <a:endParaRPr kumimoji="1" lang="ja-JP" altLang="en-US"/>
                    </a:p>
                  </a:txBody>
                  <a:tcPr/>
                </a:tc>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鑑定評価</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12</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8037459"/>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rowSpan="2">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証券代行</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株主名簿管理</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13</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u="none" strike="noStrike" kern="1200" dirty="0">
                          <a:solidFill>
                            <a:schemeClr val="dk1"/>
                          </a:solidFill>
                          <a:effectLst/>
                          <a:latin typeface="+mj-ea"/>
                          <a:ea typeface="+mn-ea"/>
                          <a:cs typeface="+mn-cs"/>
                        </a:rPr>
                        <a:t>○</a:t>
                      </a:r>
                      <a:endParaRPr kumimoji="1" lang="en-US" altLang="ja-JP" sz="900" u="none" strike="noStrike" kern="1200" dirty="0">
                        <a:solidFill>
                          <a:schemeClr val="dk1"/>
                        </a:solidFill>
                        <a:effectLst/>
                        <a:latin typeface="+mj-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283802215"/>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en-US" sz="900" b="0" i="0" u="none" strike="noStrike" dirty="0">
                          <a:solidFill>
                            <a:srgbClr val="000000"/>
                          </a:solidFill>
                          <a:effectLst/>
                          <a:latin typeface="Meiryo UI" panose="020B0604030504040204" pitchFamily="50" charset="-128"/>
                          <a:ea typeface="Meiryo UI" panose="020B0604030504040204" pitchFamily="50" charset="-128"/>
                        </a:rPr>
                        <a:t>SR/IR</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支援</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14</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u="none" strike="noStrike" kern="1200">
                          <a:solidFill>
                            <a:schemeClr val="dk1"/>
                          </a:solidFill>
                          <a:effectLst/>
                          <a:latin typeface="+mj-ea"/>
                          <a:ea typeface="+mj-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u="none" strike="noStrike" kern="1200">
                          <a:solidFill>
                            <a:schemeClr val="dk1"/>
                          </a:solidFill>
                          <a:effectLst/>
                          <a:latin typeface="+mj-ea"/>
                          <a:ea typeface="+mn-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590108476"/>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rowSpan="3">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受託</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年金</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15</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n-ea"/>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669376838"/>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運用</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16</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u="none" strike="noStrike" kern="1200">
                          <a:solidFill>
                            <a:schemeClr val="dk1"/>
                          </a:solidFill>
                          <a:effectLst/>
                          <a:latin typeface="+mj-ea"/>
                          <a:ea typeface="+mn-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88779883"/>
                  </a:ext>
                </a:extLst>
              </a:tr>
              <a:tr h="176238">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資産管理</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u="none" strike="noStrike" kern="1200">
                          <a:solidFill>
                            <a:schemeClr val="dk1"/>
                          </a:solidFill>
                          <a:effectLst/>
                          <a:latin typeface="+mj-ea"/>
                          <a:ea typeface="+mj-ea"/>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u="none" strike="noStrike" kern="120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8132772"/>
                  </a:ext>
                </a:extLst>
              </a:tr>
              <a:tr h="176238">
                <a:tc rowSpan="2" gridSpan="2">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市場</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rowSpan="2" hMerge="1">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プロップディーリング</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06659240"/>
                  </a:ext>
                </a:extLst>
              </a:tr>
              <a:tr h="176238">
                <a:tc gridSpan="2" vMerge="1">
                  <a:txBody>
                    <a:bodyPr/>
                    <a:lstStyle/>
                    <a:p>
                      <a:pPr algn="ctr" fontAlgn="ct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vMerge="1">
                  <a:txBody>
                    <a:bodyPr/>
                    <a:lstStyle/>
                    <a:p>
                      <a:endParaRPr kumimoji="1" lang="ja-JP" altLang="en-US"/>
                    </a:p>
                  </a:txBody>
                  <a:tcPr/>
                </a:tc>
                <a:tc>
                  <a:txBody>
                    <a:bodyPr/>
                    <a:lstStyle/>
                    <a:p>
                      <a:pPr algn="ctr"/>
                      <a:r>
                        <a:rPr kumimoji="1" lang="ja-JP" altLang="en-US" sz="900" dirty="0">
                          <a:solidFill>
                            <a:schemeClr val="tx1"/>
                          </a:solidFill>
                        </a:rPr>
                        <a:t>カスタマーディーリング</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en-US" altLang="ja-JP" sz="900" u="none" strike="noStrike" kern="1200" dirty="0">
                          <a:solidFill>
                            <a:schemeClr val="dk1"/>
                          </a:solidFill>
                          <a:effectLst/>
                          <a:latin typeface="+mj-ea"/>
                          <a:ea typeface="+mj-ea"/>
                          <a:cs typeface="+mn-cs"/>
                        </a:rPr>
                        <a:t>19</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u="none" strike="noStrike" kern="1200" dirty="0">
                        <a:solidFill>
                          <a:schemeClr val="dk1"/>
                        </a:solidFill>
                        <a:effectLst/>
                        <a:latin typeface="+mj-ea"/>
                        <a:ea typeface="+mj-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endParaRPr kumimoji="1" lang="en-US" altLang="ja-JP"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53248246"/>
                  </a:ext>
                </a:extLst>
              </a:tr>
            </a:tbl>
          </a:graphicData>
        </a:graphic>
      </p:graphicFrame>
      <p:sp>
        <p:nvSpPr>
          <p:cNvPr id="27" name="コンテンツ プレースホルダー 3">
            <a:extLst>
              <a:ext uri="{FF2B5EF4-FFF2-40B4-BE49-F238E27FC236}">
                <a16:creationId xmlns:a16="http://schemas.microsoft.com/office/drawing/2014/main" id="{2779350E-C882-4216-9BC0-C31B7B3639B7}"/>
              </a:ext>
            </a:extLst>
          </p:cNvPr>
          <p:cNvSpPr txBox="1">
            <a:spLocks/>
          </p:cNvSpPr>
          <p:nvPr/>
        </p:nvSpPr>
        <p:spPr bwMode="gray">
          <a:xfrm>
            <a:off x="5121507" y="1605186"/>
            <a:ext cx="4509312" cy="630014"/>
          </a:xfrm>
          <a:prstGeom prst="rect">
            <a:avLst/>
          </a:prstGeom>
          <a:ln w="6350">
            <a:solidFill>
              <a:schemeClr val="bg1">
                <a:lumMod val="50000"/>
              </a:schemeClr>
            </a:solidFill>
          </a:ln>
        </p:spPr>
        <p:txBody>
          <a:bodyPr lIns="36000" tIns="36000" rIns="36000" bIns="36000"/>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000" b="1" u="sng" kern="0" dirty="0"/>
              <a:t>　　</a:t>
            </a:r>
            <a:r>
              <a:rPr lang="en-US" altLang="ja-JP" sz="1000" b="1" u="sng" kern="0" dirty="0"/>
              <a:t>【</a:t>
            </a:r>
            <a:r>
              <a:rPr lang="ja-JP" altLang="en-US" sz="1000" b="1" u="sng" kern="0" dirty="0"/>
              <a:t>個人 ファイナンス</a:t>
            </a:r>
            <a:r>
              <a:rPr lang="en-US" altLang="ja-JP" sz="1000" b="1" u="sng" kern="0" dirty="0"/>
              <a:t>】MUTB</a:t>
            </a:r>
            <a:r>
              <a:rPr lang="ja-JP" altLang="en-US" sz="1000" b="1" u="sng" kern="0" dirty="0"/>
              <a:t>・みずほはグループ内重複回避のため消極姿勢</a:t>
            </a:r>
            <a:endParaRPr lang="en-US" altLang="ja-JP" sz="1000" kern="0" dirty="0"/>
          </a:p>
          <a:p>
            <a:pPr marL="257175" indent="-171450">
              <a:spcBef>
                <a:spcPts val="300"/>
              </a:spcBef>
              <a:buFont typeface="Arial" panose="020B0604020202020204" pitchFamily="34" charset="0"/>
              <a:buChar char="•"/>
            </a:pPr>
            <a:r>
              <a:rPr lang="en-US" altLang="ja-JP" sz="1000" kern="0" dirty="0"/>
              <a:t>MUTB</a:t>
            </a:r>
            <a:r>
              <a:rPr lang="ja-JP" altLang="en-US" sz="1000" kern="0" dirty="0"/>
              <a:t>は店頭の住宅ローン取扱停止。ネット受付のみ継続</a:t>
            </a:r>
            <a:endParaRPr lang="en-US" altLang="ja-JP" sz="1000" kern="0" dirty="0"/>
          </a:p>
          <a:p>
            <a:pPr marL="257175" indent="-171450">
              <a:spcBef>
                <a:spcPts val="600"/>
              </a:spcBef>
              <a:buFont typeface="Arial" panose="020B0604020202020204" pitchFamily="34" charset="0"/>
              <a:buChar char="•"/>
            </a:pPr>
            <a:r>
              <a:rPr lang="ja-JP" altLang="en-US" sz="1000" kern="0" dirty="0"/>
              <a:t>みずほは住宅ローンから撤退。アパートローンのみ継続。</a:t>
            </a:r>
            <a:endParaRPr lang="en-US" altLang="ja-JP" sz="1000" kern="0" dirty="0"/>
          </a:p>
        </p:txBody>
      </p:sp>
      <p:sp>
        <p:nvSpPr>
          <p:cNvPr id="8" name="正方形/長方形 7">
            <a:extLst>
              <a:ext uri="{FF2B5EF4-FFF2-40B4-BE49-F238E27FC236}">
                <a16:creationId xmlns:a16="http://schemas.microsoft.com/office/drawing/2014/main" id="{E491F6EA-E58E-4E40-A5E9-A991722BA71C}"/>
              </a:ext>
            </a:extLst>
          </p:cNvPr>
          <p:cNvSpPr/>
          <p:nvPr/>
        </p:nvSpPr>
        <p:spPr bwMode="gray">
          <a:xfrm>
            <a:off x="2763157" y="2956642"/>
            <a:ext cx="1332000" cy="208800"/>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楕円 28">
            <a:extLst>
              <a:ext uri="{FF2B5EF4-FFF2-40B4-BE49-F238E27FC236}">
                <a16:creationId xmlns:a16="http://schemas.microsoft.com/office/drawing/2014/main" id="{744B2CAB-BB79-49D7-B024-A26732C85F18}"/>
              </a:ext>
            </a:extLst>
          </p:cNvPr>
          <p:cNvSpPr/>
          <p:nvPr/>
        </p:nvSpPr>
        <p:spPr bwMode="gray">
          <a:xfrm>
            <a:off x="2691157" y="2886395"/>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A</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9" name="直線コネクタ 38">
            <a:extLst>
              <a:ext uri="{FF2B5EF4-FFF2-40B4-BE49-F238E27FC236}">
                <a16:creationId xmlns:a16="http://schemas.microsoft.com/office/drawing/2014/main" id="{A75E0F4D-D092-46AE-828B-11AB7D6D7503}"/>
              </a:ext>
            </a:extLst>
          </p:cNvPr>
          <p:cNvCxnSpPr>
            <a:cxnSpLocks/>
            <a:stCxn id="8" idx="3"/>
            <a:endCxn id="27" idx="1"/>
          </p:cNvCxnSpPr>
          <p:nvPr/>
        </p:nvCxnSpPr>
        <p:spPr bwMode="gray">
          <a:xfrm flipV="1">
            <a:off x="4095157" y="1920193"/>
            <a:ext cx="1026350" cy="1140849"/>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22" name="正方形/長方形 21">
            <a:extLst>
              <a:ext uri="{FF2B5EF4-FFF2-40B4-BE49-F238E27FC236}">
                <a16:creationId xmlns:a16="http://schemas.microsoft.com/office/drawing/2014/main" id="{273DABB6-0910-4C83-8C31-5960D06C196E}"/>
              </a:ext>
            </a:extLst>
          </p:cNvPr>
          <p:cNvSpPr/>
          <p:nvPr/>
        </p:nvSpPr>
        <p:spPr bwMode="gray">
          <a:xfrm>
            <a:off x="6359857" y="116540"/>
            <a:ext cx="3343422" cy="49766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endParaRPr kumimoji="0"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5CB19C6B-02A4-4574-A75C-F3077207E230}"/>
              </a:ext>
            </a:extLst>
          </p:cNvPr>
          <p:cNvSpPr/>
          <p:nvPr/>
        </p:nvSpPr>
        <p:spPr bwMode="gray">
          <a:xfrm>
            <a:off x="7502683" y="305100"/>
            <a:ext cx="1210956" cy="180000"/>
          </a:xfrm>
          <a:prstGeom prst="rect">
            <a:avLst/>
          </a:prstGeom>
          <a:no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▲：一部取組</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あり</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正方形/長方形 23">
            <a:extLst>
              <a:ext uri="{FF2B5EF4-FFF2-40B4-BE49-F238E27FC236}">
                <a16:creationId xmlns:a16="http://schemas.microsoft.com/office/drawing/2014/main" id="{1216331F-FE00-48BE-8E72-D04FE7BA4977}"/>
              </a:ext>
            </a:extLst>
          </p:cNvPr>
          <p:cNvSpPr/>
          <p:nvPr/>
        </p:nvSpPr>
        <p:spPr bwMode="gray">
          <a:xfrm>
            <a:off x="6550925" y="305100"/>
            <a:ext cx="1210956" cy="180000"/>
          </a:xfrm>
          <a:prstGeom prst="rect">
            <a:avLst/>
          </a:prstGeom>
          <a:no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
                <a:schemeClr val="tx1"/>
              </a:buClr>
              <a:buSzTx/>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○：取組あり</a:t>
            </a:r>
            <a:endParaRPr kumimoji="0"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正方形/長方形 24">
            <a:extLst>
              <a:ext uri="{FF2B5EF4-FFF2-40B4-BE49-F238E27FC236}">
                <a16:creationId xmlns:a16="http://schemas.microsoft.com/office/drawing/2014/main" id="{BCB8AE1F-5E84-4AC1-A54F-CAD884A4229D}"/>
              </a:ext>
            </a:extLst>
          </p:cNvPr>
          <p:cNvSpPr/>
          <p:nvPr/>
        </p:nvSpPr>
        <p:spPr bwMode="gray">
          <a:xfrm>
            <a:off x="8693398" y="305100"/>
            <a:ext cx="972000" cy="180000"/>
          </a:xfrm>
          <a:prstGeom prst="rect">
            <a:avLst/>
          </a:prstGeom>
          <a:no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1050">
                <a:latin typeface="Meiryo UI" panose="020B0604030504040204" pitchFamily="50" charset="-128"/>
                <a:ea typeface="Meiryo UI" panose="020B0604030504040204" pitchFamily="50" charset="-128"/>
                <a:cs typeface="Meiryo UI" panose="020B0604030504040204" pitchFamily="50" charset="-128"/>
              </a:rPr>
              <a:t>×</a:t>
            </a:r>
            <a:r>
              <a:rPr lang="ja-JP" altLang="en-US" sz="1050">
                <a:latin typeface="Meiryo UI" panose="020B0604030504040204" pitchFamily="50" charset="-128"/>
                <a:ea typeface="Meiryo UI" panose="020B0604030504040204" pitchFamily="50" charset="-128"/>
                <a:cs typeface="Meiryo UI" panose="020B0604030504040204" pitchFamily="50" charset="-128"/>
              </a:rPr>
              <a:t>：取組なし</a:t>
            </a:r>
            <a:endParaRPr kumimoji="0" lang="ja-JP" altLang="en-US" sz="1050" b="0" i="0" u="none" strike="noStrike" cap="none" normalizeH="0" baseline="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正方形/長方形 27">
            <a:extLst>
              <a:ext uri="{FF2B5EF4-FFF2-40B4-BE49-F238E27FC236}">
                <a16:creationId xmlns:a16="http://schemas.microsoft.com/office/drawing/2014/main" id="{16DD655A-25F2-4649-844E-10BCF3169A7E}"/>
              </a:ext>
            </a:extLst>
          </p:cNvPr>
          <p:cNvSpPr/>
          <p:nvPr/>
        </p:nvSpPr>
        <p:spPr bwMode="gray">
          <a:xfrm>
            <a:off x="2763157" y="5048803"/>
            <a:ext cx="1332000" cy="208800"/>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正方形/長方形 34">
            <a:extLst>
              <a:ext uri="{FF2B5EF4-FFF2-40B4-BE49-F238E27FC236}">
                <a16:creationId xmlns:a16="http://schemas.microsoft.com/office/drawing/2014/main" id="{9B18246E-48D1-4F74-B06C-2A088F69E5AA}"/>
              </a:ext>
            </a:extLst>
          </p:cNvPr>
          <p:cNvSpPr/>
          <p:nvPr/>
        </p:nvSpPr>
        <p:spPr bwMode="gray">
          <a:xfrm>
            <a:off x="2763157" y="4201052"/>
            <a:ext cx="1332000" cy="208800"/>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正方形/長方形 35">
            <a:extLst>
              <a:ext uri="{FF2B5EF4-FFF2-40B4-BE49-F238E27FC236}">
                <a16:creationId xmlns:a16="http://schemas.microsoft.com/office/drawing/2014/main" id="{0307A14B-930E-4CEF-84AD-D32CCCD7A5C2}"/>
              </a:ext>
            </a:extLst>
          </p:cNvPr>
          <p:cNvSpPr/>
          <p:nvPr/>
        </p:nvSpPr>
        <p:spPr bwMode="gray">
          <a:xfrm>
            <a:off x="2763157" y="3581901"/>
            <a:ext cx="1332000" cy="208800"/>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楕円 39">
            <a:extLst>
              <a:ext uri="{FF2B5EF4-FFF2-40B4-BE49-F238E27FC236}">
                <a16:creationId xmlns:a16="http://schemas.microsoft.com/office/drawing/2014/main" id="{466476FB-F755-409D-A8C7-0F38CAE2D7EB}"/>
              </a:ext>
            </a:extLst>
          </p:cNvPr>
          <p:cNvSpPr/>
          <p:nvPr/>
        </p:nvSpPr>
        <p:spPr bwMode="gray">
          <a:xfrm>
            <a:off x="2691157" y="4128991"/>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C</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コンテンツ プレースホルダー 3">
            <a:extLst>
              <a:ext uri="{FF2B5EF4-FFF2-40B4-BE49-F238E27FC236}">
                <a16:creationId xmlns:a16="http://schemas.microsoft.com/office/drawing/2014/main" id="{D8A1653C-3549-4C4A-ADED-F797F6C84FE8}"/>
              </a:ext>
            </a:extLst>
          </p:cNvPr>
          <p:cNvSpPr txBox="1">
            <a:spLocks/>
          </p:cNvSpPr>
          <p:nvPr/>
        </p:nvSpPr>
        <p:spPr bwMode="gray">
          <a:xfrm>
            <a:off x="5121507" y="3586900"/>
            <a:ext cx="4509312" cy="694651"/>
          </a:xfrm>
          <a:prstGeom prst="rect">
            <a:avLst/>
          </a:prstGeom>
          <a:ln w="6350">
            <a:solidFill>
              <a:schemeClr val="bg1">
                <a:lumMod val="50000"/>
              </a:schemeClr>
            </a:solidFill>
          </a:ln>
        </p:spPr>
        <p:txBody>
          <a:bodyPr lIns="36000" tIns="36000" rIns="36000" bIns="36000"/>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000" b="1" u="sng" kern="0" dirty="0"/>
              <a:t>　　</a:t>
            </a:r>
            <a:r>
              <a:rPr lang="en-US" altLang="ja-JP" sz="1000" b="1" u="sng" kern="0" dirty="0"/>
              <a:t>【</a:t>
            </a:r>
            <a:r>
              <a:rPr lang="ja-JP" altLang="en-US" sz="1000" b="1" u="sng" kern="0" dirty="0"/>
              <a:t>バンキング ファイナンス</a:t>
            </a:r>
            <a:r>
              <a:rPr lang="en-US" altLang="ja-JP" sz="1000" b="1" u="sng" kern="0" dirty="0"/>
              <a:t>】</a:t>
            </a:r>
            <a:r>
              <a:rPr lang="ja-JP" altLang="en-US" sz="1000" b="1" u="sng" kern="0" dirty="0"/>
              <a:t>法人向け融資は</a:t>
            </a:r>
            <a:r>
              <a:rPr lang="en-US" altLang="ja-JP" sz="1000" b="1" u="sng" kern="0" dirty="0"/>
              <a:t>SMTB</a:t>
            </a:r>
            <a:r>
              <a:rPr lang="ja-JP" altLang="en-US" sz="1000" b="1" u="sng" kern="0" dirty="0"/>
              <a:t>・りそなのみ取組</a:t>
            </a:r>
            <a:endParaRPr lang="en-US" altLang="ja-JP" sz="1000" b="1" u="sng" kern="0" dirty="0"/>
          </a:p>
          <a:p>
            <a:pPr marL="261938" indent="-171450">
              <a:spcBef>
                <a:spcPts val="300"/>
              </a:spcBef>
              <a:buFont typeface="Arial" panose="020B0604020202020204" pitchFamily="34" charset="0"/>
              <a:buChar char="•"/>
            </a:pPr>
            <a:r>
              <a:rPr lang="en-US" altLang="ja-JP" sz="1000" kern="0" dirty="0"/>
              <a:t>MUTB</a:t>
            </a:r>
            <a:r>
              <a:rPr lang="ja-JP" altLang="en-US" sz="1000" kern="0" dirty="0"/>
              <a:t>・みずほはグループ内の普通銀行へシフト。</a:t>
            </a:r>
            <a:endParaRPr lang="en-US" altLang="ja-JP" sz="1000" kern="0" dirty="0"/>
          </a:p>
          <a:p>
            <a:pPr marL="261938" indent="-171450">
              <a:spcBef>
                <a:spcPts val="600"/>
              </a:spcBef>
              <a:buFont typeface="Arial" panose="020B0604020202020204" pitchFamily="34" charset="0"/>
              <a:buChar char="•"/>
            </a:pPr>
            <a:r>
              <a:rPr lang="en-US" altLang="ja-JP" sz="1000" kern="0" dirty="0"/>
              <a:t>SMBC</a:t>
            </a:r>
            <a:r>
              <a:rPr lang="ja-JP" altLang="en-US" sz="1000" kern="0" dirty="0"/>
              <a:t>信託・野村は法人向け融資への取組なし。</a:t>
            </a:r>
          </a:p>
        </p:txBody>
      </p:sp>
      <p:sp>
        <p:nvSpPr>
          <p:cNvPr id="55" name="コンテンツ プレースホルダー 3">
            <a:extLst>
              <a:ext uri="{FF2B5EF4-FFF2-40B4-BE49-F238E27FC236}">
                <a16:creationId xmlns:a16="http://schemas.microsoft.com/office/drawing/2014/main" id="{BB9F0914-97E1-45EA-80ED-2D57C21DD1CC}"/>
              </a:ext>
            </a:extLst>
          </p:cNvPr>
          <p:cNvSpPr txBox="1">
            <a:spLocks/>
          </p:cNvSpPr>
          <p:nvPr/>
        </p:nvSpPr>
        <p:spPr bwMode="gray">
          <a:xfrm>
            <a:off x="5121507" y="2316653"/>
            <a:ext cx="4509312" cy="1188794"/>
          </a:xfrm>
          <a:prstGeom prst="rect">
            <a:avLst/>
          </a:prstGeom>
          <a:ln w="6350">
            <a:solidFill>
              <a:schemeClr val="bg1">
                <a:lumMod val="50000"/>
              </a:schemeClr>
            </a:solidFill>
          </a:ln>
        </p:spPr>
        <p:txBody>
          <a:bodyPr lIns="36000" tIns="36000" rIns="36000" bIns="36000"/>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000" b="1" u="sng" kern="0" dirty="0"/>
              <a:t>　　</a:t>
            </a:r>
            <a:r>
              <a:rPr lang="en-US" altLang="ja-JP" sz="1000" b="1" u="sng" kern="0" dirty="0"/>
              <a:t>【</a:t>
            </a:r>
            <a:r>
              <a:rPr lang="ja-JP" altLang="en-US" sz="1000" b="1" u="sng" kern="0" dirty="0"/>
              <a:t>個人</a:t>
            </a:r>
            <a:r>
              <a:rPr lang="en-US" altLang="ja-JP" sz="1000" b="1" u="sng" kern="0" dirty="0"/>
              <a:t> </a:t>
            </a:r>
            <a:r>
              <a:rPr lang="ja-JP" altLang="en-US" sz="1000" b="1" u="sng" kern="0" dirty="0"/>
              <a:t>不動産</a:t>
            </a:r>
            <a:r>
              <a:rPr lang="en-US" altLang="ja-JP" sz="1000" b="1" u="sng" kern="0" dirty="0"/>
              <a:t>】</a:t>
            </a:r>
            <a:r>
              <a:rPr lang="ja-JP" altLang="en-US" sz="1000" b="1" u="sng" kern="0" dirty="0"/>
              <a:t>りそなと野村は取組なし</a:t>
            </a:r>
            <a:endParaRPr lang="en-US" altLang="ja-JP" sz="1000" kern="0" dirty="0"/>
          </a:p>
          <a:p>
            <a:pPr marL="257175" indent="-171450">
              <a:spcBef>
                <a:spcPts val="300"/>
              </a:spcBef>
              <a:buFont typeface="Arial" panose="020B0604020202020204" pitchFamily="34" charset="0"/>
              <a:buChar char="•"/>
            </a:pPr>
            <a:r>
              <a:rPr lang="ja-JP" altLang="en-US" sz="1000" kern="0" dirty="0"/>
              <a:t>りそなは個人の不動産売買仲介に取り組んでいない。</a:t>
            </a:r>
            <a:endParaRPr lang="en-US" altLang="ja-JP" sz="1000" kern="0" dirty="0"/>
          </a:p>
          <a:p>
            <a:pPr marL="346075" indent="-171450">
              <a:spcBef>
                <a:spcPts val="300"/>
              </a:spcBef>
              <a:buFont typeface="Meiryo UI" panose="020B0604030504040204" pitchFamily="50" charset="-128"/>
              <a:buChar char="⇒"/>
            </a:pPr>
            <a:r>
              <a:rPr lang="ja-JP" altLang="en-US" sz="1000" kern="0" dirty="0"/>
              <a:t>業務内容は法人とほぼ同様であり、進出可能と考える。現状は遺言信託等から発生する</a:t>
            </a:r>
            <a:r>
              <a:rPr lang="ja-JP" altLang="en-US" sz="1000" kern="0" dirty="0">
                <a:solidFill>
                  <a:srgbClr val="FF0000"/>
                </a:solidFill>
              </a:rPr>
              <a:t>収益機会を逸している可能性あり。</a:t>
            </a:r>
            <a:endParaRPr lang="en-US" altLang="ja-JP" sz="1000" kern="0" dirty="0">
              <a:solidFill>
                <a:srgbClr val="FF0000"/>
              </a:solidFill>
            </a:endParaRPr>
          </a:p>
          <a:p>
            <a:pPr marL="257175" indent="-171450">
              <a:spcBef>
                <a:spcPts val="600"/>
              </a:spcBef>
              <a:buFont typeface="Arial" panose="020B0604020202020204" pitchFamily="34" charset="0"/>
              <a:buChar char="•"/>
            </a:pPr>
            <a:r>
              <a:rPr lang="ja-JP" altLang="en-US" sz="1000" kern="0" dirty="0"/>
              <a:t>野村は個人・法人ともに不動産業務への取組なし。</a:t>
            </a:r>
            <a:endParaRPr lang="en-US" altLang="ja-JP" sz="1000" kern="0" dirty="0"/>
          </a:p>
          <a:p>
            <a:pPr marL="355600" indent="-171450">
              <a:spcBef>
                <a:spcPts val="300"/>
              </a:spcBef>
              <a:buFont typeface="Meiryo UI" panose="020B0604030504040204" pitchFamily="50" charset="-128"/>
              <a:buChar char="⇒"/>
            </a:pPr>
            <a:r>
              <a:rPr lang="ja-JP" altLang="en-US" sz="1000" kern="0" dirty="0"/>
              <a:t>同グループの野村不動産の存在が理由と思われる。</a:t>
            </a:r>
            <a:endParaRPr lang="en-US" altLang="ja-JP" sz="1000" kern="0" dirty="0"/>
          </a:p>
        </p:txBody>
      </p:sp>
      <p:sp>
        <p:nvSpPr>
          <p:cNvPr id="63" name="楕円 62">
            <a:extLst>
              <a:ext uri="{FF2B5EF4-FFF2-40B4-BE49-F238E27FC236}">
                <a16:creationId xmlns:a16="http://schemas.microsoft.com/office/drawing/2014/main" id="{205888EE-D492-4BE9-9AC0-CD54BE56BCAB}"/>
              </a:ext>
            </a:extLst>
          </p:cNvPr>
          <p:cNvSpPr/>
          <p:nvPr/>
        </p:nvSpPr>
        <p:spPr bwMode="gray">
          <a:xfrm>
            <a:off x="2691157" y="3496074"/>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105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B</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楕円 31">
            <a:extLst>
              <a:ext uri="{FF2B5EF4-FFF2-40B4-BE49-F238E27FC236}">
                <a16:creationId xmlns:a16="http://schemas.microsoft.com/office/drawing/2014/main" id="{242D1044-9557-4AC2-8E2A-CD73EC5D556C}"/>
              </a:ext>
            </a:extLst>
          </p:cNvPr>
          <p:cNvSpPr/>
          <p:nvPr/>
        </p:nvSpPr>
        <p:spPr bwMode="gray">
          <a:xfrm>
            <a:off x="5146553" y="1629794"/>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A</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9" name="楕円 48">
            <a:extLst>
              <a:ext uri="{FF2B5EF4-FFF2-40B4-BE49-F238E27FC236}">
                <a16:creationId xmlns:a16="http://schemas.microsoft.com/office/drawing/2014/main" id="{DB937409-C361-450D-9E8C-F7665DC9D6A8}"/>
              </a:ext>
            </a:extLst>
          </p:cNvPr>
          <p:cNvSpPr/>
          <p:nvPr/>
        </p:nvSpPr>
        <p:spPr bwMode="gray">
          <a:xfrm>
            <a:off x="5146553" y="3612785"/>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C</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楕円 30">
            <a:extLst>
              <a:ext uri="{FF2B5EF4-FFF2-40B4-BE49-F238E27FC236}">
                <a16:creationId xmlns:a16="http://schemas.microsoft.com/office/drawing/2014/main" id="{F83DCEA2-EE65-4E76-813A-0FAFB8EE9AE4}"/>
              </a:ext>
            </a:extLst>
          </p:cNvPr>
          <p:cNvSpPr/>
          <p:nvPr/>
        </p:nvSpPr>
        <p:spPr bwMode="gray">
          <a:xfrm>
            <a:off x="5146553" y="2337864"/>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B</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コンテンツ プレースホルダー 3">
            <a:extLst>
              <a:ext uri="{FF2B5EF4-FFF2-40B4-BE49-F238E27FC236}">
                <a16:creationId xmlns:a16="http://schemas.microsoft.com/office/drawing/2014/main" id="{2ADB873B-A6FA-4B84-B76F-DE0C070942AF}"/>
              </a:ext>
            </a:extLst>
          </p:cNvPr>
          <p:cNvSpPr txBox="1">
            <a:spLocks/>
          </p:cNvSpPr>
          <p:nvPr/>
        </p:nvSpPr>
        <p:spPr bwMode="gray">
          <a:xfrm>
            <a:off x="5121507" y="5417958"/>
            <a:ext cx="4509312" cy="618778"/>
          </a:xfrm>
          <a:prstGeom prst="rect">
            <a:avLst/>
          </a:prstGeom>
          <a:ln w="6350">
            <a:solidFill>
              <a:schemeClr val="bg1">
                <a:lumMod val="50000"/>
              </a:schemeClr>
            </a:solidFill>
          </a:ln>
        </p:spPr>
        <p:txBody>
          <a:bodyPr lIns="36000" tIns="36000" rIns="36000" bIns="36000"/>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000" b="1" u="sng" kern="0" dirty="0"/>
              <a:t>　　</a:t>
            </a:r>
            <a:r>
              <a:rPr lang="en-US" altLang="ja-JP" sz="1000" b="1" u="sng" kern="0" dirty="0"/>
              <a:t>【</a:t>
            </a:r>
            <a:r>
              <a:rPr lang="ja-JP" altLang="en-US" sz="1000" b="1" u="sng" kern="0" dirty="0"/>
              <a:t>証券代行</a:t>
            </a:r>
            <a:r>
              <a:rPr lang="en-US" altLang="ja-JP" sz="1000" b="1" u="sng" kern="0" dirty="0"/>
              <a:t> </a:t>
            </a:r>
            <a:r>
              <a:rPr lang="ja-JP" altLang="en-US" sz="1000" b="1" u="sng" kern="0" dirty="0"/>
              <a:t>株主名簿管理</a:t>
            </a:r>
            <a:r>
              <a:rPr lang="en-US" altLang="ja-JP" sz="1000" b="1" u="sng" kern="0" dirty="0"/>
              <a:t>】</a:t>
            </a:r>
            <a:r>
              <a:rPr lang="ja-JP" altLang="en-US" sz="1000" b="1" u="sng" kern="0" dirty="0"/>
              <a:t>大手</a:t>
            </a:r>
            <a:r>
              <a:rPr lang="en-US" altLang="ja-JP" sz="1000" b="1" u="sng" kern="0" dirty="0"/>
              <a:t>3</a:t>
            </a:r>
            <a:r>
              <a:rPr lang="ja-JP" altLang="en-US" sz="1000" b="1" u="sng" kern="0" dirty="0"/>
              <a:t>社による寡占状態</a:t>
            </a:r>
            <a:endParaRPr lang="en-US" altLang="ja-JP" sz="1000" b="1" u="sng" kern="0" dirty="0"/>
          </a:p>
          <a:p>
            <a:pPr marL="261938" indent="-171450">
              <a:spcBef>
                <a:spcPts val="300"/>
              </a:spcBef>
              <a:buFont typeface="Arial" panose="020B0604020202020204" pitchFamily="34" charset="0"/>
              <a:buChar char="•"/>
            </a:pPr>
            <a:r>
              <a:rPr lang="en-US" altLang="ja-JP" sz="1000" kern="0" dirty="0"/>
              <a:t>SMTB</a:t>
            </a:r>
            <a:r>
              <a:rPr lang="ja-JP" altLang="en-US" sz="1000" kern="0" dirty="0"/>
              <a:t>・</a:t>
            </a:r>
            <a:r>
              <a:rPr lang="en-US" altLang="ja-JP" sz="1000" kern="0" dirty="0"/>
              <a:t>MUTB</a:t>
            </a:r>
            <a:r>
              <a:rPr lang="ja-JP" altLang="en-US" sz="1000" kern="0" dirty="0"/>
              <a:t>・みずほの</a:t>
            </a:r>
            <a:r>
              <a:rPr lang="en-US" altLang="ja-JP" sz="1000" kern="0" dirty="0"/>
              <a:t>3</a:t>
            </a:r>
            <a:r>
              <a:rPr lang="ja-JP" altLang="en-US" sz="1000" kern="0" dirty="0"/>
              <a:t>社で</a:t>
            </a:r>
            <a:r>
              <a:rPr lang="en-US" altLang="ja-JP" sz="1000" kern="0" dirty="0"/>
              <a:t>90%</a:t>
            </a:r>
            <a:r>
              <a:rPr lang="ja-JP" altLang="en-US" sz="1000" kern="0" dirty="0"/>
              <a:t>のシェア。顧客にとってスイッチングコストが高いことから新規参入や委託替えの頻度も低い。</a:t>
            </a:r>
          </a:p>
        </p:txBody>
      </p:sp>
      <p:sp>
        <p:nvSpPr>
          <p:cNvPr id="67" name="楕円 66">
            <a:extLst>
              <a:ext uri="{FF2B5EF4-FFF2-40B4-BE49-F238E27FC236}">
                <a16:creationId xmlns:a16="http://schemas.microsoft.com/office/drawing/2014/main" id="{D526E609-99A2-42B8-B97A-CC7BA746145B}"/>
              </a:ext>
            </a:extLst>
          </p:cNvPr>
          <p:cNvSpPr/>
          <p:nvPr/>
        </p:nvSpPr>
        <p:spPr bwMode="gray">
          <a:xfrm>
            <a:off x="5146553" y="5438541"/>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E</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8" name="直線コネクタ 67">
            <a:extLst>
              <a:ext uri="{FF2B5EF4-FFF2-40B4-BE49-F238E27FC236}">
                <a16:creationId xmlns:a16="http://schemas.microsoft.com/office/drawing/2014/main" id="{79217140-BAD8-4194-84C4-0B6AD2601704}"/>
              </a:ext>
            </a:extLst>
          </p:cNvPr>
          <p:cNvCxnSpPr>
            <a:cxnSpLocks/>
            <a:stCxn id="28" idx="3"/>
            <a:endCxn id="66" idx="1"/>
          </p:cNvCxnSpPr>
          <p:nvPr/>
        </p:nvCxnSpPr>
        <p:spPr bwMode="gray">
          <a:xfrm>
            <a:off x="4095157" y="5153203"/>
            <a:ext cx="1026350" cy="574144"/>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47" name="直線コネクタ 46">
            <a:extLst>
              <a:ext uri="{FF2B5EF4-FFF2-40B4-BE49-F238E27FC236}">
                <a16:creationId xmlns:a16="http://schemas.microsoft.com/office/drawing/2014/main" id="{0D79963B-9D95-4B7A-A2B8-080583F8835B}"/>
              </a:ext>
            </a:extLst>
          </p:cNvPr>
          <p:cNvCxnSpPr>
            <a:cxnSpLocks/>
            <a:stCxn id="35" idx="3"/>
            <a:endCxn id="41" idx="1"/>
          </p:cNvCxnSpPr>
          <p:nvPr/>
        </p:nvCxnSpPr>
        <p:spPr bwMode="gray">
          <a:xfrm flipV="1">
            <a:off x="4095157" y="3934226"/>
            <a:ext cx="1026350" cy="371226"/>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53" name="楕円 52">
            <a:extLst>
              <a:ext uri="{FF2B5EF4-FFF2-40B4-BE49-F238E27FC236}">
                <a16:creationId xmlns:a16="http://schemas.microsoft.com/office/drawing/2014/main" id="{0AD2AE2F-3B12-42D8-BE3E-6DF695C915BE}"/>
              </a:ext>
            </a:extLst>
          </p:cNvPr>
          <p:cNvSpPr/>
          <p:nvPr/>
        </p:nvSpPr>
        <p:spPr bwMode="gray">
          <a:xfrm>
            <a:off x="2691157" y="4971496"/>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E</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3" name="直線コネクタ 42">
            <a:extLst>
              <a:ext uri="{FF2B5EF4-FFF2-40B4-BE49-F238E27FC236}">
                <a16:creationId xmlns:a16="http://schemas.microsoft.com/office/drawing/2014/main" id="{61DA3AB8-141A-4A6A-8E31-B327D15FBFFA}"/>
              </a:ext>
            </a:extLst>
          </p:cNvPr>
          <p:cNvCxnSpPr>
            <a:cxnSpLocks/>
            <a:stCxn id="36" idx="3"/>
            <a:endCxn id="55" idx="1"/>
          </p:cNvCxnSpPr>
          <p:nvPr/>
        </p:nvCxnSpPr>
        <p:spPr bwMode="gray">
          <a:xfrm flipV="1">
            <a:off x="4095157" y="2911050"/>
            <a:ext cx="1026350" cy="775251"/>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62" name="正方形/長方形 61">
            <a:extLst>
              <a:ext uri="{FF2B5EF4-FFF2-40B4-BE49-F238E27FC236}">
                <a16:creationId xmlns:a16="http://schemas.microsoft.com/office/drawing/2014/main" id="{0D074237-8653-4AB4-90C5-C4DFD8E580F2}"/>
              </a:ext>
            </a:extLst>
          </p:cNvPr>
          <p:cNvSpPr/>
          <p:nvPr/>
        </p:nvSpPr>
        <p:spPr bwMode="gray">
          <a:xfrm>
            <a:off x="2763157" y="5258245"/>
            <a:ext cx="1332000" cy="208800"/>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4" name="楕円 63">
            <a:extLst>
              <a:ext uri="{FF2B5EF4-FFF2-40B4-BE49-F238E27FC236}">
                <a16:creationId xmlns:a16="http://schemas.microsoft.com/office/drawing/2014/main" id="{35C419CC-A8DF-42E2-B3E8-6B2AEE5285EF}"/>
              </a:ext>
            </a:extLst>
          </p:cNvPr>
          <p:cNvSpPr/>
          <p:nvPr/>
        </p:nvSpPr>
        <p:spPr bwMode="gray">
          <a:xfrm>
            <a:off x="2691157" y="5183478"/>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F</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5" name="コンテンツ プレースホルダー 3">
            <a:extLst>
              <a:ext uri="{FF2B5EF4-FFF2-40B4-BE49-F238E27FC236}">
                <a16:creationId xmlns:a16="http://schemas.microsoft.com/office/drawing/2014/main" id="{4B1CD44B-8102-4CFE-B568-10BD4EC275F4}"/>
              </a:ext>
            </a:extLst>
          </p:cNvPr>
          <p:cNvSpPr txBox="1">
            <a:spLocks/>
          </p:cNvSpPr>
          <p:nvPr/>
        </p:nvSpPr>
        <p:spPr bwMode="gray">
          <a:xfrm>
            <a:off x="5121507" y="6118190"/>
            <a:ext cx="4509312" cy="623270"/>
          </a:xfrm>
          <a:prstGeom prst="rect">
            <a:avLst/>
          </a:prstGeom>
          <a:ln w="6350">
            <a:solidFill>
              <a:schemeClr val="bg1">
                <a:lumMod val="50000"/>
              </a:schemeClr>
            </a:solidFill>
          </a:ln>
        </p:spPr>
        <p:txBody>
          <a:bodyPr lIns="36000" tIns="36000" rIns="36000" bIns="36000"/>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000" b="1" u="sng" kern="0" dirty="0"/>
              <a:t>　　</a:t>
            </a:r>
            <a:r>
              <a:rPr lang="en-US" altLang="ja-JP" sz="1000" b="1" u="sng" kern="0" dirty="0"/>
              <a:t>【</a:t>
            </a:r>
            <a:r>
              <a:rPr lang="ja-JP" altLang="en-US" sz="1000" b="1" u="sng" kern="0" dirty="0"/>
              <a:t>証券代行 </a:t>
            </a:r>
            <a:r>
              <a:rPr lang="en-US" altLang="ja-JP" sz="1000" b="1" u="sng" kern="0" dirty="0"/>
              <a:t>SR/IR</a:t>
            </a:r>
            <a:r>
              <a:rPr lang="ja-JP" altLang="en-US" sz="1000" b="1" u="sng" kern="0" dirty="0"/>
              <a:t>支援</a:t>
            </a:r>
            <a:r>
              <a:rPr lang="en-US" altLang="ja-JP" sz="1000" b="1" u="sng" kern="0" dirty="0"/>
              <a:t>】</a:t>
            </a:r>
            <a:r>
              <a:rPr lang="ja-JP" altLang="en-US" sz="1000" b="1" u="sng" kern="0" dirty="0"/>
              <a:t>みずほは取組なし</a:t>
            </a:r>
            <a:endParaRPr lang="en-US" altLang="ja-JP" sz="1000" b="1" u="sng" kern="0" dirty="0"/>
          </a:p>
          <a:p>
            <a:pPr marL="261938" indent="-171450">
              <a:spcBef>
                <a:spcPts val="300"/>
              </a:spcBef>
              <a:buFont typeface="Arial" panose="020B0604020202020204" pitchFamily="34" charset="0"/>
              <a:buChar char="•"/>
            </a:pPr>
            <a:r>
              <a:rPr lang="ja-JP" altLang="en-US" sz="1000" kern="0" dirty="0"/>
              <a:t>株主名簿管理を取り組む</a:t>
            </a:r>
            <a:r>
              <a:rPr lang="en-US" altLang="ja-JP" sz="1000" kern="0" dirty="0"/>
              <a:t>3</a:t>
            </a:r>
            <a:r>
              <a:rPr lang="ja-JP" altLang="en-US" sz="1000" kern="0" dirty="0"/>
              <a:t>社のうち、みずほは</a:t>
            </a:r>
            <a:r>
              <a:rPr lang="en-US" altLang="ja-JP" sz="1000" kern="0" dirty="0"/>
              <a:t>SR/IR</a:t>
            </a:r>
            <a:r>
              <a:rPr lang="ja-JP" altLang="en-US" sz="1000" kern="0" dirty="0"/>
              <a:t>支援に積極的な取組なし。</a:t>
            </a:r>
            <a:r>
              <a:rPr lang="ja-JP" altLang="en-US" sz="1000" kern="0" dirty="0">
                <a:solidFill>
                  <a:srgbClr val="FF0000"/>
                </a:solidFill>
              </a:rPr>
              <a:t>収益機会を逸している可能性あり。</a:t>
            </a:r>
            <a:endParaRPr lang="en-US" altLang="ja-JP" sz="1000" kern="0" dirty="0">
              <a:solidFill>
                <a:srgbClr val="FF0000"/>
              </a:solidFill>
            </a:endParaRPr>
          </a:p>
        </p:txBody>
      </p:sp>
      <p:sp>
        <p:nvSpPr>
          <p:cNvPr id="69" name="楕円 68">
            <a:extLst>
              <a:ext uri="{FF2B5EF4-FFF2-40B4-BE49-F238E27FC236}">
                <a16:creationId xmlns:a16="http://schemas.microsoft.com/office/drawing/2014/main" id="{6FA7724F-2193-4362-890E-C8116D42C11F}"/>
              </a:ext>
            </a:extLst>
          </p:cNvPr>
          <p:cNvSpPr/>
          <p:nvPr/>
        </p:nvSpPr>
        <p:spPr bwMode="gray">
          <a:xfrm>
            <a:off x="5146553" y="6144802"/>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F</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70" name="直線コネクタ 69">
            <a:extLst>
              <a:ext uri="{FF2B5EF4-FFF2-40B4-BE49-F238E27FC236}">
                <a16:creationId xmlns:a16="http://schemas.microsoft.com/office/drawing/2014/main" id="{8C5DDEC5-7FCF-4273-BC91-ACD36107B9BB}"/>
              </a:ext>
            </a:extLst>
          </p:cNvPr>
          <p:cNvCxnSpPr>
            <a:cxnSpLocks/>
            <a:stCxn id="62" idx="3"/>
            <a:endCxn id="65" idx="1"/>
          </p:cNvCxnSpPr>
          <p:nvPr/>
        </p:nvCxnSpPr>
        <p:spPr bwMode="gray">
          <a:xfrm>
            <a:off x="4095157" y="5362645"/>
            <a:ext cx="1026350" cy="1067180"/>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44" name="タイトル 1">
            <a:extLst>
              <a:ext uri="{FF2B5EF4-FFF2-40B4-BE49-F238E27FC236}">
                <a16:creationId xmlns:a16="http://schemas.microsoft.com/office/drawing/2014/main" id="{01539898-E03E-4E92-A658-59B57707D60A}"/>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３</a:t>
            </a:r>
            <a:r>
              <a:rPr lang="en-US" altLang="ja-JP" kern="0" dirty="0">
                <a:latin typeface="Meiryo UI"/>
                <a:ea typeface="Meiryo UI"/>
              </a:rPr>
              <a:t>.</a:t>
            </a:r>
            <a:r>
              <a:rPr lang="ja-JP" altLang="en-US" kern="0" dirty="0">
                <a:latin typeface="Meiryo UI"/>
                <a:ea typeface="Meiryo UI"/>
              </a:rPr>
              <a:t> 業務</a:t>
            </a:r>
            <a:br>
              <a:rPr lang="en-US" altLang="ja-JP" kern="0" dirty="0">
                <a:latin typeface="Meiryo UI" panose="020B0604030504040204" pitchFamily="50" charset="-128"/>
                <a:ea typeface="Meiryo UI" panose="020B0604030504040204" pitchFamily="50" charset="-128"/>
              </a:rPr>
            </a:br>
            <a:r>
              <a:rPr lang="en-US" altLang="ja-JP" kern="0" dirty="0">
                <a:latin typeface="Meiryo UI" panose="020B0604030504040204" pitchFamily="50" charset="-128"/>
                <a:ea typeface="Meiryo UI" panose="020B0604030504040204" pitchFamily="50" charset="-128"/>
              </a:rPr>
              <a:t>ii.</a:t>
            </a:r>
            <a:r>
              <a:rPr lang="ja-JP" altLang="en-US" kern="0" dirty="0">
                <a:latin typeface="Meiryo UI" panose="020B0604030504040204" pitchFamily="50" charset="-128"/>
                <a:ea typeface="Meiryo UI" panose="020B0604030504040204" pitchFamily="50" charset="-128"/>
              </a:rPr>
              <a:t> 各社の取り扱いサービス・商品ラインナップ比較</a:t>
            </a:r>
            <a:endParaRPr lang="ja-JP" altLang="en-US" kern="0" dirty="0"/>
          </a:p>
        </p:txBody>
      </p:sp>
      <p:sp>
        <p:nvSpPr>
          <p:cNvPr id="45" name="正方形/長方形 44">
            <a:extLst>
              <a:ext uri="{FF2B5EF4-FFF2-40B4-BE49-F238E27FC236}">
                <a16:creationId xmlns:a16="http://schemas.microsoft.com/office/drawing/2014/main" id="{0E608E1C-9F48-47B9-BFC8-D7ADB16F9C5C}"/>
              </a:ext>
            </a:extLst>
          </p:cNvPr>
          <p:cNvSpPr/>
          <p:nvPr/>
        </p:nvSpPr>
        <p:spPr bwMode="gray">
          <a:xfrm>
            <a:off x="2763157" y="4629697"/>
            <a:ext cx="1332000" cy="208800"/>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6" name="楕円 45">
            <a:extLst>
              <a:ext uri="{FF2B5EF4-FFF2-40B4-BE49-F238E27FC236}">
                <a16:creationId xmlns:a16="http://schemas.microsoft.com/office/drawing/2014/main" id="{B4E3B1EC-C983-430C-A350-8D76124F45C2}"/>
              </a:ext>
            </a:extLst>
          </p:cNvPr>
          <p:cNvSpPr/>
          <p:nvPr/>
        </p:nvSpPr>
        <p:spPr bwMode="gray">
          <a:xfrm>
            <a:off x="2691157" y="4552390"/>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D</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8" name="コンテンツ プレースホルダー 3">
            <a:extLst>
              <a:ext uri="{FF2B5EF4-FFF2-40B4-BE49-F238E27FC236}">
                <a16:creationId xmlns:a16="http://schemas.microsoft.com/office/drawing/2014/main" id="{CCE8EDAA-85C9-4EAD-8308-3E61AED879E7}"/>
              </a:ext>
            </a:extLst>
          </p:cNvPr>
          <p:cNvSpPr txBox="1">
            <a:spLocks/>
          </p:cNvSpPr>
          <p:nvPr/>
        </p:nvSpPr>
        <p:spPr bwMode="gray">
          <a:xfrm>
            <a:off x="5121507" y="4363004"/>
            <a:ext cx="4509312" cy="973501"/>
          </a:xfrm>
          <a:prstGeom prst="rect">
            <a:avLst/>
          </a:prstGeom>
          <a:ln w="6350">
            <a:solidFill>
              <a:schemeClr val="bg1">
                <a:lumMod val="50000"/>
              </a:schemeClr>
            </a:solidFill>
          </a:ln>
        </p:spPr>
        <p:txBody>
          <a:bodyPr lIns="36000" tIns="36000" rIns="36000" bIns="36000"/>
          <a:lstStyle>
            <a:lvl1pPr marL="0" indent="0" algn="l" rtl="0" eaLnBrk="1" fontAlgn="base" hangingPunct="1">
              <a:spcBef>
                <a:spcPct val="20000"/>
              </a:spcBef>
              <a:spcAft>
                <a:spcPct val="0"/>
              </a:spcAft>
              <a:buClr>
                <a:schemeClr val="tx1"/>
              </a:buClr>
              <a:buFont typeface="Wingdings" panose="05000000000000000000" pitchFamily="2" charset="2"/>
              <a:buNone/>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r>
              <a:rPr lang="ja-JP" altLang="en-US" sz="1000" b="1" u="sng" kern="0" dirty="0"/>
              <a:t>　　</a:t>
            </a:r>
            <a:r>
              <a:rPr lang="en-US" altLang="ja-JP" sz="1000" b="1" u="sng" kern="0" dirty="0"/>
              <a:t>【</a:t>
            </a:r>
            <a:r>
              <a:rPr lang="ja-JP" altLang="en-US" sz="1000" b="1" u="sng" kern="0" dirty="0"/>
              <a:t>不動産</a:t>
            </a:r>
            <a:r>
              <a:rPr lang="en-US" altLang="ja-JP" sz="1000" b="1" u="sng" kern="0" dirty="0"/>
              <a:t> </a:t>
            </a:r>
            <a:r>
              <a:rPr lang="ja-JP" altLang="en-US" sz="1000" b="1" u="sng" kern="0" dirty="0"/>
              <a:t>不動産管理</a:t>
            </a:r>
            <a:r>
              <a:rPr lang="en-US" altLang="ja-JP" sz="1000" b="1" u="sng" kern="0" dirty="0"/>
              <a:t>】</a:t>
            </a:r>
            <a:r>
              <a:rPr lang="ja-JP" altLang="en-US" sz="1000" b="1" u="sng" kern="0" dirty="0"/>
              <a:t>りそなは取組なし</a:t>
            </a:r>
            <a:endParaRPr lang="en-US" altLang="ja-JP" sz="1000" b="1" u="sng" kern="0" dirty="0"/>
          </a:p>
          <a:p>
            <a:pPr marL="261938" indent="-171450">
              <a:spcBef>
                <a:spcPts val="300"/>
              </a:spcBef>
              <a:buFont typeface="Arial" panose="020B0604020202020204" pitchFamily="34" charset="0"/>
              <a:buChar char="•"/>
            </a:pPr>
            <a:r>
              <a:rPr lang="ja-JP" altLang="en-US" sz="1000" kern="0" dirty="0"/>
              <a:t>不動産の売買仲介から不動産管理のニーズに派生するケースがあるため、不動産管理への進出によって</a:t>
            </a:r>
            <a:r>
              <a:rPr lang="ja-JP" altLang="en-US" sz="1000" kern="0" dirty="0">
                <a:solidFill>
                  <a:srgbClr val="FF0000"/>
                </a:solidFill>
              </a:rPr>
              <a:t>取引機会拡大の余地あり</a:t>
            </a:r>
            <a:r>
              <a:rPr lang="ja-JP" altLang="en-US" sz="1000" kern="0" dirty="0"/>
              <a:t>。</a:t>
            </a:r>
            <a:endParaRPr lang="en-US" altLang="ja-JP" sz="1000" kern="0" dirty="0"/>
          </a:p>
          <a:p>
            <a:pPr marL="257175" indent="-171450">
              <a:spcBef>
                <a:spcPts val="600"/>
              </a:spcBef>
              <a:buFont typeface="Arial" panose="020B0604020202020204" pitchFamily="34" charset="0"/>
              <a:buChar char="•"/>
            </a:pPr>
            <a:r>
              <a:rPr lang="ja-JP" altLang="en-US" sz="1000" kern="0" dirty="0"/>
              <a:t>野村は個人・法人ともに不動産業務への取組なし。</a:t>
            </a:r>
            <a:endParaRPr lang="en-US" altLang="ja-JP" sz="1000" kern="0" dirty="0"/>
          </a:p>
          <a:p>
            <a:pPr marL="355600" indent="-171450">
              <a:spcBef>
                <a:spcPts val="300"/>
              </a:spcBef>
              <a:buFont typeface="Meiryo UI" panose="020B0604030504040204" pitchFamily="50" charset="-128"/>
              <a:buChar char="⇒"/>
            </a:pPr>
            <a:r>
              <a:rPr lang="ja-JP" altLang="en-US" sz="1000" kern="0" dirty="0"/>
              <a:t>同グループの野村不動産の存在が理由と思われる。</a:t>
            </a:r>
            <a:endParaRPr lang="en-US" altLang="ja-JP" sz="1000" kern="0" dirty="0"/>
          </a:p>
        </p:txBody>
      </p:sp>
      <p:sp>
        <p:nvSpPr>
          <p:cNvPr id="50" name="楕円 49">
            <a:extLst>
              <a:ext uri="{FF2B5EF4-FFF2-40B4-BE49-F238E27FC236}">
                <a16:creationId xmlns:a16="http://schemas.microsoft.com/office/drawing/2014/main" id="{D4CB82DA-99E6-4BC0-BC0F-99EBE72A1549}"/>
              </a:ext>
            </a:extLst>
          </p:cNvPr>
          <p:cNvSpPr/>
          <p:nvPr/>
        </p:nvSpPr>
        <p:spPr bwMode="gray">
          <a:xfrm>
            <a:off x="5146553" y="4406117"/>
            <a:ext cx="144000" cy="144000"/>
          </a:xfrm>
          <a:prstGeom prst="ellipse">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rPr>
              <a:t>D</a:t>
            </a:r>
            <a:endParaRPr kumimoji="0" lang="ja-JP" altLang="en-US" sz="1050" b="0" i="0" u="none" strike="noStrike" cap="none" normalizeH="0" baseline="0" dirty="0">
              <a:ln>
                <a:noFill/>
              </a:ln>
              <a:solidFill>
                <a:schemeClr val="bg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51" name="直線コネクタ 50">
            <a:extLst>
              <a:ext uri="{FF2B5EF4-FFF2-40B4-BE49-F238E27FC236}">
                <a16:creationId xmlns:a16="http://schemas.microsoft.com/office/drawing/2014/main" id="{6E840D9A-B7DA-45A0-BD08-9AFE39D8DA61}"/>
              </a:ext>
            </a:extLst>
          </p:cNvPr>
          <p:cNvCxnSpPr>
            <a:cxnSpLocks/>
            <a:stCxn id="45" idx="3"/>
            <a:endCxn id="48" idx="1"/>
          </p:cNvCxnSpPr>
          <p:nvPr/>
        </p:nvCxnSpPr>
        <p:spPr bwMode="gray">
          <a:xfrm>
            <a:off x="4095157" y="4734097"/>
            <a:ext cx="1026350" cy="115658"/>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52" name="Rectangle 3">
            <a:extLst>
              <a:ext uri="{FF2B5EF4-FFF2-40B4-BE49-F238E27FC236}">
                <a16:creationId xmlns:a16="http://schemas.microsoft.com/office/drawing/2014/main" id="{E638D75E-E953-4F33-99F5-6A77FC22C1F8}"/>
              </a:ext>
            </a:extLst>
          </p:cNvPr>
          <p:cNvSpPr/>
          <p:nvPr/>
        </p:nvSpPr>
        <p:spPr bwMode="gray">
          <a:xfrm>
            <a:off x="6400316" y="65895"/>
            <a:ext cx="360000" cy="167560"/>
          </a:xfrm>
          <a:prstGeom prst="rect">
            <a:avLst/>
          </a:prstGeom>
          <a:solidFill>
            <a:schemeClr val="bg1"/>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r>
              <a:rPr lang="ja-JP" altLang="en-US" sz="1050" dirty="0">
                <a:latin typeface="Meiryo UI" panose="020B0604030504040204" pitchFamily="50" charset="-128"/>
                <a:ea typeface="Meiryo UI" panose="020B0604030504040204" pitchFamily="50" charset="-128"/>
                <a:cs typeface="Arial" charset="0"/>
              </a:rPr>
              <a:t>凡例</a:t>
            </a:r>
            <a:endParaRPr lang="en-US" altLang="ja-JP" sz="1050" dirty="0">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14154326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10</a:t>
            </a:fld>
            <a:endParaRPr lang="ja-JP" altLang="en-US"/>
          </a:p>
        </p:txBody>
      </p:sp>
      <p:sp>
        <p:nvSpPr>
          <p:cNvPr id="29" name="タイトル 1">
            <a:extLst>
              <a:ext uri="{FF2B5EF4-FFF2-40B4-BE49-F238E27FC236}">
                <a16:creationId xmlns:a16="http://schemas.microsoft.com/office/drawing/2014/main" id="{B7900AC5-6A9D-4ACB-92E9-12BA77103221}"/>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eiryo UI"/>
                <a:ea typeface="Meiryo UI"/>
              </a:rPr>
              <a:t>４</a:t>
            </a:r>
            <a:r>
              <a:rPr lang="en-US" altLang="ja-JP" kern="0" dirty="0">
                <a:latin typeface="Meiryo UI"/>
                <a:ea typeface="Meiryo UI"/>
              </a:rPr>
              <a:t>.</a:t>
            </a:r>
            <a:r>
              <a:rPr lang="ja-JP" altLang="en-US" kern="0" dirty="0">
                <a:latin typeface="Meiryo UI"/>
                <a:ea typeface="Meiryo UI"/>
              </a:rPr>
              <a:t> テクノロジー</a:t>
            </a:r>
            <a:br>
              <a:rPr lang="en-US" altLang="ja-JP" kern="0" dirty="0">
                <a:latin typeface="Meiryo UI" panose="020B0604030504040204" pitchFamily="50" charset="-128"/>
                <a:ea typeface="Meiryo UI" panose="020B0604030504040204" pitchFamily="50" charset="-128"/>
              </a:rPr>
            </a:br>
            <a:r>
              <a:rPr lang="en-US" altLang="ja-JP" kern="0" dirty="0" err="1">
                <a:latin typeface="Meiryo UI" panose="020B0604030504040204" pitchFamily="50" charset="-128"/>
                <a:ea typeface="Meiryo UI" panose="020B0604030504040204" pitchFamily="50" charset="-128"/>
              </a:rPr>
              <a:t>i</a:t>
            </a:r>
            <a:r>
              <a:rPr lang="en-US" altLang="ja-JP" kern="0" dirty="0">
                <a:latin typeface="Meiryo UI" panose="020B0604030504040204" pitchFamily="50" charset="-128"/>
                <a:ea typeface="Meiryo UI" panose="020B0604030504040204" pitchFamily="50" charset="-128"/>
              </a:rPr>
              <a:t>.</a:t>
            </a:r>
            <a:r>
              <a:rPr lang="ja-JP" altLang="en-US" kern="0" dirty="0">
                <a:latin typeface="Meiryo UI" panose="020B0604030504040204" pitchFamily="50" charset="-128"/>
                <a:ea typeface="Meiryo UI" panose="020B0604030504040204" pitchFamily="50" charset="-128"/>
              </a:rPr>
              <a:t> 各社のシステム構成</a:t>
            </a:r>
            <a:r>
              <a:rPr lang="en-US" altLang="ja-JP" kern="0" dirty="0">
                <a:latin typeface="Meiryo UI" panose="020B0604030504040204" pitchFamily="50" charset="-128"/>
                <a:ea typeface="Meiryo UI" panose="020B0604030504040204" pitchFamily="50" charset="-128"/>
              </a:rPr>
              <a:t>(1/3)</a:t>
            </a:r>
            <a:endParaRPr lang="ja-JP" altLang="en-US" kern="0" dirty="0"/>
          </a:p>
        </p:txBody>
      </p:sp>
      <p:sp>
        <p:nvSpPr>
          <p:cNvPr id="44" name="Rectangle 3"/>
          <p:cNvSpPr/>
          <p:nvPr/>
        </p:nvSpPr>
        <p:spPr bwMode="gray">
          <a:xfrm>
            <a:off x="7994948" y="437592"/>
            <a:ext cx="529548" cy="167561"/>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a:solidFill>
                  <a:schemeClr val="tx1"/>
                </a:solidFill>
                <a:latin typeface="Meiryo UI" panose="020B0604030504040204" pitchFamily="50" charset="-128"/>
                <a:ea typeface="Meiryo UI" panose="020B0604030504040204" pitchFamily="50" charset="-128"/>
              </a:rPr>
              <a:t>機能なし</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45" name="Rectangle 3"/>
          <p:cNvSpPr/>
          <p:nvPr/>
        </p:nvSpPr>
        <p:spPr bwMode="gray">
          <a:xfrm>
            <a:off x="8581495" y="437592"/>
            <a:ext cx="529548" cy="167561"/>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内製</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46" name="Rectangle 3"/>
          <p:cNvSpPr/>
          <p:nvPr/>
        </p:nvSpPr>
        <p:spPr bwMode="gray">
          <a:xfrm>
            <a:off x="9168042" y="437592"/>
            <a:ext cx="529548" cy="167561"/>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a:solidFill>
                  <a:schemeClr val="tx1"/>
                </a:solidFill>
                <a:latin typeface="Meiryo UI" panose="020B0604030504040204" pitchFamily="50" charset="-128"/>
                <a:ea typeface="Meiryo UI" panose="020B0604030504040204" pitchFamily="50" charset="-128"/>
              </a:rPr>
              <a:t>パッケージ</a:t>
            </a:r>
            <a:endParaRPr lang="en-US" altLang="ja-JP" sz="900">
              <a:solidFill>
                <a:schemeClr val="tx1"/>
              </a:solidFill>
              <a:latin typeface="Meiryo UI" panose="020B0604030504040204" pitchFamily="50" charset="-128"/>
              <a:ea typeface="Meiryo UI" panose="020B0604030504040204" pitchFamily="50" charset="-128"/>
            </a:endParaRPr>
          </a:p>
        </p:txBody>
      </p:sp>
      <p:sp>
        <p:nvSpPr>
          <p:cNvPr id="176" name="正方形/長方形 175"/>
          <p:cNvSpPr/>
          <p:nvPr/>
        </p:nvSpPr>
        <p:spPr bwMode="gray">
          <a:xfrm>
            <a:off x="7903029" y="296620"/>
            <a:ext cx="1872260" cy="396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Rectangle 3"/>
          <p:cNvSpPr/>
          <p:nvPr/>
        </p:nvSpPr>
        <p:spPr bwMode="gray">
          <a:xfrm>
            <a:off x="7958504" y="212840"/>
            <a:ext cx="301218" cy="167560"/>
          </a:xfrm>
          <a:prstGeom prst="rect">
            <a:avLst/>
          </a:prstGeom>
          <a:solidFill>
            <a:schemeClr val="bg1"/>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r>
              <a:rPr lang="ja-JP" altLang="en-US" sz="900" dirty="0">
                <a:latin typeface="Meiryo UI" panose="020B0604030504040204" pitchFamily="50" charset="-128"/>
                <a:ea typeface="Meiryo UI" panose="020B0604030504040204" pitchFamily="50" charset="-128"/>
                <a:cs typeface="Arial" charset="0"/>
              </a:rPr>
              <a:t>凡例</a:t>
            </a:r>
            <a:endParaRPr lang="en-US" altLang="ja-JP" sz="900" dirty="0">
              <a:latin typeface="Meiryo UI" panose="020B0604030504040204" pitchFamily="50" charset="-128"/>
              <a:ea typeface="Meiryo UI" panose="020B0604030504040204" pitchFamily="50" charset="-128"/>
              <a:cs typeface="Arial" charset="0"/>
            </a:endParaRPr>
          </a:p>
        </p:txBody>
      </p:sp>
      <p:sp>
        <p:nvSpPr>
          <p:cNvPr id="31" name="Rectangle 3"/>
          <p:cNvSpPr/>
          <p:nvPr/>
        </p:nvSpPr>
        <p:spPr bwMode="gray">
          <a:xfrm>
            <a:off x="1203860" y="943429"/>
            <a:ext cx="1368000" cy="336996"/>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en-US" altLang="ja-JP" sz="1100" dirty="0">
                <a:solidFill>
                  <a:schemeClr val="bg1"/>
                </a:solidFill>
                <a:latin typeface="Meiryo UI" panose="020B0604030504040204" pitchFamily="50" charset="-128"/>
                <a:ea typeface="Meiryo UI" panose="020B0604030504040204" pitchFamily="50" charset="-128"/>
              </a:rPr>
              <a:t>SMTB</a:t>
            </a:r>
            <a:endParaRPr kumimoji="1" lang="en-US" altLang="ja-JP" sz="1100" dirty="0">
              <a:solidFill>
                <a:schemeClr val="bg1"/>
              </a:solidFill>
              <a:latin typeface="Meiryo UI" panose="020B0604030504040204" pitchFamily="50" charset="-128"/>
              <a:ea typeface="Meiryo UI" panose="020B0604030504040204" pitchFamily="50" charset="-128"/>
              <a:cs typeface="Arial" charset="0"/>
            </a:endParaRPr>
          </a:p>
        </p:txBody>
      </p:sp>
      <p:sp>
        <p:nvSpPr>
          <p:cNvPr id="32" name="Rectangle 3"/>
          <p:cNvSpPr/>
          <p:nvPr/>
        </p:nvSpPr>
        <p:spPr bwMode="gray">
          <a:xfrm>
            <a:off x="2618380" y="943429"/>
            <a:ext cx="1368000" cy="336996"/>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en-US" altLang="ja-JP" sz="1100" dirty="0">
                <a:solidFill>
                  <a:schemeClr val="bg1"/>
                </a:solidFill>
                <a:latin typeface="Meiryo UI" panose="020B0604030504040204" pitchFamily="50" charset="-128"/>
                <a:ea typeface="Meiryo UI" panose="020B0604030504040204" pitchFamily="50" charset="-128"/>
              </a:rPr>
              <a:t>MUTB</a:t>
            </a:r>
            <a:endParaRPr kumimoji="1" lang="en-US" altLang="ja-JP" sz="1100" dirty="0">
              <a:solidFill>
                <a:schemeClr val="bg1"/>
              </a:solidFill>
              <a:latin typeface="Meiryo UI" panose="020B0604030504040204" pitchFamily="50" charset="-128"/>
              <a:ea typeface="Meiryo UI" panose="020B0604030504040204" pitchFamily="50" charset="-128"/>
              <a:cs typeface="Arial" charset="0"/>
            </a:endParaRPr>
          </a:p>
        </p:txBody>
      </p:sp>
      <p:sp>
        <p:nvSpPr>
          <p:cNvPr id="100" name="Rectangle 3"/>
          <p:cNvSpPr/>
          <p:nvPr/>
        </p:nvSpPr>
        <p:spPr bwMode="gray">
          <a:xfrm>
            <a:off x="5447422" y="943429"/>
            <a:ext cx="1368000" cy="336996"/>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100">
                <a:solidFill>
                  <a:schemeClr val="bg1"/>
                </a:solidFill>
                <a:latin typeface="Meiryo UI" panose="020B0604030504040204" pitchFamily="50" charset="-128"/>
                <a:ea typeface="Meiryo UI" panose="020B0604030504040204" pitchFamily="50" charset="-128"/>
                <a:cs typeface="Arial" charset="0"/>
              </a:rPr>
              <a:t>みずほ</a:t>
            </a:r>
            <a:endParaRPr kumimoji="1" lang="en-US" altLang="ja-JP" sz="1100">
              <a:solidFill>
                <a:schemeClr val="bg1"/>
              </a:solidFill>
              <a:latin typeface="Meiryo UI" panose="020B0604030504040204" pitchFamily="50" charset="-128"/>
              <a:ea typeface="Meiryo UI" panose="020B0604030504040204" pitchFamily="50" charset="-128"/>
              <a:cs typeface="Arial" charset="0"/>
            </a:endParaRPr>
          </a:p>
        </p:txBody>
      </p:sp>
      <p:sp>
        <p:nvSpPr>
          <p:cNvPr id="77" name="Rectangle 3">
            <a:extLst>
              <a:ext uri="{FF2B5EF4-FFF2-40B4-BE49-F238E27FC236}">
                <a16:creationId xmlns:a16="http://schemas.microsoft.com/office/drawing/2014/main" id="{DB00B509-2306-4A7F-A08C-AFD13E12C1CA}"/>
              </a:ext>
            </a:extLst>
          </p:cNvPr>
          <p:cNvSpPr/>
          <p:nvPr/>
        </p:nvSpPr>
        <p:spPr bwMode="gray">
          <a:xfrm>
            <a:off x="4032901" y="943429"/>
            <a:ext cx="1368000" cy="336996"/>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100" dirty="0">
                <a:solidFill>
                  <a:schemeClr val="bg1"/>
                </a:solidFill>
                <a:latin typeface="Meiryo UI" panose="020B0604030504040204" pitchFamily="50" charset="-128"/>
                <a:ea typeface="Meiryo UI" panose="020B0604030504040204" pitchFamily="50" charset="-128"/>
                <a:cs typeface="Arial" charset="0"/>
              </a:rPr>
              <a:t>りそな</a:t>
            </a:r>
            <a:endParaRPr kumimoji="1" lang="en-US" altLang="ja-JP" sz="1100" dirty="0">
              <a:solidFill>
                <a:schemeClr val="bg1"/>
              </a:solidFill>
              <a:latin typeface="Meiryo UI" panose="020B0604030504040204" pitchFamily="50" charset="-128"/>
              <a:ea typeface="Meiryo UI" panose="020B0604030504040204" pitchFamily="50" charset="-128"/>
              <a:cs typeface="Arial" charset="0"/>
            </a:endParaRPr>
          </a:p>
        </p:txBody>
      </p:sp>
      <p:sp>
        <p:nvSpPr>
          <p:cNvPr id="91" name="Rectangle 3">
            <a:extLst>
              <a:ext uri="{FF2B5EF4-FFF2-40B4-BE49-F238E27FC236}">
                <a16:creationId xmlns:a16="http://schemas.microsoft.com/office/drawing/2014/main" id="{CEE8A170-460B-4382-A590-F6F652BE24E1}"/>
              </a:ext>
            </a:extLst>
          </p:cNvPr>
          <p:cNvSpPr/>
          <p:nvPr/>
        </p:nvSpPr>
        <p:spPr bwMode="gray">
          <a:xfrm>
            <a:off x="6861942" y="943429"/>
            <a:ext cx="1368000" cy="336996"/>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100" dirty="0">
                <a:solidFill>
                  <a:schemeClr val="bg1"/>
                </a:solidFill>
                <a:latin typeface="Meiryo UI" panose="020B0604030504040204" pitchFamily="50" charset="-128"/>
                <a:ea typeface="Meiryo UI" panose="020B0604030504040204" pitchFamily="50" charset="-128"/>
                <a:cs typeface="Arial" charset="0"/>
              </a:rPr>
              <a:t>SMBC</a:t>
            </a:r>
          </a:p>
        </p:txBody>
      </p:sp>
      <p:sp>
        <p:nvSpPr>
          <p:cNvPr id="40" name="Rectangle 3">
            <a:extLst>
              <a:ext uri="{FF2B5EF4-FFF2-40B4-BE49-F238E27FC236}">
                <a16:creationId xmlns:a16="http://schemas.microsoft.com/office/drawing/2014/main" id="{8919F2E4-5901-4D9D-9559-010CD67FCC48}"/>
              </a:ext>
            </a:extLst>
          </p:cNvPr>
          <p:cNvSpPr/>
          <p:nvPr/>
        </p:nvSpPr>
        <p:spPr bwMode="gray">
          <a:xfrm>
            <a:off x="8276465" y="943429"/>
            <a:ext cx="1368000" cy="336996"/>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100" dirty="0">
                <a:solidFill>
                  <a:schemeClr val="bg1"/>
                </a:solidFill>
                <a:latin typeface="Meiryo UI" panose="020B0604030504040204" pitchFamily="50" charset="-128"/>
                <a:ea typeface="Meiryo UI" panose="020B0604030504040204" pitchFamily="50" charset="-128"/>
                <a:cs typeface="Arial" charset="0"/>
              </a:rPr>
              <a:t>野村</a:t>
            </a:r>
            <a:endParaRPr kumimoji="1" lang="en-US" altLang="ja-JP" sz="1100" dirty="0">
              <a:solidFill>
                <a:schemeClr val="bg1"/>
              </a:solidFill>
              <a:latin typeface="Meiryo UI" panose="020B0604030504040204" pitchFamily="50" charset="-128"/>
              <a:ea typeface="Meiryo UI" panose="020B0604030504040204" pitchFamily="50" charset="-128"/>
              <a:cs typeface="Arial" charset="0"/>
            </a:endParaRPr>
          </a:p>
        </p:txBody>
      </p:sp>
      <p:cxnSp>
        <p:nvCxnSpPr>
          <p:cNvPr id="8" name="直線コネクタ 7">
            <a:extLst>
              <a:ext uri="{FF2B5EF4-FFF2-40B4-BE49-F238E27FC236}">
                <a16:creationId xmlns:a16="http://schemas.microsoft.com/office/drawing/2014/main" id="{7A8D49E2-5B63-4DFF-9B0A-590882A97768}"/>
              </a:ext>
            </a:extLst>
          </p:cNvPr>
          <p:cNvCxnSpPr/>
          <p:nvPr/>
        </p:nvCxnSpPr>
        <p:spPr bwMode="gray">
          <a:xfrm>
            <a:off x="1203860" y="2811998"/>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7" name="直線コネクタ 46">
            <a:extLst>
              <a:ext uri="{FF2B5EF4-FFF2-40B4-BE49-F238E27FC236}">
                <a16:creationId xmlns:a16="http://schemas.microsoft.com/office/drawing/2014/main" id="{EA55E1FA-5BF4-4AD0-8D24-5E380D9D1969}"/>
              </a:ext>
            </a:extLst>
          </p:cNvPr>
          <p:cNvCxnSpPr/>
          <p:nvPr/>
        </p:nvCxnSpPr>
        <p:spPr bwMode="gray">
          <a:xfrm>
            <a:off x="1203860" y="3553714"/>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8" name="直線コネクタ 47">
            <a:extLst>
              <a:ext uri="{FF2B5EF4-FFF2-40B4-BE49-F238E27FC236}">
                <a16:creationId xmlns:a16="http://schemas.microsoft.com/office/drawing/2014/main" id="{1D773785-6FA6-42F4-A99B-5C738358BE5E}"/>
              </a:ext>
            </a:extLst>
          </p:cNvPr>
          <p:cNvCxnSpPr/>
          <p:nvPr/>
        </p:nvCxnSpPr>
        <p:spPr bwMode="gray">
          <a:xfrm>
            <a:off x="1203860" y="4295430"/>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9" name="直線コネクタ 48">
            <a:extLst>
              <a:ext uri="{FF2B5EF4-FFF2-40B4-BE49-F238E27FC236}">
                <a16:creationId xmlns:a16="http://schemas.microsoft.com/office/drawing/2014/main" id="{B4A5FA10-01BA-4510-B300-9406884B44D3}"/>
              </a:ext>
            </a:extLst>
          </p:cNvPr>
          <p:cNvCxnSpPr/>
          <p:nvPr/>
        </p:nvCxnSpPr>
        <p:spPr bwMode="gray">
          <a:xfrm>
            <a:off x="1203860" y="5037149"/>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1" name="直線コネクタ 10">
            <a:extLst>
              <a:ext uri="{FF2B5EF4-FFF2-40B4-BE49-F238E27FC236}">
                <a16:creationId xmlns:a16="http://schemas.microsoft.com/office/drawing/2014/main" id="{33CEDF67-CD75-440B-92E2-584E20481D3A}"/>
              </a:ext>
            </a:extLst>
          </p:cNvPr>
          <p:cNvCxnSpPr/>
          <p:nvPr/>
        </p:nvCxnSpPr>
        <p:spPr bwMode="gray">
          <a:xfrm>
            <a:off x="2595120" y="1351546"/>
            <a:ext cx="0" cy="514637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1" name="直線コネクタ 50">
            <a:extLst>
              <a:ext uri="{FF2B5EF4-FFF2-40B4-BE49-F238E27FC236}">
                <a16:creationId xmlns:a16="http://schemas.microsoft.com/office/drawing/2014/main" id="{03B19943-AC48-49BC-8A01-E84F0B985DF9}"/>
              </a:ext>
            </a:extLst>
          </p:cNvPr>
          <p:cNvCxnSpPr/>
          <p:nvPr/>
        </p:nvCxnSpPr>
        <p:spPr bwMode="gray">
          <a:xfrm>
            <a:off x="4009641" y="1351546"/>
            <a:ext cx="0" cy="514637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2" name="直線コネクタ 51">
            <a:extLst>
              <a:ext uri="{FF2B5EF4-FFF2-40B4-BE49-F238E27FC236}">
                <a16:creationId xmlns:a16="http://schemas.microsoft.com/office/drawing/2014/main" id="{79CA8705-1236-4B63-B5EE-B916B9F24631}"/>
              </a:ext>
            </a:extLst>
          </p:cNvPr>
          <p:cNvCxnSpPr/>
          <p:nvPr/>
        </p:nvCxnSpPr>
        <p:spPr bwMode="gray">
          <a:xfrm>
            <a:off x="5424162" y="1351546"/>
            <a:ext cx="0" cy="514637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3" name="直線コネクタ 52">
            <a:extLst>
              <a:ext uri="{FF2B5EF4-FFF2-40B4-BE49-F238E27FC236}">
                <a16:creationId xmlns:a16="http://schemas.microsoft.com/office/drawing/2014/main" id="{439D2F2F-0300-4306-A05A-97B659ED0073}"/>
              </a:ext>
            </a:extLst>
          </p:cNvPr>
          <p:cNvCxnSpPr/>
          <p:nvPr/>
        </p:nvCxnSpPr>
        <p:spPr bwMode="gray">
          <a:xfrm>
            <a:off x="6838682" y="1351546"/>
            <a:ext cx="0" cy="514637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4" name="直線コネクタ 53">
            <a:extLst>
              <a:ext uri="{FF2B5EF4-FFF2-40B4-BE49-F238E27FC236}">
                <a16:creationId xmlns:a16="http://schemas.microsoft.com/office/drawing/2014/main" id="{1EA1CCB0-CF32-44E0-9C65-7CB95350809C}"/>
              </a:ext>
            </a:extLst>
          </p:cNvPr>
          <p:cNvCxnSpPr/>
          <p:nvPr/>
        </p:nvCxnSpPr>
        <p:spPr bwMode="gray">
          <a:xfrm>
            <a:off x="8253203" y="1351546"/>
            <a:ext cx="0" cy="514637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0" name="直線コネクタ 49">
            <a:extLst>
              <a:ext uri="{FF2B5EF4-FFF2-40B4-BE49-F238E27FC236}">
                <a16:creationId xmlns:a16="http://schemas.microsoft.com/office/drawing/2014/main" id="{A8A35113-9110-4AF8-A137-89804CF645DE}"/>
              </a:ext>
            </a:extLst>
          </p:cNvPr>
          <p:cNvCxnSpPr/>
          <p:nvPr/>
        </p:nvCxnSpPr>
        <p:spPr bwMode="gray">
          <a:xfrm>
            <a:off x="1203860" y="5778867"/>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3" name="直線コネクタ 72">
            <a:extLst>
              <a:ext uri="{FF2B5EF4-FFF2-40B4-BE49-F238E27FC236}">
                <a16:creationId xmlns:a16="http://schemas.microsoft.com/office/drawing/2014/main" id="{73A47744-0268-41D1-9271-B2B0E0BF02F7}"/>
              </a:ext>
            </a:extLst>
          </p:cNvPr>
          <p:cNvCxnSpPr/>
          <p:nvPr/>
        </p:nvCxnSpPr>
        <p:spPr bwMode="gray">
          <a:xfrm>
            <a:off x="1203860" y="2070281"/>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9" name="正方形/長方形 38">
            <a:extLst>
              <a:ext uri="{FF2B5EF4-FFF2-40B4-BE49-F238E27FC236}">
                <a16:creationId xmlns:a16="http://schemas.microsoft.com/office/drawing/2014/main" id="{146B1FCE-726E-49F7-9F10-67E26BE64C9E}"/>
              </a:ext>
            </a:extLst>
          </p:cNvPr>
          <p:cNvSpPr/>
          <p:nvPr/>
        </p:nvSpPr>
        <p:spPr bwMode="gray">
          <a:xfrm>
            <a:off x="277187" y="2834980"/>
            <a:ext cx="353176" cy="292142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a:latin typeface="+mj-ea"/>
                <a:ea typeface="+mj-ea"/>
              </a:rPr>
              <a:t>法人</a:t>
            </a:r>
            <a:endParaRPr lang="zh-TW" altLang="en-US" sz="900">
              <a:latin typeface="+mj-ea"/>
              <a:ea typeface="+mj-ea"/>
            </a:endParaRPr>
          </a:p>
        </p:txBody>
      </p:sp>
      <p:sp>
        <p:nvSpPr>
          <p:cNvPr id="34" name="正方形/長方形 33">
            <a:extLst>
              <a:ext uri="{FF2B5EF4-FFF2-40B4-BE49-F238E27FC236}">
                <a16:creationId xmlns:a16="http://schemas.microsoft.com/office/drawing/2014/main" id="{1AA658AD-1FB1-4AB9-AE16-70E448AE502A}"/>
              </a:ext>
            </a:extLst>
          </p:cNvPr>
          <p:cNvSpPr/>
          <p:nvPr/>
        </p:nvSpPr>
        <p:spPr bwMode="gray">
          <a:xfrm>
            <a:off x="277187" y="2093264"/>
            <a:ext cx="8784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個人</a:t>
            </a:r>
            <a:endParaRPr lang="zh-TW" altLang="en-US" sz="900" dirty="0">
              <a:latin typeface="+mj-ea"/>
              <a:ea typeface="+mj-ea"/>
            </a:endParaRPr>
          </a:p>
        </p:txBody>
      </p:sp>
      <p:sp>
        <p:nvSpPr>
          <p:cNvPr id="35" name="正方形/長方形 34">
            <a:extLst>
              <a:ext uri="{FF2B5EF4-FFF2-40B4-BE49-F238E27FC236}">
                <a16:creationId xmlns:a16="http://schemas.microsoft.com/office/drawing/2014/main" id="{3D7505FA-3D46-4A72-A0E6-D1B50A380045}"/>
              </a:ext>
            </a:extLst>
          </p:cNvPr>
          <p:cNvSpPr/>
          <p:nvPr/>
        </p:nvSpPr>
        <p:spPr bwMode="gray">
          <a:xfrm>
            <a:off x="686279" y="2834980"/>
            <a:ext cx="4680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バンキング</a:t>
            </a:r>
            <a:endParaRPr lang="zh-TW" altLang="en-US" sz="900" dirty="0">
              <a:latin typeface="+mj-ea"/>
              <a:ea typeface="+mj-ea"/>
            </a:endParaRPr>
          </a:p>
        </p:txBody>
      </p:sp>
      <p:sp>
        <p:nvSpPr>
          <p:cNvPr id="37" name="正方形/長方形 36">
            <a:extLst>
              <a:ext uri="{FF2B5EF4-FFF2-40B4-BE49-F238E27FC236}">
                <a16:creationId xmlns:a16="http://schemas.microsoft.com/office/drawing/2014/main" id="{F7AAFD60-6858-4FDF-A0EC-A21EB4FCB4AC}"/>
              </a:ext>
            </a:extLst>
          </p:cNvPr>
          <p:cNvSpPr/>
          <p:nvPr/>
        </p:nvSpPr>
        <p:spPr bwMode="gray">
          <a:xfrm>
            <a:off x="686279" y="3576697"/>
            <a:ext cx="4680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不動産</a:t>
            </a:r>
            <a:endParaRPr lang="zh-TW" altLang="en-US" sz="900" dirty="0">
              <a:latin typeface="+mj-ea"/>
              <a:ea typeface="+mj-ea"/>
            </a:endParaRPr>
          </a:p>
        </p:txBody>
      </p:sp>
      <p:sp>
        <p:nvSpPr>
          <p:cNvPr id="36" name="正方形/長方形 35">
            <a:extLst>
              <a:ext uri="{FF2B5EF4-FFF2-40B4-BE49-F238E27FC236}">
                <a16:creationId xmlns:a16="http://schemas.microsoft.com/office/drawing/2014/main" id="{DE9743ED-20CD-453C-AA6D-9D88649AE85E}"/>
              </a:ext>
            </a:extLst>
          </p:cNvPr>
          <p:cNvSpPr/>
          <p:nvPr/>
        </p:nvSpPr>
        <p:spPr bwMode="gray">
          <a:xfrm>
            <a:off x="686279" y="4318415"/>
            <a:ext cx="4680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証券代行</a:t>
            </a:r>
            <a:endParaRPr lang="ja-JP" altLang="en-US" sz="900" dirty="0">
              <a:latin typeface="Meiryo UI"/>
              <a:ea typeface="Meiryo UI"/>
            </a:endParaRPr>
          </a:p>
        </p:txBody>
      </p:sp>
      <p:sp>
        <p:nvSpPr>
          <p:cNvPr id="38" name="正方形/長方形 37">
            <a:extLst>
              <a:ext uri="{FF2B5EF4-FFF2-40B4-BE49-F238E27FC236}">
                <a16:creationId xmlns:a16="http://schemas.microsoft.com/office/drawing/2014/main" id="{0619D112-65AC-494D-9B80-A0B4E0A287B3}"/>
              </a:ext>
            </a:extLst>
          </p:cNvPr>
          <p:cNvSpPr/>
          <p:nvPr/>
        </p:nvSpPr>
        <p:spPr bwMode="gray">
          <a:xfrm>
            <a:off x="686279" y="5060134"/>
            <a:ext cx="4680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a:latin typeface="+mj-ea"/>
                <a:ea typeface="+mj-ea"/>
              </a:rPr>
              <a:t>受託</a:t>
            </a:r>
            <a:endParaRPr lang="zh-TW" altLang="en-US" sz="900">
              <a:latin typeface="+mj-ea"/>
              <a:ea typeface="+mj-ea"/>
            </a:endParaRPr>
          </a:p>
        </p:txBody>
      </p:sp>
      <p:sp>
        <p:nvSpPr>
          <p:cNvPr id="33" name="正方形/長方形 32">
            <a:extLst>
              <a:ext uri="{FF2B5EF4-FFF2-40B4-BE49-F238E27FC236}">
                <a16:creationId xmlns:a16="http://schemas.microsoft.com/office/drawing/2014/main" id="{86C1A5DC-C9E5-43B4-BEA8-05801B1AE21D}"/>
              </a:ext>
            </a:extLst>
          </p:cNvPr>
          <p:cNvSpPr/>
          <p:nvPr/>
        </p:nvSpPr>
        <p:spPr bwMode="gray">
          <a:xfrm>
            <a:off x="277187" y="5801853"/>
            <a:ext cx="8784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市場</a:t>
            </a:r>
            <a:endParaRPr lang="zh-TW" altLang="en-US" sz="900" dirty="0">
              <a:latin typeface="+mj-ea"/>
              <a:ea typeface="+mj-ea"/>
            </a:endParaRPr>
          </a:p>
        </p:txBody>
      </p:sp>
      <p:sp>
        <p:nvSpPr>
          <p:cNvPr id="72" name="正方形/長方形 71">
            <a:extLst>
              <a:ext uri="{FF2B5EF4-FFF2-40B4-BE49-F238E27FC236}">
                <a16:creationId xmlns:a16="http://schemas.microsoft.com/office/drawing/2014/main" id="{D531C19D-79C6-42C2-A2A7-84E47C89DCC4}"/>
              </a:ext>
            </a:extLst>
          </p:cNvPr>
          <p:cNvSpPr/>
          <p:nvPr/>
        </p:nvSpPr>
        <p:spPr bwMode="gray">
          <a:xfrm>
            <a:off x="277187" y="1351547"/>
            <a:ext cx="878400" cy="695751"/>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j-ea"/>
                <a:ea typeface="+mj-ea"/>
              </a:rPr>
              <a:t>全社</a:t>
            </a:r>
            <a:endParaRPr lang="zh-TW" altLang="en-US" sz="900" dirty="0">
              <a:latin typeface="+mj-ea"/>
              <a:ea typeface="+mj-ea"/>
            </a:endParaRPr>
          </a:p>
        </p:txBody>
      </p:sp>
      <p:sp>
        <p:nvSpPr>
          <p:cNvPr id="19" name="正方形/長方形 18">
            <a:extLst>
              <a:ext uri="{FF2B5EF4-FFF2-40B4-BE49-F238E27FC236}">
                <a16:creationId xmlns:a16="http://schemas.microsoft.com/office/drawing/2014/main" id="{AF5431BB-9B4E-4556-AF6B-9449832FE285}"/>
              </a:ext>
            </a:extLst>
          </p:cNvPr>
          <p:cNvSpPr/>
          <p:nvPr/>
        </p:nvSpPr>
        <p:spPr bwMode="gray">
          <a:xfrm>
            <a:off x="1203860" y="1351547"/>
            <a:ext cx="8420191" cy="2179182"/>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lang="en-US" altLang="ja-JP" sz="1000" dirty="0">
                <a:latin typeface="Meiryo UI" panose="020B0604030504040204" pitchFamily="50" charset="-128"/>
                <a:ea typeface="Meiryo UI" panose="020B0604030504040204" pitchFamily="50" charset="-128"/>
                <a:cs typeface="Meiryo UI" panose="020B0604030504040204" pitchFamily="50" charset="-128"/>
              </a:rPr>
              <a:t>N/A</a:t>
            </a:r>
            <a:endPar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正方形/長方形 19">
            <a:extLst>
              <a:ext uri="{FF2B5EF4-FFF2-40B4-BE49-F238E27FC236}">
                <a16:creationId xmlns:a16="http://schemas.microsoft.com/office/drawing/2014/main" id="{FC4858A2-19C8-460E-9394-6843299922CB}"/>
              </a:ext>
            </a:extLst>
          </p:cNvPr>
          <p:cNvSpPr/>
          <p:nvPr/>
        </p:nvSpPr>
        <p:spPr bwMode="gray">
          <a:xfrm>
            <a:off x="2630010" y="3834730"/>
            <a:ext cx="1344740" cy="188236"/>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物件管理</a:t>
            </a: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8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NTTdata</a:t>
            </a: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endPar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3" name="正方形/長方形 102">
            <a:extLst>
              <a:ext uri="{FF2B5EF4-FFF2-40B4-BE49-F238E27FC236}">
                <a16:creationId xmlns:a16="http://schemas.microsoft.com/office/drawing/2014/main" id="{D4573A26-BA10-44F2-9CF3-8915662B73B4}"/>
              </a:ext>
            </a:extLst>
          </p:cNvPr>
          <p:cNvSpPr/>
          <p:nvPr/>
        </p:nvSpPr>
        <p:spPr bwMode="gray">
          <a:xfrm>
            <a:off x="2630010" y="3604071"/>
            <a:ext cx="1344740" cy="188236"/>
          </a:xfrm>
          <a:prstGeom prst="rect">
            <a:avLst/>
          </a:prstGeom>
          <a:no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案件管理</a:t>
            </a: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(Salesforce)</a:t>
            </a:r>
            <a:endPar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6" name="正方形/長方形 105">
            <a:extLst>
              <a:ext uri="{FF2B5EF4-FFF2-40B4-BE49-F238E27FC236}">
                <a16:creationId xmlns:a16="http://schemas.microsoft.com/office/drawing/2014/main" id="{6C528E64-31CF-4E8F-99A3-7A5F20238B9D}"/>
              </a:ext>
            </a:extLst>
          </p:cNvPr>
          <p:cNvSpPr/>
          <p:nvPr/>
        </p:nvSpPr>
        <p:spPr bwMode="gray">
          <a:xfrm>
            <a:off x="1203860" y="4318416"/>
            <a:ext cx="8420191" cy="1437470"/>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N/A</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正方形/長方形 41">
            <a:extLst>
              <a:ext uri="{FF2B5EF4-FFF2-40B4-BE49-F238E27FC236}">
                <a16:creationId xmlns:a16="http://schemas.microsoft.com/office/drawing/2014/main" id="{91DBFD11-261F-4ED8-B6E8-D3544D183ADB}"/>
              </a:ext>
            </a:extLst>
          </p:cNvPr>
          <p:cNvSpPr/>
          <p:nvPr/>
        </p:nvSpPr>
        <p:spPr bwMode="gray">
          <a:xfrm>
            <a:off x="1203860" y="3576697"/>
            <a:ext cx="1368000" cy="696473"/>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N/A</a:t>
            </a:r>
            <a:endParaRPr kumimoji="0"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正方形/長方形 42">
            <a:extLst>
              <a:ext uri="{FF2B5EF4-FFF2-40B4-BE49-F238E27FC236}">
                <a16:creationId xmlns:a16="http://schemas.microsoft.com/office/drawing/2014/main" id="{27CC6872-B8DE-461B-A576-0E2BD5EFB8EA}"/>
              </a:ext>
            </a:extLst>
          </p:cNvPr>
          <p:cNvSpPr/>
          <p:nvPr/>
        </p:nvSpPr>
        <p:spPr bwMode="gray">
          <a:xfrm>
            <a:off x="4032901" y="3576697"/>
            <a:ext cx="5591150" cy="696473"/>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N/A</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5" name="正方形/長方形 54">
            <a:extLst>
              <a:ext uri="{FF2B5EF4-FFF2-40B4-BE49-F238E27FC236}">
                <a16:creationId xmlns:a16="http://schemas.microsoft.com/office/drawing/2014/main" id="{1EB33668-9E4C-4C96-AEF2-721972239E90}"/>
              </a:ext>
            </a:extLst>
          </p:cNvPr>
          <p:cNvSpPr/>
          <p:nvPr/>
        </p:nvSpPr>
        <p:spPr bwMode="gray">
          <a:xfrm>
            <a:off x="2630010" y="4061227"/>
            <a:ext cx="1344740" cy="188236"/>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物件掲示板</a:t>
            </a: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8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WSS,Notes</a:t>
            </a:r>
            <a:r>
              <a:rPr kumimoji="0" lang="en-US" altLang="ja-JP"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endParaRPr kumimoji="0" lang="ja-JP" altLang="en-US" sz="8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正方形/長方形 55">
            <a:extLst>
              <a:ext uri="{FF2B5EF4-FFF2-40B4-BE49-F238E27FC236}">
                <a16:creationId xmlns:a16="http://schemas.microsoft.com/office/drawing/2014/main" id="{E554228C-65EF-4C99-8E51-26C852EDB10F}"/>
              </a:ext>
            </a:extLst>
          </p:cNvPr>
          <p:cNvSpPr/>
          <p:nvPr/>
        </p:nvSpPr>
        <p:spPr bwMode="gray">
          <a:xfrm>
            <a:off x="4032901" y="5801853"/>
            <a:ext cx="5591150" cy="696473"/>
          </a:xfrm>
          <a:prstGeom prst="rect">
            <a:avLst/>
          </a:prstGeom>
          <a:solidFill>
            <a:schemeClr val="bg1">
              <a:lumMod val="75000"/>
            </a:schemeClr>
          </a:solidFill>
          <a:ln w="9525" cap="flat" cmpd="sng" algn="ctr">
            <a:no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r>
              <a:rPr lang="en-US" altLang="ja-JP" sz="1000" dirty="0">
                <a:latin typeface="Meiryo UI" panose="020B0604030504040204" pitchFamily="50" charset="-128"/>
                <a:ea typeface="Meiryo UI" panose="020B0604030504040204" pitchFamily="50" charset="-128"/>
                <a:cs typeface="Meiryo UI" panose="020B0604030504040204" pitchFamily="50" charset="-128"/>
              </a:rPr>
              <a:t>N/A</a:t>
            </a:r>
            <a:endParaRPr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C1644C34-4AF1-47D2-8252-2AE8A5D1239E}"/>
              </a:ext>
            </a:extLst>
          </p:cNvPr>
          <p:cNvSpPr/>
          <p:nvPr/>
        </p:nvSpPr>
        <p:spPr bwMode="gray">
          <a:xfrm>
            <a:off x="1203859" y="5801853"/>
            <a:ext cx="2770887" cy="696473"/>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r>
              <a:rPr kumimoji="0"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次ページで記載</a:t>
            </a:r>
          </a:p>
        </p:txBody>
      </p:sp>
    </p:spTree>
    <p:extLst>
      <p:ext uri="{BB962C8B-B14F-4D97-AF65-F5344CB8AC3E}">
        <p14:creationId xmlns:p14="http://schemas.microsoft.com/office/powerpoint/2010/main" val="286925360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ED01857-3750-43A3-BDB0-1DA30A17AAD3}"/>
              </a:ext>
            </a:extLst>
          </p:cNvPr>
          <p:cNvSpPr>
            <a:spLocks noGrp="1"/>
          </p:cNvSpPr>
          <p:nvPr>
            <p:ph type="title"/>
          </p:nvPr>
        </p:nvSpPr>
        <p:spPr bwMode="gray"/>
        <p:txBody>
          <a:bodyPr/>
          <a:lstStyle/>
          <a:p>
            <a:pPr>
              <a:buClrTx/>
              <a:tabLst>
                <a:tab pos="176213" algn="l"/>
              </a:tabLst>
            </a:pPr>
            <a:r>
              <a:rPr lang="ja-JP" altLang="en-US" dirty="0">
                <a:latin typeface="Meiryo UI"/>
              </a:rPr>
              <a:t>４</a:t>
            </a:r>
            <a:r>
              <a:rPr lang="en-US" altLang="ja-JP" dirty="0">
                <a:latin typeface="Meiryo UI"/>
              </a:rPr>
              <a:t>.</a:t>
            </a:r>
            <a:r>
              <a:rPr lang="ja-JP" altLang="en-US" dirty="0">
                <a:latin typeface="Meiryo UI"/>
              </a:rPr>
              <a:t> テクノロジー</a:t>
            </a:r>
            <a:br>
              <a:rPr lang="en-US" altLang="ja-JP" dirty="0">
                <a:latin typeface="Meiryo UI" panose="020B0604030504040204" pitchFamily="50" charset="-128"/>
                <a:ea typeface="Meiryo UI" panose="020B0604030504040204" pitchFamily="50" charset="-128"/>
              </a:rPr>
            </a:br>
            <a:r>
              <a:rPr lang="en-US" altLang="ja-JP" dirty="0" err="1">
                <a:latin typeface="Meiryo UI" panose="020B0604030504040204" pitchFamily="50" charset="-128"/>
                <a:ea typeface="Meiryo UI" panose="020B0604030504040204" pitchFamily="50" charset="-128"/>
              </a:rPr>
              <a:t>i</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 各社のシステム構成</a:t>
            </a:r>
            <a:r>
              <a:rPr lang="en-US" altLang="ja-JP" dirty="0">
                <a:latin typeface="Meiryo UI" panose="020B0604030504040204" pitchFamily="50" charset="-128"/>
                <a:ea typeface="Meiryo UI" panose="020B0604030504040204" pitchFamily="50" charset="-128"/>
              </a:rPr>
              <a:t>(2/3)SMTB</a:t>
            </a:r>
            <a:r>
              <a:rPr lang="ja-JP" altLang="en-US" dirty="0">
                <a:latin typeface="Meiryo UI" panose="020B0604030504040204" pitchFamily="50" charset="-128"/>
                <a:ea typeface="Meiryo UI" panose="020B0604030504040204" pitchFamily="50" charset="-128"/>
              </a:rPr>
              <a:t>市場</a:t>
            </a:r>
            <a:endParaRPr lang="ja-JP" altLang="en-US" dirty="0"/>
          </a:p>
        </p:txBody>
      </p:sp>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11</a:t>
            </a:fld>
            <a:endParaRPr lang="ja-JP" altLang="en-US" dirty="0"/>
          </a:p>
        </p:txBody>
      </p:sp>
      <p:sp>
        <p:nvSpPr>
          <p:cNvPr id="28" name="Rectangle 3"/>
          <p:cNvSpPr/>
          <p:nvPr/>
        </p:nvSpPr>
        <p:spPr bwMode="gray">
          <a:xfrm>
            <a:off x="1510630"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取引執行</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29" name="Rectangle 3"/>
          <p:cNvSpPr/>
          <p:nvPr/>
        </p:nvSpPr>
        <p:spPr bwMode="gray">
          <a:xfrm>
            <a:off x="2696897"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000" b="1" dirty="0">
                <a:latin typeface="Meiryo UI" panose="020B0604030504040204" pitchFamily="50" charset="-128"/>
                <a:ea typeface="Meiryo UI" panose="020B0604030504040204" pitchFamily="50" charset="-128"/>
              </a:rPr>
              <a:t>プライシング</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30" name="Rectangle 3"/>
          <p:cNvSpPr/>
          <p:nvPr/>
        </p:nvSpPr>
        <p:spPr bwMode="gray">
          <a:xfrm>
            <a:off x="3883164"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約定・ｲﾍﾞ</a:t>
            </a:r>
            <a:r>
              <a:rPr kumimoji="1" lang="ja-JP" altLang="en-US" sz="1000" b="1" dirty="0">
                <a:latin typeface="Meiryo UI" panose="020B0604030504040204" pitchFamily="50" charset="-128"/>
                <a:ea typeface="Meiryo UI" panose="020B0604030504040204" pitchFamily="50" charset="-128"/>
                <a:cs typeface="Arial" charset="0"/>
              </a:rPr>
              <a:t>ﾝ</a:t>
            </a: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ﾄ管理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31" name="Rectangle 3"/>
          <p:cNvSpPr/>
          <p:nvPr/>
        </p:nvSpPr>
        <p:spPr bwMode="gray">
          <a:xfrm>
            <a:off x="1510631" y="914243"/>
            <a:ext cx="2310119" cy="18582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400" b="1" dirty="0">
                <a:solidFill>
                  <a:schemeClr val="bg1"/>
                </a:solidFill>
                <a:latin typeface="Meiryo UI" panose="020B0604030504040204" pitchFamily="50" charset="-128"/>
                <a:ea typeface="Meiryo UI" panose="020B0604030504040204" pitchFamily="50" charset="-128"/>
              </a:rPr>
              <a:t>フロント</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32" name="Rectangle 3"/>
          <p:cNvSpPr/>
          <p:nvPr/>
        </p:nvSpPr>
        <p:spPr bwMode="gray">
          <a:xfrm>
            <a:off x="3892447" y="914243"/>
            <a:ext cx="3501025" cy="18582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400" b="1" dirty="0">
                <a:solidFill>
                  <a:schemeClr val="bg1"/>
                </a:solidFill>
                <a:latin typeface="Meiryo UI" panose="020B0604030504040204" pitchFamily="50" charset="-128"/>
                <a:ea typeface="Meiryo UI" panose="020B0604030504040204" pitchFamily="50" charset="-128"/>
              </a:rPr>
              <a:t>バック</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78" name="正方形/長方形 77"/>
          <p:cNvSpPr/>
          <p:nvPr/>
        </p:nvSpPr>
        <p:spPr bwMode="gray">
          <a:xfrm>
            <a:off x="1510630" y="2779272"/>
            <a:ext cx="1119211" cy="686492"/>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IB</a:t>
            </a:r>
            <a:r>
              <a:rPr lang="ja-JP" altLang="en-US" sz="1100" dirty="0">
                <a:solidFill>
                  <a:schemeClr val="tx1"/>
                </a:solidFill>
                <a:latin typeface="Meiryo UI" panose="020B0604030504040204" pitchFamily="50" charset="-128"/>
                <a:ea typeface="Meiryo UI" panose="020B0604030504040204" pitchFamily="50" charset="-128"/>
              </a:rPr>
              <a:t>：</a:t>
            </a:r>
            <a:r>
              <a:rPr lang="en-US" altLang="ja-JP" sz="1100" dirty="0">
                <a:solidFill>
                  <a:schemeClr val="tx1"/>
                </a:solidFill>
                <a:latin typeface="Meiryo UI" panose="020B0604030504040204" pitchFamily="50" charset="-128"/>
                <a:ea typeface="Meiryo UI" panose="020B0604030504040204" pitchFamily="50" charset="-128"/>
              </a:rPr>
              <a:t>Calypso</a:t>
            </a:r>
          </a:p>
          <a:p>
            <a:r>
              <a:rPr lang="ja-JP" altLang="en-US" sz="1100" dirty="0">
                <a:solidFill>
                  <a:schemeClr val="tx1"/>
                </a:solidFill>
                <a:latin typeface="Meiryo UI" panose="020B0604030504040204" pitchFamily="50" charset="-128"/>
                <a:ea typeface="Meiryo UI" panose="020B0604030504040204" pitchFamily="50" charset="-128"/>
              </a:rPr>
              <a:t>対顧：</a:t>
            </a:r>
            <a:r>
              <a:rPr lang="en-US" altLang="ja-JP" sz="1100" dirty="0">
                <a:solidFill>
                  <a:schemeClr val="tx1"/>
                </a:solidFill>
                <a:latin typeface="Meiryo UI" panose="020B0604030504040204" pitchFamily="50" charset="-128"/>
                <a:ea typeface="Meiryo UI" panose="020B0604030504040204" pitchFamily="50" charset="-128"/>
              </a:rPr>
              <a:t>PRISM</a:t>
            </a:r>
          </a:p>
        </p:txBody>
      </p:sp>
      <p:sp>
        <p:nvSpPr>
          <p:cNvPr id="79" name="Rectangle 3"/>
          <p:cNvSpPr/>
          <p:nvPr/>
        </p:nvSpPr>
        <p:spPr bwMode="gray">
          <a:xfrm>
            <a:off x="5069431" y="1131693"/>
            <a:ext cx="540000"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決済</a:t>
            </a:r>
            <a:endParaRPr kumimoji="1" lang="en-US" altLang="ja-JP" sz="1000" b="1" dirty="0">
              <a:latin typeface="Meiryo UI" panose="020B0604030504040204" pitchFamily="50" charset="-128"/>
              <a:ea typeface="Meiryo UI" panose="020B0604030504040204" pitchFamily="50" charset="-128"/>
              <a:cs typeface="Arial" charset="0"/>
            </a:endParaRPr>
          </a:p>
        </p:txBody>
      </p:sp>
      <p:sp>
        <p:nvSpPr>
          <p:cNvPr id="80" name="Rectangle 3"/>
          <p:cNvSpPr/>
          <p:nvPr/>
        </p:nvSpPr>
        <p:spPr bwMode="gray">
          <a:xfrm>
            <a:off x="6283543"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担保管理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1" name="Rectangle 3"/>
          <p:cNvSpPr/>
          <p:nvPr/>
        </p:nvSpPr>
        <p:spPr bwMode="gray">
          <a:xfrm>
            <a:off x="631289" y="1321354"/>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株式</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2" name="Rectangle 3"/>
          <p:cNvSpPr/>
          <p:nvPr/>
        </p:nvSpPr>
        <p:spPr bwMode="gray">
          <a:xfrm>
            <a:off x="631289" y="1685833"/>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債券</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3" name="Rectangle 3"/>
          <p:cNvSpPr/>
          <p:nvPr/>
        </p:nvSpPr>
        <p:spPr bwMode="gray">
          <a:xfrm>
            <a:off x="631289" y="2050313"/>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000" b="1" dirty="0">
                <a:solidFill>
                  <a:schemeClr val="tx1"/>
                </a:solidFill>
                <a:latin typeface="Meiryo UI" panose="020B0604030504040204" pitchFamily="50" charset="-128"/>
                <a:ea typeface="Meiryo UI" panose="020B0604030504040204" pitchFamily="50" charset="-128"/>
                <a:cs typeface="Arial" charset="0"/>
              </a:rPr>
              <a:t>MM</a:t>
            </a:r>
          </a:p>
        </p:txBody>
      </p:sp>
      <p:sp>
        <p:nvSpPr>
          <p:cNvPr id="84" name="Rectangle 3"/>
          <p:cNvSpPr/>
          <p:nvPr/>
        </p:nvSpPr>
        <p:spPr bwMode="gray">
          <a:xfrm>
            <a:off x="631289" y="2414792"/>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先物</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5" name="Rectangle 3"/>
          <p:cNvSpPr/>
          <p:nvPr/>
        </p:nvSpPr>
        <p:spPr bwMode="gray">
          <a:xfrm>
            <a:off x="631289" y="2779272"/>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為替</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6" name="Rectangle 3"/>
          <p:cNvSpPr/>
          <p:nvPr/>
        </p:nvSpPr>
        <p:spPr bwMode="gray">
          <a:xfrm>
            <a:off x="631289" y="3143751"/>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為替</a:t>
            </a:r>
            <a:r>
              <a:rPr kumimoji="1" lang="en-US" altLang="ja-JP" sz="1000" b="1" dirty="0">
                <a:solidFill>
                  <a:schemeClr val="tx1"/>
                </a:solidFill>
                <a:latin typeface="Meiryo UI" panose="020B0604030504040204" pitchFamily="50" charset="-128"/>
                <a:ea typeface="Meiryo UI" panose="020B0604030504040204" pitchFamily="50" charset="-128"/>
                <a:cs typeface="Arial" charset="0"/>
              </a:rPr>
              <a:t>OP</a:t>
            </a:r>
          </a:p>
        </p:txBody>
      </p:sp>
      <p:sp>
        <p:nvSpPr>
          <p:cNvPr id="87" name="Rectangle 3"/>
          <p:cNvSpPr/>
          <p:nvPr/>
        </p:nvSpPr>
        <p:spPr bwMode="gray">
          <a:xfrm>
            <a:off x="631289" y="3508230"/>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デリバティブ</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8" name="正方形/長方形 87"/>
          <p:cNvSpPr/>
          <p:nvPr/>
        </p:nvSpPr>
        <p:spPr bwMode="gray">
          <a:xfrm>
            <a:off x="1510630" y="3508230"/>
            <a:ext cx="1119211" cy="322013"/>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pPr algn="ctr"/>
            <a:r>
              <a:rPr lang="en-US" altLang="ja-JP" sz="1100" dirty="0" err="1">
                <a:solidFill>
                  <a:schemeClr val="tx1"/>
                </a:solidFill>
                <a:latin typeface="Meiryo UI" panose="020B0604030504040204" pitchFamily="50" charset="-128"/>
                <a:ea typeface="Meiryo UI" panose="020B0604030504040204" pitchFamily="50" charset="-128"/>
              </a:rPr>
              <a:t>MarkitWire</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97" name="Rectangle 3"/>
          <p:cNvSpPr/>
          <p:nvPr/>
        </p:nvSpPr>
        <p:spPr bwMode="gray">
          <a:xfrm>
            <a:off x="7469810"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損益管理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98" name="Rectangle 3"/>
          <p:cNvSpPr/>
          <p:nvPr/>
        </p:nvSpPr>
        <p:spPr bwMode="gray">
          <a:xfrm>
            <a:off x="8656078"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リスク管理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100" name="Rectangle 3"/>
          <p:cNvSpPr/>
          <p:nvPr/>
        </p:nvSpPr>
        <p:spPr bwMode="gray">
          <a:xfrm>
            <a:off x="7465170" y="914243"/>
            <a:ext cx="2310119" cy="18582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400" b="1" dirty="0">
                <a:solidFill>
                  <a:schemeClr val="bg1"/>
                </a:solidFill>
                <a:latin typeface="Meiryo UI" panose="020B0604030504040204" pitchFamily="50" charset="-128"/>
                <a:ea typeface="Meiryo UI" panose="020B0604030504040204" pitchFamily="50" charset="-128"/>
                <a:cs typeface="Arial" charset="0"/>
              </a:rPr>
              <a:t>ミドル</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102" name="Rectangle 3"/>
          <p:cNvSpPr/>
          <p:nvPr/>
        </p:nvSpPr>
        <p:spPr bwMode="gray">
          <a:xfrm>
            <a:off x="5065113" y="2779272"/>
            <a:ext cx="1151374" cy="694183"/>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03" name="正方形/長方形 102"/>
          <p:cNvSpPr/>
          <p:nvPr/>
        </p:nvSpPr>
        <p:spPr bwMode="gray">
          <a:xfrm>
            <a:off x="3892447" y="2779272"/>
            <a:ext cx="1110284" cy="1050971"/>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17" name="Rectangle 3"/>
          <p:cNvSpPr/>
          <p:nvPr/>
        </p:nvSpPr>
        <p:spPr bwMode="gray">
          <a:xfrm>
            <a:off x="631289" y="3910556"/>
            <a:ext cx="839408" cy="576000"/>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株式</a:t>
            </a:r>
            <a:r>
              <a:rPr kumimoji="1" lang="en-US" altLang="ja-JP" sz="1000" b="1" dirty="0">
                <a:latin typeface="Meiryo UI" panose="020B0604030504040204" pitchFamily="50" charset="-128"/>
                <a:ea typeface="Meiryo UI" panose="020B0604030504040204" pitchFamily="50" charset="-128"/>
                <a:cs typeface="Arial" charset="0"/>
              </a:rPr>
              <a:t>/</a:t>
            </a:r>
            <a:r>
              <a:rPr kumimoji="1" lang="ja-JP" altLang="en-US" sz="1000" b="1" dirty="0">
                <a:latin typeface="Meiryo UI" panose="020B0604030504040204" pitchFamily="50" charset="-128"/>
                <a:ea typeface="Meiryo UI" panose="020B0604030504040204" pitchFamily="50" charset="-128"/>
                <a:cs typeface="Arial" charset="0"/>
              </a:rPr>
              <a:t>債券</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en-US" altLang="ja-JP" sz="1000" b="1" dirty="0">
                <a:latin typeface="Meiryo UI" panose="020B0604030504040204" pitchFamily="50" charset="-128"/>
                <a:ea typeface="Meiryo UI" panose="020B0604030504040204" pitchFamily="50" charset="-128"/>
                <a:cs typeface="Arial" charset="0"/>
              </a:rPr>
              <a:t>MM/</a:t>
            </a:r>
            <a:r>
              <a:rPr kumimoji="1" lang="ja-JP" altLang="en-US" sz="1000" b="1" dirty="0">
                <a:latin typeface="Meiryo UI" panose="020B0604030504040204" pitchFamily="50" charset="-128"/>
                <a:ea typeface="Meiryo UI" panose="020B0604030504040204" pitchFamily="50" charset="-128"/>
                <a:cs typeface="Arial" charset="0"/>
              </a:rPr>
              <a:t>先物</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為替</a:t>
            </a:r>
            <a:r>
              <a:rPr kumimoji="1" lang="en-US" altLang="ja-JP" sz="1000" b="1" dirty="0">
                <a:latin typeface="Meiryo UI" panose="020B0604030504040204" pitchFamily="50" charset="-128"/>
                <a:ea typeface="Meiryo UI" panose="020B0604030504040204" pitchFamily="50" charset="-128"/>
                <a:cs typeface="Arial" charset="0"/>
              </a:rPr>
              <a:t>/</a:t>
            </a:r>
            <a:r>
              <a:rPr kumimoji="1" lang="ja-JP" altLang="en-US" sz="1000" b="1" dirty="0">
                <a:latin typeface="Meiryo UI" panose="020B0604030504040204" pitchFamily="50" charset="-128"/>
                <a:ea typeface="Meiryo UI" panose="020B0604030504040204" pitchFamily="50" charset="-128"/>
                <a:cs typeface="Arial" charset="0"/>
              </a:rPr>
              <a:t>為替</a:t>
            </a:r>
            <a:r>
              <a:rPr kumimoji="1" lang="en-US" altLang="ja-JP" sz="1000" b="1" dirty="0">
                <a:latin typeface="Meiryo UI" panose="020B0604030504040204" pitchFamily="50" charset="-128"/>
                <a:ea typeface="Meiryo UI" panose="020B0604030504040204" pitchFamily="50" charset="-128"/>
                <a:cs typeface="Arial" charset="0"/>
              </a:rPr>
              <a:t>OP</a:t>
            </a:r>
          </a:p>
        </p:txBody>
      </p:sp>
      <p:sp>
        <p:nvSpPr>
          <p:cNvPr id="123" name="Rectangle 3"/>
          <p:cNvSpPr/>
          <p:nvPr/>
        </p:nvSpPr>
        <p:spPr bwMode="gray">
          <a:xfrm>
            <a:off x="631289" y="4547186"/>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デリバティブ</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136" name="Rectangle 3"/>
          <p:cNvSpPr/>
          <p:nvPr/>
        </p:nvSpPr>
        <p:spPr bwMode="gray">
          <a:xfrm>
            <a:off x="126239" y="1321353"/>
            <a:ext cx="456913" cy="2508889"/>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400" b="1" dirty="0">
                <a:solidFill>
                  <a:schemeClr val="bg1"/>
                </a:solidFill>
                <a:latin typeface="Meiryo UI" panose="020B0604030504040204" pitchFamily="50" charset="-128"/>
                <a:ea typeface="Meiryo UI" panose="020B0604030504040204" pitchFamily="50" charset="-128"/>
                <a:cs typeface="Arial" charset="0"/>
              </a:rPr>
              <a:t>東京</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137" name="Rectangle 3"/>
          <p:cNvSpPr/>
          <p:nvPr/>
        </p:nvSpPr>
        <p:spPr bwMode="gray">
          <a:xfrm>
            <a:off x="126239" y="3910558"/>
            <a:ext cx="456913" cy="958642"/>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NY/</a:t>
            </a:r>
            <a:br>
              <a:rPr kumimoji="1" lang="en-US" altLang="ja-JP" sz="1400" b="1" dirty="0">
                <a:solidFill>
                  <a:schemeClr val="bg1"/>
                </a:solidFill>
                <a:latin typeface="Meiryo UI" panose="020B0604030504040204" pitchFamily="50" charset="-128"/>
                <a:ea typeface="Meiryo UI" panose="020B0604030504040204" pitchFamily="50" charset="-128"/>
                <a:cs typeface="Arial" charset="0"/>
              </a:rPr>
            </a:b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LDN</a:t>
            </a:r>
          </a:p>
        </p:txBody>
      </p:sp>
      <p:sp>
        <p:nvSpPr>
          <p:cNvPr id="139" name="Rectangle 3"/>
          <p:cNvSpPr/>
          <p:nvPr/>
        </p:nvSpPr>
        <p:spPr bwMode="gray">
          <a:xfrm>
            <a:off x="5676487" y="1131693"/>
            <a:ext cx="540000"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仕訳</a:t>
            </a:r>
            <a:endParaRPr kumimoji="1" lang="en-US" altLang="ja-JP" sz="1000" b="1" dirty="0">
              <a:latin typeface="Meiryo UI" panose="020B0604030504040204" pitchFamily="50" charset="-128"/>
              <a:ea typeface="Meiryo UI" panose="020B0604030504040204" pitchFamily="50" charset="-128"/>
              <a:cs typeface="Arial" charset="0"/>
            </a:endParaRPr>
          </a:p>
        </p:txBody>
      </p:sp>
      <p:sp>
        <p:nvSpPr>
          <p:cNvPr id="143" name="Rectangle 3"/>
          <p:cNvSpPr/>
          <p:nvPr/>
        </p:nvSpPr>
        <p:spPr bwMode="gray">
          <a:xfrm>
            <a:off x="6283543" y="2779272"/>
            <a:ext cx="1119600" cy="1050970"/>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44" name="Rectangle 3"/>
          <p:cNvSpPr/>
          <p:nvPr/>
        </p:nvSpPr>
        <p:spPr bwMode="gray">
          <a:xfrm>
            <a:off x="1510630" y="1321353"/>
            <a:ext cx="8263608" cy="1413839"/>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N/A</a:t>
            </a:r>
          </a:p>
        </p:txBody>
      </p:sp>
      <p:sp>
        <p:nvSpPr>
          <p:cNvPr id="154" name="Rectangle 3"/>
          <p:cNvSpPr/>
          <p:nvPr/>
        </p:nvSpPr>
        <p:spPr bwMode="gray">
          <a:xfrm>
            <a:off x="631289" y="4928415"/>
            <a:ext cx="839408" cy="576000"/>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株式</a:t>
            </a:r>
            <a:r>
              <a:rPr kumimoji="1" lang="en-US" altLang="ja-JP" sz="1000" b="1" dirty="0">
                <a:latin typeface="Meiryo UI" panose="020B0604030504040204" pitchFamily="50" charset="-128"/>
                <a:ea typeface="Meiryo UI" panose="020B0604030504040204" pitchFamily="50" charset="-128"/>
                <a:cs typeface="Arial" charset="0"/>
              </a:rPr>
              <a:t>/</a:t>
            </a:r>
            <a:r>
              <a:rPr kumimoji="1" lang="ja-JP" altLang="en-US" sz="1000" b="1" dirty="0">
                <a:latin typeface="Meiryo UI" panose="020B0604030504040204" pitchFamily="50" charset="-128"/>
                <a:ea typeface="Meiryo UI" panose="020B0604030504040204" pitchFamily="50" charset="-128"/>
                <a:cs typeface="Arial" charset="0"/>
              </a:rPr>
              <a:t>債券</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en-US" altLang="ja-JP" sz="1000" b="1" dirty="0">
                <a:latin typeface="Meiryo UI" panose="020B0604030504040204" pitchFamily="50" charset="-128"/>
                <a:ea typeface="Meiryo UI" panose="020B0604030504040204" pitchFamily="50" charset="-128"/>
                <a:cs typeface="Arial" charset="0"/>
              </a:rPr>
              <a:t>MM/</a:t>
            </a:r>
            <a:r>
              <a:rPr kumimoji="1" lang="ja-JP" altLang="en-US" sz="1000" b="1" dirty="0">
                <a:latin typeface="Meiryo UI" panose="020B0604030504040204" pitchFamily="50" charset="-128"/>
                <a:ea typeface="Meiryo UI" panose="020B0604030504040204" pitchFamily="50" charset="-128"/>
                <a:cs typeface="Arial" charset="0"/>
              </a:rPr>
              <a:t>先物</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為替</a:t>
            </a:r>
            <a:endParaRPr kumimoji="1" lang="en-US" altLang="ja-JP" sz="1000" b="1" dirty="0">
              <a:latin typeface="Meiryo UI" panose="020B0604030504040204" pitchFamily="50" charset="-128"/>
              <a:ea typeface="Meiryo UI" panose="020B0604030504040204" pitchFamily="50" charset="-128"/>
              <a:cs typeface="Arial" charset="0"/>
            </a:endParaRPr>
          </a:p>
        </p:txBody>
      </p:sp>
      <p:sp>
        <p:nvSpPr>
          <p:cNvPr id="155" name="Rectangle 3"/>
          <p:cNvSpPr/>
          <p:nvPr/>
        </p:nvSpPr>
        <p:spPr bwMode="gray">
          <a:xfrm>
            <a:off x="631289" y="5565045"/>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為替</a:t>
            </a:r>
            <a:r>
              <a:rPr kumimoji="1" lang="en-US" altLang="ja-JP" sz="1000" b="1" dirty="0">
                <a:solidFill>
                  <a:schemeClr val="tx1"/>
                </a:solidFill>
                <a:latin typeface="Meiryo UI" panose="020B0604030504040204" pitchFamily="50" charset="-128"/>
                <a:ea typeface="Meiryo UI" panose="020B0604030504040204" pitchFamily="50" charset="-128"/>
                <a:cs typeface="Arial" charset="0"/>
              </a:rPr>
              <a:t>OP</a:t>
            </a:r>
          </a:p>
        </p:txBody>
      </p:sp>
      <p:sp>
        <p:nvSpPr>
          <p:cNvPr id="160" name="Rectangle 3"/>
          <p:cNvSpPr/>
          <p:nvPr/>
        </p:nvSpPr>
        <p:spPr bwMode="gray">
          <a:xfrm>
            <a:off x="126239" y="4928417"/>
            <a:ext cx="456913" cy="134128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HK/</a:t>
            </a:r>
            <a:br>
              <a:rPr kumimoji="1" lang="en-US" altLang="ja-JP" sz="1400" b="1" dirty="0">
                <a:solidFill>
                  <a:schemeClr val="bg1"/>
                </a:solidFill>
                <a:latin typeface="Meiryo UI" panose="020B0604030504040204" pitchFamily="50" charset="-128"/>
                <a:ea typeface="Meiryo UI" panose="020B0604030504040204" pitchFamily="50" charset="-128"/>
                <a:cs typeface="Arial" charset="0"/>
              </a:rPr>
            </a:b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SG</a:t>
            </a:r>
          </a:p>
        </p:txBody>
      </p:sp>
      <p:sp>
        <p:nvSpPr>
          <p:cNvPr id="164" name="Rectangle 3"/>
          <p:cNvSpPr/>
          <p:nvPr/>
        </p:nvSpPr>
        <p:spPr bwMode="gray">
          <a:xfrm>
            <a:off x="637449" y="5947688"/>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デリバティブ</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44" name="Rectangle 3"/>
          <p:cNvSpPr/>
          <p:nvPr/>
        </p:nvSpPr>
        <p:spPr bwMode="gray">
          <a:xfrm>
            <a:off x="7994948" y="437592"/>
            <a:ext cx="529548" cy="167561"/>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機能なし</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45" name="Rectangle 3"/>
          <p:cNvSpPr/>
          <p:nvPr/>
        </p:nvSpPr>
        <p:spPr bwMode="gray">
          <a:xfrm>
            <a:off x="8581495" y="437592"/>
            <a:ext cx="529548" cy="167561"/>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内製</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46" name="Rectangle 3"/>
          <p:cNvSpPr/>
          <p:nvPr/>
        </p:nvSpPr>
        <p:spPr bwMode="gray">
          <a:xfrm>
            <a:off x="9168042" y="437592"/>
            <a:ext cx="529548" cy="167561"/>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パッケージ</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176" name="正方形/長方形 175"/>
          <p:cNvSpPr/>
          <p:nvPr/>
        </p:nvSpPr>
        <p:spPr bwMode="gray">
          <a:xfrm>
            <a:off x="7903029" y="296620"/>
            <a:ext cx="1872260" cy="396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Rectangle 3"/>
          <p:cNvSpPr/>
          <p:nvPr/>
        </p:nvSpPr>
        <p:spPr bwMode="gray">
          <a:xfrm>
            <a:off x="7958504" y="212840"/>
            <a:ext cx="301218" cy="167560"/>
          </a:xfrm>
          <a:prstGeom prst="rect">
            <a:avLst/>
          </a:prstGeom>
          <a:solidFill>
            <a:schemeClr val="bg1"/>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r>
              <a:rPr lang="ja-JP" altLang="en-US" sz="900" dirty="0">
                <a:latin typeface="Meiryo UI" panose="020B0604030504040204" pitchFamily="50" charset="-128"/>
                <a:ea typeface="Meiryo UI" panose="020B0604030504040204" pitchFamily="50" charset="-128"/>
                <a:cs typeface="Arial" charset="0"/>
              </a:rPr>
              <a:t>凡例</a:t>
            </a:r>
            <a:endParaRPr lang="en-US" altLang="ja-JP" sz="900" dirty="0">
              <a:latin typeface="Meiryo UI" panose="020B0604030504040204" pitchFamily="50" charset="-128"/>
              <a:ea typeface="Meiryo UI" panose="020B0604030504040204" pitchFamily="50" charset="-128"/>
              <a:cs typeface="Arial" charset="0"/>
            </a:endParaRPr>
          </a:p>
        </p:txBody>
      </p:sp>
      <p:sp>
        <p:nvSpPr>
          <p:cNvPr id="67" name="Rectangle 3">
            <a:extLst>
              <a:ext uri="{FF2B5EF4-FFF2-40B4-BE49-F238E27FC236}">
                <a16:creationId xmlns:a16="http://schemas.microsoft.com/office/drawing/2014/main" id="{FA83BE88-935B-421E-ABD3-C76D27F0C935}"/>
              </a:ext>
            </a:extLst>
          </p:cNvPr>
          <p:cNvSpPr/>
          <p:nvPr/>
        </p:nvSpPr>
        <p:spPr bwMode="gray">
          <a:xfrm>
            <a:off x="1510629" y="3910555"/>
            <a:ext cx="8263609" cy="2359145"/>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N/A</a:t>
            </a:r>
          </a:p>
        </p:txBody>
      </p:sp>
      <p:sp>
        <p:nvSpPr>
          <p:cNvPr id="68" name="Rectangle 3">
            <a:extLst>
              <a:ext uri="{FF2B5EF4-FFF2-40B4-BE49-F238E27FC236}">
                <a16:creationId xmlns:a16="http://schemas.microsoft.com/office/drawing/2014/main" id="{0E63D414-6279-4CDC-923A-A4FF19E09DBA}"/>
              </a:ext>
            </a:extLst>
          </p:cNvPr>
          <p:cNvSpPr/>
          <p:nvPr/>
        </p:nvSpPr>
        <p:spPr bwMode="gray">
          <a:xfrm>
            <a:off x="7469809" y="2779272"/>
            <a:ext cx="2305479" cy="1050971"/>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F6B5EF0A-DEF7-4EF2-9546-9237FBBEA88B}"/>
              </a:ext>
            </a:extLst>
          </p:cNvPr>
          <p:cNvSpPr/>
          <p:nvPr/>
        </p:nvSpPr>
        <p:spPr bwMode="gray">
          <a:xfrm>
            <a:off x="5069432" y="3508230"/>
            <a:ext cx="540000" cy="322013"/>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SWIFT</a:t>
            </a:r>
          </a:p>
        </p:txBody>
      </p:sp>
      <p:sp>
        <p:nvSpPr>
          <p:cNvPr id="70" name="Rectangle 3">
            <a:extLst>
              <a:ext uri="{FF2B5EF4-FFF2-40B4-BE49-F238E27FC236}">
                <a16:creationId xmlns:a16="http://schemas.microsoft.com/office/drawing/2014/main" id="{4866FD53-001F-42AC-AA38-C10907F7785F}"/>
              </a:ext>
            </a:extLst>
          </p:cNvPr>
          <p:cNvSpPr/>
          <p:nvPr/>
        </p:nvSpPr>
        <p:spPr bwMode="gray">
          <a:xfrm>
            <a:off x="2696897" y="2779272"/>
            <a:ext cx="1151374" cy="694183"/>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a:p>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廃止予定</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71" name="Rectangle 3">
            <a:extLst>
              <a:ext uri="{FF2B5EF4-FFF2-40B4-BE49-F238E27FC236}">
                <a16:creationId xmlns:a16="http://schemas.microsoft.com/office/drawing/2014/main" id="{6EDE2F3B-46C2-4B7E-B80A-5B61A2C6A4F2}"/>
              </a:ext>
            </a:extLst>
          </p:cNvPr>
          <p:cNvSpPr/>
          <p:nvPr/>
        </p:nvSpPr>
        <p:spPr bwMode="gray">
          <a:xfrm>
            <a:off x="5676487" y="3509843"/>
            <a:ext cx="540000" cy="3204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72" name="Rectangle 3">
            <a:extLst>
              <a:ext uri="{FF2B5EF4-FFF2-40B4-BE49-F238E27FC236}">
                <a16:creationId xmlns:a16="http://schemas.microsoft.com/office/drawing/2014/main" id="{63871F08-2F3F-4950-AE78-D630EAD98272}"/>
              </a:ext>
            </a:extLst>
          </p:cNvPr>
          <p:cNvSpPr/>
          <p:nvPr/>
        </p:nvSpPr>
        <p:spPr bwMode="gray">
          <a:xfrm>
            <a:off x="2696897" y="3508230"/>
            <a:ext cx="1152000" cy="3204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2577977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ED01857-3750-43A3-BDB0-1DA30A17AAD3}"/>
              </a:ext>
            </a:extLst>
          </p:cNvPr>
          <p:cNvSpPr>
            <a:spLocks noGrp="1"/>
          </p:cNvSpPr>
          <p:nvPr>
            <p:ph type="title"/>
          </p:nvPr>
        </p:nvSpPr>
        <p:spPr bwMode="gray"/>
        <p:txBody>
          <a:bodyPr/>
          <a:lstStyle/>
          <a:p>
            <a:pPr>
              <a:buClrTx/>
              <a:tabLst>
                <a:tab pos="176213" algn="l"/>
              </a:tabLst>
            </a:pPr>
            <a:r>
              <a:rPr lang="ja-JP" altLang="en-US" dirty="0">
                <a:latin typeface="Meiryo UI"/>
              </a:rPr>
              <a:t>４</a:t>
            </a:r>
            <a:r>
              <a:rPr lang="en-US" altLang="ja-JP" dirty="0">
                <a:latin typeface="Meiryo UI"/>
              </a:rPr>
              <a:t>.</a:t>
            </a:r>
            <a:r>
              <a:rPr lang="ja-JP" altLang="en-US" dirty="0">
                <a:latin typeface="Meiryo UI"/>
              </a:rPr>
              <a:t> テクノロジー</a:t>
            </a:r>
            <a:br>
              <a:rPr lang="en-US" altLang="ja-JP" dirty="0">
                <a:latin typeface="Meiryo UI" panose="020B0604030504040204" pitchFamily="50" charset="-128"/>
                <a:ea typeface="Meiryo UI" panose="020B0604030504040204" pitchFamily="50" charset="-128"/>
              </a:rPr>
            </a:br>
            <a:r>
              <a:rPr lang="en-US" altLang="ja-JP" dirty="0" err="1">
                <a:latin typeface="Meiryo UI" panose="020B0604030504040204" pitchFamily="50" charset="-128"/>
                <a:ea typeface="Meiryo UI" panose="020B0604030504040204" pitchFamily="50" charset="-128"/>
              </a:rPr>
              <a:t>i</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 各社のシステム構成</a:t>
            </a:r>
            <a:r>
              <a:rPr lang="en-US" altLang="ja-JP" dirty="0">
                <a:latin typeface="Meiryo UI" panose="020B0604030504040204" pitchFamily="50" charset="-128"/>
                <a:ea typeface="Meiryo UI" panose="020B0604030504040204" pitchFamily="50" charset="-128"/>
              </a:rPr>
              <a:t>(3/3)MUTB</a:t>
            </a:r>
            <a:r>
              <a:rPr lang="ja-JP" altLang="en-US" dirty="0">
                <a:latin typeface="Meiryo UI" panose="020B0604030504040204" pitchFamily="50" charset="-128"/>
                <a:ea typeface="Meiryo UI" panose="020B0604030504040204" pitchFamily="50" charset="-128"/>
              </a:rPr>
              <a:t>市場</a:t>
            </a:r>
            <a:endParaRPr lang="ja-JP" altLang="en-US" dirty="0"/>
          </a:p>
        </p:txBody>
      </p:sp>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pPr/>
              <a:t>12</a:t>
            </a:fld>
            <a:endParaRPr lang="ja-JP" altLang="en-US" dirty="0"/>
          </a:p>
        </p:txBody>
      </p:sp>
      <p:sp>
        <p:nvSpPr>
          <p:cNvPr id="28" name="Rectangle 3"/>
          <p:cNvSpPr/>
          <p:nvPr/>
        </p:nvSpPr>
        <p:spPr bwMode="gray">
          <a:xfrm>
            <a:off x="1510630"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取引執行</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29" name="Rectangle 3"/>
          <p:cNvSpPr/>
          <p:nvPr/>
        </p:nvSpPr>
        <p:spPr bwMode="gray">
          <a:xfrm>
            <a:off x="2696897"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000" b="1" dirty="0">
                <a:latin typeface="Meiryo UI" panose="020B0604030504040204" pitchFamily="50" charset="-128"/>
                <a:ea typeface="Meiryo UI" panose="020B0604030504040204" pitchFamily="50" charset="-128"/>
              </a:rPr>
              <a:t>プライシング</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30" name="Rectangle 3"/>
          <p:cNvSpPr/>
          <p:nvPr/>
        </p:nvSpPr>
        <p:spPr bwMode="gray">
          <a:xfrm>
            <a:off x="3883164"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約定・ｲﾍﾞ</a:t>
            </a:r>
            <a:r>
              <a:rPr kumimoji="1" lang="ja-JP" altLang="en-US" sz="1000" b="1" dirty="0">
                <a:latin typeface="Meiryo UI" panose="020B0604030504040204" pitchFamily="50" charset="-128"/>
                <a:ea typeface="Meiryo UI" panose="020B0604030504040204" pitchFamily="50" charset="-128"/>
                <a:cs typeface="Arial" charset="0"/>
              </a:rPr>
              <a:t>ﾝ</a:t>
            </a: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ﾄ管理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31" name="Rectangle 3"/>
          <p:cNvSpPr/>
          <p:nvPr/>
        </p:nvSpPr>
        <p:spPr bwMode="gray">
          <a:xfrm>
            <a:off x="1510631" y="914243"/>
            <a:ext cx="2310119" cy="18582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400" b="1" dirty="0">
                <a:solidFill>
                  <a:schemeClr val="bg1"/>
                </a:solidFill>
                <a:latin typeface="Meiryo UI" panose="020B0604030504040204" pitchFamily="50" charset="-128"/>
                <a:ea typeface="Meiryo UI" panose="020B0604030504040204" pitchFamily="50" charset="-128"/>
              </a:rPr>
              <a:t>フロント</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32" name="Rectangle 3"/>
          <p:cNvSpPr/>
          <p:nvPr/>
        </p:nvSpPr>
        <p:spPr bwMode="gray">
          <a:xfrm>
            <a:off x="3892447" y="914243"/>
            <a:ext cx="3501025" cy="18582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400" b="1" dirty="0">
                <a:solidFill>
                  <a:schemeClr val="bg1"/>
                </a:solidFill>
                <a:latin typeface="Meiryo UI" panose="020B0604030504040204" pitchFamily="50" charset="-128"/>
                <a:ea typeface="Meiryo UI" panose="020B0604030504040204" pitchFamily="50" charset="-128"/>
              </a:rPr>
              <a:t>バック</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78" name="正方形/長方形 77"/>
          <p:cNvSpPr/>
          <p:nvPr/>
        </p:nvSpPr>
        <p:spPr bwMode="gray">
          <a:xfrm>
            <a:off x="1510630" y="2779272"/>
            <a:ext cx="1119211" cy="686492"/>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IB</a:t>
            </a:r>
            <a:r>
              <a:rPr lang="ja-JP" altLang="en-US" sz="1100" dirty="0">
                <a:solidFill>
                  <a:schemeClr val="tx1"/>
                </a:solidFill>
                <a:latin typeface="Meiryo UI" panose="020B0604030504040204" pitchFamily="50" charset="-128"/>
                <a:ea typeface="Meiryo UI" panose="020B0604030504040204" pitchFamily="50" charset="-128"/>
              </a:rPr>
              <a:t>：</a:t>
            </a:r>
            <a:r>
              <a:rPr lang="en-US" altLang="ja-JP" sz="1100" dirty="0">
                <a:solidFill>
                  <a:schemeClr val="tx1"/>
                </a:solidFill>
                <a:latin typeface="Meiryo UI" panose="020B0604030504040204" pitchFamily="50" charset="-128"/>
                <a:ea typeface="Meiryo UI" panose="020B0604030504040204" pitchFamily="50" charset="-128"/>
              </a:rPr>
              <a:t>EBS, </a:t>
            </a:r>
            <a:r>
              <a:rPr lang="en-US" altLang="ja-JP" sz="1100" dirty="0" err="1">
                <a:solidFill>
                  <a:schemeClr val="tx1"/>
                </a:solidFill>
                <a:latin typeface="Meiryo UI" panose="020B0604030504040204" pitchFamily="50" charset="-128"/>
                <a:ea typeface="Meiryo UI" panose="020B0604030504040204" pitchFamily="50" charset="-128"/>
              </a:rPr>
              <a:t>FXall</a:t>
            </a:r>
            <a:endParaRPr lang="en-US" altLang="ja-JP" sz="1100" dirty="0">
              <a:solidFill>
                <a:schemeClr val="tx1"/>
              </a:solidFill>
              <a:latin typeface="Meiryo UI" panose="020B0604030504040204" pitchFamily="50" charset="-128"/>
              <a:ea typeface="Meiryo UI" panose="020B0604030504040204" pitchFamily="50" charset="-128"/>
            </a:endParaRPr>
          </a:p>
          <a:p>
            <a:r>
              <a:rPr lang="ja-JP" altLang="en-US" sz="1100" dirty="0">
                <a:solidFill>
                  <a:schemeClr val="tx1"/>
                </a:solidFill>
                <a:latin typeface="Meiryo UI" panose="020B0604030504040204" pitchFamily="50" charset="-128"/>
                <a:ea typeface="Meiryo UI" panose="020B0604030504040204" pitchFamily="50" charset="-128"/>
              </a:rPr>
              <a:t>対顧：ｶｽﾀﾑ開発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79" name="Rectangle 3"/>
          <p:cNvSpPr/>
          <p:nvPr/>
        </p:nvSpPr>
        <p:spPr bwMode="gray">
          <a:xfrm>
            <a:off x="5069431" y="1131693"/>
            <a:ext cx="540000"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決済</a:t>
            </a:r>
            <a:endParaRPr kumimoji="1" lang="en-US" altLang="ja-JP" sz="1000" b="1" dirty="0">
              <a:latin typeface="Meiryo UI" panose="020B0604030504040204" pitchFamily="50" charset="-128"/>
              <a:ea typeface="Meiryo UI" panose="020B0604030504040204" pitchFamily="50" charset="-128"/>
              <a:cs typeface="Arial" charset="0"/>
            </a:endParaRPr>
          </a:p>
        </p:txBody>
      </p:sp>
      <p:sp>
        <p:nvSpPr>
          <p:cNvPr id="80" name="Rectangle 3"/>
          <p:cNvSpPr/>
          <p:nvPr/>
        </p:nvSpPr>
        <p:spPr bwMode="gray">
          <a:xfrm>
            <a:off x="6283543"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担保管理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1" name="Rectangle 3"/>
          <p:cNvSpPr/>
          <p:nvPr/>
        </p:nvSpPr>
        <p:spPr bwMode="gray">
          <a:xfrm>
            <a:off x="631289" y="1321354"/>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株式</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2" name="Rectangle 3"/>
          <p:cNvSpPr/>
          <p:nvPr/>
        </p:nvSpPr>
        <p:spPr bwMode="gray">
          <a:xfrm>
            <a:off x="631289" y="1685833"/>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債券</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3" name="Rectangle 3"/>
          <p:cNvSpPr/>
          <p:nvPr/>
        </p:nvSpPr>
        <p:spPr bwMode="gray">
          <a:xfrm>
            <a:off x="631289" y="2050313"/>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000" b="1" dirty="0">
                <a:solidFill>
                  <a:schemeClr val="tx1"/>
                </a:solidFill>
                <a:latin typeface="Meiryo UI" panose="020B0604030504040204" pitchFamily="50" charset="-128"/>
                <a:ea typeface="Meiryo UI" panose="020B0604030504040204" pitchFamily="50" charset="-128"/>
                <a:cs typeface="Arial" charset="0"/>
              </a:rPr>
              <a:t>MM</a:t>
            </a:r>
          </a:p>
        </p:txBody>
      </p:sp>
      <p:sp>
        <p:nvSpPr>
          <p:cNvPr id="84" name="Rectangle 3"/>
          <p:cNvSpPr/>
          <p:nvPr/>
        </p:nvSpPr>
        <p:spPr bwMode="gray">
          <a:xfrm>
            <a:off x="631289" y="2414792"/>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先物</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5" name="Rectangle 3"/>
          <p:cNvSpPr/>
          <p:nvPr/>
        </p:nvSpPr>
        <p:spPr bwMode="gray">
          <a:xfrm>
            <a:off x="631289" y="2779272"/>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為替</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6" name="Rectangle 3"/>
          <p:cNvSpPr/>
          <p:nvPr/>
        </p:nvSpPr>
        <p:spPr bwMode="gray">
          <a:xfrm>
            <a:off x="631289" y="3143751"/>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為替</a:t>
            </a:r>
            <a:r>
              <a:rPr kumimoji="1" lang="en-US" altLang="ja-JP" sz="1000" b="1" dirty="0">
                <a:solidFill>
                  <a:schemeClr val="tx1"/>
                </a:solidFill>
                <a:latin typeface="Meiryo UI" panose="020B0604030504040204" pitchFamily="50" charset="-128"/>
                <a:ea typeface="Meiryo UI" panose="020B0604030504040204" pitchFamily="50" charset="-128"/>
                <a:cs typeface="Arial" charset="0"/>
              </a:rPr>
              <a:t>OP</a:t>
            </a:r>
          </a:p>
        </p:txBody>
      </p:sp>
      <p:sp>
        <p:nvSpPr>
          <p:cNvPr id="87" name="Rectangle 3"/>
          <p:cNvSpPr/>
          <p:nvPr/>
        </p:nvSpPr>
        <p:spPr bwMode="gray">
          <a:xfrm>
            <a:off x="631289" y="3508230"/>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デリバティブ</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88" name="正方形/長方形 87"/>
          <p:cNvSpPr/>
          <p:nvPr/>
        </p:nvSpPr>
        <p:spPr bwMode="gray">
          <a:xfrm>
            <a:off x="1510630" y="3508230"/>
            <a:ext cx="1119211"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pPr algn="ctr"/>
            <a:r>
              <a:rPr lang="en-US" altLang="ja-JP" sz="1100" dirty="0" err="1">
                <a:solidFill>
                  <a:schemeClr val="tx1"/>
                </a:solidFill>
                <a:latin typeface="Meiryo UI" panose="020B0604030504040204" pitchFamily="50" charset="-128"/>
                <a:ea typeface="Meiryo UI" panose="020B0604030504040204" pitchFamily="50" charset="-128"/>
              </a:rPr>
              <a:t>Markit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89" name="正方形/長方形 88"/>
          <p:cNvSpPr/>
          <p:nvPr/>
        </p:nvSpPr>
        <p:spPr bwMode="gray">
          <a:xfrm>
            <a:off x="1510630" y="1321354"/>
            <a:ext cx="1119211" cy="1050971"/>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Reuters/</a:t>
            </a:r>
          </a:p>
          <a:p>
            <a:r>
              <a:rPr lang="en-US" altLang="ja-JP" sz="1100" dirty="0">
                <a:solidFill>
                  <a:schemeClr val="tx1"/>
                </a:solidFill>
                <a:latin typeface="Meiryo UI" panose="020B0604030504040204" pitchFamily="50" charset="-128"/>
                <a:ea typeface="Meiryo UI" panose="020B0604030504040204" pitchFamily="50" charset="-128"/>
              </a:rPr>
              <a:t>Bloomberg</a:t>
            </a:r>
          </a:p>
        </p:txBody>
      </p:sp>
      <p:sp>
        <p:nvSpPr>
          <p:cNvPr id="90" name="正方形/長方形 89"/>
          <p:cNvSpPr/>
          <p:nvPr/>
        </p:nvSpPr>
        <p:spPr bwMode="gray">
          <a:xfrm>
            <a:off x="2692612" y="2045577"/>
            <a:ext cx="2916819" cy="691228"/>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97" name="Rectangle 3"/>
          <p:cNvSpPr/>
          <p:nvPr/>
        </p:nvSpPr>
        <p:spPr bwMode="gray">
          <a:xfrm>
            <a:off x="7469810"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損益管理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98" name="Rectangle 3"/>
          <p:cNvSpPr/>
          <p:nvPr/>
        </p:nvSpPr>
        <p:spPr bwMode="gray">
          <a:xfrm>
            <a:off x="8656078" y="1131693"/>
            <a:ext cx="1119211"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リスク管理</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100" name="Rectangle 3"/>
          <p:cNvSpPr/>
          <p:nvPr/>
        </p:nvSpPr>
        <p:spPr bwMode="gray">
          <a:xfrm>
            <a:off x="7465170" y="914243"/>
            <a:ext cx="2310119" cy="18582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400" b="1" dirty="0">
                <a:solidFill>
                  <a:schemeClr val="bg1"/>
                </a:solidFill>
                <a:latin typeface="Meiryo UI" panose="020B0604030504040204" pitchFamily="50" charset="-128"/>
                <a:ea typeface="Meiryo UI" panose="020B0604030504040204" pitchFamily="50" charset="-128"/>
                <a:cs typeface="Arial" charset="0"/>
              </a:rPr>
              <a:t>ミドル</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101" name="正方形/長方形 100"/>
          <p:cNvSpPr/>
          <p:nvPr/>
        </p:nvSpPr>
        <p:spPr bwMode="gray">
          <a:xfrm>
            <a:off x="2692612" y="2779272"/>
            <a:ext cx="2310119" cy="69418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Treasury Trader</a:t>
            </a:r>
          </a:p>
        </p:txBody>
      </p:sp>
      <p:sp>
        <p:nvSpPr>
          <p:cNvPr id="102" name="Rectangle 3"/>
          <p:cNvSpPr/>
          <p:nvPr/>
        </p:nvSpPr>
        <p:spPr bwMode="gray">
          <a:xfrm>
            <a:off x="5069431" y="2779272"/>
            <a:ext cx="1147056" cy="694183"/>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03" name="正方形/長方形 102"/>
          <p:cNvSpPr/>
          <p:nvPr/>
        </p:nvSpPr>
        <p:spPr bwMode="gray">
          <a:xfrm>
            <a:off x="2692612" y="3508230"/>
            <a:ext cx="7073751"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04" name="正方形/長方形 103"/>
          <p:cNvSpPr/>
          <p:nvPr/>
        </p:nvSpPr>
        <p:spPr bwMode="gray">
          <a:xfrm>
            <a:off x="6283543" y="3143751"/>
            <a:ext cx="1119211"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1100" dirty="0" err="1">
                <a:solidFill>
                  <a:schemeClr val="tx1"/>
                </a:solidFill>
                <a:latin typeface="Meiryo UI" panose="020B0604030504040204" pitchFamily="50" charset="-128"/>
                <a:ea typeface="Meiryo UI" panose="020B0604030504040204" pitchFamily="50" charset="-128"/>
              </a:rPr>
              <a:t>Fenics</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05" name="正方形/長方形 104"/>
          <p:cNvSpPr/>
          <p:nvPr/>
        </p:nvSpPr>
        <p:spPr bwMode="gray">
          <a:xfrm>
            <a:off x="7465170" y="2779272"/>
            <a:ext cx="2310119"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Treasury Trader</a:t>
            </a:r>
          </a:p>
        </p:txBody>
      </p:sp>
      <p:sp>
        <p:nvSpPr>
          <p:cNvPr id="106" name="正方形/長方形 105"/>
          <p:cNvSpPr/>
          <p:nvPr/>
        </p:nvSpPr>
        <p:spPr bwMode="gray">
          <a:xfrm>
            <a:off x="7465170" y="3143751"/>
            <a:ext cx="2310119"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err="1">
                <a:solidFill>
                  <a:schemeClr val="tx1"/>
                </a:solidFill>
                <a:latin typeface="Meiryo UI" panose="020B0604030504040204" pitchFamily="50" charset="-128"/>
                <a:ea typeface="Meiryo UI" panose="020B0604030504040204" pitchFamily="50" charset="-128"/>
              </a:rPr>
              <a:t>Fenics</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17" name="Rectangle 3"/>
          <p:cNvSpPr/>
          <p:nvPr/>
        </p:nvSpPr>
        <p:spPr bwMode="gray">
          <a:xfrm>
            <a:off x="631289" y="3910556"/>
            <a:ext cx="839408" cy="576000"/>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株式</a:t>
            </a:r>
            <a:r>
              <a:rPr kumimoji="1" lang="en-US" altLang="ja-JP" sz="1000" b="1" dirty="0">
                <a:latin typeface="Meiryo UI" panose="020B0604030504040204" pitchFamily="50" charset="-128"/>
                <a:ea typeface="Meiryo UI" panose="020B0604030504040204" pitchFamily="50" charset="-128"/>
                <a:cs typeface="Arial" charset="0"/>
              </a:rPr>
              <a:t>/</a:t>
            </a:r>
            <a:r>
              <a:rPr kumimoji="1" lang="ja-JP" altLang="en-US" sz="1000" b="1" dirty="0">
                <a:latin typeface="Meiryo UI" panose="020B0604030504040204" pitchFamily="50" charset="-128"/>
                <a:ea typeface="Meiryo UI" panose="020B0604030504040204" pitchFamily="50" charset="-128"/>
                <a:cs typeface="Arial" charset="0"/>
              </a:rPr>
              <a:t>債券</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en-US" altLang="ja-JP" sz="1000" b="1" dirty="0">
                <a:latin typeface="Meiryo UI" panose="020B0604030504040204" pitchFamily="50" charset="-128"/>
                <a:ea typeface="Meiryo UI" panose="020B0604030504040204" pitchFamily="50" charset="-128"/>
                <a:cs typeface="Arial" charset="0"/>
              </a:rPr>
              <a:t>MM/</a:t>
            </a:r>
            <a:r>
              <a:rPr kumimoji="1" lang="ja-JP" altLang="en-US" sz="1000" b="1" dirty="0">
                <a:latin typeface="Meiryo UI" panose="020B0604030504040204" pitchFamily="50" charset="-128"/>
                <a:ea typeface="Meiryo UI" panose="020B0604030504040204" pitchFamily="50" charset="-128"/>
                <a:cs typeface="Arial" charset="0"/>
              </a:rPr>
              <a:t>先物</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為替</a:t>
            </a:r>
            <a:r>
              <a:rPr kumimoji="1" lang="en-US" altLang="ja-JP" sz="1000" b="1" dirty="0">
                <a:latin typeface="Meiryo UI" panose="020B0604030504040204" pitchFamily="50" charset="-128"/>
                <a:ea typeface="Meiryo UI" panose="020B0604030504040204" pitchFamily="50" charset="-128"/>
                <a:cs typeface="Arial" charset="0"/>
              </a:rPr>
              <a:t>/</a:t>
            </a:r>
            <a:r>
              <a:rPr kumimoji="1" lang="ja-JP" altLang="en-US" sz="1000" b="1" dirty="0">
                <a:latin typeface="Meiryo UI" panose="020B0604030504040204" pitchFamily="50" charset="-128"/>
                <a:ea typeface="Meiryo UI" panose="020B0604030504040204" pitchFamily="50" charset="-128"/>
                <a:cs typeface="Arial" charset="0"/>
              </a:rPr>
              <a:t>為替</a:t>
            </a:r>
            <a:r>
              <a:rPr kumimoji="1" lang="en-US" altLang="ja-JP" sz="1000" b="1" dirty="0">
                <a:latin typeface="Meiryo UI" panose="020B0604030504040204" pitchFamily="50" charset="-128"/>
                <a:ea typeface="Meiryo UI" panose="020B0604030504040204" pitchFamily="50" charset="-128"/>
                <a:cs typeface="Arial" charset="0"/>
              </a:rPr>
              <a:t>OP</a:t>
            </a:r>
          </a:p>
        </p:txBody>
      </p:sp>
      <p:sp>
        <p:nvSpPr>
          <p:cNvPr id="123" name="Rectangle 3"/>
          <p:cNvSpPr/>
          <p:nvPr/>
        </p:nvSpPr>
        <p:spPr bwMode="gray">
          <a:xfrm>
            <a:off x="631289" y="4547186"/>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デリバティブ</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124" name="正方形/長方形 123"/>
          <p:cNvSpPr/>
          <p:nvPr/>
        </p:nvSpPr>
        <p:spPr bwMode="gray">
          <a:xfrm>
            <a:off x="1510630" y="4547186"/>
            <a:ext cx="1119211"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pPr algn="ctr"/>
            <a:r>
              <a:rPr lang="en-US" altLang="ja-JP" sz="1100" dirty="0" err="1">
                <a:solidFill>
                  <a:schemeClr val="tx1"/>
                </a:solidFill>
                <a:latin typeface="Meiryo UI" panose="020B0604030504040204" pitchFamily="50" charset="-128"/>
                <a:ea typeface="Meiryo UI" panose="020B0604030504040204" pitchFamily="50" charset="-128"/>
              </a:rPr>
              <a:t>Markit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25" name="正方形/長方形 124"/>
          <p:cNvSpPr/>
          <p:nvPr/>
        </p:nvSpPr>
        <p:spPr bwMode="gray">
          <a:xfrm>
            <a:off x="1510630" y="3910557"/>
            <a:ext cx="1119211" cy="575999"/>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Reuters/</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1100" dirty="0">
                <a:solidFill>
                  <a:schemeClr val="tx1"/>
                </a:solidFill>
                <a:latin typeface="Meiryo UI" panose="020B0604030504040204" pitchFamily="50" charset="-128"/>
                <a:ea typeface="Meiryo UI" panose="020B0604030504040204" pitchFamily="50" charset="-128"/>
              </a:rPr>
              <a:t>Bloomberg/</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1100" dirty="0">
                <a:solidFill>
                  <a:schemeClr val="tx1"/>
                </a:solidFill>
                <a:latin typeface="Meiryo UI" panose="020B0604030504040204" pitchFamily="50" charset="-128"/>
                <a:ea typeface="Meiryo UI" panose="020B0604030504040204" pitchFamily="50" charset="-128"/>
              </a:rPr>
              <a:t>BARX</a:t>
            </a:r>
          </a:p>
        </p:txBody>
      </p:sp>
      <p:sp>
        <p:nvSpPr>
          <p:cNvPr id="126" name="正方形/長方形 125"/>
          <p:cNvSpPr/>
          <p:nvPr/>
        </p:nvSpPr>
        <p:spPr bwMode="gray">
          <a:xfrm>
            <a:off x="2692612" y="3910558"/>
            <a:ext cx="2916819" cy="958642"/>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31" name="Rectangle 3"/>
          <p:cNvSpPr/>
          <p:nvPr/>
        </p:nvSpPr>
        <p:spPr bwMode="gray">
          <a:xfrm>
            <a:off x="5676487" y="3910558"/>
            <a:ext cx="540000" cy="958642"/>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36" name="Rectangle 3"/>
          <p:cNvSpPr/>
          <p:nvPr/>
        </p:nvSpPr>
        <p:spPr bwMode="gray">
          <a:xfrm>
            <a:off x="126239" y="1321353"/>
            <a:ext cx="456913" cy="2508889"/>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400" b="1" dirty="0">
                <a:solidFill>
                  <a:schemeClr val="bg1"/>
                </a:solidFill>
                <a:latin typeface="Meiryo UI" panose="020B0604030504040204" pitchFamily="50" charset="-128"/>
                <a:ea typeface="Meiryo UI" panose="020B0604030504040204" pitchFamily="50" charset="-128"/>
                <a:cs typeface="Arial" charset="0"/>
              </a:rPr>
              <a:t>東京</a:t>
            </a:r>
            <a:endParaRPr kumimoji="1" lang="en-US" altLang="ja-JP" sz="1400" b="1" dirty="0">
              <a:solidFill>
                <a:schemeClr val="bg1"/>
              </a:solidFill>
              <a:latin typeface="Meiryo UI" panose="020B0604030504040204" pitchFamily="50" charset="-128"/>
              <a:ea typeface="Meiryo UI" panose="020B0604030504040204" pitchFamily="50" charset="-128"/>
              <a:cs typeface="Arial" charset="0"/>
            </a:endParaRPr>
          </a:p>
        </p:txBody>
      </p:sp>
      <p:sp>
        <p:nvSpPr>
          <p:cNvPr id="137" name="Rectangle 3"/>
          <p:cNvSpPr/>
          <p:nvPr/>
        </p:nvSpPr>
        <p:spPr bwMode="gray">
          <a:xfrm>
            <a:off x="126239" y="3910558"/>
            <a:ext cx="456913" cy="958642"/>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NY/</a:t>
            </a:r>
            <a:br>
              <a:rPr kumimoji="1" lang="en-US" altLang="ja-JP" sz="1400" b="1" dirty="0">
                <a:solidFill>
                  <a:schemeClr val="bg1"/>
                </a:solidFill>
                <a:latin typeface="Meiryo UI" panose="020B0604030504040204" pitchFamily="50" charset="-128"/>
                <a:ea typeface="Meiryo UI" panose="020B0604030504040204" pitchFamily="50" charset="-128"/>
                <a:cs typeface="Arial" charset="0"/>
              </a:rPr>
            </a:b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LDN</a:t>
            </a:r>
          </a:p>
        </p:txBody>
      </p:sp>
      <p:sp>
        <p:nvSpPr>
          <p:cNvPr id="139" name="Rectangle 3"/>
          <p:cNvSpPr/>
          <p:nvPr/>
        </p:nvSpPr>
        <p:spPr bwMode="gray">
          <a:xfrm>
            <a:off x="5676487" y="1131693"/>
            <a:ext cx="540000" cy="161006"/>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仕訳</a:t>
            </a:r>
            <a:endParaRPr kumimoji="1" lang="en-US" altLang="ja-JP" sz="1000" b="1" dirty="0">
              <a:latin typeface="Meiryo UI" panose="020B0604030504040204" pitchFamily="50" charset="-128"/>
              <a:ea typeface="Meiryo UI" panose="020B0604030504040204" pitchFamily="50" charset="-128"/>
              <a:cs typeface="Arial" charset="0"/>
            </a:endParaRPr>
          </a:p>
        </p:txBody>
      </p:sp>
      <p:sp>
        <p:nvSpPr>
          <p:cNvPr id="141" name="Rectangle 3"/>
          <p:cNvSpPr/>
          <p:nvPr/>
        </p:nvSpPr>
        <p:spPr bwMode="gray">
          <a:xfrm>
            <a:off x="6283543" y="3910558"/>
            <a:ext cx="1119600" cy="958642"/>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ー</a:t>
            </a:r>
            <a:br>
              <a:rPr lang="en-US" altLang="ja-JP" sz="900" dirty="0">
                <a:solidFill>
                  <a:schemeClr val="tx1"/>
                </a:solidFill>
                <a:latin typeface="Meiryo UI" panose="020B0604030504040204" pitchFamily="50" charset="-128"/>
                <a:ea typeface="Meiryo UI" panose="020B0604030504040204" pitchFamily="50" charset="-128"/>
              </a:rPr>
            </a:br>
            <a:r>
              <a:rPr lang="en-US" altLang="ja-JP" sz="900" dirty="0">
                <a:solidFill>
                  <a:schemeClr val="tx1"/>
                </a:solidFill>
                <a:latin typeface="Meiryo UI" panose="020B0604030504040204" pitchFamily="50" charset="-128"/>
                <a:ea typeface="Meiryo UI" panose="020B0604030504040204" pitchFamily="50" charset="-128"/>
              </a:rPr>
              <a:t>(</a:t>
            </a:r>
            <a:r>
              <a:rPr lang="ja-JP" altLang="en-US" sz="900" dirty="0">
                <a:solidFill>
                  <a:schemeClr val="tx1"/>
                </a:solidFill>
                <a:latin typeface="Meiryo UI" panose="020B0604030504040204" pitchFamily="50" charset="-128"/>
                <a:ea typeface="Meiryo UI" panose="020B0604030504040204" pitchFamily="50" charset="-128"/>
              </a:rPr>
              <a:t>東京にて集約管理</a:t>
            </a:r>
            <a:r>
              <a:rPr lang="en-US" altLang="ja-JP" sz="900" dirty="0">
                <a:solidFill>
                  <a:schemeClr val="tx1"/>
                </a:solidFill>
                <a:latin typeface="Meiryo UI" panose="020B0604030504040204" pitchFamily="50" charset="-128"/>
                <a:ea typeface="Meiryo UI" panose="020B0604030504040204" pitchFamily="50" charset="-128"/>
              </a:rPr>
              <a: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42" name="正方形/長方形 141"/>
          <p:cNvSpPr/>
          <p:nvPr/>
        </p:nvSpPr>
        <p:spPr bwMode="gray">
          <a:xfrm>
            <a:off x="7464089" y="3910558"/>
            <a:ext cx="2311200" cy="958642"/>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43" name="Rectangle 3"/>
          <p:cNvSpPr/>
          <p:nvPr/>
        </p:nvSpPr>
        <p:spPr bwMode="gray">
          <a:xfrm>
            <a:off x="6283543" y="2779272"/>
            <a:ext cx="1119600" cy="320400"/>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44" name="Rectangle 3"/>
          <p:cNvSpPr/>
          <p:nvPr/>
        </p:nvSpPr>
        <p:spPr bwMode="gray">
          <a:xfrm>
            <a:off x="1510630" y="2414792"/>
            <a:ext cx="1119600" cy="320400"/>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54" name="Rectangle 3"/>
          <p:cNvSpPr/>
          <p:nvPr/>
        </p:nvSpPr>
        <p:spPr bwMode="gray">
          <a:xfrm>
            <a:off x="631289" y="4928415"/>
            <a:ext cx="839408" cy="576000"/>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株式</a:t>
            </a:r>
            <a:r>
              <a:rPr kumimoji="1" lang="en-US" altLang="ja-JP" sz="1000" b="1" dirty="0">
                <a:latin typeface="Meiryo UI" panose="020B0604030504040204" pitchFamily="50" charset="-128"/>
                <a:ea typeface="Meiryo UI" panose="020B0604030504040204" pitchFamily="50" charset="-128"/>
                <a:cs typeface="Arial" charset="0"/>
              </a:rPr>
              <a:t>/</a:t>
            </a:r>
            <a:r>
              <a:rPr kumimoji="1" lang="ja-JP" altLang="en-US" sz="1000" b="1" dirty="0">
                <a:latin typeface="Meiryo UI" panose="020B0604030504040204" pitchFamily="50" charset="-128"/>
                <a:ea typeface="Meiryo UI" panose="020B0604030504040204" pitchFamily="50" charset="-128"/>
                <a:cs typeface="Arial" charset="0"/>
              </a:rPr>
              <a:t>債券</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en-US" altLang="ja-JP" sz="1000" b="1" dirty="0">
                <a:latin typeface="Meiryo UI" panose="020B0604030504040204" pitchFamily="50" charset="-128"/>
                <a:ea typeface="Meiryo UI" panose="020B0604030504040204" pitchFamily="50" charset="-128"/>
                <a:cs typeface="Arial" charset="0"/>
              </a:rPr>
              <a:t>MM/</a:t>
            </a:r>
            <a:r>
              <a:rPr kumimoji="1" lang="ja-JP" altLang="en-US" sz="1000" b="1" dirty="0">
                <a:latin typeface="Meiryo UI" panose="020B0604030504040204" pitchFamily="50" charset="-128"/>
                <a:ea typeface="Meiryo UI" panose="020B0604030504040204" pitchFamily="50" charset="-128"/>
                <a:cs typeface="Arial" charset="0"/>
              </a:rPr>
              <a:t>先物</a:t>
            </a:r>
            <a:r>
              <a:rPr kumimoji="1" lang="en-US" altLang="ja-JP" sz="1000" b="1" dirty="0">
                <a:latin typeface="Meiryo UI" panose="020B0604030504040204" pitchFamily="50" charset="-128"/>
                <a:ea typeface="Meiryo UI" panose="020B0604030504040204" pitchFamily="50" charset="-128"/>
                <a:cs typeface="Arial" charset="0"/>
              </a:rPr>
              <a:t>/</a:t>
            </a:r>
          </a:p>
          <a:p>
            <a:pPr algn="ctr" defTabSz="900113" fontAlgn="ctr">
              <a:spcBef>
                <a:spcPts val="0"/>
              </a:spcBef>
            </a:pPr>
            <a:r>
              <a:rPr kumimoji="1" lang="ja-JP" altLang="en-US" sz="1000" b="1" dirty="0">
                <a:latin typeface="Meiryo UI" panose="020B0604030504040204" pitchFamily="50" charset="-128"/>
                <a:ea typeface="Meiryo UI" panose="020B0604030504040204" pitchFamily="50" charset="-128"/>
                <a:cs typeface="Arial" charset="0"/>
              </a:rPr>
              <a:t>為替</a:t>
            </a:r>
            <a:endParaRPr kumimoji="1" lang="en-US" altLang="ja-JP" sz="1000" b="1" dirty="0">
              <a:latin typeface="Meiryo UI" panose="020B0604030504040204" pitchFamily="50" charset="-128"/>
              <a:ea typeface="Meiryo UI" panose="020B0604030504040204" pitchFamily="50" charset="-128"/>
              <a:cs typeface="Arial" charset="0"/>
            </a:endParaRPr>
          </a:p>
        </p:txBody>
      </p:sp>
      <p:sp>
        <p:nvSpPr>
          <p:cNvPr id="155" name="Rectangle 3"/>
          <p:cNvSpPr/>
          <p:nvPr/>
        </p:nvSpPr>
        <p:spPr bwMode="gray">
          <a:xfrm>
            <a:off x="631289" y="5565045"/>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為替</a:t>
            </a:r>
            <a:r>
              <a:rPr kumimoji="1" lang="en-US" altLang="ja-JP" sz="1000" b="1" dirty="0">
                <a:solidFill>
                  <a:schemeClr val="tx1"/>
                </a:solidFill>
                <a:latin typeface="Meiryo UI" panose="020B0604030504040204" pitchFamily="50" charset="-128"/>
                <a:ea typeface="Meiryo UI" panose="020B0604030504040204" pitchFamily="50" charset="-128"/>
                <a:cs typeface="Arial" charset="0"/>
              </a:rPr>
              <a:t>OP</a:t>
            </a:r>
          </a:p>
        </p:txBody>
      </p:sp>
      <p:sp>
        <p:nvSpPr>
          <p:cNvPr id="157" name="正方形/長方形 156"/>
          <p:cNvSpPr/>
          <p:nvPr/>
        </p:nvSpPr>
        <p:spPr bwMode="gray">
          <a:xfrm>
            <a:off x="1510630" y="4928416"/>
            <a:ext cx="1119211" cy="575999"/>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Reuters/</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1100" dirty="0">
                <a:solidFill>
                  <a:schemeClr val="tx1"/>
                </a:solidFill>
                <a:latin typeface="Meiryo UI" panose="020B0604030504040204" pitchFamily="50" charset="-128"/>
                <a:ea typeface="Meiryo UI" panose="020B0604030504040204" pitchFamily="50" charset="-128"/>
              </a:rPr>
              <a:t>Bloomberg/</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1100" dirty="0">
                <a:solidFill>
                  <a:schemeClr val="tx1"/>
                </a:solidFill>
                <a:latin typeface="Meiryo UI" panose="020B0604030504040204" pitchFamily="50" charset="-128"/>
                <a:ea typeface="Meiryo UI" panose="020B0604030504040204" pitchFamily="50" charset="-128"/>
              </a:rPr>
              <a:t>BARX</a:t>
            </a:r>
          </a:p>
        </p:txBody>
      </p:sp>
      <p:sp>
        <p:nvSpPr>
          <p:cNvPr id="158" name="正方形/長方形 157"/>
          <p:cNvSpPr/>
          <p:nvPr/>
        </p:nvSpPr>
        <p:spPr bwMode="gray">
          <a:xfrm>
            <a:off x="2692612" y="4928417"/>
            <a:ext cx="2309763" cy="575998"/>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59" name="Rectangle 3"/>
          <p:cNvSpPr/>
          <p:nvPr/>
        </p:nvSpPr>
        <p:spPr bwMode="gray">
          <a:xfrm>
            <a:off x="5676487" y="4928417"/>
            <a:ext cx="540000" cy="575998"/>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60" name="Rectangle 3"/>
          <p:cNvSpPr/>
          <p:nvPr/>
        </p:nvSpPr>
        <p:spPr bwMode="gray">
          <a:xfrm>
            <a:off x="126239" y="4928417"/>
            <a:ext cx="456913" cy="1341284"/>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HK/</a:t>
            </a:r>
            <a:br>
              <a:rPr kumimoji="1" lang="en-US" altLang="ja-JP" sz="1400" b="1" dirty="0">
                <a:solidFill>
                  <a:schemeClr val="bg1"/>
                </a:solidFill>
                <a:latin typeface="Meiryo UI" panose="020B0604030504040204" pitchFamily="50" charset="-128"/>
                <a:ea typeface="Meiryo UI" panose="020B0604030504040204" pitchFamily="50" charset="-128"/>
                <a:cs typeface="Arial" charset="0"/>
              </a:rPr>
            </a:br>
            <a:r>
              <a:rPr kumimoji="1" lang="en-US" altLang="ja-JP" sz="1400" b="1" dirty="0">
                <a:solidFill>
                  <a:schemeClr val="bg1"/>
                </a:solidFill>
                <a:latin typeface="Meiryo UI" panose="020B0604030504040204" pitchFamily="50" charset="-128"/>
                <a:ea typeface="Meiryo UI" panose="020B0604030504040204" pitchFamily="50" charset="-128"/>
                <a:cs typeface="Arial" charset="0"/>
              </a:rPr>
              <a:t>SG</a:t>
            </a:r>
          </a:p>
        </p:txBody>
      </p:sp>
      <p:sp>
        <p:nvSpPr>
          <p:cNvPr id="161" name="Rectangle 3"/>
          <p:cNvSpPr/>
          <p:nvPr/>
        </p:nvSpPr>
        <p:spPr bwMode="gray">
          <a:xfrm>
            <a:off x="6283543" y="4928417"/>
            <a:ext cx="1119600" cy="575998"/>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br>
              <a:rPr lang="en-US" altLang="ja-JP" sz="900" dirty="0">
                <a:solidFill>
                  <a:schemeClr val="tx1"/>
                </a:solidFill>
                <a:latin typeface="Meiryo UI" panose="020B0604030504040204" pitchFamily="50" charset="-128"/>
                <a:ea typeface="Meiryo UI" panose="020B0604030504040204" pitchFamily="50" charset="-128"/>
              </a:rPr>
            </a:br>
            <a:r>
              <a:rPr lang="en-US" altLang="ja-JP" sz="900" dirty="0">
                <a:solidFill>
                  <a:schemeClr val="tx1"/>
                </a:solidFill>
                <a:latin typeface="Meiryo UI" panose="020B0604030504040204" pitchFamily="50" charset="-128"/>
                <a:ea typeface="Meiryo UI" panose="020B0604030504040204" pitchFamily="50" charset="-128"/>
              </a:rPr>
              <a:t>(</a:t>
            </a:r>
            <a:r>
              <a:rPr lang="ja-JP" altLang="en-US" sz="900" dirty="0">
                <a:solidFill>
                  <a:schemeClr val="tx1"/>
                </a:solidFill>
                <a:latin typeface="Meiryo UI" panose="020B0604030504040204" pitchFamily="50" charset="-128"/>
                <a:ea typeface="Meiryo UI" panose="020B0604030504040204" pitchFamily="50" charset="-128"/>
              </a:rPr>
              <a:t>東京にて集約管理</a:t>
            </a:r>
            <a:r>
              <a:rPr lang="en-US" altLang="ja-JP" sz="900" dirty="0">
                <a:solidFill>
                  <a:schemeClr val="tx1"/>
                </a:solidFill>
                <a:latin typeface="Meiryo UI" panose="020B0604030504040204" pitchFamily="50" charset="-128"/>
                <a:ea typeface="Meiryo UI" panose="020B0604030504040204" pitchFamily="50" charset="-128"/>
              </a:rPr>
              <a:t>)</a:t>
            </a:r>
            <a:endParaRPr lang="en-US" altLang="ja-JP" sz="1600" dirty="0">
              <a:solidFill>
                <a:schemeClr val="tx1"/>
              </a:solidFill>
              <a:latin typeface="Meiryo UI" panose="020B0604030504040204" pitchFamily="50" charset="-128"/>
              <a:ea typeface="Meiryo UI" panose="020B0604030504040204" pitchFamily="50" charset="-128"/>
            </a:endParaRPr>
          </a:p>
        </p:txBody>
      </p:sp>
      <p:sp>
        <p:nvSpPr>
          <p:cNvPr id="162" name="正方形/長方形 161"/>
          <p:cNvSpPr/>
          <p:nvPr/>
        </p:nvSpPr>
        <p:spPr bwMode="gray">
          <a:xfrm>
            <a:off x="7464089" y="4928417"/>
            <a:ext cx="2311200" cy="575998"/>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64" name="Rectangle 3"/>
          <p:cNvSpPr/>
          <p:nvPr/>
        </p:nvSpPr>
        <p:spPr bwMode="gray">
          <a:xfrm>
            <a:off x="637449" y="5947688"/>
            <a:ext cx="839408" cy="322013"/>
          </a:xfrm>
          <a:prstGeom prst="rect">
            <a:avLst/>
          </a:prstGeom>
          <a:solidFill>
            <a:schemeClr val="bg1">
              <a:lumMod val="85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000" b="1" dirty="0">
                <a:solidFill>
                  <a:schemeClr val="tx1"/>
                </a:solidFill>
                <a:latin typeface="Meiryo UI" panose="020B0604030504040204" pitchFamily="50" charset="-128"/>
                <a:ea typeface="Meiryo UI" panose="020B0604030504040204" pitchFamily="50" charset="-128"/>
                <a:cs typeface="Arial" charset="0"/>
              </a:rPr>
              <a:t>デリバティブ</a:t>
            </a:r>
            <a:endParaRPr kumimoji="1" lang="en-US" altLang="ja-JP" sz="1000" b="1" dirty="0">
              <a:solidFill>
                <a:schemeClr val="tx1"/>
              </a:solidFill>
              <a:latin typeface="Meiryo UI" panose="020B0604030504040204" pitchFamily="50" charset="-128"/>
              <a:ea typeface="Meiryo UI" panose="020B0604030504040204" pitchFamily="50" charset="-128"/>
              <a:cs typeface="Arial" charset="0"/>
            </a:endParaRPr>
          </a:p>
        </p:txBody>
      </p:sp>
      <p:sp>
        <p:nvSpPr>
          <p:cNvPr id="165" name="正方形/長方形 164"/>
          <p:cNvSpPr/>
          <p:nvPr/>
        </p:nvSpPr>
        <p:spPr bwMode="gray">
          <a:xfrm>
            <a:off x="1516790" y="5947688"/>
            <a:ext cx="1119211"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pPr algn="ctr"/>
            <a:r>
              <a:rPr lang="en-US" altLang="ja-JP" sz="1100" dirty="0" err="1">
                <a:solidFill>
                  <a:schemeClr val="tx1"/>
                </a:solidFill>
                <a:latin typeface="Meiryo UI" panose="020B0604030504040204" pitchFamily="50" charset="-128"/>
                <a:ea typeface="Meiryo UI" panose="020B0604030504040204" pitchFamily="50" charset="-128"/>
              </a:rPr>
              <a:t>Markit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66" name="Rectangle 3"/>
          <p:cNvSpPr/>
          <p:nvPr/>
        </p:nvSpPr>
        <p:spPr bwMode="gray">
          <a:xfrm>
            <a:off x="1510629" y="5566658"/>
            <a:ext cx="8264659" cy="320400"/>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br>
              <a:rPr lang="en-US" altLang="ja-JP" sz="900" dirty="0">
                <a:solidFill>
                  <a:schemeClr val="tx1"/>
                </a:solidFill>
                <a:latin typeface="Meiryo UI" panose="020B0604030504040204" pitchFamily="50" charset="-128"/>
                <a:ea typeface="Meiryo UI" panose="020B0604030504040204" pitchFamily="50" charset="-128"/>
              </a:rPr>
            </a:br>
            <a:r>
              <a:rPr lang="en-US" altLang="ja-JP" sz="900" dirty="0">
                <a:solidFill>
                  <a:schemeClr val="tx1"/>
                </a:solidFill>
                <a:latin typeface="Meiryo UI" panose="020B0604030504040204" pitchFamily="50" charset="-128"/>
                <a:ea typeface="Meiryo UI" panose="020B0604030504040204" pitchFamily="50" charset="-128"/>
              </a:rPr>
              <a:t>(</a:t>
            </a:r>
            <a:r>
              <a:rPr lang="ja-JP" altLang="en-US" sz="900" dirty="0">
                <a:solidFill>
                  <a:schemeClr val="tx1"/>
                </a:solidFill>
                <a:latin typeface="Meiryo UI" panose="020B0604030504040204" pitchFamily="50" charset="-128"/>
                <a:ea typeface="Meiryo UI" panose="020B0604030504040204" pitchFamily="50" charset="-128"/>
              </a:rPr>
              <a:t>取扱なし</a:t>
            </a:r>
            <a:r>
              <a:rPr lang="en-US" altLang="ja-JP" sz="900" dirty="0">
                <a:solidFill>
                  <a:schemeClr val="tx1"/>
                </a:solidFill>
                <a:latin typeface="Meiryo UI" panose="020B0604030504040204" pitchFamily="50" charset="-128"/>
                <a:ea typeface="Meiryo UI" panose="020B0604030504040204" pitchFamily="50" charset="-128"/>
              </a:rPr>
              <a: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67" name="正方形/長方形 166"/>
          <p:cNvSpPr/>
          <p:nvPr/>
        </p:nvSpPr>
        <p:spPr bwMode="gray">
          <a:xfrm>
            <a:off x="2692612" y="5947687"/>
            <a:ext cx="2309763" cy="322013"/>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168" name="Rectangle 3"/>
          <p:cNvSpPr/>
          <p:nvPr/>
        </p:nvSpPr>
        <p:spPr bwMode="gray">
          <a:xfrm>
            <a:off x="5069431" y="4928417"/>
            <a:ext cx="540000" cy="575998"/>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900" dirty="0">
                <a:solidFill>
                  <a:schemeClr val="tx1"/>
                </a:solidFill>
                <a:latin typeface="Meiryo UI" panose="020B0604030504040204" pitchFamily="50" charset="-128"/>
                <a:ea typeface="Meiryo UI" panose="020B0604030504040204" pitchFamily="50" charset="-128"/>
              </a:rPr>
              <a:t>(</a:t>
            </a:r>
            <a:r>
              <a:rPr lang="ja-JP" altLang="en-US" sz="900" dirty="0">
                <a:solidFill>
                  <a:schemeClr val="tx1"/>
                </a:solidFill>
                <a:latin typeface="Meiryo UI" panose="020B0604030504040204" pitchFamily="50" charset="-128"/>
                <a:ea typeface="Meiryo UI" panose="020B0604030504040204" pitchFamily="50" charset="-128"/>
              </a:rPr>
              <a:t>手作業</a:t>
            </a:r>
            <a:r>
              <a:rPr lang="en-US" altLang="ja-JP" sz="900" dirty="0">
                <a:solidFill>
                  <a:schemeClr val="tx1"/>
                </a:solidFill>
                <a:latin typeface="Meiryo UI" panose="020B0604030504040204" pitchFamily="50" charset="-128"/>
                <a:ea typeface="Meiryo UI" panose="020B0604030504040204" pitchFamily="50" charset="-128"/>
              </a:rPr>
              <a: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69" name="Rectangle 3"/>
          <p:cNvSpPr/>
          <p:nvPr/>
        </p:nvSpPr>
        <p:spPr bwMode="gray">
          <a:xfrm>
            <a:off x="5676487" y="5949300"/>
            <a:ext cx="540000" cy="3204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70" name="Rectangle 3"/>
          <p:cNvSpPr/>
          <p:nvPr/>
        </p:nvSpPr>
        <p:spPr bwMode="gray">
          <a:xfrm>
            <a:off x="5069431" y="5949300"/>
            <a:ext cx="540000" cy="320400"/>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br>
              <a:rPr lang="en-US" altLang="ja-JP" sz="1100" dirty="0">
                <a:solidFill>
                  <a:schemeClr val="tx1"/>
                </a:solidFill>
                <a:latin typeface="Meiryo UI" panose="020B0604030504040204" pitchFamily="50" charset="-128"/>
                <a:ea typeface="Meiryo UI" panose="020B0604030504040204" pitchFamily="50" charset="-128"/>
              </a:rPr>
            </a:br>
            <a:r>
              <a:rPr lang="en-US" altLang="ja-JP" sz="900" dirty="0">
                <a:solidFill>
                  <a:schemeClr val="tx1"/>
                </a:solidFill>
                <a:latin typeface="Meiryo UI" panose="020B0604030504040204" pitchFamily="50" charset="-128"/>
                <a:ea typeface="Meiryo UI" panose="020B0604030504040204" pitchFamily="50" charset="-128"/>
              </a:rPr>
              <a:t>(</a:t>
            </a:r>
            <a:r>
              <a:rPr lang="ja-JP" altLang="en-US" sz="900" dirty="0">
                <a:solidFill>
                  <a:schemeClr val="tx1"/>
                </a:solidFill>
                <a:latin typeface="Meiryo UI" panose="020B0604030504040204" pitchFamily="50" charset="-128"/>
                <a:ea typeface="Meiryo UI" panose="020B0604030504040204" pitchFamily="50" charset="-128"/>
              </a:rPr>
              <a:t>手作業</a:t>
            </a:r>
            <a:r>
              <a:rPr lang="en-US" altLang="ja-JP" sz="900" dirty="0">
                <a:solidFill>
                  <a:schemeClr val="tx1"/>
                </a:solidFill>
                <a:latin typeface="Meiryo UI" panose="020B0604030504040204" pitchFamily="50" charset="-128"/>
                <a:ea typeface="Meiryo UI" panose="020B0604030504040204" pitchFamily="50" charset="-128"/>
              </a:rPr>
              <a:t>)</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171" name="Rectangle 3"/>
          <p:cNvSpPr/>
          <p:nvPr/>
        </p:nvSpPr>
        <p:spPr bwMode="gray">
          <a:xfrm>
            <a:off x="6283543" y="5949300"/>
            <a:ext cx="1119600" cy="320400"/>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br>
              <a:rPr lang="en-US" altLang="ja-JP" sz="900" dirty="0">
                <a:solidFill>
                  <a:schemeClr val="tx1"/>
                </a:solidFill>
                <a:latin typeface="Meiryo UI" panose="020B0604030504040204" pitchFamily="50" charset="-128"/>
                <a:ea typeface="Meiryo UI" panose="020B0604030504040204" pitchFamily="50" charset="-128"/>
              </a:rPr>
            </a:br>
            <a:r>
              <a:rPr lang="en-US" altLang="ja-JP" sz="900" dirty="0">
                <a:solidFill>
                  <a:schemeClr val="tx1"/>
                </a:solidFill>
                <a:latin typeface="Meiryo UI" panose="020B0604030504040204" pitchFamily="50" charset="-128"/>
                <a:ea typeface="Meiryo UI" panose="020B0604030504040204" pitchFamily="50" charset="-128"/>
              </a:rPr>
              <a:t>(</a:t>
            </a:r>
            <a:r>
              <a:rPr lang="ja-JP" altLang="en-US" sz="900" dirty="0">
                <a:solidFill>
                  <a:schemeClr val="tx1"/>
                </a:solidFill>
                <a:latin typeface="Meiryo UI" panose="020B0604030504040204" pitchFamily="50" charset="-128"/>
                <a:ea typeface="Meiryo UI" panose="020B0604030504040204" pitchFamily="50" charset="-128"/>
              </a:rPr>
              <a:t>東京にて集約管理</a:t>
            </a:r>
            <a:r>
              <a:rPr lang="en-US" altLang="ja-JP" sz="900" dirty="0">
                <a:solidFill>
                  <a:schemeClr val="tx1"/>
                </a:solidFill>
                <a:latin typeface="Meiryo UI" panose="020B0604030504040204" pitchFamily="50" charset="-128"/>
                <a:ea typeface="Meiryo UI" panose="020B0604030504040204" pitchFamily="50" charset="-128"/>
              </a:rPr>
              <a:t>)</a:t>
            </a:r>
            <a:endParaRPr lang="en-US" altLang="ja-JP" sz="1600" dirty="0">
              <a:solidFill>
                <a:schemeClr val="tx1"/>
              </a:solidFill>
              <a:latin typeface="Meiryo UI" panose="020B0604030504040204" pitchFamily="50" charset="-128"/>
              <a:ea typeface="Meiryo UI" panose="020B0604030504040204" pitchFamily="50" charset="-128"/>
            </a:endParaRPr>
          </a:p>
        </p:txBody>
      </p:sp>
      <p:sp>
        <p:nvSpPr>
          <p:cNvPr id="173" name="正方形/長方形 172"/>
          <p:cNvSpPr/>
          <p:nvPr/>
        </p:nvSpPr>
        <p:spPr bwMode="gray">
          <a:xfrm>
            <a:off x="7464089" y="5949300"/>
            <a:ext cx="2311200" cy="320400"/>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44" name="Rectangle 3"/>
          <p:cNvSpPr/>
          <p:nvPr/>
        </p:nvSpPr>
        <p:spPr bwMode="gray">
          <a:xfrm>
            <a:off x="7994948" y="437592"/>
            <a:ext cx="529548" cy="167561"/>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機能なし</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45" name="Rectangle 3"/>
          <p:cNvSpPr/>
          <p:nvPr/>
        </p:nvSpPr>
        <p:spPr bwMode="gray">
          <a:xfrm>
            <a:off x="8581495" y="437592"/>
            <a:ext cx="529548" cy="167561"/>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内製</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46" name="Rectangle 3"/>
          <p:cNvSpPr/>
          <p:nvPr/>
        </p:nvSpPr>
        <p:spPr bwMode="gray">
          <a:xfrm>
            <a:off x="9168042" y="437592"/>
            <a:ext cx="529548" cy="167561"/>
          </a:xfrm>
          <a:prstGeom prst="rect">
            <a:avLst/>
          </a:prstGeom>
          <a:solidFill>
            <a:schemeClr val="bg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900" dirty="0">
                <a:solidFill>
                  <a:schemeClr val="tx1"/>
                </a:solidFill>
                <a:latin typeface="Meiryo UI" panose="020B0604030504040204" pitchFamily="50" charset="-128"/>
                <a:ea typeface="Meiryo UI" panose="020B0604030504040204" pitchFamily="50" charset="-128"/>
              </a:rPr>
              <a:t>パッケージ</a:t>
            </a:r>
            <a:endParaRPr lang="en-US" altLang="ja-JP" sz="900" dirty="0">
              <a:solidFill>
                <a:schemeClr val="tx1"/>
              </a:solidFill>
              <a:latin typeface="Meiryo UI" panose="020B0604030504040204" pitchFamily="50" charset="-128"/>
              <a:ea typeface="Meiryo UI" panose="020B0604030504040204" pitchFamily="50" charset="-128"/>
            </a:endParaRPr>
          </a:p>
        </p:txBody>
      </p:sp>
      <p:sp>
        <p:nvSpPr>
          <p:cNvPr id="176" name="正方形/長方形 175"/>
          <p:cNvSpPr/>
          <p:nvPr/>
        </p:nvSpPr>
        <p:spPr bwMode="gray">
          <a:xfrm>
            <a:off x="7903029" y="296620"/>
            <a:ext cx="1872260" cy="39600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
                <a:schemeClr val="tx1"/>
              </a:buClr>
              <a:buSzTx/>
              <a:tabLst/>
            </a:pPr>
            <a:endParaRPr kumimoji="0" lang="ja-JP" altLang="en-US" sz="105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Rectangle 3"/>
          <p:cNvSpPr/>
          <p:nvPr/>
        </p:nvSpPr>
        <p:spPr bwMode="gray">
          <a:xfrm>
            <a:off x="7958504" y="212840"/>
            <a:ext cx="301218" cy="167560"/>
          </a:xfrm>
          <a:prstGeom prst="rect">
            <a:avLst/>
          </a:prstGeom>
          <a:solidFill>
            <a:schemeClr val="bg1"/>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r>
              <a:rPr lang="ja-JP" altLang="en-US" sz="900" dirty="0">
                <a:latin typeface="Meiryo UI" panose="020B0604030504040204" pitchFamily="50" charset="-128"/>
                <a:ea typeface="Meiryo UI" panose="020B0604030504040204" pitchFamily="50" charset="-128"/>
                <a:cs typeface="Arial" charset="0"/>
              </a:rPr>
              <a:t>凡例</a:t>
            </a:r>
            <a:endParaRPr lang="en-US" altLang="ja-JP" sz="900" dirty="0">
              <a:latin typeface="Meiryo UI" panose="020B0604030504040204" pitchFamily="50" charset="-128"/>
              <a:ea typeface="Meiryo UI" panose="020B0604030504040204" pitchFamily="50" charset="-128"/>
              <a:cs typeface="Arial" charset="0"/>
            </a:endParaRPr>
          </a:p>
        </p:txBody>
      </p:sp>
      <p:sp>
        <p:nvSpPr>
          <p:cNvPr id="67" name="Rectangle 3">
            <a:extLst>
              <a:ext uri="{FF2B5EF4-FFF2-40B4-BE49-F238E27FC236}">
                <a16:creationId xmlns:a16="http://schemas.microsoft.com/office/drawing/2014/main" id="{E10BDC82-EAA5-4F2F-8288-198E7E14004C}"/>
              </a:ext>
            </a:extLst>
          </p:cNvPr>
          <p:cNvSpPr/>
          <p:nvPr/>
        </p:nvSpPr>
        <p:spPr bwMode="gray">
          <a:xfrm>
            <a:off x="2696897" y="1321354"/>
            <a:ext cx="7069466" cy="680144"/>
          </a:xfrm>
          <a:prstGeom prst="rect">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err="1">
                <a:solidFill>
                  <a:schemeClr val="tx1"/>
                </a:solidFill>
                <a:latin typeface="Meiryo UI" panose="020B0604030504040204" pitchFamily="50" charset="-128"/>
                <a:ea typeface="Meiryo UI" panose="020B0604030504040204" pitchFamily="50" charset="-128"/>
              </a:rPr>
              <a:t>ー</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357D2FFC-6F1B-4723-A5AF-9994ECD2695C}"/>
              </a:ext>
            </a:extLst>
          </p:cNvPr>
          <p:cNvSpPr/>
          <p:nvPr/>
        </p:nvSpPr>
        <p:spPr bwMode="gray">
          <a:xfrm>
            <a:off x="6283544" y="2045577"/>
            <a:ext cx="3491746" cy="691228"/>
          </a:xfrm>
          <a:prstGeom prst="rect">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72000" tIns="36000" rIns="72000" bIns="36000" rtlCol="0" anchor="ctr"/>
          <a:lstStyle/>
          <a:p>
            <a:r>
              <a:rPr lang="en-US" altLang="ja-JP" sz="1100" dirty="0">
                <a:solidFill>
                  <a:schemeClr val="tx1"/>
                </a:solidFill>
                <a:latin typeface="Meiryo UI" panose="020B0604030504040204" pitchFamily="50" charset="-128"/>
                <a:ea typeface="Meiryo UI" panose="020B0604030504040204" pitchFamily="50" charset="-128"/>
              </a:rPr>
              <a:t>Calypso</a:t>
            </a:r>
          </a:p>
        </p:txBody>
      </p:sp>
      <p:sp>
        <p:nvSpPr>
          <p:cNvPr id="69" name="Rectangle 3">
            <a:extLst>
              <a:ext uri="{FF2B5EF4-FFF2-40B4-BE49-F238E27FC236}">
                <a16:creationId xmlns:a16="http://schemas.microsoft.com/office/drawing/2014/main" id="{BA6B3552-FBD7-4711-B0FC-3AA3708EBBF8}"/>
              </a:ext>
            </a:extLst>
          </p:cNvPr>
          <p:cNvSpPr/>
          <p:nvPr/>
        </p:nvSpPr>
        <p:spPr bwMode="gray">
          <a:xfrm>
            <a:off x="5671813" y="2045577"/>
            <a:ext cx="544674" cy="694183"/>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
        <p:nvSpPr>
          <p:cNvPr id="70" name="Rectangle 3">
            <a:extLst>
              <a:ext uri="{FF2B5EF4-FFF2-40B4-BE49-F238E27FC236}">
                <a16:creationId xmlns:a16="http://schemas.microsoft.com/office/drawing/2014/main" id="{89A2ED38-86F8-47A7-96FF-F2A8C63D44FC}"/>
              </a:ext>
            </a:extLst>
          </p:cNvPr>
          <p:cNvSpPr/>
          <p:nvPr/>
        </p:nvSpPr>
        <p:spPr bwMode="gray">
          <a:xfrm>
            <a:off x="9271279" y="1335166"/>
            <a:ext cx="432000" cy="2495076"/>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r>
              <a:rPr lang="ja-JP" altLang="en-US" sz="1100" dirty="0">
                <a:solidFill>
                  <a:schemeClr val="tx1"/>
                </a:solidFill>
                <a:latin typeface="Meiryo UI" panose="020B0604030504040204" pitchFamily="50" charset="-128"/>
                <a:ea typeface="Meiryo UI" panose="020B0604030504040204" pitchFamily="50" charset="-128"/>
              </a:rPr>
              <a:t>カスタマイズ</a:t>
            </a:r>
            <a:endParaRPr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911529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1"/>
          </p:nvPr>
        </p:nvSpPr>
        <p:spPr bwMode="gray"/>
        <p:txBody>
          <a:bodyPr/>
          <a:lstStyle/>
          <a:p>
            <a:fld id="{48A150E7-E09D-4C31-9917-0D6C90A70F8A}" type="slidenum">
              <a:rPr lang="en-US" altLang="ja-JP" smtClean="0">
                <a:latin typeface="+mn-ea"/>
                <a:ea typeface="+mn-ea"/>
              </a:rPr>
              <a:pPr/>
              <a:t>13</a:t>
            </a:fld>
            <a:endParaRPr lang="ja-JP" altLang="en-US">
              <a:latin typeface="+mn-ea"/>
              <a:ea typeface="+mn-ea"/>
            </a:endParaRPr>
          </a:p>
        </p:txBody>
      </p:sp>
      <p:sp>
        <p:nvSpPr>
          <p:cNvPr id="5" name="タイトル 1">
            <a:extLst>
              <a:ext uri="{FF2B5EF4-FFF2-40B4-BE49-F238E27FC236}">
                <a16:creationId xmlns:a16="http://schemas.microsoft.com/office/drawing/2014/main" id="{6492D33D-928A-41CB-9BA1-9F0948C53284}"/>
              </a:ext>
            </a:extLst>
          </p:cNvPr>
          <p:cNvSpPr txBox="1">
            <a:spLocks/>
          </p:cNvSpPr>
          <p:nvPr/>
        </p:nvSpPr>
        <p:spPr bwMode="gray">
          <a:xfrm>
            <a:off x="126239" y="360363"/>
            <a:ext cx="9648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4450" rIns="0" bIns="44450" numCol="1" anchor="b" anchorCtr="0" compatLnSpc="1">
            <a:prstTxWarp prst="textNoShape">
              <a:avLst/>
            </a:prstTxWarp>
          </a:bodyPr>
          <a:lstStyle>
            <a:lvl1pPr marL="266700" indent="-266700" algn="l" rtl="0" eaLnBrk="1" fontAlgn="base" hangingPunct="1">
              <a:spcBef>
                <a:spcPct val="0"/>
              </a:spcBef>
              <a:spcAft>
                <a:spcPct val="0"/>
              </a:spcAft>
              <a:tabLst/>
              <a:defRPr kumimoji="1" sz="2000" b="0">
                <a:solidFill>
                  <a:schemeClr val="accent1"/>
                </a:solidFill>
                <a:latin typeface="+mj-lt"/>
                <a:ea typeface="+mj-ea"/>
                <a:cs typeface="Meiryo UI" panose="020B0604030504040204" pitchFamily="50" charset="-128"/>
              </a:defRPr>
            </a:lvl1pPr>
            <a:lvl2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2pPr>
            <a:lvl3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3pPr>
            <a:lvl4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4pPr>
            <a:lvl5pPr marL="2667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5pPr>
            <a:lvl6pPr marL="7239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6pPr>
            <a:lvl7pPr marL="11811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7pPr>
            <a:lvl8pPr marL="16383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8pPr>
            <a:lvl9pPr marL="2095500" indent="-266700" algn="l" rtl="0" eaLnBrk="1" fontAlgn="base" hangingPunct="1">
              <a:spcBef>
                <a:spcPct val="0"/>
              </a:spcBef>
              <a:spcAft>
                <a:spcPct val="0"/>
              </a:spcAft>
              <a:defRPr kumimoji="1" sz="2000">
                <a:solidFill>
                  <a:srgbClr val="1A75CF"/>
                </a:solidFill>
                <a:latin typeface="Arial" pitchFamily="34" charset="0"/>
                <a:ea typeface="HGPｺﾞｼｯｸE" pitchFamily="50" charset="-128"/>
                <a:cs typeface="ＭＳ Ｐゴシック" pitchFamily="50" charset="-128"/>
              </a:defRPr>
            </a:lvl9pPr>
          </a:lstStyle>
          <a:p>
            <a:pPr>
              <a:buClrTx/>
              <a:tabLst>
                <a:tab pos="176213" algn="l"/>
              </a:tabLst>
            </a:pPr>
            <a:r>
              <a:rPr lang="ja-JP" altLang="en-US" kern="0" dirty="0">
                <a:latin typeface="+mn-ea"/>
                <a:ea typeface="+mn-ea"/>
              </a:rPr>
              <a:t>４</a:t>
            </a:r>
            <a:r>
              <a:rPr lang="en-US" altLang="ja-JP" kern="0" dirty="0">
                <a:latin typeface="+mn-ea"/>
                <a:ea typeface="+mn-ea"/>
              </a:rPr>
              <a:t>.</a:t>
            </a:r>
            <a:r>
              <a:rPr lang="ja-JP" altLang="en-US" kern="0" dirty="0">
                <a:latin typeface="+mn-ea"/>
                <a:ea typeface="+mn-ea"/>
              </a:rPr>
              <a:t> テクノロジー</a:t>
            </a:r>
            <a:br>
              <a:rPr lang="en-US" altLang="ja-JP" kern="0" dirty="0">
                <a:latin typeface="+mn-ea"/>
                <a:ea typeface="+mn-ea"/>
              </a:rPr>
            </a:br>
            <a:r>
              <a:rPr lang="en-US" altLang="ja-JP" kern="0" dirty="0">
                <a:latin typeface="+mn-ea"/>
                <a:ea typeface="+mn-ea"/>
              </a:rPr>
              <a:t>ii.</a:t>
            </a:r>
            <a:r>
              <a:rPr lang="ja-JP" altLang="en-US" kern="0" dirty="0">
                <a:latin typeface="+mn-ea"/>
                <a:ea typeface="+mn-ea"/>
              </a:rPr>
              <a:t> </a:t>
            </a:r>
            <a:r>
              <a:rPr lang="en-US" altLang="ja-JP" kern="0" dirty="0">
                <a:latin typeface="+mn-ea"/>
                <a:ea typeface="+mn-ea"/>
              </a:rPr>
              <a:t>New IT</a:t>
            </a:r>
            <a:r>
              <a:rPr lang="ja-JP" altLang="en-US" kern="0" dirty="0">
                <a:latin typeface="+mn-ea"/>
                <a:ea typeface="+mn-ea"/>
              </a:rPr>
              <a:t>の活用</a:t>
            </a:r>
          </a:p>
        </p:txBody>
      </p:sp>
      <p:sp>
        <p:nvSpPr>
          <p:cNvPr id="6" name="Rectangle 3">
            <a:extLst>
              <a:ext uri="{FF2B5EF4-FFF2-40B4-BE49-F238E27FC236}">
                <a16:creationId xmlns:a16="http://schemas.microsoft.com/office/drawing/2014/main" id="{98C72725-9F47-464A-AB31-57BBF358C677}"/>
              </a:ext>
            </a:extLst>
          </p:cNvPr>
          <p:cNvSpPr/>
          <p:nvPr/>
        </p:nvSpPr>
        <p:spPr bwMode="gray">
          <a:xfrm>
            <a:off x="1159190" y="1244529"/>
            <a:ext cx="1656000" cy="322251"/>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ja-JP" altLang="en-US" sz="1100" dirty="0">
                <a:solidFill>
                  <a:schemeClr val="bg1"/>
                </a:solidFill>
                <a:latin typeface="+mn-ea"/>
                <a:ea typeface="+mn-ea"/>
              </a:rPr>
              <a:t>ブロックチェーン</a:t>
            </a:r>
            <a:endParaRPr kumimoji="1" lang="en-US" altLang="ja-JP" sz="1100" dirty="0">
              <a:solidFill>
                <a:schemeClr val="bg1"/>
              </a:solidFill>
              <a:latin typeface="+mn-ea"/>
              <a:ea typeface="+mn-ea"/>
              <a:cs typeface="Arial" charset="0"/>
            </a:endParaRPr>
          </a:p>
        </p:txBody>
      </p:sp>
      <p:sp>
        <p:nvSpPr>
          <p:cNvPr id="7" name="Rectangle 3">
            <a:extLst>
              <a:ext uri="{FF2B5EF4-FFF2-40B4-BE49-F238E27FC236}">
                <a16:creationId xmlns:a16="http://schemas.microsoft.com/office/drawing/2014/main" id="{727C97AA-906A-4945-8475-FBDCEE2CB2E0}"/>
              </a:ext>
            </a:extLst>
          </p:cNvPr>
          <p:cNvSpPr/>
          <p:nvPr/>
        </p:nvSpPr>
        <p:spPr bwMode="gray">
          <a:xfrm>
            <a:off x="2880452" y="1244529"/>
            <a:ext cx="1656000" cy="322251"/>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lang="en-US" altLang="ja-JP" sz="1100" dirty="0">
                <a:solidFill>
                  <a:schemeClr val="bg1"/>
                </a:solidFill>
                <a:latin typeface="+mn-ea"/>
                <a:ea typeface="+mn-ea"/>
              </a:rPr>
              <a:t>AI</a:t>
            </a:r>
            <a:endParaRPr kumimoji="1" lang="en-US" altLang="ja-JP" sz="1100" dirty="0">
              <a:solidFill>
                <a:schemeClr val="bg1"/>
              </a:solidFill>
              <a:latin typeface="+mn-ea"/>
              <a:ea typeface="+mn-ea"/>
              <a:cs typeface="Arial" charset="0"/>
            </a:endParaRPr>
          </a:p>
        </p:txBody>
      </p:sp>
      <p:sp>
        <p:nvSpPr>
          <p:cNvPr id="9" name="Rectangle 3">
            <a:extLst>
              <a:ext uri="{FF2B5EF4-FFF2-40B4-BE49-F238E27FC236}">
                <a16:creationId xmlns:a16="http://schemas.microsoft.com/office/drawing/2014/main" id="{0B461CD3-6264-4580-B832-B2C80F4EDD55}"/>
              </a:ext>
            </a:extLst>
          </p:cNvPr>
          <p:cNvSpPr/>
          <p:nvPr/>
        </p:nvSpPr>
        <p:spPr bwMode="gray">
          <a:xfrm>
            <a:off x="4601714" y="1244529"/>
            <a:ext cx="1656000" cy="322251"/>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en-US" altLang="ja-JP" sz="1100" dirty="0">
                <a:solidFill>
                  <a:schemeClr val="bg1"/>
                </a:solidFill>
                <a:latin typeface="+mn-ea"/>
                <a:ea typeface="+mn-ea"/>
                <a:cs typeface="Arial" charset="0"/>
              </a:rPr>
              <a:t>RPA</a:t>
            </a:r>
          </a:p>
        </p:txBody>
      </p:sp>
      <p:sp>
        <p:nvSpPr>
          <p:cNvPr id="10" name="Rectangle 3">
            <a:extLst>
              <a:ext uri="{FF2B5EF4-FFF2-40B4-BE49-F238E27FC236}">
                <a16:creationId xmlns:a16="http://schemas.microsoft.com/office/drawing/2014/main" id="{7704BBC7-47AB-4C94-863E-C837D809F9A7}"/>
              </a:ext>
            </a:extLst>
          </p:cNvPr>
          <p:cNvSpPr/>
          <p:nvPr/>
        </p:nvSpPr>
        <p:spPr bwMode="gray">
          <a:xfrm>
            <a:off x="6322976" y="1244529"/>
            <a:ext cx="1656000" cy="322251"/>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100" dirty="0">
                <a:solidFill>
                  <a:schemeClr val="bg1"/>
                </a:solidFill>
                <a:latin typeface="+mn-ea"/>
                <a:ea typeface="+mn-ea"/>
                <a:cs typeface="Arial" charset="0"/>
              </a:rPr>
              <a:t>クラウド</a:t>
            </a:r>
            <a:endParaRPr kumimoji="1" lang="en-US" altLang="ja-JP" sz="1100" dirty="0">
              <a:solidFill>
                <a:schemeClr val="bg1"/>
              </a:solidFill>
              <a:latin typeface="+mn-ea"/>
              <a:ea typeface="+mn-ea"/>
              <a:cs typeface="Arial" charset="0"/>
            </a:endParaRPr>
          </a:p>
        </p:txBody>
      </p:sp>
      <p:sp>
        <p:nvSpPr>
          <p:cNvPr id="20" name="Rectangle 3">
            <a:extLst>
              <a:ext uri="{FF2B5EF4-FFF2-40B4-BE49-F238E27FC236}">
                <a16:creationId xmlns:a16="http://schemas.microsoft.com/office/drawing/2014/main" id="{C760D96B-9F79-4224-B0AC-0C1B94F47D05}"/>
              </a:ext>
            </a:extLst>
          </p:cNvPr>
          <p:cNvSpPr/>
          <p:nvPr/>
        </p:nvSpPr>
        <p:spPr bwMode="gray">
          <a:xfrm>
            <a:off x="8044234" y="1244529"/>
            <a:ext cx="1656000" cy="322251"/>
          </a:xfrm>
          <a:prstGeom prst="rect">
            <a:avLst/>
          </a:prstGeom>
          <a:solidFill>
            <a:schemeClr val="tx1">
              <a:lumMod val="50000"/>
              <a:lumOff val="50000"/>
            </a:schemeClr>
          </a:solidFill>
          <a:ln w="12700" cap="flat" cmpd="sng" algn="ctr">
            <a:noFill/>
            <a:prstDash val="solid"/>
            <a:round/>
            <a:headEnd type="none" w="med" len="med"/>
            <a:tailEnd type="none" w="med" len="med"/>
          </a:ln>
          <a:effectLst/>
        </p:spPr>
        <p:txBody>
          <a:bodyPr vert="horz" wrap="none" lIns="0" tIns="36000" rIns="0" bIns="36000" numCol="1" rtlCol="0" anchor="ctr" anchorCtr="0" compatLnSpc="1">
            <a:prstTxWarp prst="textNoShape">
              <a:avLst/>
            </a:prstTxWarp>
          </a:bodyPr>
          <a:lstStyle/>
          <a:p>
            <a:pPr algn="ctr" defTabSz="900113" fontAlgn="ctr">
              <a:spcBef>
                <a:spcPts val="0"/>
              </a:spcBef>
            </a:pPr>
            <a:r>
              <a:rPr kumimoji="1" lang="ja-JP" altLang="en-US" sz="1100" dirty="0">
                <a:solidFill>
                  <a:schemeClr val="bg1"/>
                </a:solidFill>
                <a:latin typeface="+mn-ea"/>
                <a:ea typeface="+mn-ea"/>
                <a:cs typeface="Arial" charset="0"/>
              </a:rPr>
              <a:t>ビッグデータ</a:t>
            </a:r>
            <a:endParaRPr kumimoji="1" lang="en-US" altLang="ja-JP" sz="1100" dirty="0">
              <a:solidFill>
                <a:schemeClr val="bg1"/>
              </a:solidFill>
              <a:latin typeface="+mn-ea"/>
              <a:ea typeface="+mn-ea"/>
              <a:cs typeface="Arial" charset="0"/>
            </a:endParaRPr>
          </a:p>
        </p:txBody>
      </p:sp>
      <p:sp>
        <p:nvSpPr>
          <p:cNvPr id="21" name="正方形/長方形 20">
            <a:extLst>
              <a:ext uri="{FF2B5EF4-FFF2-40B4-BE49-F238E27FC236}">
                <a16:creationId xmlns:a16="http://schemas.microsoft.com/office/drawing/2014/main" id="{9C14E8D2-C456-4B16-8937-BDBBE2CCB02F}"/>
              </a:ext>
            </a:extLst>
          </p:cNvPr>
          <p:cNvSpPr/>
          <p:nvPr/>
        </p:nvSpPr>
        <p:spPr bwMode="gray">
          <a:xfrm>
            <a:off x="1159190" y="2347409"/>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22" name="正方形/長方形 21">
            <a:extLst>
              <a:ext uri="{FF2B5EF4-FFF2-40B4-BE49-F238E27FC236}">
                <a16:creationId xmlns:a16="http://schemas.microsoft.com/office/drawing/2014/main" id="{764D4F57-239A-4145-9C47-7175641E1F28}"/>
              </a:ext>
            </a:extLst>
          </p:cNvPr>
          <p:cNvSpPr/>
          <p:nvPr/>
        </p:nvSpPr>
        <p:spPr bwMode="gray">
          <a:xfrm>
            <a:off x="2880452" y="2347409"/>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en-US" altLang="ja-JP" sz="900" dirty="0">
                <a:latin typeface="+mn-ea"/>
                <a:ea typeface="+mn-ea"/>
              </a:rPr>
              <a:t>AI</a:t>
            </a:r>
            <a:r>
              <a:rPr lang="ja-JP" altLang="en-US" sz="900" dirty="0">
                <a:latin typeface="+mn-ea"/>
                <a:ea typeface="+mn-ea"/>
              </a:rPr>
              <a:t>活⽤による</a:t>
            </a:r>
            <a:r>
              <a:rPr lang="ja-JP" altLang="en-US" sz="900" b="1" u="sng" dirty="0">
                <a:latin typeface="+mn-ea"/>
                <a:ea typeface="+mn-ea"/>
              </a:rPr>
              <a:t>問い合わせ窓⼝業務の効率化</a:t>
            </a:r>
            <a:r>
              <a:rPr lang="en-US" altLang="ja-JP" sz="900" dirty="0">
                <a:latin typeface="+mn-ea"/>
                <a:ea typeface="+mn-ea"/>
              </a:rPr>
              <a:t>(</a:t>
            </a:r>
            <a:r>
              <a:rPr lang="ja-JP" altLang="en-US" sz="900" dirty="0">
                <a:latin typeface="+mn-ea"/>
                <a:ea typeface="+mn-ea"/>
              </a:rPr>
              <a:t>りそな</a:t>
            </a:r>
            <a:r>
              <a:rPr lang="en-US" altLang="ja-JP" sz="900" dirty="0">
                <a:latin typeface="+mn-ea"/>
                <a:ea typeface="+mn-ea"/>
              </a:rPr>
              <a:t>)</a:t>
            </a:r>
          </a:p>
          <a:p>
            <a:pPr marL="87313" indent="-87313" algn="l">
              <a:buFont typeface="Arial" panose="020B0604020202020204" pitchFamily="34" charset="0"/>
              <a:buChar char="•"/>
            </a:pPr>
            <a:r>
              <a:rPr lang="ja-JP" altLang="en-US" sz="900" dirty="0">
                <a:latin typeface="+mn-ea"/>
                <a:ea typeface="+mn-ea"/>
              </a:rPr>
              <a:t>ロボアドによる</a:t>
            </a:r>
            <a:r>
              <a:rPr lang="ja-JP" altLang="en-US" sz="900" b="1" u="sng" dirty="0">
                <a:latin typeface="+mn-ea"/>
                <a:ea typeface="+mn-ea"/>
              </a:rPr>
              <a:t>資産運用シミュレーション</a:t>
            </a:r>
            <a:r>
              <a:rPr lang="ja-JP" altLang="en-US" sz="900" dirty="0">
                <a:latin typeface="+mn-ea"/>
                <a:ea typeface="+mn-ea"/>
              </a:rPr>
              <a:t>ツールを提供</a:t>
            </a:r>
            <a:r>
              <a:rPr lang="en-US" altLang="ja-JP" sz="900" dirty="0">
                <a:latin typeface="+mn-ea"/>
                <a:ea typeface="+mn-ea"/>
              </a:rPr>
              <a:t>(</a:t>
            </a:r>
            <a:r>
              <a:rPr lang="ja-JP" altLang="en-US" sz="900" dirty="0">
                <a:latin typeface="+mn-ea"/>
                <a:ea typeface="+mn-ea"/>
              </a:rPr>
              <a:t>りそな</a:t>
            </a:r>
            <a:r>
              <a:rPr lang="en-US" altLang="ja-JP" sz="900" dirty="0">
                <a:latin typeface="+mn-ea"/>
                <a:ea typeface="+mn-ea"/>
              </a:rPr>
              <a:t>)</a:t>
            </a:r>
            <a:endParaRPr lang="zh-TW" altLang="en-US" sz="900" dirty="0">
              <a:latin typeface="+mn-ea"/>
              <a:ea typeface="+mn-ea"/>
            </a:endParaRPr>
          </a:p>
        </p:txBody>
      </p:sp>
      <p:sp>
        <p:nvSpPr>
          <p:cNvPr id="23" name="正方形/長方形 22">
            <a:extLst>
              <a:ext uri="{FF2B5EF4-FFF2-40B4-BE49-F238E27FC236}">
                <a16:creationId xmlns:a16="http://schemas.microsoft.com/office/drawing/2014/main" id="{635D5942-0C23-4D9A-8564-AF25EA650E6F}"/>
              </a:ext>
            </a:extLst>
          </p:cNvPr>
          <p:cNvSpPr/>
          <p:nvPr/>
        </p:nvSpPr>
        <p:spPr bwMode="gray">
          <a:xfrm>
            <a:off x="4601714" y="2347409"/>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a:latin typeface="+mn-ea"/>
                <a:ea typeface="+mn-ea"/>
              </a:rPr>
              <a:t>ー</a:t>
            </a:r>
            <a:endParaRPr lang="zh-TW" altLang="en-US" sz="900" dirty="0">
              <a:latin typeface="+mn-ea"/>
              <a:ea typeface="+mn-ea"/>
            </a:endParaRPr>
          </a:p>
        </p:txBody>
      </p:sp>
      <p:sp>
        <p:nvSpPr>
          <p:cNvPr id="25" name="正方形/長方形 24">
            <a:extLst>
              <a:ext uri="{FF2B5EF4-FFF2-40B4-BE49-F238E27FC236}">
                <a16:creationId xmlns:a16="http://schemas.microsoft.com/office/drawing/2014/main" id="{28D2AEEE-EEA3-48FE-90F6-C6EF08D0D116}"/>
              </a:ext>
            </a:extLst>
          </p:cNvPr>
          <p:cNvSpPr/>
          <p:nvPr/>
        </p:nvSpPr>
        <p:spPr bwMode="gray">
          <a:xfrm>
            <a:off x="6322976" y="2347409"/>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en-US" altLang="ja-JP" sz="900" dirty="0">
                <a:latin typeface="+mn-ea"/>
                <a:ea typeface="+mn-ea"/>
              </a:rPr>
              <a:t>Salesforce</a:t>
            </a:r>
            <a:r>
              <a:rPr lang="ja-JP" altLang="en-US" sz="900" dirty="0">
                <a:latin typeface="+mn-ea"/>
                <a:ea typeface="+mn-ea"/>
              </a:rPr>
              <a:t>のクラウドサービスによる</a:t>
            </a:r>
            <a:r>
              <a:rPr lang="ja-JP" altLang="en-US" sz="900" b="1" u="sng" dirty="0">
                <a:latin typeface="+mn-ea"/>
                <a:ea typeface="+mn-ea"/>
              </a:rPr>
              <a:t>口座開設サイトの改善とマーケット情報発信機能の強化</a:t>
            </a:r>
            <a:r>
              <a:rPr lang="en-US" altLang="ja-JP" sz="900" dirty="0">
                <a:latin typeface="+mn-ea"/>
                <a:ea typeface="+mn-ea"/>
              </a:rPr>
              <a:t>(SMBC)</a:t>
            </a:r>
          </a:p>
        </p:txBody>
      </p:sp>
      <p:sp>
        <p:nvSpPr>
          <p:cNvPr id="26" name="正方形/長方形 25">
            <a:extLst>
              <a:ext uri="{FF2B5EF4-FFF2-40B4-BE49-F238E27FC236}">
                <a16:creationId xmlns:a16="http://schemas.microsoft.com/office/drawing/2014/main" id="{E47ADFB7-71E2-4EE1-A53B-2A104E83A8E2}"/>
              </a:ext>
            </a:extLst>
          </p:cNvPr>
          <p:cNvSpPr/>
          <p:nvPr/>
        </p:nvSpPr>
        <p:spPr bwMode="gray">
          <a:xfrm>
            <a:off x="8044234" y="2347409"/>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27" name="正方形/長方形 26">
            <a:extLst>
              <a:ext uri="{FF2B5EF4-FFF2-40B4-BE49-F238E27FC236}">
                <a16:creationId xmlns:a16="http://schemas.microsoft.com/office/drawing/2014/main" id="{812881E3-D45A-43FE-8F36-591537C6F561}"/>
              </a:ext>
            </a:extLst>
          </p:cNvPr>
          <p:cNvSpPr/>
          <p:nvPr/>
        </p:nvSpPr>
        <p:spPr bwMode="gray">
          <a:xfrm>
            <a:off x="1159190" y="3059035"/>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ja-JP" altLang="en-US" sz="900" b="1" u="sng" dirty="0">
                <a:latin typeface="+mn-ea"/>
                <a:ea typeface="+mn-ea"/>
              </a:rPr>
              <a:t>債権流動化業務</a:t>
            </a:r>
            <a:r>
              <a:rPr lang="ja-JP" altLang="en-US" sz="900" dirty="0">
                <a:latin typeface="+mn-ea"/>
                <a:ea typeface="+mn-ea"/>
              </a:rPr>
              <a:t>におけるブロックチェーンの活用</a:t>
            </a:r>
            <a:r>
              <a:rPr lang="en-US" altLang="ja-JP" sz="900" dirty="0">
                <a:latin typeface="+mn-ea"/>
                <a:ea typeface="+mn-ea"/>
              </a:rPr>
              <a:t>(</a:t>
            </a:r>
            <a:r>
              <a:rPr lang="en-US" altLang="ja-JP" sz="900" dirty="0">
                <a:solidFill>
                  <a:srgbClr val="00B0F0"/>
                </a:solidFill>
                <a:latin typeface="+mn-ea"/>
                <a:ea typeface="+mn-ea"/>
              </a:rPr>
              <a:t>SMTB</a:t>
            </a:r>
            <a:r>
              <a:rPr lang="en-US" altLang="ja-JP" sz="900" dirty="0">
                <a:latin typeface="+mn-ea"/>
                <a:ea typeface="+mn-ea"/>
              </a:rPr>
              <a:t>)</a:t>
            </a:r>
            <a:endParaRPr lang="zh-TW" altLang="en-US" sz="900" dirty="0">
              <a:latin typeface="+mn-ea"/>
              <a:ea typeface="+mn-ea"/>
            </a:endParaRPr>
          </a:p>
        </p:txBody>
      </p:sp>
      <p:sp>
        <p:nvSpPr>
          <p:cNvPr id="28" name="正方形/長方形 27">
            <a:extLst>
              <a:ext uri="{FF2B5EF4-FFF2-40B4-BE49-F238E27FC236}">
                <a16:creationId xmlns:a16="http://schemas.microsoft.com/office/drawing/2014/main" id="{2071095A-3592-4CA0-AB7C-DADA0BFF4195}"/>
              </a:ext>
            </a:extLst>
          </p:cNvPr>
          <p:cNvSpPr/>
          <p:nvPr/>
        </p:nvSpPr>
        <p:spPr bwMode="gray">
          <a:xfrm>
            <a:off x="2880452" y="3059035"/>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29" name="正方形/長方形 28">
            <a:extLst>
              <a:ext uri="{FF2B5EF4-FFF2-40B4-BE49-F238E27FC236}">
                <a16:creationId xmlns:a16="http://schemas.microsoft.com/office/drawing/2014/main" id="{CC3C0DAE-3B13-4382-97E3-699FD91D3BD5}"/>
              </a:ext>
            </a:extLst>
          </p:cNvPr>
          <p:cNvSpPr/>
          <p:nvPr/>
        </p:nvSpPr>
        <p:spPr bwMode="gray">
          <a:xfrm>
            <a:off x="4601714" y="3059035"/>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31" name="正方形/長方形 30">
            <a:extLst>
              <a:ext uri="{FF2B5EF4-FFF2-40B4-BE49-F238E27FC236}">
                <a16:creationId xmlns:a16="http://schemas.microsoft.com/office/drawing/2014/main" id="{9B72D83C-5E6E-49FF-AE52-73F7FCBBDE98}"/>
              </a:ext>
            </a:extLst>
          </p:cNvPr>
          <p:cNvSpPr/>
          <p:nvPr/>
        </p:nvSpPr>
        <p:spPr bwMode="gray">
          <a:xfrm>
            <a:off x="6322976" y="3059035"/>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32" name="正方形/長方形 31">
            <a:extLst>
              <a:ext uri="{FF2B5EF4-FFF2-40B4-BE49-F238E27FC236}">
                <a16:creationId xmlns:a16="http://schemas.microsoft.com/office/drawing/2014/main" id="{022D6806-AC04-450B-A848-30F921F348C7}"/>
              </a:ext>
            </a:extLst>
          </p:cNvPr>
          <p:cNvSpPr/>
          <p:nvPr/>
        </p:nvSpPr>
        <p:spPr bwMode="gray">
          <a:xfrm>
            <a:off x="8044234" y="3059035"/>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33" name="正方形/長方形 32">
            <a:extLst>
              <a:ext uri="{FF2B5EF4-FFF2-40B4-BE49-F238E27FC236}">
                <a16:creationId xmlns:a16="http://schemas.microsoft.com/office/drawing/2014/main" id="{F7522EC9-82D1-4842-94B3-AF3BEAE5C954}"/>
              </a:ext>
            </a:extLst>
          </p:cNvPr>
          <p:cNvSpPr/>
          <p:nvPr/>
        </p:nvSpPr>
        <p:spPr bwMode="gray">
          <a:xfrm>
            <a:off x="1159190" y="3770661"/>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ja-JP" altLang="en-US" sz="900" dirty="0">
                <a:latin typeface="+mn-ea"/>
                <a:ea typeface="+mn-ea"/>
              </a:rPr>
              <a:t>ブロックチェーンによる</a:t>
            </a:r>
            <a:r>
              <a:rPr lang="ja-JP" altLang="en-US" sz="900" b="1" u="sng" dirty="0">
                <a:latin typeface="+mn-ea"/>
                <a:ea typeface="+mn-ea"/>
              </a:rPr>
              <a:t>不動産取引記録の管理</a:t>
            </a:r>
            <a:r>
              <a:rPr lang="en-US" altLang="ja-JP" sz="900" dirty="0">
                <a:latin typeface="+mn-ea"/>
                <a:ea typeface="+mn-ea"/>
              </a:rPr>
              <a:t>(</a:t>
            </a:r>
            <a:r>
              <a:rPr lang="en-US" altLang="ja-JP" sz="900" dirty="0">
                <a:solidFill>
                  <a:srgbClr val="00B0F0"/>
                </a:solidFill>
                <a:latin typeface="+mn-ea"/>
                <a:ea typeface="+mn-ea"/>
              </a:rPr>
              <a:t>SMTB</a:t>
            </a:r>
            <a:r>
              <a:rPr lang="en-US" altLang="ja-JP" sz="900" dirty="0">
                <a:latin typeface="+mn-ea"/>
                <a:ea typeface="+mn-ea"/>
              </a:rPr>
              <a:t>)</a:t>
            </a:r>
            <a:endParaRPr lang="zh-TW" altLang="en-US" sz="900" dirty="0">
              <a:latin typeface="+mn-ea"/>
              <a:ea typeface="+mn-ea"/>
            </a:endParaRPr>
          </a:p>
        </p:txBody>
      </p:sp>
      <p:sp>
        <p:nvSpPr>
          <p:cNvPr id="34" name="正方形/長方形 33">
            <a:extLst>
              <a:ext uri="{FF2B5EF4-FFF2-40B4-BE49-F238E27FC236}">
                <a16:creationId xmlns:a16="http://schemas.microsoft.com/office/drawing/2014/main" id="{E4683402-3DE7-4DB3-BCB8-85142939B319}"/>
              </a:ext>
            </a:extLst>
          </p:cNvPr>
          <p:cNvSpPr/>
          <p:nvPr/>
        </p:nvSpPr>
        <p:spPr bwMode="gray">
          <a:xfrm>
            <a:off x="2880452" y="3770661"/>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tabLst>
                <a:tab pos="261938" algn="l"/>
              </a:tabLst>
            </a:pPr>
            <a:r>
              <a:rPr lang="en-US" altLang="ja-JP" sz="900" dirty="0">
                <a:latin typeface="+mn-ea"/>
                <a:ea typeface="+mn-ea"/>
              </a:rPr>
              <a:t>AI</a:t>
            </a:r>
            <a:r>
              <a:rPr lang="ja-JP" altLang="en-US" sz="900" dirty="0">
                <a:latin typeface="+mn-ea"/>
                <a:ea typeface="+mn-ea"/>
              </a:rPr>
              <a:t>による</a:t>
            </a:r>
            <a:r>
              <a:rPr lang="ja-JP" altLang="en-US" sz="900" b="1" u="sng" dirty="0">
                <a:latin typeface="+mn-ea"/>
                <a:ea typeface="+mn-ea"/>
              </a:rPr>
              <a:t>不動産関連情報の分析</a:t>
            </a:r>
            <a:r>
              <a:rPr lang="en-US" altLang="ja-JP" sz="900" dirty="0">
                <a:latin typeface="+mn-ea"/>
                <a:ea typeface="+mn-ea"/>
              </a:rPr>
              <a:t>(</a:t>
            </a:r>
            <a:r>
              <a:rPr lang="en-US" altLang="ja-JP" sz="900" dirty="0">
                <a:solidFill>
                  <a:srgbClr val="00B0F0"/>
                </a:solidFill>
                <a:latin typeface="+mn-ea"/>
                <a:ea typeface="+mn-ea"/>
              </a:rPr>
              <a:t>SMTB</a:t>
            </a:r>
            <a:r>
              <a:rPr lang="en-US" altLang="ja-JP" sz="900" dirty="0">
                <a:latin typeface="+mn-ea"/>
                <a:ea typeface="+mn-ea"/>
              </a:rPr>
              <a:t>)</a:t>
            </a:r>
            <a:endParaRPr lang="zh-TW" altLang="en-US" sz="900" dirty="0">
              <a:latin typeface="+mn-ea"/>
              <a:ea typeface="+mn-ea"/>
            </a:endParaRPr>
          </a:p>
        </p:txBody>
      </p:sp>
      <p:sp>
        <p:nvSpPr>
          <p:cNvPr id="35" name="正方形/長方形 34">
            <a:extLst>
              <a:ext uri="{FF2B5EF4-FFF2-40B4-BE49-F238E27FC236}">
                <a16:creationId xmlns:a16="http://schemas.microsoft.com/office/drawing/2014/main" id="{9FF622D4-5353-4407-A46F-B9FBF53EEEAD}"/>
              </a:ext>
            </a:extLst>
          </p:cNvPr>
          <p:cNvSpPr/>
          <p:nvPr/>
        </p:nvSpPr>
        <p:spPr bwMode="gray">
          <a:xfrm>
            <a:off x="4601714" y="3770661"/>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37" name="正方形/長方形 36">
            <a:extLst>
              <a:ext uri="{FF2B5EF4-FFF2-40B4-BE49-F238E27FC236}">
                <a16:creationId xmlns:a16="http://schemas.microsoft.com/office/drawing/2014/main" id="{12CC32E1-723A-4860-9910-C80768A1A8CF}"/>
              </a:ext>
            </a:extLst>
          </p:cNvPr>
          <p:cNvSpPr/>
          <p:nvPr/>
        </p:nvSpPr>
        <p:spPr bwMode="gray">
          <a:xfrm>
            <a:off x="6322976" y="3770661"/>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38" name="正方形/長方形 37">
            <a:extLst>
              <a:ext uri="{FF2B5EF4-FFF2-40B4-BE49-F238E27FC236}">
                <a16:creationId xmlns:a16="http://schemas.microsoft.com/office/drawing/2014/main" id="{7F6FC187-8993-4BC5-B8E5-4A4AE75DCDA7}"/>
              </a:ext>
            </a:extLst>
          </p:cNvPr>
          <p:cNvSpPr/>
          <p:nvPr/>
        </p:nvSpPr>
        <p:spPr bwMode="gray">
          <a:xfrm>
            <a:off x="8044234" y="3770661"/>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39" name="正方形/長方形 38">
            <a:extLst>
              <a:ext uri="{FF2B5EF4-FFF2-40B4-BE49-F238E27FC236}">
                <a16:creationId xmlns:a16="http://schemas.microsoft.com/office/drawing/2014/main" id="{E1D5AE71-549D-43F6-85A2-7FEE4557C2E2}"/>
              </a:ext>
            </a:extLst>
          </p:cNvPr>
          <p:cNvSpPr/>
          <p:nvPr/>
        </p:nvSpPr>
        <p:spPr bwMode="gray">
          <a:xfrm>
            <a:off x="1159190" y="4482287"/>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40" name="正方形/長方形 39">
            <a:extLst>
              <a:ext uri="{FF2B5EF4-FFF2-40B4-BE49-F238E27FC236}">
                <a16:creationId xmlns:a16="http://schemas.microsoft.com/office/drawing/2014/main" id="{4A8F85E4-C579-4DEB-9C74-5700B9BFE6DD}"/>
              </a:ext>
            </a:extLst>
          </p:cNvPr>
          <p:cNvSpPr/>
          <p:nvPr/>
        </p:nvSpPr>
        <p:spPr bwMode="gray">
          <a:xfrm>
            <a:off x="2880452" y="4482287"/>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en-US" altLang="ja-JP" sz="900" dirty="0">
                <a:latin typeface="+mn-ea"/>
                <a:ea typeface="+mn-ea"/>
              </a:rPr>
              <a:t>AI</a:t>
            </a:r>
            <a:r>
              <a:rPr lang="ja-JP" altLang="en-US" sz="900" dirty="0">
                <a:latin typeface="+mn-ea"/>
                <a:ea typeface="+mn-ea"/>
              </a:rPr>
              <a:t>活用による</a:t>
            </a:r>
            <a:r>
              <a:rPr lang="ja-JP" altLang="en-US" sz="900" b="1" u="sng" dirty="0">
                <a:latin typeface="+mn-ea"/>
                <a:ea typeface="+mn-ea"/>
              </a:rPr>
              <a:t>コールセンターの照会対応高度化</a:t>
            </a:r>
            <a:r>
              <a:rPr lang="en-US" altLang="ja-JP" sz="900" dirty="0">
                <a:latin typeface="+mn-ea"/>
                <a:ea typeface="+mn-ea"/>
              </a:rPr>
              <a:t>(</a:t>
            </a:r>
            <a:r>
              <a:rPr lang="en-US" altLang="ja-JP" sz="900" dirty="0">
                <a:solidFill>
                  <a:srgbClr val="00B0F0"/>
                </a:solidFill>
                <a:latin typeface="+mn-ea"/>
                <a:ea typeface="+mn-ea"/>
              </a:rPr>
              <a:t>SMTB</a:t>
            </a:r>
            <a:r>
              <a:rPr lang="en-US" altLang="ja-JP" sz="900" dirty="0">
                <a:latin typeface="+mn-ea"/>
                <a:ea typeface="+mn-ea"/>
              </a:rPr>
              <a:t>)</a:t>
            </a:r>
            <a:endParaRPr lang="zh-TW" altLang="en-US" sz="900" dirty="0">
              <a:latin typeface="+mn-ea"/>
              <a:ea typeface="+mn-ea"/>
            </a:endParaRPr>
          </a:p>
        </p:txBody>
      </p:sp>
      <p:sp>
        <p:nvSpPr>
          <p:cNvPr id="41" name="正方形/長方形 40">
            <a:extLst>
              <a:ext uri="{FF2B5EF4-FFF2-40B4-BE49-F238E27FC236}">
                <a16:creationId xmlns:a16="http://schemas.microsoft.com/office/drawing/2014/main" id="{A5F9BD8A-7578-4349-B0ED-52B0D328347E}"/>
              </a:ext>
            </a:extLst>
          </p:cNvPr>
          <p:cNvSpPr/>
          <p:nvPr/>
        </p:nvSpPr>
        <p:spPr bwMode="gray">
          <a:xfrm>
            <a:off x="4601714" y="4482287"/>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43" name="正方形/長方形 42">
            <a:extLst>
              <a:ext uri="{FF2B5EF4-FFF2-40B4-BE49-F238E27FC236}">
                <a16:creationId xmlns:a16="http://schemas.microsoft.com/office/drawing/2014/main" id="{5BE462C1-3C66-4EF7-8956-453A7E4899FF}"/>
              </a:ext>
            </a:extLst>
          </p:cNvPr>
          <p:cNvSpPr/>
          <p:nvPr/>
        </p:nvSpPr>
        <p:spPr bwMode="gray">
          <a:xfrm>
            <a:off x="6322976" y="4482287"/>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44" name="正方形/長方形 43">
            <a:extLst>
              <a:ext uri="{FF2B5EF4-FFF2-40B4-BE49-F238E27FC236}">
                <a16:creationId xmlns:a16="http://schemas.microsoft.com/office/drawing/2014/main" id="{A58F4F16-3EF6-4D74-918C-DDC5E73F96F5}"/>
              </a:ext>
            </a:extLst>
          </p:cNvPr>
          <p:cNvSpPr/>
          <p:nvPr/>
        </p:nvSpPr>
        <p:spPr bwMode="gray">
          <a:xfrm>
            <a:off x="8044234" y="4482287"/>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45" name="正方形/長方形 44">
            <a:extLst>
              <a:ext uri="{FF2B5EF4-FFF2-40B4-BE49-F238E27FC236}">
                <a16:creationId xmlns:a16="http://schemas.microsoft.com/office/drawing/2014/main" id="{654BC416-DD7B-42D7-A0D4-0E85717C0D4C}"/>
              </a:ext>
            </a:extLst>
          </p:cNvPr>
          <p:cNvSpPr/>
          <p:nvPr/>
        </p:nvSpPr>
        <p:spPr bwMode="gray">
          <a:xfrm>
            <a:off x="1159190" y="519391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8900" indent="-88900" algn="l">
              <a:buFont typeface="Arial" panose="020B0604020202020204" pitchFamily="34" charset="0"/>
              <a:buChar char="•"/>
            </a:pPr>
            <a:r>
              <a:rPr lang="ja-JP" altLang="en-US" sz="900" b="1" u="sng" dirty="0">
                <a:latin typeface="+mn-ea"/>
                <a:ea typeface="+mn-ea"/>
              </a:rPr>
              <a:t>グローバル・カストディの口座開設業務</a:t>
            </a:r>
            <a:r>
              <a:rPr lang="ja-JP" altLang="en-US" sz="900" dirty="0">
                <a:latin typeface="+mn-ea"/>
                <a:ea typeface="+mn-ea"/>
              </a:rPr>
              <a:t>にブロックチェーンを活用 </a:t>
            </a:r>
            <a:r>
              <a:rPr lang="en-US" altLang="ja-JP" sz="900" dirty="0">
                <a:latin typeface="+mn-ea"/>
                <a:ea typeface="+mn-ea"/>
              </a:rPr>
              <a:t>(</a:t>
            </a:r>
            <a:r>
              <a:rPr lang="en-US" altLang="ja-JP" sz="900" dirty="0">
                <a:solidFill>
                  <a:srgbClr val="00B0F0"/>
                </a:solidFill>
                <a:latin typeface="+mn-ea"/>
                <a:ea typeface="+mn-ea"/>
              </a:rPr>
              <a:t>SMTB</a:t>
            </a:r>
            <a:r>
              <a:rPr lang="en-US" altLang="ja-JP" sz="900" dirty="0">
                <a:latin typeface="+mn-ea"/>
                <a:ea typeface="+mn-ea"/>
              </a:rPr>
              <a:t>)</a:t>
            </a:r>
          </a:p>
        </p:txBody>
      </p:sp>
      <p:sp>
        <p:nvSpPr>
          <p:cNvPr id="46" name="正方形/長方形 45">
            <a:extLst>
              <a:ext uri="{FF2B5EF4-FFF2-40B4-BE49-F238E27FC236}">
                <a16:creationId xmlns:a16="http://schemas.microsoft.com/office/drawing/2014/main" id="{37D97B78-2485-4F2B-8313-9997C74043C7}"/>
              </a:ext>
            </a:extLst>
          </p:cNvPr>
          <p:cNvSpPr/>
          <p:nvPr/>
        </p:nvSpPr>
        <p:spPr bwMode="gray">
          <a:xfrm>
            <a:off x="2880452" y="519391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en-US" altLang="ja-JP" sz="900" b="1" u="sng" dirty="0">
                <a:latin typeface="+mn-ea"/>
                <a:ea typeface="+mn-ea"/>
              </a:rPr>
              <a:t>AI</a:t>
            </a:r>
            <a:r>
              <a:rPr lang="ja-JP" altLang="en-US" sz="900" b="1" u="sng" dirty="0">
                <a:latin typeface="+mn-ea"/>
                <a:ea typeface="+mn-ea"/>
              </a:rPr>
              <a:t>が運用する投資信託</a:t>
            </a:r>
            <a:r>
              <a:rPr lang="ja-JP" altLang="en-US" sz="900" dirty="0">
                <a:latin typeface="+mn-ea"/>
                <a:ea typeface="+mn-ea"/>
              </a:rPr>
              <a:t>を開発</a:t>
            </a:r>
            <a:r>
              <a:rPr lang="en-US" altLang="ja-JP" sz="900" dirty="0">
                <a:latin typeface="+mn-ea"/>
                <a:ea typeface="+mn-ea"/>
              </a:rPr>
              <a:t>(MUTB)</a:t>
            </a:r>
            <a:endParaRPr lang="zh-TW" altLang="en-US" sz="900" dirty="0">
              <a:latin typeface="+mn-ea"/>
              <a:ea typeface="+mn-ea"/>
            </a:endParaRPr>
          </a:p>
        </p:txBody>
      </p:sp>
      <p:sp>
        <p:nvSpPr>
          <p:cNvPr id="47" name="正方形/長方形 46">
            <a:extLst>
              <a:ext uri="{FF2B5EF4-FFF2-40B4-BE49-F238E27FC236}">
                <a16:creationId xmlns:a16="http://schemas.microsoft.com/office/drawing/2014/main" id="{8DA6B909-58BE-424A-A1D4-93BCA568FB3C}"/>
              </a:ext>
            </a:extLst>
          </p:cNvPr>
          <p:cNvSpPr/>
          <p:nvPr/>
        </p:nvSpPr>
        <p:spPr bwMode="gray">
          <a:xfrm>
            <a:off x="4601714" y="519391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49" name="正方形/長方形 48">
            <a:extLst>
              <a:ext uri="{FF2B5EF4-FFF2-40B4-BE49-F238E27FC236}">
                <a16:creationId xmlns:a16="http://schemas.microsoft.com/office/drawing/2014/main" id="{A944F2B3-FE62-49F2-B71E-C3D65465DC82}"/>
              </a:ext>
            </a:extLst>
          </p:cNvPr>
          <p:cNvSpPr/>
          <p:nvPr/>
        </p:nvSpPr>
        <p:spPr bwMode="gray">
          <a:xfrm>
            <a:off x="6322976" y="519391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50" name="正方形/長方形 49">
            <a:extLst>
              <a:ext uri="{FF2B5EF4-FFF2-40B4-BE49-F238E27FC236}">
                <a16:creationId xmlns:a16="http://schemas.microsoft.com/office/drawing/2014/main" id="{F3AAC778-6186-4CBC-8809-1244860B36C9}"/>
              </a:ext>
            </a:extLst>
          </p:cNvPr>
          <p:cNvSpPr/>
          <p:nvPr/>
        </p:nvSpPr>
        <p:spPr bwMode="gray">
          <a:xfrm>
            <a:off x="8044234" y="519391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51" name="正方形/長方形 50">
            <a:extLst>
              <a:ext uri="{FF2B5EF4-FFF2-40B4-BE49-F238E27FC236}">
                <a16:creationId xmlns:a16="http://schemas.microsoft.com/office/drawing/2014/main" id="{F54CB19D-EC3E-48C6-87AD-265329D5CB66}"/>
              </a:ext>
            </a:extLst>
          </p:cNvPr>
          <p:cNvSpPr/>
          <p:nvPr/>
        </p:nvSpPr>
        <p:spPr bwMode="gray">
          <a:xfrm>
            <a:off x="1159190" y="5905534"/>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52" name="正方形/長方形 51">
            <a:extLst>
              <a:ext uri="{FF2B5EF4-FFF2-40B4-BE49-F238E27FC236}">
                <a16:creationId xmlns:a16="http://schemas.microsoft.com/office/drawing/2014/main" id="{28FBB1AB-5D1C-4E8B-892F-B4B4FD2842E3}"/>
              </a:ext>
            </a:extLst>
          </p:cNvPr>
          <p:cNvSpPr/>
          <p:nvPr/>
        </p:nvSpPr>
        <p:spPr bwMode="gray">
          <a:xfrm>
            <a:off x="2880452" y="5905534"/>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53" name="正方形/長方形 52">
            <a:extLst>
              <a:ext uri="{FF2B5EF4-FFF2-40B4-BE49-F238E27FC236}">
                <a16:creationId xmlns:a16="http://schemas.microsoft.com/office/drawing/2014/main" id="{5C9D95CE-EA0E-4DB4-895D-BA39C98B8AEB}"/>
              </a:ext>
            </a:extLst>
          </p:cNvPr>
          <p:cNvSpPr/>
          <p:nvPr/>
        </p:nvSpPr>
        <p:spPr bwMode="gray">
          <a:xfrm>
            <a:off x="4601714" y="5905534"/>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55" name="正方形/長方形 54">
            <a:extLst>
              <a:ext uri="{FF2B5EF4-FFF2-40B4-BE49-F238E27FC236}">
                <a16:creationId xmlns:a16="http://schemas.microsoft.com/office/drawing/2014/main" id="{A98DF82A-5670-4883-8794-73D6D95FC920}"/>
              </a:ext>
            </a:extLst>
          </p:cNvPr>
          <p:cNvSpPr/>
          <p:nvPr/>
        </p:nvSpPr>
        <p:spPr bwMode="gray">
          <a:xfrm>
            <a:off x="6322976" y="5905534"/>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56" name="正方形/長方形 55">
            <a:extLst>
              <a:ext uri="{FF2B5EF4-FFF2-40B4-BE49-F238E27FC236}">
                <a16:creationId xmlns:a16="http://schemas.microsoft.com/office/drawing/2014/main" id="{30F76E01-EAB4-4262-B451-BB1B667AB60C}"/>
              </a:ext>
            </a:extLst>
          </p:cNvPr>
          <p:cNvSpPr/>
          <p:nvPr/>
        </p:nvSpPr>
        <p:spPr bwMode="gray">
          <a:xfrm>
            <a:off x="8044234" y="5905534"/>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cxnSp>
        <p:nvCxnSpPr>
          <p:cNvPr id="57" name="直線コネクタ 56">
            <a:extLst>
              <a:ext uri="{FF2B5EF4-FFF2-40B4-BE49-F238E27FC236}">
                <a16:creationId xmlns:a16="http://schemas.microsoft.com/office/drawing/2014/main" id="{CE9DD63A-A092-4062-9F4A-7A5B9EDF9C92}"/>
              </a:ext>
            </a:extLst>
          </p:cNvPr>
          <p:cNvCxnSpPr/>
          <p:nvPr/>
        </p:nvCxnSpPr>
        <p:spPr bwMode="gray">
          <a:xfrm>
            <a:off x="1174832" y="3042815"/>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8" name="直線コネクタ 57">
            <a:extLst>
              <a:ext uri="{FF2B5EF4-FFF2-40B4-BE49-F238E27FC236}">
                <a16:creationId xmlns:a16="http://schemas.microsoft.com/office/drawing/2014/main" id="{AF88975B-90F2-4780-8F3D-DA803F7571B7}"/>
              </a:ext>
            </a:extLst>
          </p:cNvPr>
          <p:cNvCxnSpPr/>
          <p:nvPr/>
        </p:nvCxnSpPr>
        <p:spPr bwMode="gray">
          <a:xfrm>
            <a:off x="1174832" y="3754441"/>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9" name="直線コネクタ 58">
            <a:extLst>
              <a:ext uri="{FF2B5EF4-FFF2-40B4-BE49-F238E27FC236}">
                <a16:creationId xmlns:a16="http://schemas.microsoft.com/office/drawing/2014/main" id="{F88099CE-1D92-4BEB-96E7-7E0AD7860DBA}"/>
              </a:ext>
            </a:extLst>
          </p:cNvPr>
          <p:cNvCxnSpPr/>
          <p:nvPr/>
        </p:nvCxnSpPr>
        <p:spPr bwMode="gray">
          <a:xfrm>
            <a:off x="1174832" y="4466067"/>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0" name="直線コネクタ 59">
            <a:extLst>
              <a:ext uri="{FF2B5EF4-FFF2-40B4-BE49-F238E27FC236}">
                <a16:creationId xmlns:a16="http://schemas.microsoft.com/office/drawing/2014/main" id="{5E24ABA3-0E47-4499-B9AF-8978DA9C30F6}"/>
              </a:ext>
            </a:extLst>
          </p:cNvPr>
          <p:cNvCxnSpPr/>
          <p:nvPr/>
        </p:nvCxnSpPr>
        <p:spPr bwMode="gray">
          <a:xfrm>
            <a:off x="1174832" y="5177693"/>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 name="直線コネクタ 60">
            <a:extLst>
              <a:ext uri="{FF2B5EF4-FFF2-40B4-BE49-F238E27FC236}">
                <a16:creationId xmlns:a16="http://schemas.microsoft.com/office/drawing/2014/main" id="{25EFAAF0-A9BE-46E5-871E-BEBA26C48816}"/>
              </a:ext>
            </a:extLst>
          </p:cNvPr>
          <p:cNvCxnSpPr/>
          <p:nvPr/>
        </p:nvCxnSpPr>
        <p:spPr bwMode="gray">
          <a:xfrm>
            <a:off x="1174832" y="5889319"/>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2" name="直線コネクタ 61">
            <a:extLst>
              <a:ext uri="{FF2B5EF4-FFF2-40B4-BE49-F238E27FC236}">
                <a16:creationId xmlns:a16="http://schemas.microsoft.com/office/drawing/2014/main" id="{EC61422F-E1BF-4D0C-8417-2F91ACFDF2BC}"/>
              </a:ext>
            </a:extLst>
          </p:cNvPr>
          <p:cNvCxnSpPr/>
          <p:nvPr/>
        </p:nvCxnSpPr>
        <p:spPr bwMode="gray">
          <a:xfrm>
            <a:off x="2847821" y="1635783"/>
            <a:ext cx="0" cy="4950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3" name="直線コネクタ 62">
            <a:extLst>
              <a:ext uri="{FF2B5EF4-FFF2-40B4-BE49-F238E27FC236}">
                <a16:creationId xmlns:a16="http://schemas.microsoft.com/office/drawing/2014/main" id="{9047FFA3-97E1-4DE1-80A4-E1D682E7EA2B}"/>
              </a:ext>
            </a:extLst>
          </p:cNvPr>
          <p:cNvCxnSpPr/>
          <p:nvPr/>
        </p:nvCxnSpPr>
        <p:spPr bwMode="gray">
          <a:xfrm>
            <a:off x="4569083" y="1635783"/>
            <a:ext cx="0" cy="4950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5" name="直線コネクタ 64">
            <a:extLst>
              <a:ext uri="{FF2B5EF4-FFF2-40B4-BE49-F238E27FC236}">
                <a16:creationId xmlns:a16="http://schemas.microsoft.com/office/drawing/2014/main" id="{ECB7B964-1731-465E-94DA-BB675B947B75}"/>
              </a:ext>
            </a:extLst>
          </p:cNvPr>
          <p:cNvCxnSpPr/>
          <p:nvPr/>
        </p:nvCxnSpPr>
        <p:spPr bwMode="gray">
          <a:xfrm>
            <a:off x="6290345" y="1635783"/>
            <a:ext cx="0" cy="4950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6" name="直線コネクタ 65">
            <a:extLst>
              <a:ext uri="{FF2B5EF4-FFF2-40B4-BE49-F238E27FC236}">
                <a16:creationId xmlns:a16="http://schemas.microsoft.com/office/drawing/2014/main" id="{AFD45630-38B7-4CB6-AB82-A6ADC6AEC78B}"/>
              </a:ext>
            </a:extLst>
          </p:cNvPr>
          <p:cNvCxnSpPr/>
          <p:nvPr/>
        </p:nvCxnSpPr>
        <p:spPr bwMode="gray">
          <a:xfrm>
            <a:off x="8011607" y="1635783"/>
            <a:ext cx="0" cy="4950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9" name="正方形/長方形 18">
            <a:extLst>
              <a:ext uri="{FF2B5EF4-FFF2-40B4-BE49-F238E27FC236}">
                <a16:creationId xmlns:a16="http://schemas.microsoft.com/office/drawing/2014/main" id="{9C655198-B188-45C3-97C7-A9FC9A84FCE8}"/>
              </a:ext>
            </a:extLst>
          </p:cNvPr>
          <p:cNvSpPr/>
          <p:nvPr/>
        </p:nvSpPr>
        <p:spPr bwMode="gray">
          <a:xfrm>
            <a:off x="248159" y="3059030"/>
            <a:ext cx="353176" cy="2815200"/>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a:latin typeface="+mn-ea"/>
                <a:ea typeface="+mn-ea"/>
              </a:rPr>
              <a:t>法人</a:t>
            </a:r>
            <a:endParaRPr lang="zh-TW" altLang="en-US" sz="900">
              <a:latin typeface="+mn-ea"/>
              <a:ea typeface="+mn-ea"/>
            </a:endParaRPr>
          </a:p>
        </p:txBody>
      </p:sp>
      <p:sp>
        <p:nvSpPr>
          <p:cNvPr id="14" name="正方形/長方形 13">
            <a:extLst>
              <a:ext uri="{FF2B5EF4-FFF2-40B4-BE49-F238E27FC236}">
                <a16:creationId xmlns:a16="http://schemas.microsoft.com/office/drawing/2014/main" id="{A801DACB-09FF-4CDA-B4B7-CFDF9BA83F94}"/>
              </a:ext>
            </a:extLst>
          </p:cNvPr>
          <p:cNvSpPr/>
          <p:nvPr/>
        </p:nvSpPr>
        <p:spPr bwMode="gray">
          <a:xfrm>
            <a:off x="248159" y="2347409"/>
            <a:ext cx="878400" cy="67918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個人</a:t>
            </a:r>
            <a:endParaRPr lang="zh-TW" altLang="en-US" sz="900" dirty="0">
              <a:latin typeface="+mn-ea"/>
              <a:ea typeface="+mn-ea"/>
            </a:endParaRPr>
          </a:p>
        </p:txBody>
      </p:sp>
      <p:sp>
        <p:nvSpPr>
          <p:cNvPr id="15" name="正方形/長方形 14">
            <a:extLst>
              <a:ext uri="{FF2B5EF4-FFF2-40B4-BE49-F238E27FC236}">
                <a16:creationId xmlns:a16="http://schemas.microsoft.com/office/drawing/2014/main" id="{543A607F-1C06-4653-82EE-93B37886C552}"/>
              </a:ext>
            </a:extLst>
          </p:cNvPr>
          <p:cNvSpPr/>
          <p:nvPr/>
        </p:nvSpPr>
        <p:spPr bwMode="gray">
          <a:xfrm>
            <a:off x="657251" y="3059030"/>
            <a:ext cx="468000" cy="679460"/>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バンキング</a:t>
            </a:r>
            <a:endParaRPr lang="zh-TW" altLang="en-US" sz="900" dirty="0">
              <a:latin typeface="+mn-ea"/>
              <a:ea typeface="+mn-ea"/>
            </a:endParaRPr>
          </a:p>
        </p:txBody>
      </p:sp>
      <p:sp>
        <p:nvSpPr>
          <p:cNvPr id="17" name="正方形/長方形 16">
            <a:extLst>
              <a:ext uri="{FF2B5EF4-FFF2-40B4-BE49-F238E27FC236}">
                <a16:creationId xmlns:a16="http://schemas.microsoft.com/office/drawing/2014/main" id="{FA801978-85FA-4F99-B8A7-948F3282E119}"/>
              </a:ext>
            </a:extLst>
          </p:cNvPr>
          <p:cNvSpPr/>
          <p:nvPr/>
        </p:nvSpPr>
        <p:spPr bwMode="gray">
          <a:xfrm>
            <a:off x="657251" y="3770943"/>
            <a:ext cx="468000" cy="679460"/>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不動産</a:t>
            </a:r>
            <a:endParaRPr lang="zh-TW" altLang="en-US" sz="900" dirty="0">
              <a:latin typeface="+mn-ea"/>
              <a:ea typeface="+mn-ea"/>
            </a:endParaRPr>
          </a:p>
        </p:txBody>
      </p:sp>
      <p:sp>
        <p:nvSpPr>
          <p:cNvPr id="16" name="正方形/長方形 15">
            <a:extLst>
              <a:ext uri="{FF2B5EF4-FFF2-40B4-BE49-F238E27FC236}">
                <a16:creationId xmlns:a16="http://schemas.microsoft.com/office/drawing/2014/main" id="{2FC721F6-3897-42C8-BAD4-5F8EC59178EB}"/>
              </a:ext>
            </a:extLst>
          </p:cNvPr>
          <p:cNvSpPr/>
          <p:nvPr/>
        </p:nvSpPr>
        <p:spPr bwMode="gray">
          <a:xfrm>
            <a:off x="657251" y="4482857"/>
            <a:ext cx="468000" cy="679460"/>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証券代行</a:t>
            </a:r>
          </a:p>
        </p:txBody>
      </p:sp>
      <p:sp>
        <p:nvSpPr>
          <p:cNvPr id="18" name="正方形/長方形 17">
            <a:extLst>
              <a:ext uri="{FF2B5EF4-FFF2-40B4-BE49-F238E27FC236}">
                <a16:creationId xmlns:a16="http://schemas.microsoft.com/office/drawing/2014/main" id="{5B54CC7A-D326-4ADA-BB51-A352C1964502}"/>
              </a:ext>
            </a:extLst>
          </p:cNvPr>
          <p:cNvSpPr/>
          <p:nvPr/>
        </p:nvSpPr>
        <p:spPr bwMode="gray">
          <a:xfrm>
            <a:off x="657251" y="5194770"/>
            <a:ext cx="468000" cy="679460"/>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受託</a:t>
            </a:r>
            <a:endParaRPr lang="zh-TW" altLang="en-US" sz="900" dirty="0">
              <a:latin typeface="+mn-ea"/>
              <a:ea typeface="+mn-ea"/>
            </a:endParaRPr>
          </a:p>
        </p:txBody>
      </p:sp>
      <p:sp>
        <p:nvSpPr>
          <p:cNvPr id="13" name="正方形/長方形 12">
            <a:extLst>
              <a:ext uri="{FF2B5EF4-FFF2-40B4-BE49-F238E27FC236}">
                <a16:creationId xmlns:a16="http://schemas.microsoft.com/office/drawing/2014/main" id="{D262DB72-1758-4813-8F70-0D2E62D027E1}"/>
              </a:ext>
            </a:extLst>
          </p:cNvPr>
          <p:cNvSpPr/>
          <p:nvPr/>
        </p:nvSpPr>
        <p:spPr bwMode="gray">
          <a:xfrm>
            <a:off x="248159" y="5905534"/>
            <a:ext cx="878400" cy="67918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市場</a:t>
            </a:r>
            <a:endParaRPr lang="zh-TW" altLang="en-US" sz="900" dirty="0">
              <a:latin typeface="+mn-ea"/>
              <a:ea typeface="+mn-ea"/>
            </a:endParaRPr>
          </a:p>
        </p:txBody>
      </p:sp>
      <p:sp>
        <p:nvSpPr>
          <p:cNvPr id="78" name="正方形/長方形 77">
            <a:extLst>
              <a:ext uri="{FF2B5EF4-FFF2-40B4-BE49-F238E27FC236}">
                <a16:creationId xmlns:a16="http://schemas.microsoft.com/office/drawing/2014/main" id="{EA44779C-6B90-4170-A81E-618F89E59C4D}"/>
              </a:ext>
            </a:extLst>
          </p:cNvPr>
          <p:cNvSpPr/>
          <p:nvPr/>
        </p:nvSpPr>
        <p:spPr bwMode="gray">
          <a:xfrm>
            <a:off x="248159" y="1635783"/>
            <a:ext cx="878400" cy="679186"/>
          </a:xfrm>
          <a:prstGeom prst="rect">
            <a:avLst/>
          </a:prstGeom>
          <a:solidFill>
            <a:schemeClr val="bg1">
              <a:lumMod val="7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a:latin typeface="+mn-ea"/>
                <a:ea typeface="+mn-ea"/>
              </a:rPr>
              <a:t>全社</a:t>
            </a:r>
            <a:endParaRPr lang="zh-TW" altLang="en-US" sz="900" dirty="0">
              <a:latin typeface="+mn-ea"/>
              <a:ea typeface="+mn-ea"/>
            </a:endParaRPr>
          </a:p>
        </p:txBody>
      </p:sp>
      <p:sp>
        <p:nvSpPr>
          <p:cNvPr id="79" name="正方形/長方形 78">
            <a:extLst>
              <a:ext uri="{FF2B5EF4-FFF2-40B4-BE49-F238E27FC236}">
                <a16:creationId xmlns:a16="http://schemas.microsoft.com/office/drawing/2014/main" id="{F74B230C-E78A-490E-A1F2-3FD17D0EAC77}"/>
              </a:ext>
            </a:extLst>
          </p:cNvPr>
          <p:cNvSpPr/>
          <p:nvPr/>
        </p:nvSpPr>
        <p:spPr bwMode="gray">
          <a:xfrm>
            <a:off x="1159190" y="163578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80" name="正方形/長方形 79">
            <a:extLst>
              <a:ext uri="{FF2B5EF4-FFF2-40B4-BE49-F238E27FC236}">
                <a16:creationId xmlns:a16="http://schemas.microsoft.com/office/drawing/2014/main" id="{C6A6A5BA-C6D5-48AE-BA43-7BDF92632D00}"/>
              </a:ext>
            </a:extLst>
          </p:cNvPr>
          <p:cNvSpPr/>
          <p:nvPr/>
        </p:nvSpPr>
        <p:spPr bwMode="gray">
          <a:xfrm>
            <a:off x="2880452" y="163578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dirty="0" err="1">
                <a:latin typeface="+mn-ea"/>
                <a:ea typeface="+mn-ea"/>
              </a:rPr>
              <a:t>ー</a:t>
            </a:r>
            <a:endParaRPr lang="zh-TW" altLang="en-US" sz="900" dirty="0">
              <a:latin typeface="+mn-ea"/>
              <a:ea typeface="+mn-ea"/>
            </a:endParaRPr>
          </a:p>
        </p:txBody>
      </p:sp>
      <p:sp>
        <p:nvSpPr>
          <p:cNvPr id="81" name="正方形/長方形 80">
            <a:extLst>
              <a:ext uri="{FF2B5EF4-FFF2-40B4-BE49-F238E27FC236}">
                <a16:creationId xmlns:a16="http://schemas.microsoft.com/office/drawing/2014/main" id="{36D375B1-4126-41A6-8006-1FEC7FA9E0B8}"/>
              </a:ext>
            </a:extLst>
          </p:cNvPr>
          <p:cNvSpPr/>
          <p:nvPr/>
        </p:nvSpPr>
        <p:spPr bwMode="gray">
          <a:xfrm>
            <a:off x="4601714" y="163578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en-US" altLang="ja-JP" sz="900" dirty="0">
                <a:latin typeface="+mn-ea"/>
                <a:ea typeface="+mn-ea"/>
              </a:rPr>
              <a:t>RPA</a:t>
            </a:r>
            <a:r>
              <a:rPr lang="ja-JP" altLang="en-US" sz="900" dirty="0">
                <a:latin typeface="+mn-ea"/>
                <a:ea typeface="+mn-ea"/>
              </a:rPr>
              <a:t>による</a:t>
            </a:r>
            <a:r>
              <a:rPr lang="ja-JP" altLang="en-US" sz="900" b="1" u="sng" dirty="0">
                <a:latin typeface="+mn-ea"/>
                <a:ea typeface="+mn-ea"/>
              </a:rPr>
              <a:t>本部業務・センター業務の効率化</a:t>
            </a:r>
            <a:r>
              <a:rPr lang="en-US" altLang="ja-JP" sz="900" dirty="0">
                <a:latin typeface="+mn-ea"/>
                <a:ea typeface="+mn-ea"/>
              </a:rPr>
              <a:t>(</a:t>
            </a:r>
            <a:r>
              <a:rPr lang="ja-JP" altLang="en-US" sz="900" dirty="0">
                <a:latin typeface="+mn-ea"/>
                <a:ea typeface="+mn-ea"/>
              </a:rPr>
              <a:t>りそな</a:t>
            </a:r>
            <a:r>
              <a:rPr lang="en-US" altLang="ja-JP" sz="900" dirty="0">
                <a:latin typeface="+mn-ea"/>
                <a:ea typeface="+mn-ea"/>
              </a:rPr>
              <a:t>)</a:t>
            </a:r>
          </a:p>
          <a:p>
            <a:pPr marL="87313" indent="-87313" algn="l">
              <a:buFont typeface="Arial" panose="020B0604020202020204" pitchFamily="34" charset="0"/>
              <a:buChar char="•"/>
            </a:pPr>
            <a:r>
              <a:rPr lang="en-US" altLang="ja-JP" sz="900" dirty="0" err="1">
                <a:latin typeface="+mn-ea"/>
                <a:ea typeface="+mn-ea"/>
              </a:rPr>
              <a:t>UiPath</a:t>
            </a:r>
            <a:r>
              <a:rPr lang="ja-JP" altLang="en-US" sz="900" dirty="0">
                <a:latin typeface="+mn-ea"/>
                <a:ea typeface="+mn-ea"/>
              </a:rPr>
              <a:t>導入による</a:t>
            </a:r>
            <a:r>
              <a:rPr lang="ja-JP" altLang="en-US" sz="900" b="1" u="sng" dirty="0">
                <a:latin typeface="+mn-ea"/>
                <a:ea typeface="+mn-ea"/>
              </a:rPr>
              <a:t>業務効率化</a:t>
            </a:r>
            <a:r>
              <a:rPr lang="en-US" altLang="ja-JP" sz="900" dirty="0">
                <a:latin typeface="+mn-ea"/>
                <a:ea typeface="+mn-ea"/>
              </a:rPr>
              <a:t>(</a:t>
            </a:r>
            <a:r>
              <a:rPr lang="en-US" altLang="ja-JP" sz="900" dirty="0">
                <a:solidFill>
                  <a:srgbClr val="00B0F0"/>
                </a:solidFill>
                <a:latin typeface="+mn-ea"/>
                <a:ea typeface="+mn-ea"/>
              </a:rPr>
              <a:t>SMTB</a:t>
            </a:r>
            <a:r>
              <a:rPr lang="en-US" altLang="ja-JP" sz="900" dirty="0">
                <a:latin typeface="+mn-ea"/>
                <a:ea typeface="+mn-ea"/>
              </a:rPr>
              <a:t>)</a:t>
            </a:r>
          </a:p>
          <a:p>
            <a:pPr algn="l"/>
            <a:endParaRPr lang="zh-TW" altLang="en-US" sz="900" dirty="0">
              <a:latin typeface="+mn-ea"/>
              <a:ea typeface="+mn-ea"/>
            </a:endParaRPr>
          </a:p>
        </p:txBody>
      </p:sp>
      <p:sp>
        <p:nvSpPr>
          <p:cNvPr id="82" name="正方形/長方形 81">
            <a:extLst>
              <a:ext uri="{FF2B5EF4-FFF2-40B4-BE49-F238E27FC236}">
                <a16:creationId xmlns:a16="http://schemas.microsoft.com/office/drawing/2014/main" id="{52E24184-E917-4750-A574-A68262093772}"/>
              </a:ext>
            </a:extLst>
          </p:cNvPr>
          <p:cNvSpPr/>
          <p:nvPr/>
        </p:nvSpPr>
        <p:spPr bwMode="gray">
          <a:xfrm>
            <a:off x="6322976" y="163578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900">
                <a:latin typeface="+mn-ea"/>
                <a:ea typeface="+mn-ea"/>
              </a:rPr>
              <a:t>ー</a:t>
            </a:r>
            <a:endParaRPr lang="en-US" altLang="ja-JP" sz="900" dirty="0">
              <a:latin typeface="+mn-ea"/>
              <a:ea typeface="+mn-ea"/>
            </a:endParaRPr>
          </a:p>
        </p:txBody>
      </p:sp>
      <p:sp>
        <p:nvSpPr>
          <p:cNvPr id="83" name="正方形/長方形 82">
            <a:extLst>
              <a:ext uri="{FF2B5EF4-FFF2-40B4-BE49-F238E27FC236}">
                <a16:creationId xmlns:a16="http://schemas.microsoft.com/office/drawing/2014/main" id="{77E2D37F-C227-49E7-BBBE-BD8B81826018}"/>
              </a:ext>
            </a:extLst>
          </p:cNvPr>
          <p:cNvSpPr/>
          <p:nvPr/>
        </p:nvSpPr>
        <p:spPr bwMode="gray">
          <a:xfrm>
            <a:off x="8044234" y="1635783"/>
            <a:ext cx="1656000" cy="679186"/>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lgn="l">
              <a:buFont typeface="Arial" panose="020B0604020202020204" pitchFamily="34" charset="0"/>
              <a:buChar char="•"/>
            </a:pPr>
            <a:r>
              <a:rPr lang="ja-JP" altLang="en-US" sz="900" dirty="0">
                <a:latin typeface="+mn-ea"/>
                <a:ea typeface="+mn-ea"/>
              </a:rPr>
              <a:t>個人からパーソナルデータを信託し、運用する</a:t>
            </a:r>
            <a:r>
              <a:rPr lang="ja-JP" altLang="en-US" sz="900" b="1" u="sng" dirty="0">
                <a:latin typeface="+mn-ea"/>
                <a:ea typeface="+mn-ea"/>
              </a:rPr>
              <a:t>プラットフォーム</a:t>
            </a:r>
            <a:r>
              <a:rPr lang="ja-JP" altLang="en-US" sz="900" dirty="0">
                <a:latin typeface="+mn-ea"/>
                <a:ea typeface="+mn-ea"/>
              </a:rPr>
              <a:t>の構築</a:t>
            </a:r>
            <a:r>
              <a:rPr lang="en-US" altLang="ja-JP" sz="900" dirty="0">
                <a:latin typeface="+mn-ea"/>
                <a:ea typeface="+mn-ea"/>
              </a:rPr>
              <a:t>(MUTB)</a:t>
            </a:r>
            <a:endParaRPr lang="zh-TW" altLang="en-US" sz="900" dirty="0">
              <a:latin typeface="+mn-ea"/>
              <a:ea typeface="+mn-ea"/>
            </a:endParaRPr>
          </a:p>
        </p:txBody>
      </p:sp>
      <p:cxnSp>
        <p:nvCxnSpPr>
          <p:cNvPr id="84" name="直線コネクタ 83">
            <a:extLst>
              <a:ext uri="{FF2B5EF4-FFF2-40B4-BE49-F238E27FC236}">
                <a16:creationId xmlns:a16="http://schemas.microsoft.com/office/drawing/2014/main" id="{1F98320D-C73C-4EC8-87FF-FC29488625D5}"/>
              </a:ext>
            </a:extLst>
          </p:cNvPr>
          <p:cNvCxnSpPr/>
          <p:nvPr/>
        </p:nvCxnSpPr>
        <p:spPr bwMode="gray">
          <a:xfrm>
            <a:off x="1174832" y="2331189"/>
            <a:ext cx="844060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6" name="コンテンツ プレースホルダー 3">
            <a:extLst>
              <a:ext uri="{FF2B5EF4-FFF2-40B4-BE49-F238E27FC236}">
                <a16:creationId xmlns:a16="http://schemas.microsoft.com/office/drawing/2014/main" id="{4489576A-D3F1-4498-98E5-B43C9AE038DE}"/>
              </a:ext>
            </a:extLst>
          </p:cNvPr>
          <p:cNvSpPr txBox="1">
            <a:spLocks/>
          </p:cNvSpPr>
          <p:nvPr/>
        </p:nvSpPr>
        <p:spPr bwMode="gray">
          <a:xfrm>
            <a:off x="127155" y="777700"/>
            <a:ext cx="9648000" cy="540000"/>
          </a:xfrm>
          <a:prstGeom prst="rect">
            <a:avLst/>
          </a:prstGeom>
        </p:spPr>
        <p:txBody>
          <a:bodyPr lIns="36000" tIns="36000" rIns="36000" bIns="36000"/>
          <a:lstStyle>
            <a:lvl1pPr marL="285750" indent="-285750" algn="l" rtl="0" eaLnBrk="1" fontAlgn="base" hangingPunct="1">
              <a:spcBef>
                <a:spcPct val="20000"/>
              </a:spcBef>
              <a:spcAft>
                <a:spcPct val="0"/>
              </a:spcAft>
              <a:buClr>
                <a:schemeClr val="tx1"/>
              </a:buClr>
              <a:buFont typeface="Wingdings" panose="05000000000000000000" pitchFamily="2" charset="2"/>
              <a:buChar char="p"/>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3400" indent="-266700"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255713" indent="-176213" algn="l" rtl="0" eaLnBrk="1" fontAlgn="base" hangingPunct="1">
              <a:spcBef>
                <a:spcPct val="20000"/>
              </a:spcBef>
              <a:spcAft>
                <a:spcPct val="0"/>
              </a:spcAft>
              <a:buClr>
                <a:schemeClr val="tx1"/>
              </a:buClr>
              <a:buFont typeface="Wingdings" pitchFamily="2" charset="2"/>
              <a:buChar char="l"/>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1612900" indent="-177800" algn="l" rtl="0" eaLnBrk="1" fontAlgn="base" hangingPunct="1">
              <a:spcBef>
                <a:spcPct val="20000"/>
              </a:spcBef>
              <a:spcAft>
                <a:spcPct val="0"/>
              </a:spcAft>
              <a:buClr>
                <a:schemeClr val="tx1"/>
              </a:buClr>
              <a:buFont typeface="Arial" pitchFamily="34" charset="0"/>
              <a:buChar char="–"/>
              <a:defRPr kumimoji="1" sz="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pPr marL="0" indent="0">
              <a:buNone/>
            </a:pPr>
            <a:r>
              <a:rPr lang="en-US" altLang="ja-JP" sz="1400" kern="0" dirty="0"/>
              <a:t>SMTB</a:t>
            </a:r>
            <a:r>
              <a:rPr lang="ja-JP" altLang="en-US" sz="1400" kern="0" dirty="0"/>
              <a:t>は各部門で実証実験に取り組むなど、</a:t>
            </a:r>
            <a:r>
              <a:rPr lang="en-US" altLang="ja-JP" sz="1400" kern="0" dirty="0"/>
              <a:t>New IT</a:t>
            </a:r>
            <a:r>
              <a:rPr lang="ja-JP" altLang="en-US" sz="1400" kern="0" dirty="0"/>
              <a:t>の活用検討に積極的。</a:t>
            </a:r>
            <a:endParaRPr lang="en-US" altLang="ja-JP" sz="1400" kern="0" dirty="0"/>
          </a:p>
        </p:txBody>
      </p:sp>
    </p:spTree>
    <p:extLst>
      <p:ext uri="{BB962C8B-B14F-4D97-AF65-F5344CB8AC3E}">
        <p14:creationId xmlns:p14="http://schemas.microsoft.com/office/powerpoint/2010/main" val="124030911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CN_INTERACTIVE_AUTO_SHAPE_FRAME" val="TXTF_WIDTH$True|TXTF_HEIGHT$True|TXTF_TOP$True|TXTF_LEFT$True|TXTF_FILL_COLOR$True|TXTF_LINE_WEIGHT$True|TXTF_LINE_STYLE$True|TXTF_LINE_COLOR$True|TXTF_MARGIN_TOP$True|TXTF_MARGIN_BOTTOM$True|TXTF_MARGIN_LEFT$True|TXTF_MARGIN_RIGHT$True|TXTF_WORD_WRAP$=True|TXTF_FIT_SHAPE$=0|TXTF_ROTATION$True|TXTF_ANCHOR_POINT$False"/>
  <p:tag name="ACN_INTERACTIVE_AUTO_SHAPE_TEXTRANGE" val="TXT_BOLD$False|TXT_ITALIC$False|TXT_UNDERLINE$False|TXT_FONT_TYPE$True|TXT_FONT_SIZE$True|TXT_FONT_COLOR$True|TXT_SHADOW$False|TXT_SCRIPT$True"/>
  <p:tag name="ACN_INTERACTIVE_AUTO_SHAPE_PARAGRAPH" val="PARA_ALIGNMENT$False|PARA_LINE_SPACING$False|PARA_BEFORE_PARAGRAPH$False|PARA_AFTER_PARAGRAPH$False"/>
  <p:tag name="ACN_INTERACTIVE_AUTO_SHAPE_INDENTLEVEL" val="IND_PRESERVE$True|IND_False$False|IND_ADD$False"/>
  <p:tag name="THINKCELLPRESENTATIONDONOTDELETE" val="&lt;?xml version=&quot;1.0&quot; encoding=&quot;UTF-16&quot; standalone=&quot;yes&quot;?&gt;&lt;root reqver=&quot;23045&quot;&gt;&lt;version val=&quot;25111&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7&quot;&gt;&lt;elem m_fUsage=&quot;6.86189403910000095266E+00&quot;&gt;&lt;m_msothmcolidx val=&quot;0&quot;/&gt;&lt;m_rgb r=&quot;FF&quot; g=&quot;85&quot; b=&quot;85&quot;/&gt;&lt;m_nBrightness val=&quot;0&quot;/&gt;&lt;/elem&gt;&lt;elem m_fUsage=&quot;1.19348935418097701344E+00&quot;&gt;&lt;m_msothmcolidx val=&quot;0&quot;/&gt;&lt;m_rgb r=&quot;E1&quot; g=&quot;A0&quot; b=&quot;0B&quot;/&gt;&lt;m_nBrightness val=&quot;0&quot;/&gt;&lt;/elem&gt;&lt;elem m_fUsage=&quot;8.50426715403900135293E-01&quot;&gt;&lt;m_msothmcolidx val=&quot;0&quot;/&gt;&lt;m_rgb r=&quot;E8&quot; g=&quot;C1&quot; b=&quot;6D&quot;/&gt;&lt;m_nBrightness val=&quot;0&quot;/&gt;&lt;/elem&gt;&lt;elem m_fUsage=&quot;4.61423269156250981382E-01&quot;&gt;&lt;m_msothmcolidx val=&quot;0&quot;/&gt;&lt;m_rgb r=&quot;BF&quot; g=&quot;78&quot; b=&quot;0D&quot;/&gt;&lt;m_nBrightness val=&quot;0&quot;/&gt;&lt;/elem&gt;&lt;elem m_fUsage=&quot;3.80162247475230752336E-01&quot;&gt;&lt;m_msothmcolidx val=&quot;0&quot;/&gt;&lt;m_rgb r=&quot;33&quot; g=&quot;99&quot; b=&quot;FF&quot;/&gt;&lt;m_nBrightness val=&quot;0&quot;/&gt;&lt;/elem&gt;&lt;elem m_fUsage=&quot;1.09418989131512434110E-01&quot;&gt;&lt;m_msothmcolidx val=&quot;0&quot;/&gt;&lt;m_rgb r=&quot;DD&quot; g=&quot;8A&quot; b=&quot;0F&quot;/&gt;&lt;m_nBrightness val=&quot;0&quot;/&gt;&lt;/elem&gt;&lt;elem m_fUsage=&quot;7.24888806506197441726E-02&quot;&gt;&lt;m_msothmcolidx val=&quot;0&quot;/&gt;&lt;m_rgb r=&quot;FC&quot; g=&quot;96&quot; b=&quot;E2&quot;/&gt;&lt;m_nBrightness val=&quot;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gxv6hMhISAOwaimDxW9u7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gxv6hMhISAOwaimDxW9u7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gxv6hMhISAOwaimDxW9u7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gxv6hMhISAOwaimDxW9u7g"/>
</p:tagLst>
</file>

<file path=ppt/theme/theme1.xml><?xml version="1.0" encoding="utf-8"?>
<a:theme xmlns:a="http://schemas.openxmlformats.org/drawingml/2006/main" name="Rokin Bank - Proposal template_20140319">
  <a:themeElements>
    <a:clrScheme name="Daiwa Securities">
      <a:dk1>
        <a:srgbClr val="000000"/>
      </a:dk1>
      <a:lt1>
        <a:srgbClr val="FFFFFF"/>
      </a:lt1>
      <a:dk2>
        <a:srgbClr val="595959"/>
      </a:dk2>
      <a:lt2>
        <a:srgbClr val="D8D8D8"/>
      </a:lt2>
      <a:accent1>
        <a:srgbClr val="FF0000"/>
      </a:accent1>
      <a:accent2>
        <a:srgbClr val="666666"/>
      </a:accent2>
      <a:accent3>
        <a:srgbClr val="778888"/>
      </a:accent3>
      <a:accent4>
        <a:srgbClr val="C22312"/>
      </a:accent4>
      <a:accent5>
        <a:srgbClr val="C6911F"/>
      </a:accent5>
      <a:accent6>
        <a:srgbClr val="00B050"/>
      </a:accent6>
      <a:hlink>
        <a:srgbClr val="00B0F0"/>
      </a:hlink>
      <a:folHlink>
        <a:srgbClr val="D8D8D8"/>
      </a:folHlink>
    </a:clrScheme>
    <a:fontScheme name="Daiwa Securities">
      <a:majorFont>
        <a:latin typeface="Arial"/>
        <a:ea typeface="Meiryo UI"/>
        <a:cs typeface="ＭＳ Ｐゴシック"/>
      </a:majorFont>
      <a:minorFont>
        <a:latin typeface="Arial"/>
        <a:ea typeface="Meiryo UI"/>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72000" tIns="36000" rIns="72000" bIns="36000" numCol="1" rtlCol="0" anchor="ctr" anchorCtr="0" compatLnSpc="1">
        <a:prstTxWarp prst="textNoShape">
          <a:avLst/>
        </a:prstTxWarp>
      </a:bodyPr>
      <a:lstStyle>
        <a:defPPr marL="0" marR="0" indent="0" defTabSz="914400" rtl="0" eaLnBrk="1" fontAlgn="base" latinLnBrk="0" hangingPunct="1">
          <a:lnSpc>
            <a:spcPct val="100000"/>
          </a:lnSpc>
          <a:spcBef>
            <a:spcPct val="20000"/>
          </a:spcBef>
          <a:spcAft>
            <a:spcPct val="0"/>
          </a:spcAft>
          <a:buClr>
            <a:schemeClr val="tx1"/>
          </a:buClr>
          <a:buSzTx/>
          <a:tabLst/>
          <a:defRPr kumimoji="0" sz="105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noFill/>
        <a:ln w="9525" algn="ctr">
          <a:solidFill>
            <a:schemeClr val="tx1"/>
          </a:solidFill>
          <a:round/>
          <a:headEnd/>
          <a:tailEnd/>
        </a:ln>
        <a:extLst>
          <a:ext uri="{909E8E84-426E-40DD-AFC4-6F175D3DCCD1}">
            <a14:hiddenFill xmlns:a14="http://schemas.microsoft.com/office/drawing/2010/main">
              <a:noFill/>
            </a14:hiddenFill>
          </a:ext>
        </a:ex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wrap="square" lIns="0" tIns="0" rIns="0" bIns="36000" anchor="b">
        <a:spAutoFit/>
      </a:bodyPr>
      <a:lstStyle>
        <a:defPPr marL="0" indent="0" algn="ctr">
          <a:buClrTx/>
          <a:buFont typeface="Wingdings" pitchFamily="2" charset="2"/>
          <a:buNone/>
          <a:defRPr sz="1400" b="0" dirty="0" smtClean="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文書テンプレート_提案書(PowerPoint・A4横)_v0.01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文書テンプレート_提案書(PowerPoint・A4横)_v0.01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文書テンプレート_提案書(PowerPoint・A4横)_v0.01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文書テンプレート_提案書(PowerPoint・A4横)_v0.01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文書テンプレート_提案書(PowerPoint・A4横)_v0.01 5">
        <a:dk1>
          <a:srgbClr val="000000"/>
        </a:dk1>
        <a:lt1>
          <a:srgbClr val="FFFFFF"/>
        </a:lt1>
        <a:dk2>
          <a:srgbClr val="F8F8F8"/>
        </a:dk2>
        <a:lt2>
          <a:srgbClr val="C0C0C0"/>
        </a:lt2>
        <a:accent1>
          <a:srgbClr val="AA1133"/>
        </a:accent1>
        <a:accent2>
          <a:srgbClr val="FF9900"/>
        </a:accent2>
        <a:accent3>
          <a:srgbClr val="FFFFFF"/>
        </a:accent3>
        <a:accent4>
          <a:srgbClr val="000000"/>
        </a:accent4>
        <a:accent5>
          <a:srgbClr val="D2AAAD"/>
        </a:accent5>
        <a:accent6>
          <a:srgbClr val="E78A00"/>
        </a:accent6>
        <a:hlink>
          <a:srgbClr val="174BAC"/>
        </a:hlink>
        <a:folHlink>
          <a:srgbClr val="445511"/>
        </a:folHlink>
      </a:clrScheme>
      <a:clrMap bg1="lt1" tx1="dk1" bg2="lt2" tx2="dk2" accent1="accent1" accent2="accent2" accent3="accent3" accent4="accent4" accent5="accent5" accent6="accent6" hlink="hlink" folHlink="folHlink"/>
    </a:extraClrScheme>
    <a:extraClrScheme>
      <a:clrScheme name="文書テンプレート_提案書(PowerPoint・A4横)_v0.01 6">
        <a:dk1>
          <a:srgbClr val="000000"/>
        </a:dk1>
        <a:lt1>
          <a:srgbClr val="FFFFFF"/>
        </a:lt1>
        <a:dk2>
          <a:srgbClr val="F8F8F8"/>
        </a:dk2>
        <a:lt2>
          <a:srgbClr val="C0C0C0"/>
        </a:lt2>
        <a:accent1>
          <a:srgbClr val="AA1133"/>
        </a:accent1>
        <a:accent2>
          <a:srgbClr val="FF9900"/>
        </a:accent2>
        <a:accent3>
          <a:srgbClr val="FFFFFF"/>
        </a:accent3>
        <a:accent4>
          <a:srgbClr val="000000"/>
        </a:accent4>
        <a:accent5>
          <a:srgbClr val="D2AAAD"/>
        </a:accent5>
        <a:accent6>
          <a:srgbClr val="E78A00"/>
        </a:accent6>
        <a:hlink>
          <a:srgbClr val="174BAC"/>
        </a:hlink>
        <a:folHlink>
          <a:srgbClr val="337722"/>
        </a:folHlink>
      </a:clrScheme>
      <a:clrMap bg1="lt1" tx1="dk1" bg2="lt2" tx2="dk2" accent1="accent1" accent2="accent2" accent3="accent3" accent4="accent4" accent5="accent5" accent6="accent6" hlink="hlink" folHlink="folHlink"/>
    </a:extraClrScheme>
    <a:extraClrScheme>
      <a:clrScheme name="文書テンプレート_提案書(PowerPoint・A4横)_v0.01 7">
        <a:dk1>
          <a:srgbClr val="000000"/>
        </a:dk1>
        <a:lt1>
          <a:srgbClr val="FFFFFF"/>
        </a:lt1>
        <a:dk2>
          <a:srgbClr val="F8F8F8"/>
        </a:dk2>
        <a:lt2>
          <a:srgbClr val="C0C0C0"/>
        </a:lt2>
        <a:accent1>
          <a:srgbClr val="AA1133"/>
        </a:accent1>
        <a:accent2>
          <a:srgbClr val="FF9900"/>
        </a:accent2>
        <a:accent3>
          <a:srgbClr val="FFFFFF"/>
        </a:accent3>
        <a:accent4>
          <a:srgbClr val="000000"/>
        </a:accent4>
        <a:accent5>
          <a:srgbClr val="D2AAAD"/>
        </a:accent5>
        <a:accent6>
          <a:srgbClr val="E78A00"/>
        </a:accent6>
        <a:hlink>
          <a:srgbClr val="557799"/>
        </a:hlink>
        <a:folHlink>
          <a:srgbClr val="337722"/>
        </a:folHlink>
      </a:clrScheme>
      <a:clrMap bg1="lt1" tx1="dk1" bg2="lt2" tx2="dk2" accent1="accent1" accent2="accent2" accent3="accent3" accent4="accent4" accent5="accent5" accent6="accent6" hlink="hlink" folHlink="folHlink"/>
    </a:extraClrScheme>
    <a:extraClrScheme>
      <a:clrScheme name="文書テンプレート_提案書(PowerPoint・A4横)_v0.01 8">
        <a:dk1>
          <a:srgbClr val="000000"/>
        </a:dk1>
        <a:lt1>
          <a:srgbClr val="FFFFFF"/>
        </a:lt1>
        <a:dk2>
          <a:srgbClr val="F8F8F8"/>
        </a:dk2>
        <a:lt2>
          <a:srgbClr val="337722"/>
        </a:lt2>
        <a:accent1>
          <a:srgbClr val="AA1133"/>
        </a:accent1>
        <a:accent2>
          <a:srgbClr val="FF9900"/>
        </a:accent2>
        <a:accent3>
          <a:srgbClr val="FFFFFF"/>
        </a:accent3>
        <a:accent4>
          <a:srgbClr val="000000"/>
        </a:accent4>
        <a:accent5>
          <a:srgbClr val="D2AAAD"/>
        </a:accent5>
        <a:accent6>
          <a:srgbClr val="E78A00"/>
        </a:accent6>
        <a:hlink>
          <a:srgbClr val="557799"/>
        </a:hlink>
        <a:folHlink>
          <a:srgbClr val="00BBFD"/>
        </a:folHlink>
      </a:clrScheme>
      <a:clrMap bg1="lt1" tx1="dk1" bg2="lt2" tx2="dk2" accent1="accent1" accent2="accent2" accent3="accent3" accent4="accent4" accent5="accent5" accent6="accent6" hlink="hlink" folHlink="folHlink"/>
    </a:extraClrScheme>
    <a:extraClrScheme>
      <a:clrScheme name="文書テンプレート_提案書(PowerPoint・A4横)_v0.01 9">
        <a:dk1>
          <a:srgbClr val="000000"/>
        </a:dk1>
        <a:lt1>
          <a:srgbClr val="FFFFFF"/>
        </a:lt1>
        <a:dk2>
          <a:srgbClr val="F8F8F8"/>
        </a:dk2>
        <a:lt2>
          <a:srgbClr val="337722"/>
        </a:lt2>
        <a:accent1>
          <a:srgbClr val="AA1133"/>
        </a:accent1>
        <a:accent2>
          <a:srgbClr val="66AA44"/>
        </a:accent2>
        <a:accent3>
          <a:srgbClr val="FFFFFF"/>
        </a:accent3>
        <a:accent4>
          <a:srgbClr val="000000"/>
        </a:accent4>
        <a:accent5>
          <a:srgbClr val="D2AAAD"/>
        </a:accent5>
        <a:accent6>
          <a:srgbClr val="5C9A3D"/>
        </a:accent6>
        <a:hlink>
          <a:srgbClr val="557799"/>
        </a:hlink>
        <a:folHlink>
          <a:srgbClr val="FF9900"/>
        </a:folHlink>
      </a:clrScheme>
      <a:clrMap bg1="lt1" tx1="dk1" bg2="lt2" tx2="dk2" accent1="accent1" accent2="accent2" accent3="accent3" accent4="accent4" accent5="accent5" accent6="accent6" hlink="hlink" folHlink="folHlink"/>
    </a:extraClrScheme>
    <a:extraClrScheme>
      <a:clrScheme name="文書テンプレート_提案書(PowerPoint・A4横)_v0.01 10">
        <a:dk1>
          <a:srgbClr val="000000"/>
        </a:dk1>
        <a:lt1>
          <a:srgbClr val="FFFFFF"/>
        </a:lt1>
        <a:dk2>
          <a:srgbClr val="1A75CF"/>
        </a:dk2>
        <a:lt2>
          <a:srgbClr val="777777"/>
        </a:lt2>
        <a:accent1>
          <a:srgbClr val="C0C0C0"/>
        </a:accent1>
        <a:accent2>
          <a:srgbClr val="FF0000"/>
        </a:accent2>
        <a:accent3>
          <a:srgbClr val="FFFFFF"/>
        </a:accent3>
        <a:accent4>
          <a:srgbClr val="000000"/>
        </a:accent4>
        <a:accent5>
          <a:srgbClr val="DCDCDC"/>
        </a:accent5>
        <a:accent6>
          <a:srgbClr val="E70000"/>
        </a:accent6>
        <a:hlink>
          <a:srgbClr val="557799"/>
        </a:hlink>
        <a:folHlink>
          <a:srgbClr val="5577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c7e2249-f67c-4027-b212-c28305a022e1">
      <Terms xmlns="http://schemas.microsoft.com/office/infopath/2007/PartnerControls"/>
    </lcf76f155ced4ddcb4097134ff3c332f>
    <TaxCatchAll xmlns="fa9d62c7-0f51-469e-af76-081dc5c2cf6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34EC7365253543AF52C41840CDEDF2" ma:contentTypeVersion="13" ma:contentTypeDescription="Create a new document." ma:contentTypeScope="" ma:versionID="95dd6f75eb7279436130eae24166b779">
  <xsd:schema xmlns:xsd="http://www.w3.org/2001/XMLSchema" xmlns:xs="http://www.w3.org/2001/XMLSchema" xmlns:p="http://schemas.microsoft.com/office/2006/metadata/properties" xmlns:ns2="8c7e2249-f67c-4027-b212-c28305a022e1" xmlns:ns3="fa9d62c7-0f51-469e-af76-081dc5c2cf6f" targetNamespace="http://schemas.microsoft.com/office/2006/metadata/properties" ma:root="true" ma:fieldsID="fb04dbb18f2587c151ae0426dd33bf26" ns2:_="" ns3:_="">
    <xsd:import namespace="8c7e2249-f67c-4027-b212-c28305a022e1"/>
    <xsd:import namespace="fa9d62c7-0f51-469e-af76-081dc5c2c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d62c7-0f51-469e-af76-081dc5c2cf6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81bc249-2723-4833-85eb-5148d2aa8f1e}" ma:internalName="TaxCatchAll" ma:showField="CatchAllData" ma:web="fa9d62c7-0f51-469e-af76-081dc5c2cf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AB672E-FDDB-4201-8A61-786A6F5F672B}">
  <ds:schemaRefs>
    <ds:schemaRef ds:uri="http://schemas.openxmlformats.org/package/2006/metadata/core-properties"/>
    <ds:schemaRef ds:uri="http://purl.org/dc/terms/"/>
    <ds:schemaRef ds:uri="http://purl.org/dc/elements/1.1/"/>
    <ds:schemaRef ds:uri="adc38d54-8b7f-495c-9205-663ee90ec41c"/>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92fcded3-db20-43a3-a341-4851807cbd60"/>
    <ds:schemaRef ds:uri="http://purl.org/dc/dcmitype/"/>
    <ds:schemaRef ds:uri="8c7e2249-f67c-4027-b212-c28305a022e1"/>
    <ds:schemaRef ds:uri="fa9d62c7-0f51-469e-af76-081dc5c2cf6f"/>
  </ds:schemaRefs>
</ds:datastoreItem>
</file>

<file path=customXml/itemProps2.xml><?xml version="1.0" encoding="utf-8"?>
<ds:datastoreItem xmlns:ds="http://schemas.openxmlformats.org/officeDocument/2006/customXml" ds:itemID="{4803BCAE-5776-44FF-A088-8936B36448A2}">
  <ds:schemaRefs>
    <ds:schemaRef ds:uri="http://schemas.microsoft.com/sharepoint/v3/contenttype/forms"/>
  </ds:schemaRefs>
</ds:datastoreItem>
</file>

<file path=customXml/itemProps3.xml><?xml version="1.0" encoding="utf-8"?>
<ds:datastoreItem xmlns:ds="http://schemas.openxmlformats.org/officeDocument/2006/customXml" ds:itemID="{518D8040-DFF9-486C-B517-1EFCE1DD4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7e2249-f67c-4027-b212-c28305a022e1"/>
    <ds:schemaRef ds:uri="fa9d62c7-0f51-469e-af76-081dc5c2cf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bc0f418-96a4-4caf-9d7c-ccc5ec7f9d91}"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emplate/>
  <TotalTime>3236</TotalTime>
  <Words>3992</Words>
  <Application>Microsoft Office PowerPoint</Application>
  <PresentationFormat>Custom</PresentationFormat>
  <Paragraphs>1104</Paragraphs>
  <Slides>13</Slides>
  <Notes>6</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Rokin Bank - Proposal template_20140319</vt:lpstr>
      <vt:lpstr>業界動向調査 In-Charge 信託銀行編</vt:lpstr>
      <vt:lpstr>アジェンダ</vt:lpstr>
      <vt:lpstr>１. 調査のスコープ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４. テクノロジー i. 各社のシステム構成(2/3)SMTB市場</vt:lpstr>
      <vt:lpstr>４. テクノロジー i. 各社のシステム構成(3/3)MUTB市場</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国内市場の状況 ～ 信託残高推移</dc:title>
  <dc:creator>Nakamura, Maiko</dc:creator>
  <cp:lastModifiedBy>Toyoda, Megumi</cp:lastModifiedBy>
  <cp:revision>142</cp:revision>
  <cp:lastPrinted>2017-11-28T10:50:43Z</cp:lastPrinted>
  <dcterms:created xsi:type="dcterms:W3CDTF">2014-06-09T22:49:46Z</dcterms:created>
  <dcterms:modified xsi:type="dcterms:W3CDTF">2026-01-14T00:51:05Z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y fmtid="{D5CDD505-2E9C-101B-9397-08002B2CF9AE}" pid="3" name="AuthorIds_UIVersion_1536">
    <vt:lpwstr>18</vt:lpwstr>
  </property>
  <property fmtid="{D5CDD505-2E9C-101B-9397-08002B2CF9AE}" pid="4" name="AuthorIds_UIVersion_2048">
    <vt:lpwstr>18</vt:lpwstr>
  </property>
  <property fmtid="{D5CDD505-2E9C-101B-9397-08002B2CF9AE}" pid="5" name="AuthorIds_UIVersion_2560">
    <vt:lpwstr>18</vt:lpwstr>
  </property>
  <property fmtid="{D5CDD505-2E9C-101B-9397-08002B2CF9AE}" pid="6" name="AuthorIds_UIVersion_3584">
    <vt:lpwstr>18</vt:lpwstr>
  </property>
  <property fmtid="{D5CDD505-2E9C-101B-9397-08002B2CF9AE}" pid="7" name="AuthorIds_UIVersion_4096">
    <vt:lpwstr>18</vt:lpwstr>
  </property>
  <property fmtid="{D5CDD505-2E9C-101B-9397-08002B2CF9AE}" pid="8" name="AuthorIds_UIVersion_5632">
    <vt:lpwstr>18</vt:lpwstr>
  </property>
  <property fmtid="{D5CDD505-2E9C-101B-9397-08002B2CF9AE}" pid="9" name="AuthorIds_UIVersion_8192">
    <vt:lpwstr>18</vt:lpwstr>
  </property>
  <property fmtid="{D5CDD505-2E9C-101B-9397-08002B2CF9AE}" pid="10" name="AuthorIds_UIVersion_3072">
    <vt:lpwstr>18</vt:lpwstr>
  </property>
  <property fmtid="{D5CDD505-2E9C-101B-9397-08002B2CF9AE}" pid="11" name="AuthorIds_UIVersion_1024">
    <vt:lpwstr>18</vt:lpwstr>
  </property>
  <property fmtid="{D5CDD505-2E9C-101B-9397-08002B2CF9AE}" pid="12" name="MSIP_Label_1bc0f418-96a4-4caf-9d7c-ccc5ec7f9d91_Enabled">
    <vt:lpwstr>True</vt:lpwstr>
  </property>
  <property fmtid="{D5CDD505-2E9C-101B-9397-08002B2CF9AE}" pid="13" name="MSIP_Label_1bc0f418-96a4-4caf-9d7c-ccc5ec7f9d91_SiteId">
    <vt:lpwstr>e0793d39-0939-496d-b129-198edd916feb</vt:lpwstr>
  </property>
  <property fmtid="{D5CDD505-2E9C-101B-9397-08002B2CF9AE}" pid="14" name="MSIP_Label_1bc0f418-96a4-4caf-9d7c-ccc5ec7f9d91_Owner">
    <vt:lpwstr>kotaro.takamatsu@accenture.com</vt:lpwstr>
  </property>
  <property fmtid="{D5CDD505-2E9C-101B-9397-08002B2CF9AE}" pid="15" name="MSIP_Label_1bc0f418-96a4-4caf-9d7c-ccc5ec7f9d91_SetDate">
    <vt:lpwstr>2019-03-19T02:32:42.5812971Z</vt:lpwstr>
  </property>
  <property fmtid="{D5CDD505-2E9C-101B-9397-08002B2CF9AE}" pid="16" name="MSIP_Label_1bc0f418-96a4-4caf-9d7c-ccc5ec7f9d91_Name">
    <vt:lpwstr>Unrestricted</vt:lpwstr>
  </property>
  <property fmtid="{D5CDD505-2E9C-101B-9397-08002B2CF9AE}" pid="17" name="MSIP_Label_1bc0f418-96a4-4caf-9d7c-ccc5ec7f9d91_Application">
    <vt:lpwstr>Microsoft Azure Information Protection</vt:lpwstr>
  </property>
  <property fmtid="{D5CDD505-2E9C-101B-9397-08002B2CF9AE}" pid="18" name="MSIP_Label_1bc0f418-96a4-4caf-9d7c-ccc5ec7f9d91_Extended_MSFT_Method">
    <vt:lpwstr>Manual</vt:lpwstr>
  </property>
  <property fmtid="{D5CDD505-2E9C-101B-9397-08002B2CF9AE}" pid="19" name="Sensitivity">
    <vt:lpwstr>Unrestricted</vt:lpwstr>
  </property>
  <property fmtid="{D5CDD505-2E9C-101B-9397-08002B2CF9AE}" pid="20" name="AuthorIds_UIVersion_512">
    <vt:lpwstr>6</vt:lpwstr>
  </property>
  <property fmtid="{D5CDD505-2E9C-101B-9397-08002B2CF9AE}" pid="21" name="MediaServiceImageTags">
    <vt:lpwstr/>
  </property>
</Properties>
</file>