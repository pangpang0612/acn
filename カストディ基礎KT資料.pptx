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removePersonalInfoOnSave="1" saveSubsetFonts="1">
  <p:sldMasterIdLst>
    <p:sldMasterId id="2147483711" r:id="rId4"/>
    <p:sldMasterId id="2147483715" r:id="rId5"/>
  </p:sldMasterIdLst>
  <p:notesMasterIdLst>
    <p:notesMasterId r:id="rId21"/>
  </p:notesMasterIdLst>
  <p:handoutMasterIdLst>
    <p:handoutMasterId r:id="rId22"/>
  </p:handoutMasterIdLst>
  <p:sldIdLst>
    <p:sldId id="2146846383" r:id="rId6"/>
    <p:sldId id="2146846385" r:id="rId7"/>
    <p:sldId id="2146846384" r:id="rId8"/>
    <p:sldId id="2146846386" r:id="rId9"/>
    <p:sldId id="2146846372" r:id="rId10"/>
    <p:sldId id="2146846373" r:id="rId11"/>
    <p:sldId id="2146846374" r:id="rId12"/>
    <p:sldId id="2146846378" r:id="rId13"/>
    <p:sldId id="2146846381" r:id="rId14"/>
    <p:sldId id="2146846379" r:id="rId15"/>
    <p:sldId id="2146846382" r:id="rId16"/>
    <p:sldId id="2146846376" r:id="rId17"/>
    <p:sldId id="2146846375" r:id="rId18"/>
    <p:sldId id="2146846377" r:id="rId19"/>
    <p:sldId id="2146846380" r:id="rId20"/>
  </p:sldIdLst>
  <p:sldSz cx="9906000" cy="6858000" type="A4"/>
  <p:notesSz cx="6807200" cy="9939338"/>
  <p:custDataLst>
    <p:tags r:id="rId23"/>
  </p:custDataLst>
  <p:defaultTex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097" algn="l" rtl="0" fontAlgn="base">
      <a:spcBef>
        <a:spcPct val="0"/>
      </a:spcBef>
      <a:spcAft>
        <a:spcPct val="0"/>
      </a:spcAft>
      <a:defRPr kern="1200">
        <a:solidFill>
          <a:schemeClr val="tx1"/>
        </a:solidFill>
        <a:latin typeface="Arial" charset="0"/>
        <a:ea typeface="+mn-ea"/>
        <a:cs typeface="Arial" charset="0"/>
      </a:defRPr>
    </a:lvl2pPr>
    <a:lvl3pPr marL="914192" algn="l" rtl="0" fontAlgn="base">
      <a:spcBef>
        <a:spcPct val="0"/>
      </a:spcBef>
      <a:spcAft>
        <a:spcPct val="0"/>
      </a:spcAft>
      <a:defRPr kern="1200">
        <a:solidFill>
          <a:schemeClr val="tx1"/>
        </a:solidFill>
        <a:latin typeface="Arial" charset="0"/>
        <a:ea typeface="+mn-ea"/>
        <a:cs typeface="Arial" charset="0"/>
      </a:defRPr>
    </a:lvl3pPr>
    <a:lvl4pPr marL="1371289" algn="l" rtl="0" fontAlgn="base">
      <a:spcBef>
        <a:spcPct val="0"/>
      </a:spcBef>
      <a:spcAft>
        <a:spcPct val="0"/>
      </a:spcAft>
      <a:defRPr kern="1200">
        <a:solidFill>
          <a:schemeClr val="tx1"/>
        </a:solidFill>
        <a:latin typeface="Arial" charset="0"/>
        <a:ea typeface="+mn-ea"/>
        <a:cs typeface="Arial" charset="0"/>
      </a:defRPr>
    </a:lvl4pPr>
    <a:lvl5pPr marL="1828384" algn="l" rtl="0" fontAlgn="base">
      <a:spcBef>
        <a:spcPct val="0"/>
      </a:spcBef>
      <a:spcAft>
        <a:spcPct val="0"/>
      </a:spcAft>
      <a:defRPr kern="1200">
        <a:solidFill>
          <a:schemeClr val="tx1"/>
        </a:solidFill>
        <a:latin typeface="Arial" charset="0"/>
        <a:ea typeface="+mn-ea"/>
        <a:cs typeface="Arial" charset="0"/>
      </a:defRPr>
    </a:lvl5pPr>
    <a:lvl6pPr marL="2285480" algn="l" defTabSz="914192" rtl="0" eaLnBrk="1" latinLnBrk="0" hangingPunct="1">
      <a:defRPr kern="1200">
        <a:solidFill>
          <a:schemeClr val="tx1"/>
        </a:solidFill>
        <a:latin typeface="Arial" charset="0"/>
        <a:ea typeface="+mn-ea"/>
        <a:cs typeface="Arial" charset="0"/>
      </a:defRPr>
    </a:lvl6pPr>
    <a:lvl7pPr marL="2742576" algn="l" defTabSz="914192" rtl="0" eaLnBrk="1" latinLnBrk="0" hangingPunct="1">
      <a:defRPr kern="1200">
        <a:solidFill>
          <a:schemeClr val="tx1"/>
        </a:solidFill>
        <a:latin typeface="Arial" charset="0"/>
        <a:ea typeface="+mn-ea"/>
        <a:cs typeface="Arial" charset="0"/>
      </a:defRPr>
    </a:lvl7pPr>
    <a:lvl8pPr marL="3199672" algn="l" defTabSz="914192" rtl="0" eaLnBrk="1" latinLnBrk="0" hangingPunct="1">
      <a:defRPr kern="1200">
        <a:solidFill>
          <a:schemeClr val="tx1"/>
        </a:solidFill>
        <a:latin typeface="Arial" charset="0"/>
        <a:ea typeface="+mn-ea"/>
        <a:cs typeface="Arial" charset="0"/>
      </a:defRPr>
    </a:lvl8pPr>
    <a:lvl9pPr marL="3656768" algn="l" defTabSz="914192"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20241022" id="{04D8C6AC-B707-4785-B49C-1831F3DBAA0C}">
          <p14:sldIdLst>
            <p14:sldId id="2146846383"/>
            <p14:sldId id="2146846385"/>
            <p14:sldId id="2146846384"/>
            <p14:sldId id="2146846386"/>
          </p14:sldIdLst>
        </p14:section>
        <p14:section name="須藤さん資料↓" id="{45EC03DE-F8ED-4F0C-9679-A265F7120E4F}">
          <p14:sldIdLst>
            <p14:sldId id="2146846372"/>
            <p14:sldId id="2146846373"/>
            <p14:sldId id="2146846374"/>
            <p14:sldId id="2146846378"/>
            <p14:sldId id="2146846381"/>
            <p14:sldId id="2146846379"/>
            <p14:sldId id="2146846382"/>
            <p14:sldId id="2146846376"/>
            <p14:sldId id="2146846375"/>
            <p14:sldId id="2146846377"/>
            <p14:sldId id="2146846380"/>
          </p14:sldIdLst>
        </p14:section>
        <p14:section name="不要スライド" id="{9FC4E587-EC8F-4009-8A7D-7159B8C9A8F8}">
          <p14:sldIdLst/>
        </p14:section>
      </p14:sectionLst>
    </p:ext>
    <p:ext uri="{EFAFB233-063F-42B5-8137-9DF3F51BA10A}">
      <p15:sldGuideLst xmlns:p15="http://schemas.microsoft.com/office/powerpoint/2012/main">
        <p15:guide id="1" pos="126" userDrawn="1">
          <p15:clr>
            <a:srgbClr val="A4A3A4"/>
          </p15:clr>
        </p15:guide>
        <p15:guide id="2" pos="3075" userDrawn="1">
          <p15:clr>
            <a:srgbClr val="A4A3A4"/>
          </p15:clr>
        </p15:guide>
        <p15:guide id="3" orient="horz" pos="618" userDrawn="1">
          <p15:clr>
            <a:srgbClr val="A4A3A4"/>
          </p15:clr>
        </p15:guide>
        <p15:guide id="4" orient="horz" pos="1979" userDrawn="1">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0073"/>
    <a:srgbClr val="FFFFFF"/>
    <a:srgbClr val="A100FF"/>
    <a:srgbClr val="FF99FF"/>
    <a:srgbClr val="FFFFCC"/>
    <a:srgbClr val="6699FF"/>
    <a:srgbClr val="FF7C80"/>
    <a:srgbClr val="66BBFF"/>
    <a:srgbClr val="0000FF"/>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ittlere Formatvorlage 3 - Akz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93" d="100"/>
          <a:sy n="93" d="100"/>
        </p:scale>
        <p:origin x="1824" y="66"/>
      </p:cViewPr>
      <p:guideLst>
        <p:guide pos="126"/>
        <p:guide pos="3075"/>
        <p:guide orient="horz" pos="618"/>
        <p:guide orient="horz" pos="1979"/>
      </p:guideLst>
    </p:cSldViewPr>
  </p:slideViewPr>
  <p:notesTextViewPr>
    <p:cViewPr>
      <p:scale>
        <a:sx n="1" d="1"/>
        <a:sy n="1" d="1"/>
      </p:scale>
      <p:origin x="0" y="0"/>
    </p:cViewPr>
  </p:notesTextViewPr>
  <p:notesViewPr>
    <p:cSldViewPr snapToGrid="0" showGuides="1">
      <p:cViewPr varScale="1">
        <p:scale>
          <a:sx n="66" d="100"/>
          <a:sy n="66" d="100"/>
        </p:scale>
        <p:origin x="0" y="0"/>
      </p:cViewPr>
      <p:guideLst>
        <p:guide orient="horz" pos="3131"/>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gs" Target="tags/tag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3" y="0"/>
            <a:ext cx="2949786" cy="496967"/>
          </a:xfrm>
          <a:prstGeom prst="rect">
            <a:avLst/>
          </a:prstGeom>
        </p:spPr>
        <p:txBody>
          <a:bodyPr vert="horz" lIns="91422" tIns="45710" rIns="91422" bIns="45710" rtlCol="0"/>
          <a:lstStyle>
            <a:lvl1pPr algn="l">
              <a:defRPr sz="1200"/>
            </a:lvl1pPr>
          </a:lstStyle>
          <a:p>
            <a:endParaRPr lang="en-AU"/>
          </a:p>
        </p:txBody>
      </p:sp>
      <p:sp>
        <p:nvSpPr>
          <p:cNvPr id="3" name="Datumsplatzhalter 2"/>
          <p:cNvSpPr>
            <a:spLocks noGrp="1"/>
          </p:cNvSpPr>
          <p:nvPr>
            <p:ph type="dt" sz="quarter" idx="1"/>
          </p:nvPr>
        </p:nvSpPr>
        <p:spPr>
          <a:xfrm>
            <a:off x="3855839" y="0"/>
            <a:ext cx="2949786" cy="496967"/>
          </a:xfrm>
          <a:prstGeom prst="rect">
            <a:avLst/>
          </a:prstGeom>
        </p:spPr>
        <p:txBody>
          <a:bodyPr vert="horz" lIns="91422" tIns="45710" rIns="91422" bIns="45710" rtlCol="0"/>
          <a:lstStyle>
            <a:lvl1pPr algn="r">
              <a:defRPr sz="1200"/>
            </a:lvl1pPr>
          </a:lstStyle>
          <a:p>
            <a:fld id="{429731B9-D2D4-4D43-8CBF-D0184DDEB7D7}" type="datetimeFigureOut">
              <a:rPr lang="en-AU" smtClean="0"/>
              <a:t>14/01/2026</a:t>
            </a:fld>
            <a:endParaRPr lang="en-AU"/>
          </a:p>
        </p:txBody>
      </p:sp>
      <p:sp>
        <p:nvSpPr>
          <p:cNvPr id="4" name="Fußzeilenplatzhalter 3"/>
          <p:cNvSpPr>
            <a:spLocks noGrp="1"/>
          </p:cNvSpPr>
          <p:nvPr>
            <p:ph type="ftr" sz="quarter" idx="2"/>
          </p:nvPr>
        </p:nvSpPr>
        <p:spPr>
          <a:xfrm>
            <a:off x="3" y="9440648"/>
            <a:ext cx="2949786" cy="496967"/>
          </a:xfrm>
          <a:prstGeom prst="rect">
            <a:avLst/>
          </a:prstGeom>
        </p:spPr>
        <p:txBody>
          <a:bodyPr vert="horz" lIns="91422" tIns="45710" rIns="91422" bIns="45710" rtlCol="0" anchor="b"/>
          <a:lstStyle>
            <a:lvl1pPr algn="l">
              <a:defRPr sz="1200"/>
            </a:lvl1pPr>
          </a:lstStyle>
          <a:p>
            <a:endParaRPr lang="en-AU"/>
          </a:p>
        </p:txBody>
      </p:sp>
      <p:sp>
        <p:nvSpPr>
          <p:cNvPr id="5" name="Foliennummernplatzhalter 4"/>
          <p:cNvSpPr>
            <a:spLocks noGrp="1"/>
          </p:cNvSpPr>
          <p:nvPr>
            <p:ph type="sldNum" sz="quarter" idx="3"/>
          </p:nvPr>
        </p:nvSpPr>
        <p:spPr>
          <a:xfrm>
            <a:off x="3855839" y="9440648"/>
            <a:ext cx="2949786" cy="496967"/>
          </a:xfrm>
          <a:prstGeom prst="rect">
            <a:avLst/>
          </a:prstGeom>
        </p:spPr>
        <p:txBody>
          <a:bodyPr vert="horz" lIns="91422" tIns="45710" rIns="91422" bIns="45710" rtlCol="0" anchor="b"/>
          <a:lstStyle>
            <a:lvl1pPr algn="r">
              <a:defRPr sz="1200"/>
            </a:lvl1pPr>
          </a:lstStyle>
          <a:p>
            <a:fld id="{5C2A0147-0BBB-4754-93D4-F4A2B787A1C7}" type="slidenum">
              <a:rPr lang="en-AU" smtClean="0"/>
              <a:t>‹#›</a:t>
            </a:fld>
            <a:endParaRPr lang="en-AU"/>
          </a:p>
        </p:txBody>
      </p:sp>
    </p:spTree>
    <p:extLst>
      <p:ext uri="{BB962C8B-B14F-4D97-AF65-F5344CB8AC3E}">
        <p14:creationId xmlns:p14="http://schemas.microsoft.com/office/powerpoint/2010/main" val="38551956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680722" y="0"/>
            <a:ext cx="2269067" cy="496967"/>
          </a:xfrm>
          <a:prstGeom prst="rect">
            <a:avLst/>
          </a:prstGeom>
        </p:spPr>
        <p:txBody>
          <a:bodyPr vert="horz" lIns="91422" tIns="45710" rIns="91422" bIns="45710" rtlCol="0"/>
          <a:lstStyle>
            <a:lvl1pPr algn="l" fontAlgn="auto">
              <a:spcBef>
                <a:spcPts val="0"/>
              </a:spcBef>
              <a:spcAft>
                <a:spcPts val="0"/>
              </a:spcAft>
              <a:defRPr sz="1200">
                <a:latin typeface="+mn-lt"/>
                <a:cs typeface="+mn-cs"/>
              </a:defRPr>
            </a:lvl1pPr>
          </a:lstStyle>
          <a:p>
            <a:pPr>
              <a:defRPr/>
            </a:pPr>
            <a:endParaRPr lang="de-DE"/>
          </a:p>
        </p:txBody>
      </p:sp>
      <p:sp>
        <p:nvSpPr>
          <p:cNvPr id="3" name="Datumsplatzhalter 2"/>
          <p:cNvSpPr>
            <a:spLocks noGrp="1"/>
          </p:cNvSpPr>
          <p:nvPr>
            <p:ph type="dt" idx="1"/>
          </p:nvPr>
        </p:nvSpPr>
        <p:spPr>
          <a:xfrm>
            <a:off x="3855841" y="0"/>
            <a:ext cx="2270642" cy="496967"/>
          </a:xfrm>
          <a:prstGeom prst="rect">
            <a:avLst/>
          </a:prstGeom>
        </p:spPr>
        <p:txBody>
          <a:bodyPr vert="horz" lIns="91422" tIns="45710" rIns="91422" bIns="45710" rtlCol="0"/>
          <a:lstStyle>
            <a:lvl1pPr algn="r" fontAlgn="auto">
              <a:spcBef>
                <a:spcPts val="0"/>
              </a:spcBef>
              <a:spcAft>
                <a:spcPts val="0"/>
              </a:spcAft>
              <a:defRPr sz="1200">
                <a:latin typeface="+mn-lt"/>
                <a:cs typeface="+mn-cs"/>
              </a:defRPr>
            </a:lvl1pPr>
          </a:lstStyle>
          <a:p>
            <a:pPr>
              <a:defRPr/>
            </a:pPr>
            <a:endParaRPr lang="de-DE"/>
          </a:p>
        </p:txBody>
      </p:sp>
      <p:sp>
        <p:nvSpPr>
          <p:cNvPr id="4" name="Folienbildplatzhalter 3"/>
          <p:cNvSpPr>
            <a:spLocks noGrp="1" noRot="1" noChangeAspect="1"/>
          </p:cNvSpPr>
          <p:nvPr>
            <p:ph type="sldImg" idx="2"/>
          </p:nvPr>
        </p:nvSpPr>
        <p:spPr>
          <a:xfrm>
            <a:off x="163513" y="365125"/>
            <a:ext cx="6480175" cy="4487863"/>
          </a:xfrm>
          <a:prstGeom prst="rect">
            <a:avLst/>
          </a:prstGeom>
          <a:noFill/>
          <a:ln w="12700">
            <a:solidFill>
              <a:prstClr val="black"/>
            </a:solidFill>
          </a:ln>
        </p:spPr>
        <p:txBody>
          <a:bodyPr vert="horz" lIns="91422" tIns="45710" rIns="91422" bIns="45710" rtlCol="0" anchor="ctr"/>
          <a:lstStyle/>
          <a:p>
            <a:pPr lvl="0"/>
            <a:endParaRPr lang="de-DE" noProof="0"/>
          </a:p>
        </p:txBody>
      </p:sp>
      <p:sp>
        <p:nvSpPr>
          <p:cNvPr id="5" name="Notizenplatzhalter 4"/>
          <p:cNvSpPr>
            <a:spLocks noGrp="1"/>
          </p:cNvSpPr>
          <p:nvPr>
            <p:ph type="body" sz="quarter" idx="3"/>
          </p:nvPr>
        </p:nvSpPr>
        <p:spPr>
          <a:xfrm>
            <a:off x="680721" y="4969672"/>
            <a:ext cx="5445760" cy="4224218"/>
          </a:xfrm>
          <a:prstGeom prst="rect">
            <a:avLst/>
          </a:prstGeom>
        </p:spPr>
        <p:txBody>
          <a:bodyPr vert="horz" lIns="0" tIns="45710" rIns="0" bIns="45710" rtlCol="0">
            <a:normAutofit/>
          </a:bodyPr>
          <a:lstStyle/>
          <a:p>
            <a:pPr lvl="0"/>
            <a:r>
              <a:rPr lang="de-DE" noProof="0"/>
              <a:t>Textmasterformate durch Klicken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6" name="Fußzeilenplatzhalter 5"/>
          <p:cNvSpPr>
            <a:spLocks noGrp="1"/>
          </p:cNvSpPr>
          <p:nvPr>
            <p:ph type="ftr" sz="quarter" idx="4"/>
          </p:nvPr>
        </p:nvSpPr>
        <p:spPr>
          <a:xfrm>
            <a:off x="680722" y="9440648"/>
            <a:ext cx="2269067" cy="496967"/>
          </a:xfrm>
          <a:prstGeom prst="rect">
            <a:avLst/>
          </a:prstGeom>
        </p:spPr>
        <p:txBody>
          <a:bodyPr vert="horz" lIns="91422" tIns="45710" rIns="91422" bIns="45710" rtlCol="0" anchor="b"/>
          <a:lstStyle>
            <a:lvl1pPr algn="l" fontAlgn="auto">
              <a:spcBef>
                <a:spcPts val="0"/>
              </a:spcBef>
              <a:spcAft>
                <a:spcPts val="0"/>
              </a:spcAft>
              <a:defRPr sz="900">
                <a:latin typeface="Arial" pitchFamily="34" charset="0"/>
                <a:cs typeface="Arial" pitchFamily="34" charset="0"/>
              </a:defRPr>
            </a:lvl1pPr>
          </a:lstStyle>
          <a:p>
            <a:pPr>
              <a:defRPr/>
            </a:pPr>
            <a:endParaRPr lang="de-DE"/>
          </a:p>
        </p:txBody>
      </p:sp>
      <p:sp>
        <p:nvSpPr>
          <p:cNvPr id="7" name="Foliennummernplatzhalter 6"/>
          <p:cNvSpPr>
            <a:spLocks noGrp="1"/>
          </p:cNvSpPr>
          <p:nvPr>
            <p:ph type="sldNum" sz="quarter" idx="5"/>
          </p:nvPr>
        </p:nvSpPr>
        <p:spPr>
          <a:xfrm>
            <a:off x="3176696" y="9440648"/>
            <a:ext cx="2949786" cy="496967"/>
          </a:xfrm>
          <a:prstGeom prst="rect">
            <a:avLst/>
          </a:prstGeom>
        </p:spPr>
        <p:txBody>
          <a:bodyPr vert="horz" lIns="91422" tIns="45710" rIns="91422" bIns="45710" rtlCol="0" anchor="b"/>
          <a:lstStyle>
            <a:lvl1pPr algn="r" fontAlgn="auto">
              <a:spcBef>
                <a:spcPts val="0"/>
              </a:spcBef>
              <a:spcAft>
                <a:spcPts val="0"/>
              </a:spcAft>
              <a:defRPr sz="900">
                <a:latin typeface="Arial" pitchFamily="34" charset="0"/>
                <a:cs typeface="Arial" pitchFamily="34" charset="0"/>
              </a:defRPr>
            </a:lvl1pPr>
          </a:lstStyle>
          <a:p>
            <a:pPr>
              <a:defRPr/>
            </a:pPr>
            <a:fld id="{BA44FAA9-51FA-4F6B-AC6F-9EF5239E7D33}" type="slidenum">
              <a:rPr lang="de-DE" smtClean="0"/>
              <a:pPr>
                <a:defRPr/>
              </a:pPr>
              <a:t>‹#›</a:t>
            </a:fld>
            <a:endParaRPr lang="de-DE"/>
          </a:p>
        </p:txBody>
      </p:sp>
    </p:spTree>
    <p:extLst>
      <p:ext uri="{BB962C8B-B14F-4D97-AF65-F5344CB8AC3E}">
        <p14:creationId xmlns:p14="http://schemas.microsoft.com/office/powerpoint/2010/main" val="243150537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097"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192"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289"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384"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5480" algn="l" defTabSz="914192" rtl="0" eaLnBrk="1" latinLnBrk="0" hangingPunct="1">
      <a:defRPr sz="1200" kern="1200">
        <a:solidFill>
          <a:schemeClr val="tx1"/>
        </a:solidFill>
        <a:latin typeface="+mn-lt"/>
        <a:ea typeface="+mn-ea"/>
        <a:cs typeface="+mn-cs"/>
      </a:defRPr>
    </a:lvl6pPr>
    <a:lvl7pPr marL="2742576" algn="l" defTabSz="914192" rtl="0" eaLnBrk="1" latinLnBrk="0" hangingPunct="1">
      <a:defRPr sz="1200" kern="1200">
        <a:solidFill>
          <a:schemeClr val="tx1"/>
        </a:solidFill>
        <a:latin typeface="+mn-lt"/>
        <a:ea typeface="+mn-ea"/>
        <a:cs typeface="+mn-cs"/>
      </a:defRPr>
    </a:lvl7pPr>
    <a:lvl8pPr marL="3199672" algn="l" defTabSz="914192" rtl="0" eaLnBrk="1" latinLnBrk="0" hangingPunct="1">
      <a:defRPr sz="1200" kern="1200">
        <a:solidFill>
          <a:schemeClr val="tx1"/>
        </a:solidFill>
        <a:latin typeface="+mn-lt"/>
        <a:ea typeface="+mn-ea"/>
        <a:cs typeface="+mn-cs"/>
      </a:defRPr>
    </a:lvl8pPr>
    <a:lvl9pPr marL="3656768" algn="l" defTabSz="91419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a:defRPr/>
            </a:pPr>
            <a:fld id="{BA44FAA9-51FA-4F6B-AC6F-9EF5239E7D33}" type="slidenum">
              <a:rPr lang="de-DE" smtClean="0"/>
              <a:pPr>
                <a:defRPr/>
              </a:pPr>
              <a:t>0</a:t>
            </a:fld>
            <a:endParaRPr lang="de-DE"/>
          </a:p>
        </p:txBody>
      </p:sp>
    </p:spTree>
    <p:extLst>
      <p:ext uri="{BB962C8B-B14F-4D97-AF65-F5344CB8AC3E}">
        <p14:creationId xmlns:p14="http://schemas.microsoft.com/office/powerpoint/2010/main" val="5430198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ags" Target="../tags/tag8.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1.emf"/><Relationship Id="rId4" Type="http://schemas.openxmlformats.org/officeDocument/2006/relationships/oleObject" Target="../embeddings/oleObject2.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116323506"/>
              </p:ext>
            </p:extLst>
          </p:nvPr>
        </p:nvGraphicFramePr>
        <p:xfrm>
          <a:off x="1590" y="1589"/>
          <a:ext cx="1587" cy="1587"/>
        </p:xfrm>
        <a:graphic>
          <a:graphicData uri="http://schemas.openxmlformats.org/presentationml/2006/ole">
            <mc:AlternateContent xmlns:mc="http://schemas.openxmlformats.org/markup-compatibility/2006">
              <mc:Choice xmlns:v="urn:schemas-microsoft-com:vml" Requires="v">
                <p:oleObj name="think-cell スライド" r:id="rId4" imgW="470" imgH="469" progId="TCLayout.ActiveDocument.1">
                  <p:embed/>
                </p:oleObj>
              </mc:Choice>
              <mc:Fallback>
                <p:oleObj name="think-cell スライド" r:id="rId4" imgW="470" imgH="469" progId="TCLayout.ActiveDocument.1">
                  <p:embed/>
                  <p:pic>
                    <p:nvPicPr>
                      <p:cNvPr id="2" name="オブジェクト 1" hidden="1"/>
                      <p:cNvPicPr/>
                      <p:nvPr/>
                    </p:nvPicPr>
                    <p:blipFill>
                      <a:blip r:embed="rId5"/>
                      <a:stretch>
                        <a:fillRect/>
                      </a:stretch>
                    </p:blipFill>
                    <p:spPr>
                      <a:xfrm>
                        <a:off x="1590" y="1589"/>
                        <a:ext cx="1587" cy="1587"/>
                      </a:xfrm>
                      <a:prstGeom prst="rect">
                        <a:avLst/>
                      </a:prstGeom>
                    </p:spPr>
                  </p:pic>
                </p:oleObj>
              </mc:Fallback>
            </mc:AlternateContent>
          </a:graphicData>
        </a:graphic>
      </p:graphicFrame>
      <p:sp>
        <p:nvSpPr>
          <p:cNvPr id="3" name="正方形/長方形 2" hidden="1">
            <a:extLst>
              <a:ext uri="{FF2B5EF4-FFF2-40B4-BE49-F238E27FC236}">
                <a16:creationId xmlns:a16="http://schemas.microsoft.com/office/drawing/2014/main" id="{CA469BE0-C4DD-4A81-90A8-F38AF1A7F083}"/>
              </a:ext>
            </a:extLst>
          </p:cNvPr>
          <p:cNvSpPr/>
          <p:nvPr userDrawn="1">
            <p:custDataLst>
              <p:tags r:id="rId2"/>
            </p:custDataLst>
          </p:nvPr>
        </p:nvSpPr>
        <p:spPr bwMode="gray">
          <a:xfrm>
            <a:off x="0" y="0"/>
            <a:ext cx="158750" cy="15875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914400" eaLnBrk="1" latinLnBrk="0" hangingPunct="1">
              <a:lnSpc>
                <a:spcPct val="100000"/>
              </a:lnSpc>
              <a:spcBef>
                <a:spcPct val="0"/>
              </a:spcBef>
              <a:spcAft>
                <a:spcPct val="0"/>
              </a:spcAft>
              <a:buClrTx/>
              <a:buSzTx/>
              <a:buFontTx/>
              <a:buNone/>
              <a:tabLst/>
            </a:pPr>
            <a:endParaRPr kumimoji="1" lang="ja-JP" altLang="en-US" sz="2600"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10" name="Title 1"/>
          <p:cNvSpPr>
            <a:spLocks noGrp="1"/>
          </p:cNvSpPr>
          <p:nvPr>
            <p:ph type="title"/>
          </p:nvPr>
        </p:nvSpPr>
        <p:spPr>
          <a:xfrm>
            <a:off x="488504" y="476672"/>
            <a:ext cx="8928000" cy="420752"/>
          </a:xfrm>
          <a:prstGeom prst="rect">
            <a:avLst/>
          </a:prstGeom>
        </p:spPr>
        <p:txBody>
          <a:bodyPr vert="horz" lIns="0" tIns="0" rIns="0" bIns="0" rtlCol="0" anchor="b" anchorCtr="0">
            <a:noAutofit/>
          </a:bodyPr>
          <a:lstStyle>
            <a:lvl1pPr>
              <a:defRPr lang="en-GB" dirty="0"/>
            </a:lvl1pPr>
          </a:lstStyle>
          <a:p>
            <a:pPr lvl="0"/>
            <a:r>
              <a:rPr lang="ja-JP" altLang="en-US"/>
              <a:t>マスター タイトルの書式設定</a:t>
            </a:r>
            <a:endParaRPr lang="en-GB"/>
          </a:p>
        </p:txBody>
      </p:sp>
      <p:sp>
        <p:nvSpPr>
          <p:cNvPr id="11" name="Text Placeholder 10"/>
          <p:cNvSpPr>
            <a:spLocks noGrp="1"/>
          </p:cNvSpPr>
          <p:nvPr>
            <p:ph type="body" idx="12"/>
          </p:nvPr>
        </p:nvSpPr>
        <p:spPr>
          <a:xfrm>
            <a:off x="488504" y="944949"/>
            <a:ext cx="8928000" cy="669414"/>
          </a:xfrm>
          <a:prstGeom prst="rect">
            <a:avLst/>
          </a:prstGeom>
        </p:spPr>
        <p:txBody>
          <a:bodyPr vert="horz" lIns="0" tIns="0" rIns="0" bIns="0" rtlCol="0">
            <a:noAutofit/>
          </a:bodyPr>
          <a:lstStyle>
            <a:lvl1pPr marR="0" defTabSz="990546" latinLnBrk="0">
              <a:lnSpc>
                <a:spcPct val="100000"/>
              </a:lnSpc>
              <a:spcBef>
                <a:spcPts val="0"/>
              </a:spcBef>
              <a:spcAft>
                <a:spcPts val="0"/>
              </a:spcAft>
              <a:buClrTx/>
              <a:buSzTx/>
              <a:tabLst/>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1pPr>
            <a:lvl2pPr marL="644525" indent="-285750">
              <a:buFont typeface="Wingdings" panose="05000000000000000000" pitchFamily="2" charset="2"/>
              <a:buChar char="p"/>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2pPr>
            <a:lvl3pPr marL="1004888" indent="-285750">
              <a:buFont typeface="Arial" panose="020B0604020202020204" pitchFamily="34" charset="0"/>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3pPr>
            <a:lvl4pPr marL="1363662" indent="-285750">
              <a:buFont typeface="Meiryo UI" panose="020B0604030504040204" pitchFamily="50" charset="-128"/>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4pPr>
            <a:lvl5pPr marL="1436687" indent="0">
              <a:buNone/>
              <a:defRPr lang="ja-JP" altLang="en-US" dirty="0">
                <a:latin typeface="Meiryo UI" panose="020B0604030504040204" pitchFamily="50" charset="-128"/>
                <a:ea typeface="Meiryo UI" panose="020B0604030504040204" pitchFamily="50" charset="-128"/>
                <a:sym typeface="Meiryo UI" panose="020B0604030504040204" pitchFamily="50" charset="-128"/>
              </a:defRPr>
            </a:lvl5pPr>
          </a:lstStyle>
          <a:p>
            <a:pPr marR="0" lvl="0" defTabSz="990546" latinLnBrk="0">
              <a:lnSpc>
                <a:spcPct val="100000"/>
              </a:lnSpc>
              <a:buClrTx/>
              <a:buSzTx/>
              <a:tabLst/>
            </a:pPr>
            <a:r>
              <a:rPr kumimoji="1" lang="ja-JP" altLang="en-US"/>
              <a:t>マスター テキストの書式設定</a:t>
            </a:r>
          </a:p>
        </p:txBody>
      </p:sp>
      <p:sp>
        <p:nvSpPr>
          <p:cNvPr id="22" name="テキスト プレースホルダー 21"/>
          <p:cNvSpPr>
            <a:spLocks noGrp="1"/>
          </p:cNvSpPr>
          <p:nvPr userDrawn="1">
            <p:ph type="body" sz="quarter" idx="13"/>
          </p:nvPr>
        </p:nvSpPr>
        <p:spPr>
          <a:xfrm>
            <a:off x="488504" y="77844"/>
            <a:ext cx="8928000" cy="369332"/>
          </a:xfrm>
          <a:prstGeom prst="rect">
            <a:avLst/>
          </a:prstGeom>
        </p:spPr>
        <p:txBody>
          <a:bodyPr vert="horz" lIns="0" tIns="0" rIns="0" bIns="0" rtlCol="0" anchor="b">
            <a:noAutofit/>
          </a:bodyPr>
          <a:lstStyle>
            <a:lvl1pPr>
              <a:defRPr lang="ja-JP" altLang="en-US" b="1" dirty="0"/>
            </a:lvl1pPr>
          </a:lstStyle>
          <a:p>
            <a:pPr lvl="0">
              <a:spcBef>
                <a:spcPts val="325"/>
              </a:spcBef>
            </a:pPr>
            <a:r>
              <a:rPr kumimoji="1" lang="ja-JP" altLang="en-US"/>
              <a:t>マスター テキストの書式設定</a:t>
            </a:r>
          </a:p>
        </p:txBody>
      </p:sp>
      <p:sp>
        <p:nvSpPr>
          <p:cNvPr id="14" name="テキスト ボックス 13">
            <a:extLst>
              <a:ext uri="{FF2B5EF4-FFF2-40B4-BE49-F238E27FC236}">
                <a16:creationId xmlns:a16="http://schemas.microsoft.com/office/drawing/2014/main" id="{1B7C929D-1B27-411A-B169-9CD824DB33C9}"/>
              </a:ext>
            </a:extLst>
          </p:cNvPr>
          <p:cNvSpPr txBox="1"/>
          <p:nvPr userDrawn="1"/>
        </p:nvSpPr>
        <p:spPr>
          <a:xfrm>
            <a:off x="9562037" y="6623714"/>
            <a:ext cx="287507" cy="226591"/>
          </a:xfrm>
          <a:prstGeom prst="rect">
            <a:avLst/>
          </a:prstGeom>
          <a:noFill/>
        </p:spPr>
        <p:txBody>
          <a:bodyPr wrap="none" lIns="36000" tIns="36000" rIns="36000" bIns="36000" rtlCol="0">
            <a:spAutoFit/>
          </a:bodyPr>
          <a:lstStyle/>
          <a:p>
            <a:pPr algn="ctr"/>
            <a:fld id="{989496C2-B50A-F244-A0A1-E3849033C8B1}" type="slidenum">
              <a:rPr lang="en-GB" altLang="ja-JP" sz="1000" smtClean="0">
                <a:solidFill>
                  <a:schemeClr val="bg1">
                    <a:lumMod val="50000"/>
                  </a:schemeClr>
                </a:solidFill>
                <a:latin typeface="Meiryo UI" panose="020B0604030504040204" pitchFamily="50" charset="-128"/>
                <a:ea typeface="Meiryo UI" panose="020B0604030504040204" pitchFamily="50" charset="-128"/>
                <a:sym typeface="Meiryo UI" panose="020B0604030504040204" pitchFamily="50" charset="-128"/>
              </a:rPr>
              <a:pPr algn="ctr"/>
              <a:t>‹#›</a:t>
            </a:fld>
            <a:endParaRPr kumimoji="1" lang="ja-JP" altLang="en-US" sz="1000" i="1">
              <a:latin typeface="Meiryo UI" panose="020B0604030504040204" pitchFamily="50" charset="-128"/>
              <a:ea typeface="Meiryo UI" panose="020B0604030504040204" pitchFamily="50" charset="-128"/>
              <a:sym typeface="Meiryo UI" panose="020B0604030504040204" pitchFamily="50" charset="-128"/>
            </a:endParaRPr>
          </a:p>
        </p:txBody>
      </p:sp>
    </p:spTree>
    <p:extLst>
      <p:ext uri="{BB962C8B-B14F-4D97-AF65-F5344CB8AC3E}">
        <p14:creationId xmlns:p14="http://schemas.microsoft.com/office/powerpoint/2010/main" val="875486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5_Title_Blue">
    <p:bg>
      <p:bgPr>
        <a:solidFill>
          <a:srgbClr val="999977"/>
        </a:solidFill>
        <a:effectLst/>
      </p:bgPr>
    </p:bg>
    <p:spTree>
      <p:nvGrpSpPr>
        <p:cNvPr id="1" name=""/>
        <p:cNvGrpSpPr/>
        <p:nvPr/>
      </p:nvGrpSpPr>
      <p:grpSpPr>
        <a:xfrm>
          <a:off x="0" y="0"/>
          <a:ext cx="0" cy="0"/>
          <a:chOff x="0" y="0"/>
          <a:chExt cx="0" cy="0"/>
        </a:xfrm>
      </p:grpSpPr>
      <p:pic>
        <p:nvPicPr>
          <p:cNvPr id="24" name="図 23"/>
          <p:cNvPicPr>
            <a:picLocks noChangeAspect="1"/>
          </p:cNvPicPr>
          <p:nvPr userDrawn="1"/>
        </p:nvPicPr>
        <p:blipFill rotWithShape="1">
          <a:blip r:embed="rId3" cstate="print">
            <a:extLst>
              <a:ext uri="{28A0092B-C50C-407E-A947-70E740481C1C}">
                <a14:useLocalDpi xmlns:a14="http://schemas.microsoft.com/office/drawing/2010/main" val="0"/>
              </a:ext>
            </a:extLst>
          </a:blip>
          <a:srcRect l="7522" t="3733"/>
          <a:stretch/>
        </p:blipFill>
        <p:spPr>
          <a:xfrm>
            <a:off x="-15000" y="0"/>
            <a:ext cx="9921000" cy="6885000"/>
          </a:xfrm>
          <a:prstGeom prst="rect">
            <a:avLst/>
          </a:prstGeom>
        </p:spPr>
      </p:pic>
      <p:graphicFrame>
        <p:nvGraphicFramePr>
          <p:cNvPr id="44" name="Objekt 43" hidden="1"/>
          <p:cNvGraphicFramePr>
            <a:graphicFrameLocks/>
          </p:cNvGraphicFramePr>
          <p:nvPr>
            <p:custDataLst>
              <p:tags r:id="rId1"/>
            </p:custDataLst>
          </p:nvPr>
        </p:nvGraphicFramePr>
        <p:xfrm>
          <a:off x="0" y="0"/>
          <a:ext cx="171979" cy="158750"/>
        </p:xfrm>
        <a:graphic>
          <a:graphicData uri="http://schemas.openxmlformats.org/presentationml/2006/ole">
            <mc:AlternateContent xmlns:mc="http://schemas.openxmlformats.org/markup-compatibility/2006">
              <mc:Choice xmlns:v="urn:schemas-microsoft-com:vml" Requires="v">
                <p:oleObj name="think-cell Slide" r:id="rId4" imgW="0" imgH="0" progId="">
                  <p:embed/>
                </p:oleObj>
              </mc:Choice>
              <mc:Fallback>
                <p:oleObj name="think-cell Slide" r:id="rId4" imgW="0" imgH="0" progId="">
                  <p:embed/>
                  <p:pic>
                    <p:nvPicPr>
                      <p:cNvPr id="44" name="Objekt 43" hidden="1"/>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71979" cy="158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
        <p:nvSpPr>
          <p:cNvPr id="26" name="正方形/長方形 25"/>
          <p:cNvSpPr/>
          <p:nvPr userDrawn="1"/>
        </p:nvSpPr>
        <p:spPr>
          <a:xfrm>
            <a:off x="-15000" y="0"/>
            <a:ext cx="9906000" cy="6876000"/>
          </a:xfrm>
          <a:prstGeom prst="rect">
            <a:avLst/>
          </a:prstGeom>
          <a:solidFill>
            <a:schemeClr val="tx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ja-JP" altLang="en-US"/>
          </a:p>
        </p:txBody>
      </p:sp>
      <p:sp>
        <p:nvSpPr>
          <p:cNvPr id="32" name="Title 1"/>
          <p:cNvSpPr>
            <a:spLocks noGrp="1"/>
          </p:cNvSpPr>
          <p:nvPr>
            <p:ph type="ctrTitle" hasCustomPrompt="1"/>
          </p:nvPr>
        </p:nvSpPr>
        <p:spPr>
          <a:xfrm>
            <a:off x="505442" y="3437057"/>
            <a:ext cx="4691770" cy="996950"/>
          </a:xfrm>
          <a:prstGeom prst="rect">
            <a:avLst/>
          </a:prstGeom>
        </p:spPr>
        <p:txBody>
          <a:bodyPr lIns="0" tIns="0" anchor="b" anchorCtr="0">
            <a:noAutofit/>
          </a:bodyPr>
          <a:lstStyle>
            <a:lvl1pPr algn="l">
              <a:lnSpc>
                <a:spcPct val="100000"/>
              </a:lnSpc>
              <a:spcAft>
                <a:spcPts val="0"/>
              </a:spcAft>
              <a:defRPr sz="3323" b="1" spc="0" baseline="0">
                <a:solidFill>
                  <a:schemeClr val="bg1"/>
                </a:solidFill>
                <a:latin typeface="+mj-lt"/>
                <a:cs typeface="Arial" pitchFamily="34" charset="0"/>
              </a:defRPr>
            </a:lvl1pPr>
          </a:lstStyle>
          <a:p>
            <a:r>
              <a:rPr lang="en-US"/>
              <a:t>Click to edit presentation title</a:t>
            </a:r>
            <a:endParaRPr lang="en-GB"/>
          </a:p>
        </p:txBody>
      </p:sp>
      <p:sp>
        <p:nvSpPr>
          <p:cNvPr id="33" name="Text Placeholder 32"/>
          <p:cNvSpPr>
            <a:spLocks noGrp="1"/>
          </p:cNvSpPr>
          <p:nvPr>
            <p:ph type="body" sz="quarter" idx="10" hasCustomPrompt="1"/>
          </p:nvPr>
        </p:nvSpPr>
        <p:spPr>
          <a:xfrm>
            <a:off x="505442" y="4585647"/>
            <a:ext cx="4691768" cy="467562"/>
          </a:xfrm>
          <a:prstGeom prst="rect">
            <a:avLst/>
          </a:prstGeom>
        </p:spPr>
        <p:txBody>
          <a:bodyPr anchor="t" anchorCtr="0"/>
          <a:lstStyle>
            <a:lvl1pPr marL="0" indent="0" algn="l" rtl="0" eaLnBrk="1" fontAlgn="base" hangingPunct="1">
              <a:lnSpc>
                <a:spcPct val="100000"/>
              </a:lnSpc>
              <a:spcBef>
                <a:spcPct val="0"/>
              </a:spcBef>
              <a:spcAft>
                <a:spcPts val="0"/>
              </a:spcAft>
              <a:buFont typeface="Arial" charset="0"/>
              <a:buNone/>
              <a:defRPr lang="en-US" sz="1846" b="0" kern="1200" spc="0" baseline="0" dirty="0" smtClean="0">
                <a:solidFill>
                  <a:schemeClr val="bg1"/>
                </a:solidFill>
                <a:latin typeface="+mj-lt"/>
                <a:ea typeface="Arial" pitchFamily="-105" charset="-52"/>
                <a:cs typeface="Arial" pitchFamily="34" charset="0"/>
              </a:defRPr>
            </a:lvl1pPr>
            <a:lvl2pPr algn="l" rtl="0" eaLnBrk="1" fontAlgn="base" hangingPunct="1">
              <a:lnSpc>
                <a:spcPct val="100000"/>
              </a:lnSpc>
              <a:spcBef>
                <a:spcPct val="0"/>
              </a:spcBef>
              <a:spcAft>
                <a:spcPct val="0"/>
              </a:spcAft>
              <a:buFont typeface="Arial" charset="0"/>
              <a:defRPr lang="en-US" sz="1846"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1846"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1846"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1846" b="0" kern="1200" spc="0" baseline="0" dirty="0">
                <a:solidFill>
                  <a:schemeClr val="accent1"/>
                </a:solidFill>
                <a:latin typeface="Arial" pitchFamily="34" charset="0"/>
                <a:ea typeface="Arial" pitchFamily="-105" charset="-52"/>
                <a:cs typeface="Arial" pitchFamily="34" charset="0"/>
              </a:defRPr>
            </a:lvl5pPr>
          </a:lstStyle>
          <a:p>
            <a:pPr lvl="0"/>
            <a:r>
              <a:rPr lang="en-US"/>
              <a:t>Click to edit subtitle</a:t>
            </a:r>
          </a:p>
        </p:txBody>
      </p:sp>
      <p:sp>
        <p:nvSpPr>
          <p:cNvPr id="10" name="正方形/長方形 9">
            <a:extLst>
              <a:ext uri="{FF2B5EF4-FFF2-40B4-BE49-F238E27FC236}">
                <a16:creationId xmlns:a16="http://schemas.microsoft.com/office/drawing/2014/main" id="{637F6CFB-3CBC-4514-A22C-EF6E633E969A}"/>
              </a:ext>
            </a:extLst>
          </p:cNvPr>
          <p:cNvSpPr/>
          <p:nvPr userDrawn="1"/>
        </p:nvSpPr>
        <p:spPr bwMode="auto">
          <a:xfrm>
            <a:off x="-879584" y="6040398"/>
            <a:ext cx="576000" cy="57600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1" name="正方形/長方形 10">
            <a:extLst>
              <a:ext uri="{FF2B5EF4-FFF2-40B4-BE49-F238E27FC236}">
                <a16:creationId xmlns:a16="http://schemas.microsoft.com/office/drawing/2014/main" id="{6787DEAA-F5D6-404C-9161-AA4D6867EA2C}"/>
              </a:ext>
            </a:extLst>
          </p:cNvPr>
          <p:cNvSpPr/>
          <p:nvPr userDrawn="1"/>
        </p:nvSpPr>
        <p:spPr bwMode="auto">
          <a:xfrm>
            <a:off x="-879584" y="4617892"/>
            <a:ext cx="576000" cy="576000"/>
          </a:xfrm>
          <a:prstGeom prst="rect">
            <a:avLst/>
          </a:prstGeom>
          <a:solidFill>
            <a:srgbClr val="5A5A5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2" name="正方形/長方形 11">
            <a:extLst>
              <a:ext uri="{FF2B5EF4-FFF2-40B4-BE49-F238E27FC236}">
                <a16:creationId xmlns:a16="http://schemas.microsoft.com/office/drawing/2014/main" id="{521CEDCE-18D6-4160-854A-7A6C9CF048DC}"/>
              </a:ext>
            </a:extLst>
          </p:cNvPr>
          <p:cNvSpPr/>
          <p:nvPr userDrawn="1"/>
        </p:nvSpPr>
        <p:spPr bwMode="auto">
          <a:xfrm>
            <a:off x="-879584" y="2484133"/>
            <a:ext cx="576000" cy="576000"/>
          </a:xfrm>
          <a:prstGeom prst="rect">
            <a:avLst/>
          </a:prstGeom>
          <a:solidFill>
            <a:srgbClr val="A100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3" name="正方形/長方形 12">
            <a:extLst>
              <a:ext uri="{FF2B5EF4-FFF2-40B4-BE49-F238E27FC236}">
                <a16:creationId xmlns:a16="http://schemas.microsoft.com/office/drawing/2014/main" id="{C432B2A2-88DA-476B-9957-3628751FB2C7}"/>
              </a:ext>
            </a:extLst>
          </p:cNvPr>
          <p:cNvSpPr/>
          <p:nvPr userDrawn="1"/>
        </p:nvSpPr>
        <p:spPr bwMode="auto">
          <a:xfrm>
            <a:off x="-879584" y="5329145"/>
            <a:ext cx="576000" cy="576000"/>
          </a:xfrm>
          <a:prstGeom prst="rect">
            <a:avLst/>
          </a:prstGeom>
          <a:solidFill>
            <a:srgbClr val="96969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4" name="正方形/長方形 13">
            <a:extLst>
              <a:ext uri="{FF2B5EF4-FFF2-40B4-BE49-F238E27FC236}">
                <a16:creationId xmlns:a16="http://schemas.microsoft.com/office/drawing/2014/main" id="{F608FC8E-9EFD-4563-9166-FFA15B5FA161}"/>
              </a:ext>
            </a:extLst>
          </p:cNvPr>
          <p:cNvSpPr/>
          <p:nvPr userDrawn="1"/>
        </p:nvSpPr>
        <p:spPr bwMode="auto">
          <a:xfrm>
            <a:off x="-879584" y="3195386"/>
            <a:ext cx="576000" cy="576000"/>
          </a:xfrm>
          <a:prstGeom prst="rect">
            <a:avLst/>
          </a:prstGeom>
          <a:solidFill>
            <a:srgbClr val="008E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5" name="正方形/長方形 14">
            <a:extLst>
              <a:ext uri="{FF2B5EF4-FFF2-40B4-BE49-F238E27FC236}">
                <a16:creationId xmlns:a16="http://schemas.microsoft.com/office/drawing/2014/main" id="{79FDAFE2-3832-4D32-AE1A-589097AA6F32}"/>
              </a:ext>
            </a:extLst>
          </p:cNvPr>
          <p:cNvSpPr/>
          <p:nvPr userDrawn="1"/>
        </p:nvSpPr>
        <p:spPr bwMode="auto">
          <a:xfrm>
            <a:off x="-879584" y="3906639"/>
            <a:ext cx="576000" cy="576000"/>
          </a:xfrm>
          <a:prstGeom prst="rect">
            <a:avLst/>
          </a:prstGeom>
          <a:solidFill>
            <a:srgbClr val="8BE1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6" name="正方形/長方形 15">
            <a:extLst>
              <a:ext uri="{FF2B5EF4-FFF2-40B4-BE49-F238E27FC236}">
                <a16:creationId xmlns:a16="http://schemas.microsoft.com/office/drawing/2014/main" id="{4BD5048D-8E1A-4F4C-A6E5-8CDDB8363E20}"/>
              </a:ext>
            </a:extLst>
          </p:cNvPr>
          <p:cNvSpPr/>
          <p:nvPr userDrawn="1"/>
        </p:nvSpPr>
        <p:spPr bwMode="auto">
          <a:xfrm>
            <a:off x="-879584" y="1772880"/>
            <a:ext cx="576000" cy="576000"/>
          </a:xfrm>
          <a:prstGeom prst="rect">
            <a:avLst/>
          </a:prstGeom>
          <a:solidFill>
            <a:srgbClr val="46007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grpSp>
        <p:nvGrpSpPr>
          <p:cNvPr id="17" name="Group 10">
            <a:extLst>
              <a:ext uri="{FF2B5EF4-FFF2-40B4-BE49-F238E27FC236}">
                <a16:creationId xmlns:a16="http://schemas.microsoft.com/office/drawing/2014/main" id="{5383B6DE-6201-495F-9E22-7C0A5B144968}"/>
              </a:ext>
            </a:extLst>
          </p:cNvPr>
          <p:cNvGrpSpPr>
            <a:grpSpLocks noChangeAspect="1"/>
          </p:cNvGrpSpPr>
          <p:nvPr userDrawn="1"/>
        </p:nvGrpSpPr>
        <p:grpSpPr>
          <a:xfrm>
            <a:off x="5320042" y="955525"/>
            <a:ext cx="4311191" cy="4573173"/>
            <a:chOff x="3494539" y="1675327"/>
            <a:chExt cx="1371600" cy="1454950"/>
          </a:xfrm>
        </p:grpSpPr>
        <p:sp>
          <p:nvSpPr>
            <p:cNvPr id="18" name="Freeform 5">
              <a:extLst>
                <a:ext uri="{FF2B5EF4-FFF2-40B4-BE49-F238E27FC236}">
                  <a16:creationId xmlns:a16="http://schemas.microsoft.com/office/drawing/2014/main" id="{A65347B1-5286-4FF1-B528-4AA38947EDFA}"/>
                </a:ext>
              </a:extLst>
            </p:cNvPr>
            <p:cNvSpPr>
              <a:spLocks/>
            </p:cNvSpPr>
            <p:nvPr/>
          </p:nvSpPr>
          <p:spPr bwMode="auto">
            <a:xfrm>
              <a:off x="3494910" y="2243896"/>
              <a:ext cx="1371229" cy="886381"/>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A100FF"/>
                </a:gs>
                <a:gs pos="100000">
                  <a:srgbClr val="5F009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9" name="Freeform 6">
              <a:extLst>
                <a:ext uri="{FF2B5EF4-FFF2-40B4-BE49-F238E27FC236}">
                  <a16:creationId xmlns:a16="http://schemas.microsoft.com/office/drawing/2014/main" id="{241AA1D4-4357-40D0-BA49-4E594D8E8DD2}"/>
                </a:ext>
              </a:extLst>
            </p:cNvPr>
            <p:cNvSpPr>
              <a:spLocks/>
            </p:cNvSpPr>
            <p:nvPr/>
          </p:nvSpPr>
          <p:spPr bwMode="auto">
            <a:xfrm>
              <a:off x="3494539" y="1675327"/>
              <a:ext cx="1371229" cy="886381"/>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A100FF"/>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p>
          </p:txBody>
        </p:sp>
      </p:grpSp>
      <p:pic>
        <p:nvPicPr>
          <p:cNvPr id="2" name="図 1">
            <a:extLst>
              <a:ext uri="{FF2B5EF4-FFF2-40B4-BE49-F238E27FC236}">
                <a16:creationId xmlns:a16="http://schemas.microsoft.com/office/drawing/2014/main" id="{C2F7642B-9306-4D9B-B7E5-B430911B728C}"/>
              </a:ext>
            </a:extLst>
          </p:cNvPr>
          <p:cNvPicPr>
            <a:picLocks noChangeAspect="1"/>
          </p:cNvPicPr>
          <p:nvPr userDrawn="1"/>
        </p:nvPicPr>
        <p:blipFill>
          <a:blip r:embed="rId5">
            <a:extLst>
              <a:ext uri="{BEBA8EAE-BF5A-486C-A8C5-ECC9F3942E4B}">
                <a14:imgProps xmlns:a14="http://schemas.microsoft.com/office/drawing/2010/main">
                  <a14:imgLayer r:embed="rId6">
                    <a14:imgEffect>
                      <a14:colorTemperature colorTemp="1500"/>
                    </a14:imgEffect>
                    <a14:imgEffect>
                      <a14:saturation sat="0"/>
                    </a14:imgEffect>
                    <a14:imgEffect>
                      <a14:brightnessContrast bright="100000" contrast="100000"/>
                    </a14:imgEffect>
                  </a14:imgLayer>
                </a14:imgProps>
              </a:ext>
            </a:extLst>
          </a:blip>
          <a:stretch>
            <a:fillRect/>
          </a:stretch>
        </p:blipFill>
        <p:spPr>
          <a:xfrm>
            <a:off x="7389485" y="5975166"/>
            <a:ext cx="2249619" cy="603556"/>
          </a:xfrm>
          <a:prstGeom prst="rect">
            <a:avLst/>
          </a:prstGeom>
        </p:spPr>
      </p:pic>
    </p:spTree>
    <p:extLst>
      <p:ext uri="{BB962C8B-B14F-4D97-AF65-F5344CB8AC3E}">
        <p14:creationId xmlns:p14="http://schemas.microsoft.com/office/powerpoint/2010/main" val="3687008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2493417031"/>
              </p:ext>
            </p:extLst>
          </p:nvPr>
        </p:nvGraphicFramePr>
        <p:xfrm>
          <a:off x="1590" y="1589"/>
          <a:ext cx="1587" cy="1587"/>
        </p:xfrm>
        <a:graphic>
          <a:graphicData uri="http://schemas.openxmlformats.org/presentationml/2006/ole">
            <mc:AlternateContent xmlns:mc="http://schemas.openxmlformats.org/markup-compatibility/2006">
              <mc:Choice xmlns:v="urn:schemas-microsoft-com:vml" Requires="v">
                <p:oleObj name="think-cell スライド" r:id="rId4" imgW="470" imgH="469" progId="TCLayout.ActiveDocument.1">
                  <p:embed/>
                </p:oleObj>
              </mc:Choice>
              <mc:Fallback>
                <p:oleObj name="think-cell スライド" r:id="rId4" imgW="470" imgH="469" progId="TCLayout.ActiveDocument.1">
                  <p:embed/>
                  <p:pic>
                    <p:nvPicPr>
                      <p:cNvPr id="2" name="オブジェクト 1" hidden="1"/>
                      <p:cNvPicPr/>
                      <p:nvPr/>
                    </p:nvPicPr>
                    <p:blipFill>
                      <a:blip r:embed="rId5"/>
                      <a:stretch>
                        <a:fillRect/>
                      </a:stretch>
                    </p:blipFill>
                    <p:spPr>
                      <a:xfrm>
                        <a:off x="1590" y="1589"/>
                        <a:ext cx="1587" cy="1587"/>
                      </a:xfrm>
                      <a:prstGeom prst="rect">
                        <a:avLst/>
                      </a:prstGeom>
                    </p:spPr>
                  </p:pic>
                </p:oleObj>
              </mc:Fallback>
            </mc:AlternateContent>
          </a:graphicData>
        </a:graphic>
      </p:graphicFrame>
      <p:sp>
        <p:nvSpPr>
          <p:cNvPr id="3" name="正方形/長方形 2" hidden="1">
            <a:extLst>
              <a:ext uri="{FF2B5EF4-FFF2-40B4-BE49-F238E27FC236}">
                <a16:creationId xmlns:a16="http://schemas.microsoft.com/office/drawing/2014/main" id="{CA469BE0-C4DD-4A81-90A8-F38AF1A7F083}"/>
              </a:ext>
            </a:extLst>
          </p:cNvPr>
          <p:cNvSpPr/>
          <p:nvPr userDrawn="1">
            <p:custDataLst>
              <p:tags r:id="rId2"/>
            </p:custDataLst>
          </p:nvPr>
        </p:nvSpPr>
        <p:spPr bwMode="gray">
          <a:xfrm>
            <a:off x="0" y="0"/>
            <a:ext cx="158750" cy="15875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914400" eaLnBrk="1" latinLnBrk="0" hangingPunct="1">
              <a:lnSpc>
                <a:spcPct val="100000"/>
              </a:lnSpc>
              <a:spcBef>
                <a:spcPct val="0"/>
              </a:spcBef>
              <a:spcAft>
                <a:spcPct val="0"/>
              </a:spcAft>
              <a:buClrTx/>
              <a:buSzTx/>
              <a:buFontTx/>
              <a:buNone/>
              <a:tabLst/>
            </a:pPr>
            <a:endParaRPr kumimoji="1" lang="ja-JP" altLang="en-US" sz="2600"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10" name="Title 1"/>
          <p:cNvSpPr>
            <a:spLocks noGrp="1"/>
          </p:cNvSpPr>
          <p:nvPr>
            <p:ph type="title"/>
          </p:nvPr>
        </p:nvSpPr>
        <p:spPr>
          <a:xfrm>
            <a:off x="488504" y="476672"/>
            <a:ext cx="8928000" cy="420752"/>
          </a:xfrm>
          <a:prstGeom prst="rect">
            <a:avLst/>
          </a:prstGeom>
        </p:spPr>
        <p:txBody>
          <a:bodyPr vert="horz" lIns="0" tIns="0" rIns="0" bIns="0" rtlCol="0" anchor="b" anchorCtr="0">
            <a:noAutofit/>
          </a:bodyPr>
          <a:lstStyle>
            <a:lvl1pPr>
              <a:spcBef>
                <a:spcPts val="0"/>
              </a:spcBef>
              <a:spcAft>
                <a:spcPts val="0"/>
              </a:spcAft>
              <a:defRPr lang="en-GB" dirty="0"/>
            </a:lvl1pPr>
          </a:lstStyle>
          <a:p>
            <a:pPr lvl="0"/>
            <a:r>
              <a:rPr lang="ja-JP" altLang="en-US"/>
              <a:t>マスター タイトルの書式設定</a:t>
            </a:r>
            <a:endParaRPr lang="en-GB"/>
          </a:p>
        </p:txBody>
      </p:sp>
      <p:sp>
        <p:nvSpPr>
          <p:cNvPr id="11" name="Text Placeholder 10"/>
          <p:cNvSpPr>
            <a:spLocks noGrp="1"/>
          </p:cNvSpPr>
          <p:nvPr>
            <p:ph type="body" idx="12"/>
          </p:nvPr>
        </p:nvSpPr>
        <p:spPr>
          <a:xfrm>
            <a:off x="488504" y="944949"/>
            <a:ext cx="8928000" cy="669414"/>
          </a:xfrm>
          <a:prstGeom prst="rect">
            <a:avLst/>
          </a:prstGeom>
        </p:spPr>
        <p:txBody>
          <a:bodyPr vert="horz" lIns="0" tIns="0" rIns="0" bIns="0" rtlCol="0">
            <a:noAutofit/>
          </a:bodyPr>
          <a:lstStyle>
            <a:lvl1pPr marR="0" defTabSz="990546" latinLnBrk="0">
              <a:lnSpc>
                <a:spcPct val="100000"/>
              </a:lnSpc>
              <a:spcBef>
                <a:spcPts val="0"/>
              </a:spcBef>
              <a:spcAft>
                <a:spcPts val="0"/>
              </a:spcAft>
              <a:buClrTx/>
              <a:buSzTx/>
              <a:tabLst/>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1pPr>
            <a:lvl2pPr marL="644525" indent="-285750">
              <a:buFont typeface="Wingdings" panose="05000000000000000000" pitchFamily="2" charset="2"/>
              <a:buChar char="p"/>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2pPr>
            <a:lvl3pPr marL="1004888" indent="-285750">
              <a:buFont typeface="Arial" panose="020B0604020202020204" pitchFamily="34" charset="0"/>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3pPr>
            <a:lvl4pPr marL="1363662" indent="-285750">
              <a:buFont typeface="Meiryo UI" panose="020B0604030504040204" pitchFamily="50" charset="-128"/>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4pPr>
            <a:lvl5pPr marL="1436687" indent="0">
              <a:buNone/>
              <a:defRPr lang="ja-JP" altLang="en-US" dirty="0">
                <a:latin typeface="Meiryo UI" panose="020B0604030504040204" pitchFamily="50" charset="-128"/>
                <a:ea typeface="Meiryo UI" panose="020B0604030504040204" pitchFamily="50" charset="-128"/>
                <a:sym typeface="Meiryo UI" panose="020B0604030504040204" pitchFamily="50" charset="-128"/>
              </a:defRPr>
            </a:lvl5pPr>
          </a:lstStyle>
          <a:p>
            <a:pPr marR="0" lvl="0" defTabSz="990546" latinLnBrk="0">
              <a:lnSpc>
                <a:spcPct val="100000"/>
              </a:lnSpc>
              <a:buClrTx/>
              <a:buSzTx/>
              <a:tabLst/>
            </a:pPr>
            <a:r>
              <a:rPr kumimoji="1" lang="ja-JP" altLang="en-US"/>
              <a:t>マスター テキストの書式設定</a:t>
            </a:r>
          </a:p>
        </p:txBody>
      </p:sp>
      <p:sp>
        <p:nvSpPr>
          <p:cNvPr id="22" name="テキスト プレースホルダー 21"/>
          <p:cNvSpPr>
            <a:spLocks noGrp="1"/>
          </p:cNvSpPr>
          <p:nvPr userDrawn="1">
            <p:ph type="body" sz="quarter" idx="13"/>
          </p:nvPr>
        </p:nvSpPr>
        <p:spPr>
          <a:xfrm>
            <a:off x="488504" y="77844"/>
            <a:ext cx="8928000" cy="369332"/>
          </a:xfrm>
          <a:prstGeom prst="rect">
            <a:avLst/>
          </a:prstGeom>
        </p:spPr>
        <p:txBody>
          <a:bodyPr vert="horz" lIns="0" tIns="0" rIns="0" bIns="0" rtlCol="0" anchor="b">
            <a:noAutofit/>
          </a:bodyPr>
          <a:lstStyle>
            <a:lvl1pPr>
              <a:spcBef>
                <a:spcPts val="0"/>
              </a:spcBef>
              <a:spcAft>
                <a:spcPts val="0"/>
              </a:spcAft>
              <a:defRPr lang="ja-JP" altLang="en-US" b="1" dirty="0"/>
            </a:lvl1pPr>
          </a:lstStyle>
          <a:p>
            <a:pPr lvl="0">
              <a:spcBef>
                <a:spcPts val="325"/>
              </a:spcBef>
            </a:pPr>
            <a:r>
              <a:rPr kumimoji="1" lang="ja-JP" altLang="en-US"/>
              <a:t>マスター テキストの書式設定</a:t>
            </a:r>
          </a:p>
        </p:txBody>
      </p:sp>
      <p:sp>
        <p:nvSpPr>
          <p:cNvPr id="14" name="テキスト ボックス 13">
            <a:extLst>
              <a:ext uri="{FF2B5EF4-FFF2-40B4-BE49-F238E27FC236}">
                <a16:creationId xmlns:a16="http://schemas.microsoft.com/office/drawing/2014/main" id="{1B7C929D-1B27-411A-B169-9CD824DB33C9}"/>
              </a:ext>
            </a:extLst>
          </p:cNvPr>
          <p:cNvSpPr txBox="1"/>
          <p:nvPr userDrawn="1"/>
        </p:nvSpPr>
        <p:spPr>
          <a:xfrm>
            <a:off x="9562037" y="6623714"/>
            <a:ext cx="287507" cy="226591"/>
          </a:xfrm>
          <a:prstGeom prst="rect">
            <a:avLst/>
          </a:prstGeom>
          <a:noFill/>
        </p:spPr>
        <p:txBody>
          <a:bodyPr wrap="none" lIns="36000" tIns="36000" rIns="36000" bIns="36000" rtlCol="0">
            <a:spAutoFit/>
          </a:bodyPr>
          <a:lstStyle/>
          <a:p>
            <a:pPr algn="ctr"/>
            <a:fld id="{989496C2-B50A-F244-A0A1-E3849033C8B1}" type="slidenum">
              <a:rPr lang="en-GB" altLang="ja-JP" sz="1000" smtClean="0">
                <a:solidFill>
                  <a:schemeClr val="bg1">
                    <a:lumMod val="50000"/>
                  </a:schemeClr>
                </a:solidFill>
                <a:latin typeface="Meiryo UI" panose="020B0604030504040204" pitchFamily="50" charset="-128"/>
                <a:ea typeface="Meiryo UI" panose="020B0604030504040204" pitchFamily="50" charset="-128"/>
                <a:sym typeface="Meiryo UI" panose="020B0604030504040204" pitchFamily="50" charset="-128"/>
              </a:rPr>
              <a:pPr algn="ctr"/>
              <a:t>‹#›</a:t>
            </a:fld>
            <a:endParaRPr kumimoji="1" lang="ja-JP" altLang="en-US" sz="1000" i="1">
              <a:latin typeface="Meiryo UI" panose="020B0604030504040204" pitchFamily="50" charset="-128"/>
              <a:ea typeface="Meiryo UI" panose="020B0604030504040204" pitchFamily="50" charset="-128"/>
              <a:sym typeface="Meiryo UI" panose="020B0604030504040204" pitchFamily="50" charset="-128"/>
            </a:endParaRPr>
          </a:p>
        </p:txBody>
      </p:sp>
      <p:sp>
        <p:nvSpPr>
          <p:cNvPr id="8" name="正方形/長方形 7">
            <a:extLst>
              <a:ext uri="{FF2B5EF4-FFF2-40B4-BE49-F238E27FC236}">
                <a16:creationId xmlns:a16="http://schemas.microsoft.com/office/drawing/2014/main" id="{12906456-D3DD-4442-83E0-BA6425182F3D}"/>
              </a:ext>
            </a:extLst>
          </p:cNvPr>
          <p:cNvSpPr/>
          <p:nvPr userDrawn="1"/>
        </p:nvSpPr>
        <p:spPr bwMode="auto">
          <a:xfrm>
            <a:off x="-879584" y="6040398"/>
            <a:ext cx="576000" cy="57600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9" name="正方形/長方形 8">
            <a:extLst>
              <a:ext uri="{FF2B5EF4-FFF2-40B4-BE49-F238E27FC236}">
                <a16:creationId xmlns:a16="http://schemas.microsoft.com/office/drawing/2014/main" id="{7D3C50D3-6FCF-426C-A8CD-58001A1DA770}"/>
              </a:ext>
            </a:extLst>
          </p:cNvPr>
          <p:cNvSpPr/>
          <p:nvPr userDrawn="1"/>
        </p:nvSpPr>
        <p:spPr bwMode="auto">
          <a:xfrm>
            <a:off x="-879584" y="4617892"/>
            <a:ext cx="576000" cy="576000"/>
          </a:xfrm>
          <a:prstGeom prst="rect">
            <a:avLst/>
          </a:prstGeom>
          <a:solidFill>
            <a:srgbClr val="5A5A5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2" name="正方形/長方形 11">
            <a:extLst>
              <a:ext uri="{FF2B5EF4-FFF2-40B4-BE49-F238E27FC236}">
                <a16:creationId xmlns:a16="http://schemas.microsoft.com/office/drawing/2014/main" id="{E65AF459-1382-45FE-8AF0-FCF18D1E72A0}"/>
              </a:ext>
            </a:extLst>
          </p:cNvPr>
          <p:cNvSpPr/>
          <p:nvPr userDrawn="1"/>
        </p:nvSpPr>
        <p:spPr bwMode="auto">
          <a:xfrm>
            <a:off x="-879584" y="2484133"/>
            <a:ext cx="576000" cy="576000"/>
          </a:xfrm>
          <a:prstGeom prst="rect">
            <a:avLst/>
          </a:prstGeom>
          <a:solidFill>
            <a:srgbClr val="A100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3" name="正方形/長方形 12">
            <a:extLst>
              <a:ext uri="{FF2B5EF4-FFF2-40B4-BE49-F238E27FC236}">
                <a16:creationId xmlns:a16="http://schemas.microsoft.com/office/drawing/2014/main" id="{B07A765F-35EF-4253-9A19-35E2FAFD8A3E}"/>
              </a:ext>
            </a:extLst>
          </p:cNvPr>
          <p:cNvSpPr/>
          <p:nvPr userDrawn="1"/>
        </p:nvSpPr>
        <p:spPr bwMode="auto">
          <a:xfrm>
            <a:off x="-879584" y="5329145"/>
            <a:ext cx="576000" cy="576000"/>
          </a:xfrm>
          <a:prstGeom prst="rect">
            <a:avLst/>
          </a:prstGeom>
          <a:solidFill>
            <a:srgbClr val="96969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5" name="正方形/長方形 14">
            <a:extLst>
              <a:ext uri="{FF2B5EF4-FFF2-40B4-BE49-F238E27FC236}">
                <a16:creationId xmlns:a16="http://schemas.microsoft.com/office/drawing/2014/main" id="{F1E34B52-515B-4F68-BC82-4B96533930ED}"/>
              </a:ext>
            </a:extLst>
          </p:cNvPr>
          <p:cNvSpPr/>
          <p:nvPr userDrawn="1"/>
        </p:nvSpPr>
        <p:spPr bwMode="auto">
          <a:xfrm>
            <a:off x="-879584" y="3195386"/>
            <a:ext cx="576000" cy="576000"/>
          </a:xfrm>
          <a:prstGeom prst="rect">
            <a:avLst/>
          </a:prstGeom>
          <a:solidFill>
            <a:srgbClr val="008E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6" name="正方形/長方形 15">
            <a:extLst>
              <a:ext uri="{FF2B5EF4-FFF2-40B4-BE49-F238E27FC236}">
                <a16:creationId xmlns:a16="http://schemas.microsoft.com/office/drawing/2014/main" id="{60701147-FAF6-4FF9-A5CD-44453C667421}"/>
              </a:ext>
            </a:extLst>
          </p:cNvPr>
          <p:cNvSpPr/>
          <p:nvPr userDrawn="1"/>
        </p:nvSpPr>
        <p:spPr bwMode="auto">
          <a:xfrm>
            <a:off x="-879584" y="3906639"/>
            <a:ext cx="576000" cy="576000"/>
          </a:xfrm>
          <a:prstGeom prst="rect">
            <a:avLst/>
          </a:prstGeom>
          <a:solidFill>
            <a:srgbClr val="8BE1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7" name="正方形/長方形 16">
            <a:extLst>
              <a:ext uri="{FF2B5EF4-FFF2-40B4-BE49-F238E27FC236}">
                <a16:creationId xmlns:a16="http://schemas.microsoft.com/office/drawing/2014/main" id="{01F64509-B6E4-4045-BC34-2D4BABAF7998}"/>
              </a:ext>
            </a:extLst>
          </p:cNvPr>
          <p:cNvSpPr/>
          <p:nvPr userDrawn="1"/>
        </p:nvSpPr>
        <p:spPr bwMode="auto">
          <a:xfrm>
            <a:off x="-879584" y="1772880"/>
            <a:ext cx="576000" cy="576000"/>
          </a:xfrm>
          <a:prstGeom prst="rect">
            <a:avLst/>
          </a:prstGeom>
          <a:solidFill>
            <a:srgbClr val="46007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56618128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7" Type="http://schemas.openxmlformats.org/officeDocument/2006/relationships/image" Target="../media/image1.emf"/><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oleObject" Target="../embeddings/oleObject1.bin"/><Relationship Id="rId5" Type="http://schemas.openxmlformats.org/officeDocument/2006/relationships/tags" Target="../tags/tag7.xml"/><Relationship Id="rId4" Type="http://schemas.openxmlformats.org/officeDocument/2006/relationships/tags" Target="../tags/tag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3"/>
            </p:custDataLst>
            <p:extLst>
              <p:ext uri="{D42A27DB-BD31-4B8C-83A1-F6EECF244321}">
                <p14:modId xmlns:p14="http://schemas.microsoft.com/office/powerpoint/2010/main" val="2626134773"/>
              </p:ext>
            </p:extLst>
          </p:nvPr>
        </p:nvGraphicFramePr>
        <p:xfrm>
          <a:off x="1590" y="1589"/>
          <a:ext cx="1587" cy="1587"/>
        </p:xfrm>
        <a:graphic>
          <a:graphicData uri="http://schemas.openxmlformats.org/presentationml/2006/ole">
            <mc:AlternateContent xmlns:mc="http://schemas.openxmlformats.org/markup-compatibility/2006">
              <mc:Choice xmlns:v="urn:schemas-microsoft-com:vml" Requires="v">
                <p:oleObj name="think-cell スライド" r:id="rId5" imgW="470" imgH="469" progId="TCLayout.ActiveDocument.1">
                  <p:embed/>
                </p:oleObj>
              </mc:Choice>
              <mc:Fallback>
                <p:oleObj name="think-cell スライド" r:id="rId5" imgW="470" imgH="469" progId="TCLayout.ActiveDocument.1">
                  <p:embed/>
                  <p:pic>
                    <p:nvPicPr>
                      <p:cNvPr id="2" name="オブジェクト 1" hidden="1"/>
                      <p:cNvPicPr/>
                      <p:nvPr/>
                    </p:nvPicPr>
                    <p:blipFill>
                      <a:blip r:embed="rId6"/>
                      <a:stretch>
                        <a:fillRect/>
                      </a:stretch>
                    </p:blipFill>
                    <p:spPr>
                      <a:xfrm>
                        <a:off x="1590" y="1589"/>
                        <a:ext cx="1587" cy="1587"/>
                      </a:xfrm>
                      <a:prstGeom prst="rect">
                        <a:avLst/>
                      </a:prstGeom>
                    </p:spPr>
                  </p:pic>
                </p:oleObj>
              </mc:Fallback>
            </mc:AlternateContent>
          </a:graphicData>
        </a:graphic>
      </p:graphicFrame>
      <p:sp>
        <p:nvSpPr>
          <p:cNvPr id="5" name="正方形/長方形 4" hidden="1">
            <a:extLst>
              <a:ext uri="{FF2B5EF4-FFF2-40B4-BE49-F238E27FC236}">
                <a16:creationId xmlns:a16="http://schemas.microsoft.com/office/drawing/2014/main" id="{6491AD6F-74F4-4A85-8F0F-8C30A5A0BA9C}"/>
              </a:ext>
            </a:extLst>
          </p:cNvPr>
          <p:cNvSpPr/>
          <p:nvPr userDrawn="1">
            <p:custDataLst>
              <p:tags r:id="rId4"/>
            </p:custDataLst>
          </p:nvPr>
        </p:nvSpPr>
        <p:spPr bwMode="gray">
          <a:xfrm>
            <a:off x="0" y="0"/>
            <a:ext cx="158750" cy="15875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914400" eaLnBrk="1" latinLnBrk="0" hangingPunct="1">
              <a:lnSpc>
                <a:spcPct val="100000"/>
              </a:lnSpc>
              <a:spcBef>
                <a:spcPct val="0"/>
              </a:spcBef>
              <a:spcAft>
                <a:spcPct val="0"/>
              </a:spcAft>
              <a:buClrTx/>
              <a:buSzTx/>
              <a:buFontTx/>
              <a:buNone/>
              <a:tabLst/>
            </a:pPr>
            <a:endParaRPr kumimoji="1" lang="ja-JP" altLang="en-US" sz="2600"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3" name="タイトル プレースホルダー 2">
            <a:extLst>
              <a:ext uri="{FF2B5EF4-FFF2-40B4-BE49-F238E27FC236}">
                <a16:creationId xmlns:a16="http://schemas.microsoft.com/office/drawing/2014/main" id="{CDE2699A-871E-4F62-8C18-D1F378566C71}"/>
              </a:ext>
            </a:extLst>
          </p:cNvPr>
          <p:cNvSpPr>
            <a:spLocks noGrp="1"/>
          </p:cNvSpPr>
          <p:nvPr>
            <p:ph type="title"/>
          </p:nvPr>
        </p:nvSpPr>
        <p:spPr>
          <a:xfrm>
            <a:off x="488504" y="476720"/>
            <a:ext cx="8928000" cy="432000"/>
          </a:xfrm>
          <a:prstGeom prst="rect">
            <a:avLst/>
          </a:prstGeom>
        </p:spPr>
        <p:txBody>
          <a:bodyPr vert="horz" lIns="0" tIns="0" rIns="0" bIns="0" rtlCol="0" anchor="ctr">
            <a:normAutofit/>
          </a:bodyPr>
          <a:lstStyle/>
          <a:p>
            <a:pPr lvl="0"/>
            <a:r>
              <a:rPr kumimoji="1" lang="ja-JP" altLang="en-US"/>
              <a:t>マスター タイトルの書式設定</a:t>
            </a:r>
          </a:p>
        </p:txBody>
      </p:sp>
      <p:sp>
        <p:nvSpPr>
          <p:cNvPr id="4" name="テキスト プレースホルダー 3">
            <a:extLst>
              <a:ext uri="{FF2B5EF4-FFF2-40B4-BE49-F238E27FC236}">
                <a16:creationId xmlns:a16="http://schemas.microsoft.com/office/drawing/2014/main" id="{146A2FBE-8717-4DDD-97F4-55040C1A4363}"/>
              </a:ext>
            </a:extLst>
          </p:cNvPr>
          <p:cNvSpPr>
            <a:spLocks noGrp="1"/>
          </p:cNvSpPr>
          <p:nvPr>
            <p:ph type="body" idx="1"/>
          </p:nvPr>
        </p:nvSpPr>
        <p:spPr>
          <a:xfrm>
            <a:off x="488504" y="944949"/>
            <a:ext cx="8928000" cy="1454244"/>
          </a:xfrm>
          <a:prstGeom prst="rect">
            <a:avLst/>
          </a:prstGeom>
        </p:spPr>
        <p:txBody>
          <a:bodyPr vert="horz" lIns="0" tIns="0" rIns="0" bIns="0" rtlCol="0">
            <a:spAutoFit/>
          </a:bodyPr>
          <a:lstStyle/>
          <a:p>
            <a:pPr marR="0" lvl="0" defTabSz="990546" latinLnBrk="0">
              <a:lnSpc>
                <a:spcPct val="100000"/>
              </a:lnSpc>
              <a:buClrTx/>
              <a:buSzTx/>
              <a:tabLst/>
            </a:pPr>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a:t>
            </a:r>
            <a:r>
              <a:rPr kumimoji="1" lang="en-US" altLang="ja-JP"/>
              <a:t>4</a:t>
            </a:r>
            <a:r>
              <a:rPr kumimoji="1" lang="ja-JP" altLang="en-US"/>
              <a:t>レベル</a:t>
            </a:r>
          </a:p>
        </p:txBody>
      </p:sp>
    </p:spTree>
    <p:extLst>
      <p:ext uri="{BB962C8B-B14F-4D97-AF65-F5344CB8AC3E}">
        <p14:creationId xmlns:p14="http://schemas.microsoft.com/office/powerpoint/2010/main" val="1684503783"/>
      </p:ext>
    </p:extLst>
  </p:cSld>
  <p:clrMap bg1="lt1" tx1="dk1" bg2="lt2" tx2="dk2" accent1="accent1" accent2="accent2" accent3="accent3" accent4="accent4" accent5="accent5" accent6="accent6" hlink="hlink" folHlink="folHlink"/>
  <p:sldLayoutIdLst>
    <p:sldLayoutId id="2147483713" r:id="rId1"/>
  </p:sldLayoutIdLst>
  <p:hf sldNum="0" hdr="0" ftr="0" dt="0"/>
  <p:txStyles>
    <p:titleStyle>
      <a:lvl1pPr algn="l" rtl="0" eaLnBrk="1" fontAlgn="base" hangingPunct="1">
        <a:spcBef>
          <a:spcPct val="0"/>
        </a:spcBef>
        <a:spcAft>
          <a:spcPct val="0"/>
        </a:spcAft>
        <a:defRPr kumimoji="1" lang="ja-JP" altLang="en-US" sz="2600" b="1" kern="1200" dirty="0">
          <a:solidFill>
            <a:schemeClr val="tx1"/>
          </a:solidFill>
          <a:latin typeface="Meiryo UI" panose="020B0604030504040204" pitchFamily="50" charset="-128"/>
          <a:ea typeface="Meiryo UI" panose="020B0604030504040204" pitchFamily="50" charset="-128"/>
          <a:cs typeface="+mj-cs"/>
          <a:sym typeface="Meiryo UI" panose="020B0604030504040204" pitchFamily="50" charset="-128"/>
        </a:defRPr>
      </a:lvl1pPr>
      <a:lvl2pPr algn="l" rtl="0" eaLnBrk="1" fontAlgn="base" hangingPunct="1">
        <a:spcBef>
          <a:spcPct val="0"/>
        </a:spcBef>
        <a:spcAft>
          <a:spcPct val="0"/>
        </a:spcAft>
        <a:defRPr kumimoji="1" sz="4767" b="1">
          <a:solidFill>
            <a:schemeClr val="tx1"/>
          </a:solidFill>
          <a:latin typeface="Arial" charset="0"/>
        </a:defRPr>
      </a:lvl2pPr>
      <a:lvl3pPr algn="l" rtl="0" eaLnBrk="1" fontAlgn="base" hangingPunct="1">
        <a:spcBef>
          <a:spcPct val="0"/>
        </a:spcBef>
        <a:spcAft>
          <a:spcPct val="0"/>
        </a:spcAft>
        <a:defRPr kumimoji="1" sz="4767" b="1">
          <a:solidFill>
            <a:schemeClr val="tx1"/>
          </a:solidFill>
          <a:latin typeface="Arial" charset="0"/>
        </a:defRPr>
      </a:lvl3pPr>
      <a:lvl4pPr algn="l" rtl="0" eaLnBrk="1" fontAlgn="base" hangingPunct="1">
        <a:spcBef>
          <a:spcPct val="0"/>
        </a:spcBef>
        <a:spcAft>
          <a:spcPct val="0"/>
        </a:spcAft>
        <a:defRPr kumimoji="1" sz="4767" b="1">
          <a:solidFill>
            <a:schemeClr val="tx1"/>
          </a:solidFill>
          <a:latin typeface="Arial" charset="0"/>
        </a:defRPr>
      </a:lvl4pPr>
      <a:lvl5pPr algn="l" rtl="0" eaLnBrk="1" fontAlgn="base" hangingPunct="1">
        <a:spcBef>
          <a:spcPct val="0"/>
        </a:spcBef>
        <a:spcAft>
          <a:spcPct val="0"/>
        </a:spcAft>
        <a:defRPr kumimoji="1" sz="4767" b="1">
          <a:solidFill>
            <a:schemeClr val="tx1"/>
          </a:solidFill>
          <a:latin typeface="Arial" charset="0"/>
        </a:defRPr>
      </a:lvl5pPr>
      <a:lvl6pPr marL="495273" algn="l" rtl="0" eaLnBrk="1" fontAlgn="base" hangingPunct="1">
        <a:spcBef>
          <a:spcPct val="0"/>
        </a:spcBef>
        <a:spcAft>
          <a:spcPct val="0"/>
        </a:spcAft>
        <a:defRPr kumimoji="1" b="1">
          <a:solidFill>
            <a:schemeClr val="tx1"/>
          </a:solidFill>
          <a:latin typeface="Arial" charset="0"/>
        </a:defRPr>
      </a:lvl6pPr>
      <a:lvl7pPr marL="990546" algn="l" rtl="0" eaLnBrk="1" fontAlgn="base" hangingPunct="1">
        <a:spcBef>
          <a:spcPct val="0"/>
        </a:spcBef>
        <a:spcAft>
          <a:spcPct val="0"/>
        </a:spcAft>
        <a:defRPr kumimoji="1" b="1">
          <a:solidFill>
            <a:schemeClr val="tx1"/>
          </a:solidFill>
          <a:latin typeface="Arial" charset="0"/>
        </a:defRPr>
      </a:lvl7pPr>
      <a:lvl8pPr marL="1485818" algn="l" rtl="0" eaLnBrk="1" fontAlgn="base" hangingPunct="1">
        <a:spcBef>
          <a:spcPct val="0"/>
        </a:spcBef>
        <a:spcAft>
          <a:spcPct val="0"/>
        </a:spcAft>
        <a:defRPr kumimoji="1" b="1">
          <a:solidFill>
            <a:schemeClr val="tx1"/>
          </a:solidFill>
          <a:latin typeface="Arial" charset="0"/>
        </a:defRPr>
      </a:lvl8pPr>
      <a:lvl9pPr marL="1981089" algn="l" rtl="0" eaLnBrk="1" fontAlgn="base" hangingPunct="1">
        <a:spcBef>
          <a:spcPct val="0"/>
        </a:spcBef>
        <a:spcAft>
          <a:spcPct val="0"/>
        </a:spcAft>
        <a:defRPr kumimoji="1" b="1">
          <a:solidFill>
            <a:schemeClr val="tx1"/>
          </a:solidFill>
          <a:latin typeface="Arial" charset="0"/>
        </a:defRPr>
      </a:lvl9pPr>
    </p:titleStyle>
    <p:bodyStyle>
      <a:lvl1pPr marL="0" indent="0" algn="l" rtl="0" eaLnBrk="1" fontAlgn="base" hangingPunct="1">
        <a:lnSpc>
          <a:spcPct val="100000"/>
        </a:lnSpc>
        <a:spcBef>
          <a:spcPts val="600"/>
        </a:spcBef>
        <a:spcAft>
          <a:spcPts val="325"/>
        </a:spcAft>
        <a:buFont typeface="Arial" panose="020B0604020202020204" pitchFamily="34" charset="0"/>
        <a:buNone/>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1pPr>
      <a:lvl2pPr marL="627063" indent="-268288" algn="l" rtl="0" eaLnBrk="1" fontAlgn="base" hangingPunct="1">
        <a:lnSpc>
          <a:spcPct val="100000"/>
        </a:lnSpc>
        <a:spcBef>
          <a:spcPts val="600"/>
        </a:spcBef>
        <a:spcAft>
          <a:spcPts val="325"/>
        </a:spcAft>
        <a:buFont typeface="Wingdings" panose="05000000000000000000" pitchFamily="2" charset="2"/>
        <a:buChar char="p"/>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2pPr>
      <a:lvl3pPr marL="985838" indent="-266700" algn="l" rtl="0" eaLnBrk="1" fontAlgn="base" hangingPunct="1">
        <a:lnSpc>
          <a:spcPct val="100000"/>
        </a:lnSpc>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3pPr>
      <a:lvl4pPr marL="1346200" indent="-268288" algn="l" rtl="0" eaLnBrk="1" fontAlgn="base" hangingPunct="1">
        <a:lnSpc>
          <a:spcPct val="100000"/>
        </a:lnSpc>
        <a:spcBef>
          <a:spcPts val="600"/>
        </a:spcBef>
        <a:spcAft>
          <a:spcPts val="325"/>
        </a:spcAft>
        <a:buFont typeface="Meiryo UI" panose="020B0604030504040204" pitchFamily="50" charset="-128"/>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4pPr>
      <a:lvl5pPr marL="1704975" indent="-268288" algn="l" rtl="0" eaLnBrk="1" fontAlgn="base" hangingPunct="1">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5pPr>
      <a:lvl6pPr marL="2723999"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6pPr>
      <a:lvl7pPr marL="3219270"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7pPr>
      <a:lvl8pPr marL="3714543"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8pPr>
      <a:lvl9pPr marL="4209815"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9pPr>
    </p:bodyStyle>
    <p:otherStyle>
      <a:defPPr>
        <a:defRPr lang="de-DE"/>
      </a:defPPr>
      <a:lvl1pPr marL="0" algn="l" defTabSz="990546" rtl="0" eaLnBrk="1" latinLnBrk="0" hangingPunct="1">
        <a:defRPr kumimoji="1" sz="1951" kern="1200">
          <a:solidFill>
            <a:schemeClr val="tx1"/>
          </a:solidFill>
          <a:latin typeface="+mn-lt"/>
          <a:ea typeface="+mn-ea"/>
          <a:cs typeface="+mn-cs"/>
        </a:defRPr>
      </a:lvl1pPr>
      <a:lvl2pPr marL="495273" algn="l" defTabSz="990546" rtl="0" eaLnBrk="1" latinLnBrk="0" hangingPunct="1">
        <a:defRPr kumimoji="1" sz="1951" kern="1200">
          <a:solidFill>
            <a:schemeClr val="tx1"/>
          </a:solidFill>
          <a:latin typeface="+mn-lt"/>
          <a:ea typeface="+mn-ea"/>
          <a:cs typeface="+mn-cs"/>
        </a:defRPr>
      </a:lvl2pPr>
      <a:lvl3pPr marL="990546" algn="l" defTabSz="990546" rtl="0" eaLnBrk="1" latinLnBrk="0" hangingPunct="1">
        <a:defRPr kumimoji="1" sz="1951" kern="1200">
          <a:solidFill>
            <a:schemeClr val="tx1"/>
          </a:solidFill>
          <a:latin typeface="+mn-lt"/>
          <a:ea typeface="+mn-ea"/>
          <a:cs typeface="+mn-cs"/>
        </a:defRPr>
      </a:lvl3pPr>
      <a:lvl4pPr marL="1485818" algn="l" defTabSz="990546" rtl="0" eaLnBrk="1" latinLnBrk="0" hangingPunct="1">
        <a:defRPr kumimoji="1" sz="1951" kern="1200">
          <a:solidFill>
            <a:schemeClr val="tx1"/>
          </a:solidFill>
          <a:latin typeface="+mn-lt"/>
          <a:ea typeface="+mn-ea"/>
          <a:cs typeface="+mn-cs"/>
        </a:defRPr>
      </a:lvl4pPr>
      <a:lvl5pPr marL="1981089" algn="l" defTabSz="990546" rtl="0" eaLnBrk="1" latinLnBrk="0" hangingPunct="1">
        <a:defRPr kumimoji="1" sz="1951" kern="1200">
          <a:solidFill>
            <a:schemeClr val="tx1"/>
          </a:solidFill>
          <a:latin typeface="+mn-lt"/>
          <a:ea typeface="+mn-ea"/>
          <a:cs typeface="+mn-cs"/>
        </a:defRPr>
      </a:lvl5pPr>
      <a:lvl6pPr marL="2476362" algn="l" defTabSz="990546" rtl="0" eaLnBrk="1" latinLnBrk="0" hangingPunct="1">
        <a:defRPr kumimoji="1" sz="1951" kern="1200">
          <a:solidFill>
            <a:schemeClr val="tx1"/>
          </a:solidFill>
          <a:latin typeface="+mn-lt"/>
          <a:ea typeface="+mn-ea"/>
          <a:cs typeface="+mn-cs"/>
        </a:defRPr>
      </a:lvl6pPr>
      <a:lvl7pPr marL="2971635" algn="l" defTabSz="990546" rtl="0" eaLnBrk="1" latinLnBrk="0" hangingPunct="1">
        <a:defRPr kumimoji="1" sz="1951" kern="1200">
          <a:solidFill>
            <a:schemeClr val="tx1"/>
          </a:solidFill>
          <a:latin typeface="+mn-lt"/>
          <a:ea typeface="+mn-ea"/>
          <a:cs typeface="+mn-cs"/>
        </a:defRPr>
      </a:lvl7pPr>
      <a:lvl8pPr marL="3466907" algn="l" defTabSz="990546" rtl="0" eaLnBrk="1" latinLnBrk="0" hangingPunct="1">
        <a:defRPr kumimoji="1" sz="1951" kern="1200">
          <a:solidFill>
            <a:schemeClr val="tx1"/>
          </a:solidFill>
          <a:latin typeface="+mn-lt"/>
          <a:ea typeface="+mn-ea"/>
          <a:cs typeface="+mn-cs"/>
        </a:defRPr>
      </a:lvl8pPr>
      <a:lvl9pPr marL="3962180" algn="l" defTabSz="990546" rtl="0" eaLnBrk="1" latinLnBrk="0" hangingPunct="1">
        <a:defRPr kumimoji="1" sz="19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p15:clr>
            <a:srgbClr val="F26B43"/>
          </p15:clr>
        </p15:guide>
        <p15:guide id="2" pos="308">
          <p15:clr>
            <a:srgbClr val="F26B43"/>
          </p15:clr>
        </p15:guide>
        <p15:guide id="3" pos="5932">
          <p15:clr>
            <a:srgbClr val="F26B43"/>
          </p15:clr>
        </p15:guide>
        <p15:guide id="4" orient="horz" pos="415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40000"/>
          </a:schemeClr>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4"/>
            </p:custDataLst>
            <p:extLst>
              <p:ext uri="{D42A27DB-BD31-4B8C-83A1-F6EECF244321}">
                <p14:modId xmlns:p14="http://schemas.microsoft.com/office/powerpoint/2010/main" val="2300654427"/>
              </p:ext>
            </p:extLst>
          </p:nvPr>
        </p:nvGraphicFramePr>
        <p:xfrm>
          <a:off x="1590" y="1589"/>
          <a:ext cx="1587" cy="1587"/>
        </p:xfrm>
        <a:graphic>
          <a:graphicData uri="http://schemas.openxmlformats.org/presentationml/2006/ole">
            <mc:AlternateContent xmlns:mc="http://schemas.openxmlformats.org/markup-compatibility/2006">
              <mc:Choice xmlns:v="urn:schemas-microsoft-com:vml" Requires="v">
                <p:oleObj name="think-cell スライド" r:id="rId6" imgW="470" imgH="469" progId="TCLayout.ActiveDocument.1">
                  <p:embed/>
                </p:oleObj>
              </mc:Choice>
              <mc:Fallback>
                <p:oleObj name="think-cell スライド" r:id="rId6" imgW="470" imgH="469" progId="TCLayout.ActiveDocument.1">
                  <p:embed/>
                  <p:pic>
                    <p:nvPicPr>
                      <p:cNvPr id="2" name="オブジェクト 1" hidden="1"/>
                      <p:cNvPicPr/>
                      <p:nvPr/>
                    </p:nvPicPr>
                    <p:blipFill>
                      <a:blip r:embed="rId7"/>
                      <a:stretch>
                        <a:fillRect/>
                      </a:stretch>
                    </p:blipFill>
                    <p:spPr>
                      <a:xfrm>
                        <a:off x="1590" y="1589"/>
                        <a:ext cx="1587" cy="1587"/>
                      </a:xfrm>
                      <a:prstGeom prst="rect">
                        <a:avLst/>
                      </a:prstGeom>
                    </p:spPr>
                  </p:pic>
                </p:oleObj>
              </mc:Fallback>
            </mc:AlternateContent>
          </a:graphicData>
        </a:graphic>
      </p:graphicFrame>
      <p:sp>
        <p:nvSpPr>
          <p:cNvPr id="5" name="正方形/長方形 4" hidden="1">
            <a:extLst>
              <a:ext uri="{FF2B5EF4-FFF2-40B4-BE49-F238E27FC236}">
                <a16:creationId xmlns:a16="http://schemas.microsoft.com/office/drawing/2014/main" id="{6491AD6F-74F4-4A85-8F0F-8C30A5A0BA9C}"/>
              </a:ext>
            </a:extLst>
          </p:cNvPr>
          <p:cNvSpPr/>
          <p:nvPr userDrawn="1">
            <p:custDataLst>
              <p:tags r:id="rId5"/>
            </p:custDataLst>
          </p:nvPr>
        </p:nvSpPr>
        <p:spPr bwMode="gray">
          <a:xfrm>
            <a:off x="0" y="0"/>
            <a:ext cx="158750" cy="15875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914400" eaLnBrk="1" latinLnBrk="0" hangingPunct="1">
              <a:lnSpc>
                <a:spcPct val="100000"/>
              </a:lnSpc>
              <a:spcBef>
                <a:spcPct val="0"/>
              </a:spcBef>
              <a:spcAft>
                <a:spcPct val="0"/>
              </a:spcAft>
              <a:buClrTx/>
              <a:buSzTx/>
              <a:buFontTx/>
              <a:buNone/>
              <a:tabLst/>
            </a:pPr>
            <a:endParaRPr kumimoji="1" lang="ja-JP" altLang="en-US" sz="2600"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3" name="タイトル プレースホルダー 2">
            <a:extLst>
              <a:ext uri="{FF2B5EF4-FFF2-40B4-BE49-F238E27FC236}">
                <a16:creationId xmlns:a16="http://schemas.microsoft.com/office/drawing/2014/main" id="{CDE2699A-871E-4F62-8C18-D1F378566C71}"/>
              </a:ext>
            </a:extLst>
          </p:cNvPr>
          <p:cNvSpPr>
            <a:spLocks noGrp="1"/>
          </p:cNvSpPr>
          <p:nvPr>
            <p:ph type="title"/>
          </p:nvPr>
        </p:nvSpPr>
        <p:spPr>
          <a:xfrm>
            <a:off x="488504" y="476720"/>
            <a:ext cx="8928000" cy="432000"/>
          </a:xfrm>
          <a:prstGeom prst="rect">
            <a:avLst/>
          </a:prstGeom>
        </p:spPr>
        <p:txBody>
          <a:bodyPr vert="horz" lIns="0" tIns="0" rIns="0" bIns="0" rtlCol="0" anchor="ctr">
            <a:normAutofit/>
          </a:bodyPr>
          <a:lstStyle/>
          <a:p>
            <a:pPr lvl="0"/>
            <a:r>
              <a:rPr kumimoji="1" lang="ja-JP" altLang="en-US"/>
              <a:t>マスター タイトルの書式設定</a:t>
            </a:r>
          </a:p>
        </p:txBody>
      </p:sp>
      <p:sp>
        <p:nvSpPr>
          <p:cNvPr id="4" name="テキスト プレースホルダー 3">
            <a:extLst>
              <a:ext uri="{FF2B5EF4-FFF2-40B4-BE49-F238E27FC236}">
                <a16:creationId xmlns:a16="http://schemas.microsoft.com/office/drawing/2014/main" id="{146A2FBE-8717-4DDD-97F4-55040C1A4363}"/>
              </a:ext>
            </a:extLst>
          </p:cNvPr>
          <p:cNvSpPr>
            <a:spLocks noGrp="1"/>
          </p:cNvSpPr>
          <p:nvPr>
            <p:ph type="body" idx="1"/>
          </p:nvPr>
        </p:nvSpPr>
        <p:spPr>
          <a:xfrm>
            <a:off x="488504" y="944949"/>
            <a:ext cx="8928000" cy="1454244"/>
          </a:xfrm>
          <a:prstGeom prst="rect">
            <a:avLst/>
          </a:prstGeom>
        </p:spPr>
        <p:txBody>
          <a:bodyPr vert="horz" lIns="0" tIns="0" rIns="0" bIns="0" rtlCol="0">
            <a:spAutoFit/>
          </a:bodyPr>
          <a:lstStyle/>
          <a:p>
            <a:pPr marR="0" lvl="0" defTabSz="990546" latinLnBrk="0">
              <a:lnSpc>
                <a:spcPct val="100000"/>
              </a:lnSpc>
              <a:buClrTx/>
              <a:buSzTx/>
              <a:tabLst/>
            </a:pPr>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a:t>
            </a:r>
            <a:r>
              <a:rPr kumimoji="1" lang="en-US" altLang="ja-JP"/>
              <a:t>4</a:t>
            </a:r>
            <a:r>
              <a:rPr kumimoji="1" lang="ja-JP" altLang="en-US"/>
              <a:t>レベル</a:t>
            </a:r>
          </a:p>
        </p:txBody>
      </p:sp>
    </p:spTree>
    <p:extLst>
      <p:ext uri="{BB962C8B-B14F-4D97-AF65-F5344CB8AC3E}">
        <p14:creationId xmlns:p14="http://schemas.microsoft.com/office/powerpoint/2010/main" val="284479494"/>
      </p:ext>
    </p:extLst>
  </p:cSld>
  <p:clrMap bg1="lt1" tx1="dk1" bg2="lt2" tx2="dk2" accent1="accent1" accent2="accent2" accent3="accent3" accent4="accent4" accent5="accent5" accent6="accent6" hlink="hlink" folHlink="folHlink"/>
  <p:sldLayoutIdLst>
    <p:sldLayoutId id="2147483716" r:id="rId1"/>
    <p:sldLayoutId id="2147483717" r:id="rId2"/>
  </p:sldLayoutIdLst>
  <p:hf sldNum="0" hdr="0" ftr="0" dt="0"/>
  <p:txStyles>
    <p:titleStyle>
      <a:lvl1pPr algn="l" rtl="0" eaLnBrk="1" fontAlgn="base" hangingPunct="1">
        <a:spcBef>
          <a:spcPct val="0"/>
        </a:spcBef>
        <a:spcAft>
          <a:spcPct val="0"/>
        </a:spcAft>
        <a:defRPr kumimoji="1" lang="ja-JP" altLang="en-US" sz="2600" b="1" kern="1200" dirty="0">
          <a:solidFill>
            <a:schemeClr val="tx1"/>
          </a:solidFill>
          <a:latin typeface="Meiryo UI" panose="020B0604030504040204" pitchFamily="50" charset="-128"/>
          <a:ea typeface="Meiryo UI" panose="020B0604030504040204" pitchFamily="50" charset="-128"/>
          <a:cs typeface="+mj-cs"/>
          <a:sym typeface="Meiryo UI" panose="020B0604030504040204" pitchFamily="50" charset="-128"/>
        </a:defRPr>
      </a:lvl1pPr>
      <a:lvl2pPr algn="l" rtl="0" eaLnBrk="1" fontAlgn="base" hangingPunct="1">
        <a:spcBef>
          <a:spcPct val="0"/>
        </a:spcBef>
        <a:spcAft>
          <a:spcPct val="0"/>
        </a:spcAft>
        <a:defRPr kumimoji="1" sz="4767" b="1">
          <a:solidFill>
            <a:schemeClr val="tx1"/>
          </a:solidFill>
          <a:latin typeface="Arial" charset="0"/>
        </a:defRPr>
      </a:lvl2pPr>
      <a:lvl3pPr algn="l" rtl="0" eaLnBrk="1" fontAlgn="base" hangingPunct="1">
        <a:spcBef>
          <a:spcPct val="0"/>
        </a:spcBef>
        <a:spcAft>
          <a:spcPct val="0"/>
        </a:spcAft>
        <a:defRPr kumimoji="1" sz="4767" b="1">
          <a:solidFill>
            <a:schemeClr val="tx1"/>
          </a:solidFill>
          <a:latin typeface="Arial" charset="0"/>
        </a:defRPr>
      </a:lvl3pPr>
      <a:lvl4pPr algn="l" rtl="0" eaLnBrk="1" fontAlgn="base" hangingPunct="1">
        <a:spcBef>
          <a:spcPct val="0"/>
        </a:spcBef>
        <a:spcAft>
          <a:spcPct val="0"/>
        </a:spcAft>
        <a:defRPr kumimoji="1" sz="4767" b="1">
          <a:solidFill>
            <a:schemeClr val="tx1"/>
          </a:solidFill>
          <a:latin typeface="Arial" charset="0"/>
        </a:defRPr>
      </a:lvl4pPr>
      <a:lvl5pPr algn="l" rtl="0" eaLnBrk="1" fontAlgn="base" hangingPunct="1">
        <a:spcBef>
          <a:spcPct val="0"/>
        </a:spcBef>
        <a:spcAft>
          <a:spcPct val="0"/>
        </a:spcAft>
        <a:defRPr kumimoji="1" sz="4767" b="1">
          <a:solidFill>
            <a:schemeClr val="tx1"/>
          </a:solidFill>
          <a:latin typeface="Arial" charset="0"/>
        </a:defRPr>
      </a:lvl5pPr>
      <a:lvl6pPr marL="495273" algn="l" rtl="0" eaLnBrk="1" fontAlgn="base" hangingPunct="1">
        <a:spcBef>
          <a:spcPct val="0"/>
        </a:spcBef>
        <a:spcAft>
          <a:spcPct val="0"/>
        </a:spcAft>
        <a:defRPr kumimoji="1" b="1">
          <a:solidFill>
            <a:schemeClr val="tx1"/>
          </a:solidFill>
          <a:latin typeface="Arial" charset="0"/>
        </a:defRPr>
      </a:lvl6pPr>
      <a:lvl7pPr marL="990546" algn="l" rtl="0" eaLnBrk="1" fontAlgn="base" hangingPunct="1">
        <a:spcBef>
          <a:spcPct val="0"/>
        </a:spcBef>
        <a:spcAft>
          <a:spcPct val="0"/>
        </a:spcAft>
        <a:defRPr kumimoji="1" b="1">
          <a:solidFill>
            <a:schemeClr val="tx1"/>
          </a:solidFill>
          <a:latin typeface="Arial" charset="0"/>
        </a:defRPr>
      </a:lvl7pPr>
      <a:lvl8pPr marL="1485818" algn="l" rtl="0" eaLnBrk="1" fontAlgn="base" hangingPunct="1">
        <a:spcBef>
          <a:spcPct val="0"/>
        </a:spcBef>
        <a:spcAft>
          <a:spcPct val="0"/>
        </a:spcAft>
        <a:defRPr kumimoji="1" b="1">
          <a:solidFill>
            <a:schemeClr val="tx1"/>
          </a:solidFill>
          <a:latin typeface="Arial" charset="0"/>
        </a:defRPr>
      </a:lvl8pPr>
      <a:lvl9pPr marL="1981089" algn="l" rtl="0" eaLnBrk="1" fontAlgn="base" hangingPunct="1">
        <a:spcBef>
          <a:spcPct val="0"/>
        </a:spcBef>
        <a:spcAft>
          <a:spcPct val="0"/>
        </a:spcAft>
        <a:defRPr kumimoji="1" b="1">
          <a:solidFill>
            <a:schemeClr val="tx1"/>
          </a:solidFill>
          <a:latin typeface="Arial" charset="0"/>
        </a:defRPr>
      </a:lvl9pPr>
    </p:titleStyle>
    <p:bodyStyle>
      <a:lvl1pPr marL="0" indent="0" algn="l" rtl="0" eaLnBrk="1" fontAlgn="base" hangingPunct="1">
        <a:lnSpc>
          <a:spcPct val="100000"/>
        </a:lnSpc>
        <a:spcBef>
          <a:spcPts val="600"/>
        </a:spcBef>
        <a:spcAft>
          <a:spcPts val="325"/>
        </a:spcAft>
        <a:buFont typeface="Arial" panose="020B0604020202020204" pitchFamily="34" charset="0"/>
        <a:buNone/>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1pPr>
      <a:lvl2pPr marL="627063" indent="-268288" algn="l" rtl="0" eaLnBrk="1" fontAlgn="base" hangingPunct="1">
        <a:lnSpc>
          <a:spcPct val="100000"/>
        </a:lnSpc>
        <a:spcBef>
          <a:spcPts val="600"/>
        </a:spcBef>
        <a:spcAft>
          <a:spcPts val="325"/>
        </a:spcAft>
        <a:buFont typeface="Wingdings" panose="05000000000000000000" pitchFamily="2" charset="2"/>
        <a:buChar char="p"/>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2pPr>
      <a:lvl3pPr marL="985838" indent="-266700" algn="l" rtl="0" eaLnBrk="1" fontAlgn="base" hangingPunct="1">
        <a:lnSpc>
          <a:spcPct val="100000"/>
        </a:lnSpc>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3pPr>
      <a:lvl4pPr marL="1346200" indent="-268288" algn="l" rtl="0" eaLnBrk="1" fontAlgn="base" hangingPunct="1">
        <a:lnSpc>
          <a:spcPct val="100000"/>
        </a:lnSpc>
        <a:spcBef>
          <a:spcPts val="600"/>
        </a:spcBef>
        <a:spcAft>
          <a:spcPts val="325"/>
        </a:spcAft>
        <a:buFont typeface="Meiryo UI" panose="020B0604030504040204" pitchFamily="50" charset="-128"/>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4pPr>
      <a:lvl5pPr marL="1704975" indent="-268288" algn="l" rtl="0" eaLnBrk="1" fontAlgn="base" hangingPunct="1">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5pPr>
      <a:lvl6pPr marL="2723999"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6pPr>
      <a:lvl7pPr marL="3219270"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7pPr>
      <a:lvl8pPr marL="3714543"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8pPr>
      <a:lvl9pPr marL="4209815"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9pPr>
    </p:bodyStyle>
    <p:otherStyle>
      <a:defPPr>
        <a:defRPr lang="de-DE"/>
      </a:defPPr>
      <a:lvl1pPr marL="0" algn="l" defTabSz="990546" rtl="0" eaLnBrk="1" latinLnBrk="0" hangingPunct="1">
        <a:defRPr kumimoji="1" sz="1951" kern="1200">
          <a:solidFill>
            <a:schemeClr val="tx1"/>
          </a:solidFill>
          <a:latin typeface="+mn-lt"/>
          <a:ea typeface="+mn-ea"/>
          <a:cs typeface="+mn-cs"/>
        </a:defRPr>
      </a:lvl1pPr>
      <a:lvl2pPr marL="495273" algn="l" defTabSz="990546" rtl="0" eaLnBrk="1" latinLnBrk="0" hangingPunct="1">
        <a:defRPr kumimoji="1" sz="1951" kern="1200">
          <a:solidFill>
            <a:schemeClr val="tx1"/>
          </a:solidFill>
          <a:latin typeface="+mn-lt"/>
          <a:ea typeface="+mn-ea"/>
          <a:cs typeface="+mn-cs"/>
        </a:defRPr>
      </a:lvl2pPr>
      <a:lvl3pPr marL="990546" algn="l" defTabSz="990546" rtl="0" eaLnBrk="1" latinLnBrk="0" hangingPunct="1">
        <a:defRPr kumimoji="1" sz="1951" kern="1200">
          <a:solidFill>
            <a:schemeClr val="tx1"/>
          </a:solidFill>
          <a:latin typeface="+mn-lt"/>
          <a:ea typeface="+mn-ea"/>
          <a:cs typeface="+mn-cs"/>
        </a:defRPr>
      </a:lvl3pPr>
      <a:lvl4pPr marL="1485818" algn="l" defTabSz="990546" rtl="0" eaLnBrk="1" latinLnBrk="0" hangingPunct="1">
        <a:defRPr kumimoji="1" sz="1951" kern="1200">
          <a:solidFill>
            <a:schemeClr val="tx1"/>
          </a:solidFill>
          <a:latin typeface="+mn-lt"/>
          <a:ea typeface="+mn-ea"/>
          <a:cs typeface="+mn-cs"/>
        </a:defRPr>
      </a:lvl4pPr>
      <a:lvl5pPr marL="1981089" algn="l" defTabSz="990546" rtl="0" eaLnBrk="1" latinLnBrk="0" hangingPunct="1">
        <a:defRPr kumimoji="1" sz="1951" kern="1200">
          <a:solidFill>
            <a:schemeClr val="tx1"/>
          </a:solidFill>
          <a:latin typeface="+mn-lt"/>
          <a:ea typeface="+mn-ea"/>
          <a:cs typeface="+mn-cs"/>
        </a:defRPr>
      </a:lvl5pPr>
      <a:lvl6pPr marL="2476362" algn="l" defTabSz="990546" rtl="0" eaLnBrk="1" latinLnBrk="0" hangingPunct="1">
        <a:defRPr kumimoji="1" sz="1951" kern="1200">
          <a:solidFill>
            <a:schemeClr val="tx1"/>
          </a:solidFill>
          <a:latin typeface="+mn-lt"/>
          <a:ea typeface="+mn-ea"/>
          <a:cs typeface="+mn-cs"/>
        </a:defRPr>
      </a:lvl6pPr>
      <a:lvl7pPr marL="2971635" algn="l" defTabSz="990546" rtl="0" eaLnBrk="1" latinLnBrk="0" hangingPunct="1">
        <a:defRPr kumimoji="1" sz="1951" kern="1200">
          <a:solidFill>
            <a:schemeClr val="tx1"/>
          </a:solidFill>
          <a:latin typeface="+mn-lt"/>
          <a:ea typeface="+mn-ea"/>
          <a:cs typeface="+mn-cs"/>
        </a:defRPr>
      </a:lvl7pPr>
      <a:lvl8pPr marL="3466907" algn="l" defTabSz="990546" rtl="0" eaLnBrk="1" latinLnBrk="0" hangingPunct="1">
        <a:defRPr kumimoji="1" sz="1951" kern="1200">
          <a:solidFill>
            <a:schemeClr val="tx1"/>
          </a:solidFill>
          <a:latin typeface="+mn-lt"/>
          <a:ea typeface="+mn-ea"/>
          <a:cs typeface="+mn-cs"/>
        </a:defRPr>
      </a:lvl8pPr>
      <a:lvl9pPr marL="3962180" algn="l" defTabSz="990546" rtl="0" eaLnBrk="1" latinLnBrk="0" hangingPunct="1">
        <a:defRPr kumimoji="1" sz="19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p15:clr>
            <a:srgbClr val="F26B43"/>
          </p15:clr>
        </p15:guide>
        <p15:guide id="2" pos="3120">
          <p15:clr>
            <a:srgbClr val="F26B43"/>
          </p15:clr>
        </p15:guide>
        <p15:guide id="3" pos="5932">
          <p15:clr>
            <a:srgbClr val="F26B43"/>
          </p15:clr>
        </p15:guide>
        <p15:guide id="4" orient="horz" pos="4156">
          <p15:clr>
            <a:srgbClr val="F26B43"/>
          </p15:clr>
        </p15:guide>
        <p15:guide id="5"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FF15D-557B-4C33-9E5D-3AF00C8FABE9}"/>
              </a:ext>
            </a:extLst>
          </p:cNvPr>
          <p:cNvSpPr>
            <a:spLocks noGrp="1"/>
          </p:cNvSpPr>
          <p:nvPr>
            <p:ph type="title"/>
          </p:nvPr>
        </p:nvSpPr>
        <p:spPr/>
        <p:txBody>
          <a:bodyPr/>
          <a:lstStyle/>
          <a:p>
            <a:r>
              <a:rPr lang="ja-JP" altLang="en-US"/>
              <a:t>資産管理の概要</a:t>
            </a:r>
            <a:endParaRPr kumimoji="1" lang="ja-JP" altLang="en-US"/>
          </a:p>
        </p:txBody>
      </p:sp>
      <p:sp>
        <p:nvSpPr>
          <p:cNvPr id="75" name="正方形/長方形 74">
            <a:extLst>
              <a:ext uri="{FF2B5EF4-FFF2-40B4-BE49-F238E27FC236}">
                <a16:creationId xmlns:a16="http://schemas.microsoft.com/office/drawing/2014/main" id="{AFB6FFF7-F072-AD6C-0BAA-C71DDC3B87DF}"/>
              </a:ext>
            </a:extLst>
          </p:cNvPr>
          <p:cNvSpPr/>
          <p:nvPr/>
        </p:nvSpPr>
        <p:spPr>
          <a:xfrm>
            <a:off x="284584" y="6476214"/>
            <a:ext cx="7089359" cy="315105"/>
          </a:xfrm>
          <a:prstGeom prst="rect">
            <a:avLst/>
          </a:prstGeom>
          <a:noFill/>
          <a:ln w="1905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spcAft>
                <a:spcPts val="300"/>
              </a:spcAft>
              <a:defRPr/>
            </a:pPr>
            <a:r>
              <a:rPr lang="en-US" altLang="ja-JP" sz="1000" kern="0" dirty="0">
                <a:solidFill>
                  <a:srgbClr val="000000"/>
                </a:solidFill>
                <a:latin typeface="Meiryo UI"/>
                <a:ea typeface="Meiryo UI"/>
              </a:rPr>
              <a:t>※MTBJ</a:t>
            </a:r>
            <a:r>
              <a:rPr lang="ja-JP" altLang="en-US" sz="1000" kern="0" dirty="0">
                <a:solidFill>
                  <a:srgbClr val="000000"/>
                </a:solidFill>
                <a:latin typeface="Meiryo UI"/>
                <a:ea typeface="Meiryo UI"/>
              </a:rPr>
              <a:t>は原則</a:t>
            </a:r>
            <a:r>
              <a:rPr lang="en-US" altLang="ja-JP" sz="1000" kern="0" dirty="0">
                <a:solidFill>
                  <a:srgbClr val="000000"/>
                </a:solidFill>
                <a:latin typeface="Meiryo UI"/>
                <a:ea typeface="Meiryo UI"/>
              </a:rPr>
              <a:t>MUTB</a:t>
            </a:r>
            <a:r>
              <a:rPr lang="ja-JP" altLang="en-US" sz="1000" kern="0" dirty="0">
                <a:solidFill>
                  <a:srgbClr val="000000"/>
                </a:solidFill>
                <a:latin typeface="Meiryo UI"/>
                <a:ea typeface="Meiryo UI"/>
              </a:rPr>
              <a:t>を信託銀行とした共同信託形式を採用しているが、一部機関投資家からは直接信託される単独信託もある。</a:t>
            </a:r>
            <a:endParaRPr lang="en-US" altLang="ja-JP" sz="1000" kern="0" dirty="0">
              <a:solidFill>
                <a:srgbClr val="000000"/>
              </a:solidFill>
              <a:latin typeface="Meiryo UI"/>
              <a:ea typeface="Meiryo UI"/>
            </a:endParaRPr>
          </a:p>
        </p:txBody>
      </p:sp>
      <p:grpSp>
        <p:nvGrpSpPr>
          <p:cNvPr id="96" name="グループ化 95">
            <a:extLst>
              <a:ext uri="{FF2B5EF4-FFF2-40B4-BE49-F238E27FC236}">
                <a16:creationId xmlns:a16="http://schemas.microsoft.com/office/drawing/2014/main" id="{C03FF0D6-4069-ECBA-851E-C975193087DB}"/>
              </a:ext>
            </a:extLst>
          </p:cNvPr>
          <p:cNvGrpSpPr/>
          <p:nvPr/>
        </p:nvGrpSpPr>
        <p:grpSpPr>
          <a:xfrm>
            <a:off x="833607" y="1127768"/>
            <a:ext cx="8499681" cy="5221425"/>
            <a:chOff x="1060270" y="1127767"/>
            <a:chExt cx="8499681" cy="5221425"/>
          </a:xfrm>
        </p:grpSpPr>
        <p:sp>
          <p:nvSpPr>
            <p:cNvPr id="9" name="正方形/長方形 8">
              <a:extLst>
                <a:ext uri="{FF2B5EF4-FFF2-40B4-BE49-F238E27FC236}">
                  <a16:creationId xmlns:a16="http://schemas.microsoft.com/office/drawing/2014/main" id="{31447302-B3E8-9D06-49BE-67A654127AE0}"/>
                </a:ext>
              </a:extLst>
            </p:cNvPr>
            <p:cNvSpPr/>
            <p:nvPr/>
          </p:nvSpPr>
          <p:spPr>
            <a:xfrm>
              <a:off x="1071790" y="1127767"/>
              <a:ext cx="8488161" cy="712581"/>
            </a:xfrm>
            <a:prstGeom prst="rect">
              <a:avLst/>
            </a:prstGeom>
            <a:noFill/>
            <a:ln w="1905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fontAlgn="base">
                <a:spcAft>
                  <a:spcPts val="300"/>
                </a:spcAft>
                <a:defRPr/>
              </a:pPr>
              <a:r>
                <a:rPr lang="ja-JP" altLang="en-US" sz="1200" b="1" kern="0" dirty="0">
                  <a:solidFill>
                    <a:srgbClr val="000000"/>
                  </a:solidFill>
                  <a:latin typeface="Meiryo UI"/>
                  <a:ea typeface="Meiryo UI"/>
                </a:rPr>
                <a:t>投資家</a:t>
              </a:r>
              <a:endParaRPr lang="en-US" altLang="ja-JP" sz="1200" b="1" kern="0" dirty="0">
                <a:solidFill>
                  <a:srgbClr val="000000"/>
                </a:solidFill>
                <a:latin typeface="Meiryo UI"/>
                <a:ea typeface="Meiryo UI"/>
              </a:endParaRPr>
            </a:p>
            <a:p>
              <a:pPr algn="ctr" fontAlgn="base">
                <a:spcAft>
                  <a:spcPts val="300"/>
                </a:spcAft>
                <a:defRPr/>
              </a:pPr>
              <a:endParaRPr lang="en-US" altLang="ja-JP" sz="900" kern="0" dirty="0">
                <a:solidFill>
                  <a:srgbClr val="000000"/>
                </a:solidFill>
                <a:latin typeface="Meiryo UI"/>
                <a:ea typeface="Meiryo UI"/>
              </a:endParaRPr>
            </a:p>
          </p:txBody>
        </p:sp>
        <p:sp>
          <p:nvSpPr>
            <p:cNvPr id="11" name="正方形/長方形 10">
              <a:extLst>
                <a:ext uri="{FF2B5EF4-FFF2-40B4-BE49-F238E27FC236}">
                  <a16:creationId xmlns:a16="http://schemas.microsoft.com/office/drawing/2014/main" id="{A471A6FD-25D4-F6FD-3E6C-A666E3206C9A}"/>
                </a:ext>
              </a:extLst>
            </p:cNvPr>
            <p:cNvSpPr/>
            <p:nvPr/>
          </p:nvSpPr>
          <p:spPr>
            <a:xfrm>
              <a:off x="7860979" y="3756275"/>
              <a:ext cx="1698972" cy="456316"/>
            </a:xfrm>
            <a:prstGeom prst="rect">
              <a:avLst/>
            </a:prstGeom>
            <a:noFill/>
            <a:ln w="1905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lang="ja-JP" altLang="en-US" sz="1200" b="1" kern="0" dirty="0">
                  <a:solidFill>
                    <a:srgbClr val="000000"/>
                  </a:solidFill>
                  <a:latin typeface="Meiryo UI"/>
                  <a:ea typeface="Meiryo UI"/>
                </a:rPr>
                <a:t>情報ベンダー</a:t>
              </a:r>
              <a:endParaRPr lang="en-US" altLang="ja-JP" sz="900" b="1" kern="0" dirty="0">
                <a:solidFill>
                  <a:srgbClr val="000000"/>
                </a:solidFill>
                <a:latin typeface="Meiryo UI"/>
                <a:ea typeface="Meiryo UI"/>
              </a:endParaRPr>
            </a:p>
          </p:txBody>
        </p:sp>
        <p:sp>
          <p:nvSpPr>
            <p:cNvPr id="12" name="正方形/長方形 11">
              <a:extLst>
                <a:ext uri="{FF2B5EF4-FFF2-40B4-BE49-F238E27FC236}">
                  <a16:creationId xmlns:a16="http://schemas.microsoft.com/office/drawing/2014/main" id="{9BB2D83F-FCF5-4BDA-35D9-0E6FD450729C}"/>
                </a:ext>
              </a:extLst>
            </p:cNvPr>
            <p:cNvSpPr/>
            <p:nvPr/>
          </p:nvSpPr>
          <p:spPr>
            <a:xfrm>
              <a:off x="8803915" y="4376335"/>
              <a:ext cx="756036" cy="1180434"/>
            </a:xfrm>
            <a:prstGeom prst="rect">
              <a:avLst/>
            </a:prstGeom>
            <a:noFill/>
            <a:ln w="19050" cap="flat" cmpd="sng" algn="ctr">
              <a:solidFill>
                <a:schemeClr val="bg1">
                  <a:lumMod val="50000"/>
                </a:schemeClr>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fontAlgn="base">
                <a:spcAft>
                  <a:spcPts val="300"/>
                </a:spcAft>
                <a:defRPr/>
              </a:pPr>
              <a:r>
                <a:rPr lang="ja-JP" altLang="en-US" sz="1200" b="1" kern="0" dirty="0">
                  <a:solidFill>
                    <a:srgbClr val="000000"/>
                  </a:solidFill>
                  <a:latin typeface="Meiryo UI"/>
                  <a:ea typeface="Meiryo UI"/>
                </a:rPr>
                <a:t>マーケット</a:t>
              </a:r>
              <a:endParaRPr lang="en-US" altLang="ja-JP" sz="1200" b="1" kern="0" dirty="0">
                <a:solidFill>
                  <a:srgbClr val="000000"/>
                </a:solidFill>
                <a:latin typeface="Meiryo UI"/>
                <a:ea typeface="Meiryo UI"/>
              </a:endParaRPr>
            </a:p>
            <a:p>
              <a:pPr algn="ctr" fontAlgn="base">
                <a:spcAft>
                  <a:spcPts val="300"/>
                </a:spcAft>
                <a:defRPr/>
              </a:pPr>
              <a:r>
                <a:rPr lang="ja-JP" altLang="en-US" sz="1050" b="1" kern="0" dirty="0">
                  <a:solidFill>
                    <a:srgbClr val="000000"/>
                  </a:solidFill>
                  <a:latin typeface="Meiryo UI"/>
                  <a:ea typeface="Meiryo UI"/>
                </a:rPr>
                <a:t>（証券会社等）</a:t>
              </a:r>
              <a:endParaRPr lang="en-US" altLang="ja-JP" sz="700" b="1" kern="0" dirty="0">
                <a:solidFill>
                  <a:srgbClr val="000000"/>
                </a:solidFill>
                <a:latin typeface="Meiryo UI"/>
                <a:ea typeface="Meiryo UI"/>
              </a:endParaRPr>
            </a:p>
          </p:txBody>
        </p:sp>
        <p:sp>
          <p:nvSpPr>
            <p:cNvPr id="13" name="正方形/長方形 12">
              <a:extLst>
                <a:ext uri="{FF2B5EF4-FFF2-40B4-BE49-F238E27FC236}">
                  <a16:creationId xmlns:a16="http://schemas.microsoft.com/office/drawing/2014/main" id="{FE1387CC-9809-F303-E334-7FB1BCADA1FC}"/>
                </a:ext>
              </a:extLst>
            </p:cNvPr>
            <p:cNvSpPr/>
            <p:nvPr/>
          </p:nvSpPr>
          <p:spPr>
            <a:xfrm>
              <a:off x="7860980" y="4884604"/>
              <a:ext cx="721115" cy="672167"/>
            </a:xfrm>
            <a:prstGeom prst="rect">
              <a:avLst/>
            </a:prstGeom>
            <a:noFill/>
            <a:ln w="19050" cap="flat" cmpd="sng" algn="ctr">
              <a:solidFill>
                <a:schemeClr val="bg1">
                  <a:lumMod val="50000"/>
                </a:schemeClr>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fontAlgn="base">
                <a:spcAft>
                  <a:spcPts val="300"/>
                </a:spcAft>
                <a:defRPr/>
              </a:pPr>
              <a:r>
                <a:rPr lang="ja-JP" altLang="en-US" sz="1200" b="1" kern="0" dirty="0">
                  <a:solidFill>
                    <a:srgbClr val="000000"/>
                  </a:solidFill>
                  <a:latin typeface="Meiryo UI"/>
                  <a:ea typeface="Meiryo UI"/>
                </a:rPr>
                <a:t>決済機関</a:t>
              </a:r>
              <a:endParaRPr lang="en-US" altLang="ja-JP" sz="1200" b="1" kern="0" dirty="0">
                <a:solidFill>
                  <a:srgbClr val="000000"/>
                </a:solidFill>
                <a:latin typeface="Meiryo UI"/>
                <a:ea typeface="Meiryo UI"/>
              </a:endParaRPr>
            </a:p>
            <a:p>
              <a:pPr algn="ctr" fontAlgn="base">
                <a:spcAft>
                  <a:spcPts val="300"/>
                </a:spcAft>
                <a:defRPr/>
              </a:pPr>
              <a:r>
                <a:rPr lang="ja-JP" altLang="en-US" sz="1050" b="1" kern="0" dirty="0">
                  <a:solidFill>
                    <a:srgbClr val="000000"/>
                  </a:solidFill>
                  <a:latin typeface="Meiryo UI"/>
                  <a:ea typeface="Meiryo UI"/>
                </a:rPr>
                <a:t>（ほふり等）</a:t>
              </a:r>
              <a:endParaRPr lang="en-US" altLang="ja-JP" sz="1050" b="1" kern="0" dirty="0">
                <a:solidFill>
                  <a:srgbClr val="000000"/>
                </a:solidFill>
                <a:latin typeface="Meiryo UI"/>
                <a:ea typeface="Meiryo UI"/>
              </a:endParaRPr>
            </a:p>
          </p:txBody>
        </p:sp>
        <p:grpSp>
          <p:nvGrpSpPr>
            <p:cNvPr id="82" name="グループ化 81">
              <a:extLst>
                <a:ext uri="{FF2B5EF4-FFF2-40B4-BE49-F238E27FC236}">
                  <a16:creationId xmlns:a16="http://schemas.microsoft.com/office/drawing/2014/main" id="{205E0233-8B32-CA94-5976-0B919B503345}"/>
                </a:ext>
              </a:extLst>
            </p:cNvPr>
            <p:cNvGrpSpPr/>
            <p:nvPr/>
          </p:nvGrpSpPr>
          <p:grpSpPr>
            <a:xfrm>
              <a:off x="7491860" y="3862833"/>
              <a:ext cx="324435" cy="243201"/>
              <a:chOff x="11378520" y="3591845"/>
              <a:chExt cx="515170" cy="243201"/>
            </a:xfrm>
          </p:grpSpPr>
          <p:cxnSp>
            <p:nvCxnSpPr>
              <p:cNvPr id="16" name="直線矢印コネクタ 15">
                <a:extLst>
                  <a:ext uri="{FF2B5EF4-FFF2-40B4-BE49-F238E27FC236}">
                    <a16:creationId xmlns:a16="http://schemas.microsoft.com/office/drawing/2014/main" id="{F69EF76B-8F81-D688-A26B-25A5A313D4F4}"/>
                  </a:ext>
                </a:extLst>
              </p:cNvPr>
              <p:cNvCxnSpPr/>
              <p:nvPr/>
            </p:nvCxnSpPr>
            <p:spPr bwMode="auto">
              <a:xfrm>
                <a:off x="11378520" y="3591845"/>
                <a:ext cx="515170"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17" name="直線矢印コネクタ 16">
                <a:extLst>
                  <a:ext uri="{FF2B5EF4-FFF2-40B4-BE49-F238E27FC236}">
                    <a16:creationId xmlns:a16="http://schemas.microsoft.com/office/drawing/2014/main" id="{B8BF182C-CD46-B592-5B4D-F9DAC274A655}"/>
                  </a:ext>
                </a:extLst>
              </p:cNvPr>
              <p:cNvCxnSpPr>
                <a:cxnSpLocks/>
              </p:cNvCxnSpPr>
              <p:nvPr/>
            </p:nvCxnSpPr>
            <p:spPr bwMode="auto">
              <a:xfrm flipH="1">
                <a:off x="11378520" y="3835046"/>
                <a:ext cx="515170" cy="0"/>
              </a:xfrm>
              <a:prstGeom prst="straightConnector1">
                <a:avLst/>
              </a:prstGeom>
              <a:noFill/>
              <a:ln w="9525" cap="flat" cmpd="sng" algn="ctr">
                <a:solidFill>
                  <a:schemeClr val="bg1">
                    <a:lumMod val="50000"/>
                  </a:schemeClr>
                </a:solidFill>
                <a:prstDash val="solid"/>
                <a:round/>
                <a:headEnd type="none" w="med" len="med"/>
                <a:tailEnd type="triangle"/>
              </a:ln>
              <a:effectLst/>
            </p:spPr>
          </p:cxnSp>
        </p:grpSp>
        <p:grpSp>
          <p:nvGrpSpPr>
            <p:cNvPr id="81" name="グループ化 80">
              <a:extLst>
                <a:ext uri="{FF2B5EF4-FFF2-40B4-BE49-F238E27FC236}">
                  <a16:creationId xmlns:a16="http://schemas.microsoft.com/office/drawing/2014/main" id="{D526DF81-EB34-3E73-577D-B66D69F578B2}"/>
                </a:ext>
              </a:extLst>
            </p:cNvPr>
            <p:cNvGrpSpPr/>
            <p:nvPr/>
          </p:nvGrpSpPr>
          <p:grpSpPr>
            <a:xfrm>
              <a:off x="1912063" y="1439697"/>
              <a:ext cx="6807614" cy="294963"/>
              <a:chOff x="1622673" y="1541295"/>
              <a:chExt cx="6807614" cy="294963"/>
            </a:xfrm>
          </p:grpSpPr>
          <p:sp>
            <p:nvSpPr>
              <p:cNvPr id="27" name="正方形/長方形 26">
                <a:extLst>
                  <a:ext uri="{FF2B5EF4-FFF2-40B4-BE49-F238E27FC236}">
                    <a16:creationId xmlns:a16="http://schemas.microsoft.com/office/drawing/2014/main" id="{3EDAB22D-0D26-F718-1153-0A89817FA3D1}"/>
                  </a:ext>
                </a:extLst>
              </p:cNvPr>
              <p:cNvSpPr/>
              <p:nvPr/>
            </p:nvSpPr>
            <p:spPr>
              <a:xfrm>
                <a:off x="5456853" y="1541295"/>
                <a:ext cx="1056344" cy="294963"/>
              </a:xfrm>
              <a:prstGeom prst="rect">
                <a:avLst/>
              </a:prstGeom>
              <a:solidFill>
                <a:schemeClr val="bg1">
                  <a:lumMod val="65000"/>
                </a:scheme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kumimoji="0" lang="ja-JP" altLang="en-US" sz="1000" b="1" kern="0">
                    <a:solidFill>
                      <a:schemeClr val="bg1"/>
                    </a:solidFill>
                    <a:latin typeface="Meiryo UI"/>
                    <a:ea typeface="Meiryo UI"/>
                  </a:rPr>
                  <a:t>金法</a:t>
                </a:r>
                <a:endParaRPr kumimoji="0" lang="en-US" altLang="ja-JP" sz="1000" b="1" kern="0">
                  <a:solidFill>
                    <a:schemeClr val="bg1"/>
                  </a:solidFill>
                  <a:latin typeface="Meiryo UI"/>
                  <a:ea typeface="Meiryo UI"/>
                </a:endParaRPr>
              </a:p>
            </p:txBody>
          </p:sp>
          <p:sp>
            <p:nvSpPr>
              <p:cNvPr id="28" name="正方形/長方形 27">
                <a:extLst>
                  <a:ext uri="{FF2B5EF4-FFF2-40B4-BE49-F238E27FC236}">
                    <a16:creationId xmlns:a16="http://schemas.microsoft.com/office/drawing/2014/main" id="{80027769-CFF9-E4E0-A296-CEB2338A43BE}"/>
                  </a:ext>
                </a:extLst>
              </p:cNvPr>
              <p:cNvSpPr/>
              <p:nvPr/>
            </p:nvSpPr>
            <p:spPr>
              <a:xfrm>
                <a:off x="3539763" y="1541295"/>
                <a:ext cx="1056344" cy="294963"/>
              </a:xfrm>
              <a:prstGeom prst="rect">
                <a:avLst/>
              </a:prstGeom>
              <a:solidFill>
                <a:schemeClr val="bg1">
                  <a:lumMod val="65000"/>
                </a:scheme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kumimoji="0" lang="ja-JP" altLang="en-US" sz="1000" b="1" kern="0">
                    <a:solidFill>
                      <a:schemeClr val="bg1"/>
                    </a:solidFill>
                    <a:latin typeface="Meiryo UI"/>
                    <a:ea typeface="Meiryo UI"/>
                  </a:rPr>
                  <a:t>投信</a:t>
                </a:r>
                <a:endParaRPr kumimoji="0" lang="en-US" altLang="ja-JP" sz="1000" b="1" kern="0">
                  <a:solidFill>
                    <a:schemeClr val="bg1"/>
                  </a:solidFill>
                  <a:latin typeface="Meiryo UI"/>
                  <a:ea typeface="Meiryo UI"/>
                </a:endParaRPr>
              </a:p>
            </p:txBody>
          </p:sp>
          <p:sp>
            <p:nvSpPr>
              <p:cNvPr id="29" name="正方形/長方形 28">
                <a:extLst>
                  <a:ext uri="{FF2B5EF4-FFF2-40B4-BE49-F238E27FC236}">
                    <a16:creationId xmlns:a16="http://schemas.microsoft.com/office/drawing/2014/main" id="{229850C0-A4F8-AE30-2240-7EA43C5925C1}"/>
                  </a:ext>
                </a:extLst>
              </p:cNvPr>
              <p:cNvSpPr/>
              <p:nvPr/>
            </p:nvSpPr>
            <p:spPr>
              <a:xfrm>
                <a:off x="1622673" y="1541295"/>
                <a:ext cx="1056344" cy="294963"/>
              </a:xfrm>
              <a:prstGeom prst="rect">
                <a:avLst/>
              </a:prstGeom>
              <a:solidFill>
                <a:schemeClr val="bg1">
                  <a:lumMod val="65000"/>
                </a:scheme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kumimoji="0" lang="ja-JP" altLang="en-US" sz="1000" b="1" kern="0">
                    <a:solidFill>
                      <a:schemeClr val="bg1"/>
                    </a:solidFill>
                    <a:latin typeface="Meiryo UI"/>
                    <a:ea typeface="Meiryo UI"/>
                  </a:rPr>
                  <a:t>年金</a:t>
                </a:r>
                <a:endParaRPr kumimoji="0" lang="en-US" altLang="ja-JP" sz="1000" b="1" kern="0">
                  <a:solidFill>
                    <a:schemeClr val="bg1"/>
                  </a:solidFill>
                  <a:latin typeface="Meiryo UI"/>
                  <a:ea typeface="Meiryo UI"/>
                </a:endParaRPr>
              </a:p>
            </p:txBody>
          </p:sp>
          <p:sp>
            <p:nvSpPr>
              <p:cNvPr id="26" name="正方形/長方形 25">
                <a:extLst>
                  <a:ext uri="{FF2B5EF4-FFF2-40B4-BE49-F238E27FC236}">
                    <a16:creationId xmlns:a16="http://schemas.microsoft.com/office/drawing/2014/main" id="{D136F52E-775F-9B7E-60F0-22510D23BDB5}"/>
                  </a:ext>
                </a:extLst>
              </p:cNvPr>
              <p:cNvSpPr/>
              <p:nvPr/>
            </p:nvSpPr>
            <p:spPr>
              <a:xfrm>
                <a:off x="7373943" y="1541295"/>
                <a:ext cx="1056344" cy="294963"/>
              </a:xfrm>
              <a:prstGeom prst="rect">
                <a:avLst/>
              </a:prstGeom>
              <a:solidFill>
                <a:schemeClr val="bg1">
                  <a:lumMod val="65000"/>
                </a:scheme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kumimoji="0" lang="ja-JP" altLang="en-US" sz="1000" b="1" kern="0">
                    <a:solidFill>
                      <a:schemeClr val="bg1"/>
                    </a:solidFill>
                    <a:latin typeface="Meiryo UI"/>
                    <a:ea typeface="Meiryo UI"/>
                  </a:rPr>
                  <a:t>その他</a:t>
                </a:r>
                <a:endParaRPr kumimoji="0" lang="en-US" altLang="ja-JP" sz="1000" b="1" kern="0">
                  <a:solidFill>
                    <a:schemeClr val="bg1"/>
                  </a:solidFill>
                  <a:latin typeface="Meiryo UI"/>
                  <a:ea typeface="Meiryo UI"/>
                </a:endParaRPr>
              </a:p>
            </p:txBody>
          </p:sp>
        </p:grpSp>
        <p:grpSp>
          <p:nvGrpSpPr>
            <p:cNvPr id="71" name="グループ化 70">
              <a:extLst>
                <a:ext uri="{FF2B5EF4-FFF2-40B4-BE49-F238E27FC236}">
                  <a16:creationId xmlns:a16="http://schemas.microsoft.com/office/drawing/2014/main" id="{9F73692C-F451-1AB2-5385-F1CB8E74E564}"/>
                </a:ext>
              </a:extLst>
            </p:cNvPr>
            <p:cNvGrpSpPr/>
            <p:nvPr/>
          </p:nvGrpSpPr>
          <p:grpSpPr>
            <a:xfrm>
              <a:off x="1739108" y="4074330"/>
              <a:ext cx="5036127" cy="1564844"/>
              <a:chOff x="1713950" y="3940259"/>
              <a:chExt cx="2468996" cy="2854957"/>
            </a:xfrm>
          </p:grpSpPr>
          <p:grpSp>
            <p:nvGrpSpPr>
              <p:cNvPr id="57" name="グループ化 56">
                <a:extLst>
                  <a:ext uri="{FF2B5EF4-FFF2-40B4-BE49-F238E27FC236}">
                    <a16:creationId xmlns:a16="http://schemas.microsoft.com/office/drawing/2014/main" id="{D8B35D8F-EA45-2297-5EE4-AD8F5DD3B8F8}"/>
                  </a:ext>
                </a:extLst>
              </p:cNvPr>
              <p:cNvGrpSpPr/>
              <p:nvPr/>
            </p:nvGrpSpPr>
            <p:grpSpPr>
              <a:xfrm>
                <a:off x="1713950" y="3940260"/>
                <a:ext cx="2036948" cy="2216129"/>
                <a:chOff x="4238432" y="1729242"/>
                <a:chExt cx="1866696" cy="2216129"/>
              </a:xfrm>
            </p:grpSpPr>
            <p:sp>
              <p:nvSpPr>
                <p:cNvPr id="41" name="正方形/長方形 40">
                  <a:extLst>
                    <a:ext uri="{FF2B5EF4-FFF2-40B4-BE49-F238E27FC236}">
                      <a16:creationId xmlns:a16="http://schemas.microsoft.com/office/drawing/2014/main" id="{8F80766B-568A-11C8-FB1B-5E74D15ED141}"/>
                    </a:ext>
                  </a:extLst>
                </p:cNvPr>
                <p:cNvSpPr/>
                <p:nvPr/>
              </p:nvSpPr>
              <p:spPr>
                <a:xfrm>
                  <a:off x="4238432" y="3207534"/>
                  <a:ext cx="867166" cy="369134"/>
                </a:xfrm>
                <a:prstGeom prst="rect">
                  <a:avLst/>
                </a:prstGeom>
                <a:solidFill>
                  <a:schemeClr val="accent2">
                    <a:lumMod val="20000"/>
                    <a:lumOff val="80000"/>
                  </a:schemeClr>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spcAft>
                      <a:spcPts val="300"/>
                    </a:spcAft>
                    <a:defRPr/>
                  </a:pPr>
                  <a:r>
                    <a:rPr kumimoji="0" lang="ja-JP" altLang="en-US" sz="1000" b="1" kern="0">
                      <a:solidFill>
                        <a:srgbClr val="000000"/>
                      </a:solidFill>
                      <a:latin typeface="Meiryo UI"/>
                      <a:ea typeface="Meiryo UI"/>
                    </a:rPr>
                    <a:t>商品固有業務</a:t>
                  </a:r>
                  <a:endParaRPr kumimoji="0" lang="en-US" altLang="ja-JP" sz="1000" b="1" kern="0">
                    <a:solidFill>
                      <a:srgbClr val="000000"/>
                    </a:solidFill>
                    <a:latin typeface="Meiryo UI"/>
                    <a:ea typeface="Meiryo UI"/>
                  </a:endParaRPr>
                </a:p>
              </p:txBody>
            </p:sp>
            <p:sp>
              <p:nvSpPr>
                <p:cNvPr id="42" name="正方形/長方形 41">
                  <a:extLst>
                    <a:ext uri="{FF2B5EF4-FFF2-40B4-BE49-F238E27FC236}">
                      <a16:creationId xmlns:a16="http://schemas.microsoft.com/office/drawing/2014/main" id="{AE3C98FC-C161-49F7-A24D-6A560417EBBB}"/>
                    </a:ext>
                  </a:extLst>
                </p:cNvPr>
                <p:cNvSpPr/>
                <p:nvPr/>
              </p:nvSpPr>
              <p:spPr>
                <a:xfrm>
                  <a:off x="4238432" y="3576237"/>
                  <a:ext cx="867166" cy="369134"/>
                </a:xfrm>
                <a:prstGeom prst="rect">
                  <a:avLst/>
                </a:prstGeom>
                <a:solidFill>
                  <a:schemeClr val="accent2">
                    <a:lumMod val="20000"/>
                    <a:lumOff val="80000"/>
                  </a:schemeClr>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spcAft>
                      <a:spcPts val="300"/>
                    </a:spcAft>
                    <a:defRPr/>
                  </a:pPr>
                  <a:r>
                    <a:rPr kumimoji="0" lang="ja-JP" altLang="en-US" sz="1000" b="1" kern="0">
                      <a:solidFill>
                        <a:srgbClr val="000000"/>
                      </a:solidFill>
                      <a:latin typeface="Meiryo UI"/>
                      <a:ea typeface="Meiryo UI"/>
                    </a:rPr>
                    <a:t>レポート・データ連携</a:t>
                  </a:r>
                  <a:endParaRPr kumimoji="0" lang="en-US" altLang="ja-JP" sz="1000" b="1" kern="0">
                    <a:solidFill>
                      <a:srgbClr val="000000"/>
                    </a:solidFill>
                    <a:latin typeface="Meiryo UI"/>
                    <a:ea typeface="Meiryo UI"/>
                  </a:endParaRPr>
                </a:p>
              </p:txBody>
            </p:sp>
            <p:sp>
              <p:nvSpPr>
                <p:cNvPr id="43" name="正方形/長方形 42">
                  <a:extLst>
                    <a:ext uri="{FF2B5EF4-FFF2-40B4-BE49-F238E27FC236}">
                      <a16:creationId xmlns:a16="http://schemas.microsoft.com/office/drawing/2014/main" id="{DFDA6ECB-557A-5AAC-639F-AD4F214FC8E0}"/>
                    </a:ext>
                  </a:extLst>
                </p:cNvPr>
                <p:cNvSpPr/>
                <p:nvPr/>
              </p:nvSpPr>
              <p:spPr>
                <a:xfrm>
                  <a:off x="4238432" y="2838830"/>
                  <a:ext cx="867166" cy="369134"/>
                </a:xfrm>
                <a:prstGeom prst="rect">
                  <a:avLst/>
                </a:prstGeom>
                <a:solidFill>
                  <a:schemeClr val="accent2">
                    <a:lumMod val="20000"/>
                    <a:lumOff val="80000"/>
                  </a:schemeClr>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spcAft>
                      <a:spcPts val="300"/>
                    </a:spcAft>
                    <a:defRPr/>
                  </a:pPr>
                  <a:r>
                    <a:rPr kumimoji="0" lang="ja-JP" altLang="en-US" sz="1000" b="1" kern="0">
                      <a:solidFill>
                        <a:srgbClr val="000000"/>
                      </a:solidFill>
                      <a:latin typeface="Meiryo UI"/>
                      <a:ea typeface="Meiryo UI"/>
                    </a:rPr>
                    <a:t>取引管理</a:t>
                  </a:r>
                  <a:endParaRPr kumimoji="0" lang="en-US" altLang="ja-JP" sz="1000" b="1" kern="0">
                    <a:solidFill>
                      <a:srgbClr val="000000"/>
                    </a:solidFill>
                    <a:latin typeface="Meiryo UI"/>
                    <a:ea typeface="Meiryo UI"/>
                  </a:endParaRPr>
                </a:p>
              </p:txBody>
            </p:sp>
            <p:sp>
              <p:nvSpPr>
                <p:cNvPr id="44" name="正方形/長方形 43">
                  <a:extLst>
                    <a:ext uri="{FF2B5EF4-FFF2-40B4-BE49-F238E27FC236}">
                      <a16:creationId xmlns:a16="http://schemas.microsoft.com/office/drawing/2014/main" id="{131F2957-4B1F-9F55-F7F9-EE345D6CAA19}"/>
                    </a:ext>
                  </a:extLst>
                </p:cNvPr>
                <p:cNvSpPr/>
                <p:nvPr/>
              </p:nvSpPr>
              <p:spPr>
                <a:xfrm>
                  <a:off x="4238432" y="2101423"/>
                  <a:ext cx="867166" cy="369134"/>
                </a:xfrm>
                <a:prstGeom prst="rect">
                  <a:avLst/>
                </a:prstGeom>
                <a:solidFill>
                  <a:schemeClr val="accent2">
                    <a:lumMod val="20000"/>
                    <a:lumOff val="80000"/>
                  </a:schemeClr>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spcAft>
                      <a:spcPts val="300"/>
                    </a:spcAft>
                    <a:defRPr/>
                  </a:pPr>
                  <a:r>
                    <a:rPr kumimoji="0" lang="ja-JP" altLang="en-US" sz="1000" b="1" kern="0">
                      <a:solidFill>
                        <a:srgbClr val="000000"/>
                      </a:solidFill>
                      <a:latin typeface="Meiryo UI"/>
                      <a:ea typeface="Meiryo UI"/>
                    </a:rPr>
                    <a:t>ファンド管理</a:t>
                  </a:r>
                  <a:endParaRPr kumimoji="0" lang="en-US" altLang="ja-JP" sz="1000" b="1" kern="0">
                    <a:solidFill>
                      <a:srgbClr val="000000"/>
                    </a:solidFill>
                    <a:latin typeface="Meiryo UI"/>
                    <a:ea typeface="Meiryo UI"/>
                  </a:endParaRPr>
                </a:p>
              </p:txBody>
            </p:sp>
            <p:sp>
              <p:nvSpPr>
                <p:cNvPr id="45" name="正方形/長方形 44">
                  <a:extLst>
                    <a:ext uri="{FF2B5EF4-FFF2-40B4-BE49-F238E27FC236}">
                      <a16:creationId xmlns:a16="http://schemas.microsoft.com/office/drawing/2014/main" id="{CEB6AE1F-5D15-2B98-B076-AEEA135E567F}"/>
                    </a:ext>
                  </a:extLst>
                </p:cNvPr>
                <p:cNvSpPr/>
                <p:nvPr/>
              </p:nvSpPr>
              <p:spPr>
                <a:xfrm>
                  <a:off x="4238432" y="2470127"/>
                  <a:ext cx="867166" cy="369134"/>
                </a:xfrm>
                <a:prstGeom prst="rect">
                  <a:avLst/>
                </a:prstGeom>
                <a:solidFill>
                  <a:schemeClr val="accent2">
                    <a:lumMod val="20000"/>
                    <a:lumOff val="80000"/>
                  </a:schemeClr>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spcAft>
                      <a:spcPts val="300"/>
                    </a:spcAft>
                    <a:defRPr/>
                  </a:pPr>
                  <a:r>
                    <a:rPr kumimoji="0" lang="ja-JP" altLang="en-US" sz="1000" b="1" kern="0">
                      <a:solidFill>
                        <a:srgbClr val="000000"/>
                      </a:solidFill>
                      <a:latin typeface="Meiryo UI"/>
                      <a:ea typeface="Meiryo UI"/>
                    </a:rPr>
                    <a:t>投資銘柄管理</a:t>
                  </a:r>
                  <a:endParaRPr kumimoji="0" lang="en-US" altLang="ja-JP" sz="1000" b="1" kern="0">
                    <a:solidFill>
                      <a:srgbClr val="000000"/>
                    </a:solidFill>
                    <a:latin typeface="Meiryo UI"/>
                    <a:ea typeface="Meiryo UI"/>
                  </a:endParaRPr>
                </a:p>
              </p:txBody>
            </p:sp>
            <p:sp>
              <p:nvSpPr>
                <p:cNvPr id="36" name="正方形/長方形 35">
                  <a:extLst>
                    <a:ext uri="{FF2B5EF4-FFF2-40B4-BE49-F238E27FC236}">
                      <a16:creationId xmlns:a16="http://schemas.microsoft.com/office/drawing/2014/main" id="{A0B1BCA7-94E7-0B36-0063-84A408EEB059}"/>
                    </a:ext>
                  </a:extLst>
                </p:cNvPr>
                <p:cNvSpPr/>
                <p:nvPr/>
              </p:nvSpPr>
              <p:spPr>
                <a:xfrm>
                  <a:off x="5237962" y="3207534"/>
                  <a:ext cx="867166" cy="369134"/>
                </a:xfrm>
                <a:prstGeom prst="rect">
                  <a:avLst/>
                </a:prstGeom>
                <a:solidFill>
                  <a:schemeClr val="accent2">
                    <a:lumMod val="20000"/>
                    <a:lumOff val="80000"/>
                  </a:schemeClr>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spcAft>
                      <a:spcPts val="300"/>
                    </a:spcAft>
                    <a:defRPr/>
                  </a:pPr>
                  <a:r>
                    <a:rPr kumimoji="0" lang="ja-JP" altLang="en-US" sz="1000" b="1" kern="0" dirty="0">
                      <a:solidFill>
                        <a:srgbClr val="000000"/>
                      </a:solidFill>
                      <a:latin typeface="Meiryo UI"/>
                      <a:ea typeface="Meiryo UI"/>
                    </a:rPr>
                    <a:t>商品固有業務</a:t>
                  </a:r>
                  <a:endParaRPr kumimoji="0" lang="en-US" altLang="ja-JP" sz="1000" b="1" kern="0" dirty="0">
                    <a:solidFill>
                      <a:srgbClr val="000000"/>
                    </a:solidFill>
                    <a:latin typeface="Meiryo UI"/>
                    <a:ea typeface="Meiryo UI"/>
                  </a:endParaRPr>
                </a:p>
              </p:txBody>
            </p:sp>
            <p:sp>
              <p:nvSpPr>
                <p:cNvPr id="37" name="正方形/長方形 36">
                  <a:extLst>
                    <a:ext uri="{FF2B5EF4-FFF2-40B4-BE49-F238E27FC236}">
                      <a16:creationId xmlns:a16="http://schemas.microsoft.com/office/drawing/2014/main" id="{7790ADDB-AF57-E17C-E25B-A08BA3AC85BA}"/>
                    </a:ext>
                  </a:extLst>
                </p:cNvPr>
                <p:cNvSpPr/>
                <p:nvPr/>
              </p:nvSpPr>
              <p:spPr>
                <a:xfrm>
                  <a:off x="5237962" y="3576237"/>
                  <a:ext cx="867166" cy="369134"/>
                </a:xfrm>
                <a:prstGeom prst="rect">
                  <a:avLst/>
                </a:prstGeom>
                <a:solidFill>
                  <a:schemeClr val="accent2">
                    <a:lumMod val="20000"/>
                    <a:lumOff val="80000"/>
                  </a:schemeClr>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spcAft>
                      <a:spcPts val="300"/>
                    </a:spcAft>
                    <a:defRPr/>
                  </a:pPr>
                  <a:r>
                    <a:rPr kumimoji="0" lang="ja-JP" altLang="en-US" sz="1000" b="1" kern="0">
                      <a:solidFill>
                        <a:srgbClr val="000000"/>
                      </a:solidFill>
                      <a:latin typeface="Meiryo UI"/>
                      <a:ea typeface="Meiryo UI"/>
                    </a:rPr>
                    <a:t>レポート・データ連携</a:t>
                  </a:r>
                  <a:endParaRPr kumimoji="0" lang="en-US" altLang="ja-JP" sz="1000" b="1" kern="0">
                    <a:solidFill>
                      <a:srgbClr val="000000"/>
                    </a:solidFill>
                    <a:latin typeface="Meiryo UI"/>
                    <a:ea typeface="Meiryo UI"/>
                  </a:endParaRPr>
                </a:p>
              </p:txBody>
            </p:sp>
            <p:sp>
              <p:nvSpPr>
                <p:cNvPr id="38" name="正方形/長方形 37">
                  <a:extLst>
                    <a:ext uri="{FF2B5EF4-FFF2-40B4-BE49-F238E27FC236}">
                      <a16:creationId xmlns:a16="http://schemas.microsoft.com/office/drawing/2014/main" id="{D2012E11-5B7E-DA58-DFB8-2AFC22877A26}"/>
                    </a:ext>
                  </a:extLst>
                </p:cNvPr>
                <p:cNvSpPr/>
                <p:nvPr/>
              </p:nvSpPr>
              <p:spPr>
                <a:xfrm>
                  <a:off x="5237962" y="2838830"/>
                  <a:ext cx="867166" cy="369134"/>
                </a:xfrm>
                <a:prstGeom prst="rect">
                  <a:avLst/>
                </a:prstGeom>
                <a:solidFill>
                  <a:schemeClr val="accent2">
                    <a:lumMod val="20000"/>
                    <a:lumOff val="80000"/>
                  </a:schemeClr>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spcAft>
                      <a:spcPts val="300"/>
                    </a:spcAft>
                    <a:defRPr/>
                  </a:pPr>
                  <a:r>
                    <a:rPr kumimoji="0" lang="ja-JP" altLang="en-US" sz="1000" b="1" kern="0">
                      <a:solidFill>
                        <a:srgbClr val="000000"/>
                      </a:solidFill>
                      <a:latin typeface="Meiryo UI"/>
                      <a:ea typeface="Meiryo UI"/>
                    </a:rPr>
                    <a:t>取引管理</a:t>
                  </a:r>
                  <a:endParaRPr kumimoji="0" lang="en-US" altLang="ja-JP" sz="1000" b="1" kern="0">
                    <a:solidFill>
                      <a:srgbClr val="000000"/>
                    </a:solidFill>
                    <a:latin typeface="Meiryo UI"/>
                    <a:ea typeface="Meiryo UI"/>
                  </a:endParaRPr>
                </a:p>
              </p:txBody>
            </p:sp>
            <p:sp>
              <p:nvSpPr>
                <p:cNvPr id="39" name="正方形/長方形 38">
                  <a:extLst>
                    <a:ext uri="{FF2B5EF4-FFF2-40B4-BE49-F238E27FC236}">
                      <a16:creationId xmlns:a16="http://schemas.microsoft.com/office/drawing/2014/main" id="{D9ED0BD4-5112-42DA-1537-65D23E98EBAF}"/>
                    </a:ext>
                  </a:extLst>
                </p:cNvPr>
                <p:cNvSpPr/>
                <p:nvPr/>
              </p:nvSpPr>
              <p:spPr>
                <a:xfrm>
                  <a:off x="5237962" y="2101423"/>
                  <a:ext cx="867166" cy="369134"/>
                </a:xfrm>
                <a:prstGeom prst="rect">
                  <a:avLst/>
                </a:prstGeom>
                <a:solidFill>
                  <a:schemeClr val="accent2">
                    <a:lumMod val="20000"/>
                    <a:lumOff val="80000"/>
                  </a:schemeClr>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spcAft>
                      <a:spcPts val="300"/>
                    </a:spcAft>
                    <a:defRPr/>
                  </a:pPr>
                  <a:r>
                    <a:rPr kumimoji="0" lang="ja-JP" altLang="en-US" sz="1000" b="1" kern="0">
                      <a:solidFill>
                        <a:srgbClr val="000000"/>
                      </a:solidFill>
                      <a:latin typeface="Meiryo UI"/>
                      <a:ea typeface="Meiryo UI"/>
                    </a:rPr>
                    <a:t>ファンド管理</a:t>
                  </a:r>
                  <a:endParaRPr kumimoji="0" lang="en-US" altLang="ja-JP" sz="1000" b="1" kern="0">
                    <a:solidFill>
                      <a:srgbClr val="000000"/>
                    </a:solidFill>
                    <a:latin typeface="Meiryo UI"/>
                    <a:ea typeface="Meiryo UI"/>
                  </a:endParaRPr>
                </a:p>
              </p:txBody>
            </p:sp>
            <p:sp>
              <p:nvSpPr>
                <p:cNvPr id="40" name="正方形/長方形 39">
                  <a:extLst>
                    <a:ext uri="{FF2B5EF4-FFF2-40B4-BE49-F238E27FC236}">
                      <a16:creationId xmlns:a16="http://schemas.microsoft.com/office/drawing/2014/main" id="{A4623A2C-B0B9-280F-CD4F-9723564572BF}"/>
                    </a:ext>
                  </a:extLst>
                </p:cNvPr>
                <p:cNvSpPr/>
                <p:nvPr/>
              </p:nvSpPr>
              <p:spPr>
                <a:xfrm>
                  <a:off x="5237962" y="2470127"/>
                  <a:ext cx="867166" cy="369134"/>
                </a:xfrm>
                <a:prstGeom prst="rect">
                  <a:avLst/>
                </a:prstGeom>
                <a:solidFill>
                  <a:schemeClr val="accent2">
                    <a:lumMod val="20000"/>
                    <a:lumOff val="80000"/>
                  </a:schemeClr>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spcAft>
                      <a:spcPts val="300"/>
                    </a:spcAft>
                    <a:defRPr/>
                  </a:pPr>
                  <a:r>
                    <a:rPr kumimoji="0" lang="ja-JP" altLang="en-US" sz="1000" b="1" kern="0">
                      <a:solidFill>
                        <a:srgbClr val="000000"/>
                      </a:solidFill>
                      <a:latin typeface="Meiryo UI"/>
                      <a:ea typeface="Meiryo UI"/>
                    </a:rPr>
                    <a:t>投資銘柄管理</a:t>
                  </a:r>
                  <a:endParaRPr kumimoji="0" lang="en-US" altLang="ja-JP" sz="1000" b="1" kern="0">
                    <a:solidFill>
                      <a:srgbClr val="000000"/>
                    </a:solidFill>
                    <a:latin typeface="Meiryo UI"/>
                    <a:ea typeface="Meiryo UI"/>
                  </a:endParaRPr>
                </a:p>
              </p:txBody>
            </p:sp>
            <p:sp>
              <p:nvSpPr>
                <p:cNvPr id="34" name="正方形/長方形 33">
                  <a:extLst>
                    <a:ext uri="{FF2B5EF4-FFF2-40B4-BE49-F238E27FC236}">
                      <a16:creationId xmlns:a16="http://schemas.microsoft.com/office/drawing/2014/main" id="{1015950E-9D11-B970-CA44-CC70965DF1CC}"/>
                    </a:ext>
                  </a:extLst>
                </p:cNvPr>
                <p:cNvSpPr/>
                <p:nvPr/>
              </p:nvSpPr>
              <p:spPr>
                <a:xfrm>
                  <a:off x="4241456" y="1729242"/>
                  <a:ext cx="867166" cy="288764"/>
                </a:xfrm>
                <a:prstGeom prst="rect">
                  <a:avLst/>
                </a:prstGeom>
                <a:solidFill>
                  <a:schemeClr val="accent2"/>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kumimoji="0" lang="ja-JP" altLang="en-US" sz="1000" b="1" kern="0">
                      <a:solidFill>
                        <a:schemeClr val="bg1"/>
                      </a:solidFill>
                      <a:latin typeface="Meiryo UI"/>
                      <a:ea typeface="Meiryo UI"/>
                    </a:rPr>
                    <a:t>年金</a:t>
                  </a:r>
                  <a:endParaRPr kumimoji="0" lang="en-US" altLang="ja-JP" sz="1000" b="1" kern="0">
                    <a:solidFill>
                      <a:schemeClr val="bg1"/>
                    </a:solidFill>
                    <a:latin typeface="Meiryo UI"/>
                    <a:ea typeface="Meiryo UI"/>
                  </a:endParaRPr>
                </a:p>
              </p:txBody>
            </p:sp>
            <p:sp>
              <p:nvSpPr>
                <p:cNvPr id="35" name="正方形/長方形 34">
                  <a:extLst>
                    <a:ext uri="{FF2B5EF4-FFF2-40B4-BE49-F238E27FC236}">
                      <a16:creationId xmlns:a16="http://schemas.microsoft.com/office/drawing/2014/main" id="{BE4AF272-E103-DE51-F6E2-9726BF844764}"/>
                    </a:ext>
                  </a:extLst>
                </p:cNvPr>
                <p:cNvSpPr/>
                <p:nvPr/>
              </p:nvSpPr>
              <p:spPr>
                <a:xfrm>
                  <a:off x="5237962" y="1729242"/>
                  <a:ext cx="867166" cy="288764"/>
                </a:xfrm>
                <a:prstGeom prst="rect">
                  <a:avLst/>
                </a:prstGeom>
                <a:solidFill>
                  <a:schemeClr val="accent2"/>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kumimoji="0" lang="ja-JP" altLang="en-US" sz="1000" b="1" kern="0">
                      <a:solidFill>
                        <a:schemeClr val="bg1"/>
                      </a:solidFill>
                      <a:latin typeface="Meiryo UI"/>
                      <a:ea typeface="Meiryo UI"/>
                    </a:rPr>
                    <a:t>投信</a:t>
                  </a:r>
                  <a:endParaRPr kumimoji="0" lang="en-US" altLang="ja-JP" sz="1000" b="1" kern="0">
                    <a:solidFill>
                      <a:schemeClr val="bg1"/>
                    </a:solidFill>
                    <a:latin typeface="Meiryo UI"/>
                    <a:ea typeface="Meiryo UI"/>
                  </a:endParaRPr>
                </a:p>
              </p:txBody>
            </p:sp>
          </p:grpSp>
          <p:sp>
            <p:nvSpPr>
              <p:cNvPr id="50" name="正方形/長方形 49">
                <a:extLst>
                  <a:ext uri="{FF2B5EF4-FFF2-40B4-BE49-F238E27FC236}">
                    <a16:creationId xmlns:a16="http://schemas.microsoft.com/office/drawing/2014/main" id="{7ABF97FF-699F-9634-5859-0F524822CA18}"/>
                  </a:ext>
                </a:extLst>
              </p:cNvPr>
              <p:cNvSpPr/>
              <p:nvPr/>
            </p:nvSpPr>
            <p:spPr>
              <a:xfrm>
                <a:off x="3822906" y="3940259"/>
                <a:ext cx="360040" cy="288765"/>
              </a:xfrm>
              <a:prstGeom prst="rect">
                <a:avLst/>
              </a:prstGeom>
              <a:no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lang="en-US" altLang="ja-JP" sz="1400" b="1" kern="0">
                    <a:solidFill>
                      <a:srgbClr val="000000"/>
                    </a:solidFill>
                    <a:latin typeface="Meiryo UI"/>
                    <a:ea typeface="Meiryo UI"/>
                  </a:rPr>
                  <a:t>…</a:t>
                </a:r>
                <a:endParaRPr kumimoji="0" lang="en-US" altLang="ja-JP" sz="1400" b="1" kern="0">
                  <a:solidFill>
                    <a:srgbClr val="000000"/>
                  </a:solidFill>
                  <a:latin typeface="Meiryo UI"/>
                  <a:ea typeface="Meiryo UI"/>
                </a:endParaRPr>
              </a:p>
            </p:txBody>
          </p:sp>
          <p:sp>
            <p:nvSpPr>
              <p:cNvPr id="51" name="正方形/長方形 50">
                <a:extLst>
                  <a:ext uri="{FF2B5EF4-FFF2-40B4-BE49-F238E27FC236}">
                    <a16:creationId xmlns:a16="http://schemas.microsoft.com/office/drawing/2014/main" id="{8F8C47F3-3C87-7C41-A87A-E47586F71166}"/>
                  </a:ext>
                </a:extLst>
              </p:cNvPr>
              <p:cNvSpPr/>
              <p:nvPr/>
            </p:nvSpPr>
            <p:spPr>
              <a:xfrm rot="5400000">
                <a:off x="1805513" y="6217251"/>
                <a:ext cx="867166" cy="288764"/>
              </a:xfrm>
              <a:prstGeom prst="rect">
                <a:avLst/>
              </a:prstGeom>
              <a:no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lang="en-US" altLang="ja-JP" sz="1400" b="1" kern="0">
                    <a:solidFill>
                      <a:srgbClr val="000000"/>
                    </a:solidFill>
                    <a:latin typeface="Meiryo UI"/>
                    <a:ea typeface="Meiryo UI"/>
                  </a:rPr>
                  <a:t>…</a:t>
                </a:r>
                <a:endParaRPr kumimoji="0" lang="en-US" altLang="ja-JP" sz="1400" b="1" kern="0">
                  <a:solidFill>
                    <a:srgbClr val="000000"/>
                  </a:solidFill>
                  <a:latin typeface="Meiryo UI"/>
                  <a:ea typeface="Meiryo UI"/>
                </a:endParaRPr>
              </a:p>
            </p:txBody>
          </p:sp>
          <p:sp>
            <p:nvSpPr>
              <p:cNvPr id="52" name="正方形/長方形 51">
                <a:extLst>
                  <a:ext uri="{FF2B5EF4-FFF2-40B4-BE49-F238E27FC236}">
                    <a16:creationId xmlns:a16="http://schemas.microsoft.com/office/drawing/2014/main" id="{18B1689E-DCEC-D35B-9EFE-77DE312BD45B}"/>
                  </a:ext>
                </a:extLst>
              </p:cNvPr>
              <p:cNvSpPr/>
              <p:nvPr/>
            </p:nvSpPr>
            <p:spPr>
              <a:xfrm rot="5400000">
                <a:off x="2805043" y="6217251"/>
                <a:ext cx="867166" cy="288764"/>
              </a:xfrm>
              <a:prstGeom prst="rect">
                <a:avLst/>
              </a:prstGeom>
              <a:no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lang="en-US" altLang="ja-JP" sz="1400" b="1" kern="0">
                    <a:solidFill>
                      <a:srgbClr val="000000"/>
                    </a:solidFill>
                    <a:latin typeface="Meiryo UI"/>
                    <a:ea typeface="Meiryo UI"/>
                  </a:rPr>
                  <a:t>…</a:t>
                </a:r>
                <a:endParaRPr kumimoji="0" lang="en-US" altLang="ja-JP" sz="1400" b="1" kern="0">
                  <a:solidFill>
                    <a:srgbClr val="000000"/>
                  </a:solidFill>
                  <a:latin typeface="Meiryo UI"/>
                  <a:ea typeface="Meiryo UI"/>
                </a:endParaRPr>
              </a:p>
            </p:txBody>
          </p:sp>
        </p:grpSp>
        <p:sp>
          <p:nvSpPr>
            <p:cNvPr id="21" name="正方形/長方形 20">
              <a:extLst>
                <a:ext uri="{FF2B5EF4-FFF2-40B4-BE49-F238E27FC236}">
                  <a16:creationId xmlns:a16="http://schemas.microsoft.com/office/drawing/2014/main" id="{E54380B3-402A-5912-16E1-F2D67362B17C}"/>
                </a:ext>
              </a:extLst>
            </p:cNvPr>
            <p:cNvSpPr/>
            <p:nvPr/>
          </p:nvSpPr>
          <p:spPr>
            <a:xfrm>
              <a:off x="1067165" y="2201874"/>
              <a:ext cx="4815161" cy="456319"/>
            </a:xfrm>
            <a:prstGeom prst="rect">
              <a:avLst/>
            </a:prstGeom>
            <a:noFill/>
            <a:ln w="1905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lang="ja-JP" altLang="en-US" sz="1200" b="1" kern="0">
                  <a:solidFill>
                    <a:srgbClr val="000000"/>
                  </a:solidFill>
                  <a:latin typeface="Meiryo UI"/>
                  <a:ea typeface="Meiryo UI"/>
                </a:rPr>
                <a:t>運用会社</a:t>
              </a:r>
              <a:endParaRPr lang="en-US" altLang="ja-JP" sz="1200" b="1" kern="0">
                <a:solidFill>
                  <a:srgbClr val="000000"/>
                </a:solidFill>
                <a:latin typeface="Meiryo UI"/>
                <a:ea typeface="Meiryo UI"/>
              </a:endParaRPr>
            </a:p>
          </p:txBody>
        </p:sp>
        <p:grpSp>
          <p:nvGrpSpPr>
            <p:cNvPr id="46" name="グループ化 45">
              <a:extLst>
                <a:ext uri="{FF2B5EF4-FFF2-40B4-BE49-F238E27FC236}">
                  <a16:creationId xmlns:a16="http://schemas.microsoft.com/office/drawing/2014/main" id="{C07B9E23-A384-5BA9-8FD5-B2A652C9EFA2}"/>
                </a:ext>
              </a:extLst>
            </p:cNvPr>
            <p:cNvGrpSpPr/>
            <p:nvPr/>
          </p:nvGrpSpPr>
          <p:grpSpPr>
            <a:xfrm>
              <a:off x="3064268" y="1854207"/>
              <a:ext cx="820953" cy="319092"/>
              <a:chOff x="5788227" y="2059177"/>
              <a:chExt cx="980608" cy="319092"/>
            </a:xfrm>
          </p:grpSpPr>
          <p:grpSp>
            <p:nvGrpSpPr>
              <p:cNvPr id="48" name="グループ化 47">
                <a:extLst>
                  <a:ext uri="{FF2B5EF4-FFF2-40B4-BE49-F238E27FC236}">
                    <a16:creationId xmlns:a16="http://schemas.microsoft.com/office/drawing/2014/main" id="{DD2ABD30-108D-3FE8-322E-41962B158A74}"/>
                  </a:ext>
                </a:extLst>
              </p:cNvPr>
              <p:cNvGrpSpPr/>
              <p:nvPr/>
            </p:nvGrpSpPr>
            <p:grpSpPr>
              <a:xfrm>
                <a:off x="5788227" y="2076622"/>
                <a:ext cx="980608" cy="290378"/>
                <a:chOff x="2049409" y="3316932"/>
                <a:chExt cx="698705" cy="838501"/>
              </a:xfrm>
            </p:grpSpPr>
            <p:cxnSp>
              <p:nvCxnSpPr>
                <p:cNvPr id="24" name="直線矢印コネクタ 23">
                  <a:extLst>
                    <a:ext uri="{FF2B5EF4-FFF2-40B4-BE49-F238E27FC236}">
                      <a16:creationId xmlns:a16="http://schemas.microsoft.com/office/drawing/2014/main" id="{83612468-278C-34E9-E9E7-AB2F6F5A7116}"/>
                    </a:ext>
                  </a:extLst>
                </p:cNvPr>
                <p:cNvCxnSpPr>
                  <a:cxnSpLocks/>
                </p:cNvCxnSpPr>
                <p:nvPr/>
              </p:nvCxnSpPr>
              <p:spPr bwMode="auto">
                <a:xfrm rot="5400000">
                  <a:off x="1630158" y="3736183"/>
                  <a:ext cx="838501"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25" name="直線矢印コネクタ 24">
                  <a:extLst>
                    <a:ext uri="{FF2B5EF4-FFF2-40B4-BE49-F238E27FC236}">
                      <a16:creationId xmlns:a16="http://schemas.microsoft.com/office/drawing/2014/main" id="{76E84AE8-7B99-7E2B-4AEF-552BE762EC81}"/>
                    </a:ext>
                  </a:extLst>
                </p:cNvPr>
                <p:cNvCxnSpPr>
                  <a:cxnSpLocks/>
                </p:cNvCxnSpPr>
                <p:nvPr/>
              </p:nvCxnSpPr>
              <p:spPr bwMode="auto">
                <a:xfrm rot="5400000" flipH="1">
                  <a:off x="2328863" y="3736183"/>
                  <a:ext cx="838501" cy="0"/>
                </a:xfrm>
                <a:prstGeom prst="straightConnector1">
                  <a:avLst/>
                </a:prstGeom>
                <a:noFill/>
                <a:ln w="9525" cap="flat" cmpd="sng" algn="ctr">
                  <a:solidFill>
                    <a:schemeClr val="bg1">
                      <a:lumMod val="50000"/>
                    </a:schemeClr>
                  </a:solidFill>
                  <a:prstDash val="solid"/>
                  <a:round/>
                  <a:headEnd type="none" w="med" len="med"/>
                  <a:tailEnd type="triangle"/>
                </a:ln>
                <a:effectLst/>
              </p:spPr>
            </p:cxnSp>
          </p:grpSp>
          <p:sp>
            <p:nvSpPr>
              <p:cNvPr id="7" name="正方形/長方形 6">
                <a:extLst>
                  <a:ext uri="{FF2B5EF4-FFF2-40B4-BE49-F238E27FC236}">
                    <a16:creationId xmlns:a16="http://schemas.microsoft.com/office/drawing/2014/main" id="{80088485-24BD-15B4-B2DB-A9656F31F7F8}"/>
                  </a:ext>
                </a:extLst>
              </p:cNvPr>
              <p:cNvSpPr/>
              <p:nvPr/>
            </p:nvSpPr>
            <p:spPr bwMode="auto">
              <a:xfrm>
                <a:off x="5841322" y="2059177"/>
                <a:ext cx="874049" cy="319092"/>
              </a:xfrm>
              <a:prstGeom prst="rect">
                <a:avLst/>
              </a:prstGeom>
              <a:noFill/>
              <a:ln w="12700">
                <a:noFill/>
                <a:miter lim="800000"/>
                <a:headEnd/>
                <a:tailEnd/>
              </a:ln>
              <a:effectLst/>
            </p:spPr>
            <p:txBody>
              <a:bodyPr rot="0" spcFirstLastPara="0" vertOverflow="overflow" horzOverflow="overflow" vert="horz" wrap="none" lIns="61350" tIns="61350" rIns="61350" bIns="61350" numCol="1" spcCol="0" rtlCol="0" fromWordArt="0" anchor="ctr" anchorCtr="0" forceAA="0" compatLnSpc="1">
                <a:prstTxWarp prst="textNoShape">
                  <a:avLst/>
                </a:prstTxWarp>
                <a:noAutofit/>
              </a:bodyPr>
              <a:lstStyle/>
              <a:p>
                <a:pPr algn="ctr" defTabSz="844083" fontAlgn="auto">
                  <a:spcBef>
                    <a:spcPts val="0"/>
                  </a:spcBef>
                  <a:spcAft>
                    <a:spcPts val="256"/>
                  </a:spcAft>
                  <a:tabLst>
                    <a:tab pos="225907" algn="l"/>
                  </a:tabLst>
                </a:pPr>
                <a:r>
                  <a:rPr kumimoji="1" lang="ja-JP" altLang="en-US" sz="1050" b="1" kern="0" dirty="0">
                    <a:solidFill>
                      <a:schemeClr val="tx1">
                        <a:lumMod val="50000"/>
                        <a:lumOff val="50000"/>
                      </a:schemeClr>
                    </a:solidFill>
                    <a:latin typeface="Meiryo UI" panose="020B0604030504040204" pitchFamily="50" charset="-128"/>
                    <a:ea typeface="Meiryo UI" panose="020B0604030504040204" pitchFamily="50" charset="-128"/>
                  </a:rPr>
                  <a:t>運用委託</a:t>
                </a:r>
              </a:p>
            </p:txBody>
          </p:sp>
        </p:grpSp>
        <p:grpSp>
          <p:nvGrpSpPr>
            <p:cNvPr id="47" name="グループ化 46">
              <a:extLst>
                <a:ext uri="{FF2B5EF4-FFF2-40B4-BE49-F238E27FC236}">
                  <a16:creationId xmlns:a16="http://schemas.microsoft.com/office/drawing/2014/main" id="{4232FBC4-77E7-B495-7C0D-7C1809C1055B}"/>
                </a:ext>
              </a:extLst>
            </p:cNvPr>
            <p:cNvGrpSpPr/>
            <p:nvPr/>
          </p:nvGrpSpPr>
          <p:grpSpPr>
            <a:xfrm>
              <a:off x="3064268" y="2683184"/>
              <a:ext cx="820953" cy="319092"/>
              <a:chOff x="5788227" y="2059177"/>
              <a:chExt cx="980608" cy="319092"/>
            </a:xfrm>
          </p:grpSpPr>
          <p:grpSp>
            <p:nvGrpSpPr>
              <p:cNvPr id="49" name="グループ化 48">
                <a:extLst>
                  <a:ext uri="{FF2B5EF4-FFF2-40B4-BE49-F238E27FC236}">
                    <a16:creationId xmlns:a16="http://schemas.microsoft.com/office/drawing/2014/main" id="{A282D129-860A-D446-315D-4B6C4E29952E}"/>
                  </a:ext>
                </a:extLst>
              </p:cNvPr>
              <p:cNvGrpSpPr/>
              <p:nvPr/>
            </p:nvGrpSpPr>
            <p:grpSpPr>
              <a:xfrm>
                <a:off x="5788227" y="2076622"/>
                <a:ext cx="980608" cy="290378"/>
                <a:chOff x="2049409" y="3316932"/>
                <a:chExt cx="698705" cy="838501"/>
              </a:xfrm>
            </p:grpSpPr>
            <p:cxnSp>
              <p:nvCxnSpPr>
                <p:cNvPr id="54" name="直線矢印コネクタ 53">
                  <a:extLst>
                    <a:ext uri="{FF2B5EF4-FFF2-40B4-BE49-F238E27FC236}">
                      <a16:creationId xmlns:a16="http://schemas.microsoft.com/office/drawing/2014/main" id="{F97F4A28-A94D-2114-3F69-24017E32810E}"/>
                    </a:ext>
                  </a:extLst>
                </p:cNvPr>
                <p:cNvCxnSpPr>
                  <a:cxnSpLocks/>
                </p:cNvCxnSpPr>
                <p:nvPr/>
              </p:nvCxnSpPr>
              <p:spPr bwMode="auto">
                <a:xfrm rot="5400000">
                  <a:off x="1630158" y="3736183"/>
                  <a:ext cx="838501"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55" name="直線矢印コネクタ 54">
                  <a:extLst>
                    <a:ext uri="{FF2B5EF4-FFF2-40B4-BE49-F238E27FC236}">
                      <a16:creationId xmlns:a16="http://schemas.microsoft.com/office/drawing/2014/main" id="{B37C1BB3-724F-FF88-85E4-82EFB981BD73}"/>
                    </a:ext>
                  </a:extLst>
                </p:cNvPr>
                <p:cNvCxnSpPr>
                  <a:cxnSpLocks/>
                </p:cNvCxnSpPr>
                <p:nvPr/>
              </p:nvCxnSpPr>
              <p:spPr bwMode="auto">
                <a:xfrm rot="5400000" flipH="1">
                  <a:off x="2328863" y="3736183"/>
                  <a:ext cx="838501" cy="0"/>
                </a:xfrm>
                <a:prstGeom prst="straightConnector1">
                  <a:avLst/>
                </a:prstGeom>
                <a:noFill/>
                <a:ln w="9525" cap="flat" cmpd="sng" algn="ctr">
                  <a:solidFill>
                    <a:schemeClr val="bg1">
                      <a:lumMod val="50000"/>
                    </a:schemeClr>
                  </a:solidFill>
                  <a:prstDash val="solid"/>
                  <a:round/>
                  <a:headEnd type="none" w="med" len="med"/>
                  <a:tailEnd type="triangle"/>
                </a:ln>
                <a:effectLst/>
              </p:spPr>
            </p:cxnSp>
          </p:grpSp>
          <p:sp>
            <p:nvSpPr>
              <p:cNvPr id="53" name="正方形/長方形 52">
                <a:extLst>
                  <a:ext uri="{FF2B5EF4-FFF2-40B4-BE49-F238E27FC236}">
                    <a16:creationId xmlns:a16="http://schemas.microsoft.com/office/drawing/2014/main" id="{93E9897F-19D8-EEB5-E5FC-128F5C16C920}"/>
                  </a:ext>
                </a:extLst>
              </p:cNvPr>
              <p:cNvSpPr/>
              <p:nvPr/>
            </p:nvSpPr>
            <p:spPr bwMode="auto">
              <a:xfrm>
                <a:off x="5841322" y="2059177"/>
                <a:ext cx="874049" cy="319092"/>
              </a:xfrm>
              <a:prstGeom prst="rect">
                <a:avLst/>
              </a:prstGeom>
              <a:noFill/>
              <a:ln w="12700">
                <a:noFill/>
                <a:miter lim="800000"/>
                <a:headEnd/>
                <a:tailEnd/>
              </a:ln>
              <a:effectLst/>
            </p:spPr>
            <p:txBody>
              <a:bodyPr rot="0" spcFirstLastPara="0" vertOverflow="overflow" horzOverflow="overflow" vert="horz" wrap="none" lIns="61350" tIns="61350" rIns="61350" bIns="61350" numCol="1" spcCol="0" rtlCol="0" fromWordArt="0" anchor="ctr" anchorCtr="0" forceAA="0" compatLnSpc="1">
                <a:prstTxWarp prst="textNoShape">
                  <a:avLst/>
                </a:prstTxWarp>
                <a:noAutofit/>
              </a:bodyPr>
              <a:lstStyle/>
              <a:p>
                <a:pPr algn="ctr" defTabSz="844083" fontAlgn="auto">
                  <a:spcBef>
                    <a:spcPts val="0"/>
                  </a:spcBef>
                  <a:spcAft>
                    <a:spcPts val="256"/>
                  </a:spcAft>
                  <a:tabLst>
                    <a:tab pos="225907" algn="l"/>
                  </a:tabLst>
                </a:pPr>
                <a:r>
                  <a:rPr kumimoji="1" lang="ja-JP" altLang="en-US" sz="1050" b="1" kern="0" dirty="0">
                    <a:solidFill>
                      <a:schemeClr val="tx1">
                        <a:lumMod val="50000"/>
                        <a:lumOff val="50000"/>
                      </a:schemeClr>
                    </a:solidFill>
                    <a:latin typeface="Meiryo UI" panose="020B0604030504040204" pitchFamily="50" charset="-128"/>
                    <a:ea typeface="Meiryo UI" panose="020B0604030504040204" pitchFamily="50" charset="-128"/>
                  </a:rPr>
                  <a:t>信託</a:t>
                </a:r>
                <a:r>
                  <a:rPr kumimoji="1" lang="en-US" altLang="ja-JP" sz="1050" b="1" kern="0" dirty="0">
                    <a:solidFill>
                      <a:schemeClr val="tx1">
                        <a:lumMod val="50000"/>
                        <a:lumOff val="50000"/>
                      </a:schemeClr>
                    </a:solidFill>
                    <a:latin typeface="Meiryo UI" panose="020B0604030504040204" pitchFamily="50" charset="-128"/>
                    <a:ea typeface="Meiryo UI" panose="020B0604030504040204" pitchFamily="50" charset="-128"/>
                  </a:rPr>
                  <a:t>/</a:t>
                </a:r>
                <a:r>
                  <a:rPr kumimoji="1" lang="ja-JP" altLang="en-US" sz="1050" b="1" kern="0" dirty="0">
                    <a:solidFill>
                      <a:schemeClr val="tx1">
                        <a:lumMod val="50000"/>
                        <a:lumOff val="50000"/>
                      </a:schemeClr>
                    </a:solidFill>
                    <a:latin typeface="Meiryo UI" panose="020B0604030504040204" pitchFamily="50" charset="-128"/>
                    <a:ea typeface="Meiryo UI" panose="020B0604030504040204" pitchFamily="50" charset="-128"/>
                  </a:rPr>
                  <a:t>常代</a:t>
                </a:r>
              </a:p>
            </p:txBody>
          </p:sp>
        </p:grpSp>
        <p:grpSp>
          <p:nvGrpSpPr>
            <p:cNvPr id="58" name="グループ化 57">
              <a:extLst>
                <a:ext uri="{FF2B5EF4-FFF2-40B4-BE49-F238E27FC236}">
                  <a16:creationId xmlns:a16="http://schemas.microsoft.com/office/drawing/2014/main" id="{7F8AB3BF-E531-F606-6A8A-C032542DB441}"/>
                </a:ext>
              </a:extLst>
            </p:cNvPr>
            <p:cNvGrpSpPr/>
            <p:nvPr/>
          </p:nvGrpSpPr>
          <p:grpSpPr>
            <a:xfrm>
              <a:off x="6135916" y="1922173"/>
              <a:ext cx="889186" cy="1080103"/>
              <a:chOff x="5788227" y="2059177"/>
              <a:chExt cx="980608" cy="319092"/>
            </a:xfrm>
          </p:grpSpPr>
          <p:grpSp>
            <p:nvGrpSpPr>
              <p:cNvPr id="59" name="グループ化 58">
                <a:extLst>
                  <a:ext uri="{FF2B5EF4-FFF2-40B4-BE49-F238E27FC236}">
                    <a16:creationId xmlns:a16="http://schemas.microsoft.com/office/drawing/2014/main" id="{78E2FBAD-F244-1BA2-A9B5-7977A516267D}"/>
                  </a:ext>
                </a:extLst>
              </p:cNvPr>
              <p:cNvGrpSpPr/>
              <p:nvPr/>
            </p:nvGrpSpPr>
            <p:grpSpPr>
              <a:xfrm>
                <a:off x="5788227" y="2076622"/>
                <a:ext cx="980608" cy="290378"/>
                <a:chOff x="2049409" y="3316932"/>
                <a:chExt cx="698705" cy="838501"/>
              </a:xfrm>
            </p:grpSpPr>
            <p:cxnSp>
              <p:nvCxnSpPr>
                <p:cNvPr id="61" name="直線矢印コネクタ 60">
                  <a:extLst>
                    <a:ext uri="{FF2B5EF4-FFF2-40B4-BE49-F238E27FC236}">
                      <a16:creationId xmlns:a16="http://schemas.microsoft.com/office/drawing/2014/main" id="{2318AAAC-AA2E-6C86-BB55-838E4ED5066D}"/>
                    </a:ext>
                  </a:extLst>
                </p:cNvPr>
                <p:cNvCxnSpPr>
                  <a:cxnSpLocks/>
                </p:cNvCxnSpPr>
                <p:nvPr/>
              </p:nvCxnSpPr>
              <p:spPr bwMode="auto">
                <a:xfrm rot="5400000">
                  <a:off x="1630158" y="3736183"/>
                  <a:ext cx="838501"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62" name="直線矢印コネクタ 61">
                  <a:extLst>
                    <a:ext uri="{FF2B5EF4-FFF2-40B4-BE49-F238E27FC236}">
                      <a16:creationId xmlns:a16="http://schemas.microsoft.com/office/drawing/2014/main" id="{562DAC04-40A5-C521-C6C7-BB3EF03082BF}"/>
                    </a:ext>
                  </a:extLst>
                </p:cNvPr>
                <p:cNvCxnSpPr>
                  <a:cxnSpLocks/>
                </p:cNvCxnSpPr>
                <p:nvPr/>
              </p:nvCxnSpPr>
              <p:spPr bwMode="auto">
                <a:xfrm rot="5400000" flipH="1">
                  <a:off x="2328863" y="3736183"/>
                  <a:ext cx="838501" cy="0"/>
                </a:xfrm>
                <a:prstGeom prst="straightConnector1">
                  <a:avLst/>
                </a:prstGeom>
                <a:noFill/>
                <a:ln w="9525" cap="flat" cmpd="sng" algn="ctr">
                  <a:solidFill>
                    <a:schemeClr val="bg1">
                      <a:lumMod val="50000"/>
                    </a:schemeClr>
                  </a:solidFill>
                  <a:prstDash val="solid"/>
                  <a:round/>
                  <a:headEnd type="none" w="med" len="med"/>
                  <a:tailEnd type="triangle"/>
                </a:ln>
                <a:effectLst/>
              </p:spPr>
            </p:cxnSp>
          </p:grpSp>
          <p:sp>
            <p:nvSpPr>
              <p:cNvPr id="60" name="正方形/長方形 59">
                <a:extLst>
                  <a:ext uri="{FF2B5EF4-FFF2-40B4-BE49-F238E27FC236}">
                    <a16:creationId xmlns:a16="http://schemas.microsoft.com/office/drawing/2014/main" id="{A114EFAB-01AC-2229-CFAB-7B7BBA7ADFF5}"/>
                  </a:ext>
                </a:extLst>
              </p:cNvPr>
              <p:cNvSpPr/>
              <p:nvPr/>
            </p:nvSpPr>
            <p:spPr bwMode="auto">
              <a:xfrm>
                <a:off x="5841322" y="2059177"/>
                <a:ext cx="874049" cy="319092"/>
              </a:xfrm>
              <a:prstGeom prst="rect">
                <a:avLst/>
              </a:prstGeom>
              <a:noFill/>
              <a:ln w="12700">
                <a:noFill/>
                <a:miter lim="800000"/>
                <a:headEnd/>
                <a:tailEnd/>
              </a:ln>
              <a:effectLst/>
            </p:spPr>
            <p:txBody>
              <a:bodyPr rot="0" spcFirstLastPara="0" vertOverflow="overflow" horzOverflow="overflow" vert="horz" wrap="none" lIns="61350" tIns="61350" rIns="61350" bIns="61350" numCol="1" spcCol="0" rtlCol="0" fromWordArt="0" anchor="ctr" anchorCtr="0" forceAA="0" compatLnSpc="1">
                <a:prstTxWarp prst="textNoShape">
                  <a:avLst/>
                </a:prstTxWarp>
                <a:noAutofit/>
              </a:bodyPr>
              <a:lstStyle/>
              <a:p>
                <a:pPr algn="ctr" defTabSz="844083" fontAlgn="auto">
                  <a:spcBef>
                    <a:spcPts val="0"/>
                  </a:spcBef>
                  <a:spcAft>
                    <a:spcPts val="256"/>
                  </a:spcAft>
                  <a:tabLst>
                    <a:tab pos="225907" algn="l"/>
                  </a:tabLst>
                </a:pPr>
                <a:r>
                  <a:rPr kumimoji="1" lang="ja-JP" altLang="en-US" sz="1050" b="1" kern="0" dirty="0">
                    <a:solidFill>
                      <a:schemeClr val="tx1">
                        <a:lumMod val="50000"/>
                        <a:lumOff val="50000"/>
                      </a:schemeClr>
                    </a:solidFill>
                    <a:latin typeface="Meiryo UI" panose="020B0604030504040204" pitchFamily="50" charset="-128"/>
                    <a:ea typeface="Meiryo UI" panose="020B0604030504040204" pitchFamily="50" charset="-128"/>
                  </a:rPr>
                  <a:t>信託</a:t>
                </a:r>
                <a:r>
                  <a:rPr kumimoji="1" lang="en-US" altLang="ja-JP" sz="1050" b="1" kern="0" dirty="0">
                    <a:solidFill>
                      <a:schemeClr val="tx1">
                        <a:lumMod val="50000"/>
                        <a:lumOff val="50000"/>
                      </a:schemeClr>
                    </a:solidFill>
                    <a:latin typeface="Meiryo UI" panose="020B0604030504040204" pitchFamily="50" charset="-128"/>
                    <a:ea typeface="Meiryo UI" panose="020B0604030504040204" pitchFamily="50" charset="-128"/>
                  </a:rPr>
                  <a:t>/</a:t>
                </a:r>
                <a:r>
                  <a:rPr kumimoji="1" lang="ja-JP" altLang="en-US" sz="1050" b="1" kern="0" dirty="0">
                    <a:solidFill>
                      <a:schemeClr val="tx1">
                        <a:lumMod val="50000"/>
                        <a:lumOff val="50000"/>
                      </a:schemeClr>
                    </a:solidFill>
                    <a:latin typeface="Meiryo UI" panose="020B0604030504040204" pitchFamily="50" charset="-128"/>
                    <a:ea typeface="Meiryo UI" panose="020B0604030504040204" pitchFamily="50" charset="-128"/>
                  </a:rPr>
                  <a:t>常代</a:t>
                </a:r>
              </a:p>
            </p:txBody>
          </p:sp>
        </p:grpSp>
        <p:sp>
          <p:nvSpPr>
            <p:cNvPr id="70" name="正方形/長方形 69">
              <a:extLst>
                <a:ext uri="{FF2B5EF4-FFF2-40B4-BE49-F238E27FC236}">
                  <a16:creationId xmlns:a16="http://schemas.microsoft.com/office/drawing/2014/main" id="{B0E2C099-BA17-CD30-F6B2-15155CE8D80C}"/>
                </a:ext>
              </a:extLst>
            </p:cNvPr>
            <p:cNvSpPr/>
            <p:nvPr/>
          </p:nvSpPr>
          <p:spPr>
            <a:xfrm>
              <a:off x="1067165" y="3760551"/>
              <a:ext cx="6380010" cy="1796220"/>
            </a:xfrm>
            <a:prstGeom prst="rect">
              <a:avLst/>
            </a:prstGeom>
            <a:noFill/>
            <a:ln w="28575" cap="flat" cmpd="sng" algn="ctr">
              <a:solidFill>
                <a:schemeClr val="accent2"/>
              </a:solid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fontAlgn="base">
                <a:spcAft>
                  <a:spcPts val="300"/>
                </a:spcAft>
                <a:defRPr/>
              </a:pPr>
              <a:r>
                <a:rPr lang="ja-JP" altLang="en-US" sz="1200" b="1" kern="0" dirty="0">
                  <a:solidFill>
                    <a:srgbClr val="000000"/>
                  </a:solidFill>
                  <a:latin typeface="Meiryo UI"/>
                  <a:ea typeface="Meiryo UI"/>
                </a:rPr>
                <a:t>カストディ</a:t>
              </a:r>
              <a:endParaRPr lang="en-US" altLang="ja-JP" sz="1200" b="1" kern="0" dirty="0">
                <a:solidFill>
                  <a:srgbClr val="000000"/>
                </a:solidFill>
                <a:latin typeface="Meiryo UI"/>
                <a:ea typeface="Meiryo UI"/>
              </a:endParaRPr>
            </a:p>
          </p:txBody>
        </p:sp>
        <p:sp>
          <p:nvSpPr>
            <p:cNvPr id="74" name="正方形/長方形 73">
              <a:extLst>
                <a:ext uri="{FF2B5EF4-FFF2-40B4-BE49-F238E27FC236}">
                  <a16:creationId xmlns:a16="http://schemas.microsoft.com/office/drawing/2014/main" id="{8634B65F-883E-23DE-7C5E-8B63E1768614}"/>
                </a:ext>
              </a:extLst>
            </p:cNvPr>
            <p:cNvSpPr/>
            <p:nvPr/>
          </p:nvSpPr>
          <p:spPr>
            <a:xfrm>
              <a:off x="1067165" y="3079210"/>
              <a:ext cx="6380009" cy="456319"/>
            </a:xfrm>
            <a:prstGeom prst="rect">
              <a:avLst/>
            </a:prstGeom>
            <a:noFill/>
            <a:ln w="1905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lang="ja-JP" altLang="en-US" sz="1200" b="1" kern="0" dirty="0">
                  <a:solidFill>
                    <a:srgbClr val="000000"/>
                  </a:solidFill>
                  <a:latin typeface="Meiryo UI"/>
                  <a:ea typeface="Meiryo UI"/>
                </a:rPr>
                <a:t>信託会社（</a:t>
              </a:r>
              <a:r>
                <a:rPr lang="en-US" altLang="ja-JP" sz="1200" b="1" kern="0" dirty="0">
                  <a:solidFill>
                    <a:srgbClr val="000000"/>
                  </a:solidFill>
                  <a:latin typeface="Meiryo UI"/>
                  <a:ea typeface="Meiryo UI"/>
                </a:rPr>
                <a:t>※</a:t>
              </a:r>
              <a:r>
                <a:rPr lang="ja-JP" altLang="en-US" sz="1200" b="1" kern="0" dirty="0">
                  <a:solidFill>
                    <a:srgbClr val="000000"/>
                  </a:solidFill>
                  <a:latin typeface="Meiryo UI"/>
                  <a:ea typeface="Meiryo UI"/>
                </a:rPr>
                <a:t>）</a:t>
              </a:r>
              <a:endParaRPr lang="en-US" altLang="ja-JP" sz="1200" b="1" kern="0" dirty="0">
                <a:solidFill>
                  <a:srgbClr val="000000"/>
                </a:solidFill>
                <a:latin typeface="Meiryo UI"/>
                <a:ea typeface="Meiryo UI"/>
              </a:endParaRPr>
            </a:p>
          </p:txBody>
        </p:sp>
        <p:grpSp>
          <p:nvGrpSpPr>
            <p:cNvPr id="77" name="グループ化 76">
              <a:extLst>
                <a:ext uri="{FF2B5EF4-FFF2-40B4-BE49-F238E27FC236}">
                  <a16:creationId xmlns:a16="http://schemas.microsoft.com/office/drawing/2014/main" id="{DD88C0BE-F966-91EC-C676-DD0468F7C310}"/>
                </a:ext>
              </a:extLst>
            </p:cNvPr>
            <p:cNvGrpSpPr/>
            <p:nvPr/>
          </p:nvGrpSpPr>
          <p:grpSpPr>
            <a:xfrm>
              <a:off x="3822180" y="3579347"/>
              <a:ext cx="820953" cy="154101"/>
              <a:chOff x="2049409" y="3316932"/>
              <a:chExt cx="698705" cy="838501"/>
            </a:xfrm>
          </p:grpSpPr>
          <p:cxnSp>
            <p:nvCxnSpPr>
              <p:cNvPr id="79" name="直線矢印コネクタ 78">
                <a:extLst>
                  <a:ext uri="{FF2B5EF4-FFF2-40B4-BE49-F238E27FC236}">
                    <a16:creationId xmlns:a16="http://schemas.microsoft.com/office/drawing/2014/main" id="{D012F913-03C9-F6B9-D72C-A46258F88C3C}"/>
                  </a:ext>
                </a:extLst>
              </p:cNvPr>
              <p:cNvCxnSpPr>
                <a:cxnSpLocks/>
              </p:cNvCxnSpPr>
              <p:nvPr/>
            </p:nvCxnSpPr>
            <p:spPr bwMode="auto">
              <a:xfrm rot="5400000">
                <a:off x="1630158" y="3736183"/>
                <a:ext cx="838501"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80" name="直線矢印コネクタ 79">
                <a:extLst>
                  <a:ext uri="{FF2B5EF4-FFF2-40B4-BE49-F238E27FC236}">
                    <a16:creationId xmlns:a16="http://schemas.microsoft.com/office/drawing/2014/main" id="{2466E355-6710-3C6A-060C-DCA233C45B81}"/>
                  </a:ext>
                </a:extLst>
              </p:cNvPr>
              <p:cNvCxnSpPr>
                <a:cxnSpLocks/>
              </p:cNvCxnSpPr>
              <p:nvPr/>
            </p:nvCxnSpPr>
            <p:spPr bwMode="auto">
              <a:xfrm rot="5400000" flipH="1">
                <a:off x="2328863" y="3736183"/>
                <a:ext cx="838501" cy="0"/>
              </a:xfrm>
              <a:prstGeom prst="straightConnector1">
                <a:avLst/>
              </a:prstGeom>
              <a:noFill/>
              <a:ln w="9525" cap="flat" cmpd="sng" algn="ctr">
                <a:solidFill>
                  <a:schemeClr val="bg1">
                    <a:lumMod val="50000"/>
                  </a:schemeClr>
                </a:solidFill>
                <a:prstDash val="solid"/>
                <a:round/>
                <a:headEnd type="none" w="med" len="med"/>
                <a:tailEnd type="triangle"/>
              </a:ln>
              <a:effectLst/>
            </p:spPr>
          </p:cxnSp>
        </p:grpSp>
        <p:grpSp>
          <p:nvGrpSpPr>
            <p:cNvPr id="83" name="グループ化 82">
              <a:extLst>
                <a:ext uri="{FF2B5EF4-FFF2-40B4-BE49-F238E27FC236}">
                  <a16:creationId xmlns:a16="http://schemas.microsoft.com/office/drawing/2014/main" id="{BAD4C9F2-36F0-BF96-D633-34F563FA7BD1}"/>
                </a:ext>
              </a:extLst>
            </p:cNvPr>
            <p:cNvGrpSpPr/>
            <p:nvPr/>
          </p:nvGrpSpPr>
          <p:grpSpPr>
            <a:xfrm>
              <a:off x="7491860" y="5099087"/>
              <a:ext cx="324435" cy="243201"/>
              <a:chOff x="11378520" y="3591845"/>
              <a:chExt cx="515170" cy="243201"/>
            </a:xfrm>
          </p:grpSpPr>
          <p:cxnSp>
            <p:nvCxnSpPr>
              <p:cNvPr id="84" name="直線矢印コネクタ 83">
                <a:extLst>
                  <a:ext uri="{FF2B5EF4-FFF2-40B4-BE49-F238E27FC236}">
                    <a16:creationId xmlns:a16="http://schemas.microsoft.com/office/drawing/2014/main" id="{F3A38CC3-130D-E00C-2ECE-9DA6E19D8DD6}"/>
                  </a:ext>
                </a:extLst>
              </p:cNvPr>
              <p:cNvCxnSpPr/>
              <p:nvPr/>
            </p:nvCxnSpPr>
            <p:spPr bwMode="auto">
              <a:xfrm>
                <a:off x="11378520" y="3591845"/>
                <a:ext cx="515170"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85" name="直線矢印コネクタ 84">
                <a:extLst>
                  <a:ext uri="{FF2B5EF4-FFF2-40B4-BE49-F238E27FC236}">
                    <a16:creationId xmlns:a16="http://schemas.microsoft.com/office/drawing/2014/main" id="{32C32AA1-5811-AD26-7336-2BBC868ACCA3}"/>
                  </a:ext>
                </a:extLst>
              </p:cNvPr>
              <p:cNvCxnSpPr>
                <a:cxnSpLocks/>
              </p:cNvCxnSpPr>
              <p:nvPr/>
            </p:nvCxnSpPr>
            <p:spPr bwMode="auto">
              <a:xfrm flipH="1">
                <a:off x="11378520" y="3835046"/>
                <a:ext cx="515170" cy="0"/>
              </a:xfrm>
              <a:prstGeom prst="straightConnector1">
                <a:avLst/>
              </a:prstGeom>
              <a:noFill/>
              <a:ln w="9525" cap="flat" cmpd="sng" algn="ctr">
                <a:solidFill>
                  <a:schemeClr val="bg1">
                    <a:lumMod val="50000"/>
                  </a:schemeClr>
                </a:solidFill>
                <a:prstDash val="solid"/>
                <a:round/>
                <a:headEnd type="none" w="med" len="med"/>
                <a:tailEnd type="triangle"/>
              </a:ln>
              <a:effectLst/>
            </p:spPr>
          </p:cxnSp>
        </p:grpSp>
        <p:grpSp>
          <p:nvGrpSpPr>
            <p:cNvPr id="86" name="グループ化 85">
              <a:extLst>
                <a:ext uri="{FF2B5EF4-FFF2-40B4-BE49-F238E27FC236}">
                  <a16:creationId xmlns:a16="http://schemas.microsoft.com/office/drawing/2014/main" id="{1A3F3068-16B9-5551-E789-37B9B4A56350}"/>
                </a:ext>
              </a:extLst>
            </p:cNvPr>
            <p:cNvGrpSpPr/>
            <p:nvPr/>
          </p:nvGrpSpPr>
          <p:grpSpPr>
            <a:xfrm>
              <a:off x="7508189" y="4480421"/>
              <a:ext cx="1227817" cy="243201"/>
              <a:chOff x="11378520" y="3591845"/>
              <a:chExt cx="515170" cy="243201"/>
            </a:xfrm>
          </p:grpSpPr>
          <p:cxnSp>
            <p:nvCxnSpPr>
              <p:cNvPr id="87" name="直線矢印コネクタ 86">
                <a:extLst>
                  <a:ext uri="{FF2B5EF4-FFF2-40B4-BE49-F238E27FC236}">
                    <a16:creationId xmlns:a16="http://schemas.microsoft.com/office/drawing/2014/main" id="{F00CA2B3-DBC4-CF30-CE19-3726D49F8467}"/>
                  </a:ext>
                </a:extLst>
              </p:cNvPr>
              <p:cNvCxnSpPr/>
              <p:nvPr/>
            </p:nvCxnSpPr>
            <p:spPr bwMode="auto">
              <a:xfrm>
                <a:off x="11378520" y="3591845"/>
                <a:ext cx="515170"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88" name="直線矢印コネクタ 87">
                <a:extLst>
                  <a:ext uri="{FF2B5EF4-FFF2-40B4-BE49-F238E27FC236}">
                    <a16:creationId xmlns:a16="http://schemas.microsoft.com/office/drawing/2014/main" id="{11796DEF-3ECF-D51A-5966-9D0A932BAFAC}"/>
                  </a:ext>
                </a:extLst>
              </p:cNvPr>
              <p:cNvCxnSpPr>
                <a:cxnSpLocks/>
              </p:cNvCxnSpPr>
              <p:nvPr/>
            </p:nvCxnSpPr>
            <p:spPr bwMode="auto">
              <a:xfrm flipH="1">
                <a:off x="11378520" y="3835046"/>
                <a:ext cx="515170" cy="0"/>
              </a:xfrm>
              <a:prstGeom prst="straightConnector1">
                <a:avLst/>
              </a:prstGeom>
              <a:noFill/>
              <a:ln w="9525" cap="flat" cmpd="sng" algn="ctr">
                <a:solidFill>
                  <a:schemeClr val="bg1">
                    <a:lumMod val="50000"/>
                  </a:schemeClr>
                </a:solidFill>
                <a:prstDash val="solid"/>
                <a:round/>
                <a:headEnd type="none" w="med" len="med"/>
                <a:tailEnd type="triangle"/>
              </a:ln>
              <a:effectLst/>
            </p:spPr>
          </p:cxnSp>
        </p:grpSp>
        <p:grpSp>
          <p:nvGrpSpPr>
            <p:cNvPr id="89" name="グループ化 88">
              <a:extLst>
                <a:ext uri="{FF2B5EF4-FFF2-40B4-BE49-F238E27FC236}">
                  <a16:creationId xmlns:a16="http://schemas.microsoft.com/office/drawing/2014/main" id="{8A4FA574-3106-F1A3-0293-3FBCDAA83630}"/>
                </a:ext>
              </a:extLst>
            </p:cNvPr>
            <p:cNvGrpSpPr/>
            <p:nvPr/>
          </p:nvGrpSpPr>
          <p:grpSpPr>
            <a:xfrm>
              <a:off x="8610451" y="5090825"/>
              <a:ext cx="177135" cy="243201"/>
              <a:chOff x="11378520" y="3591845"/>
              <a:chExt cx="515170" cy="243201"/>
            </a:xfrm>
          </p:grpSpPr>
          <p:cxnSp>
            <p:nvCxnSpPr>
              <p:cNvPr id="90" name="直線矢印コネクタ 89">
                <a:extLst>
                  <a:ext uri="{FF2B5EF4-FFF2-40B4-BE49-F238E27FC236}">
                    <a16:creationId xmlns:a16="http://schemas.microsoft.com/office/drawing/2014/main" id="{76968CCE-2B3C-D565-4555-0A5CD75109A8}"/>
                  </a:ext>
                </a:extLst>
              </p:cNvPr>
              <p:cNvCxnSpPr/>
              <p:nvPr/>
            </p:nvCxnSpPr>
            <p:spPr bwMode="auto">
              <a:xfrm>
                <a:off x="11378520" y="3591845"/>
                <a:ext cx="515170"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91" name="直線矢印コネクタ 90">
                <a:extLst>
                  <a:ext uri="{FF2B5EF4-FFF2-40B4-BE49-F238E27FC236}">
                    <a16:creationId xmlns:a16="http://schemas.microsoft.com/office/drawing/2014/main" id="{F32FB8C8-F26D-FD6B-7C71-085358593EB0}"/>
                  </a:ext>
                </a:extLst>
              </p:cNvPr>
              <p:cNvCxnSpPr>
                <a:cxnSpLocks/>
              </p:cNvCxnSpPr>
              <p:nvPr/>
            </p:nvCxnSpPr>
            <p:spPr bwMode="auto">
              <a:xfrm flipH="1">
                <a:off x="11378520" y="3835046"/>
                <a:ext cx="515170" cy="0"/>
              </a:xfrm>
              <a:prstGeom prst="straightConnector1">
                <a:avLst/>
              </a:prstGeom>
              <a:noFill/>
              <a:ln w="9525" cap="flat" cmpd="sng" algn="ctr">
                <a:solidFill>
                  <a:schemeClr val="bg1">
                    <a:lumMod val="50000"/>
                  </a:schemeClr>
                </a:solidFill>
                <a:prstDash val="solid"/>
                <a:round/>
                <a:headEnd type="none" w="med" len="med"/>
                <a:tailEnd type="triangle"/>
              </a:ln>
              <a:effectLst/>
            </p:spPr>
          </p:cxnSp>
        </p:grpSp>
        <p:sp>
          <p:nvSpPr>
            <p:cNvPr id="92" name="正方形/長方形 91">
              <a:extLst>
                <a:ext uri="{FF2B5EF4-FFF2-40B4-BE49-F238E27FC236}">
                  <a16:creationId xmlns:a16="http://schemas.microsoft.com/office/drawing/2014/main" id="{A184336A-BFA0-1D01-7158-C493BB333699}"/>
                </a:ext>
              </a:extLst>
            </p:cNvPr>
            <p:cNvSpPr/>
            <p:nvPr/>
          </p:nvSpPr>
          <p:spPr>
            <a:xfrm>
              <a:off x="1060270" y="5889722"/>
              <a:ext cx="4001257" cy="459470"/>
            </a:xfrm>
            <a:prstGeom prst="rect">
              <a:avLst/>
            </a:prstGeom>
            <a:noFill/>
            <a:ln w="28575" cap="flat" cmpd="sng" algn="ctr">
              <a:solidFill>
                <a:schemeClr val="accent2"/>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lang="ja-JP" altLang="en-US" sz="1200" b="1" kern="0" dirty="0">
                  <a:solidFill>
                    <a:srgbClr val="000000"/>
                  </a:solidFill>
                  <a:latin typeface="Meiryo UI"/>
                  <a:ea typeface="Meiryo UI"/>
                </a:rPr>
                <a:t>サブカストディ</a:t>
              </a:r>
              <a:endParaRPr lang="en-US" altLang="ja-JP" sz="1200" b="1" kern="0" dirty="0">
                <a:solidFill>
                  <a:srgbClr val="000000"/>
                </a:solidFill>
                <a:latin typeface="Meiryo UI"/>
                <a:ea typeface="Meiryo UI"/>
              </a:endParaRPr>
            </a:p>
            <a:p>
              <a:pPr algn="ctr" fontAlgn="base">
                <a:spcAft>
                  <a:spcPts val="300"/>
                </a:spcAft>
                <a:defRPr/>
              </a:pPr>
              <a:r>
                <a:rPr lang="ja-JP" altLang="en-US" sz="1050" b="1" kern="0" dirty="0">
                  <a:solidFill>
                    <a:srgbClr val="000000"/>
                  </a:solidFill>
                  <a:latin typeface="Meiryo UI"/>
                  <a:ea typeface="Meiryo UI"/>
                </a:rPr>
                <a:t>（海外）</a:t>
              </a:r>
              <a:endParaRPr lang="en-US" altLang="ja-JP" sz="1050" b="1" kern="0" dirty="0">
                <a:solidFill>
                  <a:srgbClr val="000000"/>
                </a:solidFill>
                <a:latin typeface="Meiryo UI"/>
                <a:ea typeface="Meiryo UI"/>
              </a:endParaRPr>
            </a:p>
          </p:txBody>
        </p:sp>
        <p:grpSp>
          <p:nvGrpSpPr>
            <p:cNvPr id="93" name="グループ化 92">
              <a:extLst>
                <a:ext uri="{FF2B5EF4-FFF2-40B4-BE49-F238E27FC236}">
                  <a16:creationId xmlns:a16="http://schemas.microsoft.com/office/drawing/2014/main" id="{EC710333-EE94-9362-2A23-0CFFAE7C0F73}"/>
                </a:ext>
              </a:extLst>
            </p:cNvPr>
            <p:cNvGrpSpPr/>
            <p:nvPr/>
          </p:nvGrpSpPr>
          <p:grpSpPr>
            <a:xfrm>
              <a:off x="2860554" y="5596761"/>
              <a:ext cx="488443" cy="271073"/>
              <a:chOff x="2332405" y="3316932"/>
              <a:chExt cx="415709" cy="838529"/>
            </a:xfrm>
          </p:grpSpPr>
          <p:cxnSp>
            <p:nvCxnSpPr>
              <p:cNvPr id="94" name="直線矢印コネクタ 93">
                <a:extLst>
                  <a:ext uri="{FF2B5EF4-FFF2-40B4-BE49-F238E27FC236}">
                    <a16:creationId xmlns:a16="http://schemas.microsoft.com/office/drawing/2014/main" id="{18A5AAB4-7171-69F2-8551-2B385C1E6654}"/>
                  </a:ext>
                </a:extLst>
              </p:cNvPr>
              <p:cNvCxnSpPr>
                <a:cxnSpLocks/>
              </p:cNvCxnSpPr>
              <p:nvPr/>
            </p:nvCxnSpPr>
            <p:spPr bwMode="auto">
              <a:xfrm rot="5400000">
                <a:off x="1913141" y="3736198"/>
                <a:ext cx="838527"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95" name="直線矢印コネクタ 94">
                <a:extLst>
                  <a:ext uri="{FF2B5EF4-FFF2-40B4-BE49-F238E27FC236}">
                    <a16:creationId xmlns:a16="http://schemas.microsoft.com/office/drawing/2014/main" id="{539470AF-B1DA-34A6-2A7D-1893E78251F8}"/>
                  </a:ext>
                </a:extLst>
              </p:cNvPr>
              <p:cNvCxnSpPr>
                <a:cxnSpLocks/>
              </p:cNvCxnSpPr>
              <p:nvPr/>
            </p:nvCxnSpPr>
            <p:spPr bwMode="auto">
              <a:xfrm rot="5400000" flipH="1">
                <a:off x="2328863" y="3736183"/>
                <a:ext cx="838501" cy="0"/>
              </a:xfrm>
              <a:prstGeom prst="straightConnector1">
                <a:avLst/>
              </a:prstGeom>
              <a:noFill/>
              <a:ln w="9525" cap="flat" cmpd="sng" algn="ctr">
                <a:solidFill>
                  <a:schemeClr val="bg1">
                    <a:lumMod val="50000"/>
                  </a:schemeClr>
                </a:solidFill>
                <a:prstDash val="solid"/>
                <a:round/>
                <a:headEnd type="none" w="med" len="med"/>
                <a:tailEnd type="triangle"/>
              </a:ln>
              <a:effectLst/>
            </p:spPr>
          </p:cxnSp>
        </p:grpSp>
      </p:grpSp>
      <p:sp>
        <p:nvSpPr>
          <p:cNvPr id="99" name="矢印: 上下 98">
            <a:extLst>
              <a:ext uri="{FF2B5EF4-FFF2-40B4-BE49-F238E27FC236}">
                <a16:creationId xmlns:a16="http://schemas.microsoft.com/office/drawing/2014/main" id="{30F94DC8-95AA-A623-5916-D5F8794720F9}"/>
              </a:ext>
            </a:extLst>
          </p:cNvPr>
          <p:cNvSpPr/>
          <p:nvPr/>
        </p:nvSpPr>
        <p:spPr bwMode="auto">
          <a:xfrm>
            <a:off x="284584" y="2889775"/>
            <a:ext cx="555918" cy="3586439"/>
          </a:xfrm>
          <a:prstGeom prst="upDownArrow">
            <a:avLst/>
          </a:prstGeom>
          <a:solidFill>
            <a:schemeClr val="accent2">
              <a:lumMod val="20000"/>
              <a:lumOff val="80000"/>
            </a:schemeClr>
          </a:solidFill>
          <a:ln w="12700">
            <a:noFill/>
            <a:miter lim="800000"/>
            <a:headEnd/>
            <a:tailEnd/>
          </a:ln>
          <a:effectLst/>
        </p:spPr>
        <p:txBody>
          <a:bodyPr rot="0" spcFirstLastPara="0" vertOverflow="overflow" horzOverflow="overflow" vert="eaVert" wrap="none" lIns="61350" tIns="61350" rIns="61350" bIns="61350" numCol="1" spcCol="0" rtlCol="0" fromWordArt="0" anchor="ctr" anchorCtr="0" forceAA="0" compatLnSpc="1">
            <a:prstTxWarp prst="textNoShape">
              <a:avLst/>
            </a:prstTxWarp>
            <a:noAutofit/>
          </a:bodyPr>
          <a:lstStyle/>
          <a:p>
            <a:pPr algn="ctr" defTabSz="844083" fontAlgn="auto">
              <a:spcBef>
                <a:spcPts val="0"/>
              </a:spcBef>
              <a:spcAft>
                <a:spcPts val="256"/>
              </a:spcAft>
              <a:tabLst>
                <a:tab pos="225907" algn="l"/>
              </a:tabLst>
            </a:pPr>
            <a:r>
              <a:rPr kumimoji="1" lang="ja-JP" altLang="en-US" sz="1100" b="1" kern="0" dirty="0">
                <a:solidFill>
                  <a:schemeClr val="accent2"/>
                </a:solidFill>
                <a:latin typeface="Meiryo UI" panose="020B0604030504040204" pitchFamily="50" charset="-128"/>
                <a:ea typeface="Meiryo UI" panose="020B0604030504040204" pitchFamily="50" charset="-128"/>
              </a:rPr>
              <a:t>資産管理</a:t>
            </a:r>
          </a:p>
        </p:txBody>
      </p:sp>
      <p:sp>
        <p:nvSpPr>
          <p:cNvPr id="100" name="矢印: 上下 99">
            <a:extLst>
              <a:ext uri="{FF2B5EF4-FFF2-40B4-BE49-F238E27FC236}">
                <a16:creationId xmlns:a16="http://schemas.microsoft.com/office/drawing/2014/main" id="{0FADD39A-8645-17CF-77EE-30ED868C416E}"/>
              </a:ext>
            </a:extLst>
          </p:cNvPr>
          <p:cNvSpPr/>
          <p:nvPr/>
        </p:nvSpPr>
        <p:spPr bwMode="auto">
          <a:xfrm>
            <a:off x="284584" y="1780108"/>
            <a:ext cx="555918" cy="1069823"/>
          </a:xfrm>
          <a:prstGeom prst="upDownArrow">
            <a:avLst/>
          </a:prstGeom>
          <a:solidFill>
            <a:schemeClr val="bg1">
              <a:lumMod val="95000"/>
            </a:schemeClr>
          </a:solidFill>
          <a:ln w="12700">
            <a:noFill/>
            <a:miter lim="800000"/>
            <a:headEnd/>
            <a:tailEnd/>
          </a:ln>
          <a:effectLst/>
        </p:spPr>
        <p:txBody>
          <a:bodyPr rot="0" spcFirstLastPara="0" vertOverflow="overflow" horzOverflow="overflow" vert="eaVert" wrap="none" lIns="61350" tIns="61350" rIns="61350" bIns="61350" numCol="1" spcCol="0" rtlCol="0" fromWordArt="0" anchor="ctr" anchorCtr="0" forceAA="0" compatLnSpc="1">
            <a:prstTxWarp prst="textNoShape">
              <a:avLst/>
            </a:prstTxWarp>
            <a:noAutofit/>
          </a:bodyPr>
          <a:lstStyle/>
          <a:p>
            <a:pPr algn="ctr" defTabSz="844083" fontAlgn="auto">
              <a:spcBef>
                <a:spcPts val="0"/>
              </a:spcBef>
              <a:spcAft>
                <a:spcPts val="256"/>
              </a:spcAft>
              <a:tabLst>
                <a:tab pos="225907" algn="l"/>
              </a:tabLst>
            </a:pPr>
            <a:r>
              <a:rPr kumimoji="1" lang="ja-JP" altLang="en-US" sz="1100" b="1" kern="0" dirty="0">
                <a:solidFill>
                  <a:schemeClr val="bg1">
                    <a:lumMod val="50000"/>
                  </a:schemeClr>
                </a:solidFill>
                <a:latin typeface="Meiryo UI" panose="020B0604030504040204" pitchFamily="50" charset="-128"/>
                <a:ea typeface="Meiryo UI" panose="020B0604030504040204" pitchFamily="50" charset="-128"/>
              </a:rPr>
              <a:t>資産運用</a:t>
            </a:r>
          </a:p>
        </p:txBody>
      </p:sp>
    </p:spTree>
    <p:extLst>
      <p:ext uri="{BB962C8B-B14F-4D97-AF65-F5344CB8AC3E}">
        <p14:creationId xmlns:p14="http://schemas.microsoft.com/office/powerpoint/2010/main" val="329332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44FA1B-A1A6-0641-BE4C-637B5F35AA40}"/>
              </a:ext>
            </a:extLst>
          </p:cNvPr>
          <p:cNvSpPr>
            <a:spLocks noGrp="1"/>
          </p:cNvSpPr>
          <p:nvPr>
            <p:ph type="title"/>
          </p:nvPr>
        </p:nvSpPr>
        <p:spPr/>
        <p:txBody>
          <a:bodyPr/>
          <a:lstStyle/>
          <a:p>
            <a:r>
              <a:rPr kumimoji="1" lang="ja-JP" altLang="en-US" dirty="0"/>
              <a:t>カストディの主な機能</a:t>
            </a:r>
          </a:p>
        </p:txBody>
      </p:sp>
      <p:sp>
        <p:nvSpPr>
          <p:cNvPr id="4" name="テキスト プレースホルダー 3">
            <a:extLst>
              <a:ext uri="{FF2B5EF4-FFF2-40B4-BE49-F238E27FC236}">
                <a16:creationId xmlns:a16="http://schemas.microsoft.com/office/drawing/2014/main" id="{DCD87FE6-E535-9A4B-D3C6-42A32EA57E53}"/>
              </a:ext>
            </a:extLst>
          </p:cNvPr>
          <p:cNvSpPr>
            <a:spLocks noGrp="1"/>
          </p:cNvSpPr>
          <p:nvPr>
            <p:ph type="body" sz="quarter" idx="13"/>
          </p:nvPr>
        </p:nvSpPr>
        <p:spPr/>
        <p:txBody>
          <a:bodyPr/>
          <a:lstStyle/>
          <a:p>
            <a:endParaRPr kumimoji="1" lang="ja-JP" altLang="en-US"/>
          </a:p>
        </p:txBody>
      </p:sp>
      <p:sp>
        <p:nvSpPr>
          <p:cNvPr id="7" name="正方形/長方形 6">
            <a:extLst>
              <a:ext uri="{FF2B5EF4-FFF2-40B4-BE49-F238E27FC236}">
                <a16:creationId xmlns:a16="http://schemas.microsoft.com/office/drawing/2014/main" id="{A59F26DA-9FF2-AA74-E887-F4E32B58E266}"/>
              </a:ext>
            </a:extLst>
          </p:cNvPr>
          <p:cNvSpPr/>
          <p:nvPr/>
        </p:nvSpPr>
        <p:spPr>
          <a:xfrm>
            <a:off x="488504" y="1394690"/>
            <a:ext cx="610623" cy="993960"/>
          </a:xfrm>
          <a:prstGeom prst="rect">
            <a:avLst/>
          </a:prstGeom>
          <a:solidFill>
            <a:schemeClr val="accent2"/>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0"/>
              </a:spcAft>
              <a:defRPr/>
            </a:pPr>
            <a:r>
              <a:rPr kumimoji="0" lang="ja-JP" altLang="en-US" sz="1100" b="1" kern="0" dirty="0">
                <a:solidFill>
                  <a:schemeClr val="bg1"/>
                </a:solidFill>
                <a:latin typeface="Meiryo UI"/>
                <a:ea typeface="Meiryo UI"/>
              </a:rPr>
              <a:t>ファンド</a:t>
            </a:r>
            <a:endParaRPr kumimoji="0" lang="en-US" altLang="ja-JP" sz="1100" b="1" kern="0" dirty="0">
              <a:solidFill>
                <a:schemeClr val="bg1"/>
              </a:solidFill>
              <a:latin typeface="Meiryo UI"/>
              <a:ea typeface="Meiryo UI"/>
            </a:endParaRPr>
          </a:p>
          <a:p>
            <a:pPr algn="ctr" fontAlgn="base">
              <a:spcAft>
                <a:spcPts val="0"/>
              </a:spcAft>
              <a:defRPr/>
            </a:pPr>
            <a:r>
              <a:rPr kumimoji="0" lang="ja-JP" altLang="en-US" sz="1100" b="1" kern="0" dirty="0">
                <a:solidFill>
                  <a:schemeClr val="bg1"/>
                </a:solidFill>
                <a:latin typeface="Meiryo UI"/>
                <a:ea typeface="Meiryo UI"/>
              </a:rPr>
              <a:t>管理</a:t>
            </a:r>
            <a:endParaRPr kumimoji="0" lang="en-US" altLang="ja-JP" sz="1100" b="1" kern="0" dirty="0">
              <a:solidFill>
                <a:schemeClr val="bg1"/>
              </a:solidFill>
              <a:latin typeface="Meiryo UI"/>
              <a:ea typeface="Meiryo UI"/>
            </a:endParaRPr>
          </a:p>
        </p:txBody>
      </p:sp>
      <p:sp>
        <p:nvSpPr>
          <p:cNvPr id="8" name="正方形/長方形 7">
            <a:extLst>
              <a:ext uri="{FF2B5EF4-FFF2-40B4-BE49-F238E27FC236}">
                <a16:creationId xmlns:a16="http://schemas.microsoft.com/office/drawing/2014/main" id="{C46BB6FF-2B31-5069-DFB0-FD92E0A9CED7}"/>
              </a:ext>
            </a:extLst>
          </p:cNvPr>
          <p:cNvSpPr/>
          <p:nvPr/>
        </p:nvSpPr>
        <p:spPr>
          <a:xfrm>
            <a:off x="488504" y="2460073"/>
            <a:ext cx="610623" cy="993960"/>
          </a:xfrm>
          <a:prstGeom prst="rect">
            <a:avLst/>
          </a:prstGeom>
          <a:solidFill>
            <a:schemeClr val="accent2"/>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0"/>
              </a:spcAft>
              <a:defRPr/>
            </a:pPr>
            <a:r>
              <a:rPr kumimoji="0" lang="ja-JP" altLang="en-US" sz="1100" b="1" kern="0" dirty="0">
                <a:solidFill>
                  <a:schemeClr val="bg1"/>
                </a:solidFill>
                <a:latin typeface="Meiryo UI"/>
                <a:ea typeface="Meiryo UI"/>
              </a:rPr>
              <a:t>投資</a:t>
            </a:r>
            <a:endParaRPr kumimoji="0" lang="en-US" altLang="ja-JP" sz="1100" b="1" kern="0" dirty="0">
              <a:solidFill>
                <a:schemeClr val="bg1"/>
              </a:solidFill>
              <a:latin typeface="Meiryo UI"/>
              <a:ea typeface="Meiryo UI"/>
            </a:endParaRPr>
          </a:p>
          <a:p>
            <a:pPr algn="ctr" fontAlgn="base">
              <a:spcAft>
                <a:spcPts val="0"/>
              </a:spcAft>
              <a:defRPr/>
            </a:pPr>
            <a:r>
              <a:rPr kumimoji="0" lang="ja-JP" altLang="en-US" sz="1100" b="1" kern="0" dirty="0">
                <a:solidFill>
                  <a:schemeClr val="bg1"/>
                </a:solidFill>
                <a:latin typeface="Meiryo UI"/>
                <a:ea typeface="Meiryo UI"/>
              </a:rPr>
              <a:t>銘柄</a:t>
            </a:r>
            <a:endParaRPr kumimoji="0" lang="en-US" altLang="ja-JP" sz="1100" b="1" kern="0" dirty="0">
              <a:solidFill>
                <a:schemeClr val="bg1"/>
              </a:solidFill>
              <a:latin typeface="Meiryo UI"/>
              <a:ea typeface="Meiryo UI"/>
            </a:endParaRPr>
          </a:p>
          <a:p>
            <a:pPr algn="ctr" fontAlgn="base">
              <a:spcAft>
                <a:spcPts val="0"/>
              </a:spcAft>
              <a:defRPr/>
            </a:pPr>
            <a:r>
              <a:rPr kumimoji="0" lang="ja-JP" altLang="en-US" sz="1100" b="1" kern="0" dirty="0">
                <a:solidFill>
                  <a:schemeClr val="bg1"/>
                </a:solidFill>
                <a:latin typeface="Meiryo UI"/>
                <a:ea typeface="Meiryo UI"/>
              </a:rPr>
              <a:t>管理</a:t>
            </a:r>
            <a:endParaRPr kumimoji="0" lang="en-US" altLang="ja-JP" sz="1100" b="1" kern="0" dirty="0">
              <a:solidFill>
                <a:schemeClr val="bg1"/>
              </a:solidFill>
              <a:latin typeface="Meiryo UI"/>
              <a:ea typeface="Meiryo UI"/>
            </a:endParaRPr>
          </a:p>
        </p:txBody>
      </p:sp>
      <p:sp>
        <p:nvSpPr>
          <p:cNvPr id="9" name="正方形/長方形 8">
            <a:extLst>
              <a:ext uri="{FF2B5EF4-FFF2-40B4-BE49-F238E27FC236}">
                <a16:creationId xmlns:a16="http://schemas.microsoft.com/office/drawing/2014/main" id="{25E90D22-1A1B-E771-D10D-3C3C45F4E2E1}"/>
              </a:ext>
            </a:extLst>
          </p:cNvPr>
          <p:cNvSpPr/>
          <p:nvPr/>
        </p:nvSpPr>
        <p:spPr>
          <a:xfrm>
            <a:off x="488504" y="3525456"/>
            <a:ext cx="610623" cy="993960"/>
          </a:xfrm>
          <a:prstGeom prst="rect">
            <a:avLst/>
          </a:prstGeom>
          <a:solidFill>
            <a:schemeClr val="accent2"/>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0"/>
              </a:spcAft>
              <a:defRPr/>
            </a:pPr>
            <a:r>
              <a:rPr kumimoji="0" lang="ja-JP" altLang="en-US" sz="1100" b="1" kern="0" dirty="0">
                <a:solidFill>
                  <a:schemeClr val="bg1"/>
                </a:solidFill>
                <a:latin typeface="Meiryo UI"/>
                <a:ea typeface="Meiryo UI"/>
              </a:rPr>
              <a:t>取引</a:t>
            </a:r>
            <a:endParaRPr kumimoji="0" lang="en-US" altLang="ja-JP" sz="1100" b="1" kern="0" dirty="0">
              <a:solidFill>
                <a:schemeClr val="bg1"/>
              </a:solidFill>
              <a:latin typeface="Meiryo UI"/>
              <a:ea typeface="Meiryo UI"/>
            </a:endParaRPr>
          </a:p>
          <a:p>
            <a:pPr algn="ctr" fontAlgn="base">
              <a:spcAft>
                <a:spcPts val="0"/>
              </a:spcAft>
              <a:defRPr/>
            </a:pPr>
            <a:r>
              <a:rPr lang="ja-JP" altLang="en-US" sz="1100" b="1" kern="0" dirty="0">
                <a:solidFill>
                  <a:schemeClr val="bg1"/>
                </a:solidFill>
                <a:latin typeface="Meiryo UI"/>
                <a:ea typeface="Meiryo UI"/>
              </a:rPr>
              <a:t>管理</a:t>
            </a:r>
            <a:endParaRPr kumimoji="0" lang="en-US" altLang="ja-JP" sz="1100" b="1" kern="0" dirty="0">
              <a:solidFill>
                <a:schemeClr val="bg1"/>
              </a:solidFill>
              <a:latin typeface="Meiryo UI"/>
              <a:ea typeface="Meiryo UI"/>
            </a:endParaRPr>
          </a:p>
        </p:txBody>
      </p:sp>
      <p:sp>
        <p:nvSpPr>
          <p:cNvPr id="10" name="正方形/長方形 9">
            <a:extLst>
              <a:ext uri="{FF2B5EF4-FFF2-40B4-BE49-F238E27FC236}">
                <a16:creationId xmlns:a16="http://schemas.microsoft.com/office/drawing/2014/main" id="{8C8F5BF6-4EA4-7080-2E37-C8CC4A22A091}"/>
              </a:ext>
            </a:extLst>
          </p:cNvPr>
          <p:cNvSpPr/>
          <p:nvPr/>
        </p:nvSpPr>
        <p:spPr>
          <a:xfrm>
            <a:off x="488504" y="4590839"/>
            <a:ext cx="610623" cy="993960"/>
          </a:xfrm>
          <a:prstGeom prst="rect">
            <a:avLst/>
          </a:prstGeom>
          <a:solidFill>
            <a:schemeClr val="accent2"/>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0"/>
              </a:spcAft>
              <a:defRPr/>
            </a:pPr>
            <a:r>
              <a:rPr kumimoji="0" lang="ja-JP" altLang="en-US" sz="1100" b="1" kern="0" dirty="0">
                <a:solidFill>
                  <a:schemeClr val="bg1"/>
                </a:solidFill>
                <a:latin typeface="Meiryo UI"/>
                <a:ea typeface="Meiryo UI"/>
              </a:rPr>
              <a:t>商品</a:t>
            </a:r>
            <a:endParaRPr kumimoji="0" lang="en-US" altLang="ja-JP" sz="1100" b="1" kern="0" dirty="0">
              <a:solidFill>
                <a:schemeClr val="bg1"/>
              </a:solidFill>
              <a:latin typeface="Meiryo UI"/>
              <a:ea typeface="Meiryo UI"/>
            </a:endParaRPr>
          </a:p>
          <a:p>
            <a:pPr algn="ctr" fontAlgn="base">
              <a:spcAft>
                <a:spcPts val="0"/>
              </a:spcAft>
              <a:defRPr/>
            </a:pPr>
            <a:r>
              <a:rPr lang="ja-JP" altLang="en-US" sz="1100" b="1" kern="0" dirty="0">
                <a:solidFill>
                  <a:schemeClr val="bg1"/>
                </a:solidFill>
                <a:latin typeface="Meiryo UI"/>
                <a:ea typeface="Meiryo UI"/>
              </a:rPr>
              <a:t>固有</a:t>
            </a:r>
            <a:endParaRPr lang="en-US" altLang="ja-JP" sz="1100" b="1" kern="0" dirty="0">
              <a:solidFill>
                <a:schemeClr val="bg1"/>
              </a:solidFill>
              <a:latin typeface="Meiryo UI"/>
              <a:ea typeface="Meiryo UI"/>
            </a:endParaRPr>
          </a:p>
          <a:p>
            <a:pPr algn="ctr" fontAlgn="base">
              <a:spcAft>
                <a:spcPts val="0"/>
              </a:spcAft>
              <a:defRPr/>
            </a:pPr>
            <a:r>
              <a:rPr kumimoji="0" lang="ja-JP" altLang="en-US" sz="1100" b="1" kern="0" dirty="0">
                <a:solidFill>
                  <a:schemeClr val="bg1"/>
                </a:solidFill>
                <a:latin typeface="Meiryo UI"/>
                <a:ea typeface="Meiryo UI"/>
              </a:rPr>
              <a:t>業務</a:t>
            </a:r>
            <a:endParaRPr kumimoji="0" lang="en-US" altLang="ja-JP" sz="1100" b="1" kern="0" dirty="0">
              <a:solidFill>
                <a:schemeClr val="bg1"/>
              </a:solidFill>
              <a:latin typeface="Meiryo UI"/>
              <a:ea typeface="Meiryo UI"/>
            </a:endParaRPr>
          </a:p>
        </p:txBody>
      </p:sp>
      <p:sp>
        <p:nvSpPr>
          <p:cNvPr id="11" name="正方形/長方形 10">
            <a:extLst>
              <a:ext uri="{FF2B5EF4-FFF2-40B4-BE49-F238E27FC236}">
                <a16:creationId xmlns:a16="http://schemas.microsoft.com/office/drawing/2014/main" id="{4FAF1DC0-6095-7AE5-B57C-911DF9CF7B32}"/>
              </a:ext>
            </a:extLst>
          </p:cNvPr>
          <p:cNvSpPr/>
          <p:nvPr/>
        </p:nvSpPr>
        <p:spPr>
          <a:xfrm>
            <a:off x="488504" y="5656221"/>
            <a:ext cx="610623" cy="993960"/>
          </a:xfrm>
          <a:prstGeom prst="rect">
            <a:avLst/>
          </a:prstGeom>
          <a:solidFill>
            <a:schemeClr val="accent2"/>
          </a:solidFill>
          <a:ln w="12700" cap="flat" cmpd="sng" algn="ctr">
            <a:solidFill>
              <a:schemeClr val="bg1">
                <a:lumMod val="50000"/>
              </a:schemeClr>
            </a:solidFill>
            <a:prstDash val="soli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fontAlgn="base">
              <a:spcAft>
                <a:spcPts val="0"/>
              </a:spcAft>
              <a:defRPr/>
            </a:pPr>
            <a:r>
              <a:rPr kumimoji="0" lang="ja-JP" altLang="en-US" sz="1100" b="1" kern="0" dirty="0">
                <a:solidFill>
                  <a:schemeClr val="bg1"/>
                </a:solidFill>
                <a:latin typeface="Meiryo UI"/>
                <a:ea typeface="Meiryo UI"/>
              </a:rPr>
              <a:t>レポート・</a:t>
            </a:r>
            <a:endParaRPr kumimoji="0" lang="en-US" altLang="ja-JP" sz="1100" b="1" kern="0" dirty="0">
              <a:solidFill>
                <a:schemeClr val="bg1"/>
              </a:solidFill>
              <a:latin typeface="Meiryo UI"/>
              <a:ea typeface="Meiryo UI"/>
            </a:endParaRPr>
          </a:p>
          <a:p>
            <a:pPr algn="ctr" fontAlgn="base">
              <a:spcAft>
                <a:spcPts val="0"/>
              </a:spcAft>
              <a:defRPr/>
            </a:pPr>
            <a:r>
              <a:rPr kumimoji="0" lang="ja-JP" altLang="en-US" sz="1100" b="1" kern="0" dirty="0">
                <a:solidFill>
                  <a:schemeClr val="bg1"/>
                </a:solidFill>
                <a:latin typeface="Meiryo UI"/>
                <a:ea typeface="Meiryo UI"/>
              </a:rPr>
              <a:t>データ</a:t>
            </a:r>
            <a:endParaRPr kumimoji="0" lang="en-US" altLang="ja-JP" sz="1100" b="1" kern="0" dirty="0">
              <a:solidFill>
                <a:schemeClr val="bg1"/>
              </a:solidFill>
              <a:latin typeface="Meiryo UI"/>
              <a:ea typeface="Meiryo UI"/>
            </a:endParaRPr>
          </a:p>
          <a:p>
            <a:pPr algn="ctr" fontAlgn="base">
              <a:spcAft>
                <a:spcPts val="0"/>
              </a:spcAft>
              <a:defRPr/>
            </a:pPr>
            <a:r>
              <a:rPr kumimoji="0" lang="ja-JP" altLang="en-US" sz="1100" b="1" kern="0" dirty="0">
                <a:solidFill>
                  <a:schemeClr val="bg1"/>
                </a:solidFill>
                <a:latin typeface="Meiryo UI"/>
                <a:ea typeface="Meiryo UI"/>
              </a:rPr>
              <a:t>連携</a:t>
            </a:r>
            <a:endParaRPr kumimoji="0" lang="en-US" altLang="ja-JP" sz="1100" b="1" kern="0" dirty="0">
              <a:solidFill>
                <a:schemeClr val="bg1"/>
              </a:solidFill>
              <a:latin typeface="Meiryo UI"/>
              <a:ea typeface="Meiryo UI"/>
            </a:endParaRPr>
          </a:p>
        </p:txBody>
      </p:sp>
      <p:sp>
        <p:nvSpPr>
          <p:cNvPr id="13" name="正方形/長方形 12">
            <a:extLst>
              <a:ext uri="{FF2B5EF4-FFF2-40B4-BE49-F238E27FC236}">
                <a16:creationId xmlns:a16="http://schemas.microsoft.com/office/drawing/2014/main" id="{1CA360A6-4FB4-C6D8-D8D6-D57C8A2E42F9}"/>
              </a:ext>
            </a:extLst>
          </p:cNvPr>
          <p:cNvSpPr/>
          <p:nvPr/>
        </p:nvSpPr>
        <p:spPr>
          <a:xfrm>
            <a:off x="1214368" y="1394690"/>
            <a:ext cx="2923999" cy="993960"/>
          </a:xfrm>
          <a:prstGeom prst="rect">
            <a:avLst/>
          </a:prstGeom>
          <a:solidFill>
            <a:schemeClr val="bg1"/>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spcAft>
                <a:spcPts val="0"/>
              </a:spcAft>
              <a:defRPr/>
            </a:pPr>
            <a:r>
              <a:rPr kumimoji="0" lang="ja-JP" altLang="en-US" sz="1050" kern="0" dirty="0">
                <a:latin typeface="Meiryo UI"/>
                <a:ea typeface="Meiryo UI"/>
              </a:rPr>
              <a:t>ファンドの資産を安全に保管し、ファンド運用が適正に行われているかを監視</a:t>
            </a:r>
            <a:endParaRPr kumimoji="0" lang="en-US" altLang="ja-JP" sz="1050" kern="0" dirty="0">
              <a:latin typeface="Meiryo UI"/>
              <a:ea typeface="Meiryo UI"/>
            </a:endParaRPr>
          </a:p>
          <a:p>
            <a:pPr fontAlgn="base">
              <a:spcAft>
                <a:spcPts val="0"/>
              </a:spcAft>
              <a:defRPr/>
            </a:pPr>
            <a:r>
              <a:rPr kumimoji="0" lang="ja-JP" altLang="en-US" sz="1050" kern="0" dirty="0">
                <a:latin typeface="Meiryo UI"/>
                <a:ea typeface="Meiryo UI"/>
              </a:rPr>
              <a:t>投資信託や年金基金においては、ファンド管理を運用者とは独立したカストディが行い、投資家の資産を適切に保護</a:t>
            </a:r>
            <a:endParaRPr kumimoji="0" lang="en-US" altLang="ja-JP" sz="1050" kern="0" dirty="0">
              <a:latin typeface="Meiryo UI"/>
              <a:ea typeface="Meiryo UI"/>
            </a:endParaRPr>
          </a:p>
        </p:txBody>
      </p:sp>
      <p:sp>
        <p:nvSpPr>
          <p:cNvPr id="14" name="正方形/長方形 13">
            <a:extLst>
              <a:ext uri="{FF2B5EF4-FFF2-40B4-BE49-F238E27FC236}">
                <a16:creationId xmlns:a16="http://schemas.microsoft.com/office/drawing/2014/main" id="{60C96E6C-30C7-FD9B-2B54-C4F45420E41D}"/>
              </a:ext>
            </a:extLst>
          </p:cNvPr>
          <p:cNvSpPr/>
          <p:nvPr/>
        </p:nvSpPr>
        <p:spPr>
          <a:xfrm>
            <a:off x="1214368" y="2460073"/>
            <a:ext cx="2923999" cy="993960"/>
          </a:xfrm>
          <a:prstGeom prst="rect">
            <a:avLst/>
          </a:prstGeom>
          <a:solidFill>
            <a:schemeClr val="bg1"/>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Aft>
                <a:spcPts val="0"/>
              </a:spcAft>
              <a:defRPr/>
            </a:pPr>
            <a:r>
              <a:rPr lang="ja-JP" altLang="en-US" sz="1050" dirty="0"/>
              <a:t>投資家やファンドが購入・保有する投資銘柄（株式、債券、その他の証券）を保管・管理</a:t>
            </a:r>
            <a:endParaRPr lang="en-US" altLang="ja-JP" sz="1050" dirty="0"/>
          </a:p>
          <a:p>
            <a:pPr>
              <a:spcAft>
                <a:spcPts val="0"/>
              </a:spcAft>
              <a:defRPr/>
            </a:pPr>
            <a:r>
              <a:rPr lang="ja-JP" altLang="en-US" sz="1050" dirty="0"/>
              <a:t>投資家が各銘柄に関する情報を一元的に把握し、安全に取引を行うことを実現</a:t>
            </a:r>
          </a:p>
        </p:txBody>
      </p:sp>
      <p:sp>
        <p:nvSpPr>
          <p:cNvPr id="15" name="正方形/長方形 14">
            <a:extLst>
              <a:ext uri="{FF2B5EF4-FFF2-40B4-BE49-F238E27FC236}">
                <a16:creationId xmlns:a16="http://schemas.microsoft.com/office/drawing/2014/main" id="{495F4B69-60D6-C192-E967-799BAF795C91}"/>
              </a:ext>
            </a:extLst>
          </p:cNvPr>
          <p:cNvSpPr/>
          <p:nvPr/>
        </p:nvSpPr>
        <p:spPr>
          <a:xfrm>
            <a:off x="1214368" y="3525456"/>
            <a:ext cx="2923999" cy="993960"/>
          </a:xfrm>
          <a:prstGeom prst="rect">
            <a:avLst/>
          </a:prstGeom>
          <a:solidFill>
            <a:schemeClr val="bg1"/>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Aft>
                <a:spcPts val="0"/>
              </a:spcAft>
              <a:defRPr/>
            </a:pPr>
            <a:r>
              <a:rPr lang="ja-JP" altLang="en-US" sz="1050" dirty="0"/>
              <a:t>投資家やファンドが行った証券取引を円滑に決済し、資産の移動や資金のやり取りを管理</a:t>
            </a:r>
            <a:endParaRPr lang="en-US" altLang="ja-JP" sz="1050" dirty="0"/>
          </a:p>
          <a:p>
            <a:pPr>
              <a:spcAft>
                <a:spcPts val="0"/>
              </a:spcAft>
              <a:defRPr/>
            </a:pPr>
            <a:r>
              <a:rPr lang="ja-JP" altLang="en-US" sz="1050" dirty="0"/>
              <a:t>国内取引においては、ほとんどをほふりにて実行できるため、実質的な資金移動等の作業は発生しない</a:t>
            </a:r>
          </a:p>
        </p:txBody>
      </p:sp>
      <p:sp>
        <p:nvSpPr>
          <p:cNvPr id="16" name="正方形/長方形 15">
            <a:extLst>
              <a:ext uri="{FF2B5EF4-FFF2-40B4-BE49-F238E27FC236}">
                <a16:creationId xmlns:a16="http://schemas.microsoft.com/office/drawing/2014/main" id="{AE7C7A13-516E-477A-E5D9-417F662B3C95}"/>
              </a:ext>
            </a:extLst>
          </p:cNvPr>
          <p:cNvSpPr/>
          <p:nvPr/>
        </p:nvSpPr>
        <p:spPr>
          <a:xfrm>
            <a:off x="1214368" y="4590839"/>
            <a:ext cx="2923999" cy="993960"/>
          </a:xfrm>
          <a:prstGeom prst="rect">
            <a:avLst/>
          </a:prstGeom>
          <a:solidFill>
            <a:schemeClr val="bg1"/>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spcAft>
                <a:spcPts val="0"/>
              </a:spcAft>
              <a:defRPr/>
            </a:pPr>
            <a:r>
              <a:rPr lang="ja-JP" altLang="en-US" sz="1050" dirty="0"/>
              <a:t>金融商品ごとの固有業務の対応（デリバティブ、オルタナティブ投資、不動産、私募ファンド等における商品特有の管理）</a:t>
            </a:r>
            <a:endParaRPr kumimoji="0" lang="en-US" altLang="ja-JP" sz="1050" kern="0" dirty="0">
              <a:latin typeface="Meiryo UI"/>
              <a:ea typeface="Meiryo UI"/>
            </a:endParaRPr>
          </a:p>
        </p:txBody>
      </p:sp>
      <p:sp>
        <p:nvSpPr>
          <p:cNvPr id="17" name="正方形/長方形 16">
            <a:extLst>
              <a:ext uri="{FF2B5EF4-FFF2-40B4-BE49-F238E27FC236}">
                <a16:creationId xmlns:a16="http://schemas.microsoft.com/office/drawing/2014/main" id="{9404E7BB-692E-695A-C28D-2845D16AE7AE}"/>
              </a:ext>
            </a:extLst>
          </p:cNvPr>
          <p:cNvSpPr/>
          <p:nvPr/>
        </p:nvSpPr>
        <p:spPr>
          <a:xfrm>
            <a:off x="1214368" y="5656221"/>
            <a:ext cx="2923999" cy="993960"/>
          </a:xfrm>
          <a:prstGeom prst="rect">
            <a:avLst/>
          </a:prstGeom>
          <a:solidFill>
            <a:schemeClr val="bg1"/>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Aft>
                <a:spcPts val="0"/>
              </a:spcAft>
            </a:pPr>
            <a:r>
              <a:rPr lang="ja-JP" altLang="en-US" sz="1050" dirty="0"/>
              <a:t>投資家やファンドに対し、資産管理に関するレポートを定期的に提供</a:t>
            </a:r>
          </a:p>
        </p:txBody>
      </p:sp>
      <p:sp>
        <p:nvSpPr>
          <p:cNvPr id="18" name="正方形/長方形 17">
            <a:extLst>
              <a:ext uri="{FF2B5EF4-FFF2-40B4-BE49-F238E27FC236}">
                <a16:creationId xmlns:a16="http://schemas.microsoft.com/office/drawing/2014/main" id="{ACC411AE-2EB0-09A4-06BA-8AB2566F84E7}"/>
              </a:ext>
            </a:extLst>
          </p:cNvPr>
          <p:cNvSpPr/>
          <p:nvPr/>
        </p:nvSpPr>
        <p:spPr>
          <a:xfrm>
            <a:off x="4253608" y="1394690"/>
            <a:ext cx="5162896" cy="993960"/>
          </a:xfrm>
          <a:prstGeom prst="rect">
            <a:avLst/>
          </a:prstGeom>
          <a:solidFill>
            <a:schemeClr val="bg1"/>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fontAlgn="base">
              <a:spcAft>
                <a:spcPts val="0"/>
              </a:spcAft>
              <a:buFont typeface="Arial" panose="020B0604020202020204" pitchFamily="34" charset="0"/>
              <a:buChar char="•"/>
              <a:defRPr/>
            </a:pPr>
            <a:r>
              <a:rPr kumimoji="0" lang="ja-JP" altLang="en-US" sz="1050" kern="0" dirty="0">
                <a:latin typeface="Meiryo UI"/>
                <a:ea typeface="Meiryo UI"/>
              </a:rPr>
              <a:t>ファンドの資産を保管し、運用者の指示に基づく取引</a:t>
            </a:r>
            <a:r>
              <a:rPr lang="ja-JP" altLang="en-US" sz="1050" kern="0" dirty="0">
                <a:latin typeface="Meiryo UI"/>
                <a:ea typeface="Meiryo UI"/>
              </a:rPr>
              <a:t>の</a:t>
            </a:r>
            <a:r>
              <a:rPr kumimoji="0" lang="ja-JP" altLang="en-US" sz="1050" kern="0" dirty="0">
                <a:latin typeface="Meiryo UI"/>
                <a:ea typeface="Meiryo UI"/>
              </a:rPr>
              <a:t>遂行</a:t>
            </a:r>
            <a:endParaRPr kumimoji="0" lang="en-US" altLang="ja-JP" sz="1050" kern="0" dirty="0">
              <a:latin typeface="Meiryo UI"/>
              <a:ea typeface="Meiryo UI"/>
            </a:endParaRPr>
          </a:p>
          <a:p>
            <a:pPr marL="171450" indent="-171450" fontAlgn="base">
              <a:spcAft>
                <a:spcPts val="0"/>
              </a:spcAft>
              <a:buFont typeface="Arial" panose="020B0604020202020204" pitchFamily="34" charset="0"/>
              <a:buChar char="•"/>
              <a:defRPr/>
            </a:pPr>
            <a:r>
              <a:rPr lang="ja-JP" altLang="en-US" sz="1050" kern="0" dirty="0">
                <a:latin typeface="Meiryo UI"/>
                <a:ea typeface="Meiryo UI"/>
              </a:rPr>
              <a:t>基準価額の算出</a:t>
            </a:r>
            <a:endParaRPr kumimoji="0" lang="ja-JP" altLang="en-US" sz="1050" kern="0" dirty="0">
              <a:latin typeface="Meiryo UI"/>
              <a:ea typeface="Meiryo UI"/>
            </a:endParaRPr>
          </a:p>
          <a:p>
            <a:pPr marL="171450" indent="-171450" fontAlgn="base">
              <a:spcAft>
                <a:spcPts val="0"/>
              </a:spcAft>
              <a:buFont typeface="Arial" panose="020B0604020202020204" pitchFamily="34" charset="0"/>
              <a:buChar char="•"/>
              <a:defRPr/>
            </a:pPr>
            <a:r>
              <a:rPr kumimoji="0" lang="ja-JP" altLang="en-US" sz="1050" kern="0" dirty="0">
                <a:latin typeface="Meiryo UI"/>
                <a:ea typeface="Meiryo UI"/>
              </a:rPr>
              <a:t>ファンド内の資産の状況を定期的に監視し、不正やミスの防止</a:t>
            </a:r>
          </a:p>
          <a:p>
            <a:pPr marL="171450" indent="-171450" fontAlgn="base">
              <a:spcAft>
                <a:spcPts val="0"/>
              </a:spcAft>
              <a:buFont typeface="Arial" panose="020B0604020202020204" pitchFamily="34" charset="0"/>
              <a:buChar char="•"/>
              <a:defRPr/>
            </a:pPr>
            <a:r>
              <a:rPr kumimoji="0" lang="ja-JP" altLang="en-US" sz="1050" kern="0" dirty="0">
                <a:latin typeface="Meiryo UI"/>
                <a:ea typeface="Meiryo UI"/>
              </a:rPr>
              <a:t>ファンドの配当金支払い、元本の返還、分配金の計算と支払いのサポート</a:t>
            </a:r>
          </a:p>
        </p:txBody>
      </p:sp>
      <p:sp>
        <p:nvSpPr>
          <p:cNvPr id="20" name="正方形/長方形 19">
            <a:extLst>
              <a:ext uri="{FF2B5EF4-FFF2-40B4-BE49-F238E27FC236}">
                <a16:creationId xmlns:a16="http://schemas.microsoft.com/office/drawing/2014/main" id="{46F8688E-E7E0-8C4E-2431-A445E11EB242}"/>
              </a:ext>
            </a:extLst>
          </p:cNvPr>
          <p:cNvSpPr/>
          <p:nvPr/>
        </p:nvSpPr>
        <p:spPr>
          <a:xfrm>
            <a:off x="4253608" y="3525456"/>
            <a:ext cx="5162896" cy="993960"/>
          </a:xfrm>
          <a:prstGeom prst="rect">
            <a:avLst/>
          </a:prstGeom>
          <a:solidFill>
            <a:schemeClr val="bg1"/>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spcAft>
                <a:spcPts val="0"/>
              </a:spcAft>
              <a:buFont typeface="Arial" panose="020B0604020202020204" pitchFamily="34" charset="0"/>
              <a:buChar char="•"/>
              <a:defRPr/>
            </a:pPr>
            <a:r>
              <a:rPr lang="ja-JP" altLang="en-US" sz="1050" dirty="0"/>
              <a:t>証券取引の決済業務（証券の引き渡しと資金の受け渡し）の管理</a:t>
            </a:r>
          </a:p>
          <a:p>
            <a:pPr marL="171450" indent="-171450">
              <a:spcAft>
                <a:spcPts val="0"/>
              </a:spcAft>
              <a:buFont typeface="Arial" panose="020B0604020202020204" pitchFamily="34" charset="0"/>
              <a:buChar char="•"/>
              <a:defRPr/>
            </a:pPr>
            <a:r>
              <a:rPr lang="ja-JP" altLang="en-US" sz="1050" dirty="0"/>
              <a:t>取引後の決済確認や取引詳細のレポート作成</a:t>
            </a:r>
          </a:p>
          <a:p>
            <a:pPr marL="171450" indent="-171450">
              <a:spcAft>
                <a:spcPts val="0"/>
              </a:spcAft>
              <a:buFont typeface="Arial" panose="020B0604020202020204" pitchFamily="34" charset="0"/>
              <a:buChar char="•"/>
              <a:defRPr/>
            </a:pPr>
            <a:r>
              <a:rPr lang="ja-JP" altLang="en-US" sz="1050" dirty="0"/>
              <a:t>取引に伴う税務処理、費用の計算と清算のサポート</a:t>
            </a:r>
          </a:p>
        </p:txBody>
      </p:sp>
      <p:sp>
        <p:nvSpPr>
          <p:cNvPr id="21" name="正方形/長方形 20">
            <a:extLst>
              <a:ext uri="{FF2B5EF4-FFF2-40B4-BE49-F238E27FC236}">
                <a16:creationId xmlns:a16="http://schemas.microsoft.com/office/drawing/2014/main" id="{A4564B3B-9746-3D66-6ACA-75A50EF0FD2E}"/>
              </a:ext>
            </a:extLst>
          </p:cNvPr>
          <p:cNvSpPr/>
          <p:nvPr/>
        </p:nvSpPr>
        <p:spPr>
          <a:xfrm>
            <a:off x="4253608" y="4590839"/>
            <a:ext cx="5162896" cy="993960"/>
          </a:xfrm>
          <a:prstGeom prst="rect">
            <a:avLst/>
          </a:prstGeom>
          <a:solidFill>
            <a:schemeClr val="bg1"/>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fontAlgn="base">
              <a:spcAft>
                <a:spcPts val="0"/>
              </a:spcAft>
              <a:buFont typeface="Arial" panose="020B0604020202020204" pitchFamily="34" charset="0"/>
              <a:buChar char="•"/>
              <a:defRPr/>
            </a:pPr>
            <a:r>
              <a:rPr lang="ja-JP" altLang="en-US" sz="1050" dirty="0"/>
              <a:t>オルタナティブ投資（例：プライベートエクイティ、不動産）の保管・決済業務のサポート</a:t>
            </a:r>
          </a:p>
          <a:p>
            <a:pPr marL="171450" indent="-171450" fontAlgn="base">
              <a:spcAft>
                <a:spcPts val="0"/>
              </a:spcAft>
              <a:buFont typeface="Arial" panose="020B0604020202020204" pitchFamily="34" charset="0"/>
              <a:buChar char="•"/>
              <a:defRPr/>
            </a:pPr>
            <a:r>
              <a:rPr lang="ja-JP" altLang="en-US" sz="1050" dirty="0"/>
              <a:t>デリバティブ取引の複雑な決済手続きを管理し、証拠金やコラテラルを管理</a:t>
            </a:r>
          </a:p>
          <a:p>
            <a:pPr marL="171450" indent="-171450" fontAlgn="base">
              <a:spcAft>
                <a:spcPts val="0"/>
              </a:spcAft>
              <a:buFont typeface="Arial" panose="020B0604020202020204" pitchFamily="34" charset="0"/>
              <a:buChar char="•"/>
              <a:defRPr/>
            </a:pPr>
            <a:r>
              <a:rPr lang="ja-JP" altLang="en-US" sz="1050" dirty="0"/>
              <a:t>特定の投資商品の評価、監査対応、コンプライアンス業務のサポート</a:t>
            </a:r>
          </a:p>
        </p:txBody>
      </p:sp>
      <p:sp>
        <p:nvSpPr>
          <p:cNvPr id="22" name="正方形/長方形 21">
            <a:extLst>
              <a:ext uri="{FF2B5EF4-FFF2-40B4-BE49-F238E27FC236}">
                <a16:creationId xmlns:a16="http://schemas.microsoft.com/office/drawing/2014/main" id="{6CEE615B-9A9C-3CF5-8627-0A5ABF6F4642}"/>
              </a:ext>
            </a:extLst>
          </p:cNvPr>
          <p:cNvSpPr/>
          <p:nvPr/>
        </p:nvSpPr>
        <p:spPr>
          <a:xfrm>
            <a:off x="4253608" y="5656221"/>
            <a:ext cx="5162896" cy="993960"/>
          </a:xfrm>
          <a:prstGeom prst="rect">
            <a:avLst/>
          </a:prstGeom>
          <a:solidFill>
            <a:schemeClr val="bg1"/>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spcAft>
                <a:spcPts val="0"/>
              </a:spcAft>
              <a:buFont typeface="Arial" panose="020B0604020202020204" pitchFamily="34" charset="0"/>
              <a:buChar char="•"/>
            </a:pPr>
            <a:r>
              <a:rPr lang="ja-JP" altLang="en-US" sz="1050" dirty="0"/>
              <a:t>保有資産に関するレポートの作成（残高、取引履歴、配当・利息の記録等）</a:t>
            </a:r>
          </a:p>
          <a:p>
            <a:pPr marL="171450" indent="-171450">
              <a:spcAft>
                <a:spcPts val="0"/>
              </a:spcAft>
              <a:buFont typeface="Arial" panose="020B0604020202020204" pitchFamily="34" charset="0"/>
              <a:buChar char="•"/>
            </a:pPr>
            <a:r>
              <a:rPr lang="ja-JP" altLang="en-US" sz="1050" dirty="0"/>
              <a:t>財務報告や規制対応のために必要なデータの生成と提供</a:t>
            </a:r>
          </a:p>
        </p:txBody>
      </p:sp>
      <p:sp>
        <p:nvSpPr>
          <p:cNvPr id="25" name="正方形/長方形 24">
            <a:extLst>
              <a:ext uri="{FF2B5EF4-FFF2-40B4-BE49-F238E27FC236}">
                <a16:creationId xmlns:a16="http://schemas.microsoft.com/office/drawing/2014/main" id="{D4ACB4CB-69A0-D57C-85E0-A3C6FFDECEFC}"/>
              </a:ext>
            </a:extLst>
          </p:cNvPr>
          <p:cNvSpPr/>
          <p:nvPr/>
        </p:nvSpPr>
        <p:spPr>
          <a:xfrm>
            <a:off x="4253608" y="2460073"/>
            <a:ext cx="5162896" cy="993960"/>
          </a:xfrm>
          <a:prstGeom prst="rect">
            <a:avLst/>
          </a:prstGeom>
          <a:solidFill>
            <a:schemeClr val="bg1"/>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fontAlgn="base">
              <a:spcAft>
                <a:spcPts val="0"/>
              </a:spcAft>
              <a:buFont typeface="Arial" panose="020B0604020202020204" pitchFamily="34" charset="0"/>
              <a:buChar char="•"/>
              <a:defRPr/>
            </a:pPr>
            <a:r>
              <a:rPr kumimoji="0" lang="ja-JP" altLang="en-US" sz="1050" kern="0" dirty="0">
                <a:latin typeface="Meiryo UI"/>
                <a:ea typeface="Meiryo UI"/>
              </a:rPr>
              <a:t>投資銘柄の安全な保管と、その記録の管理</a:t>
            </a:r>
          </a:p>
          <a:p>
            <a:pPr marL="171450" indent="-171450" fontAlgn="base">
              <a:spcAft>
                <a:spcPts val="0"/>
              </a:spcAft>
              <a:buFont typeface="Arial" panose="020B0604020202020204" pitchFamily="34" charset="0"/>
              <a:buChar char="•"/>
              <a:defRPr/>
            </a:pPr>
            <a:r>
              <a:rPr kumimoji="0" lang="ja-JP" altLang="en-US" sz="1050" kern="0" dirty="0">
                <a:latin typeface="Meiryo UI"/>
                <a:ea typeface="Meiryo UI"/>
              </a:rPr>
              <a:t>配当金や利息、売買益に関連する支払いの受領と記録の管理</a:t>
            </a:r>
          </a:p>
          <a:p>
            <a:pPr marL="171450" indent="-171450" fontAlgn="base">
              <a:spcAft>
                <a:spcPts val="0"/>
              </a:spcAft>
              <a:buFont typeface="Arial" panose="020B0604020202020204" pitchFamily="34" charset="0"/>
              <a:buChar char="•"/>
              <a:defRPr/>
            </a:pPr>
            <a:r>
              <a:rPr kumimoji="0" lang="ja-JP" altLang="en-US" sz="1050" kern="0" dirty="0">
                <a:latin typeface="Meiryo UI"/>
                <a:ea typeface="Meiryo UI"/>
              </a:rPr>
              <a:t>コーポレートアクション（例：株式分割、合併、株主総会）の通知と処理</a:t>
            </a:r>
          </a:p>
          <a:p>
            <a:pPr marL="171450" indent="-171450" fontAlgn="base">
              <a:spcAft>
                <a:spcPts val="0"/>
              </a:spcAft>
              <a:buFont typeface="Arial" panose="020B0604020202020204" pitchFamily="34" charset="0"/>
              <a:buChar char="•"/>
              <a:defRPr/>
            </a:pPr>
            <a:r>
              <a:rPr kumimoji="0" lang="ja-JP" altLang="en-US" sz="1050" kern="0" dirty="0">
                <a:latin typeface="Meiryo UI"/>
                <a:ea typeface="Meiryo UI"/>
              </a:rPr>
              <a:t>各国の市場や規制に応じた投資銘柄の保管対応</a:t>
            </a:r>
          </a:p>
        </p:txBody>
      </p:sp>
      <p:grpSp>
        <p:nvGrpSpPr>
          <p:cNvPr id="26" name="グループ化 25">
            <a:extLst>
              <a:ext uri="{FF2B5EF4-FFF2-40B4-BE49-F238E27FC236}">
                <a16:creationId xmlns:a16="http://schemas.microsoft.com/office/drawing/2014/main" id="{ABB563F3-AEAB-9194-4D3A-F5B6A0BB5132}"/>
              </a:ext>
            </a:extLst>
          </p:cNvPr>
          <p:cNvGrpSpPr/>
          <p:nvPr/>
        </p:nvGrpSpPr>
        <p:grpSpPr>
          <a:xfrm>
            <a:off x="1214368" y="1071197"/>
            <a:ext cx="2923999" cy="252078"/>
            <a:chOff x="2839677" y="1987449"/>
            <a:chExt cx="1789473" cy="327744"/>
          </a:xfrm>
        </p:grpSpPr>
        <p:cxnSp>
          <p:nvCxnSpPr>
            <p:cNvPr id="27" name="直線コネクタ 30">
              <a:extLst>
                <a:ext uri="{FF2B5EF4-FFF2-40B4-BE49-F238E27FC236}">
                  <a16:creationId xmlns:a16="http://schemas.microsoft.com/office/drawing/2014/main" id="{BFC26AB0-61D4-4BC1-7EAC-272E6C65AC71}"/>
                </a:ext>
              </a:extLst>
            </p:cNvPr>
            <p:cNvCxnSpPr>
              <a:cxnSpLocks noChangeShapeType="1"/>
            </p:cNvCxnSpPr>
            <p:nvPr/>
          </p:nvCxnSpPr>
          <p:spPr bwMode="auto">
            <a:xfrm>
              <a:off x="2839677" y="2315193"/>
              <a:ext cx="1789473" cy="0"/>
            </a:xfrm>
            <a:prstGeom prst="line">
              <a:avLst/>
            </a:prstGeom>
            <a:noFill/>
            <a:ln w="9525" algn="ctr">
              <a:solidFill>
                <a:schemeClr val="tx1"/>
              </a:solidFill>
              <a:round/>
              <a:headEnd/>
              <a:tailEnd type="none" w="sm" len="sm"/>
            </a:ln>
            <a:extLst>
              <a:ext uri="{909E8E84-426E-40DD-AFC4-6F175D3DCCD1}">
                <a14:hiddenFill xmlns:a14="http://schemas.microsoft.com/office/drawing/2010/main">
                  <a:noFill/>
                </a14:hiddenFill>
              </a:ext>
            </a:extLst>
          </p:spPr>
        </p:cxnSp>
        <p:sp>
          <p:nvSpPr>
            <p:cNvPr id="28" name="正方形/長方形 31">
              <a:extLst>
                <a:ext uri="{FF2B5EF4-FFF2-40B4-BE49-F238E27FC236}">
                  <a16:creationId xmlns:a16="http://schemas.microsoft.com/office/drawing/2014/main" id="{BD58D930-9AC3-0AC6-445F-CBE3CC582393}"/>
                </a:ext>
              </a:extLst>
            </p:cNvPr>
            <p:cNvSpPr>
              <a:spLocks noChangeArrowheads="1"/>
            </p:cNvSpPr>
            <p:nvPr/>
          </p:nvSpPr>
          <p:spPr bwMode="auto">
            <a:xfrm>
              <a:off x="2839677" y="1987449"/>
              <a:ext cx="1789473" cy="291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type="arrow" w="sm" len="sm"/>
                  <a:tailEnd type="none" w="sm" len="sm"/>
                </a14:hiddenLine>
              </a:ext>
            </a:extLst>
          </p:spPr>
          <p:txBody>
            <a:bodyPr wrap="square"/>
            <a:lstStyle>
              <a:lvl1pPr>
                <a:defRPr kumimoji="1">
                  <a:solidFill>
                    <a:schemeClr val="tx1"/>
                  </a:solidFill>
                  <a:latin typeface="Arial" panose="020B0604020202020204" pitchFamily="34" charset="0"/>
                  <a:ea typeface="ＭＳ Ｐゴシック" panose="020B0600070205080204" pitchFamily="50" charset="-128"/>
                </a:defRPr>
              </a:lvl1pPr>
              <a:lvl2pPr marL="742950" indent="-285750">
                <a:defRPr kumimoji="1">
                  <a:solidFill>
                    <a:schemeClr val="tx1"/>
                  </a:solidFill>
                  <a:latin typeface="Arial" panose="020B0604020202020204" pitchFamily="34" charset="0"/>
                  <a:ea typeface="ＭＳ Ｐゴシック" panose="020B0600070205080204" pitchFamily="50" charset="-128"/>
                </a:defRPr>
              </a:lvl2pPr>
              <a:lvl3pPr marL="1143000" indent="-228600">
                <a:defRPr kumimoji="1">
                  <a:solidFill>
                    <a:schemeClr val="tx1"/>
                  </a:solidFill>
                  <a:latin typeface="Arial" panose="020B0604020202020204" pitchFamily="34" charset="0"/>
                  <a:ea typeface="ＭＳ Ｐゴシック" panose="020B0600070205080204" pitchFamily="50" charset="-128"/>
                </a:defRPr>
              </a:lvl3pPr>
              <a:lvl4pPr marL="1600200" indent="-228600">
                <a:defRPr kumimoji="1">
                  <a:solidFill>
                    <a:schemeClr val="tx1"/>
                  </a:solidFill>
                  <a:latin typeface="Arial" panose="020B0604020202020204" pitchFamily="34" charset="0"/>
                  <a:ea typeface="ＭＳ Ｐゴシック" panose="020B0600070205080204" pitchFamily="50" charset="-128"/>
                </a:defRPr>
              </a:lvl4pPr>
              <a:lvl5pPr marL="2057400" indent="-22860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r>
                <a:rPr lang="ja-JP" altLang="en-US" sz="1100" dirty="0">
                  <a:latin typeface="Meiryo UI" panose="020B0604030504040204" pitchFamily="50" charset="-128"/>
                  <a:ea typeface="Meiryo UI" panose="020B0604030504040204" pitchFamily="50" charset="-128"/>
                </a:rPr>
                <a:t>概要</a:t>
              </a:r>
            </a:p>
          </p:txBody>
        </p:sp>
      </p:grpSp>
      <p:grpSp>
        <p:nvGrpSpPr>
          <p:cNvPr id="29" name="グループ化 28">
            <a:extLst>
              <a:ext uri="{FF2B5EF4-FFF2-40B4-BE49-F238E27FC236}">
                <a16:creationId xmlns:a16="http://schemas.microsoft.com/office/drawing/2014/main" id="{632A094D-E47F-C8D5-AC93-A05A2B3E8B38}"/>
              </a:ext>
            </a:extLst>
          </p:cNvPr>
          <p:cNvGrpSpPr/>
          <p:nvPr/>
        </p:nvGrpSpPr>
        <p:grpSpPr>
          <a:xfrm>
            <a:off x="4253608" y="1071197"/>
            <a:ext cx="5162896" cy="252078"/>
            <a:chOff x="2839677" y="1987449"/>
            <a:chExt cx="1789473" cy="327744"/>
          </a:xfrm>
        </p:grpSpPr>
        <p:cxnSp>
          <p:nvCxnSpPr>
            <p:cNvPr id="30" name="直線コネクタ 30">
              <a:extLst>
                <a:ext uri="{FF2B5EF4-FFF2-40B4-BE49-F238E27FC236}">
                  <a16:creationId xmlns:a16="http://schemas.microsoft.com/office/drawing/2014/main" id="{D6314DFE-D9DF-B42C-CAC3-BD7DFF4D8B37}"/>
                </a:ext>
              </a:extLst>
            </p:cNvPr>
            <p:cNvCxnSpPr>
              <a:cxnSpLocks noChangeShapeType="1"/>
            </p:cNvCxnSpPr>
            <p:nvPr/>
          </p:nvCxnSpPr>
          <p:spPr bwMode="auto">
            <a:xfrm>
              <a:off x="2839677" y="2315193"/>
              <a:ext cx="1789473" cy="0"/>
            </a:xfrm>
            <a:prstGeom prst="line">
              <a:avLst/>
            </a:prstGeom>
            <a:noFill/>
            <a:ln w="9525" algn="ctr">
              <a:solidFill>
                <a:schemeClr val="tx1"/>
              </a:solidFill>
              <a:round/>
              <a:headEnd/>
              <a:tailEnd type="none" w="sm" len="sm"/>
            </a:ln>
            <a:extLst>
              <a:ext uri="{909E8E84-426E-40DD-AFC4-6F175D3DCCD1}">
                <a14:hiddenFill xmlns:a14="http://schemas.microsoft.com/office/drawing/2010/main">
                  <a:noFill/>
                </a14:hiddenFill>
              </a:ext>
            </a:extLst>
          </p:spPr>
        </p:cxnSp>
        <p:sp>
          <p:nvSpPr>
            <p:cNvPr id="31" name="正方形/長方形 31">
              <a:extLst>
                <a:ext uri="{FF2B5EF4-FFF2-40B4-BE49-F238E27FC236}">
                  <a16:creationId xmlns:a16="http://schemas.microsoft.com/office/drawing/2014/main" id="{54873A7C-5F6F-A40B-640E-2A28957F74A6}"/>
                </a:ext>
              </a:extLst>
            </p:cNvPr>
            <p:cNvSpPr>
              <a:spLocks noChangeArrowheads="1"/>
            </p:cNvSpPr>
            <p:nvPr/>
          </p:nvSpPr>
          <p:spPr bwMode="auto">
            <a:xfrm>
              <a:off x="2839677" y="1987449"/>
              <a:ext cx="1789473" cy="291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type="arrow" w="sm" len="sm"/>
                  <a:tailEnd type="none" w="sm" len="sm"/>
                </a14:hiddenLine>
              </a:ext>
            </a:extLst>
          </p:spPr>
          <p:txBody>
            <a:bodyPr wrap="square"/>
            <a:lstStyle>
              <a:lvl1pPr>
                <a:defRPr kumimoji="1">
                  <a:solidFill>
                    <a:schemeClr val="tx1"/>
                  </a:solidFill>
                  <a:latin typeface="Arial" panose="020B0604020202020204" pitchFamily="34" charset="0"/>
                  <a:ea typeface="ＭＳ Ｐゴシック" panose="020B0600070205080204" pitchFamily="50" charset="-128"/>
                </a:defRPr>
              </a:lvl1pPr>
              <a:lvl2pPr marL="742950" indent="-285750">
                <a:defRPr kumimoji="1">
                  <a:solidFill>
                    <a:schemeClr val="tx1"/>
                  </a:solidFill>
                  <a:latin typeface="Arial" panose="020B0604020202020204" pitchFamily="34" charset="0"/>
                  <a:ea typeface="ＭＳ Ｐゴシック" panose="020B0600070205080204" pitchFamily="50" charset="-128"/>
                </a:defRPr>
              </a:lvl2pPr>
              <a:lvl3pPr marL="1143000" indent="-228600">
                <a:defRPr kumimoji="1">
                  <a:solidFill>
                    <a:schemeClr val="tx1"/>
                  </a:solidFill>
                  <a:latin typeface="Arial" panose="020B0604020202020204" pitchFamily="34" charset="0"/>
                  <a:ea typeface="ＭＳ Ｐゴシック" panose="020B0600070205080204" pitchFamily="50" charset="-128"/>
                </a:defRPr>
              </a:lvl3pPr>
              <a:lvl4pPr marL="1600200" indent="-228600">
                <a:defRPr kumimoji="1">
                  <a:solidFill>
                    <a:schemeClr val="tx1"/>
                  </a:solidFill>
                  <a:latin typeface="Arial" panose="020B0604020202020204" pitchFamily="34" charset="0"/>
                  <a:ea typeface="ＭＳ Ｐゴシック" panose="020B0600070205080204" pitchFamily="50" charset="-128"/>
                </a:defRPr>
              </a:lvl4pPr>
              <a:lvl5pPr marL="2057400" indent="-22860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r>
                <a:rPr lang="ja-JP" altLang="en-US" sz="1100" dirty="0">
                  <a:latin typeface="Meiryo UI" panose="020B0604030504040204" pitchFamily="50" charset="-128"/>
                  <a:ea typeface="Meiryo UI" panose="020B0604030504040204" pitchFamily="50" charset="-128"/>
                </a:rPr>
                <a:t>具体例</a:t>
              </a:r>
            </a:p>
          </p:txBody>
        </p:sp>
      </p:grpSp>
    </p:spTree>
    <p:extLst>
      <p:ext uri="{BB962C8B-B14F-4D97-AF65-F5344CB8AC3E}">
        <p14:creationId xmlns:p14="http://schemas.microsoft.com/office/powerpoint/2010/main" val="1455329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9A3E7E-0DD5-D872-EB16-D61D1067D6B4}"/>
              </a:ext>
            </a:extLst>
          </p:cNvPr>
          <p:cNvSpPr>
            <a:spLocks noGrp="1"/>
          </p:cNvSpPr>
          <p:nvPr>
            <p:ph type="title"/>
          </p:nvPr>
        </p:nvSpPr>
        <p:spPr/>
        <p:txBody>
          <a:bodyPr/>
          <a:lstStyle/>
          <a:p>
            <a:r>
              <a:rPr kumimoji="1" lang="en-US" altLang="ja-JP" dirty="0"/>
              <a:t>MTBJ</a:t>
            </a:r>
            <a:r>
              <a:rPr kumimoji="1" lang="ja-JP" altLang="en-US" dirty="0"/>
              <a:t>システム概要図（抜粋）</a:t>
            </a:r>
          </a:p>
        </p:txBody>
      </p:sp>
      <p:sp>
        <p:nvSpPr>
          <p:cNvPr id="4" name="テキスト プレースホルダー 3">
            <a:extLst>
              <a:ext uri="{FF2B5EF4-FFF2-40B4-BE49-F238E27FC236}">
                <a16:creationId xmlns:a16="http://schemas.microsoft.com/office/drawing/2014/main" id="{6838FC65-EDA8-1863-E879-301C18BA596C}"/>
              </a:ext>
            </a:extLst>
          </p:cNvPr>
          <p:cNvSpPr>
            <a:spLocks noGrp="1"/>
          </p:cNvSpPr>
          <p:nvPr>
            <p:ph type="body" sz="quarter" idx="13"/>
          </p:nvPr>
        </p:nvSpPr>
        <p:spPr/>
        <p:txBody>
          <a:bodyPr/>
          <a:lstStyle/>
          <a:p>
            <a:endParaRPr kumimoji="1" lang="ja-JP" altLang="en-US"/>
          </a:p>
        </p:txBody>
      </p:sp>
      <p:grpSp>
        <p:nvGrpSpPr>
          <p:cNvPr id="57" name="グループ化 56">
            <a:extLst>
              <a:ext uri="{FF2B5EF4-FFF2-40B4-BE49-F238E27FC236}">
                <a16:creationId xmlns:a16="http://schemas.microsoft.com/office/drawing/2014/main" id="{94C783A4-6CA3-0220-D9ED-D44814807A55}"/>
              </a:ext>
            </a:extLst>
          </p:cNvPr>
          <p:cNvGrpSpPr/>
          <p:nvPr/>
        </p:nvGrpSpPr>
        <p:grpSpPr>
          <a:xfrm>
            <a:off x="488504" y="1283855"/>
            <a:ext cx="8928000" cy="5096550"/>
            <a:chOff x="934460" y="480358"/>
            <a:chExt cx="8037081" cy="5900047"/>
          </a:xfrm>
        </p:grpSpPr>
        <p:sp>
          <p:nvSpPr>
            <p:cNvPr id="5" name="正方形/長方形 4">
              <a:extLst>
                <a:ext uri="{FF2B5EF4-FFF2-40B4-BE49-F238E27FC236}">
                  <a16:creationId xmlns:a16="http://schemas.microsoft.com/office/drawing/2014/main" id="{76B99868-61B2-D435-B19E-27E46802320B}"/>
                </a:ext>
              </a:extLst>
            </p:cNvPr>
            <p:cNvSpPr/>
            <p:nvPr/>
          </p:nvSpPr>
          <p:spPr>
            <a:xfrm>
              <a:off x="1684276" y="617982"/>
              <a:ext cx="5666575" cy="5296857"/>
            </a:xfrm>
            <a:prstGeom prst="rect">
              <a:avLst/>
            </a:prstGeom>
            <a:solidFill>
              <a:srgbClr val="323232">
                <a:lumMod val="10000"/>
                <a:lumOff val="90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t"/>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endParaRPr kumimoji="1" lang="ja-JP" altLang="en-US" sz="1100" b="1" dirty="0">
                <a:solidFill>
                  <a:srgbClr val="323232"/>
                </a:solidFill>
              </a:endParaRPr>
            </a:p>
          </p:txBody>
        </p:sp>
        <p:sp>
          <p:nvSpPr>
            <p:cNvPr id="6" name="L 字 5">
              <a:extLst>
                <a:ext uri="{FF2B5EF4-FFF2-40B4-BE49-F238E27FC236}">
                  <a16:creationId xmlns:a16="http://schemas.microsoft.com/office/drawing/2014/main" id="{0AB06444-25B2-9710-B30E-67CCC22DB0AA}"/>
                </a:ext>
              </a:extLst>
            </p:cNvPr>
            <p:cNvSpPr/>
            <p:nvPr/>
          </p:nvSpPr>
          <p:spPr>
            <a:xfrm>
              <a:off x="1956132" y="1810071"/>
              <a:ext cx="2508938" cy="3895196"/>
            </a:xfrm>
            <a:prstGeom prst="corner">
              <a:avLst>
                <a:gd name="adj1" fmla="val 28584"/>
                <a:gd name="adj2" fmla="val 31060"/>
              </a:avLst>
            </a:prstGeom>
            <a:solidFill>
              <a:srgbClr val="406A7A">
                <a:lumMod val="20000"/>
                <a:lumOff val="80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endParaRPr kumimoji="1" lang="ja-JP" altLang="en-US" sz="1100"/>
            </a:p>
          </p:txBody>
        </p:sp>
        <p:sp>
          <p:nvSpPr>
            <p:cNvPr id="7" name="正方形/長方形 6">
              <a:extLst>
                <a:ext uri="{FF2B5EF4-FFF2-40B4-BE49-F238E27FC236}">
                  <a16:creationId xmlns:a16="http://schemas.microsoft.com/office/drawing/2014/main" id="{41ADCA7F-4EF0-8A11-6553-32DFB3251FE9}"/>
                </a:ext>
              </a:extLst>
            </p:cNvPr>
            <p:cNvSpPr/>
            <p:nvPr/>
          </p:nvSpPr>
          <p:spPr>
            <a:xfrm>
              <a:off x="2089632" y="2106409"/>
              <a:ext cx="514772" cy="2603308"/>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r>
                <a:rPr kumimoji="1" lang="ja-JP" altLang="en-US" sz="1000" dirty="0">
                  <a:solidFill>
                    <a:srgbClr val="323232"/>
                  </a:solidFill>
                </a:rPr>
                <a:t>取引決済共通</a:t>
              </a:r>
            </a:p>
          </p:txBody>
        </p:sp>
        <p:sp>
          <p:nvSpPr>
            <p:cNvPr id="8" name="正方形/長方形 7">
              <a:extLst>
                <a:ext uri="{FF2B5EF4-FFF2-40B4-BE49-F238E27FC236}">
                  <a16:creationId xmlns:a16="http://schemas.microsoft.com/office/drawing/2014/main" id="{95BFB3B1-FA05-03C5-1C59-BED59C9EFB78}"/>
                </a:ext>
              </a:extLst>
            </p:cNvPr>
            <p:cNvSpPr/>
            <p:nvPr/>
          </p:nvSpPr>
          <p:spPr>
            <a:xfrm>
              <a:off x="2698411" y="5174676"/>
              <a:ext cx="825963" cy="427409"/>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r>
                <a:rPr kumimoji="1" lang="en-US" altLang="ja-JP" sz="1000" dirty="0">
                  <a:solidFill>
                    <a:srgbClr val="323232"/>
                  </a:solidFill>
                </a:rPr>
                <a:t>W-BANK</a:t>
              </a:r>
              <a:endParaRPr kumimoji="1" lang="ja-JP" altLang="en-US" sz="1000" dirty="0">
                <a:solidFill>
                  <a:srgbClr val="323232"/>
                </a:solidFill>
              </a:endParaRPr>
            </a:p>
          </p:txBody>
        </p:sp>
        <p:sp>
          <p:nvSpPr>
            <p:cNvPr id="9" name="正方形/長方形 8">
              <a:extLst>
                <a:ext uri="{FF2B5EF4-FFF2-40B4-BE49-F238E27FC236}">
                  <a16:creationId xmlns:a16="http://schemas.microsoft.com/office/drawing/2014/main" id="{3F1D7B0A-C434-6225-5DAC-FEDF907F81F0}"/>
                </a:ext>
              </a:extLst>
            </p:cNvPr>
            <p:cNvSpPr/>
            <p:nvPr/>
          </p:nvSpPr>
          <p:spPr>
            <a:xfrm>
              <a:off x="3584172" y="5174676"/>
              <a:ext cx="825963" cy="427409"/>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r>
                <a:rPr kumimoji="1" lang="en-US" altLang="ja-JP" sz="1000" dirty="0">
                  <a:solidFill>
                    <a:srgbClr val="323232"/>
                  </a:solidFill>
                </a:rPr>
                <a:t>RTGS</a:t>
              </a:r>
            </a:p>
            <a:p>
              <a:pPr algn="ctr"/>
              <a:r>
                <a:rPr lang="ja-JP" altLang="en-US" sz="1000" dirty="0">
                  <a:solidFill>
                    <a:srgbClr val="323232"/>
                  </a:solidFill>
                </a:rPr>
                <a:t>流動性管理</a:t>
              </a:r>
              <a:endParaRPr kumimoji="1" lang="ja-JP" altLang="en-US" sz="1000" dirty="0">
                <a:solidFill>
                  <a:srgbClr val="323232"/>
                </a:solidFill>
              </a:endParaRPr>
            </a:p>
          </p:txBody>
        </p:sp>
        <p:sp>
          <p:nvSpPr>
            <p:cNvPr id="10" name="正方形/長方形 9">
              <a:extLst>
                <a:ext uri="{FF2B5EF4-FFF2-40B4-BE49-F238E27FC236}">
                  <a16:creationId xmlns:a16="http://schemas.microsoft.com/office/drawing/2014/main" id="{87E303E8-E672-3736-2292-870311F686EB}"/>
                </a:ext>
              </a:extLst>
            </p:cNvPr>
            <p:cNvSpPr/>
            <p:nvPr/>
          </p:nvSpPr>
          <p:spPr>
            <a:xfrm>
              <a:off x="2950598" y="1810071"/>
              <a:ext cx="1310554" cy="2977429"/>
            </a:xfrm>
            <a:prstGeom prst="rect">
              <a:avLst/>
            </a:prstGeom>
            <a:solidFill>
              <a:srgbClr val="FF2600">
                <a:lumMod val="40000"/>
                <a:lumOff val="60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endParaRPr kumimoji="1" lang="ja-JP" altLang="en-US" sz="1100"/>
            </a:p>
          </p:txBody>
        </p:sp>
        <p:sp>
          <p:nvSpPr>
            <p:cNvPr id="11" name="正方形/長方形 10">
              <a:extLst>
                <a:ext uri="{FF2B5EF4-FFF2-40B4-BE49-F238E27FC236}">
                  <a16:creationId xmlns:a16="http://schemas.microsoft.com/office/drawing/2014/main" id="{EA4535B5-89A2-B9F1-70A8-E32652153BEF}"/>
                </a:ext>
              </a:extLst>
            </p:cNvPr>
            <p:cNvSpPr/>
            <p:nvPr/>
          </p:nvSpPr>
          <p:spPr>
            <a:xfrm>
              <a:off x="3166007" y="1931056"/>
              <a:ext cx="916993" cy="427409"/>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r>
                <a:rPr kumimoji="1" lang="ja-JP" altLang="en-US" sz="1000" dirty="0">
                  <a:solidFill>
                    <a:srgbClr val="323232"/>
                  </a:solidFill>
                </a:rPr>
                <a:t>外国証券</a:t>
              </a:r>
            </a:p>
          </p:txBody>
        </p:sp>
        <p:sp>
          <p:nvSpPr>
            <p:cNvPr id="12" name="正方形/長方形 11">
              <a:extLst>
                <a:ext uri="{FF2B5EF4-FFF2-40B4-BE49-F238E27FC236}">
                  <a16:creationId xmlns:a16="http://schemas.microsoft.com/office/drawing/2014/main" id="{B07A7927-ED72-14BA-F843-A1C68C282DE6}"/>
                </a:ext>
              </a:extLst>
            </p:cNvPr>
            <p:cNvSpPr/>
            <p:nvPr/>
          </p:nvSpPr>
          <p:spPr>
            <a:xfrm>
              <a:off x="3161839" y="2510681"/>
              <a:ext cx="916993" cy="427409"/>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r>
                <a:rPr kumimoji="1" lang="ja-JP" altLang="en-US" sz="1000" dirty="0">
                  <a:solidFill>
                    <a:srgbClr val="323232"/>
                  </a:solidFill>
                </a:rPr>
                <a:t>新債券</a:t>
              </a:r>
            </a:p>
          </p:txBody>
        </p:sp>
        <p:sp>
          <p:nvSpPr>
            <p:cNvPr id="13" name="正方形/長方形 12">
              <a:extLst>
                <a:ext uri="{FF2B5EF4-FFF2-40B4-BE49-F238E27FC236}">
                  <a16:creationId xmlns:a16="http://schemas.microsoft.com/office/drawing/2014/main" id="{A2FE296B-2BE3-F195-15F5-75C33E701CFF}"/>
                </a:ext>
              </a:extLst>
            </p:cNvPr>
            <p:cNvSpPr/>
            <p:nvPr/>
          </p:nvSpPr>
          <p:spPr>
            <a:xfrm>
              <a:off x="3161839" y="3091069"/>
              <a:ext cx="916993" cy="427409"/>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r>
                <a:rPr kumimoji="1" lang="ja-JP" altLang="en-US" sz="1000" dirty="0">
                  <a:solidFill>
                    <a:srgbClr val="323232"/>
                  </a:solidFill>
                </a:rPr>
                <a:t>株式</a:t>
              </a:r>
            </a:p>
          </p:txBody>
        </p:sp>
        <p:sp>
          <p:nvSpPr>
            <p:cNvPr id="14" name="正方形/長方形 13">
              <a:extLst>
                <a:ext uri="{FF2B5EF4-FFF2-40B4-BE49-F238E27FC236}">
                  <a16:creationId xmlns:a16="http://schemas.microsoft.com/office/drawing/2014/main" id="{03CFDD54-2DC1-66DF-50F6-85DB211C462D}"/>
                </a:ext>
              </a:extLst>
            </p:cNvPr>
            <p:cNvSpPr/>
            <p:nvPr/>
          </p:nvSpPr>
          <p:spPr>
            <a:xfrm>
              <a:off x="3166007" y="3672317"/>
              <a:ext cx="916993" cy="427409"/>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r>
                <a:rPr kumimoji="1" lang="ja-JP" altLang="en-US" sz="1000" dirty="0">
                  <a:solidFill>
                    <a:srgbClr val="323232"/>
                  </a:solidFill>
                </a:rPr>
                <a:t>金融先物</a:t>
              </a:r>
            </a:p>
          </p:txBody>
        </p:sp>
        <p:sp>
          <p:nvSpPr>
            <p:cNvPr id="15" name="正方形/長方形 14">
              <a:extLst>
                <a:ext uri="{FF2B5EF4-FFF2-40B4-BE49-F238E27FC236}">
                  <a16:creationId xmlns:a16="http://schemas.microsoft.com/office/drawing/2014/main" id="{93B2086C-E894-3225-E33D-A40FAD4A0559}"/>
                </a:ext>
              </a:extLst>
            </p:cNvPr>
            <p:cNvSpPr/>
            <p:nvPr/>
          </p:nvSpPr>
          <p:spPr>
            <a:xfrm>
              <a:off x="3166007" y="4243367"/>
              <a:ext cx="916993" cy="427409"/>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r>
                <a:rPr kumimoji="1" lang="ja-JP" altLang="en-US" sz="1000" dirty="0">
                  <a:solidFill>
                    <a:srgbClr val="323232"/>
                  </a:solidFill>
                </a:rPr>
                <a:t>デリバティブ管理</a:t>
              </a:r>
            </a:p>
          </p:txBody>
        </p:sp>
        <p:sp>
          <p:nvSpPr>
            <p:cNvPr id="16" name="正方形/長方形 15">
              <a:extLst>
                <a:ext uri="{FF2B5EF4-FFF2-40B4-BE49-F238E27FC236}">
                  <a16:creationId xmlns:a16="http://schemas.microsoft.com/office/drawing/2014/main" id="{4A7907FE-3AF7-D39A-47E3-C9502FA2AE30}"/>
                </a:ext>
              </a:extLst>
            </p:cNvPr>
            <p:cNvSpPr/>
            <p:nvPr/>
          </p:nvSpPr>
          <p:spPr>
            <a:xfrm>
              <a:off x="4575347" y="1807008"/>
              <a:ext cx="1045965" cy="2977428"/>
            </a:xfrm>
            <a:prstGeom prst="rect">
              <a:avLst/>
            </a:prstGeom>
            <a:solidFill>
              <a:srgbClr val="FF2600">
                <a:lumMod val="60000"/>
                <a:lumOff val="40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endParaRPr kumimoji="1" lang="ja-JP" altLang="en-US" sz="1100"/>
            </a:p>
          </p:txBody>
        </p:sp>
        <p:sp>
          <p:nvSpPr>
            <p:cNvPr id="17" name="正方形/長方形 16">
              <a:extLst>
                <a:ext uri="{FF2B5EF4-FFF2-40B4-BE49-F238E27FC236}">
                  <a16:creationId xmlns:a16="http://schemas.microsoft.com/office/drawing/2014/main" id="{C4C22DFA-243E-C0F5-0862-A9CD7173A228}"/>
                </a:ext>
              </a:extLst>
            </p:cNvPr>
            <p:cNvSpPr/>
            <p:nvPr/>
          </p:nvSpPr>
          <p:spPr>
            <a:xfrm>
              <a:off x="4723565" y="2215724"/>
              <a:ext cx="752475" cy="2112371"/>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r>
                <a:rPr kumimoji="1" lang="ja-JP" altLang="en-US" sz="1000" dirty="0">
                  <a:solidFill>
                    <a:srgbClr val="323232"/>
                  </a:solidFill>
                </a:rPr>
                <a:t>投信</a:t>
              </a:r>
              <a:endParaRPr kumimoji="1" lang="en-US" altLang="ja-JP" sz="1000" dirty="0">
                <a:solidFill>
                  <a:srgbClr val="323232"/>
                </a:solidFill>
              </a:endParaRPr>
            </a:p>
            <a:p>
              <a:pPr algn="ctr"/>
              <a:r>
                <a:rPr kumimoji="1" lang="ja-JP" altLang="en-US" sz="1000" dirty="0">
                  <a:solidFill>
                    <a:srgbClr val="323232"/>
                  </a:solidFill>
                </a:rPr>
                <a:t>ファンド</a:t>
              </a:r>
              <a:endParaRPr kumimoji="1" lang="en-US" altLang="ja-JP" sz="1000" dirty="0">
                <a:solidFill>
                  <a:srgbClr val="323232"/>
                </a:solidFill>
              </a:endParaRPr>
            </a:p>
            <a:p>
              <a:pPr algn="ctr"/>
              <a:r>
                <a:rPr lang="ja-JP" altLang="en-US" sz="1000" dirty="0">
                  <a:solidFill>
                    <a:srgbClr val="323232"/>
                  </a:solidFill>
                </a:rPr>
                <a:t>管理</a:t>
              </a:r>
              <a:endParaRPr kumimoji="1" lang="ja-JP" altLang="en-US" sz="1000" dirty="0">
                <a:solidFill>
                  <a:srgbClr val="323232"/>
                </a:solidFill>
              </a:endParaRPr>
            </a:p>
          </p:txBody>
        </p:sp>
        <p:sp>
          <p:nvSpPr>
            <p:cNvPr id="18" name="正方形/長方形 17">
              <a:extLst>
                <a:ext uri="{FF2B5EF4-FFF2-40B4-BE49-F238E27FC236}">
                  <a16:creationId xmlns:a16="http://schemas.microsoft.com/office/drawing/2014/main" id="{1502E260-61FC-B2D3-594F-87341BFAC80B}"/>
                </a:ext>
              </a:extLst>
            </p:cNvPr>
            <p:cNvSpPr/>
            <p:nvPr/>
          </p:nvSpPr>
          <p:spPr>
            <a:xfrm>
              <a:off x="5976520" y="1805284"/>
              <a:ext cx="1045965" cy="2977881"/>
            </a:xfrm>
            <a:prstGeom prst="rect">
              <a:avLst/>
            </a:prstGeom>
            <a:solidFill>
              <a:srgbClr val="406A7A">
                <a:lumMod val="60000"/>
                <a:lumOff val="40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endParaRPr kumimoji="1" lang="ja-JP" altLang="en-US" sz="1100"/>
            </a:p>
          </p:txBody>
        </p:sp>
        <p:sp>
          <p:nvSpPr>
            <p:cNvPr id="19" name="正方形/長方形 18">
              <a:extLst>
                <a:ext uri="{FF2B5EF4-FFF2-40B4-BE49-F238E27FC236}">
                  <a16:creationId xmlns:a16="http://schemas.microsoft.com/office/drawing/2014/main" id="{695D634E-EEB3-6EF0-47F6-E870F85F8F10}"/>
                </a:ext>
              </a:extLst>
            </p:cNvPr>
            <p:cNvSpPr/>
            <p:nvPr/>
          </p:nvSpPr>
          <p:spPr>
            <a:xfrm>
              <a:off x="6122459" y="2215724"/>
              <a:ext cx="752475" cy="2112371"/>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r>
                <a:rPr kumimoji="1" lang="en-US" altLang="ja-JP" sz="1000" dirty="0" err="1">
                  <a:solidFill>
                    <a:srgbClr val="323232"/>
                  </a:solidFill>
                </a:rPr>
                <a:t>MaiNet</a:t>
              </a:r>
              <a:endParaRPr kumimoji="1" lang="ja-JP" altLang="en-US" sz="1000" dirty="0">
                <a:solidFill>
                  <a:srgbClr val="323232"/>
                </a:solidFill>
              </a:endParaRPr>
            </a:p>
          </p:txBody>
        </p:sp>
        <p:sp>
          <p:nvSpPr>
            <p:cNvPr id="20" name="正方形/長方形 19">
              <a:extLst>
                <a:ext uri="{FF2B5EF4-FFF2-40B4-BE49-F238E27FC236}">
                  <a16:creationId xmlns:a16="http://schemas.microsoft.com/office/drawing/2014/main" id="{DA6F2863-DC1B-D67D-04A4-923CA08F7CBF}"/>
                </a:ext>
              </a:extLst>
            </p:cNvPr>
            <p:cNvSpPr/>
            <p:nvPr/>
          </p:nvSpPr>
          <p:spPr>
            <a:xfrm>
              <a:off x="958270" y="2213407"/>
              <a:ext cx="369275" cy="3158954"/>
            </a:xfrm>
            <a:prstGeom prst="rect">
              <a:avLst/>
            </a:prstGeom>
            <a:solidFill>
              <a:srgbClr val="323232">
                <a:lumMod val="25000"/>
                <a:lumOff val="75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r>
                <a:rPr kumimoji="1" lang="ja-JP" altLang="en-US" sz="1000" dirty="0">
                  <a:solidFill>
                    <a:srgbClr val="323232"/>
                  </a:solidFill>
                </a:rPr>
                <a:t>投信委託・運用者・ブローカー等</a:t>
              </a:r>
            </a:p>
          </p:txBody>
        </p:sp>
        <p:sp>
          <p:nvSpPr>
            <p:cNvPr id="21" name="正方形/長方形 20">
              <a:extLst>
                <a:ext uri="{FF2B5EF4-FFF2-40B4-BE49-F238E27FC236}">
                  <a16:creationId xmlns:a16="http://schemas.microsoft.com/office/drawing/2014/main" id="{6C97F8F9-F9D8-0CD3-F04D-0AF89EF25B0E}"/>
                </a:ext>
              </a:extLst>
            </p:cNvPr>
            <p:cNvSpPr/>
            <p:nvPr/>
          </p:nvSpPr>
          <p:spPr>
            <a:xfrm>
              <a:off x="8598350" y="1463325"/>
              <a:ext cx="373191" cy="4043419"/>
            </a:xfrm>
            <a:prstGeom prst="rect">
              <a:avLst/>
            </a:prstGeom>
            <a:solidFill>
              <a:srgbClr val="323232">
                <a:lumMod val="25000"/>
                <a:lumOff val="75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r>
                <a:rPr kumimoji="1" lang="ja-JP" altLang="en-US" sz="1000" dirty="0">
                  <a:solidFill>
                    <a:srgbClr val="323232"/>
                  </a:solidFill>
                </a:rPr>
                <a:t>投信委託・運用者等</a:t>
              </a:r>
            </a:p>
          </p:txBody>
        </p:sp>
        <p:sp>
          <p:nvSpPr>
            <p:cNvPr id="22" name="正方形/長方形 21">
              <a:extLst>
                <a:ext uri="{FF2B5EF4-FFF2-40B4-BE49-F238E27FC236}">
                  <a16:creationId xmlns:a16="http://schemas.microsoft.com/office/drawing/2014/main" id="{BA540443-44AF-7E32-48B3-2E19CD7C8783}"/>
                </a:ext>
              </a:extLst>
            </p:cNvPr>
            <p:cNvSpPr/>
            <p:nvPr/>
          </p:nvSpPr>
          <p:spPr>
            <a:xfrm>
              <a:off x="1616802" y="6034436"/>
              <a:ext cx="3102375" cy="345969"/>
            </a:xfrm>
            <a:prstGeom prst="rect">
              <a:avLst/>
            </a:prstGeom>
            <a:solidFill>
              <a:srgbClr val="323232">
                <a:lumMod val="25000"/>
                <a:lumOff val="75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r>
                <a:rPr kumimoji="1" lang="ja-JP" altLang="en-US" sz="1000" dirty="0">
                  <a:solidFill>
                    <a:srgbClr val="323232"/>
                  </a:solidFill>
                </a:rPr>
                <a:t>決済システム・カストディ等</a:t>
              </a:r>
            </a:p>
          </p:txBody>
        </p:sp>
        <p:sp>
          <p:nvSpPr>
            <p:cNvPr id="23" name="正方形/長方形 22">
              <a:extLst>
                <a:ext uri="{FF2B5EF4-FFF2-40B4-BE49-F238E27FC236}">
                  <a16:creationId xmlns:a16="http://schemas.microsoft.com/office/drawing/2014/main" id="{8310A089-EE6D-35B6-B41F-F02323B092D6}"/>
                </a:ext>
              </a:extLst>
            </p:cNvPr>
            <p:cNvSpPr/>
            <p:nvPr/>
          </p:nvSpPr>
          <p:spPr>
            <a:xfrm>
              <a:off x="1956132" y="997929"/>
              <a:ext cx="5066353" cy="382635"/>
            </a:xfrm>
            <a:prstGeom prst="rect">
              <a:avLst/>
            </a:prstGeom>
            <a:solidFill>
              <a:srgbClr val="FF2600">
                <a:lumMod val="20000"/>
                <a:lumOff val="80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endParaRPr kumimoji="1" lang="ja-JP" altLang="en-US" sz="1100"/>
            </a:p>
          </p:txBody>
        </p:sp>
        <p:sp>
          <p:nvSpPr>
            <p:cNvPr id="24" name="正方形/長方形 23">
              <a:extLst>
                <a:ext uri="{FF2B5EF4-FFF2-40B4-BE49-F238E27FC236}">
                  <a16:creationId xmlns:a16="http://schemas.microsoft.com/office/drawing/2014/main" id="{B25D17F5-0D27-F7DD-7CB7-46C5B86408D7}"/>
                </a:ext>
              </a:extLst>
            </p:cNvPr>
            <p:cNvSpPr/>
            <p:nvPr/>
          </p:nvSpPr>
          <p:spPr>
            <a:xfrm>
              <a:off x="3032439" y="1063961"/>
              <a:ext cx="2897980" cy="230536"/>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r>
                <a:rPr kumimoji="1" lang="ja-JP" altLang="en-US" sz="1100" dirty="0">
                  <a:solidFill>
                    <a:srgbClr val="323232"/>
                  </a:solidFill>
                </a:rPr>
                <a:t>共通リソース</a:t>
              </a:r>
            </a:p>
          </p:txBody>
        </p:sp>
        <p:sp>
          <p:nvSpPr>
            <p:cNvPr id="25" name="矢印: 右 24">
              <a:extLst>
                <a:ext uri="{FF2B5EF4-FFF2-40B4-BE49-F238E27FC236}">
                  <a16:creationId xmlns:a16="http://schemas.microsoft.com/office/drawing/2014/main" id="{4629C43C-5B5D-29FE-D29F-52F61B3021BE}"/>
                </a:ext>
              </a:extLst>
            </p:cNvPr>
            <p:cNvSpPr/>
            <p:nvPr/>
          </p:nvSpPr>
          <p:spPr>
            <a:xfrm>
              <a:off x="2684663" y="3140717"/>
              <a:ext cx="445445" cy="518036"/>
            </a:xfrm>
            <a:prstGeom prst="rightArrow">
              <a:avLst/>
            </a:prstGeom>
            <a:solidFill>
              <a:srgbClr val="FFFFFF"/>
            </a:solidFill>
            <a:ln w="12700" cap="flat" cmpd="sng" algn="ctr">
              <a:solidFill>
                <a:srgbClr val="323232"/>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endParaRPr kumimoji="1" lang="ja-JP" altLang="en-US" sz="1100"/>
            </a:p>
          </p:txBody>
        </p:sp>
        <p:sp>
          <p:nvSpPr>
            <p:cNvPr id="26" name="矢印: 右 25">
              <a:extLst>
                <a:ext uri="{FF2B5EF4-FFF2-40B4-BE49-F238E27FC236}">
                  <a16:creationId xmlns:a16="http://schemas.microsoft.com/office/drawing/2014/main" id="{26D1551F-954C-540C-FF1D-96078C9995F1}"/>
                </a:ext>
              </a:extLst>
            </p:cNvPr>
            <p:cNvSpPr/>
            <p:nvPr/>
          </p:nvSpPr>
          <p:spPr>
            <a:xfrm>
              <a:off x="4189109" y="3140716"/>
              <a:ext cx="445445" cy="518036"/>
            </a:xfrm>
            <a:prstGeom prst="rightArrow">
              <a:avLst/>
            </a:prstGeom>
            <a:solidFill>
              <a:srgbClr val="FFFFFF"/>
            </a:solidFill>
            <a:ln w="12700" cap="flat" cmpd="sng" algn="ctr">
              <a:solidFill>
                <a:srgbClr val="323232"/>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endParaRPr kumimoji="1" lang="ja-JP" altLang="en-US" sz="1100"/>
            </a:p>
          </p:txBody>
        </p:sp>
        <p:sp>
          <p:nvSpPr>
            <p:cNvPr id="27" name="矢印: 右 26">
              <a:extLst>
                <a:ext uri="{FF2B5EF4-FFF2-40B4-BE49-F238E27FC236}">
                  <a16:creationId xmlns:a16="http://schemas.microsoft.com/office/drawing/2014/main" id="{1BDAF03A-D1E2-17D1-5C16-EFE848E3FBF3}"/>
                </a:ext>
              </a:extLst>
            </p:cNvPr>
            <p:cNvSpPr/>
            <p:nvPr/>
          </p:nvSpPr>
          <p:spPr>
            <a:xfrm>
              <a:off x="5562773" y="3713500"/>
              <a:ext cx="445445" cy="518036"/>
            </a:xfrm>
            <a:prstGeom prst="rightArrow">
              <a:avLst/>
            </a:prstGeom>
            <a:solidFill>
              <a:srgbClr val="FFFFFF"/>
            </a:solidFill>
            <a:ln w="12700" cap="flat" cmpd="sng" algn="ctr">
              <a:solidFill>
                <a:srgbClr val="323232"/>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endParaRPr kumimoji="1" lang="ja-JP" altLang="en-US" sz="1100"/>
            </a:p>
          </p:txBody>
        </p:sp>
        <p:sp>
          <p:nvSpPr>
            <p:cNvPr id="28" name="矢印: 下 27">
              <a:extLst>
                <a:ext uri="{FF2B5EF4-FFF2-40B4-BE49-F238E27FC236}">
                  <a16:creationId xmlns:a16="http://schemas.microsoft.com/office/drawing/2014/main" id="{84CDF294-5846-B070-1077-0FC9D05B892B}"/>
                </a:ext>
              </a:extLst>
            </p:cNvPr>
            <p:cNvSpPr/>
            <p:nvPr/>
          </p:nvSpPr>
          <p:spPr>
            <a:xfrm>
              <a:off x="3318170" y="5667101"/>
              <a:ext cx="477150" cy="354812"/>
            </a:xfrm>
            <a:prstGeom prst="downArrow">
              <a:avLst/>
            </a:prstGeom>
            <a:solidFill>
              <a:srgbClr val="FFFFFF"/>
            </a:solidFill>
            <a:ln w="12700" cap="flat" cmpd="sng" algn="ctr">
              <a:solidFill>
                <a:srgbClr val="323232"/>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endParaRPr kumimoji="1" lang="ja-JP" altLang="en-US" sz="1100"/>
            </a:p>
          </p:txBody>
        </p:sp>
        <p:sp>
          <p:nvSpPr>
            <p:cNvPr id="29" name="矢印: 上向き折線 28">
              <a:extLst>
                <a:ext uri="{FF2B5EF4-FFF2-40B4-BE49-F238E27FC236}">
                  <a16:creationId xmlns:a16="http://schemas.microsoft.com/office/drawing/2014/main" id="{1DE4A90D-B783-89B5-F468-2F412E7B717E}"/>
                </a:ext>
              </a:extLst>
            </p:cNvPr>
            <p:cNvSpPr/>
            <p:nvPr/>
          </p:nvSpPr>
          <p:spPr>
            <a:xfrm rot="16200000" flipH="1">
              <a:off x="4511248" y="4776249"/>
              <a:ext cx="742853" cy="568206"/>
            </a:xfrm>
            <a:prstGeom prst="bentUpArrow">
              <a:avLst>
                <a:gd name="adj1" fmla="val 33236"/>
                <a:gd name="adj2" fmla="val 38234"/>
                <a:gd name="adj3" fmla="val 30747"/>
              </a:avLst>
            </a:prstGeom>
            <a:solidFill>
              <a:srgbClr val="FFFFFF"/>
            </a:solidFill>
            <a:ln w="12700" cap="flat" cmpd="sng" algn="ctr">
              <a:solidFill>
                <a:srgbClr val="323232"/>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endParaRPr kumimoji="1" lang="ja-JP" altLang="en-US" sz="1100"/>
            </a:p>
          </p:txBody>
        </p:sp>
        <p:sp>
          <p:nvSpPr>
            <p:cNvPr id="30" name="正方形/長方形 29">
              <a:extLst>
                <a:ext uri="{FF2B5EF4-FFF2-40B4-BE49-F238E27FC236}">
                  <a16:creationId xmlns:a16="http://schemas.microsoft.com/office/drawing/2014/main" id="{37490AE6-A56D-4163-DD15-C1188D4F56C2}"/>
                </a:ext>
              </a:extLst>
            </p:cNvPr>
            <p:cNvSpPr/>
            <p:nvPr/>
          </p:nvSpPr>
          <p:spPr>
            <a:xfrm>
              <a:off x="7467666" y="3572368"/>
              <a:ext cx="511839" cy="802571"/>
            </a:xfrm>
            <a:prstGeom prst="rect">
              <a:avLst/>
            </a:prstGeom>
            <a:solidFill>
              <a:srgbClr val="FFFFFF"/>
            </a:solidFill>
            <a:ln w="12700" cap="flat" cmpd="sng" algn="ctr">
              <a:solidFill>
                <a:srgbClr val="323232"/>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r>
                <a:rPr kumimoji="1" lang="en-US" altLang="ja-JP" sz="1000" dirty="0">
                  <a:solidFill>
                    <a:srgbClr val="323232"/>
                  </a:solidFill>
                </a:rPr>
                <a:t>WEB</a:t>
              </a:r>
              <a:endParaRPr kumimoji="1" lang="ja-JP" altLang="en-US" sz="1000" dirty="0">
                <a:solidFill>
                  <a:srgbClr val="323232"/>
                </a:solidFill>
              </a:endParaRPr>
            </a:p>
          </p:txBody>
        </p:sp>
        <p:sp>
          <p:nvSpPr>
            <p:cNvPr id="31" name="矢印: 右 30">
              <a:extLst>
                <a:ext uri="{FF2B5EF4-FFF2-40B4-BE49-F238E27FC236}">
                  <a16:creationId xmlns:a16="http://schemas.microsoft.com/office/drawing/2014/main" id="{5518C245-48F3-3DDA-C6C1-36BF557DD48C}"/>
                </a:ext>
              </a:extLst>
            </p:cNvPr>
            <p:cNvSpPr/>
            <p:nvPr/>
          </p:nvSpPr>
          <p:spPr>
            <a:xfrm>
              <a:off x="6945535" y="3713500"/>
              <a:ext cx="445445" cy="518036"/>
            </a:xfrm>
            <a:prstGeom prst="rightArrow">
              <a:avLst/>
            </a:prstGeom>
            <a:solidFill>
              <a:srgbClr val="FFFFFF"/>
            </a:solidFill>
            <a:ln w="12700" cap="flat" cmpd="sng" algn="ctr">
              <a:solidFill>
                <a:srgbClr val="323232"/>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endParaRPr kumimoji="1" lang="ja-JP" altLang="en-US" sz="1100"/>
            </a:p>
          </p:txBody>
        </p:sp>
        <p:sp>
          <p:nvSpPr>
            <p:cNvPr id="32" name="矢印: 右 31">
              <a:extLst>
                <a:ext uri="{FF2B5EF4-FFF2-40B4-BE49-F238E27FC236}">
                  <a16:creationId xmlns:a16="http://schemas.microsoft.com/office/drawing/2014/main" id="{AAFCA4B6-490C-D341-0EB7-1FF902F47651}"/>
                </a:ext>
              </a:extLst>
            </p:cNvPr>
            <p:cNvSpPr/>
            <p:nvPr/>
          </p:nvSpPr>
          <p:spPr>
            <a:xfrm>
              <a:off x="1407805" y="3155112"/>
              <a:ext cx="600276" cy="518036"/>
            </a:xfrm>
            <a:prstGeom prst="rightArrow">
              <a:avLst/>
            </a:prstGeom>
            <a:solidFill>
              <a:srgbClr val="FFFFFF"/>
            </a:solidFill>
            <a:ln w="12700" cap="flat" cmpd="sng" algn="ctr">
              <a:solidFill>
                <a:srgbClr val="323232"/>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endParaRPr kumimoji="1" lang="ja-JP" altLang="en-US" sz="1100"/>
            </a:p>
          </p:txBody>
        </p:sp>
        <p:sp>
          <p:nvSpPr>
            <p:cNvPr id="33" name="矢印: 右 32">
              <a:extLst>
                <a:ext uri="{FF2B5EF4-FFF2-40B4-BE49-F238E27FC236}">
                  <a16:creationId xmlns:a16="http://schemas.microsoft.com/office/drawing/2014/main" id="{0C925148-3A44-E6EF-FB0E-25A87F5126D1}"/>
                </a:ext>
              </a:extLst>
            </p:cNvPr>
            <p:cNvSpPr/>
            <p:nvPr/>
          </p:nvSpPr>
          <p:spPr>
            <a:xfrm>
              <a:off x="8082047" y="3713500"/>
              <a:ext cx="445445" cy="518036"/>
            </a:xfrm>
            <a:prstGeom prst="rightArrow">
              <a:avLst/>
            </a:prstGeom>
            <a:solidFill>
              <a:srgbClr val="FFFFFF"/>
            </a:solidFill>
            <a:ln w="12700" cap="flat" cmpd="sng" algn="ctr">
              <a:solidFill>
                <a:srgbClr val="323232"/>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endParaRPr kumimoji="1" lang="ja-JP" altLang="en-US" sz="1100"/>
            </a:p>
          </p:txBody>
        </p:sp>
        <p:sp>
          <p:nvSpPr>
            <p:cNvPr id="34" name="矢印: 下 33">
              <a:extLst>
                <a:ext uri="{FF2B5EF4-FFF2-40B4-BE49-F238E27FC236}">
                  <a16:creationId xmlns:a16="http://schemas.microsoft.com/office/drawing/2014/main" id="{8AEB23A1-2311-1745-957B-020DD8E6FB0C}"/>
                </a:ext>
              </a:extLst>
            </p:cNvPr>
            <p:cNvSpPr/>
            <p:nvPr/>
          </p:nvSpPr>
          <p:spPr>
            <a:xfrm>
              <a:off x="2097957" y="4782751"/>
              <a:ext cx="477150" cy="1215437"/>
            </a:xfrm>
            <a:prstGeom prst="downArrow">
              <a:avLst/>
            </a:prstGeom>
            <a:solidFill>
              <a:srgbClr val="FFFFFF"/>
            </a:solidFill>
            <a:ln w="12700" cap="flat" cmpd="sng" algn="ctr">
              <a:solidFill>
                <a:srgbClr val="323232"/>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endParaRPr kumimoji="1" lang="ja-JP" altLang="en-US" sz="1100"/>
            </a:p>
          </p:txBody>
        </p:sp>
        <p:sp>
          <p:nvSpPr>
            <p:cNvPr id="35" name="フローチャート: 処理 34">
              <a:extLst>
                <a:ext uri="{FF2B5EF4-FFF2-40B4-BE49-F238E27FC236}">
                  <a16:creationId xmlns:a16="http://schemas.microsoft.com/office/drawing/2014/main" id="{9BA21CEF-270B-2026-0548-2D2198A17EBE}"/>
                </a:ext>
              </a:extLst>
            </p:cNvPr>
            <p:cNvSpPr/>
            <p:nvPr/>
          </p:nvSpPr>
          <p:spPr>
            <a:xfrm>
              <a:off x="1956132" y="480358"/>
              <a:ext cx="806266" cy="406471"/>
            </a:xfrm>
            <a:prstGeom prst="flowChartProcess">
              <a:avLst/>
            </a:prstGeom>
            <a:solidFill>
              <a:srgbClr val="406A7A">
                <a:lumMod val="20000"/>
                <a:lumOff val="80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r>
                <a:rPr kumimoji="1" lang="ja-JP" altLang="en-US" sz="1100">
                  <a:solidFill>
                    <a:srgbClr val="323232"/>
                  </a:solidFill>
                </a:rPr>
                <a:t>決済系</a:t>
              </a:r>
            </a:p>
          </p:txBody>
        </p:sp>
        <p:sp>
          <p:nvSpPr>
            <p:cNvPr id="36" name="フローチャート: 処理 35">
              <a:extLst>
                <a:ext uri="{FF2B5EF4-FFF2-40B4-BE49-F238E27FC236}">
                  <a16:creationId xmlns:a16="http://schemas.microsoft.com/office/drawing/2014/main" id="{F850AABD-7660-5B2E-7755-5A32AB0BADA0}"/>
                </a:ext>
              </a:extLst>
            </p:cNvPr>
            <p:cNvSpPr/>
            <p:nvPr/>
          </p:nvSpPr>
          <p:spPr>
            <a:xfrm>
              <a:off x="3210601" y="481571"/>
              <a:ext cx="806266" cy="406471"/>
            </a:xfrm>
            <a:prstGeom prst="flowChartProcess">
              <a:avLst/>
            </a:prstGeom>
            <a:solidFill>
              <a:srgbClr val="FF2600">
                <a:lumMod val="40000"/>
                <a:lumOff val="60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r>
                <a:rPr kumimoji="1" lang="ja-JP" altLang="en-US" sz="1100">
                  <a:solidFill>
                    <a:srgbClr val="323232"/>
                  </a:solidFill>
                </a:rPr>
                <a:t>商品系</a:t>
              </a:r>
            </a:p>
          </p:txBody>
        </p:sp>
        <p:sp>
          <p:nvSpPr>
            <p:cNvPr id="37" name="フローチャート: 処理 36">
              <a:extLst>
                <a:ext uri="{FF2B5EF4-FFF2-40B4-BE49-F238E27FC236}">
                  <a16:creationId xmlns:a16="http://schemas.microsoft.com/office/drawing/2014/main" id="{1A493F15-432B-491D-1475-0D049C835EDD}"/>
                </a:ext>
              </a:extLst>
            </p:cNvPr>
            <p:cNvSpPr/>
            <p:nvPr/>
          </p:nvSpPr>
          <p:spPr>
            <a:xfrm>
              <a:off x="4693238" y="481277"/>
              <a:ext cx="849954" cy="406471"/>
            </a:xfrm>
            <a:prstGeom prst="flowChartProcess">
              <a:avLst/>
            </a:prstGeom>
            <a:solidFill>
              <a:srgbClr val="FF2600">
                <a:lumMod val="60000"/>
                <a:lumOff val="40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r>
                <a:rPr kumimoji="1" lang="ja-JP" altLang="en-US" sz="1100">
                  <a:solidFill>
                    <a:srgbClr val="323232"/>
                  </a:solidFill>
                </a:rPr>
                <a:t>ファンド系</a:t>
              </a:r>
            </a:p>
          </p:txBody>
        </p:sp>
        <p:sp>
          <p:nvSpPr>
            <p:cNvPr id="38" name="フローチャート: 処理 37">
              <a:extLst>
                <a:ext uri="{FF2B5EF4-FFF2-40B4-BE49-F238E27FC236}">
                  <a16:creationId xmlns:a16="http://schemas.microsoft.com/office/drawing/2014/main" id="{5CCAE16E-4C90-6480-6DBA-1A949BF243DD}"/>
                </a:ext>
              </a:extLst>
            </p:cNvPr>
            <p:cNvSpPr/>
            <p:nvPr/>
          </p:nvSpPr>
          <p:spPr>
            <a:xfrm>
              <a:off x="6095563" y="481571"/>
              <a:ext cx="806266" cy="406471"/>
            </a:xfrm>
            <a:prstGeom prst="flowChartProcess">
              <a:avLst/>
            </a:prstGeom>
            <a:solidFill>
              <a:srgbClr val="406A7A">
                <a:lumMod val="60000"/>
                <a:lumOff val="40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r>
                <a:rPr kumimoji="1" lang="ja-JP" altLang="en-US" sz="1100">
                  <a:solidFill>
                    <a:srgbClr val="323232"/>
                  </a:solidFill>
                </a:rPr>
                <a:t>開示系</a:t>
              </a:r>
            </a:p>
          </p:txBody>
        </p:sp>
        <p:sp>
          <p:nvSpPr>
            <p:cNvPr id="39" name="矢印: 上向き折線 38">
              <a:extLst>
                <a:ext uri="{FF2B5EF4-FFF2-40B4-BE49-F238E27FC236}">
                  <a16:creationId xmlns:a16="http://schemas.microsoft.com/office/drawing/2014/main" id="{60A709F4-FABE-44A2-B0F4-177254358D97}"/>
                </a:ext>
              </a:extLst>
            </p:cNvPr>
            <p:cNvSpPr/>
            <p:nvPr/>
          </p:nvSpPr>
          <p:spPr>
            <a:xfrm flipV="1">
              <a:off x="1368254" y="1463324"/>
              <a:ext cx="2427066" cy="406827"/>
            </a:xfrm>
            <a:prstGeom prst="bentUpArrow">
              <a:avLst>
                <a:gd name="adj1" fmla="val 41258"/>
                <a:gd name="adj2" fmla="val 43454"/>
                <a:gd name="adj3" fmla="val 35393"/>
              </a:avLst>
            </a:prstGeom>
            <a:solidFill>
              <a:srgbClr val="FFFFFF"/>
            </a:solidFill>
            <a:ln w="12700" cap="flat" cmpd="sng" algn="ctr">
              <a:solidFill>
                <a:srgbClr val="323232"/>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endParaRPr kumimoji="1" lang="ja-JP" altLang="en-US" sz="1100"/>
            </a:p>
          </p:txBody>
        </p:sp>
        <p:sp>
          <p:nvSpPr>
            <p:cNvPr id="40" name="正方形/長方形 39">
              <a:extLst>
                <a:ext uri="{FF2B5EF4-FFF2-40B4-BE49-F238E27FC236}">
                  <a16:creationId xmlns:a16="http://schemas.microsoft.com/office/drawing/2014/main" id="{54025774-981F-425A-97B0-BBCCBBB641E0}"/>
                </a:ext>
              </a:extLst>
            </p:cNvPr>
            <p:cNvSpPr/>
            <p:nvPr/>
          </p:nvSpPr>
          <p:spPr>
            <a:xfrm>
              <a:off x="934460" y="1201166"/>
              <a:ext cx="393086" cy="729728"/>
            </a:xfrm>
            <a:prstGeom prst="rect">
              <a:avLst/>
            </a:prstGeom>
            <a:solidFill>
              <a:srgbClr val="323232">
                <a:lumMod val="25000"/>
                <a:lumOff val="75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r>
                <a:rPr kumimoji="1" lang="ja-JP" altLang="en-US" sz="1000" dirty="0">
                  <a:solidFill>
                    <a:srgbClr val="323232"/>
                  </a:solidFill>
                </a:rPr>
                <a:t>外部</a:t>
              </a:r>
              <a:endParaRPr kumimoji="1" lang="en-US" altLang="ja-JP" sz="1000" dirty="0">
                <a:solidFill>
                  <a:srgbClr val="323232"/>
                </a:solidFill>
              </a:endParaRPr>
            </a:p>
            <a:p>
              <a:pPr algn="ctr"/>
              <a:r>
                <a:rPr kumimoji="1" lang="ja-JP" altLang="en-US" sz="1000" dirty="0">
                  <a:solidFill>
                    <a:srgbClr val="323232"/>
                  </a:solidFill>
                </a:rPr>
                <a:t>ベンダー</a:t>
              </a:r>
            </a:p>
          </p:txBody>
        </p:sp>
        <p:sp>
          <p:nvSpPr>
            <p:cNvPr id="41" name="矢印: 左右 40">
              <a:extLst>
                <a:ext uri="{FF2B5EF4-FFF2-40B4-BE49-F238E27FC236}">
                  <a16:creationId xmlns:a16="http://schemas.microsoft.com/office/drawing/2014/main" id="{4642ED50-6F19-2145-B95D-DFAFB2BA8AEF}"/>
                </a:ext>
              </a:extLst>
            </p:cNvPr>
            <p:cNvSpPr/>
            <p:nvPr/>
          </p:nvSpPr>
          <p:spPr>
            <a:xfrm>
              <a:off x="6901829" y="2473868"/>
              <a:ext cx="1625663" cy="518036"/>
            </a:xfrm>
            <a:prstGeom prst="leftRightArrow">
              <a:avLst/>
            </a:prstGeom>
            <a:solidFill>
              <a:srgbClr val="FFFFFF"/>
            </a:solidFill>
            <a:ln w="12700" cap="flat" cmpd="sng" algn="ctr">
              <a:solidFill>
                <a:srgbClr val="323232"/>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endParaRPr kumimoji="1" lang="ja-JP" altLang="en-US" sz="1100"/>
            </a:p>
          </p:txBody>
        </p:sp>
        <p:sp>
          <p:nvSpPr>
            <p:cNvPr id="42" name="矢印: 左右 41">
              <a:extLst>
                <a:ext uri="{FF2B5EF4-FFF2-40B4-BE49-F238E27FC236}">
                  <a16:creationId xmlns:a16="http://schemas.microsoft.com/office/drawing/2014/main" id="{F2C7844D-1205-4DEF-9A82-61EEC898BEBD}"/>
                </a:ext>
              </a:extLst>
            </p:cNvPr>
            <p:cNvSpPr/>
            <p:nvPr/>
          </p:nvSpPr>
          <p:spPr>
            <a:xfrm>
              <a:off x="5475932" y="2473868"/>
              <a:ext cx="619125" cy="518036"/>
            </a:xfrm>
            <a:prstGeom prst="leftRightArrow">
              <a:avLst>
                <a:gd name="adj1" fmla="val 50000"/>
                <a:gd name="adj2" fmla="val 38879"/>
              </a:avLst>
            </a:prstGeom>
            <a:solidFill>
              <a:srgbClr val="FFFFFF"/>
            </a:solidFill>
            <a:ln w="12700" cap="flat" cmpd="sng" algn="ctr">
              <a:solidFill>
                <a:srgbClr val="323232"/>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endParaRPr kumimoji="1" lang="ja-JP" altLang="en-US" sz="1100"/>
            </a:p>
          </p:txBody>
        </p:sp>
        <p:sp>
          <p:nvSpPr>
            <p:cNvPr id="43" name="矢印: 下 42">
              <a:extLst>
                <a:ext uri="{FF2B5EF4-FFF2-40B4-BE49-F238E27FC236}">
                  <a16:creationId xmlns:a16="http://schemas.microsoft.com/office/drawing/2014/main" id="{70AA3776-F753-23B5-B9BA-1FA6B9FFD057}"/>
                </a:ext>
              </a:extLst>
            </p:cNvPr>
            <p:cNvSpPr/>
            <p:nvPr/>
          </p:nvSpPr>
          <p:spPr>
            <a:xfrm>
              <a:off x="3318170" y="4734122"/>
              <a:ext cx="477150" cy="354812"/>
            </a:xfrm>
            <a:prstGeom prst="downArrow">
              <a:avLst/>
            </a:prstGeom>
            <a:solidFill>
              <a:srgbClr val="FFFFFF"/>
            </a:solidFill>
            <a:ln w="12700" cap="flat" cmpd="sng" algn="ctr">
              <a:solidFill>
                <a:srgbClr val="323232"/>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ja-JP"/>
              </a:defPPr>
              <a:lvl1pPr algn="l" defTabSz="995363" rtl="0" eaLnBrk="0" fontAlgn="base" hangingPunct="0">
                <a:spcBef>
                  <a:spcPct val="0"/>
                </a:spcBef>
                <a:spcAft>
                  <a:spcPct val="0"/>
                </a:spcAft>
                <a:defRPr kumimoji="1" sz="1900" kern="1200">
                  <a:solidFill>
                    <a:schemeClr val="lt1"/>
                  </a:solidFill>
                  <a:latin typeface="+mn-lt"/>
                  <a:ea typeface="+mn-ea"/>
                  <a:cs typeface="+mn-cs"/>
                </a:defRPr>
              </a:lvl1pPr>
              <a:lvl2pPr marL="496888" indent="-39688" algn="l" defTabSz="995363" rtl="0" eaLnBrk="0" fontAlgn="base" hangingPunct="0">
                <a:spcBef>
                  <a:spcPct val="0"/>
                </a:spcBef>
                <a:spcAft>
                  <a:spcPct val="0"/>
                </a:spcAft>
                <a:defRPr kumimoji="1" sz="1900" kern="1200">
                  <a:solidFill>
                    <a:schemeClr val="lt1"/>
                  </a:solidFill>
                  <a:latin typeface="+mn-lt"/>
                  <a:ea typeface="+mn-ea"/>
                  <a:cs typeface="+mn-cs"/>
                </a:defRPr>
              </a:lvl2pPr>
              <a:lvl3pPr marL="995363" indent="-80963" algn="l" defTabSz="995363" rtl="0" eaLnBrk="0" fontAlgn="base" hangingPunct="0">
                <a:spcBef>
                  <a:spcPct val="0"/>
                </a:spcBef>
                <a:spcAft>
                  <a:spcPct val="0"/>
                </a:spcAft>
                <a:defRPr kumimoji="1" sz="1900" kern="1200">
                  <a:solidFill>
                    <a:schemeClr val="lt1"/>
                  </a:solidFill>
                  <a:latin typeface="+mn-lt"/>
                  <a:ea typeface="+mn-ea"/>
                  <a:cs typeface="+mn-cs"/>
                </a:defRPr>
              </a:lvl3pPr>
              <a:lvl4pPr marL="1492250" indent="-120650" algn="l" defTabSz="995363" rtl="0" eaLnBrk="0" fontAlgn="base" hangingPunct="0">
                <a:spcBef>
                  <a:spcPct val="0"/>
                </a:spcBef>
                <a:spcAft>
                  <a:spcPct val="0"/>
                </a:spcAft>
                <a:defRPr kumimoji="1" sz="1900" kern="1200">
                  <a:solidFill>
                    <a:schemeClr val="lt1"/>
                  </a:solidFill>
                  <a:latin typeface="+mn-lt"/>
                  <a:ea typeface="+mn-ea"/>
                  <a:cs typeface="+mn-cs"/>
                </a:defRPr>
              </a:lvl4pPr>
              <a:lvl5pPr marL="1990725" indent="-161925" algn="l" defTabSz="995363" rtl="0" eaLnBrk="0" fontAlgn="base" hangingPunct="0">
                <a:spcBef>
                  <a:spcPct val="0"/>
                </a:spcBef>
                <a:spcAft>
                  <a:spcPct val="0"/>
                </a:spcAft>
                <a:defRPr kumimoji="1" sz="1900" kern="1200">
                  <a:solidFill>
                    <a:schemeClr val="lt1"/>
                  </a:solidFill>
                  <a:latin typeface="+mn-lt"/>
                  <a:ea typeface="+mn-ea"/>
                  <a:cs typeface="+mn-cs"/>
                </a:defRPr>
              </a:lvl5pPr>
              <a:lvl6pPr marL="2286000" algn="l" defTabSz="914400" rtl="0" eaLnBrk="1" latinLnBrk="0" hangingPunct="1">
                <a:defRPr kumimoji="1" sz="1900" kern="1200">
                  <a:solidFill>
                    <a:schemeClr val="lt1"/>
                  </a:solidFill>
                  <a:latin typeface="+mn-lt"/>
                  <a:ea typeface="+mn-ea"/>
                  <a:cs typeface="+mn-cs"/>
                </a:defRPr>
              </a:lvl6pPr>
              <a:lvl7pPr marL="2743200" algn="l" defTabSz="914400" rtl="0" eaLnBrk="1" latinLnBrk="0" hangingPunct="1">
                <a:defRPr kumimoji="1" sz="1900" kern="1200">
                  <a:solidFill>
                    <a:schemeClr val="lt1"/>
                  </a:solidFill>
                  <a:latin typeface="+mn-lt"/>
                  <a:ea typeface="+mn-ea"/>
                  <a:cs typeface="+mn-cs"/>
                </a:defRPr>
              </a:lvl7pPr>
              <a:lvl8pPr marL="3200400" algn="l" defTabSz="914400" rtl="0" eaLnBrk="1" latinLnBrk="0" hangingPunct="1">
                <a:defRPr kumimoji="1" sz="1900" kern="1200">
                  <a:solidFill>
                    <a:schemeClr val="lt1"/>
                  </a:solidFill>
                  <a:latin typeface="+mn-lt"/>
                  <a:ea typeface="+mn-ea"/>
                  <a:cs typeface="+mn-cs"/>
                </a:defRPr>
              </a:lvl8pPr>
              <a:lvl9pPr marL="3657600" algn="l" defTabSz="914400" rtl="0" eaLnBrk="1" latinLnBrk="0" hangingPunct="1">
                <a:defRPr kumimoji="1" sz="1900" kern="1200">
                  <a:solidFill>
                    <a:schemeClr val="lt1"/>
                  </a:solidFill>
                  <a:latin typeface="+mn-lt"/>
                  <a:ea typeface="+mn-ea"/>
                  <a:cs typeface="+mn-cs"/>
                </a:defRPr>
              </a:lvl9pPr>
            </a:lstStyle>
            <a:p>
              <a:pPr algn="ctr"/>
              <a:endParaRPr kumimoji="1" lang="ja-JP" altLang="en-US" sz="1100"/>
            </a:p>
          </p:txBody>
        </p:sp>
        <p:sp>
          <p:nvSpPr>
            <p:cNvPr id="44" name="テキスト ボックス 2">
              <a:extLst>
                <a:ext uri="{FF2B5EF4-FFF2-40B4-BE49-F238E27FC236}">
                  <a16:creationId xmlns:a16="http://schemas.microsoft.com/office/drawing/2014/main" id="{19A10D6D-5D4C-60FC-06DE-7703020DB30E}"/>
                </a:ext>
              </a:extLst>
            </p:cNvPr>
            <p:cNvSpPr txBox="1"/>
            <p:nvPr/>
          </p:nvSpPr>
          <p:spPr>
            <a:xfrm>
              <a:off x="3729338" y="1381548"/>
              <a:ext cx="680797" cy="400110"/>
            </a:xfrm>
            <a:prstGeom prst="rect">
              <a:avLst/>
            </a:prstGeom>
            <a:noFill/>
            <a:ln>
              <a:noFill/>
            </a:ln>
          </p:spPr>
          <p:txBody>
            <a:bodyPr wrap="square" rtlCol="0">
              <a:spAutoFit/>
            </a:bodyPr>
            <a:lstStyle>
              <a:defPPr>
                <a:defRPr lang="ja-JP"/>
              </a:defPPr>
              <a:lvl1pPr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1pPr>
              <a:lvl2pPr marL="496888" indent="-39688"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2pPr>
              <a:lvl3pPr marL="995363" indent="-80963"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3pPr>
              <a:lvl4pPr marL="1492250" indent="-120650"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4pPr>
              <a:lvl5pPr marL="1990725" indent="-161925"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9pPr>
            </a:lstStyle>
            <a:p>
              <a:pPr algn="l"/>
              <a:r>
                <a:rPr kumimoji="1" lang="ja-JP" altLang="en-US" sz="1000" dirty="0">
                  <a:latin typeface="+mn-ea"/>
                  <a:ea typeface="+mn-ea"/>
                </a:rPr>
                <a:t>リソース</a:t>
              </a:r>
              <a:endParaRPr kumimoji="1" lang="en-US" altLang="ja-JP" sz="1000" dirty="0">
                <a:latin typeface="+mn-ea"/>
                <a:ea typeface="+mn-ea"/>
              </a:endParaRPr>
            </a:p>
            <a:p>
              <a:pPr algn="l"/>
              <a:r>
                <a:rPr kumimoji="1" lang="ja-JP" altLang="en-US" sz="1000" dirty="0">
                  <a:latin typeface="+mn-ea"/>
                  <a:ea typeface="+mn-ea"/>
                </a:rPr>
                <a:t>情報</a:t>
              </a:r>
            </a:p>
          </p:txBody>
        </p:sp>
        <p:sp>
          <p:nvSpPr>
            <p:cNvPr id="45" name="テキスト ボックス 3">
              <a:extLst>
                <a:ext uri="{FF2B5EF4-FFF2-40B4-BE49-F238E27FC236}">
                  <a16:creationId xmlns:a16="http://schemas.microsoft.com/office/drawing/2014/main" id="{027FB5B9-9A1F-3699-D5B1-E5E1A464265C}"/>
                </a:ext>
              </a:extLst>
            </p:cNvPr>
            <p:cNvSpPr txBox="1"/>
            <p:nvPr/>
          </p:nvSpPr>
          <p:spPr>
            <a:xfrm>
              <a:off x="1327745" y="2945980"/>
              <a:ext cx="471751" cy="246221"/>
            </a:xfrm>
            <a:prstGeom prst="rect">
              <a:avLst/>
            </a:prstGeom>
            <a:noFill/>
            <a:ln>
              <a:noFill/>
            </a:ln>
          </p:spPr>
          <p:txBody>
            <a:bodyPr wrap="square" rtlCol="0">
              <a:spAutoFit/>
            </a:bodyPr>
            <a:lstStyle>
              <a:defPPr>
                <a:defRPr lang="ja-JP"/>
              </a:defPPr>
              <a:lvl1pPr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1pPr>
              <a:lvl2pPr marL="496888" indent="-39688"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2pPr>
              <a:lvl3pPr marL="995363" indent="-80963"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3pPr>
              <a:lvl4pPr marL="1492250" indent="-120650"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4pPr>
              <a:lvl5pPr marL="1990725" indent="-161925"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9pPr>
            </a:lstStyle>
            <a:p>
              <a:pPr algn="l"/>
              <a:r>
                <a:rPr kumimoji="1" lang="ja-JP" altLang="en-US" sz="1000" dirty="0">
                  <a:latin typeface="+mn-ea"/>
                  <a:ea typeface="+mn-ea"/>
                </a:rPr>
                <a:t>指図</a:t>
              </a:r>
            </a:p>
          </p:txBody>
        </p:sp>
        <p:sp>
          <p:nvSpPr>
            <p:cNvPr id="46" name="テキスト ボックス 5">
              <a:extLst>
                <a:ext uri="{FF2B5EF4-FFF2-40B4-BE49-F238E27FC236}">
                  <a16:creationId xmlns:a16="http://schemas.microsoft.com/office/drawing/2014/main" id="{8D7F7E89-4C19-D6A1-B5E9-863E6F8E2C1B}"/>
                </a:ext>
              </a:extLst>
            </p:cNvPr>
            <p:cNvSpPr txBox="1"/>
            <p:nvPr/>
          </p:nvSpPr>
          <p:spPr>
            <a:xfrm>
              <a:off x="1272855" y="3613694"/>
              <a:ext cx="645653" cy="246221"/>
            </a:xfrm>
            <a:prstGeom prst="rect">
              <a:avLst/>
            </a:prstGeom>
            <a:noFill/>
            <a:ln>
              <a:noFill/>
            </a:ln>
          </p:spPr>
          <p:txBody>
            <a:bodyPr wrap="square" rtlCol="0">
              <a:spAutoFit/>
            </a:bodyPr>
            <a:lstStyle>
              <a:defPPr>
                <a:defRPr lang="ja-JP"/>
              </a:defPPr>
              <a:lvl1pPr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1pPr>
              <a:lvl2pPr marL="496888" indent="-39688"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2pPr>
              <a:lvl3pPr marL="995363" indent="-80963"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3pPr>
              <a:lvl4pPr marL="1492250" indent="-120650"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4pPr>
              <a:lvl5pPr marL="1990725" indent="-161925"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9pPr>
            </a:lstStyle>
            <a:p>
              <a:pPr algn="l"/>
              <a:r>
                <a:rPr lang="en-US" altLang="ja-JP" sz="1000" dirty="0">
                  <a:latin typeface="+mn-ea"/>
                  <a:ea typeface="+mn-ea"/>
                </a:rPr>
                <a:t>CONF</a:t>
              </a:r>
            </a:p>
          </p:txBody>
        </p:sp>
        <p:sp>
          <p:nvSpPr>
            <p:cNvPr id="47" name="テキスト ボックス 7">
              <a:extLst>
                <a:ext uri="{FF2B5EF4-FFF2-40B4-BE49-F238E27FC236}">
                  <a16:creationId xmlns:a16="http://schemas.microsoft.com/office/drawing/2014/main" id="{D135641B-707B-C93A-B98A-46E4F7962FB4}"/>
                </a:ext>
              </a:extLst>
            </p:cNvPr>
            <p:cNvSpPr txBox="1"/>
            <p:nvPr/>
          </p:nvSpPr>
          <p:spPr>
            <a:xfrm>
              <a:off x="1645516" y="5154943"/>
              <a:ext cx="600276" cy="400110"/>
            </a:xfrm>
            <a:prstGeom prst="rect">
              <a:avLst/>
            </a:prstGeom>
            <a:noFill/>
            <a:ln>
              <a:noFill/>
            </a:ln>
          </p:spPr>
          <p:txBody>
            <a:bodyPr wrap="square" rtlCol="0">
              <a:spAutoFit/>
            </a:bodyPr>
            <a:lstStyle>
              <a:defPPr>
                <a:defRPr lang="ja-JP"/>
              </a:defPPr>
              <a:lvl1pPr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1pPr>
              <a:lvl2pPr marL="496888" indent="-39688"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2pPr>
              <a:lvl3pPr marL="995363" indent="-80963"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3pPr>
              <a:lvl4pPr marL="1492250" indent="-120650"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4pPr>
              <a:lvl5pPr marL="1990725" indent="-161925"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9pPr>
            </a:lstStyle>
            <a:p>
              <a:pPr algn="l"/>
              <a:r>
                <a:rPr lang="ja-JP" altLang="en-US" sz="1000" dirty="0">
                  <a:latin typeface="+mn-ea"/>
                  <a:ea typeface="+mn-ea"/>
                </a:rPr>
                <a:t>決済</a:t>
              </a:r>
              <a:endParaRPr lang="en-US" altLang="ja-JP" sz="1000" dirty="0">
                <a:latin typeface="+mn-ea"/>
                <a:ea typeface="+mn-ea"/>
              </a:endParaRPr>
            </a:p>
            <a:p>
              <a:pPr algn="l"/>
              <a:r>
                <a:rPr lang="ja-JP" altLang="en-US" sz="1000" dirty="0">
                  <a:latin typeface="+mn-ea"/>
                  <a:ea typeface="+mn-ea"/>
                </a:rPr>
                <a:t>データ</a:t>
              </a:r>
              <a:endParaRPr lang="en-US" altLang="ja-JP" sz="1000" dirty="0">
                <a:latin typeface="+mn-ea"/>
                <a:ea typeface="+mn-ea"/>
              </a:endParaRPr>
            </a:p>
          </p:txBody>
        </p:sp>
        <p:sp>
          <p:nvSpPr>
            <p:cNvPr id="48" name="テキスト ボックス 8">
              <a:extLst>
                <a:ext uri="{FF2B5EF4-FFF2-40B4-BE49-F238E27FC236}">
                  <a16:creationId xmlns:a16="http://schemas.microsoft.com/office/drawing/2014/main" id="{B995BD08-E325-CEFF-A411-CADDDC0F6572}"/>
                </a:ext>
              </a:extLst>
            </p:cNvPr>
            <p:cNvSpPr txBox="1"/>
            <p:nvPr/>
          </p:nvSpPr>
          <p:spPr>
            <a:xfrm>
              <a:off x="2856249" y="4725567"/>
              <a:ext cx="600276" cy="400110"/>
            </a:xfrm>
            <a:prstGeom prst="rect">
              <a:avLst/>
            </a:prstGeom>
            <a:noFill/>
            <a:ln>
              <a:noFill/>
            </a:ln>
          </p:spPr>
          <p:txBody>
            <a:bodyPr wrap="square" rtlCol="0">
              <a:spAutoFit/>
            </a:bodyPr>
            <a:lstStyle>
              <a:defPPr>
                <a:defRPr lang="ja-JP"/>
              </a:defPPr>
              <a:lvl1pPr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1pPr>
              <a:lvl2pPr marL="496888" indent="-39688"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2pPr>
              <a:lvl3pPr marL="995363" indent="-80963"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3pPr>
              <a:lvl4pPr marL="1492250" indent="-120650"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4pPr>
              <a:lvl5pPr marL="1990725" indent="-161925"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9pPr>
            </a:lstStyle>
            <a:p>
              <a:pPr algn="l"/>
              <a:r>
                <a:rPr lang="ja-JP" altLang="en-US" sz="1000" dirty="0">
                  <a:latin typeface="+mn-ea"/>
                  <a:ea typeface="+mn-ea"/>
                </a:rPr>
                <a:t>決済</a:t>
              </a:r>
              <a:endParaRPr lang="en-US" altLang="ja-JP" sz="1000" dirty="0">
                <a:latin typeface="+mn-ea"/>
                <a:ea typeface="+mn-ea"/>
              </a:endParaRPr>
            </a:p>
            <a:p>
              <a:pPr algn="l"/>
              <a:r>
                <a:rPr lang="ja-JP" altLang="en-US" sz="1000" dirty="0">
                  <a:latin typeface="+mn-ea"/>
                  <a:ea typeface="+mn-ea"/>
                </a:rPr>
                <a:t>データ</a:t>
              </a:r>
              <a:endParaRPr lang="en-US" altLang="ja-JP" sz="1000" dirty="0">
                <a:latin typeface="+mn-ea"/>
                <a:ea typeface="+mn-ea"/>
              </a:endParaRPr>
            </a:p>
          </p:txBody>
        </p:sp>
        <p:sp>
          <p:nvSpPr>
            <p:cNvPr id="49" name="テキスト ボックス 9">
              <a:extLst>
                <a:ext uri="{FF2B5EF4-FFF2-40B4-BE49-F238E27FC236}">
                  <a16:creationId xmlns:a16="http://schemas.microsoft.com/office/drawing/2014/main" id="{D3307FEA-9E38-9F2E-04C9-F64A35376662}"/>
                </a:ext>
              </a:extLst>
            </p:cNvPr>
            <p:cNvSpPr txBox="1"/>
            <p:nvPr/>
          </p:nvSpPr>
          <p:spPr>
            <a:xfrm>
              <a:off x="2829970" y="5629083"/>
              <a:ext cx="600276" cy="400110"/>
            </a:xfrm>
            <a:prstGeom prst="rect">
              <a:avLst/>
            </a:prstGeom>
            <a:noFill/>
            <a:ln>
              <a:noFill/>
            </a:ln>
          </p:spPr>
          <p:txBody>
            <a:bodyPr wrap="square" rtlCol="0">
              <a:spAutoFit/>
            </a:bodyPr>
            <a:lstStyle>
              <a:defPPr>
                <a:defRPr lang="ja-JP"/>
              </a:defPPr>
              <a:lvl1pPr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1pPr>
              <a:lvl2pPr marL="496888" indent="-39688"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2pPr>
              <a:lvl3pPr marL="995363" indent="-80963"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3pPr>
              <a:lvl4pPr marL="1492250" indent="-120650"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4pPr>
              <a:lvl5pPr marL="1990725" indent="-161925"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9pPr>
            </a:lstStyle>
            <a:p>
              <a:pPr algn="l"/>
              <a:r>
                <a:rPr lang="ja-JP" altLang="en-US" sz="1000" dirty="0">
                  <a:latin typeface="+mn-ea"/>
                  <a:ea typeface="+mn-ea"/>
                </a:rPr>
                <a:t>決済</a:t>
              </a:r>
              <a:endParaRPr lang="en-US" altLang="ja-JP" sz="1000" dirty="0">
                <a:latin typeface="+mn-ea"/>
                <a:ea typeface="+mn-ea"/>
              </a:endParaRPr>
            </a:p>
            <a:p>
              <a:pPr algn="l"/>
              <a:r>
                <a:rPr lang="ja-JP" altLang="en-US" sz="1000" dirty="0">
                  <a:latin typeface="+mn-ea"/>
                  <a:ea typeface="+mn-ea"/>
                </a:rPr>
                <a:t>データ</a:t>
              </a:r>
              <a:endParaRPr lang="en-US" altLang="ja-JP" sz="1000" dirty="0">
                <a:latin typeface="+mn-ea"/>
                <a:ea typeface="+mn-ea"/>
              </a:endParaRPr>
            </a:p>
          </p:txBody>
        </p:sp>
        <p:sp>
          <p:nvSpPr>
            <p:cNvPr id="50" name="テキスト ボックス 10">
              <a:extLst>
                <a:ext uri="{FF2B5EF4-FFF2-40B4-BE49-F238E27FC236}">
                  <a16:creationId xmlns:a16="http://schemas.microsoft.com/office/drawing/2014/main" id="{33BB5581-40DB-FB37-4D69-0A594AA32846}"/>
                </a:ext>
              </a:extLst>
            </p:cNvPr>
            <p:cNvSpPr txBox="1"/>
            <p:nvPr/>
          </p:nvSpPr>
          <p:spPr>
            <a:xfrm>
              <a:off x="5182662" y="5061654"/>
              <a:ext cx="600276" cy="400110"/>
            </a:xfrm>
            <a:prstGeom prst="rect">
              <a:avLst/>
            </a:prstGeom>
            <a:noFill/>
            <a:ln>
              <a:noFill/>
            </a:ln>
          </p:spPr>
          <p:txBody>
            <a:bodyPr wrap="square" rtlCol="0">
              <a:spAutoFit/>
            </a:bodyPr>
            <a:lstStyle>
              <a:defPPr>
                <a:defRPr lang="ja-JP"/>
              </a:defPPr>
              <a:lvl1pPr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1pPr>
              <a:lvl2pPr marL="496888" indent="-39688"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2pPr>
              <a:lvl3pPr marL="995363" indent="-80963"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3pPr>
              <a:lvl4pPr marL="1492250" indent="-120650"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4pPr>
              <a:lvl5pPr marL="1990725" indent="-161925"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9pPr>
            </a:lstStyle>
            <a:p>
              <a:pPr algn="l"/>
              <a:r>
                <a:rPr lang="ja-JP" altLang="en-US" sz="1000" dirty="0">
                  <a:latin typeface="+mn-ea"/>
                  <a:ea typeface="+mn-ea"/>
                </a:rPr>
                <a:t>決済</a:t>
              </a:r>
              <a:endParaRPr lang="en-US" altLang="ja-JP" sz="1000" dirty="0">
                <a:latin typeface="+mn-ea"/>
                <a:ea typeface="+mn-ea"/>
              </a:endParaRPr>
            </a:p>
            <a:p>
              <a:pPr algn="l"/>
              <a:r>
                <a:rPr lang="ja-JP" altLang="en-US" sz="1000" dirty="0">
                  <a:latin typeface="+mn-ea"/>
                  <a:ea typeface="+mn-ea"/>
                </a:rPr>
                <a:t>データ</a:t>
              </a:r>
              <a:endParaRPr lang="en-US" altLang="ja-JP" sz="1000" dirty="0">
                <a:latin typeface="+mn-ea"/>
                <a:ea typeface="+mn-ea"/>
              </a:endParaRPr>
            </a:p>
          </p:txBody>
        </p:sp>
        <p:sp>
          <p:nvSpPr>
            <p:cNvPr id="51" name="テキスト ボックス 11">
              <a:extLst>
                <a:ext uri="{FF2B5EF4-FFF2-40B4-BE49-F238E27FC236}">
                  <a16:creationId xmlns:a16="http://schemas.microsoft.com/office/drawing/2014/main" id="{780D551E-4BEF-5EFF-3414-77A6CB4C1C7D}"/>
                </a:ext>
              </a:extLst>
            </p:cNvPr>
            <p:cNvSpPr txBox="1"/>
            <p:nvPr/>
          </p:nvSpPr>
          <p:spPr>
            <a:xfrm>
              <a:off x="7093343" y="2078248"/>
              <a:ext cx="1308575" cy="400110"/>
            </a:xfrm>
            <a:prstGeom prst="rect">
              <a:avLst/>
            </a:prstGeom>
            <a:noFill/>
            <a:ln>
              <a:noFill/>
            </a:ln>
          </p:spPr>
          <p:txBody>
            <a:bodyPr wrap="square" rtlCol="0">
              <a:spAutoFit/>
            </a:bodyPr>
            <a:lstStyle>
              <a:defPPr>
                <a:defRPr lang="ja-JP"/>
              </a:defPPr>
              <a:lvl1pPr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1pPr>
              <a:lvl2pPr marL="496888" indent="-39688"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2pPr>
              <a:lvl3pPr marL="995363" indent="-80963"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3pPr>
              <a:lvl4pPr marL="1492250" indent="-120650"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4pPr>
              <a:lvl5pPr marL="1990725" indent="-161925"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9pPr>
            </a:lstStyle>
            <a:p>
              <a:pPr algn="l"/>
              <a:r>
                <a:rPr kumimoji="1" lang="ja-JP" altLang="en-US" sz="1000" dirty="0">
                  <a:latin typeface="+mn-ea"/>
                  <a:ea typeface="+mn-ea"/>
                </a:rPr>
                <a:t>基準価額</a:t>
              </a:r>
              <a:endParaRPr kumimoji="1" lang="en-US" altLang="ja-JP" sz="1000" dirty="0">
                <a:latin typeface="+mn-ea"/>
                <a:ea typeface="+mn-ea"/>
              </a:endParaRPr>
            </a:p>
            <a:p>
              <a:pPr algn="l"/>
              <a:r>
                <a:rPr kumimoji="1" lang="ja-JP" altLang="en-US" sz="1000" dirty="0">
                  <a:latin typeface="+mn-ea"/>
                  <a:ea typeface="+mn-ea"/>
                </a:rPr>
                <a:t>一致・不一致データ</a:t>
              </a:r>
            </a:p>
          </p:txBody>
        </p:sp>
        <p:sp>
          <p:nvSpPr>
            <p:cNvPr id="52" name="テキスト ボックス 12">
              <a:extLst>
                <a:ext uri="{FF2B5EF4-FFF2-40B4-BE49-F238E27FC236}">
                  <a16:creationId xmlns:a16="http://schemas.microsoft.com/office/drawing/2014/main" id="{50D57725-56C7-6503-1788-3C95AA5F3C0C}"/>
                </a:ext>
              </a:extLst>
            </p:cNvPr>
            <p:cNvSpPr txBox="1"/>
            <p:nvPr/>
          </p:nvSpPr>
          <p:spPr>
            <a:xfrm>
              <a:off x="7230142" y="4334244"/>
              <a:ext cx="1297349" cy="553998"/>
            </a:xfrm>
            <a:prstGeom prst="rect">
              <a:avLst/>
            </a:prstGeom>
            <a:noFill/>
            <a:ln>
              <a:noFill/>
            </a:ln>
          </p:spPr>
          <p:txBody>
            <a:bodyPr wrap="square" rtlCol="0">
              <a:spAutoFit/>
            </a:bodyPr>
            <a:lstStyle>
              <a:defPPr>
                <a:defRPr lang="ja-JP"/>
              </a:defPPr>
              <a:lvl1pPr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1pPr>
              <a:lvl2pPr marL="496888" indent="-39688"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2pPr>
              <a:lvl3pPr marL="995363" indent="-80963"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3pPr>
              <a:lvl4pPr marL="1492250" indent="-120650"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4pPr>
              <a:lvl5pPr marL="1990725" indent="-161925"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9pPr>
            </a:lstStyle>
            <a:p>
              <a:pPr algn="l"/>
              <a:r>
                <a:rPr kumimoji="1" lang="ja-JP" altLang="en-US" sz="1000" dirty="0">
                  <a:latin typeface="+mn-ea"/>
                  <a:ea typeface="+mn-ea"/>
                </a:rPr>
                <a:t>基準価額妥当性検証用レポート</a:t>
              </a:r>
              <a:endParaRPr kumimoji="1" lang="en-US" altLang="ja-JP" sz="1000" dirty="0">
                <a:latin typeface="+mn-ea"/>
                <a:ea typeface="+mn-ea"/>
              </a:endParaRPr>
            </a:p>
            <a:p>
              <a:pPr algn="l"/>
              <a:r>
                <a:rPr lang="en-US" altLang="ja-JP" sz="1000" dirty="0">
                  <a:latin typeface="+mn-ea"/>
                  <a:ea typeface="+mn-ea"/>
                </a:rPr>
                <a:t>(</a:t>
              </a:r>
              <a:r>
                <a:rPr lang="ja-JP" altLang="en-US" sz="1000" dirty="0">
                  <a:latin typeface="+mn-ea"/>
                  <a:ea typeface="+mn-ea"/>
                </a:rPr>
                <a:t>分析評価レポート</a:t>
              </a:r>
              <a:r>
                <a:rPr lang="en-US" altLang="ja-JP" sz="1000" dirty="0">
                  <a:latin typeface="+mn-ea"/>
                  <a:ea typeface="+mn-ea"/>
                </a:rPr>
                <a:t>)</a:t>
              </a:r>
              <a:endParaRPr kumimoji="1" lang="ja-JP" altLang="en-US" sz="1000" dirty="0">
                <a:latin typeface="+mn-ea"/>
                <a:ea typeface="+mn-ea"/>
              </a:endParaRPr>
            </a:p>
          </p:txBody>
        </p:sp>
        <p:sp>
          <p:nvSpPr>
            <p:cNvPr id="53" name="テキスト ボックス 13">
              <a:extLst>
                <a:ext uri="{FF2B5EF4-FFF2-40B4-BE49-F238E27FC236}">
                  <a16:creationId xmlns:a16="http://schemas.microsoft.com/office/drawing/2014/main" id="{94153B1A-EE41-2446-44F1-E4EB63B77CA7}"/>
                </a:ext>
              </a:extLst>
            </p:cNvPr>
            <p:cNvSpPr txBox="1"/>
            <p:nvPr/>
          </p:nvSpPr>
          <p:spPr>
            <a:xfrm>
              <a:off x="2643164" y="2764656"/>
              <a:ext cx="554539" cy="463189"/>
            </a:xfrm>
            <a:prstGeom prst="rect">
              <a:avLst/>
            </a:prstGeom>
            <a:noFill/>
            <a:ln>
              <a:noFill/>
            </a:ln>
          </p:spPr>
          <p:txBody>
            <a:bodyPr wrap="square" rtlCol="0">
              <a:spAutoFit/>
            </a:bodyPr>
            <a:lstStyle>
              <a:defPPr>
                <a:defRPr lang="ja-JP"/>
              </a:defPPr>
              <a:lvl1pPr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1pPr>
              <a:lvl2pPr marL="496888" indent="-39688"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2pPr>
              <a:lvl3pPr marL="995363" indent="-80963"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3pPr>
              <a:lvl4pPr marL="1492250" indent="-120650"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4pPr>
              <a:lvl5pPr marL="1990725" indent="-161925"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9pPr>
            </a:lstStyle>
            <a:p>
              <a:pPr algn="l"/>
              <a:r>
                <a:rPr lang="ja-JP" altLang="en-US" sz="1000" dirty="0">
                  <a:latin typeface="+mn-ea"/>
                  <a:ea typeface="+mn-ea"/>
                </a:rPr>
                <a:t>約定</a:t>
              </a:r>
              <a:endParaRPr lang="en-US" altLang="ja-JP" sz="1000" dirty="0">
                <a:latin typeface="+mn-ea"/>
                <a:ea typeface="+mn-ea"/>
              </a:endParaRPr>
            </a:p>
            <a:p>
              <a:pPr algn="l"/>
              <a:r>
                <a:rPr lang="ja-JP" altLang="en-US" sz="1000" dirty="0">
                  <a:latin typeface="+mn-ea"/>
                  <a:ea typeface="+mn-ea"/>
                </a:rPr>
                <a:t>データ</a:t>
              </a:r>
              <a:endParaRPr kumimoji="1" lang="ja-JP" altLang="en-US" sz="1000" dirty="0">
                <a:latin typeface="+mn-ea"/>
                <a:ea typeface="+mn-ea"/>
              </a:endParaRPr>
            </a:p>
          </p:txBody>
        </p:sp>
        <p:sp>
          <p:nvSpPr>
            <p:cNvPr id="54" name="テキスト ボックス 14">
              <a:extLst>
                <a:ext uri="{FF2B5EF4-FFF2-40B4-BE49-F238E27FC236}">
                  <a16:creationId xmlns:a16="http://schemas.microsoft.com/office/drawing/2014/main" id="{2AF48729-70CA-6699-5463-E9DED977FD32}"/>
                </a:ext>
              </a:extLst>
            </p:cNvPr>
            <p:cNvSpPr txBox="1"/>
            <p:nvPr/>
          </p:nvSpPr>
          <p:spPr>
            <a:xfrm>
              <a:off x="4101094" y="2761114"/>
              <a:ext cx="766147" cy="400110"/>
            </a:xfrm>
            <a:prstGeom prst="rect">
              <a:avLst/>
            </a:prstGeom>
            <a:noFill/>
            <a:ln>
              <a:noFill/>
            </a:ln>
          </p:spPr>
          <p:txBody>
            <a:bodyPr wrap="square" rtlCol="0">
              <a:spAutoFit/>
            </a:bodyPr>
            <a:lstStyle>
              <a:defPPr>
                <a:defRPr lang="ja-JP"/>
              </a:defPPr>
              <a:lvl1pPr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1pPr>
              <a:lvl2pPr marL="496888" indent="-39688"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2pPr>
              <a:lvl3pPr marL="995363" indent="-80963"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3pPr>
              <a:lvl4pPr marL="1492250" indent="-120650"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4pPr>
              <a:lvl5pPr marL="1990725" indent="-161925"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9pPr>
            </a:lstStyle>
            <a:p>
              <a:pPr algn="l"/>
              <a:r>
                <a:rPr kumimoji="1" lang="ja-JP" altLang="en-US" sz="1000" dirty="0">
                  <a:latin typeface="+mn-ea"/>
                  <a:ea typeface="+mn-ea"/>
                </a:rPr>
                <a:t>取引・残高データ</a:t>
              </a:r>
            </a:p>
          </p:txBody>
        </p:sp>
        <p:sp>
          <p:nvSpPr>
            <p:cNvPr id="55" name="テキスト ボックス 16">
              <a:extLst>
                <a:ext uri="{FF2B5EF4-FFF2-40B4-BE49-F238E27FC236}">
                  <a16:creationId xmlns:a16="http://schemas.microsoft.com/office/drawing/2014/main" id="{F73456F3-483C-6B32-7102-242CA52BE9A9}"/>
                </a:ext>
              </a:extLst>
            </p:cNvPr>
            <p:cNvSpPr txBox="1"/>
            <p:nvPr/>
          </p:nvSpPr>
          <p:spPr>
            <a:xfrm>
              <a:off x="5378744" y="2098259"/>
              <a:ext cx="1308575" cy="400110"/>
            </a:xfrm>
            <a:prstGeom prst="rect">
              <a:avLst/>
            </a:prstGeom>
            <a:noFill/>
            <a:ln>
              <a:noFill/>
            </a:ln>
          </p:spPr>
          <p:txBody>
            <a:bodyPr wrap="square" rtlCol="0">
              <a:spAutoFit/>
            </a:bodyPr>
            <a:lstStyle>
              <a:defPPr>
                <a:defRPr lang="ja-JP"/>
              </a:defPPr>
              <a:lvl1pPr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1pPr>
              <a:lvl2pPr marL="496888" indent="-39688"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2pPr>
              <a:lvl3pPr marL="995363" indent="-80963"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3pPr>
              <a:lvl4pPr marL="1492250" indent="-120650"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4pPr>
              <a:lvl5pPr marL="1990725" indent="-161925"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9pPr>
            </a:lstStyle>
            <a:p>
              <a:pPr algn="l"/>
              <a:r>
                <a:rPr kumimoji="1" lang="ja-JP" altLang="en-US" sz="1000" dirty="0">
                  <a:latin typeface="+mn-ea"/>
                  <a:ea typeface="+mn-ea"/>
                </a:rPr>
                <a:t>基準価額</a:t>
              </a:r>
              <a:endParaRPr kumimoji="1" lang="en-US" altLang="ja-JP" sz="1000" dirty="0">
                <a:latin typeface="+mn-ea"/>
                <a:ea typeface="+mn-ea"/>
              </a:endParaRPr>
            </a:p>
            <a:p>
              <a:pPr algn="l"/>
              <a:r>
                <a:rPr kumimoji="1" lang="ja-JP" altLang="en-US" sz="1000" dirty="0">
                  <a:latin typeface="+mn-ea"/>
                  <a:ea typeface="+mn-ea"/>
                </a:rPr>
                <a:t>一致・不一致データ</a:t>
              </a:r>
            </a:p>
          </p:txBody>
        </p:sp>
        <p:sp>
          <p:nvSpPr>
            <p:cNvPr id="56" name="テキスト ボックス 17">
              <a:extLst>
                <a:ext uri="{FF2B5EF4-FFF2-40B4-BE49-F238E27FC236}">
                  <a16:creationId xmlns:a16="http://schemas.microsoft.com/office/drawing/2014/main" id="{4352A19D-82DA-3501-EC48-1B32FEC6BB20}"/>
                </a:ext>
              </a:extLst>
            </p:cNvPr>
            <p:cNvSpPr txBox="1"/>
            <p:nvPr/>
          </p:nvSpPr>
          <p:spPr>
            <a:xfrm>
              <a:off x="5419613" y="4319832"/>
              <a:ext cx="1308575" cy="400110"/>
            </a:xfrm>
            <a:prstGeom prst="rect">
              <a:avLst/>
            </a:prstGeom>
            <a:noFill/>
            <a:ln>
              <a:noFill/>
            </a:ln>
          </p:spPr>
          <p:txBody>
            <a:bodyPr wrap="square" rtlCol="0">
              <a:spAutoFit/>
            </a:bodyPr>
            <a:lstStyle>
              <a:defPPr>
                <a:defRPr lang="ja-JP"/>
              </a:defPPr>
              <a:lvl1pPr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1pPr>
              <a:lvl2pPr marL="496888" indent="-39688"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2pPr>
              <a:lvl3pPr marL="995363" indent="-80963"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3pPr>
              <a:lvl4pPr marL="1492250" indent="-120650"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4pPr>
              <a:lvl5pPr marL="1990725" indent="-161925"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9pPr>
            </a:lstStyle>
            <a:p>
              <a:pPr algn="l"/>
              <a:r>
                <a:rPr kumimoji="1" lang="ja-JP" altLang="en-US" sz="1000" dirty="0">
                  <a:latin typeface="+mn-ea"/>
                  <a:ea typeface="+mn-ea"/>
                </a:rPr>
                <a:t>基準価額</a:t>
              </a:r>
              <a:endParaRPr kumimoji="1" lang="en-US" altLang="ja-JP" sz="1000" dirty="0">
                <a:latin typeface="+mn-ea"/>
                <a:ea typeface="+mn-ea"/>
              </a:endParaRPr>
            </a:p>
            <a:p>
              <a:pPr algn="l"/>
              <a:r>
                <a:rPr lang="ja-JP" altLang="en-US" sz="1000" dirty="0">
                  <a:latin typeface="+mn-ea"/>
                  <a:ea typeface="+mn-ea"/>
                </a:rPr>
                <a:t>妥当性検証</a:t>
              </a:r>
              <a:r>
                <a:rPr kumimoji="1" lang="ja-JP" altLang="en-US" sz="1000" dirty="0">
                  <a:latin typeface="+mn-ea"/>
                  <a:ea typeface="+mn-ea"/>
                </a:rPr>
                <a:t>データ</a:t>
              </a:r>
            </a:p>
          </p:txBody>
        </p:sp>
      </p:grpSp>
    </p:spTree>
    <p:extLst>
      <p:ext uri="{BB962C8B-B14F-4D97-AF65-F5344CB8AC3E}">
        <p14:creationId xmlns:p14="http://schemas.microsoft.com/office/powerpoint/2010/main" val="3290594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38831F-129C-5E9B-7922-681B98D00843}"/>
              </a:ext>
            </a:extLst>
          </p:cNvPr>
          <p:cNvSpPr>
            <a:spLocks noGrp="1"/>
          </p:cNvSpPr>
          <p:nvPr>
            <p:ph type="title"/>
          </p:nvPr>
        </p:nvSpPr>
        <p:spPr/>
        <p:txBody>
          <a:bodyPr/>
          <a:lstStyle/>
          <a:p>
            <a:r>
              <a:rPr kumimoji="1" lang="ja-JP" altLang="en-US" dirty="0"/>
              <a:t>（参考）ほふり</a:t>
            </a:r>
            <a:r>
              <a:rPr kumimoji="1" lang="en-US" altLang="ja-JP" dirty="0"/>
              <a:t>_</a:t>
            </a:r>
            <a:r>
              <a:rPr kumimoji="1" lang="ja-JP" altLang="en-US" dirty="0"/>
              <a:t>システム概要図</a:t>
            </a:r>
          </a:p>
        </p:txBody>
      </p:sp>
      <p:sp>
        <p:nvSpPr>
          <p:cNvPr id="4" name="テキスト プレースホルダー 3">
            <a:extLst>
              <a:ext uri="{FF2B5EF4-FFF2-40B4-BE49-F238E27FC236}">
                <a16:creationId xmlns:a16="http://schemas.microsoft.com/office/drawing/2014/main" id="{544D7F7C-BDBA-8C1A-7B23-36C2501E69A6}"/>
              </a:ext>
            </a:extLst>
          </p:cNvPr>
          <p:cNvSpPr>
            <a:spLocks noGrp="1"/>
          </p:cNvSpPr>
          <p:nvPr>
            <p:ph type="body" sz="quarter" idx="13"/>
          </p:nvPr>
        </p:nvSpPr>
        <p:spPr/>
        <p:txBody>
          <a:bodyPr/>
          <a:lstStyle/>
          <a:p>
            <a:endParaRPr kumimoji="1" lang="ja-JP" altLang="en-US"/>
          </a:p>
        </p:txBody>
      </p:sp>
      <p:pic>
        <p:nvPicPr>
          <p:cNvPr id="6" name="図 5">
            <a:extLst>
              <a:ext uri="{FF2B5EF4-FFF2-40B4-BE49-F238E27FC236}">
                <a16:creationId xmlns:a16="http://schemas.microsoft.com/office/drawing/2014/main" id="{21173C02-912C-ADBB-6F10-65E633F372EC}"/>
              </a:ext>
            </a:extLst>
          </p:cNvPr>
          <p:cNvPicPr>
            <a:picLocks noChangeAspect="1"/>
          </p:cNvPicPr>
          <p:nvPr/>
        </p:nvPicPr>
        <p:blipFill>
          <a:blip r:embed="rId2"/>
          <a:stretch>
            <a:fillRect/>
          </a:stretch>
        </p:blipFill>
        <p:spPr>
          <a:xfrm>
            <a:off x="2034803" y="1064617"/>
            <a:ext cx="5835402" cy="5715539"/>
          </a:xfrm>
          <a:prstGeom prst="rect">
            <a:avLst/>
          </a:prstGeom>
        </p:spPr>
      </p:pic>
    </p:spTree>
    <p:extLst>
      <p:ext uri="{BB962C8B-B14F-4D97-AF65-F5344CB8AC3E}">
        <p14:creationId xmlns:p14="http://schemas.microsoft.com/office/powerpoint/2010/main" val="2650058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FF15D-557B-4C33-9E5D-3AF00C8FABE9}"/>
              </a:ext>
            </a:extLst>
          </p:cNvPr>
          <p:cNvSpPr>
            <a:spLocks noGrp="1"/>
          </p:cNvSpPr>
          <p:nvPr>
            <p:ph type="title"/>
          </p:nvPr>
        </p:nvSpPr>
        <p:spPr/>
        <p:txBody>
          <a:bodyPr/>
          <a:lstStyle/>
          <a:p>
            <a:r>
              <a:rPr lang="ja-JP" altLang="en-US"/>
              <a:t>資産運用業の全体像　</a:t>
            </a:r>
            <a:r>
              <a:rPr lang="ja-JP" altLang="en-US" sz="1800"/>
              <a:t>～　「資産運用業高度化プログレスレポート </a:t>
            </a:r>
            <a:r>
              <a:rPr lang="en-US" altLang="ja-JP" sz="1800"/>
              <a:t>2023</a:t>
            </a:r>
            <a:r>
              <a:rPr lang="ja-JP" altLang="en-US" sz="1800"/>
              <a:t>」から抜粋</a:t>
            </a:r>
            <a:endParaRPr kumimoji="1" lang="ja-JP" altLang="en-US"/>
          </a:p>
        </p:txBody>
      </p:sp>
      <p:pic>
        <p:nvPicPr>
          <p:cNvPr id="5" name="図 4">
            <a:extLst>
              <a:ext uri="{FF2B5EF4-FFF2-40B4-BE49-F238E27FC236}">
                <a16:creationId xmlns:a16="http://schemas.microsoft.com/office/drawing/2014/main" id="{BBA2A142-478E-23C8-AA19-424012E6EE0F}"/>
              </a:ext>
            </a:extLst>
          </p:cNvPr>
          <p:cNvPicPr>
            <a:picLocks noChangeAspect="1"/>
          </p:cNvPicPr>
          <p:nvPr/>
        </p:nvPicPr>
        <p:blipFill>
          <a:blip r:embed="rId2"/>
          <a:stretch>
            <a:fillRect/>
          </a:stretch>
        </p:blipFill>
        <p:spPr>
          <a:xfrm>
            <a:off x="851748" y="1443027"/>
            <a:ext cx="8202505" cy="4756243"/>
          </a:xfrm>
          <a:prstGeom prst="rect">
            <a:avLst/>
          </a:prstGeom>
        </p:spPr>
      </p:pic>
    </p:spTree>
    <p:extLst>
      <p:ext uri="{BB962C8B-B14F-4D97-AF65-F5344CB8AC3E}">
        <p14:creationId xmlns:p14="http://schemas.microsoft.com/office/powerpoint/2010/main" val="303399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FF15D-557B-4C33-9E5D-3AF00C8FABE9}"/>
              </a:ext>
            </a:extLst>
          </p:cNvPr>
          <p:cNvSpPr>
            <a:spLocks noGrp="1"/>
          </p:cNvSpPr>
          <p:nvPr>
            <p:ph type="title"/>
          </p:nvPr>
        </p:nvSpPr>
        <p:spPr/>
        <p:txBody>
          <a:bodyPr/>
          <a:lstStyle/>
          <a:p>
            <a:r>
              <a:rPr lang="ja-JP" altLang="en-US"/>
              <a:t>資産管理の概要</a:t>
            </a:r>
            <a:endParaRPr kumimoji="1" lang="ja-JP" altLang="en-US"/>
          </a:p>
        </p:txBody>
      </p:sp>
      <p:sp>
        <p:nvSpPr>
          <p:cNvPr id="8" name="正方形/長方形 7">
            <a:extLst>
              <a:ext uri="{FF2B5EF4-FFF2-40B4-BE49-F238E27FC236}">
                <a16:creationId xmlns:a16="http://schemas.microsoft.com/office/drawing/2014/main" id="{B08E3AA3-B95B-31F7-391E-9885FDE43FE8}"/>
              </a:ext>
            </a:extLst>
          </p:cNvPr>
          <p:cNvSpPr/>
          <p:nvPr/>
        </p:nvSpPr>
        <p:spPr>
          <a:xfrm>
            <a:off x="3211436" y="1194868"/>
            <a:ext cx="3523944" cy="3571326"/>
          </a:xfrm>
          <a:prstGeom prst="rect">
            <a:avLst/>
          </a:prstGeom>
          <a:noFill/>
          <a:ln w="28575" cap="flat" cmpd="sng" algn="ctr">
            <a:solidFill>
              <a:srgbClr val="FF0000"/>
            </a:solid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fontAlgn="base">
              <a:spcAft>
                <a:spcPts val="300"/>
              </a:spcAft>
              <a:defRPr/>
            </a:pPr>
            <a:r>
              <a:rPr lang="ja-JP" altLang="en-US" sz="1400" b="1" kern="0">
                <a:solidFill>
                  <a:srgbClr val="000000"/>
                </a:solidFill>
                <a:latin typeface="Meiryo UI"/>
                <a:ea typeface="Meiryo UI"/>
              </a:rPr>
              <a:t>カストディ</a:t>
            </a:r>
            <a:endParaRPr lang="en-US" altLang="ja-JP" sz="1400" b="1" kern="0">
              <a:solidFill>
                <a:srgbClr val="000000"/>
              </a:solidFill>
              <a:latin typeface="Meiryo UI"/>
              <a:ea typeface="Meiryo UI"/>
            </a:endParaRPr>
          </a:p>
        </p:txBody>
      </p:sp>
      <p:sp>
        <p:nvSpPr>
          <p:cNvPr id="9" name="正方形/長方形 8">
            <a:extLst>
              <a:ext uri="{FF2B5EF4-FFF2-40B4-BE49-F238E27FC236}">
                <a16:creationId xmlns:a16="http://schemas.microsoft.com/office/drawing/2014/main" id="{31447302-B3E8-9D06-49BE-67A654127AE0}"/>
              </a:ext>
            </a:extLst>
          </p:cNvPr>
          <p:cNvSpPr/>
          <p:nvPr/>
        </p:nvSpPr>
        <p:spPr>
          <a:xfrm>
            <a:off x="704528" y="1194866"/>
            <a:ext cx="1698972" cy="2046196"/>
          </a:xfrm>
          <a:prstGeom prst="rect">
            <a:avLst/>
          </a:prstGeom>
          <a:noFill/>
          <a:ln w="1905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fontAlgn="base">
              <a:spcAft>
                <a:spcPts val="300"/>
              </a:spcAft>
              <a:defRPr/>
            </a:pPr>
            <a:r>
              <a:rPr lang="ja-JP" altLang="en-US" sz="1400" b="1" kern="0">
                <a:solidFill>
                  <a:srgbClr val="000000"/>
                </a:solidFill>
                <a:latin typeface="Meiryo UI"/>
                <a:ea typeface="Meiryo UI"/>
              </a:rPr>
              <a:t>投資家</a:t>
            </a:r>
            <a:endParaRPr lang="en-US" altLang="ja-JP" sz="1400" b="1" kern="0">
              <a:solidFill>
                <a:srgbClr val="000000"/>
              </a:solidFill>
              <a:latin typeface="Meiryo UI"/>
              <a:ea typeface="Meiryo UI"/>
            </a:endParaRPr>
          </a:p>
          <a:p>
            <a:pPr algn="ctr" fontAlgn="base">
              <a:spcAft>
                <a:spcPts val="300"/>
              </a:spcAft>
              <a:defRPr/>
            </a:pPr>
            <a:endParaRPr lang="en-US" altLang="ja-JP" sz="1000" kern="0">
              <a:solidFill>
                <a:srgbClr val="000000"/>
              </a:solidFill>
              <a:latin typeface="Meiryo UI"/>
              <a:ea typeface="Meiryo UI"/>
            </a:endParaRPr>
          </a:p>
        </p:txBody>
      </p:sp>
      <p:sp>
        <p:nvSpPr>
          <p:cNvPr id="11" name="正方形/長方形 10">
            <a:extLst>
              <a:ext uri="{FF2B5EF4-FFF2-40B4-BE49-F238E27FC236}">
                <a16:creationId xmlns:a16="http://schemas.microsoft.com/office/drawing/2014/main" id="{A471A6FD-25D4-F6FD-3E6C-A666E3206C9A}"/>
              </a:ext>
            </a:extLst>
          </p:cNvPr>
          <p:cNvSpPr/>
          <p:nvPr/>
        </p:nvSpPr>
        <p:spPr>
          <a:xfrm>
            <a:off x="7502500" y="1180173"/>
            <a:ext cx="1698972" cy="870276"/>
          </a:xfrm>
          <a:prstGeom prst="rect">
            <a:avLst/>
          </a:prstGeom>
          <a:noFill/>
          <a:ln w="1905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lang="ja-JP" altLang="en-US" sz="1400" b="1" kern="0">
                <a:solidFill>
                  <a:srgbClr val="000000"/>
                </a:solidFill>
                <a:latin typeface="Meiryo UI"/>
                <a:ea typeface="Meiryo UI"/>
              </a:rPr>
              <a:t>情報ベンダー</a:t>
            </a:r>
            <a:endParaRPr lang="en-US" altLang="ja-JP" sz="1000" b="1" kern="0">
              <a:solidFill>
                <a:srgbClr val="000000"/>
              </a:solidFill>
              <a:latin typeface="Meiryo UI"/>
              <a:ea typeface="Meiryo UI"/>
            </a:endParaRPr>
          </a:p>
        </p:txBody>
      </p:sp>
      <p:sp>
        <p:nvSpPr>
          <p:cNvPr id="12" name="正方形/長方形 11">
            <a:extLst>
              <a:ext uri="{FF2B5EF4-FFF2-40B4-BE49-F238E27FC236}">
                <a16:creationId xmlns:a16="http://schemas.microsoft.com/office/drawing/2014/main" id="{9BB2D83F-FCF5-4BDA-35D9-0E6FD450729C}"/>
              </a:ext>
            </a:extLst>
          </p:cNvPr>
          <p:cNvSpPr/>
          <p:nvPr/>
        </p:nvSpPr>
        <p:spPr>
          <a:xfrm>
            <a:off x="7502500" y="2538046"/>
            <a:ext cx="1698972" cy="870276"/>
          </a:xfrm>
          <a:prstGeom prst="rect">
            <a:avLst/>
          </a:prstGeom>
          <a:noFill/>
          <a:ln w="1905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lang="ja-JP" altLang="en-US" sz="1400" b="1" kern="0">
                <a:solidFill>
                  <a:srgbClr val="000000"/>
                </a:solidFill>
                <a:latin typeface="Meiryo UI"/>
                <a:ea typeface="Meiryo UI"/>
              </a:rPr>
              <a:t>マーケット</a:t>
            </a:r>
            <a:endParaRPr lang="en-US" altLang="ja-JP" sz="1400" b="1" kern="0">
              <a:solidFill>
                <a:srgbClr val="000000"/>
              </a:solidFill>
              <a:latin typeface="Meiryo UI"/>
              <a:ea typeface="Meiryo UI"/>
            </a:endParaRPr>
          </a:p>
          <a:p>
            <a:pPr algn="ctr" fontAlgn="base">
              <a:spcAft>
                <a:spcPts val="300"/>
              </a:spcAft>
              <a:defRPr/>
            </a:pPr>
            <a:r>
              <a:rPr lang="ja-JP" altLang="en-US" sz="1400" b="1" kern="0">
                <a:solidFill>
                  <a:srgbClr val="000000"/>
                </a:solidFill>
                <a:latin typeface="Meiryo UI"/>
                <a:ea typeface="Meiryo UI"/>
              </a:rPr>
              <a:t>（証券会社等）</a:t>
            </a:r>
            <a:endParaRPr lang="en-US" altLang="ja-JP" sz="1000" b="1" kern="0">
              <a:solidFill>
                <a:srgbClr val="000000"/>
              </a:solidFill>
              <a:latin typeface="Meiryo UI"/>
              <a:ea typeface="Meiryo UI"/>
            </a:endParaRPr>
          </a:p>
        </p:txBody>
      </p:sp>
      <p:sp>
        <p:nvSpPr>
          <p:cNvPr id="13" name="正方形/長方形 12">
            <a:extLst>
              <a:ext uri="{FF2B5EF4-FFF2-40B4-BE49-F238E27FC236}">
                <a16:creationId xmlns:a16="http://schemas.microsoft.com/office/drawing/2014/main" id="{FE1387CC-9809-F303-E334-7FB1BCADA1FC}"/>
              </a:ext>
            </a:extLst>
          </p:cNvPr>
          <p:cNvSpPr/>
          <p:nvPr/>
        </p:nvSpPr>
        <p:spPr>
          <a:xfrm>
            <a:off x="7502500" y="3895919"/>
            <a:ext cx="1698972" cy="870276"/>
          </a:xfrm>
          <a:prstGeom prst="rect">
            <a:avLst/>
          </a:prstGeom>
          <a:noFill/>
          <a:ln w="1905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lang="ja-JP" altLang="en-US" sz="1400" b="1" kern="0">
                <a:solidFill>
                  <a:srgbClr val="000000"/>
                </a:solidFill>
                <a:latin typeface="Meiryo UI"/>
                <a:ea typeface="Meiryo UI"/>
              </a:rPr>
              <a:t>決済機関</a:t>
            </a:r>
            <a:endParaRPr lang="en-US" altLang="ja-JP" sz="1400" b="1" kern="0">
              <a:solidFill>
                <a:srgbClr val="000000"/>
              </a:solidFill>
              <a:latin typeface="Meiryo UI"/>
              <a:ea typeface="Meiryo UI"/>
            </a:endParaRPr>
          </a:p>
          <a:p>
            <a:pPr algn="ctr" fontAlgn="base">
              <a:spcAft>
                <a:spcPts val="300"/>
              </a:spcAft>
              <a:defRPr/>
            </a:pPr>
            <a:r>
              <a:rPr lang="ja-JP" altLang="en-US" sz="1200" b="1" kern="0">
                <a:solidFill>
                  <a:srgbClr val="000000"/>
                </a:solidFill>
                <a:latin typeface="Meiryo UI"/>
                <a:ea typeface="Meiryo UI"/>
              </a:rPr>
              <a:t>（クリアリング機構等）</a:t>
            </a:r>
            <a:endParaRPr lang="en-US" altLang="ja-JP" sz="1200" b="1" kern="0">
              <a:solidFill>
                <a:srgbClr val="000000"/>
              </a:solidFill>
              <a:latin typeface="Meiryo UI"/>
              <a:ea typeface="Meiryo UI"/>
            </a:endParaRPr>
          </a:p>
        </p:txBody>
      </p:sp>
      <p:cxnSp>
        <p:nvCxnSpPr>
          <p:cNvPr id="14" name="直線矢印コネクタ 13">
            <a:extLst>
              <a:ext uri="{FF2B5EF4-FFF2-40B4-BE49-F238E27FC236}">
                <a16:creationId xmlns:a16="http://schemas.microsoft.com/office/drawing/2014/main" id="{E7BE6C9D-10BA-16FA-1F07-F236E2E72C57}"/>
              </a:ext>
            </a:extLst>
          </p:cNvPr>
          <p:cNvCxnSpPr/>
          <p:nvPr/>
        </p:nvCxnSpPr>
        <p:spPr bwMode="auto">
          <a:xfrm>
            <a:off x="2473859" y="2163812"/>
            <a:ext cx="515170"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15" name="直線矢印コネクタ 14">
            <a:extLst>
              <a:ext uri="{FF2B5EF4-FFF2-40B4-BE49-F238E27FC236}">
                <a16:creationId xmlns:a16="http://schemas.microsoft.com/office/drawing/2014/main" id="{27513499-6370-6F00-8157-2CD48691580F}"/>
              </a:ext>
            </a:extLst>
          </p:cNvPr>
          <p:cNvCxnSpPr>
            <a:cxnSpLocks/>
          </p:cNvCxnSpPr>
          <p:nvPr/>
        </p:nvCxnSpPr>
        <p:spPr bwMode="auto">
          <a:xfrm flipH="1">
            <a:off x="2473859" y="2407012"/>
            <a:ext cx="515170"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16" name="直線矢印コネクタ 15">
            <a:extLst>
              <a:ext uri="{FF2B5EF4-FFF2-40B4-BE49-F238E27FC236}">
                <a16:creationId xmlns:a16="http://schemas.microsoft.com/office/drawing/2014/main" id="{F69EF76B-8F81-D688-A26B-25A5A313D4F4}"/>
              </a:ext>
            </a:extLst>
          </p:cNvPr>
          <p:cNvCxnSpPr/>
          <p:nvPr/>
        </p:nvCxnSpPr>
        <p:spPr bwMode="auto">
          <a:xfrm>
            <a:off x="6788048" y="2852936"/>
            <a:ext cx="515170"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17" name="直線矢印コネクタ 16">
            <a:extLst>
              <a:ext uri="{FF2B5EF4-FFF2-40B4-BE49-F238E27FC236}">
                <a16:creationId xmlns:a16="http://schemas.microsoft.com/office/drawing/2014/main" id="{B8BF182C-CD46-B592-5B4D-F9DAC274A655}"/>
              </a:ext>
            </a:extLst>
          </p:cNvPr>
          <p:cNvCxnSpPr>
            <a:cxnSpLocks/>
          </p:cNvCxnSpPr>
          <p:nvPr/>
        </p:nvCxnSpPr>
        <p:spPr bwMode="auto">
          <a:xfrm flipH="1">
            <a:off x="6788048" y="3096137"/>
            <a:ext cx="515170"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18" name="直線矢印コネクタ 17">
            <a:extLst>
              <a:ext uri="{FF2B5EF4-FFF2-40B4-BE49-F238E27FC236}">
                <a16:creationId xmlns:a16="http://schemas.microsoft.com/office/drawing/2014/main" id="{6945E103-DE2B-99F8-C63F-81D9BE91A2EC}"/>
              </a:ext>
            </a:extLst>
          </p:cNvPr>
          <p:cNvCxnSpPr/>
          <p:nvPr/>
        </p:nvCxnSpPr>
        <p:spPr bwMode="auto">
          <a:xfrm>
            <a:off x="6806181" y="4149080"/>
            <a:ext cx="515170"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19" name="直線矢印コネクタ 18">
            <a:extLst>
              <a:ext uri="{FF2B5EF4-FFF2-40B4-BE49-F238E27FC236}">
                <a16:creationId xmlns:a16="http://schemas.microsoft.com/office/drawing/2014/main" id="{B91EADE4-2DDA-B819-EC41-9F6E68C8B09C}"/>
              </a:ext>
            </a:extLst>
          </p:cNvPr>
          <p:cNvCxnSpPr>
            <a:cxnSpLocks/>
          </p:cNvCxnSpPr>
          <p:nvPr/>
        </p:nvCxnSpPr>
        <p:spPr bwMode="auto">
          <a:xfrm flipH="1">
            <a:off x="6806181" y="4392281"/>
            <a:ext cx="515170"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20" name="直線矢印コネクタ 19">
            <a:extLst>
              <a:ext uri="{FF2B5EF4-FFF2-40B4-BE49-F238E27FC236}">
                <a16:creationId xmlns:a16="http://schemas.microsoft.com/office/drawing/2014/main" id="{AD61B4B7-AC5A-A703-A15E-699903CCD965}"/>
              </a:ext>
            </a:extLst>
          </p:cNvPr>
          <p:cNvCxnSpPr>
            <a:cxnSpLocks/>
          </p:cNvCxnSpPr>
          <p:nvPr/>
        </p:nvCxnSpPr>
        <p:spPr bwMode="auto">
          <a:xfrm flipH="1">
            <a:off x="6788048" y="1628800"/>
            <a:ext cx="515170" cy="0"/>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21" name="正方形/長方形 20">
            <a:extLst>
              <a:ext uri="{FF2B5EF4-FFF2-40B4-BE49-F238E27FC236}">
                <a16:creationId xmlns:a16="http://schemas.microsoft.com/office/drawing/2014/main" id="{E54380B3-402A-5912-16E1-F2D67362B17C}"/>
              </a:ext>
            </a:extLst>
          </p:cNvPr>
          <p:cNvSpPr/>
          <p:nvPr/>
        </p:nvSpPr>
        <p:spPr>
          <a:xfrm>
            <a:off x="704528" y="3895918"/>
            <a:ext cx="1698972" cy="870276"/>
          </a:xfrm>
          <a:prstGeom prst="rect">
            <a:avLst/>
          </a:prstGeom>
          <a:noFill/>
          <a:ln w="1905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lang="ja-JP" altLang="en-US" sz="1400" b="1" kern="0">
                <a:solidFill>
                  <a:srgbClr val="000000"/>
                </a:solidFill>
                <a:latin typeface="Meiryo UI"/>
                <a:ea typeface="Meiryo UI"/>
              </a:rPr>
              <a:t>運用会社</a:t>
            </a:r>
            <a:endParaRPr lang="en-US" altLang="ja-JP" sz="1400" b="1" kern="0">
              <a:solidFill>
                <a:srgbClr val="000000"/>
              </a:solidFill>
              <a:latin typeface="Meiryo UI"/>
              <a:ea typeface="Meiryo UI"/>
            </a:endParaRPr>
          </a:p>
        </p:txBody>
      </p:sp>
      <p:cxnSp>
        <p:nvCxnSpPr>
          <p:cNvPr id="22" name="直線矢印コネクタ 21">
            <a:extLst>
              <a:ext uri="{FF2B5EF4-FFF2-40B4-BE49-F238E27FC236}">
                <a16:creationId xmlns:a16="http://schemas.microsoft.com/office/drawing/2014/main" id="{9BF29F7E-44BD-08B8-98E3-3E1A63D643A5}"/>
              </a:ext>
            </a:extLst>
          </p:cNvPr>
          <p:cNvCxnSpPr/>
          <p:nvPr/>
        </p:nvCxnSpPr>
        <p:spPr bwMode="auto">
          <a:xfrm>
            <a:off x="2518065" y="4149080"/>
            <a:ext cx="515170"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23" name="直線矢印コネクタ 22">
            <a:extLst>
              <a:ext uri="{FF2B5EF4-FFF2-40B4-BE49-F238E27FC236}">
                <a16:creationId xmlns:a16="http://schemas.microsoft.com/office/drawing/2014/main" id="{D2B41F89-05F9-7E50-1A60-07389072F801}"/>
              </a:ext>
            </a:extLst>
          </p:cNvPr>
          <p:cNvCxnSpPr>
            <a:cxnSpLocks/>
          </p:cNvCxnSpPr>
          <p:nvPr/>
        </p:nvCxnSpPr>
        <p:spPr bwMode="auto">
          <a:xfrm flipH="1">
            <a:off x="2518065" y="4392281"/>
            <a:ext cx="515170" cy="0"/>
          </a:xfrm>
          <a:prstGeom prst="straightConnector1">
            <a:avLst/>
          </a:prstGeom>
          <a:noFill/>
          <a:ln w="9525" cap="flat" cmpd="sng" algn="ctr">
            <a:solidFill>
              <a:schemeClr val="bg1">
                <a:lumMod val="50000"/>
              </a:schemeClr>
            </a:solidFill>
            <a:prstDash val="solid"/>
            <a:round/>
            <a:headEnd type="none" w="med" len="med"/>
            <a:tailEnd type="triangle"/>
          </a:ln>
          <a:effectLst/>
        </p:spPr>
      </p:cxnSp>
      <p:grpSp>
        <p:nvGrpSpPr>
          <p:cNvPr id="48" name="グループ化 47">
            <a:extLst>
              <a:ext uri="{FF2B5EF4-FFF2-40B4-BE49-F238E27FC236}">
                <a16:creationId xmlns:a16="http://schemas.microsoft.com/office/drawing/2014/main" id="{DD2ABD30-108D-3FE8-322E-41962B158A74}"/>
              </a:ext>
            </a:extLst>
          </p:cNvPr>
          <p:cNvGrpSpPr/>
          <p:nvPr/>
        </p:nvGrpSpPr>
        <p:grpSpPr>
          <a:xfrm>
            <a:off x="1414656" y="3316933"/>
            <a:ext cx="311321" cy="472108"/>
            <a:chOff x="2049391" y="3316932"/>
            <a:chExt cx="221821" cy="838501"/>
          </a:xfrm>
        </p:grpSpPr>
        <p:cxnSp>
          <p:nvCxnSpPr>
            <p:cNvPr id="24" name="直線矢印コネクタ 23">
              <a:extLst>
                <a:ext uri="{FF2B5EF4-FFF2-40B4-BE49-F238E27FC236}">
                  <a16:creationId xmlns:a16="http://schemas.microsoft.com/office/drawing/2014/main" id="{83612468-278C-34E9-E9E7-AB2F6F5A7116}"/>
                </a:ext>
              </a:extLst>
            </p:cNvPr>
            <p:cNvCxnSpPr>
              <a:cxnSpLocks/>
            </p:cNvCxnSpPr>
            <p:nvPr/>
          </p:nvCxnSpPr>
          <p:spPr bwMode="auto">
            <a:xfrm rot="5400000">
              <a:off x="1630141" y="3736183"/>
              <a:ext cx="838500"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25" name="直線矢印コネクタ 24">
              <a:extLst>
                <a:ext uri="{FF2B5EF4-FFF2-40B4-BE49-F238E27FC236}">
                  <a16:creationId xmlns:a16="http://schemas.microsoft.com/office/drawing/2014/main" id="{76E84AE8-7B99-7E2B-4AEF-552BE762EC81}"/>
                </a:ext>
              </a:extLst>
            </p:cNvPr>
            <p:cNvCxnSpPr>
              <a:cxnSpLocks/>
            </p:cNvCxnSpPr>
            <p:nvPr/>
          </p:nvCxnSpPr>
          <p:spPr bwMode="auto">
            <a:xfrm rot="5400000" flipH="1">
              <a:off x="1851962" y="3736182"/>
              <a:ext cx="838500" cy="0"/>
            </a:xfrm>
            <a:prstGeom prst="straightConnector1">
              <a:avLst/>
            </a:prstGeom>
            <a:noFill/>
            <a:ln w="9525" cap="flat" cmpd="sng" algn="ctr">
              <a:solidFill>
                <a:schemeClr val="bg1">
                  <a:lumMod val="50000"/>
                </a:schemeClr>
              </a:solidFill>
              <a:prstDash val="solid"/>
              <a:round/>
              <a:headEnd type="none" w="med" len="med"/>
              <a:tailEnd type="triangle"/>
            </a:ln>
            <a:effectLst/>
          </p:spPr>
        </p:cxnSp>
      </p:grpSp>
      <p:sp>
        <p:nvSpPr>
          <p:cNvPr id="26" name="正方形/長方形 25">
            <a:extLst>
              <a:ext uri="{FF2B5EF4-FFF2-40B4-BE49-F238E27FC236}">
                <a16:creationId xmlns:a16="http://schemas.microsoft.com/office/drawing/2014/main" id="{D136F52E-775F-9B7E-60F0-22510D23BDB5}"/>
              </a:ext>
            </a:extLst>
          </p:cNvPr>
          <p:cNvSpPr/>
          <p:nvPr/>
        </p:nvSpPr>
        <p:spPr>
          <a:xfrm>
            <a:off x="1077905" y="2701989"/>
            <a:ext cx="974077" cy="294963"/>
          </a:xfrm>
          <a:prstGeom prst="rect">
            <a:avLst/>
          </a:prstGeom>
          <a:solidFill>
            <a:schemeClr val="accent2"/>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kumimoji="0" lang="ja-JP" altLang="en-US" sz="1000" b="1" kern="0">
                <a:solidFill>
                  <a:schemeClr val="bg1"/>
                </a:solidFill>
                <a:latin typeface="Meiryo UI"/>
                <a:ea typeface="Meiryo UI"/>
              </a:rPr>
              <a:t>その他</a:t>
            </a:r>
            <a:endParaRPr kumimoji="0" lang="en-US" altLang="ja-JP" sz="1000" b="1" kern="0">
              <a:solidFill>
                <a:schemeClr val="bg1"/>
              </a:solidFill>
              <a:latin typeface="Meiryo UI"/>
              <a:ea typeface="Meiryo UI"/>
            </a:endParaRPr>
          </a:p>
        </p:txBody>
      </p:sp>
      <p:sp>
        <p:nvSpPr>
          <p:cNvPr id="27" name="正方形/長方形 26">
            <a:extLst>
              <a:ext uri="{FF2B5EF4-FFF2-40B4-BE49-F238E27FC236}">
                <a16:creationId xmlns:a16="http://schemas.microsoft.com/office/drawing/2014/main" id="{3EDAB22D-0D26-F718-1153-0A89817FA3D1}"/>
              </a:ext>
            </a:extLst>
          </p:cNvPr>
          <p:cNvSpPr/>
          <p:nvPr/>
        </p:nvSpPr>
        <p:spPr>
          <a:xfrm>
            <a:off x="1077905" y="2333286"/>
            <a:ext cx="974077" cy="294963"/>
          </a:xfrm>
          <a:prstGeom prst="rect">
            <a:avLst/>
          </a:prstGeom>
          <a:solidFill>
            <a:schemeClr val="accent2"/>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kumimoji="0" lang="ja-JP" altLang="en-US" sz="1000" b="1" kern="0">
                <a:solidFill>
                  <a:schemeClr val="bg1"/>
                </a:solidFill>
                <a:latin typeface="Meiryo UI"/>
                <a:ea typeface="Meiryo UI"/>
              </a:rPr>
              <a:t>金法</a:t>
            </a:r>
            <a:endParaRPr kumimoji="0" lang="en-US" altLang="ja-JP" sz="1000" b="1" kern="0">
              <a:solidFill>
                <a:schemeClr val="bg1"/>
              </a:solidFill>
              <a:latin typeface="Meiryo UI"/>
              <a:ea typeface="Meiryo UI"/>
            </a:endParaRPr>
          </a:p>
        </p:txBody>
      </p:sp>
      <p:sp>
        <p:nvSpPr>
          <p:cNvPr id="28" name="正方形/長方形 27">
            <a:extLst>
              <a:ext uri="{FF2B5EF4-FFF2-40B4-BE49-F238E27FC236}">
                <a16:creationId xmlns:a16="http://schemas.microsoft.com/office/drawing/2014/main" id="{80027769-CFF9-E4E0-A296-CEB2338A43BE}"/>
              </a:ext>
            </a:extLst>
          </p:cNvPr>
          <p:cNvSpPr/>
          <p:nvPr/>
        </p:nvSpPr>
        <p:spPr>
          <a:xfrm>
            <a:off x="1077905" y="1964582"/>
            <a:ext cx="974077" cy="294963"/>
          </a:xfrm>
          <a:prstGeom prst="rect">
            <a:avLst/>
          </a:prstGeom>
          <a:solidFill>
            <a:schemeClr val="accent2"/>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kumimoji="0" lang="ja-JP" altLang="en-US" sz="1000" b="1" kern="0">
                <a:solidFill>
                  <a:schemeClr val="bg1"/>
                </a:solidFill>
                <a:latin typeface="Meiryo UI"/>
                <a:ea typeface="Meiryo UI"/>
              </a:rPr>
              <a:t>投信</a:t>
            </a:r>
            <a:endParaRPr kumimoji="0" lang="en-US" altLang="ja-JP" sz="1000" b="1" kern="0">
              <a:solidFill>
                <a:schemeClr val="bg1"/>
              </a:solidFill>
              <a:latin typeface="Meiryo UI"/>
              <a:ea typeface="Meiryo UI"/>
            </a:endParaRPr>
          </a:p>
        </p:txBody>
      </p:sp>
      <p:sp>
        <p:nvSpPr>
          <p:cNvPr id="29" name="正方形/長方形 28">
            <a:extLst>
              <a:ext uri="{FF2B5EF4-FFF2-40B4-BE49-F238E27FC236}">
                <a16:creationId xmlns:a16="http://schemas.microsoft.com/office/drawing/2014/main" id="{229850C0-A4F8-AE30-2240-7EA43C5925C1}"/>
              </a:ext>
            </a:extLst>
          </p:cNvPr>
          <p:cNvSpPr/>
          <p:nvPr/>
        </p:nvSpPr>
        <p:spPr>
          <a:xfrm>
            <a:off x="1077905" y="1595879"/>
            <a:ext cx="974077" cy="294963"/>
          </a:xfrm>
          <a:prstGeom prst="rect">
            <a:avLst/>
          </a:prstGeom>
          <a:solidFill>
            <a:schemeClr val="accent2"/>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kumimoji="0" lang="ja-JP" altLang="en-US" sz="1000" b="1" kern="0">
                <a:solidFill>
                  <a:schemeClr val="bg1"/>
                </a:solidFill>
                <a:latin typeface="Meiryo UI"/>
                <a:ea typeface="Meiryo UI"/>
              </a:rPr>
              <a:t>年金</a:t>
            </a:r>
            <a:endParaRPr kumimoji="0" lang="en-US" altLang="ja-JP" sz="1000" b="1" kern="0">
              <a:solidFill>
                <a:schemeClr val="bg1"/>
              </a:solidFill>
              <a:latin typeface="Meiryo UI"/>
              <a:ea typeface="Meiryo UI"/>
            </a:endParaRPr>
          </a:p>
        </p:txBody>
      </p:sp>
      <p:sp>
        <p:nvSpPr>
          <p:cNvPr id="30" name="正方形/長方形 29">
            <a:extLst>
              <a:ext uri="{FF2B5EF4-FFF2-40B4-BE49-F238E27FC236}">
                <a16:creationId xmlns:a16="http://schemas.microsoft.com/office/drawing/2014/main" id="{79A05611-20BF-A1EC-A8F6-72188516D234}"/>
              </a:ext>
            </a:extLst>
          </p:cNvPr>
          <p:cNvSpPr/>
          <p:nvPr/>
        </p:nvSpPr>
        <p:spPr>
          <a:xfrm>
            <a:off x="3211436" y="5352936"/>
            <a:ext cx="3523944" cy="870276"/>
          </a:xfrm>
          <a:prstGeom prst="rect">
            <a:avLst/>
          </a:prstGeom>
          <a:noFill/>
          <a:ln w="28575" cap="flat" cmpd="sng" algn="ctr">
            <a:solidFill>
              <a:srgbClr val="FF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lang="ja-JP" altLang="en-US" sz="1400" b="1" kern="0">
                <a:solidFill>
                  <a:srgbClr val="000000"/>
                </a:solidFill>
                <a:latin typeface="Meiryo UI"/>
                <a:ea typeface="Meiryo UI"/>
              </a:rPr>
              <a:t>サブカストディ</a:t>
            </a:r>
            <a:endParaRPr lang="en-US" altLang="ja-JP" sz="1400" b="1" kern="0">
              <a:solidFill>
                <a:srgbClr val="000000"/>
              </a:solidFill>
              <a:latin typeface="Meiryo UI"/>
              <a:ea typeface="Meiryo UI"/>
            </a:endParaRPr>
          </a:p>
          <a:p>
            <a:pPr algn="ctr" fontAlgn="base">
              <a:spcAft>
                <a:spcPts val="300"/>
              </a:spcAft>
              <a:defRPr/>
            </a:pPr>
            <a:r>
              <a:rPr lang="ja-JP" altLang="en-US" sz="1400" b="1" kern="0">
                <a:solidFill>
                  <a:srgbClr val="000000"/>
                </a:solidFill>
                <a:latin typeface="Meiryo UI"/>
                <a:ea typeface="Meiryo UI"/>
              </a:rPr>
              <a:t>（海外）</a:t>
            </a:r>
            <a:endParaRPr lang="en-US" altLang="ja-JP" sz="1400" b="1" kern="0">
              <a:solidFill>
                <a:srgbClr val="000000"/>
              </a:solidFill>
              <a:latin typeface="Meiryo UI"/>
              <a:ea typeface="Meiryo UI"/>
            </a:endParaRPr>
          </a:p>
        </p:txBody>
      </p:sp>
      <p:cxnSp>
        <p:nvCxnSpPr>
          <p:cNvPr id="31" name="直線矢印コネクタ 30">
            <a:extLst>
              <a:ext uri="{FF2B5EF4-FFF2-40B4-BE49-F238E27FC236}">
                <a16:creationId xmlns:a16="http://schemas.microsoft.com/office/drawing/2014/main" id="{5CBFE438-96B6-7435-D949-E2D1BB3BE39C}"/>
              </a:ext>
            </a:extLst>
          </p:cNvPr>
          <p:cNvCxnSpPr>
            <a:cxnSpLocks/>
          </p:cNvCxnSpPr>
          <p:nvPr/>
        </p:nvCxnSpPr>
        <p:spPr bwMode="auto">
          <a:xfrm rot="5400000">
            <a:off x="4672408" y="5025302"/>
            <a:ext cx="405574"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32" name="直線矢印コネクタ 31">
            <a:extLst>
              <a:ext uri="{FF2B5EF4-FFF2-40B4-BE49-F238E27FC236}">
                <a16:creationId xmlns:a16="http://schemas.microsoft.com/office/drawing/2014/main" id="{EF4F415B-A5E6-8C68-4776-EC5C371C6FC1}"/>
              </a:ext>
            </a:extLst>
          </p:cNvPr>
          <p:cNvCxnSpPr>
            <a:cxnSpLocks/>
          </p:cNvCxnSpPr>
          <p:nvPr/>
        </p:nvCxnSpPr>
        <p:spPr bwMode="auto">
          <a:xfrm rot="5400000" flipH="1">
            <a:off x="4894229" y="5025301"/>
            <a:ext cx="405574" cy="0"/>
          </a:xfrm>
          <a:prstGeom prst="straightConnector1">
            <a:avLst/>
          </a:prstGeom>
          <a:noFill/>
          <a:ln w="9525" cap="flat" cmpd="sng" algn="ctr">
            <a:solidFill>
              <a:schemeClr val="bg1">
                <a:lumMod val="50000"/>
              </a:schemeClr>
            </a:solidFill>
            <a:prstDash val="solid"/>
            <a:round/>
            <a:headEnd type="none" w="med" len="med"/>
            <a:tailEnd type="triangle"/>
          </a:ln>
          <a:effectLst/>
        </p:spPr>
      </p:cxnSp>
      <p:grpSp>
        <p:nvGrpSpPr>
          <p:cNvPr id="57" name="グループ化 56">
            <a:extLst>
              <a:ext uri="{FF2B5EF4-FFF2-40B4-BE49-F238E27FC236}">
                <a16:creationId xmlns:a16="http://schemas.microsoft.com/office/drawing/2014/main" id="{D8B35D8F-EA45-2297-5EE4-AD8F5DD3B8F8}"/>
              </a:ext>
            </a:extLst>
          </p:cNvPr>
          <p:cNvGrpSpPr/>
          <p:nvPr/>
        </p:nvGrpSpPr>
        <p:grpSpPr>
          <a:xfrm>
            <a:off x="4068180" y="1729242"/>
            <a:ext cx="2036948" cy="2216129"/>
            <a:chOff x="4238432" y="1729242"/>
            <a:chExt cx="1866696" cy="2216129"/>
          </a:xfrm>
        </p:grpSpPr>
        <p:sp>
          <p:nvSpPr>
            <p:cNvPr id="41" name="正方形/長方形 40">
              <a:extLst>
                <a:ext uri="{FF2B5EF4-FFF2-40B4-BE49-F238E27FC236}">
                  <a16:creationId xmlns:a16="http://schemas.microsoft.com/office/drawing/2014/main" id="{8F80766B-568A-11C8-FB1B-5E74D15ED141}"/>
                </a:ext>
              </a:extLst>
            </p:cNvPr>
            <p:cNvSpPr/>
            <p:nvPr/>
          </p:nvSpPr>
          <p:spPr>
            <a:xfrm>
              <a:off x="4238432" y="3207534"/>
              <a:ext cx="867166" cy="369134"/>
            </a:xfrm>
            <a:prstGeom prst="rect">
              <a:avLst/>
            </a:prstGeom>
            <a:solidFill>
              <a:schemeClr val="accent2">
                <a:lumMod val="20000"/>
                <a:lumOff val="80000"/>
              </a:schemeClr>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spcAft>
                  <a:spcPts val="300"/>
                </a:spcAft>
                <a:defRPr/>
              </a:pPr>
              <a:r>
                <a:rPr kumimoji="0" lang="ja-JP" altLang="en-US" sz="1000" b="1" kern="0">
                  <a:solidFill>
                    <a:srgbClr val="000000"/>
                  </a:solidFill>
                  <a:latin typeface="Meiryo UI"/>
                  <a:ea typeface="Meiryo UI"/>
                </a:rPr>
                <a:t>商品固有業務</a:t>
              </a:r>
              <a:endParaRPr kumimoji="0" lang="en-US" altLang="ja-JP" sz="1000" b="1" kern="0">
                <a:solidFill>
                  <a:srgbClr val="000000"/>
                </a:solidFill>
                <a:latin typeface="Meiryo UI"/>
                <a:ea typeface="Meiryo UI"/>
              </a:endParaRPr>
            </a:p>
          </p:txBody>
        </p:sp>
        <p:sp>
          <p:nvSpPr>
            <p:cNvPr id="42" name="正方形/長方形 41">
              <a:extLst>
                <a:ext uri="{FF2B5EF4-FFF2-40B4-BE49-F238E27FC236}">
                  <a16:creationId xmlns:a16="http://schemas.microsoft.com/office/drawing/2014/main" id="{AE3C98FC-C161-49F7-A24D-6A560417EBBB}"/>
                </a:ext>
              </a:extLst>
            </p:cNvPr>
            <p:cNvSpPr/>
            <p:nvPr/>
          </p:nvSpPr>
          <p:spPr>
            <a:xfrm>
              <a:off x="4238432" y="3576237"/>
              <a:ext cx="867166" cy="369134"/>
            </a:xfrm>
            <a:prstGeom prst="rect">
              <a:avLst/>
            </a:prstGeom>
            <a:solidFill>
              <a:schemeClr val="accent2">
                <a:lumMod val="20000"/>
                <a:lumOff val="80000"/>
              </a:schemeClr>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spcAft>
                  <a:spcPts val="300"/>
                </a:spcAft>
                <a:defRPr/>
              </a:pPr>
              <a:r>
                <a:rPr kumimoji="0" lang="ja-JP" altLang="en-US" sz="1000" b="1" kern="0">
                  <a:solidFill>
                    <a:srgbClr val="000000"/>
                  </a:solidFill>
                  <a:latin typeface="Meiryo UI"/>
                  <a:ea typeface="Meiryo UI"/>
                </a:rPr>
                <a:t>レポート・データ連携</a:t>
              </a:r>
              <a:endParaRPr kumimoji="0" lang="en-US" altLang="ja-JP" sz="1000" b="1" kern="0">
                <a:solidFill>
                  <a:srgbClr val="000000"/>
                </a:solidFill>
                <a:latin typeface="Meiryo UI"/>
                <a:ea typeface="Meiryo UI"/>
              </a:endParaRPr>
            </a:p>
          </p:txBody>
        </p:sp>
        <p:sp>
          <p:nvSpPr>
            <p:cNvPr id="43" name="正方形/長方形 42">
              <a:extLst>
                <a:ext uri="{FF2B5EF4-FFF2-40B4-BE49-F238E27FC236}">
                  <a16:creationId xmlns:a16="http://schemas.microsoft.com/office/drawing/2014/main" id="{DFDA6ECB-557A-5AAC-639F-AD4F214FC8E0}"/>
                </a:ext>
              </a:extLst>
            </p:cNvPr>
            <p:cNvSpPr/>
            <p:nvPr/>
          </p:nvSpPr>
          <p:spPr>
            <a:xfrm>
              <a:off x="4238432" y="2838830"/>
              <a:ext cx="867166" cy="369134"/>
            </a:xfrm>
            <a:prstGeom prst="rect">
              <a:avLst/>
            </a:prstGeom>
            <a:solidFill>
              <a:schemeClr val="accent2">
                <a:lumMod val="20000"/>
                <a:lumOff val="80000"/>
              </a:schemeClr>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spcAft>
                  <a:spcPts val="300"/>
                </a:spcAft>
                <a:defRPr/>
              </a:pPr>
              <a:r>
                <a:rPr kumimoji="0" lang="ja-JP" altLang="en-US" sz="1000" b="1" kern="0">
                  <a:solidFill>
                    <a:srgbClr val="000000"/>
                  </a:solidFill>
                  <a:latin typeface="Meiryo UI"/>
                  <a:ea typeface="Meiryo UI"/>
                </a:rPr>
                <a:t>取引管理</a:t>
              </a:r>
              <a:endParaRPr kumimoji="0" lang="en-US" altLang="ja-JP" sz="1000" b="1" kern="0">
                <a:solidFill>
                  <a:srgbClr val="000000"/>
                </a:solidFill>
                <a:latin typeface="Meiryo UI"/>
                <a:ea typeface="Meiryo UI"/>
              </a:endParaRPr>
            </a:p>
          </p:txBody>
        </p:sp>
        <p:sp>
          <p:nvSpPr>
            <p:cNvPr id="44" name="正方形/長方形 43">
              <a:extLst>
                <a:ext uri="{FF2B5EF4-FFF2-40B4-BE49-F238E27FC236}">
                  <a16:creationId xmlns:a16="http://schemas.microsoft.com/office/drawing/2014/main" id="{131F2957-4B1F-9F55-F7F9-EE345D6CAA19}"/>
                </a:ext>
              </a:extLst>
            </p:cNvPr>
            <p:cNvSpPr/>
            <p:nvPr/>
          </p:nvSpPr>
          <p:spPr>
            <a:xfrm>
              <a:off x="4238432" y="2101423"/>
              <a:ext cx="867166" cy="369134"/>
            </a:xfrm>
            <a:prstGeom prst="rect">
              <a:avLst/>
            </a:prstGeom>
            <a:solidFill>
              <a:schemeClr val="accent2">
                <a:lumMod val="20000"/>
                <a:lumOff val="80000"/>
              </a:schemeClr>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spcAft>
                  <a:spcPts val="300"/>
                </a:spcAft>
                <a:defRPr/>
              </a:pPr>
              <a:r>
                <a:rPr kumimoji="0" lang="ja-JP" altLang="en-US" sz="1000" b="1" kern="0">
                  <a:solidFill>
                    <a:srgbClr val="000000"/>
                  </a:solidFill>
                  <a:latin typeface="Meiryo UI"/>
                  <a:ea typeface="Meiryo UI"/>
                </a:rPr>
                <a:t>ファンド管理</a:t>
              </a:r>
              <a:endParaRPr kumimoji="0" lang="en-US" altLang="ja-JP" sz="1000" b="1" kern="0">
                <a:solidFill>
                  <a:srgbClr val="000000"/>
                </a:solidFill>
                <a:latin typeface="Meiryo UI"/>
                <a:ea typeface="Meiryo UI"/>
              </a:endParaRPr>
            </a:p>
          </p:txBody>
        </p:sp>
        <p:sp>
          <p:nvSpPr>
            <p:cNvPr id="45" name="正方形/長方形 44">
              <a:extLst>
                <a:ext uri="{FF2B5EF4-FFF2-40B4-BE49-F238E27FC236}">
                  <a16:creationId xmlns:a16="http://schemas.microsoft.com/office/drawing/2014/main" id="{CEB6AE1F-5D15-2B98-B076-AEEA135E567F}"/>
                </a:ext>
              </a:extLst>
            </p:cNvPr>
            <p:cNvSpPr/>
            <p:nvPr/>
          </p:nvSpPr>
          <p:spPr>
            <a:xfrm>
              <a:off x="4238432" y="2470127"/>
              <a:ext cx="867166" cy="369134"/>
            </a:xfrm>
            <a:prstGeom prst="rect">
              <a:avLst/>
            </a:prstGeom>
            <a:solidFill>
              <a:schemeClr val="accent2">
                <a:lumMod val="20000"/>
                <a:lumOff val="80000"/>
              </a:schemeClr>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spcAft>
                  <a:spcPts val="300"/>
                </a:spcAft>
                <a:defRPr/>
              </a:pPr>
              <a:r>
                <a:rPr kumimoji="0" lang="ja-JP" altLang="en-US" sz="1000" b="1" kern="0">
                  <a:solidFill>
                    <a:srgbClr val="000000"/>
                  </a:solidFill>
                  <a:latin typeface="Meiryo UI"/>
                  <a:ea typeface="Meiryo UI"/>
                </a:rPr>
                <a:t>投資銘柄管理</a:t>
              </a:r>
              <a:endParaRPr kumimoji="0" lang="en-US" altLang="ja-JP" sz="1000" b="1" kern="0">
                <a:solidFill>
                  <a:srgbClr val="000000"/>
                </a:solidFill>
                <a:latin typeface="Meiryo UI"/>
                <a:ea typeface="Meiryo UI"/>
              </a:endParaRPr>
            </a:p>
          </p:txBody>
        </p:sp>
        <p:sp>
          <p:nvSpPr>
            <p:cNvPr id="36" name="正方形/長方形 35">
              <a:extLst>
                <a:ext uri="{FF2B5EF4-FFF2-40B4-BE49-F238E27FC236}">
                  <a16:creationId xmlns:a16="http://schemas.microsoft.com/office/drawing/2014/main" id="{A0B1BCA7-94E7-0B36-0063-84A408EEB059}"/>
                </a:ext>
              </a:extLst>
            </p:cNvPr>
            <p:cNvSpPr/>
            <p:nvPr/>
          </p:nvSpPr>
          <p:spPr>
            <a:xfrm>
              <a:off x="5237962" y="3207534"/>
              <a:ext cx="867166" cy="369134"/>
            </a:xfrm>
            <a:prstGeom prst="rect">
              <a:avLst/>
            </a:prstGeom>
            <a:solidFill>
              <a:schemeClr val="accent2">
                <a:lumMod val="20000"/>
                <a:lumOff val="80000"/>
              </a:schemeClr>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spcAft>
                  <a:spcPts val="300"/>
                </a:spcAft>
                <a:defRPr/>
              </a:pPr>
              <a:r>
                <a:rPr kumimoji="0" lang="ja-JP" altLang="en-US" sz="1000" b="1" kern="0">
                  <a:solidFill>
                    <a:srgbClr val="000000"/>
                  </a:solidFill>
                  <a:latin typeface="Meiryo UI"/>
                  <a:ea typeface="Meiryo UI"/>
                </a:rPr>
                <a:t>商品固有業務</a:t>
              </a:r>
              <a:endParaRPr kumimoji="0" lang="en-US" altLang="ja-JP" sz="1000" b="1" kern="0">
                <a:solidFill>
                  <a:srgbClr val="000000"/>
                </a:solidFill>
                <a:latin typeface="Meiryo UI"/>
                <a:ea typeface="Meiryo UI"/>
              </a:endParaRPr>
            </a:p>
          </p:txBody>
        </p:sp>
        <p:sp>
          <p:nvSpPr>
            <p:cNvPr id="37" name="正方形/長方形 36">
              <a:extLst>
                <a:ext uri="{FF2B5EF4-FFF2-40B4-BE49-F238E27FC236}">
                  <a16:creationId xmlns:a16="http://schemas.microsoft.com/office/drawing/2014/main" id="{7790ADDB-AF57-E17C-E25B-A08BA3AC85BA}"/>
                </a:ext>
              </a:extLst>
            </p:cNvPr>
            <p:cNvSpPr/>
            <p:nvPr/>
          </p:nvSpPr>
          <p:spPr>
            <a:xfrm>
              <a:off x="5237962" y="3576237"/>
              <a:ext cx="867166" cy="369134"/>
            </a:xfrm>
            <a:prstGeom prst="rect">
              <a:avLst/>
            </a:prstGeom>
            <a:solidFill>
              <a:schemeClr val="accent2">
                <a:lumMod val="20000"/>
                <a:lumOff val="80000"/>
              </a:schemeClr>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spcAft>
                  <a:spcPts val="300"/>
                </a:spcAft>
                <a:defRPr/>
              </a:pPr>
              <a:r>
                <a:rPr kumimoji="0" lang="ja-JP" altLang="en-US" sz="1000" b="1" kern="0">
                  <a:solidFill>
                    <a:srgbClr val="000000"/>
                  </a:solidFill>
                  <a:latin typeface="Meiryo UI"/>
                  <a:ea typeface="Meiryo UI"/>
                </a:rPr>
                <a:t>レポート・データ連携</a:t>
              </a:r>
              <a:endParaRPr kumimoji="0" lang="en-US" altLang="ja-JP" sz="1000" b="1" kern="0">
                <a:solidFill>
                  <a:srgbClr val="000000"/>
                </a:solidFill>
                <a:latin typeface="Meiryo UI"/>
                <a:ea typeface="Meiryo UI"/>
              </a:endParaRPr>
            </a:p>
          </p:txBody>
        </p:sp>
        <p:sp>
          <p:nvSpPr>
            <p:cNvPr id="38" name="正方形/長方形 37">
              <a:extLst>
                <a:ext uri="{FF2B5EF4-FFF2-40B4-BE49-F238E27FC236}">
                  <a16:creationId xmlns:a16="http://schemas.microsoft.com/office/drawing/2014/main" id="{D2012E11-5B7E-DA58-DFB8-2AFC22877A26}"/>
                </a:ext>
              </a:extLst>
            </p:cNvPr>
            <p:cNvSpPr/>
            <p:nvPr/>
          </p:nvSpPr>
          <p:spPr>
            <a:xfrm>
              <a:off x="5237962" y="2838830"/>
              <a:ext cx="867166" cy="369134"/>
            </a:xfrm>
            <a:prstGeom prst="rect">
              <a:avLst/>
            </a:prstGeom>
            <a:solidFill>
              <a:schemeClr val="accent2">
                <a:lumMod val="20000"/>
                <a:lumOff val="80000"/>
              </a:schemeClr>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spcAft>
                  <a:spcPts val="300"/>
                </a:spcAft>
                <a:defRPr/>
              </a:pPr>
              <a:r>
                <a:rPr kumimoji="0" lang="ja-JP" altLang="en-US" sz="1000" b="1" kern="0">
                  <a:solidFill>
                    <a:srgbClr val="000000"/>
                  </a:solidFill>
                  <a:latin typeface="Meiryo UI"/>
                  <a:ea typeface="Meiryo UI"/>
                </a:rPr>
                <a:t>取引管理</a:t>
              </a:r>
              <a:endParaRPr kumimoji="0" lang="en-US" altLang="ja-JP" sz="1000" b="1" kern="0">
                <a:solidFill>
                  <a:srgbClr val="000000"/>
                </a:solidFill>
                <a:latin typeface="Meiryo UI"/>
                <a:ea typeface="Meiryo UI"/>
              </a:endParaRPr>
            </a:p>
          </p:txBody>
        </p:sp>
        <p:sp>
          <p:nvSpPr>
            <p:cNvPr id="39" name="正方形/長方形 38">
              <a:extLst>
                <a:ext uri="{FF2B5EF4-FFF2-40B4-BE49-F238E27FC236}">
                  <a16:creationId xmlns:a16="http://schemas.microsoft.com/office/drawing/2014/main" id="{D9ED0BD4-5112-42DA-1537-65D23E98EBAF}"/>
                </a:ext>
              </a:extLst>
            </p:cNvPr>
            <p:cNvSpPr/>
            <p:nvPr/>
          </p:nvSpPr>
          <p:spPr>
            <a:xfrm>
              <a:off x="5237962" y="2101423"/>
              <a:ext cx="867166" cy="369134"/>
            </a:xfrm>
            <a:prstGeom prst="rect">
              <a:avLst/>
            </a:prstGeom>
            <a:solidFill>
              <a:schemeClr val="accent2">
                <a:lumMod val="20000"/>
                <a:lumOff val="80000"/>
              </a:schemeClr>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spcAft>
                  <a:spcPts val="300"/>
                </a:spcAft>
                <a:defRPr/>
              </a:pPr>
              <a:r>
                <a:rPr kumimoji="0" lang="ja-JP" altLang="en-US" sz="1000" b="1" kern="0">
                  <a:solidFill>
                    <a:srgbClr val="000000"/>
                  </a:solidFill>
                  <a:latin typeface="Meiryo UI"/>
                  <a:ea typeface="Meiryo UI"/>
                </a:rPr>
                <a:t>ファンド管理</a:t>
              </a:r>
              <a:endParaRPr kumimoji="0" lang="en-US" altLang="ja-JP" sz="1000" b="1" kern="0">
                <a:solidFill>
                  <a:srgbClr val="000000"/>
                </a:solidFill>
                <a:latin typeface="Meiryo UI"/>
                <a:ea typeface="Meiryo UI"/>
              </a:endParaRPr>
            </a:p>
          </p:txBody>
        </p:sp>
        <p:sp>
          <p:nvSpPr>
            <p:cNvPr id="40" name="正方形/長方形 39">
              <a:extLst>
                <a:ext uri="{FF2B5EF4-FFF2-40B4-BE49-F238E27FC236}">
                  <a16:creationId xmlns:a16="http://schemas.microsoft.com/office/drawing/2014/main" id="{A4623A2C-B0B9-280F-CD4F-9723564572BF}"/>
                </a:ext>
              </a:extLst>
            </p:cNvPr>
            <p:cNvSpPr/>
            <p:nvPr/>
          </p:nvSpPr>
          <p:spPr>
            <a:xfrm>
              <a:off x="5237962" y="2470127"/>
              <a:ext cx="867166" cy="369134"/>
            </a:xfrm>
            <a:prstGeom prst="rect">
              <a:avLst/>
            </a:prstGeom>
            <a:solidFill>
              <a:schemeClr val="accent2">
                <a:lumMod val="20000"/>
                <a:lumOff val="80000"/>
              </a:schemeClr>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spcAft>
                  <a:spcPts val="300"/>
                </a:spcAft>
                <a:defRPr/>
              </a:pPr>
              <a:r>
                <a:rPr kumimoji="0" lang="ja-JP" altLang="en-US" sz="1000" b="1" kern="0">
                  <a:solidFill>
                    <a:srgbClr val="000000"/>
                  </a:solidFill>
                  <a:latin typeface="Meiryo UI"/>
                  <a:ea typeface="Meiryo UI"/>
                </a:rPr>
                <a:t>投資銘柄管理</a:t>
              </a:r>
              <a:endParaRPr kumimoji="0" lang="en-US" altLang="ja-JP" sz="1000" b="1" kern="0">
                <a:solidFill>
                  <a:srgbClr val="000000"/>
                </a:solidFill>
                <a:latin typeface="Meiryo UI"/>
                <a:ea typeface="Meiryo UI"/>
              </a:endParaRPr>
            </a:p>
          </p:txBody>
        </p:sp>
        <p:sp>
          <p:nvSpPr>
            <p:cNvPr id="34" name="正方形/長方形 33">
              <a:extLst>
                <a:ext uri="{FF2B5EF4-FFF2-40B4-BE49-F238E27FC236}">
                  <a16:creationId xmlns:a16="http://schemas.microsoft.com/office/drawing/2014/main" id="{1015950E-9D11-B970-CA44-CC70965DF1CC}"/>
                </a:ext>
              </a:extLst>
            </p:cNvPr>
            <p:cNvSpPr/>
            <p:nvPr/>
          </p:nvSpPr>
          <p:spPr>
            <a:xfrm>
              <a:off x="4241456" y="1729242"/>
              <a:ext cx="867166" cy="288764"/>
            </a:xfrm>
            <a:prstGeom prst="rect">
              <a:avLst/>
            </a:prstGeom>
            <a:solidFill>
              <a:schemeClr val="accent2"/>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kumimoji="0" lang="ja-JP" altLang="en-US" sz="1000" b="1" kern="0">
                  <a:solidFill>
                    <a:schemeClr val="bg1"/>
                  </a:solidFill>
                  <a:latin typeface="Meiryo UI"/>
                  <a:ea typeface="Meiryo UI"/>
                </a:rPr>
                <a:t>年金</a:t>
              </a:r>
              <a:endParaRPr kumimoji="0" lang="en-US" altLang="ja-JP" sz="1000" b="1" kern="0">
                <a:solidFill>
                  <a:schemeClr val="bg1"/>
                </a:solidFill>
                <a:latin typeface="Meiryo UI"/>
                <a:ea typeface="Meiryo UI"/>
              </a:endParaRPr>
            </a:p>
          </p:txBody>
        </p:sp>
        <p:sp>
          <p:nvSpPr>
            <p:cNvPr id="35" name="正方形/長方形 34">
              <a:extLst>
                <a:ext uri="{FF2B5EF4-FFF2-40B4-BE49-F238E27FC236}">
                  <a16:creationId xmlns:a16="http://schemas.microsoft.com/office/drawing/2014/main" id="{BE4AF272-E103-DE51-F6E2-9726BF844764}"/>
                </a:ext>
              </a:extLst>
            </p:cNvPr>
            <p:cNvSpPr/>
            <p:nvPr/>
          </p:nvSpPr>
          <p:spPr>
            <a:xfrm>
              <a:off x="5237962" y="1729242"/>
              <a:ext cx="867166" cy="288764"/>
            </a:xfrm>
            <a:prstGeom prst="rect">
              <a:avLst/>
            </a:prstGeom>
            <a:solidFill>
              <a:schemeClr val="accent2"/>
            </a:solidFill>
            <a:ln w="12700" cap="flat" cmpd="sng" algn="ctr">
              <a:solidFill>
                <a:schemeClr val="bg1">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kumimoji="0" lang="ja-JP" altLang="en-US" sz="1000" b="1" kern="0">
                  <a:solidFill>
                    <a:schemeClr val="bg1"/>
                  </a:solidFill>
                  <a:latin typeface="Meiryo UI"/>
                  <a:ea typeface="Meiryo UI"/>
                </a:rPr>
                <a:t>投信</a:t>
              </a:r>
              <a:endParaRPr kumimoji="0" lang="en-US" altLang="ja-JP" sz="1000" b="1" kern="0">
                <a:solidFill>
                  <a:schemeClr val="bg1"/>
                </a:solidFill>
                <a:latin typeface="Meiryo UI"/>
                <a:ea typeface="Meiryo UI"/>
              </a:endParaRPr>
            </a:p>
          </p:txBody>
        </p:sp>
      </p:grpSp>
      <p:sp>
        <p:nvSpPr>
          <p:cNvPr id="50" name="正方形/長方形 49">
            <a:extLst>
              <a:ext uri="{FF2B5EF4-FFF2-40B4-BE49-F238E27FC236}">
                <a16:creationId xmlns:a16="http://schemas.microsoft.com/office/drawing/2014/main" id="{7ABF97FF-699F-9634-5859-0F524822CA18}"/>
              </a:ext>
            </a:extLst>
          </p:cNvPr>
          <p:cNvSpPr/>
          <p:nvPr/>
        </p:nvSpPr>
        <p:spPr>
          <a:xfrm>
            <a:off x="6177136" y="1729241"/>
            <a:ext cx="360040" cy="288765"/>
          </a:xfrm>
          <a:prstGeom prst="rect">
            <a:avLst/>
          </a:prstGeom>
          <a:no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lang="en-US" altLang="ja-JP" sz="1400" b="1" kern="0">
                <a:solidFill>
                  <a:srgbClr val="000000"/>
                </a:solidFill>
                <a:latin typeface="Meiryo UI"/>
                <a:ea typeface="Meiryo UI"/>
              </a:rPr>
              <a:t>…</a:t>
            </a:r>
            <a:endParaRPr kumimoji="0" lang="en-US" altLang="ja-JP" sz="1400" b="1" kern="0">
              <a:solidFill>
                <a:srgbClr val="000000"/>
              </a:solidFill>
              <a:latin typeface="Meiryo UI"/>
              <a:ea typeface="Meiryo UI"/>
            </a:endParaRPr>
          </a:p>
        </p:txBody>
      </p:sp>
      <p:sp>
        <p:nvSpPr>
          <p:cNvPr id="51" name="正方形/長方形 50">
            <a:extLst>
              <a:ext uri="{FF2B5EF4-FFF2-40B4-BE49-F238E27FC236}">
                <a16:creationId xmlns:a16="http://schemas.microsoft.com/office/drawing/2014/main" id="{8F8C47F3-3C87-7C41-A87A-E47586F71166}"/>
              </a:ext>
            </a:extLst>
          </p:cNvPr>
          <p:cNvSpPr/>
          <p:nvPr/>
        </p:nvSpPr>
        <p:spPr>
          <a:xfrm rot="5400000">
            <a:off x="4159743" y="4006233"/>
            <a:ext cx="867166" cy="288764"/>
          </a:xfrm>
          <a:prstGeom prst="rect">
            <a:avLst/>
          </a:prstGeom>
          <a:no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lang="en-US" altLang="ja-JP" sz="1400" b="1" kern="0">
                <a:solidFill>
                  <a:srgbClr val="000000"/>
                </a:solidFill>
                <a:latin typeface="Meiryo UI"/>
                <a:ea typeface="Meiryo UI"/>
              </a:rPr>
              <a:t>…</a:t>
            </a:r>
            <a:endParaRPr kumimoji="0" lang="en-US" altLang="ja-JP" sz="1400" b="1" kern="0">
              <a:solidFill>
                <a:srgbClr val="000000"/>
              </a:solidFill>
              <a:latin typeface="Meiryo UI"/>
              <a:ea typeface="Meiryo UI"/>
            </a:endParaRPr>
          </a:p>
        </p:txBody>
      </p:sp>
      <p:sp>
        <p:nvSpPr>
          <p:cNvPr id="52" name="正方形/長方形 51">
            <a:extLst>
              <a:ext uri="{FF2B5EF4-FFF2-40B4-BE49-F238E27FC236}">
                <a16:creationId xmlns:a16="http://schemas.microsoft.com/office/drawing/2014/main" id="{18B1689E-DCEC-D35B-9EFE-77DE312BD45B}"/>
              </a:ext>
            </a:extLst>
          </p:cNvPr>
          <p:cNvSpPr/>
          <p:nvPr/>
        </p:nvSpPr>
        <p:spPr>
          <a:xfrm rot="5400000">
            <a:off x="5159273" y="4006233"/>
            <a:ext cx="867166" cy="288764"/>
          </a:xfrm>
          <a:prstGeom prst="rect">
            <a:avLst/>
          </a:prstGeom>
          <a:no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300"/>
              </a:spcAft>
              <a:defRPr/>
            </a:pPr>
            <a:r>
              <a:rPr lang="en-US" altLang="ja-JP" sz="1400" b="1" kern="0">
                <a:solidFill>
                  <a:srgbClr val="000000"/>
                </a:solidFill>
                <a:latin typeface="Meiryo UI"/>
                <a:ea typeface="Meiryo UI"/>
              </a:rPr>
              <a:t>…</a:t>
            </a:r>
            <a:endParaRPr kumimoji="0" lang="en-US" altLang="ja-JP" sz="1400" b="1" kern="0">
              <a:solidFill>
                <a:srgbClr val="000000"/>
              </a:solidFill>
              <a:latin typeface="Meiryo UI"/>
              <a:ea typeface="Meiryo UI"/>
            </a:endParaRPr>
          </a:p>
        </p:txBody>
      </p:sp>
      <p:sp>
        <p:nvSpPr>
          <p:cNvPr id="56" name="矢印: 上下 55">
            <a:extLst>
              <a:ext uri="{FF2B5EF4-FFF2-40B4-BE49-F238E27FC236}">
                <a16:creationId xmlns:a16="http://schemas.microsoft.com/office/drawing/2014/main" id="{E3AC3F5F-02CB-DCEF-65CC-876BA802B327}"/>
              </a:ext>
            </a:extLst>
          </p:cNvPr>
          <p:cNvSpPr/>
          <p:nvPr/>
        </p:nvSpPr>
        <p:spPr bwMode="auto">
          <a:xfrm>
            <a:off x="3368824" y="2163812"/>
            <a:ext cx="646688" cy="2129284"/>
          </a:xfrm>
          <a:prstGeom prst="upDownArrow">
            <a:avLst/>
          </a:prstGeom>
          <a:solidFill>
            <a:srgbClr val="0070C0"/>
          </a:solidFill>
          <a:ln w="12700">
            <a:noFill/>
            <a:miter lim="800000"/>
            <a:headEnd/>
            <a:tailEnd/>
          </a:ln>
          <a:effectLst/>
        </p:spPr>
        <p:txBody>
          <a:bodyPr rot="0" spcFirstLastPara="0" vertOverflow="overflow" horzOverflow="overflow" vert="horz" wrap="none" lIns="61350" tIns="61350" rIns="61350" bIns="61350" numCol="1" spcCol="0" rtlCol="0" fromWordArt="0" anchor="ctr" anchorCtr="0" forceAA="0" compatLnSpc="1">
            <a:prstTxWarp prst="textNoShape">
              <a:avLst/>
            </a:prstTxWarp>
            <a:noAutofit/>
          </a:bodyPr>
          <a:lstStyle/>
          <a:p>
            <a:pPr algn="ctr" defTabSz="844083" fontAlgn="auto">
              <a:spcBef>
                <a:spcPts val="0"/>
              </a:spcBef>
              <a:spcAft>
                <a:spcPts val="256"/>
              </a:spcAft>
              <a:tabLst>
                <a:tab pos="225907" algn="l"/>
              </a:tabLst>
            </a:pPr>
            <a:r>
              <a:rPr kumimoji="1" lang="ja-JP" altLang="en-US" sz="1050" b="1" kern="0">
                <a:solidFill>
                  <a:schemeClr val="bg1"/>
                </a:solidFill>
                <a:latin typeface="Meiryo UI" panose="020B0604030504040204" pitchFamily="50" charset="-128"/>
                <a:ea typeface="Meiryo UI" panose="020B0604030504040204" pitchFamily="50" charset="-128"/>
              </a:rPr>
              <a:t>資産</a:t>
            </a:r>
            <a:endParaRPr kumimoji="1" lang="en-US" altLang="ja-JP" sz="1050" b="1" kern="0">
              <a:solidFill>
                <a:schemeClr val="bg1"/>
              </a:solidFill>
              <a:latin typeface="Meiryo UI" panose="020B0604030504040204" pitchFamily="50" charset="-128"/>
              <a:ea typeface="Meiryo UI" panose="020B0604030504040204" pitchFamily="50" charset="-128"/>
            </a:endParaRPr>
          </a:p>
          <a:p>
            <a:pPr algn="ctr" defTabSz="844083" fontAlgn="auto">
              <a:spcBef>
                <a:spcPts val="0"/>
              </a:spcBef>
              <a:spcAft>
                <a:spcPts val="256"/>
              </a:spcAft>
              <a:tabLst>
                <a:tab pos="225907" algn="l"/>
              </a:tabLst>
            </a:pPr>
            <a:r>
              <a:rPr kumimoji="1" lang="ja-JP" altLang="en-US" sz="1050" b="1" kern="0">
                <a:solidFill>
                  <a:schemeClr val="bg1"/>
                </a:solidFill>
                <a:latin typeface="Meiryo UI" panose="020B0604030504040204" pitchFamily="50" charset="-128"/>
                <a:ea typeface="Meiryo UI" panose="020B0604030504040204" pitchFamily="50" charset="-128"/>
              </a:rPr>
              <a:t>通貨</a:t>
            </a:r>
          </a:p>
        </p:txBody>
      </p:sp>
      <p:sp>
        <p:nvSpPr>
          <p:cNvPr id="3" name="正方形/長方形 2">
            <a:extLst>
              <a:ext uri="{FF2B5EF4-FFF2-40B4-BE49-F238E27FC236}">
                <a16:creationId xmlns:a16="http://schemas.microsoft.com/office/drawing/2014/main" id="{E044277E-9E04-29DB-7272-31878CCD66EB}"/>
              </a:ext>
            </a:extLst>
          </p:cNvPr>
          <p:cNvSpPr/>
          <p:nvPr/>
        </p:nvSpPr>
        <p:spPr bwMode="auto">
          <a:xfrm>
            <a:off x="2354682" y="1646383"/>
            <a:ext cx="874049" cy="596344"/>
          </a:xfrm>
          <a:prstGeom prst="rect">
            <a:avLst/>
          </a:prstGeom>
          <a:noFill/>
          <a:ln w="12700">
            <a:noFill/>
            <a:miter lim="800000"/>
            <a:headEnd/>
            <a:tailEnd/>
          </a:ln>
          <a:effectLst/>
        </p:spPr>
        <p:txBody>
          <a:bodyPr rot="0" spcFirstLastPara="0" vertOverflow="overflow" horzOverflow="overflow" vert="horz" wrap="none" lIns="61350" tIns="61350" rIns="61350" bIns="61350" numCol="1" spcCol="0" rtlCol="0" fromWordArt="0" anchor="ctr" anchorCtr="0" forceAA="0" compatLnSpc="1">
            <a:prstTxWarp prst="textNoShape">
              <a:avLst/>
            </a:prstTxWarp>
            <a:noAutofit/>
          </a:bodyPr>
          <a:lstStyle/>
          <a:p>
            <a:pPr algn="ctr" defTabSz="844083" fontAlgn="auto">
              <a:spcBef>
                <a:spcPts val="0"/>
              </a:spcBef>
              <a:spcAft>
                <a:spcPts val="256"/>
              </a:spcAft>
              <a:tabLst>
                <a:tab pos="225907" algn="l"/>
              </a:tabLst>
            </a:pPr>
            <a:r>
              <a:rPr kumimoji="1" lang="ja-JP" altLang="en-US" sz="1050" b="1" kern="0">
                <a:solidFill>
                  <a:schemeClr val="tx1">
                    <a:lumMod val="50000"/>
                    <a:lumOff val="50000"/>
                  </a:schemeClr>
                </a:solidFill>
                <a:latin typeface="Meiryo UI" panose="020B0604030504040204" pitchFamily="50" charset="-128"/>
                <a:ea typeface="Meiryo UI" panose="020B0604030504040204" pitchFamily="50" charset="-128"/>
              </a:rPr>
              <a:t>信託</a:t>
            </a:r>
            <a:r>
              <a:rPr kumimoji="1" lang="en-US" altLang="ja-JP" sz="1050" b="1" kern="0">
                <a:solidFill>
                  <a:schemeClr val="tx1">
                    <a:lumMod val="50000"/>
                    <a:lumOff val="50000"/>
                  </a:schemeClr>
                </a:solidFill>
                <a:latin typeface="Meiryo UI" panose="020B0604030504040204" pitchFamily="50" charset="-128"/>
                <a:ea typeface="Meiryo UI" panose="020B0604030504040204" pitchFamily="50" charset="-128"/>
              </a:rPr>
              <a:t>/</a:t>
            </a:r>
            <a:r>
              <a:rPr kumimoji="1" lang="ja-JP" altLang="en-US" sz="1050" b="1" kern="0">
                <a:solidFill>
                  <a:schemeClr val="tx1">
                    <a:lumMod val="50000"/>
                    <a:lumOff val="50000"/>
                  </a:schemeClr>
                </a:solidFill>
                <a:latin typeface="Meiryo UI" panose="020B0604030504040204" pitchFamily="50" charset="-128"/>
                <a:ea typeface="Meiryo UI" panose="020B0604030504040204" pitchFamily="50" charset="-128"/>
              </a:rPr>
              <a:t>常代</a:t>
            </a:r>
          </a:p>
        </p:txBody>
      </p:sp>
      <p:sp>
        <p:nvSpPr>
          <p:cNvPr id="4" name="正方形/長方形 3">
            <a:extLst>
              <a:ext uri="{FF2B5EF4-FFF2-40B4-BE49-F238E27FC236}">
                <a16:creationId xmlns:a16="http://schemas.microsoft.com/office/drawing/2014/main" id="{91C22B27-E54F-6F82-6334-5F7831231CFF}"/>
              </a:ext>
            </a:extLst>
          </p:cNvPr>
          <p:cNvSpPr/>
          <p:nvPr/>
        </p:nvSpPr>
        <p:spPr bwMode="auto">
          <a:xfrm>
            <a:off x="2344214" y="3637352"/>
            <a:ext cx="874049" cy="596344"/>
          </a:xfrm>
          <a:prstGeom prst="rect">
            <a:avLst/>
          </a:prstGeom>
          <a:noFill/>
          <a:ln w="12700">
            <a:noFill/>
            <a:miter lim="800000"/>
            <a:headEnd/>
            <a:tailEnd/>
          </a:ln>
          <a:effectLst/>
        </p:spPr>
        <p:txBody>
          <a:bodyPr rot="0" spcFirstLastPara="0" vertOverflow="overflow" horzOverflow="overflow" vert="horz" wrap="none" lIns="61350" tIns="61350" rIns="61350" bIns="61350" numCol="1" spcCol="0" rtlCol="0" fromWordArt="0" anchor="ctr" anchorCtr="0" forceAA="0" compatLnSpc="1">
            <a:prstTxWarp prst="textNoShape">
              <a:avLst/>
            </a:prstTxWarp>
            <a:noAutofit/>
          </a:bodyPr>
          <a:lstStyle/>
          <a:p>
            <a:pPr algn="ctr" defTabSz="844083" fontAlgn="auto">
              <a:spcBef>
                <a:spcPts val="0"/>
              </a:spcBef>
              <a:spcAft>
                <a:spcPts val="256"/>
              </a:spcAft>
              <a:tabLst>
                <a:tab pos="225907" algn="l"/>
              </a:tabLst>
            </a:pPr>
            <a:r>
              <a:rPr kumimoji="1" lang="ja-JP" altLang="en-US" sz="1050" b="1" kern="0">
                <a:solidFill>
                  <a:schemeClr val="tx1">
                    <a:lumMod val="50000"/>
                    <a:lumOff val="50000"/>
                  </a:schemeClr>
                </a:solidFill>
                <a:latin typeface="Meiryo UI" panose="020B0604030504040204" pitchFamily="50" charset="-128"/>
                <a:ea typeface="Meiryo UI" panose="020B0604030504040204" pitchFamily="50" charset="-128"/>
              </a:rPr>
              <a:t>信託</a:t>
            </a:r>
            <a:r>
              <a:rPr kumimoji="1" lang="en-US" altLang="ja-JP" sz="1050" b="1" kern="0">
                <a:solidFill>
                  <a:schemeClr val="tx1">
                    <a:lumMod val="50000"/>
                    <a:lumOff val="50000"/>
                  </a:schemeClr>
                </a:solidFill>
                <a:latin typeface="Meiryo UI" panose="020B0604030504040204" pitchFamily="50" charset="-128"/>
                <a:ea typeface="Meiryo UI" panose="020B0604030504040204" pitchFamily="50" charset="-128"/>
              </a:rPr>
              <a:t>/</a:t>
            </a:r>
            <a:r>
              <a:rPr kumimoji="1" lang="ja-JP" altLang="en-US" sz="1050" b="1" kern="0">
                <a:solidFill>
                  <a:schemeClr val="tx1">
                    <a:lumMod val="50000"/>
                    <a:lumOff val="50000"/>
                  </a:schemeClr>
                </a:solidFill>
                <a:latin typeface="Meiryo UI" panose="020B0604030504040204" pitchFamily="50" charset="-128"/>
                <a:ea typeface="Meiryo UI" panose="020B0604030504040204" pitchFamily="50" charset="-128"/>
              </a:rPr>
              <a:t>常代</a:t>
            </a:r>
          </a:p>
        </p:txBody>
      </p:sp>
    </p:spTree>
    <p:extLst>
      <p:ext uri="{BB962C8B-B14F-4D97-AF65-F5344CB8AC3E}">
        <p14:creationId xmlns:p14="http://schemas.microsoft.com/office/powerpoint/2010/main" val="1778428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FF15D-557B-4C33-9E5D-3AF00C8FABE9}"/>
              </a:ext>
            </a:extLst>
          </p:cNvPr>
          <p:cNvSpPr>
            <a:spLocks noGrp="1"/>
          </p:cNvSpPr>
          <p:nvPr>
            <p:ph type="title"/>
          </p:nvPr>
        </p:nvSpPr>
        <p:spPr/>
        <p:txBody>
          <a:bodyPr/>
          <a:lstStyle/>
          <a:p>
            <a:r>
              <a:rPr lang="ja-JP" altLang="en-US"/>
              <a:t>資産管理における主要業務</a:t>
            </a:r>
            <a:endParaRPr kumimoji="1" lang="ja-JP" altLang="en-US"/>
          </a:p>
        </p:txBody>
      </p:sp>
      <p:pic>
        <p:nvPicPr>
          <p:cNvPr id="3" name="図 2">
            <a:extLst>
              <a:ext uri="{FF2B5EF4-FFF2-40B4-BE49-F238E27FC236}">
                <a16:creationId xmlns:a16="http://schemas.microsoft.com/office/drawing/2014/main" id="{45057E92-6E59-8C28-393D-52D3FA19A8FD}"/>
              </a:ext>
            </a:extLst>
          </p:cNvPr>
          <p:cNvPicPr>
            <a:picLocks noChangeAspect="1"/>
          </p:cNvPicPr>
          <p:nvPr/>
        </p:nvPicPr>
        <p:blipFill>
          <a:blip r:embed="rId2"/>
          <a:stretch>
            <a:fillRect/>
          </a:stretch>
        </p:blipFill>
        <p:spPr>
          <a:xfrm>
            <a:off x="102742" y="1412776"/>
            <a:ext cx="9803258" cy="3888432"/>
          </a:xfrm>
          <a:prstGeom prst="rect">
            <a:avLst/>
          </a:prstGeom>
        </p:spPr>
      </p:pic>
    </p:spTree>
    <p:extLst>
      <p:ext uri="{BB962C8B-B14F-4D97-AF65-F5344CB8AC3E}">
        <p14:creationId xmlns:p14="http://schemas.microsoft.com/office/powerpoint/2010/main" val="2341868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FF15D-557B-4C33-9E5D-3AF00C8FABE9}"/>
              </a:ext>
            </a:extLst>
          </p:cNvPr>
          <p:cNvSpPr>
            <a:spLocks noGrp="1"/>
          </p:cNvSpPr>
          <p:nvPr>
            <p:ph type="title"/>
          </p:nvPr>
        </p:nvSpPr>
        <p:spPr/>
        <p:txBody>
          <a:bodyPr/>
          <a:lstStyle/>
          <a:p>
            <a:r>
              <a:rPr kumimoji="1" lang="ja-JP" altLang="en-US"/>
              <a:t>カストディ・ソリューション </a:t>
            </a:r>
            <a:r>
              <a:rPr lang="ja-JP" altLang="en-US"/>
              <a:t>～ </a:t>
            </a:r>
            <a:r>
              <a:rPr lang="en-US" altLang="ja-JP"/>
              <a:t>STATE STREET</a:t>
            </a:r>
            <a:r>
              <a:rPr lang="ja-JP" altLang="en-US"/>
              <a:t>の例</a:t>
            </a:r>
            <a:endParaRPr kumimoji="1" lang="ja-JP" altLang="en-US"/>
          </a:p>
        </p:txBody>
      </p:sp>
      <p:sp>
        <p:nvSpPr>
          <p:cNvPr id="3" name="正方形/長方形 2">
            <a:extLst>
              <a:ext uri="{FF2B5EF4-FFF2-40B4-BE49-F238E27FC236}">
                <a16:creationId xmlns:a16="http://schemas.microsoft.com/office/drawing/2014/main" id="{34E1B4A3-7FDD-5926-A943-3EC8631CE861}"/>
              </a:ext>
            </a:extLst>
          </p:cNvPr>
          <p:cNvSpPr/>
          <p:nvPr/>
        </p:nvSpPr>
        <p:spPr>
          <a:xfrm>
            <a:off x="349731" y="1338006"/>
            <a:ext cx="1566208" cy="553771"/>
          </a:xfrm>
          <a:prstGeom prst="rect">
            <a:avLst/>
          </a:prstGeom>
          <a:solidFill>
            <a:schemeClr val="accent2">
              <a:lumMod val="20000"/>
              <a:lumOff val="80000"/>
            </a:schemeClr>
          </a:solidFill>
          <a:ln w="6350" cap="flat" cmpd="sng" algn="ctr">
            <a:solidFill>
              <a:srgbClr val="969696"/>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lnSpc>
                <a:spcPct val="90000"/>
              </a:lnSpc>
              <a:spcBef>
                <a:spcPts val="0"/>
              </a:spcBef>
              <a:spcAft>
                <a:spcPts val="0"/>
              </a:spcAft>
              <a:buClr>
                <a:prstClr val="black"/>
              </a:buClr>
              <a:tabLst>
                <a:tab pos="180975" algn="l"/>
              </a:tabLst>
            </a:pPr>
            <a:r>
              <a:rPr kumimoji="1" lang="ja-JP" altLang="en-US" sz="1200" kern="0">
                <a:latin typeface="Meiryo UI" panose="020B0604030504040204" pitchFamily="50" charset="-128"/>
                <a:ea typeface="Meiryo UI" panose="020B0604030504040204" pitchFamily="50" charset="-128"/>
              </a:rPr>
              <a:t>コーポレート・アクション</a:t>
            </a:r>
            <a:endParaRPr kumimoji="1" lang="en-US" altLang="ja-JP" sz="1200" kern="0">
              <a:latin typeface="Meiryo UI" panose="020B0604030504040204" pitchFamily="50" charset="-128"/>
              <a:ea typeface="Meiryo UI" panose="020B0604030504040204" pitchFamily="50" charset="-128"/>
            </a:endParaRPr>
          </a:p>
          <a:p>
            <a:pPr algn="ctr" fontAlgn="auto">
              <a:lnSpc>
                <a:spcPct val="90000"/>
              </a:lnSpc>
              <a:spcBef>
                <a:spcPts val="0"/>
              </a:spcBef>
              <a:spcAft>
                <a:spcPts val="0"/>
              </a:spcAft>
              <a:buClr>
                <a:prstClr val="black"/>
              </a:buClr>
              <a:tabLst>
                <a:tab pos="180975" algn="l"/>
              </a:tabLst>
            </a:pPr>
            <a:r>
              <a:rPr kumimoji="1" lang="ja-JP" altLang="en-US" sz="1200" kern="0">
                <a:latin typeface="Meiryo UI" panose="020B0604030504040204" pitchFamily="50" charset="-128"/>
                <a:ea typeface="Meiryo UI" panose="020B0604030504040204" pitchFamily="50" charset="-128"/>
              </a:rPr>
              <a:t>・サービス</a:t>
            </a:r>
          </a:p>
        </p:txBody>
      </p:sp>
      <p:sp>
        <p:nvSpPr>
          <p:cNvPr id="4" name="正方形/長方形 3">
            <a:extLst>
              <a:ext uri="{FF2B5EF4-FFF2-40B4-BE49-F238E27FC236}">
                <a16:creationId xmlns:a16="http://schemas.microsoft.com/office/drawing/2014/main" id="{201AE12C-A5BA-F1B0-CAD4-EB0B0246B81C}"/>
              </a:ext>
            </a:extLst>
          </p:cNvPr>
          <p:cNvSpPr/>
          <p:nvPr/>
        </p:nvSpPr>
        <p:spPr>
          <a:xfrm>
            <a:off x="349731" y="3114730"/>
            <a:ext cx="1566208" cy="553771"/>
          </a:xfrm>
          <a:prstGeom prst="rect">
            <a:avLst/>
          </a:prstGeom>
          <a:solidFill>
            <a:schemeClr val="accent2">
              <a:lumMod val="20000"/>
              <a:lumOff val="80000"/>
            </a:schemeClr>
          </a:solidFill>
          <a:ln w="6350" cap="flat" cmpd="sng" algn="ctr">
            <a:solidFill>
              <a:srgbClr val="969696"/>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lnSpc>
                <a:spcPct val="90000"/>
              </a:lnSpc>
              <a:spcBef>
                <a:spcPts val="0"/>
              </a:spcBef>
              <a:spcAft>
                <a:spcPts val="0"/>
              </a:spcAft>
              <a:buClr>
                <a:prstClr val="black"/>
              </a:buClr>
              <a:tabLst>
                <a:tab pos="180975" algn="l"/>
              </a:tabLst>
            </a:pPr>
            <a:r>
              <a:rPr kumimoji="1" lang="ja-JP" altLang="en-US" sz="1200" kern="0">
                <a:latin typeface="Meiryo UI" panose="020B0604030504040204" pitchFamily="50" charset="-128"/>
                <a:ea typeface="Meiryo UI" panose="020B0604030504040204" pitchFamily="50" charset="-128"/>
              </a:rPr>
              <a:t>口座開設</a:t>
            </a:r>
          </a:p>
        </p:txBody>
      </p:sp>
      <p:sp>
        <p:nvSpPr>
          <p:cNvPr id="5" name="正方形/長方形 4">
            <a:extLst>
              <a:ext uri="{FF2B5EF4-FFF2-40B4-BE49-F238E27FC236}">
                <a16:creationId xmlns:a16="http://schemas.microsoft.com/office/drawing/2014/main" id="{3C3CC439-827E-75F6-D6C3-B9919106AB5E}"/>
              </a:ext>
            </a:extLst>
          </p:cNvPr>
          <p:cNvSpPr/>
          <p:nvPr/>
        </p:nvSpPr>
        <p:spPr>
          <a:xfrm>
            <a:off x="349731" y="3706971"/>
            <a:ext cx="1566208" cy="553771"/>
          </a:xfrm>
          <a:prstGeom prst="rect">
            <a:avLst/>
          </a:prstGeom>
          <a:solidFill>
            <a:schemeClr val="accent2">
              <a:lumMod val="20000"/>
              <a:lumOff val="80000"/>
            </a:schemeClr>
          </a:solidFill>
          <a:ln w="6350" cap="flat" cmpd="sng" algn="ctr">
            <a:solidFill>
              <a:srgbClr val="969696"/>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lnSpc>
                <a:spcPct val="90000"/>
              </a:lnSpc>
              <a:spcBef>
                <a:spcPts val="0"/>
              </a:spcBef>
              <a:spcAft>
                <a:spcPts val="0"/>
              </a:spcAft>
              <a:buClr>
                <a:prstClr val="black"/>
              </a:buClr>
              <a:tabLst>
                <a:tab pos="180975" algn="l"/>
              </a:tabLst>
            </a:pPr>
            <a:r>
              <a:rPr kumimoji="1" lang="ja-JP" altLang="en-US" sz="1200" kern="0">
                <a:latin typeface="Meiryo UI" panose="020B0604030504040204" pitchFamily="50" charset="-128"/>
                <a:ea typeface="Meiryo UI" panose="020B0604030504040204" pitchFamily="50" charset="-128"/>
              </a:rPr>
              <a:t>収益回収</a:t>
            </a:r>
          </a:p>
        </p:txBody>
      </p:sp>
      <p:sp>
        <p:nvSpPr>
          <p:cNvPr id="6" name="正方形/長方形 5">
            <a:extLst>
              <a:ext uri="{FF2B5EF4-FFF2-40B4-BE49-F238E27FC236}">
                <a16:creationId xmlns:a16="http://schemas.microsoft.com/office/drawing/2014/main" id="{0429AEC8-9859-4E71-A159-0BF88E97123C}"/>
              </a:ext>
            </a:extLst>
          </p:cNvPr>
          <p:cNvSpPr/>
          <p:nvPr/>
        </p:nvSpPr>
        <p:spPr>
          <a:xfrm>
            <a:off x="349731" y="4299212"/>
            <a:ext cx="1566208" cy="553771"/>
          </a:xfrm>
          <a:prstGeom prst="rect">
            <a:avLst/>
          </a:prstGeom>
          <a:solidFill>
            <a:schemeClr val="accent2">
              <a:lumMod val="20000"/>
              <a:lumOff val="80000"/>
            </a:schemeClr>
          </a:solidFill>
          <a:ln w="6350" cap="flat" cmpd="sng" algn="ctr">
            <a:solidFill>
              <a:srgbClr val="969696"/>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lnSpc>
                <a:spcPct val="90000"/>
              </a:lnSpc>
              <a:spcBef>
                <a:spcPts val="0"/>
              </a:spcBef>
              <a:spcAft>
                <a:spcPts val="0"/>
              </a:spcAft>
              <a:buClr>
                <a:prstClr val="black"/>
              </a:buClr>
              <a:tabLst>
                <a:tab pos="180975" algn="l"/>
              </a:tabLst>
            </a:pPr>
            <a:r>
              <a:rPr kumimoji="1" lang="ja-JP" altLang="en-US" sz="1200" kern="0">
                <a:latin typeface="Meiryo UI" panose="020B0604030504040204" pitchFamily="50" charset="-128"/>
                <a:ea typeface="Meiryo UI" panose="020B0604030504040204" pitchFamily="50" charset="-128"/>
              </a:rPr>
              <a:t>税務関連サービス</a:t>
            </a:r>
            <a:endParaRPr kumimoji="1" lang="en-US" altLang="ja-JP" sz="1200" kern="0">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50E718D3-6435-B196-53A7-5D940FA174CD}"/>
              </a:ext>
            </a:extLst>
          </p:cNvPr>
          <p:cNvSpPr/>
          <p:nvPr/>
        </p:nvSpPr>
        <p:spPr>
          <a:xfrm>
            <a:off x="349731" y="4891453"/>
            <a:ext cx="1566208" cy="553771"/>
          </a:xfrm>
          <a:prstGeom prst="rect">
            <a:avLst/>
          </a:prstGeom>
          <a:solidFill>
            <a:schemeClr val="accent2">
              <a:lumMod val="20000"/>
              <a:lumOff val="80000"/>
            </a:schemeClr>
          </a:solidFill>
          <a:ln w="6350" cap="flat" cmpd="sng" algn="ctr">
            <a:solidFill>
              <a:srgbClr val="969696"/>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lnSpc>
                <a:spcPct val="90000"/>
              </a:lnSpc>
              <a:spcBef>
                <a:spcPts val="0"/>
              </a:spcBef>
              <a:spcAft>
                <a:spcPts val="0"/>
              </a:spcAft>
              <a:buClr>
                <a:prstClr val="black"/>
              </a:buClr>
              <a:tabLst>
                <a:tab pos="180975" algn="l"/>
              </a:tabLst>
            </a:pPr>
            <a:r>
              <a:rPr kumimoji="1" lang="ja-JP" altLang="en-US" sz="1200" kern="0">
                <a:latin typeface="Meiryo UI" panose="020B0604030504040204" pitchFamily="50" charset="-128"/>
                <a:ea typeface="Meiryo UI" panose="020B0604030504040204" pitchFamily="50" charset="-128"/>
              </a:rPr>
              <a:t>議決権行使サービス</a:t>
            </a:r>
            <a:endParaRPr kumimoji="1" lang="en-US" altLang="ja-JP" sz="1200" kern="0">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C8EEAB0C-5D4E-9370-78AA-C6F71A6633BE}"/>
              </a:ext>
            </a:extLst>
          </p:cNvPr>
          <p:cNvSpPr/>
          <p:nvPr/>
        </p:nvSpPr>
        <p:spPr>
          <a:xfrm>
            <a:off x="349731" y="1930247"/>
            <a:ext cx="1566208" cy="553771"/>
          </a:xfrm>
          <a:prstGeom prst="rect">
            <a:avLst/>
          </a:prstGeom>
          <a:solidFill>
            <a:schemeClr val="accent2">
              <a:lumMod val="20000"/>
              <a:lumOff val="80000"/>
            </a:schemeClr>
          </a:solidFill>
          <a:ln w="6350" cap="flat" cmpd="sng" algn="ctr">
            <a:solidFill>
              <a:srgbClr val="969696"/>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lnSpc>
                <a:spcPct val="90000"/>
              </a:lnSpc>
              <a:spcBef>
                <a:spcPts val="0"/>
              </a:spcBef>
              <a:spcAft>
                <a:spcPts val="0"/>
              </a:spcAft>
              <a:buClr>
                <a:prstClr val="black"/>
              </a:buClr>
              <a:tabLst>
                <a:tab pos="180975" algn="l"/>
              </a:tabLst>
            </a:pPr>
            <a:r>
              <a:rPr kumimoji="1" lang="ja-JP" altLang="en-US" sz="1200" kern="0">
                <a:latin typeface="Meiryo UI" panose="020B0604030504040204" pitchFamily="50" charset="-128"/>
                <a:ea typeface="Meiryo UI" panose="020B0604030504040204" pitchFamily="50" charset="-128"/>
              </a:rPr>
              <a:t>資産保管と取引決済</a:t>
            </a:r>
            <a:endParaRPr kumimoji="1" lang="en-US" altLang="zh-TW" sz="1200" kern="0">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EB79A194-8486-B413-6224-3C5A20FD2470}"/>
              </a:ext>
            </a:extLst>
          </p:cNvPr>
          <p:cNvSpPr/>
          <p:nvPr/>
        </p:nvSpPr>
        <p:spPr>
          <a:xfrm>
            <a:off x="349731" y="2522489"/>
            <a:ext cx="1566208" cy="553771"/>
          </a:xfrm>
          <a:prstGeom prst="rect">
            <a:avLst/>
          </a:prstGeom>
          <a:solidFill>
            <a:schemeClr val="accent2">
              <a:lumMod val="20000"/>
              <a:lumOff val="80000"/>
            </a:schemeClr>
          </a:solidFill>
          <a:ln w="6350" cap="flat" cmpd="sng" algn="ctr">
            <a:solidFill>
              <a:srgbClr val="969696"/>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lnSpc>
                <a:spcPct val="90000"/>
              </a:lnSpc>
              <a:spcBef>
                <a:spcPts val="0"/>
              </a:spcBef>
              <a:spcAft>
                <a:spcPts val="0"/>
              </a:spcAft>
              <a:buClr>
                <a:prstClr val="black"/>
              </a:buClr>
              <a:tabLst>
                <a:tab pos="180975" algn="l"/>
              </a:tabLst>
            </a:pPr>
            <a:r>
              <a:rPr kumimoji="1" lang="ja-JP" altLang="en-US" sz="1200" kern="0">
                <a:latin typeface="Meiryo UI" panose="020B0604030504040204" pitchFamily="50" charset="-128"/>
                <a:ea typeface="Meiryo UI" panose="020B0604030504040204" pitchFamily="50" charset="-128"/>
              </a:rPr>
              <a:t>ネットワーク管理と情報</a:t>
            </a:r>
          </a:p>
        </p:txBody>
      </p:sp>
      <p:sp>
        <p:nvSpPr>
          <p:cNvPr id="46" name="正方形/長方形 45">
            <a:extLst>
              <a:ext uri="{FF2B5EF4-FFF2-40B4-BE49-F238E27FC236}">
                <a16:creationId xmlns:a16="http://schemas.microsoft.com/office/drawing/2014/main" id="{931D9F4B-BA88-9476-7F32-FBF66524B544}"/>
              </a:ext>
            </a:extLst>
          </p:cNvPr>
          <p:cNvSpPr/>
          <p:nvPr/>
        </p:nvSpPr>
        <p:spPr>
          <a:xfrm>
            <a:off x="2105380" y="1338006"/>
            <a:ext cx="7311124" cy="553771"/>
          </a:xfrm>
          <a:prstGeom prst="rect">
            <a:avLst/>
          </a:prstGeom>
          <a:solidFill>
            <a:schemeClr val="bg1"/>
          </a:solidFill>
          <a:ln w="6350" cap="flat" cmpd="sng" algn="ctr">
            <a:noFill/>
            <a:prstDash val="solid"/>
            <a:miter lim="800000"/>
          </a:ln>
          <a:effectLst/>
          <a:extLst>
            <a:ext uri="{91240B29-F687-4F45-9708-019B960494DF}">
              <a14:hiddenLine xmlns:a14="http://schemas.microsoft.com/office/drawing/2010/main" w="6350" cap="flat" cmpd="sng" algn="ctr">
                <a:solidFill>
                  <a:srgbClr val="969696"/>
                </a:solidFill>
                <a:prstDash val="solid"/>
                <a:miter lim="800000"/>
              </a14:hiddenLine>
            </a:ext>
          </a:ex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171450" indent="-171450" fontAlgn="auto">
              <a:lnSpc>
                <a:spcPct val="90000"/>
              </a:lnSpc>
              <a:spcBef>
                <a:spcPts val="300"/>
              </a:spcBef>
              <a:spcAft>
                <a:spcPts val="0"/>
              </a:spcAft>
              <a:buClr>
                <a:prstClr val="black"/>
              </a:buClr>
              <a:buFont typeface="Wingdings" panose="05000000000000000000" pitchFamily="2" charset="2"/>
              <a:buChar char="p"/>
              <a:tabLst>
                <a:tab pos="180975" algn="l"/>
              </a:tabLst>
            </a:pPr>
            <a:r>
              <a:rPr kumimoji="1" lang="ja-JP" altLang="en-US" sz="1200" kern="0">
                <a:latin typeface="Meiryo UI" panose="020B0604030504040204" pitchFamily="50" charset="-128"/>
                <a:ea typeface="Meiryo UI" panose="020B0604030504040204" pitchFamily="50" charset="-128"/>
              </a:rPr>
              <a:t>市場の専門知識及び</a:t>
            </a:r>
            <a:r>
              <a:rPr kumimoji="1" lang="ja-JP" altLang="en-US" sz="1200" b="1" kern="0">
                <a:latin typeface="Meiryo UI" panose="020B0604030504040204" pitchFamily="50" charset="-128"/>
                <a:ea typeface="Meiryo UI" panose="020B0604030504040204" pitchFamily="50" charset="-128"/>
              </a:rPr>
              <a:t>コーポレート・アクションの知識</a:t>
            </a:r>
            <a:r>
              <a:rPr kumimoji="1" lang="ja-JP" altLang="en-US" sz="1200" kern="0">
                <a:latin typeface="Meiryo UI" panose="020B0604030504040204" pitchFamily="50" charset="-128"/>
                <a:ea typeface="Meiryo UI" panose="020B0604030504040204" pitchFamily="50" charset="-128"/>
              </a:rPr>
              <a:t>を、情報ベンダー、証券保管振替機関、サブ・カストディアン等の関係各所から収集し、投資家の皆様がエンド・ツー・エンド管理する上で必要とする情報を提供しています。</a:t>
            </a:r>
            <a:endParaRPr kumimoji="1" lang="en-US" altLang="ja-JP" sz="1200" kern="0">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D1C631E7-248A-5CE8-AFDB-89708941C480}"/>
              </a:ext>
            </a:extLst>
          </p:cNvPr>
          <p:cNvSpPr/>
          <p:nvPr/>
        </p:nvSpPr>
        <p:spPr>
          <a:xfrm>
            <a:off x="2105380" y="3114730"/>
            <a:ext cx="7311124" cy="553771"/>
          </a:xfrm>
          <a:prstGeom prst="rect">
            <a:avLst/>
          </a:prstGeom>
          <a:solidFill>
            <a:schemeClr val="bg1"/>
          </a:solidFill>
          <a:ln w="6350" cap="flat" cmpd="sng" algn="ctr">
            <a:noFill/>
            <a:prstDash val="solid"/>
            <a:miter lim="800000"/>
          </a:ln>
          <a:effectLst/>
          <a:extLst>
            <a:ext uri="{91240B29-F687-4F45-9708-019B960494DF}">
              <a14:hiddenLine xmlns:a14="http://schemas.microsoft.com/office/drawing/2010/main" w="6350" cap="flat" cmpd="sng" algn="ctr">
                <a:solidFill>
                  <a:srgbClr val="969696"/>
                </a:solidFill>
                <a:prstDash val="solid"/>
                <a:miter lim="800000"/>
              </a14:hiddenLine>
            </a:ext>
          </a:ex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171450" indent="-171450" fontAlgn="auto">
              <a:lnSpc>
                <a:spcPct val="90000"/>
              </a:lnSpc>
              <a:spcBef>
                <a:spcPts val="300"/>
              </a:spcBef>
              <a:spcAft>
                <a:spcPts val="0"/>
              </a:spcAft>
              <a:buClr>
                <a:prstClr val="black"/>
              </a:buClr>
              <a:buFont typeface="Wingdings" panose="05000000000000000000" pitchFamily="2" charset="2"/>
              <a:buChar char="p"/>
              <a:tabLst>
                <a:tab pos="180975" algn="l"/>
              </a:tabLst>
            </a:pPr>
            <a:r>
              <a:rPr kumimoji="1" lang="ja-JP" altLang="en-US" sz="1200" kern="0">
                <a:latin typeface="Meiryo UI" panose="020B0604030504040204" pitchFamily="50" charset="-128"/>
                <a:ea typeface="Meiryo UI" panose="020B0604030504040204" pitchFamily="50" charset="-128"/>
              </a:rPr>
              <a:t>グローバルな拠点と市場アクセスにより、お客様は</a:t>
            </a:r>
            <a:r>
              <a:rPr kumimoji="1" lang="ja-JP" altLang="en-US" sz="1200" b="1" kern="0">
                <a:latin typeface="Meiryo UI" panose="020B0604030504040204" pitchFamily="50" charset="-128"/>
                <a:ea typeface="Meiryo UI" panose="020B0604030504040204" pitchFamily="50" charset="-128"/>
              </a:rPr>
              <a:t>世界中の投資市場において資金口座及び証券口座を開設</a:t>
            </a:r>
            <a:r>
              <a:rPr kumimoji="1" lang="ja-JP" altLang="en-US" sz="1200" kern="0">
                <a:latin typeface="Meiryo UI" panose="020B0604030504040204" pitchFamily="50" charset="-128"/>
                <a:ea typeface="Meiryo UI" panose="020B0604030504040204" pitchFamily="50" charset="-128"/>
              </a:rPr>
              <a:t>することが可能です。また、お客様が</a:t>
            </a:r>
            <a:r>
              <a:rPr kumimoji="1" lang="ja-JP" altLang="en-US" sz="1200" b="1" kern="0">
                <a:latin typeface="Meiryo UI" panose="020B0604030504040204" pitchFamily="50" charset="-128"/>
                <a:ea typeface="Meiryo UI" panose="020B0604030504040204" pitchFamily="50" charset="-128"/>
              </a:rPr>
              <a:t>規制要件を満たすためのサポート</a:t>
            </a:r>
            <a:r>
              <a:rPr kumimoji="1" lang="ja-JP" altLang="en-US" sz="1200" kern="0">
                <a:latin typeface="Meiryo UI" panose="020B0604030504040204" pitchFamily="50" charset="-128"/>
                <a:ea typeface="Meiryo UI" panose="020B0604030504040204" pitchFamily="50" charset="-128"/>
              </a:rPr>
              <a:t>を提供いたします。</a:t>
            </a:r>
          </a:p>
        </p:txBody>
      </p:sp>
      <p:sp>
        <p:nvSpPr>
          <p:cNvPr id="49" name="正方形/長方形 48">
            <a:extLst>
              <a:ext uri="{FF2B5EF4-FFF2-40B4-BE49-F238E27FC236}">
                <a16:creationId xmlns:a16="http://schemas.microsoft.com/office/drawing/2014/main" id="{4C86C1FB-34F5-2272-65A4-1A32CB55A7AF}"/>
              </a:ext>
            </a:extLst>
          </p:cNvPr>
          <p:cNvSpPr/>
          <p:nvPr/>
        </p:nvSpPr>
        <p:spPr>
          <a:xfrm>
            <a:off x="2105380" y="4299212"/>
            <a:ext cx="7311124" cy="553771"/>
          </a:xfrm>
          <a:prstGeom prst="rect">
            <a:avLst/>
          </a:prstGeom>
          <a:solidFill>
            <a:schemeClr val="bg1"/>
          </a:solidFill>
          <a:ln w="6350" cap="flat" cmpd="sng" algn="ctr">
            <a:noFill/>
            <a:prstDash val="solid"/>
            <a:miter lim="800000"/>
          </a:ln>
          <a:effectLst/>
          <a:extLst>
            <a:ext uri="{91240B29-F687-4F45-9708-019B960494DF}">
              <a14:hiddenLine xmlns:a14="http://schemas.microsoft.com/office/drawing/2010/main" w="6350" cap="flat" cmpd="sng" algn="ctr">
                <a:solidFill>
                  <a:srgbClr val="969696"/>
                </a:solidFill>
                <a:prstDash val="solid"/>
                <a:miter lim="800000"/>
              </a14:hiddenLine>
            </a:ext>
          </a:ex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171450" indent="-171450" fontAlgn="auto">
              <a:lnSpc>
                <a:spcPct val="90000"/>
              </a:lnSpc>
              <a:spcBef>
                <a:spcPts val="300"/>
              </a:spcBef>
              <a:spcAft>
                <a:spcPts val="0"/>
              </a:spcAft>
              <a:buClr>
                <a:prstClr val="black"/>
              </a:buClr>
              <a:buFont typeface="Wingdings" panose="05000000000000000000" pitchFamily="2" charset="2"/>
              <a:buChar char="p"/>
              <a:tabLst>
                <a:tab pos="180975" algn="l"/>
              </a:tabLst>
            </a:pPr>
            <a:r>
              <a:rPr kumimoji="1" lang="ja-JP" altLang="en-US" sz="1200" kern="0">
                <a:latin typeface="Meiryo UI" panose="020B0604030504040204" pitchFamily="50" charset="-128"/>
                <a:ea typeface="Meiryo UI" panose="020B0604030504040204" pitchFamily="50" charset="-128"/>
              </a:rPr>
              <a:t>関連規制のモニタリングを行うことにより、費用効果が高く効率的な税還付請求処理サービスや、免税又は軽減税率適用など、お客様が必要とする</a:t>
            </a:r>
            <a:r>
              <a:rPr kumimoji="1" lang="ja-JP" altLang="en-US" sz="1200" b="1" kern="0">
                <a:latin typeface="Meiryo UI" panose="020B0604030504040204" pitchFamily="50" charset="-128"/>
                <a:ea typeface="Meiryo UI" panose="020B0604030504040204" pitchFamily="50" charset="-128"/>
              </a:rPr>
              <a:t>税務情報を提供</a:t>
            </a:r>
            <a:r>
              <a:rPr kumimoji="1" lang="ja-JP" altLang="en-US" sz="1200" kern="0">
                <a:latin typeface="Meiryo UI" panose="020B0604030504040204" pitchFamily="50" charset="-128"/>
                <a:ea typeface="Meiryo UI" panose="020B0604030504040204" pitchFamily="50" charset="-128"/>
              </a:rPr>
              <a:t>します。ステート・ストリートの税務関連サービスは、キャピタルゲイン税申告と居住者証明書請求手続きも対象としています。</a:t>
            </a:r>
            <a:endParaRPr kumimoji="1" lang="en-US" altLang="ja-JP" sz="1200" kern="0">
              <a:latin typeface="Meiryo UI" panose="020B0604030504040204" pitchFamily="50" charset="-128"/>
              <a:ea typeface="Meiryo UI" panose="020B0604030504040204" pitchFamily="50" charset="-128"/>
            </a:endParaRPr>
          </a:p>
        </p:txBody>
      </p:sp>
      <p:sp>
        <p:nvSpPr>
          <p:cNvPr id="53" name="正方形/長方形 52">
            <a:extLst>
              <a:ext uri="{FF2B5EF4-FFF2-40B4-BE49-F238E27FC236}">
                <a16:creationId xmlns:a16="http://schemas.microsoft.com/office/drawing/2014/main" id="{457FA394-D86B-CE3A-E00B-3CBAB6CC2BF8}"/>
              </a:ext>
            </a:extLst>
          </p:cNvPr>
          <p:cNvSpPr/>
          <p:nvPr/>
        </p:nvSpPr>
        <p:spPr>
          <a:xfrm>
            <a:off x="2105380" y="3706971"/>
            <a:ext cx="7311124" cy="553771"/>
          </a:xfrm>
          <a:prstGeom prst="rect">
            <a:avLst/>
          </a:prstGeom>
          <a:solidFill>
            <a:schemeClr val="bg1"/>
          </a:solidFill>
          <a:ln w="6350" cap="flat" cmpd="sng" algn="ctr">
            <a:noFill/>
            <a:prstDash val="solid"/>
            <a:miter lim="800000"/>
          </a:ln>
          <a:effectLst/>
          <a:extLst>
            <a:ext uri="{91240B29-F687-4F45-9708-019B960494DF}">
              <a14:hiddenLine xmlns:a14="http://schemas.microsoft.com/office/drawing/2010/main" w="6350" cap="flat" cmpd="sng" algn="ctr">
                <a:solidFill>
                  <a:srgbClr val="969696"/>
                </a:solidFill>
                <a:prstDash val="solid"/>
                <a:miter lim="800000"/>
              </a14:hiddenLine>
            </a:ext>
          </a:ex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171450" indent="-171450" fontAlgn="auto">
              <a:lnSpc>
                <a:spcPct val="90000"/>
              </a:lnSpc>
              <a:spcBef>
                <a:spcPts val="300"/>
              </a:spcBef>
              <a:spcAft>
                <a:spcPts val="0"/>
              </a:spcAft>
              <a:buClr>
                <a:prstClr val="black"/>
              </a:buClr>
              <a:buFont typeface="Wingdings" panose="05000000000000000000" pitchFamily="2" charset="2"/>
              <a:buChar char="p"/>
              <a:tabLst>
                <a:tab pos="180975" algn="l"/>
              </a:tabLst>
            </a:pPr>
            <a:r>
              <a:rPr kumimoji="1" lang="ja-JP" altLang="en-US" sz="1200" kern="0">
                <a:latin typeface="Meiryo UI" panose="020B0604030504040204" pitchFamily="50" charset="-128"/>
                <a:ea typeface="Meiryo UI" panose="020B0604030504040204" pitchFamily="50" charset="-128"/>
              </a:rPr>
              <a:t>お客様の代理として、配当金、利金等の投資収益を市場から回収し、支払日に資金にアクセスできる</a:t>
            </a:r>
            <a:r>
              <a:rPr kumimoji="1" lang="ja-JP" altLang="en-US" sz="1200" b="1" kern="0">
                <a:latin typeface="Meiryo UI" panose="020B0604030504040204" pitchFamily="50" charset="-128"/>
                <a:ea typeface="Meiryo UI" panose="020B0604030504040204" pitchFamily="50" charset="-128"/>
              </a:rPr>
              <a:t>コントラクチュアル・サービス</a:t>
            </a:r>
            <a:r>
              <a:rPr kumimoji="1" lang="ja-JP" altLang="en-US" sz="1200" kern="0">
                <a:latin typeface="Meiryo UI" panose="020B0604030504040204" pitchFamily="50" charset="-128"/>
                <a:ea typeface="Meiryo UI" panose="020B0604030504040204" pitchFamily="50" charset="-128"/>
              </a:rPr>
              <a:t>を提供いたします。</a:t>
            </a:r>
          </a:p>
        </p:txBody>
      </p:sp>
      <p:grpSp>
        <p:nvGrpSpPr>
          <p:cNvPr id="54" name="グループ化 53">
            <a:extLst>
              <a:ext uri="{FF2B5EF4-FFF2-40B4-BE49-F238E27FC236}">
                <a16:creationId xmlns:a16="http://schemas.microsoft.com/office/drawing/2014/main" id="{6D13B6F3-4AE3-0DF9-BBD5-AF92D042F091}"/>
              </a:ext>
            </a:extLst>
          </p:cNvPr>
          <p:cNvGrpSpPr/>
          <p:nvPr/>
        </p:nvGrpSpPr>
        <p:grpSpPr>
          <a:xfrm>
            <a:off x="2105378" y="1064342"/>
            <a:ext cx="7311120" cy="224369"/>
            <a:chOff x="2839677" y="2023474"/>
            <a:chExt cx="1789473" cy="291719"/>
          </a:xfrm>
        </p:grpSpPr>
        <p:cxnSp>
          <p:nvCxnSpPr>
            <p:cNvPr id="55" name="直線コネクタ 30">
              <a:extLst>
                <a:ext uri="{FF2B5EF4-FFF2-40B4-BE49-F238E27FC236}">
                  <a16:creationId xmlns:a16="http://schemas.microsoft.com/office/drawing/2014/main" id="{48822E49-7CCF-EAE5-3750-EEAB24CDBAA0}"/>
                </a:ext>
              </a:extLst>
            </p:cNvPr>
            <p:cNvCxnSpPr>
              <a:cxnSpLocks noChangeShapeType="1"/>
            </p:cNvCxnSpPr>
            <p:nvPr/>
          </p:nvCxnSpPr>
          <p:spPr bwMode="auto">
            <a:xfrm>
              <a:off x="2839677" y="2315193"/>
              <a:ext cx="1789473" cy="0"/>
            </a:xfrm>
            <a:prstGeom prst="line">
              <a:avLst/>
            </a:prstGeom>
            <a:noFill/>
            <a:ln w="9525" algn="ctr">
              <a:solidFill>
                <a:schemeClr val="tx1"/>
              </a:solidFill>
              <a:round/>
              <a:headEnd/>
              <a:tailEnd type="none" w="sm" len="sm"/>
            </a:ln>
            <a:extLst>
              <a:ext uri="{909E8E84-426E-40DD-AFC4-6F175D3DCCD1}">
                <a14:hiddenFill xmlns:a14="http://schemas.microsoft.com/office/drawing/2010/main">
                  <a:noFill/>
                </a14:hiddenFill>
              </a:ext>
            </a:extLst>
          </p:spPr>
        </p:cxnSp>
        <p:sp>
          <p:nvSpPr>
            <p:cNvPr id="58" name="正方形/長方形 31">
              <a:extLst>
                <a:ext uri="{FF2B5EF4-FFF2-40B4-BE49-F238E27FC236}">
                  <a16:creationId xmlns:a16="http://schemas.microsoft.com/office/drawing/2014/main" id="{9E54B773-B05C-EE03-0352-7B6E1CD69740}"/>
                </a:ext>
              </a:extLst>
            </p:cNvPr>
            <p:cNvSpPr>
              <a:spLocks noChangeArrowheads="1"/>
            </p:cNvSpPr>
            <p:nvPr/>
          </p:nvSpPr>
          <p:spPr bwMode="auto">
            <a:xfrm>
              <a:off x="2839677" y="2023474"/>
              <a:ext cx="1789473"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type="arrow" w="sm" len="sm"/>
                  <a:tailEnd type="none" w="sm" len="sm"/>
                </a14:hiddenLine>
              </a:ext>
            </a:extLst>
          </p:spPr>
          <p:txBody>
            <a:bodyPr wrap="square"/>
            <a:lstStyle>
              <a:lvl1pPr>
                <a:defRPr kumimoji="1">
                  <a:solidFill>
                    <a:schemeClr val="tx1"/>
                  </a:solidFill>
                  <a:latin typeface="Arial" panose="020B0604020202020204" pitchFamily="34" charset="0"/>
                  <a:ea typeface="ＭＳ Ｐゴシック" panose="020B0600070205080204" pitchFamily="50" charset="-128"/>
                </a:defRPr>
              </a:lvl1pPr>
              <a:lvl2pPr marL="742950" indent="-285750">
                <a:defRPr kumimoji="1">
                  <a:solidFill>
                    <a:schemeClr val="tx1"/>
                  </a:solidFill>
                  <a:latin typeface="Arial" panose="020B0604020202020204" pitchFamily="34" charset="0"/>
                  <a:ea typeface="ＭＳ Ｐゴシック" panose="020B0600070205080204" pitchFamily="50" charset="-128"/>
                </a:defRPr>
              </a:lvl2pPr>
              <a:lvl3pPr marL="1143000" indent="-228600">
                <a:defRPr kumimoji="1">
                  <a:solidFill>
                    <a:schemeClr val="tx1"/>
                  </a:solidFill>
                  <a:latin typeface="Arial" panose="020B0604020202020204" pitchFamily="34" charset="0"/>
                  <a:ea typeface="ＭＳ Ｐゴシック" panose="020B0600070205080204" pitchFamily="50" charset="-128"/>
                </a:defRPr>
              </a:lvl3pPr>
              <a:lvl4pPr marL="1600200" indent="-228600">
                <a:defRPr kumimoji="1">
                  <a:solidFill>
                    <a:schemeClr val="tx1"/>
                  </a:solidFill>
                  <a:latin typeface="Arial" panose="020B0604020202020204" pitchFamily="34" charset="0"/>
                  <a:ea typeface="ＭＳ Ｐゴシック" panose="020B0600070205080204" pitchFamily="50" charset="-128"/>
                </a:defRPr>
              </a:lvl4pPr>
              <a:lvl5pPr marL="2057400" indent="-22860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r>
                <a:rPr lang="ja-JP" altLang="en-US" sz="1100">
                  <a:latin typeface="Meiryo UI" panose="020B0604030504040204" pitchFamily="50" charset="-128"/>
                  <a:ea typeface="Meiryo UI" panose="020B0604030504040204" pitchFamily="50" charset="-128"/>
                </a:rPr>
                <a:t>内容</a:t>
              </a:r>
            </a:p>
          </p:txBody>
        </p:sp>
      </p:grpSp>
      <p:sp>
        <p:nvSpPr>
          <p:cNvPr id="59" name="正方形/長方形 58">
            <a:extLst>
              <a:ext uri="{FF2B5EF4-FFF2-40B4-BE49-F238E27FC236}">
                <a16:creationId xmlns:a16="http://schemas.microsoft.com/office/drawing/2014/main" id="{CA7946BE-730E-D968-35B3-CCE7EAB43EAB}"/>
              </a:ext>
            </a:extLst>
          </p:cNvPr>
          <p:cNvSpPr/>
          <p:nvPr/>
        </p:nvSpPr>
        <p:spPr>
          <a:xfrm>
            <a:off x="2105380" y="4891453"/>
            <a:ext cx="7311124" cy="553771"/>
          </a:xfrm>
          <a:prstGeom prst="rect">
            <a:avLst/>
          </a:prstGeom>
          <a:solidFill>
            <a:schemeClr val="bg1"/>
          </a:solidFill>
          <a:ln w="6350" cap="flat" cmpd="sng" algn="ctr">
            <a:noFill/>
            <a:prstDash val="solid"/>
            <a:miter lim="800000"/>
          </a:ln>
          <a:effectLst/>
          <a:extLst>
            <a:ext uri="{91240B29-F687-4F45-9708-019B960494DF}">
              <a14:hiddenLine xmlns:a14="http://schemas.microsoft.com/office/drawing/2010/main" w="6350" cap="flat" cmpd="sng" algn="ctr">
                <a:solidFill>
                  <a:srgbClr val="969696"/>
                </a:solidFill>
                <a:prstDash val="solid"/>
                <a:miter lim="800000"/>
              </a14:hiddenLine>
            </a:ext>
          </a:ex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171450" indent="-171450" fontAlgn="auto">
              <a:lnSpc>
                <a:spcPct val="90000"/>
              </a:lnSpc>
              <a:spcBef>
                <a:spcPts val="300"/>
              </a:spcBef>
              <a:spcAft>
                <a:spcPts val="0"/>
              </a:spcAft>
              <a:buClr>
                <a:prstClr val="black"/>
              </a:buClr>
              <a:buFont typeface="Wingdings" panose="05000000000000000000" pitchFamily="2" charset="2"/>
              <a:buChar char="p"/>
              <a:tabLst>
                <a:tab pos="180975" algn="l"/>
              </a:tabLst>
            </a:pPr>
            <a:r>
              <a:rPr kumimoji="1" lang="ja-JP" altLang="en-US" sz="1200" kern="0">
                <a:latin typeface="Meiryo UI" panose="020B0604030504040204" pitchFamily="50" charset="-128"/>
                <a:ea typeface="Meiryo UI" panose="020B0604030504040204" pitchFamily="50" charset="-128"/>
              </a:rPr>
              <a:t>主要な</a:t>
            </a:r>
            <a:r>
              <a:rPr kumimoji="1" lang="ja-JP" altLang="en-US" sz="1200" b="1" kern="0">
                <a:latin typeface="Meiryo UI" panose="020B0604030504040204" pitchFamily="50" charset="-128"/>
                <a:ea typeface="Meiryo UI" panose="020B0604030504040204" pitchFamily="50" charset="-128"/>
              </a:rPr>
              <a:t>サービス・プロバイダーとの提携により、</a:t>
            </a:r>
            <a:r>
              <a:rPr kumimoji="1" lang="en-US" altLang="ja-JP" sz="1200" b="1" kern="0">
                <a:latin typeface="Meiryo UI" panose="020B0604030504040204" pitchFamily="50" charset="-128"/>
                <a:ea typeface="Meiryo UI" panose="020B0604030504040204" pitchFamily="50" charset="-128"/>
              </a:rPr>
              <a:t>100</a:t>
            </a:r>
            <a:r>
              <a:rPr kumimoji="1" lang="ja-JP" altLang="en-US" sz="1200" b="1" kern="0">
                <a:latin typeface="Meiryo UI" panose="020B0604030504040204" pitchFamily="50" charset="-128"/>
                <a:ea typeface="Meiryo UI" panose="020B0604030504040204" pitchFamily="50" charset="-128"/>
              </a:rPr>
              <a:t>以上の市場において議決権行使サービス</a:t>
            </a:r>
            <a:r>
              <a:rPr kumimoji="1" lang="ja-JP" altLang="en-US" sz="1200" kern="0">
                <a:latin typeface="Meiryo UI" panose="020B0604030504040204" pitchFamily="50" charset="-128"/>
                <a:ea typeface="Meiryo UI" panose="020B0604030504040204" pitchFamily="50" charset="-128"/>
              </a:rPr>
              <a:t>を提供いたします。</a:t>
            </a:r>
            <a:endParaRPr kumimoji="1" lang="en-US" altLang="ja-JP" sz="1200" kern="0">
              <a:latin typeface="Meiryo UI" panose="020B0604030504040204" pitchFamily="50" charset="-128"/>
              <a:ea typeface="Meiryo UI" panose="020B0604030504040204" pitchFamily="50" charset="-128"/>
            </a:endParaRPr>
          </a:p>
        </p:txBody>
      </p:sp>
      <p:sp>
        <p:nvSpPr>
          <p:cNvPr id="60" name="正方形/長方形 59">
            <a:extLst>
              <a:ext uri="{FF2B5EF4-FFF2-40B4-BE49-F238E27FC236}">
                <a16:creationId xmlns:a16="http://schemas.microsoft.com/office/drawing/2014/main" id="{413A6B82-B0D8-4AB5-E440-5FCFABFA5432}"/>
              </a:ext>
            </a:extLst>
          </p:cNvPr>
          <p:cNvSpPr/>
          <p:nvPr/>
        </p:nvSpPr>
        <p:spPr>
          <a:xfrm>
            <a:off x="2105380" y="1930247"/>
            <a:ext cx="7311124" cy="553771"/>
          </a:xfrm>
          <a:prstGeom prst="rect">
            <a:avLst/>
          </a:prstGeom>
          <a:solidFill>
            <a:schemeClr val="bg1"/>
          </a:solidFill>
          <a:ln w="6350" cap="flat" cmpd="sng" algn="ctr">
            <a:noFill/>
            <a:prstDash val="solid"/>
            <a:miter lim="800000"/>
          </a:ln>
          <a:effectLst/>
          <a:extLst>
            <a:ext uri="{91240B29-F687-4F45-9708-019B960494DF}">
              <a14:hiddenLine xmlns:a14="http://schemas.microsoft.com/office/drawing/2010/main" w="6350" cap="flat" cmpd="sng" algn="ctr">
                <a:solidFill>
                  <a:srgbClr val="969696"/>
                </a:solidFill>
                <a:prstDash val="solid"/>
                <a:miter lim="800000"/>
              </a14:hiddenLine>
            </a:ext>
          </a:ex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171450" indent="-171450" fontAlgn="auto">
              <a:lnSpc>
                <a:spcPct val="90000"/>
              </a:lnSpc>
              <a:spcBef>
                <a:spcPts val="300"/>
              </a:spcBef>
              <a:spcAft>
                <a:spcPts val="0"/>
              </a:spcAft>
              <a:buClr>
                <a:prstClr val="black"/>
              </a:buClr>
              <a:buFont typeface="Wingdings" panose="05000000000000000000" pitchFamily="2" charset="2"/>
              <a:buChar char="p"/>
              <a:tabLst>
                <a:tab pos="180975" algn="l"/>
              </a:tabLst>
            </a:pPr>
            <a:r>
              <a:rPr kumimoji="1" lang="ja-JP" altLang="en-US" sz="1200" kern="0">
                <a:latin typeface="Meiryo UI" panose="020B0604030504040204" pitchFamily="50" charset="-128"/>
                <a:ea typeface="Meiryo UI" panose="020B0604030504040204" pitchFamily="50" charset="-128"/>
              </a:rPr>
              <a:t>世界中のサブ・カストディアン、エージェントバンク、証券保管振替機関との</a:t>
            </a:r>
            <a:r>
              <a:rPr kumimoji="1" lang="ja-JP" altLang="en-US" sz="1200" b="1" kern="0">
                <a:latin typeface="Meiryo UI" panose="020B0604030504040204" pitchFamily="50" charset="-128"/>
                <a:ea typeface="Meiryo UI" panose="020B0604030504040204" pitchFamily="50" charset="-128"/>
              </a:rPr>
              <a:t>密接かつ長年の提携関係</a:t>
            </a:r>
            <a:r>
              <a:rPr kumimoji="1" lang="ja-JP" altLang="en-US" sz="1200" kern="0">
                <a:latin typeface="Meiryo UI" panose="020B0604030504040204" pitchFamily="50" charset="-128"/>
                <a:ea typeface="Meiryo UI" panose="020B0604030504040204" pitchFamily="50" charset="-128"/>
              </a:rPr>
              <a:t>を築いており、お客様が安心して投資を行える環境を提供 いたします。</a:t>
            </a:r>
          </a:p>
        </p:txBody>
      </p:sp>
      <p:sp>
        <p:nvSpPr>
          <p:cNvPr id="61" name="正方形/長方形 60">
            <a:extLst>
              <a:ext uri="{FF2B5EF4-FFF2-40B4-BE49-F238E27FC236}">
                <a16:creationId xmlns:a16="http://schemas.microsoft.com/office/drawing/2014/main" id="{272D807B-34A7-79EA-06E5-2325BAFBA2B3}"/>
              </a:ext>
            </a:extLst>
          </p:cNvPr>
          <p:cNvSpPr/>
          <p:nvPr/>
        </p:nvSpPr>
        <p:spPr>
          <a:xfrm>
            <a:off x="2105380" y="2522489"/>
            <a:ext cx="7311124" cy="553771"/>
          </a:xfrm>
          <a:prstGeom prst="rect">
            <a:avLst/>
          </a:prstGeom>
          <a:solidFill>
            <a:schemeClr val="bg1"/>
          </a:solidFill>
          <a:ln w="6350" cap="flat" cmpd="sng" algn="ctr">
            <a:noFill/>
            <a:prstDash val="solid"/>
            <a:miter lim="800000"/>
          </a:ln>
          <a:effectLst/>
          <a:extLst>
            <a:ext uri="{91240B29-F687-4F45-9708-019B960494DF}">
              <a14:hiddenLine xmlns:a14="http://schemas.microsoft.com/office/drawing/2010/main" w="6350" cap="flat" cmpd="sng" algn="ctr">
                <a:solidFill>
                  <a:srgbClr val="969696"/>
                </a:solidFill>
                <a:prstDash val="solid"/>
                <a:miter lim="800000"/>
              </a14:hiddenLine>
            </a:ext>
          </a:ex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228600" indent="-228600" fontAlgn="auto">
              <a:lnSpc>
                <a:spcPct val="90000"/>
              </a:lnSpc>
              <a:spcBef>
                <a:spcPts val="300"/>
              </a:spcBef>
              <a:spcAft>
                <a:spcPts val="0"/>
              </a:spcAft>
              <a:buClr>
                <a:prstClr val="black"/>
              </a:buClr>
              <a:buFont typeface="Wingdings" panose="05000000000000000000" pitchFamily="2" charset="2"/>
              <a:buChar char="p"/>
              <a:tabLst>
                <a:tab pos="180975" algn="l"/>
              </a:tabLst>
            </a:pPr>
            <a:r>
              <a:rPr kumimoji="1" lang="ja-JP" altLang="en-US" sz="1200" kern="0">
                <a:latin typeface="Meiryo UI" panose="020B0604030504040204" pitchFamily="50" charset="-128"/>
                <a:ea typeface="Meiryo UI" panose="020B0604030504040204" pitchFamily="50" charset="-128"/>
              </a:rPr>
              <a:t>各市場とのネットワーク管理を行うチームがおり、</a:t>
            </a:r>
            <a:r>
              <a:rPr kumimoji="1" lang="ja-JP" altLang="en-US" sz="1200" b="1" kern="0">
                <a:latin typeface="Meiryo UI" panose="020B0604030504040204" pitchFamily="50" charset="-128"/>
                <a:ea typeface="Meiryo UI" panose="020B0604030504040204" pitchFamily="50" charset="-128"/>
              </a:rPr>
              <a:t>ローカル市場に関する専門知識、当該市場情報等、実用的な見識</a:t>
            </a:r>
            <a:r>
              <a:rPr kumimoji="1" lang="ja-JP" altLang="en-US" sz="1200" kern="0">
                <a:latin typeface="Meiryo UI" panose="020B0604030504040204" pitchFamily="50" charset="-128"/>
                <a:ea typeface="Meiryo UI" panose="020B0604030504040204" pitchFamily="50" charset="-128"/>
              </a:rPr>
              <a:t>を提供いたします。</a:t>
            </a:r>
          </a:p>
        </p:txBody>
      </p:sp>
      <p:sp>
        <p:nvSpPr>
          <p:cNvPr id="62" name="Oval 57">
            <a:extLst>
              <a:ext uri="{FF2B5EF4-FFF2-40B4-BE49-F238E27FC236}">
                <a16:creationId xmlns:a16="http://schemas.microsoft.com/office/drawing/2014/main" id="{D2AE2CEC-086C-5D2A-DF29-ED072BA47A72}"/>
              </a:ext>
            </a:extLst>
          </p:cNvPr>
          <p:cNvSpPr/>
          <p:nvPr/>
        </p:nvSpPr>
        <p:spPr>
          <a:xfrm>
            <a:off x="246321" y="1251336"/>
            <a:ext cx="223322" cy="219316"/>
          </a:xfrm>
          <a:prstGeom prst="ellipse">
            <a:avLst/>
          </a:prstGeom>
          <a:solidFill>
            <a:srgbClr val="8064A2">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sz="1400" b="0" i="0" u="none" strike="noStrike" kern="0" cap="none" spc="0" normalizeH="0" baseline="0" noProof="0">
                <a:ln>
                  <a:noFill/>
                </a:ln>
                <a:solidFill>
                  <a:prstClr val="white"/>
                </a:solidFill>
                <a:effectLst/>
                <a:uLnTx/>
                <a:uFillTx/>
                <a:latin typeface="Meiryo UI"/>
                <a:ea typeface="Meiryo UI"/>
                <a:cs typeface="Arial"/>
              </a:rPr>
              <a:t>1</a:t>
            </a:r>
          </a:p>
        </p:txBody>
      </p:sp>
      <p:sp>
        <p:nvSpPr>
          <p:cNvPr id="63" name="Oval 57">
            <a:extLst>
              <a:ext uri="{FF2B5EF4-FFF2-40B4-BE49-F238E27FC236}">
                <a16:creationId xmlns:a16="http://schemas.microsoft.com/office/drawing/2014/main" id="{4C71E9F8-C17E-C7CF-9938-7D77A2708EA8}"/>
              </a:ext>
            </a:extLst>
          </p:cNvPr>
          <p:cNvSpPr/>
          <p:nvPr/>
        </p:nvSpPr>
        <p:spPr>
          <a:xfrm>
            <a:off x="246321" y="1857152"/>
            <a:ext cx="223322" cy="219316"/>
          </a:xfrm>
          <a:prstGeom prst="ellipse">
            <a:avLst/>
          </a:prstGeom>
          <a:solidFill>
            <a:srgbClr val="8064A2">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sz="1400" b="0" i="0" u="none" strike="noStrike" kern="0" cap="none" spc="0" normalizeH="0" baseline="0" noProof="0">
                <a:ln>
                  <a:noFill/>
                </a:ln>
                <a:solidFill>
                  <a:prstClr val="white"/>
                </a:solidFill>
                <a:effectLst/>
                <a:uLnTx/>
                <a:uFillTx/>
                <a:latin typeface="Meiryo UI"/>
                <a:ea typeface="Meiryo UI"/>
                <a:cs typeface="Arial"/>
              </a:rPr>
              <a:t>2</a:t>
            </a:r>
          </a:p>
        </p:txBody>
      </p:sp>
      <p:sp>
        <p:nvSpPr>
          <p:cNvPr id="64" name="Oval 57">
            <a:extLst>
              <a:ext uri="{FF2B5EF4-FFF2-40B4-BE49-F238E27FC236}">
                <a16:creationId xmlns:a16="http://schemas.microsoft.com/office/drawing/2014/main" id="{3AB31AF0-3060-AC85-C2F3-6368A05A2286}"/>
              </a:ext>
            </a:extLst>
          </p:cNvPr>
          <p:cNvSpPr/>
          <p:nvPr/>
        </p:nvSpPr>
        <p:spPr>
          <a:xfrm>
            <a:off x="246321" y="2424772"/>
            <a:ext cx="223322" cy="219316"/>
          </a:xfrm>
          <a:prstGeom prst="ellipse">
            <a:avLst/>
          </a:prstGeom>
          <a:solidFill>
            <a:srgbClr val="8064A2">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sz="1400" kern="0">
                <a:solidFill>
                  <a:prstClr val="white"/>
                </a:solidFill>
                <a:latin typeface="Meiryo UI"/>
                <a:ea typeface="Meiryo UI"/>
                <a:cs typeface="Arial"/>
              </a:rPr>
              <a:t>3</a:t>
            </a:r>
            <a:endParaRPr kumimoji="1" lang="en-US" sz="1400" b="0" i="0" u="none" strike="noStrike" kern="0" cap="none" spc="0" normalizeH="0" baseline="0" noProof="0">
              <a:ln>
                <a:noFill/>
              </a:ln>
              <a:solidFill>
                <a:prstClr val="white"/>
              </a:solidFill>
              <a:effectLst/>
              <a:uLnTx/>
              <a:uFillTx/>
              <a:latin typeface="Meiryo UI"/>
              <a:ea typeface="Meiryo UI"/>
              <a:cs typeface="Arial"/>
            </a:endParaRPr>
          </a:p>
        </p:txBody>
      </p:sp>
      <p:sp>
        <p:nvSpPr>
          <p:cNvPr id="65" name="Oval 57">
            <a:extLst>
              <a:ext uri="{FF2B5EF4-FFF2-40B4-BE49-F238E27FC236}">
                <a16:creationId xmlns:a16="http://schemas.microsoft.com/office/drawing/2014/main" id="{5D699AD0-2A10-E6B5-B0CA-085C47FE0A62}"/>
              </a:ext>
            </a:extLst>
          </p:cNvPr>
          <p:cNvSpPr/>
          <p:nvPr/>
        </p:nvSpPr>
        <p:spPr>
          <a:xfrm>
            <a:off x="246321" y="3014716"/>
            <a:ext cx="223322" cy="219316"/>
          </a:xfrm>
          <a:prstGeom prst="ellipse">
            <a:avLst/>
          </a:prstGeom>
          <a:solidFill>
            <a:srgbClr val="8064A2">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sz="1400" kern="0">
                <a:solidFill>
                  <a:prstClr val="white"/>
                </a:solidFill>
                <a:latin typeface="Meiryo UI"/>
                <a:ea typeface="Meiryo UI"/>
                <a:cs typeface="Arial"/>
              </a:rPr>
              <a:t>4</a:t>
            </a:r>
            <a:endParaRPr kumimoji="1" lang="en-US" sz="1400" b="0" i="0" u="none" strike="noStrike" kern="0" cap="none" spc="0" normalizeH="0" baseline="0" noProof="0">
              <a:ln>
                <a:noFill/>
              </a:ln>
              <a:solidFill>
                <a:prstClr val="white"/>
              </a:solidFill>
              <a:effectLst/>
              <a:uLnTx/>
              <a:uFillTx/>
              <a:latin typeface="Meiryo UI"/>
              <a:ea typeface="Meiryo UI"/>
              <a:cs typeface="Arial"/>
            </a:endParaRPr>
          </a:p>
        </p:txBody>
      </p:sp>
      <p:sp>
        <p:nvSpPr>
          <p:cNvPr id="66" name="Oval 57">
            <a:extLst>
              <a:ext uri="{FF2B5EF4-FFF2-40B4-BE49-F238E27FC236}">
                <a16:creationId xmlns:a16="http://schemas.microsoft.com/office/drawing/2014/main" id="{C579F3F5-2260-8866-99FA-95ADDC23E9A7}"/>
              </a:ext>
            </a:extLst>
          </p:cNvPr>
          <p:cNvSpPr/>
          <p:nvPr/>
        </p:nvSpPr>
        <p:spPr>
          <a:xfrm>
            <a:off x="246321" y="3629445"/>
            <a:ext cx="223322" cy="219316"/>
          </a:xfrm>
          <a:prstGeom prst="ellipse">
            <a:avLst/>
          </a:prstGeom>
          <a:solidFill>
            <a:srgbClr val="8064A2">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sz="1400" b="0" i="0" u="none" strike="noStrike" kern="0" cap="none" spc="0" normalizeH="0" baseline="0" noProof="0">
                <a:ln>
                  <a:noFill/>
                </a:ln>
                <a:solidFill>
                  <a:prstClr val="white"/>
                </a:solidFill>
                <a:effectLst/>
                <a:uLnTx/>
                <a:uFillTx/>
                <a:latin typeface="Meiryo UI"/>
                <a:ea typeface="Meiryo UI"/>
                <a:cs typeface="Arial"/>
              </a:rPr>
              <a:t>5</a:t>
            </a:r>
          </a:p>
        </p:txBody>
      </p:sp>
      <p:sp>
        <p:nvSpPr>
          <p:cNvPr id="67" name="Oval 57">
            <a:extLst>
              <a:ext uri="{FF2B5EF4-FFF2-40B4-BE49-F238E27FC236}">
                <a16:creationId xmlns:a16="http://schemas.microsoft.com/office/drawing/2014/main" id="{3BAB5096-CFBB-2DEB-14FD-7802D58CB176}"/>
              </a:ext>
            </a:extLst>
          </p:cNvPr>
          <p:cNvSpPr/>
          <p:nvPr/>
        </p:nvSpPr>
        <p:spPr>
          <a:xfrm>
            <a:off x="246321" y="4226116"/>
            <a:ext cx="223322" cy="219316"/>
          </a:xfrm>
          <a:prstGeom prst="ellipse">
            <a:avLst/>
          </a:prstGeom>
          <a:solidFill>
            <a:srgbClr val="8064A2">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sz="1400" kern="0">
                <a:solidFill>
                  <a:prstClr val="white"/>
                </a:solidFill>
                <a:latin typeface="Meiryo UI"/>
                <a:ea typeface="Meiryo UI"/>
                <a:cs typeface="Arial"/>
              </a:rPr>
              <a:t>6</a:t>
            </a:r>
            <a:endParaRPr kumimoji="1" lang="en-US" sz="1400" b="0" i="0" u="none" strike="noStrike" kern="0" cap="none" spc="0" normalizeH="0" baseline="0" noProof="0">
              <a:ln>
                <a:noFill/>
              </a:ln>
              <a:solidFill>
                <a:prstClr val="white"/>
              </a:solidFill>
              <a:effectLst/>
              <a:uLnTx/>
              <a:uFillTx/>
              <a:latin typeface="Meiryo UI"/>
              <a:ea typeface="Meiryo UI"/>
              <a:cs typeface="Arial"/>
            </a:endParaRPr>
          </a:p>
        </p:txBody>
      </p:sp>
      <p:sp>
        <p:nvSpPr>
          <p:cNvPr id="68" name="Oval 57">
            <a:extLst>
              <a:ext uri="{FF2B5EF4-FFF2-40B4-BE49-F238E27FC236}">
                <a16:creationId xmlns:a16="http://schemas.microsoft.com/office/drawing/2014/main" id="{1D207D2F-78CB-3FE1-FA5F-3153B3EE5CAE}"/>
              </a:ext>
            </a:extLst>
          </p:cNvPr>
          <p:cNvSpPr/>
          <p:nvPr/>
        </p:nvSpPr>
        <p:spPr>
          <a:xfrm>
            <a:off x="246321" y="4781795"/>
            <a:ext cx="223322" cy="219316"/>
          </a:xfrm>
          <a:prstGeom prst="ellipse">
            <a:avLst/>
          </a:prstGeom>
          <a:solidFill>
            <a:srgbClr val="8064A2">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sz="1400" kern="0">
                <a:solidFill>
                  <a:prstClr val="white"/>
                </a:solidFill>
                <a:latin typeface="Meiryo UI"/>
                <a:ea typeface="Meiryo UI"/>
                <a:cs typeface="Arial"/>
              </a:rPr>
              <a:t>7</a:t>
            </a:r>
            <a:endParaRPr kumimoji="1" lang="en-US" sz="1400" b="0" i="0" u="none" strike="noStrike" kern="0" cap="none" spc="0" normalizeH="0" baseline="0" noProof="0">
              <a:ln>
                <a:noFill/>
              </a:ln>
              <a:solidFill>
                <a:prstClr val="white"/>
              </a:solidFill>
              <a:effectLst/>
              <a:uLnTx/>
              <a:uFillTx/>
              <a:latin typeface="Meiryo UI"/>
              <a:ea typeface="Meiryo UI"/>
              <a:cs typeface="Arial"/>
            </a:endParaRPr>
          </a:p>
        </p:txBody>
      </p:sp>
      <p:sp>
        <p:nvSpPr>
          <p:cNvPr id="70" name="正方形/長方形 69">
            <a:extLst>
              <a:ext uri="{FF2B5EF4-FFF2-40B4-BE49-F238E27FC236}">
                <a16:creationId xmlns:a16="http://schemas.microsoft.com/office/drawing/2014/main" id="{7A9F9513-05B9-3F57-8BC1-60D619C06165}"/>
              </a:ext>
            </a:extLst>
          </p:cNvPr>
          <p:cNvSpPr/>
          <p:nvPr/>
        </p:nvSpPr>
        <p:spPr>
          <a:xfrm>
            <a:off x="349731" y="5484878"/>
            <a:ext cx="1566208" cy="553771"/>
          </a:xfrm>
          <a:prstGeom prst="rect">
            <a:avLst/>
          </a:prstGeom>
          <a:solidFill>
            <a:schemeClr val="accent2">
              <a:lumMod val="20000"/>
              <a:lumOff val="80000"/>
            </a:schemeClr>
          </a:solidFill>
          <a:ln w="6350" cap="flat" cmpd="sng" algn="ctr">
            <a:solidFill>
              <a:srgbClr val="969696"/>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lnSpc>
                <a:spcPct val="90000"/>
              </a:lnSpc>
              <a:spcBef>
                <a:spcPts val="0"/>
              </a:spcBef>
              <a:spcAft>
                <a:spcPts val="0"/>
              </a:spcAft>
              <a:buClr>
                <a:prstClr val="black"/>
              </a:buClr>
              <a:tabLst>
                <a:tab pos="180975" algn="l"/>
              </a:tabLst>
            </a:pPr>
            <a:r>
              <a:rPr kumimoji="1" lang="ja-JP" altLang="en-US" sz="1200" kern="0">
                <a:latin typeface="Meiryo UI" panose="020B0604030504040204" pitchFamily="50" charset="-128"/>
                <a:ea typeface="Meiryo UI" panose="020B0604030504040204" pitchFamily="50" charset="-128"/>
              </a:rPr>
              <a:t>リアルタイムレポート</a:t>
            </a:r>
            <a:endParaRPr kumimoji="1" lang="en-US" altLang="ja-JP" sz="1200" kern="0">
              <a:latin typeface="Meiryo UI" panose="020B0604030504040204" pitchFamily="50" charset="-128"/>
              <a:ea typeface="Meiryo UI" panose="020B0604030504040204" pitchFamily="50" charset="-128"/>
            </a:endParaRPr>
          </a:p>
        </p:txBody>
      </p:sp>
      <p:sp>
        <p:nvSpPr>
          <p:cNvPr id="71" name="正方形/長方形 70">
            <a:extLst>
              <a:ext uri="{FF2B5EF4-FFF2-40B4-BE49-F238E27FC236}">
                <a16:creationId xmlns:a16="http://schemas.microsoft.com/office/drawing/2014/main" id="{A4484996-4C28-E324-4452-EB553FFC4FB6}"/>
              </a:ext>
            </a:extLst>
          </p:cNvPr>
          <p:cNvSpPr/>
          <p:nvPr/>
        </p:nvSpPr>
        <p:spPr>
          <a:xfrm>
            <a:off x="349731" y="6077119"/>
            <a:ext cx="1566208" cy="553771"/>
          </a:xfrm>
          <a:prstGeom prst="rect">
            <a:avLst/>
          </a:prstGeom>
          <a:solidFill>
            <a:schemeClr val="accent2">
              <a:lumMod val="20000"/>
              <a:lumOff val="80000"/>
            </a:schemeClr>
          </a:solidFill>
          <a:ln w="6350" cap="flat" cmpd="sng" algn="ctr">
            <a:solidFill>
              <a:srgbClr val="969696"/>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lnSpc>
                <a:spcPct val="90000"/>
              </a:lnSpc>
              <a:spcBef>
                <a:spcPts val="0"/>
              </a:spcBef>
              <a:spcAft>
                <a:spcPts val="0"/>
              </a:spcAft>
              <a:buClr>
                <a:prstClr val="black"/>
              </a:buClr>
              <a:tabLst>
                <a:tab pos="180975" algn="l"/>
              </a:tabLst>
            </a:pPr>
            <a:r>
              <a:rPr kumimoji="1" lang="ja-JP" altLang="en-US" sz="1200" kern="0">
                <a:latin typeface="Meiryo UI" panose="020B0604030504040204" pitchFamily="50" charset="-128"/>
                <a:ea typeface="Meiryo UI" panose="020B0604030504040204" pitchFamily="50" charset="-128"/>
              </a:rPr>
              <a:t>キャッシュマネジメント</a:t>
            </a:r>
            <a:endParaRPr kumimoji="1" lang="en-US" altLang="ja-JP" sz="1200" kern="0">
              <a:latin typeface="Meiryo UI" panose="020B0604030504040204" pitchFamily="50" charset="-128"/>
              <a:ea typeface="Meiryo UI" panose="020B0604030504040204" pitchFamily="50" charset="-128"/>
            </a:endParaRPr>
          </a:p>
          <a:p>
            <a:pPr algn="ctr" fontAlgn="auto">
              <a:lnSpc>
                <a:spcPct val="90000"/>
              </a:lnSpc>
              <a:spcBef>
                <a:spcPts val="0"/>
              </a:spcBef>
              <a:spcAft>
                <a:spcPts val="0"/>
              </a:spcAft>
              <a:buClr>
                <a:prstClr val="black"/>
              </a:buClr>
              <a:tabLst>
                <a:tab pos="180975" algn="l"/>
              </a:tabLst>
            </a:pPr>
            <a:r>
              <a:rPr kumimoji="1" lang="ja-JP" altLang="en-US" sz="1200" kern="0">
                <a:latin typeface="Meiryo UI" panose="020B0604030504040204" pitchFamily="50" charset="-128"/>
                <a:ea typeface="Meiryo UI" panose="020B0604030504040204" pitchFamily="50" charset="-128"/>
              </a:rPr>
              <a:t>・サービス</a:t>
            </a:r>
            <a:endParaRPr kumimoji="1" lang="en-US" altLang="ja-JP" sz="1200" kern="0">
              <a:latin typeface="Meiryo UI" panose="020B0604030504040204" pitchFamily="50" charset="-128"/>
              <a:ea typeface="Meiryo UI" panose="020B0604030504040204" pitchFamily="50" charset="-128"/>
            </a:endParaRPr>
          </a:p>
        </p:txBody>
      </p:sp>
      <p:sp>
        <p:nvSpPr>
          <p:cNvPr id="72" name="正方形/長方形 71">
            <a:extLst>
              <a:ext uri="{FF2B5EF4-FFF2-40B4-BE49-F238E27FC236}">
                <a16:creationId xmlns:a16="http://schemas.microsoft.com/office/drawing/2014/main" id="{6F6A80E2-8D82-B67F-6A2A-E4851F122247}"/>
              </a:ext>
            </a:extLst>
          </p:cNvPr>
          <p:cNvSpPr/>
          <p:nvPr/>
        </p:nvSpPr>
        <p:spPr>
          <a:xfrm>
            <a:off x="2105380" y="5484878"/>
            <a:ext cx="7311124" cy="553771"/>
          </a:xfrm>
          <a:prstGeom prst="rect">
            <a:avLst/>
          </a:prstGeom>
          <a:solidFill>
            <a:schemeClr val="bg1"/>
          </a:solidFill>
          <a:ln w="6350" cap="flat" cmpd="sng" algn="ctr">
            <a:noFill/>
            <a:prstDash val="solid"/>
            <a:miter lim="800000"/>
          </a:ln>
          <a:effectLst/>
          <a:extLst>
            <a:ext uri="{91240B29-F687-4F45-9708-019B960494DF}">
              <a14:hiddenLine xmlns:a14="http://schemas.microsoft.com/office/drawing/2010/main" w="6350" cap="flat" cmpd="sng" algn="ctr">
                <a:solidFill>
                  <a:srgbClr val="969696"/>
                </a:solidFill>
                <a:prstDash val="solid"/>
                <a:miter lim="800000"/>
              </a14:hiddenLine>
            </a:ext>
          </a:ex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171450" indent="-171450" fontAlgn="auto">
              <a:lnSpc>
                <a:spcPct val="90000"/>
              </a:lnSpc>
              <a:spcBef>
                <a:spcPts val="300"/>
              </a:spcBef>
              <a:spcAft>
                <a:spcPts val="0"/>
              </a:spcAft>
              <a:buClr>
                <a:prstClr val="black"/>
              </a:buClr>
              <a:buFont typeface="Wingdings" panose="05000000000000000000" pitchFamily="2" charset="2"/>
              <a:buChar char="p"/>
              <a:tabLst>
                <a:tab pos="180975" algn="l"/>
              </a:tabLst>
            </a:pPr>
            <a:r>
              <a:rPr kumimoji="1" lang="ja-JP" altLang="en-US" sz="1200" b="1" kern="0">
                <a:latin typeface="Meiryo UI" panose="020B0604030504040204" pitchFamily="50" charset="-128"/>
                <a:ea typeface="Meiryo UI" panose="020B0604030504040204" pitchFamily="50" charset="-128"/>
              </a:rPr>
              <a:t>お客様向けポータルサイト</a:t>
            </a:r>
            <a:r>
              <a:rPr kumimoji="1" lang="ja-JP" altLang="en-US" sz="1200" kern="0">
                <a:latin typeface="Meiryo UI" panose="020B0604030504040204" pitchFamily="50" charset="-128"/>
                <a:ea typeface="Meiryo UI" panose="020B0604030504040204" pitchFamily="50" charset="-128"/>
              </a:rPr>
              <a:t>「</a:t>
            </a:r>
            <a:r>
              <a:rPr kumimoji="1" lang="en-US" altLang="ja-JP" sz="1200" kern="0">
                <a:latin typeface="Meiryo UI" panose="020B0604030504040204" pitchFamily="50" charset="-128"/>
                <a:ea typeface="Meiryo UI" panose="020B0604030504040204" pitchFamily="50" charset="-128"/>
              </a:rPr>
              <a:t>my.statestreet.com</a:t>
            </a:r>
            <a:r>
              <a:rPr kumimoji="1" lang="ja-JP" altLang="en-US" sz="1200" kern="0">
                <a:latin typeface="Meiryo UI" panose="020B0604030504040204" pitchFamily="50" charset="-128"/>
                <a:ea typeface="Meiryo UI" panose="020B0604030504040204" pitchFamily="50" charset="-128"/>
              </a:rPr>
              <a:t>」は、決済状況、資産残高、資金残高予想、日中資金管理報告、保有資産の日・月単位評価額等、投資取引に関して透明性のある情報を提供いたします。</a:t>
            </a:r>
            <a:endParaRPr kumimoji="1" lang="en-US" altLang="ja-JP" sz="1200" kern="0">
              <a:latin typeface="Meiryo UI" panose="020B0604030504040204" pitchFamily="50" charset="-128"/>
              <a:ea typeface="Meiryo UI" panose="020B0604030504040204" pitchFamily="50" charset="-128"/>
            </a:endParaRPr>
          </a:p>
        </p:txBody>
      </p:sp>
      <p:sp>
        <p:nvSpPr>
          <p:cNvPr id="73" name="正方形/長方形 72">
            <a:extLst>
              <a:ext uri="{FF2B5EF4-FFF2-40B4-BE49-F238E27FC236}">
                <a16:creationId xmlns:a16="http://schemas.microsoft.com/office/drawing/2014/main" id="{D635BE3E-C11A-D8D9-8A7B-1758EBE589B8}"/>
              </a:ext>
            </a:extLst>
          </p:cNvPr>
          <p:cNvSpPr/>
          <p:nvPr/>
        </p:nvSpPr>
        <p:spPr>
          <a:xfrm>
            <a:off x="2105380" y="6077119"/>
            <a:ext cx="7311124" cy="553771"/>
          </a:xfrm>
          <a:prstGeom prst="rect">
            <a:avLst/>
          </a:prstGeom>
          <a:solidFill>
            <a:schemeClr val="bg1"/>
          </a:solidFill>
          <a:ln w="6350" cap="flat" cmpd="sng" algn="ctr">
            <a:noFill/>
            <a:prstDash val="solid"/>
            <a:miter lim="800000"/>
          </a:ln>
          <a:effectLst/>
          <a:extLst>
            <a:ext uri="{91240B29-F687-4F45-9708-019B960494DF}">
              <a14:hiddenLine xmlns:a14="http://schemas.microsoft.com/office/drawing/2010/main" w="6350" cap="flat" cmpd="sng" algn="ctr">
                <a:solidFill>
                  <a:srgbClr val="969696"/>
                </a:solidFill>
                <a:prstDash val="solid"/>
                <a:miter lim="800000"/>
              </a14:hiddenLine>
            </a:ext>
          </a:ex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171450" indent="-171450" fontAlgn="auto">
              <a:lnSpc>
                <a:spcPct val="90000"/>
              </a:lnSpc>
              <a:spcBef>
                <a:spcPts val="300"/>
              </a:spcBef>
              <a:spcAft>
                <a:spcPts val="0"/>
              </a:spcAft>
              <a:buClr>
                <a:prstClr val="black"/>
              </a:buClr>
              <a:buFont typeface="Wingdings" panose="05000000000000000000" pitchFamily="2" charset="2"/>
              <a:buChar char="p"/>
              <a:tabLst>
                <a:tab pos="180975" algn="l"/>
              </a:tabLst>
            </a:pPr>
            <a:r>
              <a:rPr kumimoji="1" lang="ja-JP" altLang="en-US" sz="1200" kern="0">
                <a:latin typeface="Meiryo UI" panose="020B0604030504040204" pitchFamily="50" charset="-128"/>
                <a:ea typeface="Meiryo UI" panose="020B0604030504040204" pitchFamily="50" charset="-128"/>
              </a:rPr>
              <a:t>取引勘定、コール勘定、自動スイープ機能、レポ取引、トレジャリー証券、定期預金等、キャッシュマネジメントを行うためのアクティブ及びパッシブ</a:t>
            </a:r>
            <a:r>
              <a:rPr kumimoji="1" lang="ja-JP" altLang="en-US" sz="1200" b="1" kern="0">
                <a:latin typeface="Meiryo UI" panose="020B0604030504040204" pitchFamily="50" charset="-128"/>
                <a:ea typeface="Meiryo UI" panose="020B0604030504040204" pitchFamily="50" charset="-128"/>
              </a:rPr>
              <a:t>投資オプション</a:t>
            </a:r>
            <a:r>
              <a:rPr kumimoji="1" lang="ja-JP" altLang="en-US" sz="1200" kern="0">
                <a:latin typeface="Meiryo UI" panose="020B0604030504040204" pitchFamily="50" charset="-128"/>
                <a:ea typeface="Meiryo UI" panose="020B0604030504040204" pitchFamily="50" charset="-128"/>
              </a:rPr>
              <a:t>を提供いたします。</a:t>
            </a:r>
            <a:endParaRPr kumimoji="1" lang="en-US" altLang="ja-JP" sz="1200" kern="0">
              <a:latin typeface="Meiryo UI" panose="020B0604030504040204" pitchFamily="50" charset="-128"/>
              <a:ea typeface="Meiryo UI" panose="020B0604030504040204" pitchFamily="50" charset="-128"/>
            </a:endParaRPr>
          </a:p>
        </p:txBody>
      </p:sp>
      <p:sp>
        <p:nvSpPr>
          <p:cNvPr id="74" name="Oval 57">
            <a:extLst>
              <a:ext uri="{FF2B5EF4-FFF2-40B4-BE49-F238E27FC236}">
                <a16:creationId xmlns:a16="http://schemas.microsoft.com/office/drawing/2014/main" id="{53B64478-5DA3-7E84-333D-B0AAB50D6E01}"/>
              </a:ext>
            </a:extLst>
          </p:cNvPr>
          <p:cNvSpPr/>
          <p:nvPr/>
        </p:nvSpPr>
        <p:spPr>
          <a:xfrm>
            <a:off x="246321" y="5411782"/>
            <a:ext cx="223322" cy="219316"/>
          </a:xfrm>
          <a:prstGeom prst="ellipse">
            <a:avLst/>
          </a:prstGeom>
          <a:solidFill>
            <a:srgbClr val="8064A2">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sz="1400" kern="0">
                <a:solidFill>
                  <a:prstClr val="white"/>
                </a:solidFill>
                <a:latin typeface="Meiryo UI"/>
                <a:ea typeface="Meiryo UI"/>
                <a:cs typeface="Arial"/>
              </a:rPr>
              <a:t>8</a:t>
            </a:r>
            <a:endParaRPr kumimoji="1" lang="en-US" sz="1400" b="0" i="0" u="none" strike="noStrike" kern="0" cap="none" spc="0" normalizeH="0" baseline="0" noProof="0">
              <a:ln>
                <a:noFill/>
              </a:ln>
              <a:solidFill>
                <a:prstClr val="white"/>
              </a:solidFill>
              <a:effectLst/>
              <a:uLnTx/>
              <a:uFillTx/>
              <a:latin typeface="Meiryo UI"/>
              <a:ea typeface="Meiryo UI"/>
              <a:cs typeface="Arial"/>
            </a:endParaRPr>
          </a:p>
        </p:txBody>
      </p:sp>
      <p:sp>
        <p:nvSpPr>
          <p:cNvPr id="75" name="Oval 57">
            <a:extLst>
              <a:ext uri="{FF2B5EF4-FFF2-40B4-BE49-F238E27FC236}">
                <a16:creationId xmlns:a16="http://schemas.microsoft.com/office/drawing/2014/main" id="{79917286-484E-2D43-5EA7-07DE47EC8309}"/>
              </a:ext>
            </a:extLst>
          </p:cNvPr>
          <p:cNvSpPr/>
          <p:nvPr/>
        </p:nvSpPr>
        <p:spPr>
          <a:xfrm>
            <a:off x="246321" y="5967461"/>
            <a:ext cx="223322" cy="219316"/>
          </a:xfrm>
          <a:prstGeom prst="ellipse">
            <a:avLst/>
          </a:prstGeom>
          <a:solidFill>
            <a:srgbClr val="8064A2">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sz="1400" b="0" i="0" u="none" strike="noStrike" kern="0" cap="none" spc="0" normalizeH="0" baseline="0" noProof="0">
                <a:ln>
                  <a:noFill/>
                </a:ln>
                <a:solidFill>
                  <a:prstClr val="white"/>
                </a:solidFill>
                <a:effectLst/>
                <a:uLnTx/>
                <a:uFillTx/>
                <a:latin typeface="Meiryo UI"/>
                <a:ea typeface="Meiryo UI"/>
                <a:cs typeface="Arial"/>
              </a:rPr>
              <a:t>9</a:t>
            </a:r>
          </a:p>
        </p:txBody>
      </p:sp>
    </p:spTree>
    <p:extLst>
      <p:ext uri="{BB962C8B-B14F-4D97-AF65-F5344CB8AC3E}">
        <p14:creationId xmlns:p14="http://schemas.microsoft.com/office/powerpoint/2010/main" val="26343054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FF15D-557B-4C33-9E5D-3AF00C8FABE9}"/>
              </a:ext>
            </a:extLst>
          </p:cNvPr>
          <p:cNvSpPr>
            <a:spLocks noGrp="1"/>
          </p:cNvSpPr>
          <p:nvPr>
            <p:ph type="title"/>
          </p:nvPr>
        </p:nvSpPr>
        <p:spPr/>
        <p:txBody>
          <a:bodyPr/>
          <a:lstStyle/>
          <a:p>
            <a:r>
              <a:rPr kumimoji="1" lang="ja-JP" altLang="en-US"/>
              <a:t>マスタートラスト業務 </a:t>
            </a:r>
            <a:r>
              <a:rPr lang="ja-JP" altLang="en-US"/>
              <a:t>～ 米国発の概念</a:t>
            </a:r>
            <a:r>
              <a:rPr lang="ja-JP" altLang="en-US" sz="2400"/>
              <a:t>（大和銀行資料から抜粋）</a:t>
            </a:r>
            <a:endParaRPr kumimoji="1" lang="ja-JP" altLang="en-US"/>
          </a:p>
        </p:txBody>
      </p:sp>
      <p:pic>
        <p:nvPicPr>
          <p:cNvPr id="9" name="図 8">
            <a:extLst>
              <a:ext uri="{FF2B5EF4-FFF2-40B4-BE49-F238E27FC236}">
                <a16:creationId xmlns:a16="http://schemas.microsoft.com/office/drawing/2014/main" id="{B991632E-0D80-5538-5D84-A838038E87C7}"/>
              </a:ext>
            </a:extLst>
          </p:cNvPr>
          <p:cNvPicPr>
            <a:picLocks noChangeAspect="1"/>
          </p:cNvPicPr>
          <p:nvPr/>
        </p:nvPicPr>
        <p:blipFill>
          <a:blip r:embed="rId2"/>
          <a:stretch>
            <a:fillRect/>
          </a:stretch>
        </p:blipFill>
        <p:spPr>
          <a:xfrm>
            <a:off x="1280592" y="897424"/>
            <a:ext cx="7488832" cy="5749355"/>
          </a:xfrm>
          <a:prstGeom prst="rect">
            <a:avLst/>
          </a:prstGeom>
        </p:spPr>
      </p:pic>
    </p:spTree>
    <p:extLst>
      <p:ext uri="{BB962C8B-B14F-4D97-AF65-F5344CB8AC3E}">
        <p14:creationId xmlns:p14="http://schemas.microsoft.com/office/powerpoint/2010/main" val="1200322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FF15D-557B-4C33-9E5D-3AF00C8FABE9}"/>
              </a:ext>
            </a:extLst>
          </p:cNvPr>
          <p:cNvSpPr>
            <a:spLocks noGrp="1"/>
          </p:cNvSpPr>
          <p:nvPr>
            <p:ph type="title"/>
          </p:nvPr>
        </p:nvSpPr>
        <p:spPr/>
        <p:txBody>
          <a:bodyPr/>
          <a:lstStyle/>
          <a:p>
            <a:r>
              <a:rPr kumimoji="1" lang="ja-JP" altLang="en-US"/>
              <a:t>経理の基礎 </a:t>
            </a:r>
            <a:r>
              <a:rPr lang="ja-JP" altLang="en-US"/>
              <a:t>～ 投資一任の場合</a:t>
            </a:r>
            <a:endParaRPr kumimoji="1" lang="ja-JP" altLang="en-US"/>
          </a:p>
        </p:txBody>
      </p:sp>
      <p:sp>
        <p:nvSpPr>
          <p:cNvPr id="11" name="正方形/長方形 10">
            <a:extLst>
              <a:ext uri="{FF2B5EF4-FFF2-40B4-BE49-F238E27FC236}">
                <a16:creationId xmlns:a16="http://schemas.microsoft.com/office/drawing/2014/main" id="{EDA18C4A-1DF1-0F5F-DA18-950E9B9FA84F}"/>
              </a:ext>
            </a:extLst>
          </p:cNvPr>
          <p:cNvSpPr/>
          <p:nvPr/>
        </p:nvSpPr>
        <p:spPr>
          <a:xfrm>
            <a:off x="3132563" y="991226"/>
            <a:ext cx="4104456" cy="5616624"/>
          </a:xfrm>
          <a:prstGeom prst="rect">
            <a:avLst/>
          </a:prstGeom>
          <a:noFill/>
          <a:ln w="6350" cap="flat" cmpd="sng" algn="ctr">
            <a:no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342900" indent="-342900" fontAlgn="auto">
              <a:spcBef>
                <a:spcPts val="600"/>
              </a:spcBef>
              <a:spcAft>
                <a:spcPts val="0"/>
              </a:spcAft>
              <a:buClr>
                <a:prstClr val="black"/>
              </a:buClr>
              <a:buFont typeface="Wingdings" panose="05000000000000000000" pitchFamily="2" charset="2"/>
              <a:buChar char="p"/>
              <a:tabLst>
                <a:tab pos="180975" algn="l"/>
              </a:tabLst>
            </a:pPr>
            <a:r>
              <a:rPr kumimoji="1" lang="ja-JP" altLang="en-US" sz="2000" b="1" kern="0">
                <a:solidFill>
                  <a:prstClr val="black"/>
                </a:solidFill>
                <a:latin typeface="Meiryo UI" panose="020B0604030504040204" pitchFamily="50" charset="-128"/>
                <a:ea typeface="Meiryo UI" panose="020B0604030504040204" pitchFamily="50" charset="-128"/>
              </a:rPr>
              <a:t>基本的な概念</a:t>
            </a:r>
            <a:endParaRPr kumimoji="1" lang="en-US" altLang="ja-JP" sz="2000" b="1" kern="0">
              <a:solidFill>
                <a:prstClr val="black"/>
              </a:solidFill>
              <a:latin typeface="Meiryo UI" panose="020B0604030504040204" pitchFamily="50" charset="-128"/>
              <a:ea typeface="Meiryo UI" panose="020B0604030504040204" pitchFamily="50" charset="-128"/>
            </a:endParaRPr>
          </a:p>
          <a:p>
            <a:pPr marL="799997" lvl="1" indent="-342900" fontAlgn="auto">
              <a:spcBef>
                <a:spcPts val="600"/>
              </a:spcBef>
              <a:spcAft>
                <a:spcPts val="0"/>
              </a:spcAft>
              <a:buClr>
                <a:prstClr val="black"/>
              </a:buClr>
              <a:buFont typeface="Wingdings" panose="05000000000000000000" pitchFamily="2" charset="2"/>
              <a:buChar char="ü"/>
              <a:tabLst>
                <a:tab pos="180975" algn="l"/>
              </a:tabLst>
            </a:pPr>
            <a:r>
              <a:rPr kumimoji="1" lang="ja-JP" altLang="en-US" sz="2000" kern="0">
                <a:solidFill>
                  <a:prstClr val="black"/>
                </a:solidFill>
                <a:latin typeface="Meiryo UI" panose="020B0604030504040204" pitchFamily="50" charset="-128"/>
                <a:ea typeface="Meiryo UI" panose="020B0604030504040204" pitchFamily="50" charset="-128"/>
              </a:rPr>
              <a:t>約定基準と受渡基準</a:t>
            </a:r>
            <a:endParaRPr kumimoji="1" lang="en-US" altLang="ja-JP" sz="2000" kern="0">
              <a:solidFill>
                <a:prstClr val="black"/>
              </a:solidFill>
              <a:latin typeface="Meiryo UI" panose="020B0604030504040204" pitchFamily="50" charset="-128"/>
              <a:ea typeface="Meiryo UI" panose="020B0604030504040204" pitchFamily="50" charset="-128"/>
            </a:endParaRPr>
          </a:p>
          <a:p>
            <a:pPr marL="799997" lvl="1" indent="-342900" fontAlgn="auto">
              <a:spcBef>
                <a:spcPts val="600"/>
              </a:spcBef>
              <a:spcAft>
                <a:spcPts val="0"/>
              </a:spcAft>
              <a:buClr>
                <a:prstClr val="black"/>
              </a:buClr>
              <a:buFont typeface="Wingdings" panose="05000000000000000000" pitchFamily="2" charset="2"/>
              <a:buChar char="ü"/>
              <a:tabLst>
                <a:tab pos="180975" algn="l"/>
              </a:tabLst>
            </a:pPr>
            <a:r>
              <a:rPr kumimoji="1" lang="ja-JP" altLang="en-US" sz="2000" kern="0">
                <a:solidFill>
                  <a:prstClr val="black"/>
                </a:solidFill>
                <a:latin typeface="Meiryo UI" panose="020B0604030504040204" pitchFamily="50" charset="-128"/>
                <a:ea typeface="Meiryo UI" panose="020B0604030504040204" pitchFamily="50" charset="-128"/>
              </a:rPr>
              <a:t>簿価会計と時価会計</a:t>
            </a:r>
            <a:endParaRPr kumimoji="1" lang="en-US" altLang="ja-JP" sz="2000" kern="0">
              <a:solidFill>
                <a:prstClr val="black"/>
              </a:solidFill>
              <a:latin typeface="Meiryo UI" panose="020B0604030504040204" pitchFamily="50" charset="-128"/>
              <a:ea typeface="Meiryo UI" panose="020B0604030504040204" pitchFamily="50" charset="-128"/>
            </a:endParaRPr>
          </a:p>
          <a:p>
            <a:pPr marL="799997" lvl="1" indent="-342900" fontAlgn="auto">
              <a:spcBef>
                <a:spcPts val="600"/>
              </a:spcBef>
              <a:spcAft>
                <a:spcPts val="0"/>
              </a:spcAft>
              <a:buClr>
                <a:prstClr val="black"/>
              </a:buClr>
              <a:buFont typeface="Wingdings" panose="05000000000000000000" pitchFamily="2" charset="2"/>
              <a:buChar char="ü"/>
              <a:tabLst>
                <a:tab pos="180975" algn="l"/>
              </a:tabLst>
            </a:pPr>
            <a:r>
              <a:rPr kumimoji="1" lang="ja-JP" altLang="en-US" sz="2000" kern="0">
                <a:solidFill>
                  <a:prstClr val="black"/>
                </a:solidFill>
                <a:latin typeface="Meiryo UI" panose="020B0604030504040204" pitchFamily="50" charset="-128"/>
                <a:ea typeface="Meiryo UI" panose="020B0604030504040204" pitchFamily="50" charset="-128"/>
              </a:rPr>
              <a:t>実現主義と発生主義</a:t>
            </a:r>
            <a:endParaRPr kumimoji="1" lang="en-US" altLang="ja-JP" sz="2000" kern="0">
              <a:solidFill>
                <a:prstClr val="black"/>
              </a:solidFill>
              <a:latin typeface="Meiryo UI" panose="020B0604030504040204" pitchFamily="50" charset="-128"/>
              <a:ea typeface="Meiryo UI" panose="020B0604030504040204" pitchFamily="50" charset="-128"/>
            </a:endParaRPr>
          </a:p>
          <a:p>
            <a:pPr lvl="1" fontAlgn="auto">
              <a:spcBef>
                <a:spcPts val="600"/>
              </a:spcBef>
              <a:spcAft>
                <a:spcPts val="0"/>
              </a:spcAft>
              <a:buClr>
                <a:prstClr val="black"/>
              </a:buClr>
              <a:tabLst>
                <a:tab pos="180975" algn="l"/>
              </a:tabLst>
            </a:pPr>
            <a:endParaRPr kumimoji="1" lang="en-US" altLang="ja-JP" sz="2000" kern="0">
              <a:solidFill>
                <a:prstClr val="black"/>
              </a:solidFill>
              <a:latin typeface="Meiryo UI" panose="020B0604030504040204" pitchFamily="50" charset="-128"/>
              <a:ea typeface="Meiryo UI" panose="020B0604030504040204" pitchFamily="50" charset="-128"/>
            </a:endParaRPr>
          </a:p>
          <a:p>
            <a:pPr marL="342900" indent="-342900" fontAlgn="auto">
              <a:spcBef>
                <a:spcPts val="600"/>
              </a:spcBef>
              <a:spcAft>
                <a:spcPts val="0"/>
              </a:spcAft>
              <a:buClr>
                <a:prstClr val="black"/>
              </a:buClr>
              <a:buFont typeface="Wingdings" panose="05000000000000000000" pitchFamily="2" charset="2"/>
              <a:buChar char="p"/>
              <a:tabLst>
                <a:tab pos="180975" algn="l"/>
              </a:tabLst>
            </a:pPr>
            <a:r>
              <a:rPr kumimoji="1" lang="ja-JP" altLang="en-US" sz="2000" b="1" kern="0">
                <a:solidFill>
                  <a:prstClr val="black"/>
                </a:solidFill>
                <a:latin typeface="Meiryo UI" panose="020B0604030504040204" pitchFamily="50" charset="-128"/>
                <a:ea typeface="Meiryo UI" panose="020B0604030504040204" pitchFamily="50" charset="-128"/>
              </a:rPr>
              <a:t>経理帳票</a:t>
            </a:r>
            <a:endParaRPr kumimoji="1" lang="en-US" altLang="ja-JP" sz="2000" b="1" kern="0">
              <a:solidFill>
                <a:prstClr val="black"/>
              </a:solidFill>
              <a:latin typeface="Meiryo UI" panose="020B0604030504040204" pitchFamily="50" charset="-128"/>
              <a:ea typeface="Meiryo UI" panose="020B0604030504040204" pitchFamily="50" charset="-128"/>
            </a:endParaRPr>
          </a:p>
          <a:p>
            <a:pPr marL="799997" lvl="1" indent="-342900" fontAlgn="auto">
              <a:spcBef>
                <a:spcPts val="600"/>
              </a:spcBef>
              <a:spcAft>
                <a:spcPts val="0"/>
              </a:spcAft>
              <a:buClr>
                <a:prstClr val="black"/>
              </a:buClr>
              <a:buFont typeface="Wingdings" panose="05000000000000000000" pitchFamily="2" charset="2"/>
              <a:buChar char="ü"/>
              <a:tabLst>
                <a:tab pos="180975" algn="l"/>
              </a:tabLst>
            </a:pPr>
            <a:r>
              <a:rPr kumimoji="1" lang="ja-JP" altLang="en-US" sz="2000" kern="0">
                <a:solidFill>
                  <a:prstClr val="black"/>
                </a:solidFill>
                <a:latin typeface="Meiryo UI" panose="020B0604030504040204" pitchFamily="50" charset="-128"/>
                <a:ea typeface="Meiryo UI" panose="020B0604030504040204" pitchFamily="50" charset="-128"/>
              </a:rPr>
              <a:t>貸借対照表</a:t>
            </a:r>
            <a:endParaRPr kumimoji="1" lang="en-US" altLang="ja-JP" sz="2000" kern="0">
              <a:solidFill>
                <a:prstClr val="black"/>
              </a:solidFill>
              <a:latin typeface="Meiryo UI" panose="020B0604030504040204" pitchFamily="50" charset="-128"/>
              <a:ea typeface="Meiryo UI" panose="020B0604030504040204" pitchFamily="50" charset="-128"/>
            </a:endParaRPr>
          </a:p>
          <a:p>
            <a:pPr marL="799997" lvl="1" indent="-342900" fontAlgn="auto">
              <a:spcBef>
                <a:spcPts val="600"/>
              </a:spcBef>
              <a:spcAft>
                <a:spcPts val="0"/>
              </a:spcAft>
              <a:buClr>
                <a:prstClr val="black"/>
              </a:buClr>
              <a:buFont typeface="Wingdings" panose="05000000000000000000" pitchFamily="2" charset="2"/>
              <a:buChar char="ü"/>
              <a:tabLst>
                <a:tab pos="180975" algn="l"/>
              </a:tabLst>
            </a:pPr>
            <a:r>
              <a:rPr kumimoji="1" lang="ja-JP" altLang="en-US" sz="2000" kern="0">
                <a:solidFill>
                  <a:prstClr val="black"/>
                </a:solidFill>
                <a:latin typeface="Meiryo UI" panose="020B0604030504040204" pitchFamily="50" charset="-128"/>
                <a:ea typeface="Meiryo UI" panose="020B0604030504040204" pitchFamily="50" charset="-128"/>
              </a:rPr>
              <a:t>損益計算書</a:t>
            </a:r>
            <a:endParaRPr kumimoji="1" lang="en-US" altLang="ja-JP" sz="2000" kern="0">
              <a:solidFill>
                <a:prstClr val="black"/>
              </a:solidFill>
              <a:latin typeface="Meiryo UI" panose="020B0604030504040204" pitchFamily="50" charset="-128"/>
              <a:ea typeface="Meiryo UI" panose="020B0604030504040204" pitchFamily="50" charset="-128"/>
            </a:endParaRPr>
          </a:p>
          <a:p>
            <a:pPr marL="799997" lvl="1" indent="-342900" fontAlgn="auto">
              <a:spcBef>
                <a:spcPts val="600"/>
              </a:spcBef>
              <a:spcAft>
                <a:spcPts val="0"/>
              </a:spcAft>
              <a:buClr>
                <a:prstClr val="black"/>
              </a:buClr>
              <a:buFont typeface="Wingdings" panose="05000000000000000000" pitchFamily="2" charset="2"/>
              <a:buChar char="ü"/>
              <a:tabLst>
                <a:tab pos="180975" algn="l"/>
              </a:tabLst>
            </a:pPr>
            <a:r>
              <a:rPr kumimoji="1" lang="ja-JP" altLang="en-US" sz="2000" kern="0">
                <a:solidFill>
                  <a:prstClr val="black"/>
                </a:solidFill>
                <a:latin typeface="Meiryo UI" panose="020B0604030504040204" pitchFamily="50" charset="-128"/>
                <a:ea typeface="Meiryo UI" panose="020B0604030504040204" pitchFamily="50" charset="-128"/>
              </a:rPr>
              <a:t>付属明細書</a:t>
            </a:r>
            <a:endParaRPr kumimoji="1" lang="en-US" altLang="ja-JP" sz="2000" kern="0">
              <a:solidFill>
                <a:prstClr val="black"/>
              </a:solidFill>
              <a:latin typeface="Meiryo UI" panose="020B0604030504040204" pitchFamily="50" charset="-128"/>
              <a:ea typeface="Meiryo UI" panose="020B0604030504040204" pitchFamily="50" charset="-128"/>
            </a:endParaRPr>
          </a:p>
          <a:p>
            <a:pPr marL="1257092" lvl="2" indent="-342900" fontAlgn="auto">
              <a:spcBef>
                <a:spcPts val="600"/>
              </a:spcBef>
              <a:spcAft>
                <a:spcPts val="0"/>
              </a:spcAft>
              <a:buClr>
                <a:prstClr val="black"/>
              </a:buClr>
              <a:buFont typeface="Meiryo UI" panose="020B0604030504040204" pitchFamily="50" charset="-128"/>
              <a:buChar char="‒"/>
              <a:tabLst>
                <a:tab pos="180975" algn="l"/>
              </a:tabLst>
            </a:pPr>
            <a:r>
              <a:rPr kumimoji="1" lang="ja-JP" altLang="en-US" sz="2000" kern="0">
                <a:solidFill>
                  <a:prstClr val="black"/>
                </a:solidFill>
                <a:latin typeface="Meiryo UI" panose="020B0604030504040204" pitchFamily="50" charset="-128"/>
                <a:ea typeface="Meiryo UI" panose="020B0604030504040204" pitchFamily="50" charset="-128"/>
              </a:rPr>
              <a:t>取引明細</a:t>
            </a:r>
            <a:endParaRPr kumimoji="1" lang="en-US" altLang="ja-JP" sz="2000" kern="0">
              <a:solidFill>
                <a:prstClr val="black"/>
              </a:solidFill>
              <a:latin typeface="Meiryo UI" panose="020B0604030504040204" pitchFamily="50" charset="-128"/>
              <a:ea typeface="Meiryo UI" panose="020B0604030504040204" pitchFamily="50" charset="-128"/>
            </a:endParaRPr>
          </a:p>
          <a:p>
            <a:pPr marL="1257092" lvl="2" indent="-342900" fontAlgn="auto">
              <a:spcBef>
                <a:spcPts val="600"/>
              </a:spcBef>
              <a:spcAft>
                <a:spcPts val="0"/>
              </a:spcAft>
              <a:buClr>
                <a:prstClr val="black"/>
              </a:buClr>
              <a:buFont typeface="Meiryo UI" panose="020B0604030504040204" pitchFamily="50" charset="-128"/>
              <a:buChar char="‒"/>
              <a:tabLst>
                <a:tab pos="180975" algn="l"/>
              </a:tabLst>
            </a:pPr>
            <a:r>
              <a:rPr kumimoji="1" lang="ja-JP" altLang="en-US" sz="2000" kern="0">
                <a:solidFill>
                  <a:prstClr val="black"/>
                </a:solidFill>
                <a:latin typeface="Meiryo UI" panose="020B0604030504040204" pitchFamily="50" charset="-128"/>
                <a:ea typeface="Meiryo UI" panose="020B0604030504040204" pitchFamily="50" charset="-128"/>
              </a:rPr>
              <a:t>残高明細</a:t>
            </a:r>
            <a:endParaRPr kumimoji="1" lang="en-US" altLang="ja-JP" sz="2000" kern="0">
              <a:solidFill>
                <a:prstClr val="black"/>
              </a:solidFill>
              <a:latin typeface="Meiryo UI" panose="020B0604030504040204" pitchFamily="50" charset="-128"/>
              <a:ea typeface="Meiryo UI" panose="020B0604030504040204" pitchFamily="50" charset="-128"/>
            </a:endParaRPr>
          </a:p>
          <a:p>
            <a:pPr marL="799997" lvl="1" indent="-342900" fontAlgn="auto">
              <a:spcBef>
                <a:spcPts val="600"/>
              </a:spcBef>
              <a:spcAft>
                <a:spcPts val="0"/>
              </a:spcAft>
              <a:buClr>
                <a:prstClr val="black"/>
              </a:buClr>
              <a:buFont typeface="Wingdings" panose="05000000000000000000" pitchFamily="2" charset="2"/>
              <a:buChar char="ü"/>
              <a:tabLst>
                <a:tab pos="180975" algn="l"/>
              </a:tabLst>
            </a:pPr>
            <a:r>
              <a:rPr kumimoji="1" lang="ja-JP" altLang="en-US" sz="2000" kern="0">
                <a:solidFill>
                  <a:prstClr val="black"/>
                </a:solidFill>
                <a:latin typeface="Meiryo UI" panose="020B0604030504040204" pitchFamily="50" charset="-128"/>
                <a:ea typeface="Meiryo UI" panose="020B0604030504040204" pitchFamily="50" charset="-128"/>
              </a:rPr>
              <a:t>運用報告書</a:t>
            </a:r>
            <a:endParaRPr kumimoji="1" lang="en-US" altLang="ja-JP" sz="2000" kern="0">
              <a:solidFill>
                <a:prstClr val="black"/>
              </a:solidFill>
              <a:latin typeface="Meiryo UI" panose="020B0604030504040204" pitchFamily="50" charset="-128"/>
              <a:ea typeface="Meiryo UI" panose="020B0604030504040204" pitchFamily="50" charset="-128"/>
            </a:endParaRPr>
          </a:p>
          <a:p>
            <a:pPr marL="1257092" lvl="2" indent="-342900" fontAlgn="auto">
              <a:spcBef>
                <a:spcPts val="600"/>
              </a:spcBef>
              <a:spcAft>
                <a:spcPts val="0"/>
              </a:spcAft>
              <a:buClr>
                <a:prstClr val="black"/>
              </a:buClr>
              <a:buFont typeface="Meiryo UI" panose="020B0604030504040204" pitchFamily="50" charset="-128"/>
              <a:buChar char="‒"/>
              <a:tabLst>
                <a:tab pos="180975" algn="l"/>
              </a:tabLst>
            </a:pPr>
            <a:r>
              <a:rPr kumimoji="1" lang="ja-JP" altLang="en-US" sz="2000" kern="0">
                <a:solidFill>
                  <a:prstClr val="black"/>
                </a:solidFill>
                <a:latin typeface="Meiryo UI" panose="020B0604030504040204" pitchFamily="50" charset="-128"/>
                <a:ea typeface="Meiryo UI" panose="020B0604030504040204" pitchFamily="50" charset="-128"/>
              </a:rPr>
              <a:t>パフォーマンス分析</a:t>
            </a:r>
            <a:endParaRPr kumimoji="1" lang="en-US" altLang="ja-JP" sz="2000" kern="0">
              <a:solidFill>
                <a:prstClr val="black"/>
              </a:solidFill>
              <a:latin typeface="Meiryo UI" panose="020B0604030504040204" pitchFamily="50" charset="-128"/>
              <a:ea typeface="Meiryo UI" panose="020B0604030504040204" pitchFamily="50" charset="-128"/>
            </a:endParaRPr>
          </a:p>
          <a:p>
            <a:pPr marL="1257092" lvl="2" indent="-342900" fontAlgn="auto">
              <a:spcBef>
                <a:spcPts val="600"/>
              </a:spcBef>
              <a:spcAft>
                <a:spcPts val="0"/>
              </a:spcAft>
              <a:buClr>
                <a:prstClr val="black"/>
              </a:buClr>
              <a:buFont typeface="Meiryo UI" panose="020B0604030504040204" pitchFamily="50" charset="-128"/>
              <a:buChar char="‒"/>
              <a:tabLst>
                <a:tab pos="180975" algn="l"/>
              </a:tabLst>
            </a:pPr>
            <a:r>
              <a:rPr kumimoji="1" lang="ja-JP" altLang="en-US" sz="2000" kern="0">
                <a:solidFill>
                  <a:prstClr val="black"/>
                </a:solidFill>
                <a:latin typeface="Meiryo UI" panose="020B0604030504040204" pitchFamily="50" charset="-128"/>
                <a:ea typeface="Meiryo UI" panose="020B0604030504040204" pitchFamily="50" charset="-128"/>
              </a:rPr>
              <a:t>リスク分析</a:t>
            </a:r>
            <a:endParaRPr kumimoji="1" lang="en-US" altLang="ja-JP" sz="2000" kern="0">
              <a:solidFill>
                <a:prstClr val="black"/>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518868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FF15D-557B-4C33-9E5D-3AF00C8FABE9}"/>
              </a:ext>
            </a:extLst>
          </p:cNvPr>
          <p:cNvSpPr>
            <a:spLocks noGrp="1"/>
          </p:cNvSpPr>
          <p:nvPr>
            <p:ph type="title"/>
          </p:nvPr>
        </p:nvSpPr>
        <p:spPr/>
        <p:txBody>
          <a:bodyPr/>
          <a:lstStyle/>
          <a:p>
            <a:r>
              <a:rPr kumimoji="1" lang="ja-JP" altLang="en-US"/>
              <a:t>レポート・データ連携 </a:t>
            </a:r>
            <a:r>
              <a:rPr lang="ja-JP" altLang="en-US"/>
              <a:t>～ </a:t>
            </a:r>
            <a:r>
              <a:rPr lang="en-US" altLang="ja-JP"/>
              <a:t>MTBJ</a:t>
            </a:r>
            <a:r>
              <a:rPr lang="ja-JP" altLang="en-US"/>
              <a:t>の例</a:t>
            </a:r>
            <a:endParaRPr kumimoji="1" lang="ja-JP" altLang="en-US"/>
          </a:p>
        </p:txBody>
      </p:sp>
      <p:pic>
        <p:nvPicPr>
          <p:cNvPr id="4" name="図 3">
            <a:extLst>
              <a:ext uri="{FF2B5EF4-FFF2-40B4-BE49-F238E27FC236}">
                <a16:creationId xmlns:a16="http://schemas.microsoft.com/office/drawing/2014/main" id="{31F33A2B-7A20-75F4-C785-898673A3CAEB}"/>
              </a:ext>
            </a:extLst>
          </p:cNvPr>
          <p:cNvPicPr>
            <a:picLocks noChangeAspect="1"/>
          </p:cNvPicPr>
          <p:nvPr/>
        </p:nvPicPr>
        <p:blipFill>
          <a:blip r:embed="rId2"/>
          <a:stretch>
            <a:fillRect/>
          </a:stretch>
        </p:blipFill>
        <p:spPr>
          <a:xfrm>
            <a:off x="309507" y="1412776"/>
            <a:ext cx="9286986" cy="4636980"/>
          </a:xfrm>
          <a:prstGeom prst="rect">
            <a:avLst/>
          </a:prstGeom>
        </p:spPr>
      </p:pic>
    </p:spTree>
    <p:extLst>
      <p:ext uri="{BB962C8B-B14F-4D97-AF65-F5344CB8AC3E}">
        <p14:creationId xmlns:p14="http://schemas.microsoft.com/office/powerpoint/2010/main" val="3337727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FF15D-557B-4C33-9E5D-3AF00C8FABE9}"/>
              </a:ext>
            </a:extLst>
          </p:cNvPr>
          <p:cNvSpPr>
            <a:spLocks noGrp="1"/>
          </p:cNvSpPr>
          <p:nvPr>
            <p:ph type="title"/>
          </p:nvPr>
        </p:nvSpPr>
        <p:spPr/>
        <p:txBody>
          <a:bodyPr/>
          <a:lstStyle/>
          <a:p>
            <a:r>
              <a:rPr lang="ja-JP" altLang="en-US"/>
              <a:t>運用プロセス ～ 外国株式の例</a:t>
            </a:r>
            <a:endParaRPr kumimoji="1" lang="ja-JP" altLang="en-US"/>
          </a:p>
        </p:txBody>
      </p:sp>
      <p:sp>
        <p:nvSpPr>
          <p:cNvPr id="3" name="Oval 1037">
            <a:extLst>
              <a:ext uri="{FF2B5EF4-FFF2-40B4-BE49-F238E27FC236}">
                <a16:creationId xmlns:a16="http://schemas.microsoft.com/office/drawing/2014/main" id="{1DD24F2F-D37E-0CD1-8B3A-D8517C8685F8}"/>
              </a:ext>
            </a:extLst>
          </p:cNvPr>
          <p:cNvSpPr>
            <a:spLocks noChangeArrowheads="1"/>
          </p:cNvSpPr>
          <p:nvPr/>
        </p:nvSpPr>
        <p:spPr bwMode="auto">
          <a:xfrm>
            <a:off x="4719638" y="1016000"/>
            <a:ext cx="4357687" cy="1052513"/>
          </a:xfrm>
          <a:prstGeom prst="ellipse">
            <a:avLst/>
          </a:prstGeom>
          <a:noFill/>
          <a:ln w="38100" cap="rnd">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50" charset="-128"/>
              <a:cs typeface="+mn-cs"/>
            </a:endParaRPr>
          </a:p>
        </p:txBody>
      </p:sp>
      <p:sp>
        <p:nvSpPr>
          <p:cNvPr id="4" name="Rectangle 1026">
            <a:extLst>
              <a:ext uri="{FF2B5EF4-FFF2-40B4-BE49-F238E27FC236}">
                <a16:creationId xmlns:a16="http://schemas.microsoft.com/office/drawing/2014/main" id="{F5CD95F8-755F-9483-FA50-161B36C5ACD8}"/>
              </a:ext>
            </a:extLst>
          </p:cNvPr>
          <p:cNvSpPr>
            <a:spLocks noChangeArrowheads="1"/>
          </p:cNvSpPr>
          <p:nvPr/>
        </p:nvSpPr>
        <p:spPr bwMode="auto">
          <a:xfrm>
            <a:off x="5699125" y="4746625"/>
            <a:ext cx="3008313" cy="1085850"/>
          </a:xfrm>
          <a:prstGeom prst="rect">
            <a:avLst/>
          </a:prstGeom>
          <a:solidFill>
            <a:srgbClr val="FFFFFF"/>
          </a:solidFill>
          <a:ln w="9525">
            <a:solidFill>
              <a:srgbClr val="000000"/>
            </a:solidFill>
            <a:miter lim="800000"/>
            <a:headEnd/>
            <a:tailEnd/>
          </a:ln>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ja-JP" altLang="ja-JP" sz="2400" b="1" i="0" u="none" strike="noStrike" kern="1200" cap="none" spc="0" normalizeH="0" baseline="0" noProof="0">
              <a:ln>
                <a:noFill/>
              </a:ln>
              <a:solidFill>
                <a:srgbClr val="3333CC"/>
              </a:solidFill>
              <a:effectLst/>
              <a:uLnTx/>
              <a:uFillTx/>
              <a:latin typeface="Times New Roman" panose="02020603050405020304" pitchFamily="18" charset="0"/>
              <a:ea typeface="ＭＳ Ｐゴシック" panose="020B0600070205080204" pitchFamily="50" charset="-128"/>
              <a:cs typeface="+mn-cs"/>
            </a:endParaRPr>
          </a:p>
        </p:txBody>
      </p:sp>
      <p:sp>
        <p:nvSpPr>
          <p:cNvPr id="5" name="AutoShape 1028">
            <a:extLst>
              <a:ext uri="{FF2B5EF4-FFF2-40B4-BE49-F238E27FC236}">
                <a16:creationId xmlns:a16="http://schemas.microsoft.com/office/drawing/2014/main" id="{89D2E24E-CBEF-5AC7-B100-D5B2F4E746A5}"/>
              </a:ext>
            </a:extLst>
          </p:cNvPr>
          <p:cNvSpPr>
            <a:spLocks noChangeArrowheads="1"/>
          </p:cNvSpPr>
          <p:nvPr/>
        </p:nvSpPr>
        <p:spPr bwMode="auto">
          <a:xfrm rot="16228661">
            <a:off x="4284663" y="1998663"/>
            <a:ext cx="338137" cy="788987"/>
          </a:xfrm>
          <a:prstGeom prst="downArrow">
            <a:avLst>
              <a:gd name="adj1" fmla="val 50000"/>
              <a:gd name="adj2" fmla="val 116894"/>
            </a:avLst>
          </a:prstGeom>
          <a:solidFill>
            <a:srgbClr val="C0C0C0"/>
          </a:solidFill>
          <a:ln>
            <a:noFill/>
          </a:ln>
          <a:extLst>
            <a:ext uri="{91240B29-F687-4F45-9708-019B960494DF}">
              <a14:hiddenLine xmlns:a14="http://schemas.microsoft.com/office/drawing/2010/main" w="12700">
                <a:solidFill>
                  <a:srgbClr val="000000"/>
                </a:solidFill>
                <a:miter lim="800000"/>
                <a:headEnd/>
                <a:tailEnd/>
              </a14:hiddenLine>
            </a:ext>
          </a:extLst>
        </p:spPr>
        <p:txBody>
          <a:bodyPr vert="eaVert"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50" charset="-128"/>
              <a:cs typeface="+mn-cs"/>
            </a:endParaRPr>
          </a:p>
        </p:txBody>
      </p:sp>
      <p:sp>
        <p:nvSpPr>
          <p:cNvPr id="6" name="AutoShape 1029">
            <a:extLst>
              <a:ext uri="{FF2B5EF4-FFF2-40B4-BE49-F238E27FC236}">
                <a16:creationId xmlns:a16="http://schemas.microsoft.com/office/drawing/2014/main" id="{FFB1C8BE-363F-3CB3-16CD-A66103850CB7}"/>
              </a:ext>
            </a:extLst>
          </p:cNvPr>
          <p:cNvSpPr>
            <a:spLocks noChangeArrowheads="1"/>
          </p:cNvSpPr>
          <p:nvPr/>
        </p:nvSpPr>
        <p:spPr bwMode="auto">
          <a:xfrm>
            <a:off x="6862763" y="4395788"/>
            <a:ext cx="715962" cy="266700"/>
          </a:xfrm>
          <a:prstGeom prst="downArrow">
            <a:avLst>
              <a:gd name="adj1" fmla="val 50000"/>
              <a:gd name="adj2" fmla="val 50097"/>
            </a:avLst>
          </a:prstGeom>
          <a:solidFill>
            <a:srgbClr val="C0C0C0"/>
          </a:solidFill>
          <a:ln>
            <a:noFill/>
          </a:ln>
          <a:extLst>
            <a:ext uri="{91240B29-F687-4F45-9708-019B960494DF}">
              <a14:hiddenLine xmlns:a14="http://schemas.microsoft.com/office/drawing/2010/main" w="12700">
                <a:solidFill>
                  <a:srgbClr val="000000"/>
                </a:solidFill>
                <a:miter lim="800000"/>
                <a:headEnd/>
                <a:tailEnd/>
              </a14:hiddenLine>
            </a:ext>
          </a:extLst>
        </p:spPr>
        <p:txBody>
          <a:bodyPr vert="eaVert"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50" charset="-128"/>
              <a:cs typeface="+mn-cs"/>
            </a:endParaRPr>
          </a:p>
        </p:txBody>
      </p:sp>
      <p:sp>
        <p:nvSpPr>
          <p:cNvPr id="7" name="Rectangle 1030">
            <a:extLst>
              <a:ext uri="{FF2B5EF4-FFF2-40B4-BE49-F238E27FC236}">
                <a16:creationId xmlns:a16="http://schemas.microsoft.com/office/drawing/2014/main" id="{E6F8705B-E4E6-3B64-40A9-8BB1F6ABDCAE}"/>
              </a:ext>
            </a:extLst>
          </p:cNvPr>
          <p:cNvSpPr>
            <a:spLocks noChangeArrowheads="1"/>
          </p:cNvSpPr>
          <p:nvPr/>
        </p:nvSpPr>
        <p:spPr bwMode="auto">
          <a:xfrm>
            <a:off x="836613" y="4346575"/>
            <a:ext cx="3859212" cy="1495425"/>
          </a:xfrm>
          <a:prstGeom prst="rect">
            <a:avLst/>
          </a:prstGeom>
          <a:solidFill>
            <a:srgbClr val="FFFFFF"/>
          </a:solidFill>
          <a:ln w="9525">
            <a:solidFill>
              <a:srgbClr val="000000"/>
            </a:solidFill>
            <a:miter lim="800000"/>
            <a:headEnd/>
            <a:tailEnd/>
          </a:ln>
          <a:effec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ja-JP" sz="1800" b="1" i="0" u="none" strike="noStrike" kern="1200" cap="none" spc="0" normalizeH="0" baseline="0" noProof="0">
              <a:ln>
                <a:noFill/>
              </a:ln>
              <a:solidFill>
                <a:srgbClr val="3333CC"/>
              </a:solidFill>
              <a:effectLst/>
              <a:uLnTx/>
              <a:uFillTx/>
              <a:latin typeface="Times New Roman" panose="02020603050405020304" pitchFamily="18" charset="0"/>
              <a:ea typeface="ＭＳ Ｐゴシック" panose="020B0600070205080204" pitchFamily="50"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800" b="1" i="0" u="none" strike="noStrike" kern="1200" cap="none" spc="0" normalizeH="0" baseline="0" noProof="0">
                <a:ln>
                  <a:noFill/>
                </a:ln>
                <a:solidFill>
                  <a:srgbClr val="3333CC"/>
                </a:solidFill>
                <a:effectLst/>
                <a:uLnTx/>
                <a:uFillTx/>
                <a:latin typeface="Times New Roman" panose="02020603050405020304" pitchFamily="18" charset="0"/>
                <a:ea typeface="ＭＳ Ｐゴシック" panose="020B0600070205080204" pitchFamily="50" charset="-128"/>
                <a:cs typeface="+mn-cs"/>
              </a:rPr>
              <a:t>          </a:t>
            </a:r>
            <a:endParaRPr kumimoji="1" lang="en-US" altLang="ja-JP" sz="1800" b="1" i="0" u="sng" strike="noStrike" kern="1200" cap="none" spc="0" normalizeH="0" baseline="0" noProof="0">
              <a:ln>
                <a:noFill/>
              </a:ln>
              <a:solidFill>
                <a:srgbClr val="000099"/>
              </a:solidFill>
              <a:effectLst>
                <a:outerShdw blurRad="38100" dist="38100" dir="2700000" algn="tl">
                  <a:srgbClr val="C0C0C0"/>
                </a:outerShdw>
              </a:effectLst>
              <a:uLnTx/>
              <a:uFillTx/>
              <a:latin typeface="Times New Roman" panose="02020603050405020304" pitchFamily="18" charset="0"/>
              <a:ea typeface="ＭＳ Ｐゴシック" panose="020B0600070205080204" pitchFamily="50"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ja-JP" sz="1800" b="1" i="0" u="sng" strike="noStrike" kern="1200" cap="none" spc="0" normalizeH="0" baseline="0" noProof="0">
              <a:ln>
                <a:noFill/>
              </a:ln>
              <a:solidFill>
                <a:srgbClr val="000099"/>
              </a:solidFill>
              <a:effectLst>
                <a:outerShdw blurRad="38100" dist="38100" dir="2700000" algn="tl">
                  <a:srgbClr val="C0C0C0"/>
                </a:outerShdw>
              </a:effectLst>
              <a:uLnTx/>
              <a:uFillTx/>
              <a:latin typeface="Times New Roman" panose="02020603050405020304" pitchFamily="18" charset="0"/>
              <a:ea typeface="ＭＳ Ｐゴシック" panose="020B0600070205080204" pitchFamily="50"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ja-JP" sz="1800" b="1" i="0" u="sng" strike="noStrike" kern="1200" cap="none" spc="0" normalizeH="0" baseline="0" noProof="0">
              <a:ln>
                <a:noFill/>
              </a:ln>
              <a:solidFill>
                <a:srgbClr val="000099"/>
              </a:solidFill>
              <a:effectLst>
                <a:outerShdw blurRad="38100" dist="38100" dir="2700000" algn="tl">
                  <a:srgbClr val="C0C0C0"/>
                </a:outerShdw>
              </a:effectLst>
              <a:uLnTx/>
              <a:uFillTx/>
              <a:latin typeface="Times New Roman" panose="02020603050405020304" pitchFamily="18" charset="0"/>
              <a:ea typeface="ＭＳ Ｐゴシック" panose="020B0600070205080204" pitchFamily="50"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800" b="1" i="0" u="none" strike="noStrike" kern="1200" cap="none" spc="0" normalizeH="0" baseline="0" noProof="0">
                <a:ln>
                  <a:noFill/>
                </a:ln>
                <a:solidFill>
                  <a:srgbClr val="000099"/>
                </a:solidFill>
                <a:effectLst>
                  <a:outerShdw blurRad="38100" dist="38100" dir="2700000" algn="tl">
                    <a:srgbClr val="C0C0C0"/>
                  </a:outerShdw>
                </a:effectLst>
                <a:uLnTx/>
                <a:uFillTx/>
                <a:latin typeface="Times New Roman" panose="02020603050405020304" pitchFamily="18" charset="0"/>
                <a:ea typeface="ＭＳ Ｐゴシック" panose="020B0600070205080204" pitchFamily="50" charset="-128"/>
                <a:cs typeface="+mn-cs"/>
              </a:rPr>
              <a:t>                                                 </a:t>
            </a:r>
            <a:endParaRPr kumimoji="1" lang="en-US" altLang="ja-JP" sz="1400" b="0" i="0" u="none" strike="noStrike" kern="1200" cap="none" spc="0" normalizeH="0" baseline="0" noProof="0">
              <a:ln>
                <a:noFill/>
              </a:ln>
              <a:solidFill>
                <a:srgbClr val="000000"/>
              </a:solidFill>
              <a:effectLst/>
              <a:uLnTx/>
              <a:uFillTx/>
              <a:latin typeface="Times New Roman" panose="02020603050405020304" pitchFamily="18" charset="0"/>
              <a:ea typeface="ＭＳ Ｐ明朝" pitchFamily="18"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Times New Roman" panose="02020603050405020304" pitchFamily="18" charset="0"/>
                <a:ea typeface="ＭＳ Ｐ明朝" pitchFamily="18" charset="-128"/>
                <a:cs typeface="+mn-cs"/>
              </a:rPr>
              <a:t>    </a:t>
            </a:r>
          </a:p>
        </p:txBody>
      </p:sp>
      <p:sp>
        <p:nvSpPr>
          <p:cNvPr id="8" name="AutoShape 1031">
            <a:extLst>
              <a:ext uri="{FF2B5EF4-FFF2-40B4-BE49-F238E27FC236}">
                <a16:creationId xmlns:a16="http://schemas.microsoft.com/office/drawing/2014/main" id="{142AF8F6-1282-071A-15B7-85F4D7305A78}"/>
              </a:ext>
            </a:extLst>
          </p:cNvPr>
          <p:cNvSpPr>
            <a:spLocks noChangeArrowheads="1"/>
          </p:cNvSpPr>
          <p:nvPr/>
        </p:nvSpPr>
        <p:spPr bwMode="auto">
          <a:xfrm rot="5342274">
            <a:off x="5037138" y="4695825"/>
            <a:ext cx="249238" cy="788987"/>
          </a:xfrm>
          <a:prstGeom prst="downArrow">
            <a:avLst>
              <a:gd name="adj1" fmla="val 50000"/>
              <a:gd name="adj2" fmla="val 158588"/>
            </a:avLst>
          </a:prstGeom>
          <a:solidFill>
            <a:srgbClr val="C0C0C0"/>
          </a:solidFill>
          <a:ln>
            <a:noFill/>
          </a:ln>
          <a:extLst>
            <a:ext uri="{91240B29-F687-4F45-9708-019B960494DF}">
              <a14:hiddenLine xmlns:a14="http://schemas.microsoft.com/office/drawing/2010/main" w="12700">
                <a:solidFill>
                  <a:srgbClr val="000000"/>
                </a:solidFill>
                <a:miter lim="800000"/>
                <a:headEnd/>
                <a:tailEnd/>
              </a14:hiddenLine>
            </a:ext>
          </a:extLst>
        </p:spPr>
        <p:txBody>
          <a:bodyPr vert="eaVert"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50" charset="-128"/>
              <a:cs typeface="+mn-cs"/>
            </a:endParaRPr>
          </a:p>
        </p:txBody>
      </p:sp>
      <p:sp>
        <p:nvSpPr>
          <p:cNvPr id="9" name="Text Box 1032">
            <a:extLst>
              <a:ext uri="{FF2B5EF4-FFF2-40B4-BE49-F238E27FC236}">
                <a16:creationId xmlns:a16="http://schemas.microsoft.com/office/drawing/2014/main" id="{A75645DD-E6C8-0841-AFAC-33946B182BB6}"/>
              </a:ext>
            </a:extLst>
          </p:cNvPr>
          <p:cNvSpPr txBox="1">
            <a:spLocks noChangeArrowheads="1"/>
          </p:cNvSpPr>
          <p:nvPr/>
        </p:nvSpPr>
        <p:spPr bwMode="auto">
          <a:xfrm>
            <a:off x="1096963" y="2417763"/>
            <a:ext cx="259715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l" defTabSz="914400" rtl="0" eaLnBrk="1" fontAlgn="base" latinLnBrk="0" hangingPunct="1">
              <a:lnSpc>
                <a:spcPct val="90000"/>
              </a:lnSpc>
              <a:spcBef>
                <a:spcPct val="50000"/>
              </a:spcBef>
              <a:spcAft>
                <a:spcPct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50" charset="-128"/>
                <a:cs typeface="+mn-cs"/>
              </a:rPr>
              <a:t>■</a:t>
            </a:r>
            <a:r>
              <a:rPr kumimoji="1" lang="ja-JP" altLang="en-US" sz="1200" b="0" i="0" u="none" strike="noStrike" kern="1200" cap="none" spc="0" normalizeH="0" baseline="0" noProof="0">
                <a:ln>
                  <a:noFill/>
                </a:ln>
                <a:solidFill>
                  <a:srgbClr val="000000"/>
                </a:solidFill>
                <a:effectLst/>
                <a:uLnTx/>
                <a:uFillTx/>
                <a:latin typeface="ＭＳ Ｐ明朝" panose="02020600040205080304" pitchFamily="18" charset="-128"/>
                <a:ea typeface="ＭＳ Ｐ明朝" panose="02020600040205080304" pitchFamily="18" charset="-128"/>
                <a:cs typeface="+mn-cs"/>
              </a:rPr>
              <a:t>日次で株価、株数、コーポレート  </a:t>
            </a:r>
          </a:p>
          <a:p>
            <a:pPr marL="0" marR="0" lvl="0" indent="0" algn="l" defTabSz="914400" rtl="0" eaLnBrk="1" fontAlgn="base" latinLnBrk="0" hangingPunct="1">
              <a:lnSpc>
                <a:spcPct val="90000"/>
              </a:lnSpc>
              <a:spcBef>
                <a:spcPct val="50000"/>
              </a:spcBef>
              <a:spcAft>
                <a:spcPct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ＭＳ Ｐ明朝" panose="02020600040205080304" pitchFamily="18" charset="-128"/>
                <a:ea typeface="ＭＳ Ｐ明朝" panose="02020600040205080304" pitchFamily="18" charset="-128"/>
                <a:cs typeface="+mn-cs"/>
              </a:rPr>
              <a:t>    アクションを把握</a:t>
            </a:r>
            <a:endParaRPr kumimoji="1" lang="ja-JP" altLang="en-US" sz="1200" b="1" i="0" u="none" strike="noStrike" kern="1200" cap="none" spc="0" normalizeH="0" baseline="0" noProof="0">
              <a:ln>
                <a:noFill/>
              </a:ln>
              <a:solidFill>
                <a:srgbClr val="000000"/>
              </a:solidFill>
              <a:effectLst/>
              <a:uLnTx/>
              <a:uFillTx/>
              <a:latin typeface="ＭＳ Ｐ明朝" panose="02020600040205080304" pitchFamily="18" charset="-128"/>
              <a:ea typeface="ＭＳ Ｐ明朝" panose="02020600040205080304" pitchFamily="18" charset="-128"/>
              <a:cs typeface="+mn-cs"/>
            </a:endParaRPr>
          </a:p>
        </p:txBody>
      </p:sp>
      <p:sp>
        <p:nvSpPr>
          <p:cNvPr id="10" name="AutoShape 1033">
            <a:extLst>
              <a:ext uri="{FF2B5EF4-FFF2-40B4-BE49-F238E27FC236}">
                <a16:creationId xmlns:a16="http://schemas.microsoft.com/office/drawing/2014/main" id="{351C7923-55E4-ACEE-AEE2-AA789359BEB8}"/>
              </a:ext>
            </a:extLst>
          </p:cNvPr>
          <p:cNvSpPr>
            <a:spLocks noChangeArrowheads="1"/>
          </p:cNvSpPr>
          <p:nvPr/>
        </p:nvSpPr>
        <p:spPr bwMode="auto">
          <a:xfrm rot="14400000">
            <a:off x="4012406" y="3194844"/>
            <a:ext cx="331788" cy="1295400"/>
          </a:xfrm>
          <a:prstGeom prst="downArrow">
            <a:avLst>
              <a:gd name="adj1" fmla="val 50000"/>
              <a:gd name="adj2" fmla="val 195595"/>
            </a:avLst>
          </a:prstGeom>
          <a:solidFill>
            <a:srgbClr val="C0C0C0"/>
          </a:solidFill>
          <a:ln>
            <a:noFill/>
          </a:ln>
          <a:extLst>
            <a:ext uri="{91240B29-F687-4F45-9708-019B960494DF}">
              <a14:hiddenLine xmlns:a14="http://schemas.microsoft.com/office/drawing/2010/main" w="12700">
                <a:solidFill>
                  <a:srgbClr val="000000"/>
                </a:solidFill>
                <a:miter lim="800000"/>
                <a:headEnd/>
                <a:tailEnd/>
              </a14:hiddenLine>
            </a:ext>
          </a:extLst>
        </p:spPr>
        <p:txBody>
          <a:bodyPr vert="eaVert"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50" charset="-128"/>
              <a:cs typeface="+mn-cs"/>
            </a:endParaRPr>
          </a:p>
        </p:txBody>
      </p:sp>
      <p:sp>
        <p:nvSpPr>
          <p:cNvPr id="11" name="Text Box 1034">
            <a:extLst>
              <a:ext uri="{FF2B5EF4-FFF2-40B4-BE49-F238E27FC236}">
                <a16:creationId xmlns:a16="http://schemas.microsoft.com/office/drawing/2014/main" id="{8C7186A2-9212-CD66-79E9-4824338E65CD}"/>
              </a:ext>
            </a:extLst>
          </p:cNvPr>
          <p:cNvSpPr txBox="1">
            <a:spLocks noChangeArrowheads="1"/>
          </p:cNvSpPr>
          <p:nvPr/>
        </p:nvSpPr>
        <p:spPr bwMode="auto">
          <a:xfrm>
            <a:off x="5060950" y="1362075"/>
            <a:ext cx="1639888" cy="390525"/>
          </a:xfrm>
          <a:prstGeom prst="rect">
            <a:avLst/>
          </a:prstGeom>
          <a:gradFill rotWithShape="0">
            <a:gsLst>
              <a:gs pos="0">
                <a:srgbClr val="C0C0C0"/>
              </a:gs>
              <a:gs pos="50000">
                <a:srgbClr val="FFFFFF"/>
              </a:gs>
              <a:gs pos="100000">
                <a:srgbClr val="C0C0C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ctr" defTabSz="914400" rtl="0" eaLnBrk="1" fontAlgn="base" latinLnBrk="0" hangingPunct="1">
              <a:lnSpc>
                <a:spcPct val="140000"/>
              </a:lnSpc>
              <a:spcBef>
                <a:spcPct val="50000"/>
              </a:spcBef>
              <a:spcAft>
                <a:spcPct val="0"/>
              </a:spcAft>
              <a:buClrTx/>
              <a:buSzTx/>
              <a:buFontTx/>
              <a:buNone/>
              <a:tabLst/>
              <a:defRPr/>
            </a:pPr>
            <a:r>
              <a:rPr kumimoji="1" lang="ja-JP" altLang="en-US" sz="1400" b="1"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50" charset="-128"/>
                <a:cs typeface="+mn-cs"/>
              </a:rPr>
              <a:t>権利関係対応</a:t>
            </a:r>
          </a:p>
        </p:txBody>
      </p:sp>
      <p:sp>
        <p:nvSpPr>
          <p:cNvPr id="12" name="Rectangle 1036">
            <a:extLst>
              <a:ext uri="{FF2B5EF4-FFF2-40B4-BE49-F238E27FC236}">
                <a16:creationId xmlns:a16="http://schemas.microsoft.com/office/drawing/2014/main" id="{4768AB6C-6CE1-6FBD-FEEA-3D08B59A0168}"/>
              </a:ext>
            </a:extLst>
          </p:cNvPr>
          <p:cNvSpPr>
            <a:spLocks noChangeArrowheads="1"/>
          </p:cNvSpPr>
          <p:nvPr/>
        </p:nvSpPr>
        <p:spPr bwMode="auto">
          <a:xfrm>
            <a:off x="6754813" y="1303338"/>
            <a:ext cx="2011362" cy="54927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eaLnBrk="1" hangingPunct="1">
              <a:lnSpc>
                <a:spcPct val="100000"/>
              </a:lnSpc>
              <a:spcBef>
                <a:spcPct val="0"/>
              </a:spcBef>
            </a:pPr>
            <a:r>
              <a:rPr lang="en-US" altLang="ja-JP">
                <a:latin typeface="ＭＳ Ｐ明朝" panose="02020600040205080304" pitchFamily="18" charset="-128"/>
                <a:ea typeface="ＭＳ Ｐ明朝" panose="02020600040205080304" pitchFamily="18" charset="-128"/>
              </a:rPr>
              <a:t>■</a:t>
            </a:r>
            <a:r>
              <a:rPr lang="ja-JP" altLang="en-US">
                <a:latin typeface="ＭＳ Ｐ明朝" panose="02020600040205080304" pitchFamily="18" charset="-128"/>
                <a:ea typeface="ＭＳ Ｐ明朝" panose="02020600040205080304" pitchFamily="18" charset="-128"/>
              </a:rPr>
              <a:t>カストディ及びベンダー等の情報を精緻に分析しリバランス計画等に反映</a:t>
            </a:r>
          </a:p>
        </p:txBody>
      </p:sp>
      <p:sp>
        <p:nvSpPr>
          <p:cNvPr id="13" name="Line 1038">
            <a:extLst>
              <a:ext uri="{FF2B5EF4-FFF2-40B4-BE49-F238E27FC236}">
                <a16:creationId xmlns:a16="http://schemas.microsoft.com/office/drawing/2014/main" id="{ED1FF86D-CE1C-827F-693A-A7A32552D176}"/>
              </a:ext>
            </a:extLst>
          </p:cNvPr>
          <p:cNvSpPr>
            <a:spLocks noChangeShapeType="1"/>
          </p:cNvSpPr>
          <p:nvPr/>
        </p:nvSpPr>
        <p:spPr bwMode="auto">
          <a:xfrm rot="16133717" flipV="1">
            <a:off x="4716463" y="1077912"/>
            <a:ext cx="1588" cy="931863"/>
          </a:xfrm>
          <a:prstGeom prst="line">
            <a:avLst/>
          </a:prstGeom>
          <a:noFill/>
          <a:ln w="50800">
            <a:solidFill>
              <a:srgbClr val="000080"/>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50" charset="-128"/>
              <a:cs typeface="+mn-cs"/>
            </a:endParaRPr>
          </a:p>
        </p:txBody>
      </p:sp>
      <p:sp>
        <p:nvSpPr>
          <p:cNvPr id="14" name="Line 1039">
            <a:extLst>
              <a:ext uri="{FF2B5EF4-FFF2-40B4-BE49-F238E27FC236}">
                <a16:creationId xmlns:a16="http://schemas.microsoft.com/office/drawing/2014/main" id="{69D6FB73-59C1-A761-7C0A-2296C01795A4}"/>
              </a:ext>
            </a:extLst>
          </p:cNvPr>
          <p:cNvSpPr>
            <a:spLocks noChangeShapeType="1"/>
          </p:cNvSpPr>
          <p:nvPr/>
        </p:nvSpPr>
        <p:spPr bwMode="auto">
          <a:xfrm rot="16200000" flipH="1">
            <a:off x="3938587" y="1884363"/>
            <a:ext cx="684213" cy="1588"/>
          </a:xfrm>
          <a:prstGeom prst="line">
            <a:avLst/>
          </a:prstGeom>
          <a:noFill/>
          <a:ln w="50800">
            <a:solidFill>
              <a:srgbClr val="000080"/>
            </a:solidFill>
            <a:prstDash val="sysDot"/>
            <a:round/>
            <a:headEnd type="none" w="sm" len="sm"/>
            <a:tailEnd type="stealth" w="med" len="med"/>
          </a:ln>
          <a:extLst>
            <a:ext uri="{909E8E84-426E-40DD-AFC4-6F175D3DCCD1}">
              <a14:hiddenFill xmlns:a14="http://schemas.microsoft.com/office/drawing/2010/main">
                <a:noFill/>
              </a14:hiddenFill>
            </a:ext>
          </a:ex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50" charset="-128"/>
              <a:cs typeface="+mn-cs"/>
            </a:endParaRPr>
          </a:p>
        </p:txBody>
      </p:sp>
      <p:sp>
        <p:nvSpPr>
          <p:cNvPr id="15" name="Rectangle 1040">
            <a:extLst>
              <a:ext uri="{FF2B5EF4-FFF2-40B4-BE49-F238E27FC236}">
                <a16:creationId xmlns:a16="http://schemas.microsoft.com/office/drawing/2014/main" id="{08131EE9-CFD3-9D35-048E-D28D95296D96}"/>
              </a:ext>
            </a:extLst>
          </p:cNvPr>
          <p:cNvSpPr>
            <a:spLocks noChangeArrowheads="1"/>
          </p:cNvSpPr>
          <p:nvPr/>
        </p:nvSpPr>
        <p:spPr bwMode="auto">
          <a:xfrm>
            <a:off x="927100" y="4826000"/>
            <a:ext cx="36163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eaLnBrk="1" hangingPunct="1">
              <a:lnSpc>
                <a:spcPct val="100000"/>
              </a:lnSpc>
              <a:spcBef>
                <a:spcPct val="0"/>
              </a:spcBef>
            </a:pPr>
            <a:r>
              <a:rPr lang="en-US" altLang="ja-JP" sz="1200">
                <a:latin typeface="ＭＳ Ｐ明朝" panose="02020600040205080304" pitchFamily="18" charset="-128"/>
                <a:ea typeface="ＭＳ Ｐ明朝" panose="02020600040205080304" pitchFamily="18" charset="-128"/>
              </a:rPr>
              <a:t>■</a:t>
            </a:r>
            <a:r>
              <a:rPr lang="ja-JP" altLang="en-US" sz="1200">
                <a:latin typeface="ＭＳ Ｐ明朝" panose="02020600040205080304" pitchFamily="18" charset="-128"/>
                <a:ea typeface="ＭＳ Ｐ明朝" panose="02020600040205080304" pitchFamily="18" charset="-128"/>
              </a:rPr>
              <a:t>ﾌｧﾝﾄﾞﾏﾈｼﾞｬｰによるﾁｪｯｸ</a:t>
            </a:r>
          </a:p>
          <a:p>
            <a:pPr eaLnBrk="1" hangingPunct="1">
              <a:lnSpc>
                <a:spcPct val="100000"/>
              </a:lnSpc>
              <a:spcBef>
                <a:spcPct val="0"/>
              </a:spcBef>
            </a:pPr>
            <a:endParaRPr lang="ja-JP" altLang="en-US" sz="1200">
              <a:latin typeface="ＭＳ Ｐ明朝" panose="02020600040205080304" pitchFamily="18" charset="-128"/>
              <a:ea typeface="ＭＳ Ｐ明朝" panose="02020600040205080304" pitchFamily="18" charset="-128"/>
            </a:endParaRPr>
          </a:p>
          <a:p>
            <a:pPr eaLnBrk="1" hangingPunct="1">
              <a:lnSpc>
                <a:spcPct val="100000"/>
              </a:lnSpc>
              <a:spcBef>
                <a:spcPct val="0"/>
              </a:spcBef>
            </a:pPr>
            <a:r>
              <a:rPr lang="ja-JP" altLang="en-US" sz="1200">
                <a:latin typeface="ＭＳ Ｐ明朝" panose="02020600040205080304" pitchFamily="18" charset="-128"/>
                <a:ea typeface="ＭＳ Ｐ明朝" panose="02020600040205080304" pitchFamily="18" charset="-128"/>
              </a:rPr>
              <a:t>■ｺﾝﾌﾟﾗｲｱﾝｽ･ﾘｽｸ管理部門によるﾓﾆﾀｰ</a:t>
            </a:r>
          </a:p>
          <a:p>
            <a:pPr eaLnBrk="1" hangingPunct="1">
              <a:lnSpc>
                <a:spcPct val="100000"/>
              </a:lnSpc>
              <a:spcBef>
                <a:spcPct val="0"/>
              </a:spcBef>
            </a:pPr>
            <a:r>
              <a:rPr lang="ja-JP" altLang="en-US" sz="1200">
                <a:latin typeface="ＭＳ Ｐ明朝" panose="02020600040205080304" pitchFamily="18" charset="-128"/>
                <a:ea typeface="ＭＳ Ｐ明朝" panose="02020600040205080304" pitchFamily="18" charset="-128"/>
              </a:rPr>
              <a:t>   （ﾊﾟﾌｫｰﾏﾝｽ測定・要因分析、ﾘｽｸ管理項目ﾁｪｯｸ）</a:t>
            </a:r>
          </a:p>
        </p:txBody>
      </p:sp>
      <p:sp>
        <p:nvSpPr>
          <p:cNvPr id="16" name="Rectangle 1041">
            <a:extLst>
              <a:ext uri="{FF2B5EF4-FFF2-40B4-BE49-F238E27FC236}">
                <a16:creationId xmlns:a16="http://schemas.microsoft.com/office/drawing/2014/main" id="{9FC26915-9D43-A481-D5F6-839D3E686FAB}"/>
              </a:ext>
            </a:extLst>
          </p:cNvPr>
          <p:cNvSpPr>
            <a:spLocks noChangeArrowheads="1"/>
          </p:cNvSpPr>
          <p:nvPr/>
        </p:nvSpPr>
        <p:spPr bwMode="auto">
          <a:xfrm>
            <a:off x="828675" y="1562100"/>
            <a:ext cx="3079750" cy="15827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50" charset="-128"/>
              <a:cs typeface="+mn-cs"/>
            </a:endParaRPr>
          </a:p>
        </p:txBody>
      </p:sp>
      <p:sp>
        <p:nvSpPr>
          <p:cNvPr id="17" name="Text Box 1044">
            <a:extLst>
              <a:ext uri="{FF2B5EF4-FFF2-40B4-BE49-F238E27FC236}">
                <a16:creationId xmlns:a16="http://schemas.microsoft.com/office/drawing/2014/main" id="{1986A078-E2E7-5846-8884-6364E70438D5}"/>
              </a:ext>
            </a:extLst>
          </p:cNvPr>
          <p:cNvSpPr txBox="1">
            <a:spLocks noChangeArrowheads="1"/>
          </p:cNvSpPr>
          <p:nvPr/>
        </p:nvSpPr>
        <p:spPr bwMode="auto">
          <a:xfrm>
            <a:off x="4924425" y="2887663"/>
            <a:ext cx="163988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50" charset="-128"/>
                <a:cs typeface="+mn-cs"/>
              </a:rPr>
              <a:t>    ■</a:t>
            </a:r>
            <a:r>
              <a:rPr kumimoji="1" lang="ja-JP"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明朝" panose="02020600040205080304" pitchFamily="18" charset="-128"/>
                <a:cs typeface="+mn-cs"/>
              </a:rPr>
              <a:t>先物の活用</a:t>
            </a:r>
            <a:endParaRPr kumimoji="1" lang="ja-JP" altLang="en-US" sz="1600" b="1" i="0" u="none" strike="noStrike" kern="1200" cap="none" spc="0" normalizeH="0" baseline="0" noProof="0">
              <a:ln>
                <a:noFill/>
              </a:ln>
              <a:solidFill>
                <a:srgbClr val="000000"/>
              </a:solidFill>
              <a:effectLst/>
              <a:uLnTx/>
              <a:uFillTx/>
              <a:latin typeface="Times New Roman" panose="02020603050405020304" pitchFamily="18" charset="0"/>
              <a:ea typeface="ＭＳ Ｐ明朝" panose="02020600040205080304" pitchFamily="18" charset="-128"/>
              <a:cs typeface="+mn-cs"/>
            </a:endParaRPr>
          </a:p>
        </p:txBody>
      </p:sp>
      <p:sp>
        <p:nvSpPr>
          <p:cNvPr id="18" name="Line 1045">
            <a:extLst>
              <a:ext uri="{FF2B5EF4-FFF2-40B4-BE49-F238E27FC236}">
                <a16:creationId xmlns:a16="http://schemas.microsoft.com/office/drawing/2014/main" id="{9C08EE1A-B4CA-D5E1-7390-A73D1DFA4E77}"/>
              </a:ext>
            </a:extLst>
          </p:cNvPr>
          <p:cNvSpPr>
            <a:spLocks noChangeShapeType="1"/>
          </p:cNvSpPr>
          <p:nvPr/>
        </p:nvSpPr>
        <p:spPr bwMode="auto">
          <a:xfrm>
            <a:off x="8966200" y="2089150"/>
            <a:ext cx="0" cy="22336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50" charset="-128"/>
              <a:cs typeface="+mn-cs"/>
            </a:endParaRPr>
          </a:p>
        </p:txBody>
      </p:sp>
      <p:sp>
        <p:nvSpPr>
          <p:cNvPr id="19" name="Line 1046">
            <a:extLst>
              <a:ext uri="{FF2B5EF4-FFF2-40B4-BE49-F238E27FC236}">
                <a16:creationId xmlns:a16="http://schemas.microsoft.com/office/drawing/2014/main" id="{02B5ABD4-7DE7-E8E6-09F6-EAAB80DD22FF}"/>
              </a:ext>
            </a:extLst>
          </p:cNvPr>
          <p:cNvSpPr>
            <a:spLocks noChangeShapeType="1"/>
          </p:cNvSpPr>
          <p:nvPr/>
        </p:nvSpPr>
        <p:spPr bwMode="auto">
          <a:xfrm flipH="1">
            <a:off x="5083175" y="4322763"/>
            <a:ext cx="38655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50" charset="-128"/>
              <a:cs typeface="+mn-cs"/>
            </a:endParaRPr>
          </a:p>
        </p:txBody>
      </p:sp>
      <p:sp>
        <p:nvSpPr>
          <p:cNvPr id="20" name="Line 1047">
            <a:extLst>
              <a:ext uri="{FF2B5EF4-FFF2-40B4-BE49-F238E27FC236}">
                <a16:creationId xmlns:a16="http://schemas.microsoft.com/office/drawing/2014/main" id="{6A5600A2-7652-5B1E-E8EB-460889076B84}"/>
              </a:ext>
            </a:extLst>
          </p:cNvPr>
          <p:cNvSpPr>
            <a:spLocks noChangeShapeType="1"/>
          </p:cNvSpPr>
          <p:nvPr/>
        </p:nvSpPr>
        <p:spPr bwMode="auto">
          <a:xfrm>
            <a:off x="5083175" y="2089150"/>
            <a:ext cx="0" cy="22336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50" charset="-128"/>
              <a:cs typeface="+mn-cs"/>
            </a:endParaRPr>
          </a:p>
        </p:txBody>
      </p:sp>
      <p:sp>
        <p:nvSpPr>
          <p:cNvPr id="21" name="Line 1048">
            <a:extLst>
              <a:ext uri="{FF2B5EF4-FFF2-40B4-BE49-F238E27FC236}">
                <a16:creationId xmlns:a16="http://schemas.microsoft.com/office/drawing/2014/main" id="{B001722F-E4CC-1038-580A-EE0613D4154B}"/>
              </a:ext>
            </a:extLst>
          </p:cNvPr>
          <p:cNvSpPr>
            <a:spLocks noChangeShapeType="1"/>
          </p:cNvSpPr>
          <p:nvPr/>
        </p:nvSpPr>
        <p:spPr bwMode="auto">
          <a:xfrm>
            <a:off x="5083175" y="2089150"/>
            <a:ext cx="38655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50" charset="-128"/>
              <a:cs typeface="+mn-cs"/>
            </a:endParaRPr>
          </a:p>
        </p:txBody>
      </p:sp>
      <p:sp>
        <p:nvSpPr>
          <p:cNvPr id="22" name="Rectangle 1049">
            <a:extLst>
              <a:ext uri="{FF2B5EF4-FFF2-40B4-BE49-F238E27FC236}">
                <a16:creationId xmlns:a16="http://schemas.microsoft.com/office/drawing/2014/main" id="{98BA2739-7990-97AD-2BE9-11D3EF48C99E}"/>
              </a:ext>
            </a:extLst>
          </p:cNvPr>
          <p:cNvSpPr>
            <a:spLocks noChangeArrowheads="1"/>
          </p:cNvSpPr>
          <p:nvPr/>
        </p:nvSpPr>
        <p:spPr bwMode="auto">
          <a:xfrm>
            <a:off x="5267325" y="2641600"/>
            <a:ext cx="295116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eaLnBrk="1" hangingPunct="1">
              <a:lnSpc>
                <a:spcPct val="100000"/>
              </a:lnSpc>
              <a:spcBef>
                <a:spcPct val="0"/>
              </a:spcBef>
            </a:pPr>
            <a:r>
              <a:rPr lang="en-US" altLang="ja-JP" sz="1200">
                <a:latin typeface="ＭＳ Ｐゴシック" panose="020B0600070205080204" pitchFamily="50" charset="-128"/>
              </a:rPr>
              <a:t>■</a:t>
            </a:r>
            <a:r>
              <a:rPr lang="ja-JP" altLang="en-US" sz="1200">
                <a:latin typeface="ＭＳ Ｐ明朝" panose="02020600040205080304" pitchFamily="18" charset="-128"/>
                <a:ea typeface="ＭＳ Ｐ明朝" panose="02020600040205080304" pitchFamily="18" charset="-128"/>
              </a:rPr>
              <a:t>制約条件を設定して最適化</a:t>
            </a:r>
            <a:endParaRPr lang="ja-JP" altLang="en-US" sz="1400">
              <a:solidFill>
                <a:srgbClr val="0066FF"/>
              </a:solidFill>
              <a:latin typeface="ＭＳ Ｐゴシック" panose="020B0600070205080204" pitchFamily="50" charset="-128"/>
            </a:endParaRPr>
          </a:p>
        </p:txBody>
      </p:sp>
      <p:sp>
        <p:nvSpPr>
          <p:cNvPr id="23" name="Rectangle 1050">
            <a:extLst>
              <a:ext uri="{FF2B5EF4-FFF2-40B4-BE49-F238E27FC236}">
                <a16:creationId xmlns:a16="http://schemas.microsoft.com/office/drawing/2014/main" id="{B7E92AF8-8452-91C5-D68E-69281981778E}"/>
              </a:ext>
            </a:extLst>
          </p:cNvPr>
          <p:cNvSpPr>
            <a:spLocks noChangeArrowheads="1"/>
          </p:cNvSpPr>
          <p:nvPr/>
        </p:nvSpPr>
        <p:spPr bwMode="auto">
          <a:xfrm>
            <a:off x="6384925" y="3186113"/>
            <a:ext cx="1933575" cy="233362"/>
          </a:xfrm>
          <a:prstGeom prst="rect">
            <a:avLst/>
          </a:prstGeom>
          <a:solidFill>
            <a:srgbClr val="9999FF"/>
          </a:solidFill>
          <a:ln w="12700">
            <a:noFill/>
            <a:prstDash val="sysDot"/>
            <a:miter lim="800000"/>
            <a:headEnd/>
            <a:tailEnd/>
          </a:ln>
          <a:effec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ja-JP" sz="1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ＭＳ Ｐゴシック" panose="020B0600070205080204" pitchFamily="50" charset="-128"/>
                <a:cs typeface="+mn-cs"/>
              </a:rPr>
              <a:t>β</a:t>
            </a:r>
          </a:p>
        </p:txBody>
      </p:sp>
      <p:sp>
        <p:nvSpPr>
          <p:cNvPr id="24" name="Rectangle 1051">
            <a:extLst>
              <a:ext uri="{FF2B5EF4-FFF2-40B4-BE49-F238E27FC236}">
                <a16:creationId xmlns:a16="http://schemas.microsoft.com/office/drawing/2014/main" id="{5EEE6D49-42AB-0A6F-3ED0-9031A90BBF9C}"/>
              </a:ext>
            </a:extLst>
          </p:cNvPr>
          <p:cNvSpPr>
            <a:spLocks noChangeArrowheads="1"/>
          </p:cNvSpPr>
          <p:nvPr/>
        </p:nvSpPr>
        <p:spPr bwMode="auto">
          <a:xfrm>
            <a:off x="6389688" y="3552825"/>
            <a:ext cx="1933575" cy="233363"/>
          </a:xfrm>
          <a:prstGeom prst="rect">
            <a:avLst/>
          </a:prstGeom>
          <a:solidFill>
            <a:srgbClr val="9999FF"/>
          </a:solidFill>
          <a:ln w="12700">
            <a:noFill/>
            <a:prstDash val="sysDot"/>
            <a:miter lim="800000"/>
            <a:headEnd/>
            <a:tailEnd/>
          </a:ln>
          <a:effec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ja-JP" altLang="en-US" sz="1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ＭＳ Ｐゴシック" panose="020B0600070205080204" pitchFamily="50" charset="-128"/>
                <a:cs typeface="+mn-cs"/>
              </a:rPr>
              <a:t>国別構成比</a:t>
            </a:r>
            <a:endParaRPr kumimoji="1" lang="ja-JP" altLang="en-US" sz="16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ＭＳ Ｐゴシック" panose="020B0600070205080204" pitchFamily="50" charset="-128"/>
              <a:cs typeface="+mn-cs"/>
            </a:endParaRPr>
          </a:p>
        </p:txBody>
      </p:sp>
      <p:sp>
        <p:nvSpPr>
          <p:cNvPr id="25" name="Rectangle 1052">
            <a:extLst>
              <a:ext uri="{FF2B5EF4-FFF2-40B4-BE49-F238E27FC236}">
                <a16:creationId xmlns:a16="http://schemas.microsoft.com/office/drawing/2014/main" id="{AE38829A-A0F5-B91A-A9A6-73D8A9E9F992}"/>
              </a:ext>
            </a:extLst>
          </p:cNvPr>
          <p:cNvSpPr>
            <a:spLocks noChangeArrowheads="1"/>
          </p:cNvSpPr>
          <p:nvPr/>
        </p:nvSpPr>
        <p:spPr bwMode="auto">
          <a:xfrm>
            <a:off x="6389688" y="3902075"/>
            <a:ext cx="1933575" cy="233363"/>
          </a:xfrm>
          <a:prstGeom prst="rect">
            <a:avLst/>
          </a:prstGeom>
          <a:solidFill>
            <a:srgbClr val="9999FF"/>
          </a:solidFill>
          <a:ln w="12700">
            <a:noFill/>
            <a:prstDash val="sysDot"/>
            <a:miter lim="800000"/>
            <a:headEnd/>
            <a:tailEnd/>
          </a:ln>
          <a:effec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ja-JP" altLang="en-US" sz="1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ＭＳ Ｐゴシック" panose="020B0600070205080204" pitchFamily="50" charset="-128"/>
                <a:cs typeface="+mn-cs"/>
              </a:rPr>
              <a:t>業種構成比</a:t>
            </a:r>
          </a:p>
        </p:txBody>
      </p:sp>
      <p:sp>
        <p:nvSpPr>
          <p:cNvPr id="26" name="Rectangle 1054">
            <a:extLst>
              <a:ext uri="{FF2B5EF4-FFF2-40B4-BE49-F238E27FC236}">
                <a16:creationId xmlns:a16="http://schemas.microsoft.com/office/drawing/2014/main" id="{CC53A2C3-4062-2C60-61BD-73C4C2BADD78}"/>
              </a:ext>
            </a:extLst>
          </p:cNvPr>
          <p:cNvSpPr>
            <a:spLocks noChangeArrowheads="1"/>
          </p:cNvSpPr>
          <p:nvPr/>
        </p:nvSpPr>
        <p:spPr bwMode="auto">
          <a:xfrm>
            <a:off x="5838825" y="5232400"/>
            <a:ext cx="2743200"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algn="ctr" eaLnBrk="1" hangingPunct="1">
              <a:lnSpc>
                <a:spcPct val="115000"/>
              </a:lnSpc>
            </a:pPr>
            <a:r>
              <a:rPr lang="en-US" altLang="ja-JP" sz="1200">
                <a:latin typeface="ＭＳ Ｐゴシック" panose="020B0600070205080204" pitchFamily="50" charset="-128"/>
              </a:rPr>
              <a:t>■</a:t>
            </a:r>
            <a:r>
              <a:rPr lang="ja-JP" altLang="en-US" sz="1200">
                <a:latin typeface="ＭＳ Ｐ明朝" panose="02020600040205080304" pitchFamily="18" charset="-128"/>
                <a:ea typeface="ＭＳ Ｐ明朝" panose="02020600040205080304" pitchFamily="18" charset="-128"/>
              </a:rPr>
              <a:t>ﾄﾗｯｷﾝｸﾞｴﾗｰ抑制とﾍﾞﾝﾁﾏｰｸへ</a:t>
            </a:r>
          </a:p>
          <a:p>
            <a:pPr algn="ctr" eaLnBrk="1" hangingPunct="1">
              <a:lnSpc>
                <a:spcPct val="115000"/>
              </a:lnSpc>
            </a:pPr>
            <a:r>
              <a:rPr lang="ja-JP" altLang="en-US" sz="1200">
                <a:latin typeface="ＭＳ Ｐ明朝" panose="02020600040205080304" pitchFamily="18" charset="-128"/>
                <a:ea typeface="ＭＳ Ｐ明朝" panose="02020600040205080304" pitchFamily="18" charset="-128"/>
              </a:rPr>
              <a:t>の影響を勘案して執行方法を選定</a:t>
            </a:r>
            <a:endParaRPr lang="ja-JP" altLang="en-US" sz="1600" u="sng">
              <a:latin typeface="ＭＳ Ｐ明朝" panose="02020600040205080304" pitchFamily="18" charset="-128"/>
              <a:ea typeface="ＭＳ Ｐ明朝" panose="02020600040205080304" pitchFamily="18" charset="-128"/>
            </a:endParaRPr>
          </a:p>
        </p:txBody>
      </p:sp>
      <p:sp>
        <p:nvSpPr>
          <p:cNvPr id="27" name="Rectangle 1055">
            <a:extLst>
              <a:ext uri="{FF2B5EF4-FFF2-40B4-BE49-F238E27FC236}">
                <a16:creationId xmlns:a16="http://schemas.microsoft.com/office/drawing/2014/main" id="{E712D745-BC4B-B6FD-0410-DE8CFFAA3F19}"/>
              </a:ext>
            </a:extLst>
          </p:cNvPr>
          <p:cNvSpPr>
            <a:spLocks noChangeArrowheads="1"/>
          </p:cNvSpPr>
          <p:nvPr/>
        </p:nvSpPr>
        <p:spPr bwMode="auto">
          <a:xfrm>
            <a:off x="6105525" y="2222500"/>
            <a:ext cx="2286000" cy="381000"/>
          </a:xfrm>
          <a:prstGeom prst="rect">
            <a:avLst/>
          </a:prstGeom>
          <a:gradFill rotWithShape="0">
            <a:gsLst>
              <a:gs pos="0">
                <a:srgbClr val="FFFFFF"/>
              </a:gs>
              <a:gs pos="100000">
                <a:srgbClr val="0000FF"/>
              </a:gs>
            </a:gsLst>
            <a:path path="shape">
              <a:fillToRect l="50000" t="50000" r="50000" b="50000"/>
            </a:path>
          </a:gradFill>
          <a:ln w="9525">
            <a:noFill/>
            <a:miter lim="800000"/>
            <a:headEnd/>
            <a:tailEnd/>
          </a:ln>
          <a:effec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8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ＭＳ Ｐゴシック" panose="020B0600070205080204" pitchFamily="50" charset="-128"/>
                <a:cs typeface="+mn-cs"/>
              </a:rPr>
              <a:t>ポートフォリオ構築</a:t>
            </a:r>
            <a:endParaRPr kumimoji="1" lang="ja-JP" altLang="en-US" sz="1800" b="1"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50" charset="-128"/>
              <a:cs typeface="+mn-cs"/>
            </a:endParaRPr>
          </a:p>
        </p:txBody>
      </p:sp>
      <p:sp>
        <p:nvSpPr>
          <p:cNvPr id="28" name="Rectangle 1056">
            <a:extLst>
              <a:ext uri="{FF2B5EF4-FFF2-40B4-BE49-F238E27FC236}">
                <a16:creationId xmlns:a16="http://schemas.microsoft.com/office/drawing/2014/main" id="{BC7D6ADB-9C1A-AFEA-CDCF-2F8DCC8C70AE}"/>
              </a:ext>
            </a:extLst>
          </p:cNvPr>
          <p:cNvSpPr>
            <a:spLocks noChangeArrowheads="1"/>
          </p:cNvSpPr>
          <p:nvPr/>
        </p:nvSpPr>
        <p:spPr bwMode="auto">
          <a:xfrm>
            <a:off x="6092825" y="4864100"/>
            <a:ext cx="2286000" cy="381000"/>
          </a:xfrm>
          <a:prstGeom prst="rect">
            <a:avLst/>
          </a:prstGeom>
          <a:gradFill rotWithShape="0">
            <a:gsLst>
              <a:gs pos="0">
                <a:srgbClr val="FFFFFF"/>
              </a:gs>
              <a:gs pos="100000">
                <a:srgbClr val="0000FF"/>
              </a:gs>
            </a:gsLst>
            <a:path path="shape">
              <a:fillToRect l="50000" t="50000" r="50000" b="50000"/>
            </a:path>
          </a:gradFill>
          <a:ln w="9525">
            <a:noFill/>
            <a:miter lim="800000"/>
            <a:headEnd/>
            <a:tailEnd/>
          </a:ln>
          <a:effec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8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ＭＳ Ｐゴシック" panose="020B0600070205080204" pitchFamily="50" charset="-128"/>
                <a:cs typeface="+mn-cs"/>
              </a:rPr>
              <a:t>売買執行</a:t>
            </a:r>
            <a:endParaRPr kumimoji="1" lang="ja-JP" altLang="en-US" sz="1800" b="1"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50" charset="-128"/>
              <a:cs typeface="+mn-cs"/>
            </a:endParaRPr>
          </a:p>
        </p:txBody>
      </p:sp>
      <p:sp>
        <p:nvSpPr>
          <p:cNvPr id="29" name="Rectangle 1057">
            <a:extLst>
              <a:ext uri="{FF2B5EF4-FFF2-40B4-BE49-F238E27FC236}">
                <a16:creationId xmlns:a16="http://schemas.microsoft.com/office/drawing/2014/main" id="{4608B458-6CBD-8948-7324-33A4ED61536C}"/>
              </a:ext>
            </a:extLst>
          </p:cNvPr>
          <p:cNvSpPr>
            <a:spLocks noChangeArrowheads="1"/>
          </p:cNvSpPr>
          <p:nvPr/>
        </p:nvSpPr>
        <p:spPr bwMode="auto">
          <a:xfrm>
            <a:off x="1647825" y="4432300"/>
            <a:ext cx="2286000" cy="381000"/>
          </a:xfrm>
          <a:prstGeom prst="rect">
            <a:avLst/>
          </a:prstGeom>
          <a:gradFill rotWithShape="0">
            <a:gsLst>
              <a:gs pos="0">
                <a:srgbClr val="FFFFFF"/>
              </a:gs>
              <a:gs pos="100000">
                <a:srgbClr val="0000FF"/>
              </a:gs>
            </a:gsLst>
            <a:path path="shape">
              <a:fillToRect l="50000" t="50000" r="50000" b="50000"/>
            </a:path>
          </a:gradFill>
          <a:ln w="9525">
            <a:noFill/>
            <a:miter lim="800000"/>
            <a:headEnd/>
            <a:tailEnd/>
          </a:ln>
          <a:effec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8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ＭＳ Ｐゴシック" panose="020B0600070205080204" pitchFamily="50" charset="-128"/>
                <a:cs typeface="+mn-cs"/>
              </a:rPr>
              <a:t>リスク管理</a:t>
            </a:r>
            <a:endParaRPr kumimoji="1" lang="ja-JP" altLang="en-US" sz="1800" b="1"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50" charset="-128"/>
              <a:cs typeface="+mn-cs"/>
            </a:endParaRPr>
          </a:p>
        </p:txBody>
      </p:sp>
      <p:sp>
        <p:nvSpPr>
          <p:cNvPr id="30" name="Rectangle 1058">
            <a:extLst>
              <a:ext uri="{FF2B5EF4-FFF2-40B4-BE49-F238E27FC236}">
                <a16:creationId xmlns:a16="http://schemas.microsoft.com/office/drawing/2014/main" id="{59278E84-B433-CEBD-D0B7-17C2E200DB7E}"/>
              </a:ext>
            </a:extLst>
          </p:cNvPr>
          <p:cNvSpPr>
            <a:spLocks noChangeArrowheads="1"/>
          </p:cNvSpPr>
          <p:nvPr/>
        </p:nvSpPr>
        <p:spPr bwMode="auto">
          <a:xfrm>
            <a:off x="1292225" y="1803400"/>
            <a:ext cx="2286000" cy="381000"/>
          </a:xfrm>
          <a:prstGeom prst="rect">
            <a:avLst/>
          </a:prstGeom>
          <a:gradFill rotWithShape="0">
            <a:gsLst>
              <a:gs pos="0">
                <a:srgbClr val="FFFFFF"/>
              </a:gs>
              <a:gs pos="100000">
                <a:srgbClr val="0000FF"/>
              </a:gs>
            </a:gsLst>
            <a:path path="shape">
              <a:fillToRect l="50000" t="50000" r="50000" b="50000"/>
            </a:path>
          </a:gradFill>
          <a:ln w="9525">
            <a:noFill/>
            <a:miter lim="800000"/>
            <a:headEnd/>
            <a:tailEnd/>
          </a:ln>
          <a:effec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8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ＭＳ Ｐゴシック" panose="020B0600070205080204" pitchFamily="50" charset="-128"/>
                <a:cs typeface="+mn-cs"/>
              </a:rPr>
              <a:t>ベンチマーク管理</a:t>
            </a:r>
            <a:endParaRPr kumimoji="1" lang="ja-JP" altLang="en-US" sz="1800" b="1"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50" charset="-128"/>
              <a:cs typeface="+mn-cs"/>
            </a:endParaRPr>
          </a:p>
        </p:txBody>
      </p:sp>
    </p:spTree>
    <p:extLst>
      <p:ext uri="{BB962C8B-B14F-4D97-AF65-F5344CB8AC3E}">
        <p14:creationId xmlns:p14="http://schemas.microsoft.com/office/powerpoint/2010/main" val="12059722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FF15D-557B-4C33-9E5D-3AF00C8FABE9}"/>
              </a:ext>
            </a:extLst>
          </p:cNvPr>
          <p:cNvSpPr>
            <a:spLocks noGrp="1"/>
          </p:cNvSpPr>
          <p:nvPr>
            <p:ph type="title"/>
          </p:nvPr>
        </p:nvSpPr>
        <p:spPr/>
        <p:txBody>
          <a:bodyPr/>
          <a:lstStyle/>
          <a:p>
            <a:r>
              <a:rPr lang="ja-JP" altLang="en-US"/>
              <a:t>レンディング業務 ～ スキーム例</a:t>
            </a:r>
            <a:endParaRPr kumimoji="1" lang="ja-JP" altLang="en-US"/>
          </a:p>
        </p:txBody>
      </p:sp>
      <p:sp>
        <p:nvSpPr>
          <p:cNvPr id="91" name="Rectangle 3074">
            <a:extLst>
              <a:ext uri="{FF2B5EF4-FFF2-40B4-BE49-F238E27FC236}">
                <a16:creationId xmlns:a16="http://schemas.microsoft.com/office/drawing/2014/main" id="{204E17D8-772E-6DB7-8ED6-6F94FF6AF62F}"/>
              </a:ext>
            </a:extLst>
          </p:cNvPr>
          <p:cNvSpPr>
            <a:spLocks noChangeArrowheads="1"/>
          </p:cNvSpPr>
          <p:nvPr/>
        </p:nvSpPr>
        <p:spPr bwMode="auto">
          <a:xfrm>
            <a:off x="928682" y="1545628"/>
            <a:ext cx="493725" cy="4225683"/>
          </a:xfrm>
          <a:prstGeom prst="rect">
            <a:avLst/>
          </a:prstGeom>
          <a:solidFill>
            <a:srgbClr val="FFD2DA"/>
          </a:solidFill>
          <a:ln w="12700">
            <a:solidFill>
              <a:schemeClr val="tx1"/>
            </a:solidFill>
            <a:miter lim="800000"/>
            <a:headEnd/>
            <a:tailEnd/>
          </a:ln>
        </p:spPr>
        <p:txBody>
          <a:bodyPr vert="eaVert" wrap="square" lIns="92075" tIns="46038" rIns="92075" bIns="46038">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algn="ctr" eaLnBrk="1" hangingPunct="1">
              <a:lnSpc>
                <a:spcPct val="100000"/>
              </a:lnSpc>
            </a:pPr>
            <a:r>
              <a:rPr lang="ja-JP" altLang="en-US" sz="2000" b="1"/>
              <a:t>委託者</a:t>
            </a:r>
          </a:p>
        </p:txBody>
      </p:sp>
      <p:sp>
        <p:nvSpPr>
          <p:cNvPr id="93" name="Line 3076">
            <a:extLst>
              <a:ext uri="{FF2B5EF4-FFF2-40B4-BE49-F238E27FC236}">
                <a16:creationId xmlns:a16="http://schemas.microsoft.com/office/drawing/2014/main" id="{EAF77AC0-BBCD-4834-FD89-42FEFD205373}"/>
              </a:ext>
            </a:extLst>
          </p:cNvPr>
          <p:cNvSpPr>
            <a:spLocks noChangeShapeType="1"/>
          </p:cNvSpPr>
          <p:nvPr/>
        </p:nvSpPr>
        <p:spPr bwMode="auto">
          <a:xfrm>
            <a:off x="1552028" y="3358705"/>
            <a:ext cx="935523" cy="0"/>
          </a:xfrm>
          <a:prstGeom prst="line">
            <a:avLst/>
          </a:prstGeom>
          <a:noFill/>
          <a:ln w="12700">
            <a:solidFill>
              <a:schemeClr val="tx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endParaRPr lang="ja-JP" altLang="en-US"/>
          </a:p>
        </p:txBody>
      </p:sp>
      <p:sp>
        <p:nvSpPr>
          <p:cNvPr id="94" name="Line 3077">
            <a:extLst>
              <a:ext uri="{FF2B5EF4-FFF2-40B4-BE49-F238E27FC236}">
                <a16:creationId xmlns:a16="http://schemas.microsoft.com/office/drawing/2014/main" id="{2439E22A-D1C8-AAEC-4767-D05092B10B7A}"/>
              </a:ext>
            </a:extLst>
          </p:cNvPr>
          <p:cNvSpPr>
            <a:spLocks noChangeShapeType="1"/>
          </p:cNvSpPr>
          <p:nvPr/>
        </p:nvSpPr>
        <p:spPr bwMode="auto">
          <a:xfrm>
            <a:off x="1552028" y="4485996"/>
            <a:ext cx="935523" cy="0"/>
          </a:xfrm>
          <a:prstGeom prst="line">
            <a:avLst/>
          </a:prstGeom>
          <a:noFill/>
          <a:ln w="12700">
            <a:solidFill>
              <a:schemeClr val="tx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endParaRPr lang="ja-JP" altLang="en-US"/>
          </a:p>
        </p:txBody>
      </p:sp>
      <p:sp>
        <p:nvSpPr>
          <p:cNvPr id="95" name="Rectangle 3078">
            <a:extLst>
              <a:ext uri="{FF2B5EF4-FFF2-40B4-BE49-F238E27FC236}">
                <a16:creationId xmlns:a16="http://schemas.microsoft.com/office/drawing/2014/main" id="{8B2138B4-C411-E18D-AF8A-5A0AEEBDD5EB}"/>
              </a:ext>
            </a:extLst>
          </p:cNvPr>
          <p:cNvSpPr>
            <a:spLocks noChangeArrowheads="1"/>
          </p:cNvSpPr>
          <p:nvPr/>
        </p:nvSpPr>
        <p:spPr bwMode="auto">
          <a:xfrm>
            <a:off x="1552028" y="3040411"/>
            <a:ext cx="1096716" cy="26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eaLnBrk="1" hangingPunct="1">
              <a:lnSpc>
                <a:spcPct val="100000"/>
              </a:lnSpc>
            </a:pPr>
            <a:r>
              <a:rPr lang="en-US" altLang="ja-JP" sz="900"/>
              <a:t>  </a:t>
            </a:r>
            <a:r>
              <a:rPr lang="ja-JP" altLang="en-US" sz="900"/>
              <a:t>信託契約</a:t>
            </a:r>
          </a:p>
        </p:txBody>
      </p:sp>
      <p:sp>
        <p:nvSpPr>
          <p:cNvPr id="96" name="Rectangle 3079">
            <a:extLst>
              <a:ext uri="{FF2B5EF4-FFF2-40B4-BE49-F238E27FC236}">
                <a16:creationId xmlns:a16="http://schemas.microsoft.com/office/drawing/2014/main" id="{0701D154-7478-6856-1C16-28187EEA2B3C}"/>
              </a:ext>
            </a:extLst>
          </p:cNvPr>
          <p:cNvSpPr>
            <a:spLocks noChangeArrowheads="1"/>
          </p:cNvSpPr>
          <p:nvPr/>
        </p:nvSpPr>
        <p:spPr bwMode="auto">
          <a:xfrm>
            <a:off x="1552028" y="4114652"/>
            <a:ext cx="1016873" cy="26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eaLnBrk="1" hangingPunct="1">
              <a:lnSpc>
                <a:spcPct val="100000"/>
              </a:lnSpc>
            </a:pPr>
            <a:r>
              <a:rPr lang="en-US" altLang="ja-JP" sz="900"/>
              <a:t> </a:t>
            </a:r>
            <a:r>
              <a:rPr lang="ja-JP" altLang="en-US" sz="900"/>
              <a:t>３者間覚書締結</a:t>
            </a:r>
          </a:p>
        </p:txBody>
      </p:sp>
      <p:sp>
        <p:nvSpPr>
          <p:cNvPr id="97" name="Rectangle 3080">
            <a:extLst>
              <a:ext uri="{FF2B5EF4-FFF2-40B4-BE49-F238E27FC236}">
                <a16:creationId xmlns:a16="http://schemas.microsoft.com/office/drawing/2014/main" id="{2B6D7B12-DAD9-D34B-EAA9-98AA3EC5C03F}"/>
              </a:ext>
            </a:extLst>
          </p:cNvPr>
          <p:cNvSpPr>
            <a:spLocks noChangeArrowheads="1"/>
          </p:cNvSpPr>
          <p:nvPr/>
        </p:nvSpPr>
        <p:spPr bwMode="auto">
          <a:xfrm>
            <a:off x="8548267" y="1545628"/>
            <a:ext cx="501657" cy="1956180"/>
          </a:xfrm>
          <a:prstGeom prst="rect">
            <a:avLst/>
          </a:prstGeom>
          <a:solidFill>
            <a:srgbClr val="FFFF99"/>
          </a:solidFill>
          <a:ln w="12700">
            <a:solidFill>
              <a:schemeClr val="tx1"/>
            </a:solidFill>
            <a:miter lim="800000"/>
            <a:headEnd/>
            <a:tailEnd/>
          </a:ln>
        </p:spPr>
        <p:txBody>
          <a:bodyPr vert="eaVert" lIns="92075" tIns="46038" rIns="92075" bIns="46038">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eaLnBrk="1" hangingPunct="1">
              <a:lnSpc>
                <a:spcPct val="100000"/>
              </a:lnSpc>
            </a:pPr>
            <a:r>
              <a:rPr lang="ja-JP" altLang="en-US" sz="2000" b="1"/>
              <a:t>国内証券会社等</a:t>
            </a:r>
          </a:p>
        </p:txBody>
      </p:sp>
      <p:sp>
        <p:nvSpPr>
          <p:cNvPr id="98" name="Rectangle 3081">
            <a:extLst>
              <a:ext uri="{FF2B5EF4-FFF2-40B4-BE49-F238E27FC236}">
                <a16:creationId xmlns:a16="http://schemas.microsoft.com/office/drawing/2014/main" id="{ED434029-BADB-4388-A8A2-9625721F0FE0}"/>
              </a:ext>
            </a:extLst>
          </p:cNvPr>
          <p:cNvSpPr>
            <a:spLocks noChangeArrowheads="1"/>
          </p:cNvSpPr>
          <p:nvPr/>
        </p:nvSpPr>
        <p:spPr bwMode="auto">
          <a:xfrm>
            <a:off x="8555799" y="3791386"/>
            <a:ext cx="501657" cy="1956180"/>
          </a:xfrm>
          <a:prstGeom prst="rect">
            <a:avLst/>
          </a:prstGeom>
          <a:solidFill>
            <a:srgbClr val="FFFF99"/>
          </a:solidFill>
          <a:ln w="12700">
            <a:solidFill>
              <a:schemeClr val="tx1"/>
            </a:solidFill>
            <a:miter lim="800000"/>
            <a:headEnd/>
            <a:tailEnd/>
          </a:ln>
        </p:spPr>
        <p:txBody>
          <a:bodyPr vert="eaVert" lIns="92075" tIns="46038" rIns="92075" bIns="46038">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eaLnBrk="1" hangingPunct="1">
              <a:lnSpc>
                <a:spcPct val="100000"/>
              </a:lnSpc>
            </a:pPr>
            <a:r>
              <a:rPr lang="ja-JP" altLang="en-US" sz="2000" b="1"/>
              <a:t>海外証券会社等</a:t>
            </a:r>
          </a:p>
        </p:txBody>
      </p:sp>
      <p:grpSp>
        <p:nvGrpSpPr>
          <p:cNvPr id="134" name="グループ化 133">
            <a:extLst>
              <a:ext uri="{FF2B5EF4-FFF2-40B4-BE49-F238E27FC236}">
                <a16:creationId xmlns:a16="http://schemas.microsoft.com/office/drawing/2014/main" id="{98BC1C5D-8F54-5145-FEEC-DDE640DA6BE1}"/>
              </a:ext>
            </a:extLst>
          </p:cNvPr>
          <p:cNvGrpSpPr/>
          <p:nvPr/>
        </p:nvGrpSpPr>
        <p:grpSpPr>
          <a:xfrm>
            <a:off x="5544130" y="2026940"/>
            <a:ext cx="2793246" cy="1114028"/>
            <a:chOff x="5544130" y="2026940"/>
            <a:chExt cx="2350105" cy="1114028"/>
          </a:xfrm>
        </p:grpSpPr>
        <p:sp>
          <p:nvSpPr>
            <p:cNvPr id="99" name="Line 3082">
              <a:extLst>
                <a:ext uri="{FF2B5EF4-FFF2-40B4-BE49-F238E27FC236}">
                  <a16:creationId xmlns:a16="http://schemas.microsoft.com/office/drawing/2014/main" id="{27DDAFB9-6200-D42E-DBAF-D9985F216D10}"/>
                </a:ext>
              </a:extLst>
            </p:cNvPr>
            <p:cNvSpPr>
              <a:spLocks noChangeShapeType="1"/>
            </p:cNvSpPr>
            <p:nvPr/>
          </p:nvSpPr>
          <p:spPr bwMode="auto">
            <a:xfrm>
              <a:off x="5544130" y="2026940"/>
              <a:ext cx="2350105"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endParaRPr lang="ja-JP" altLang="en-US"/>
            </a:p>
          </p:txBody>
        </p:sp>
        <p:sp>
          <p:nvSpPr>
            <p:cNvPr id="100" name="Line 3083">
              <a:extLst>
                <a:ext uri="{FF2B5EF4-FFF2-40B4-BE49-F238E27FC236}">
                  <a16:creationId xmlns:a16="http://schemas.microsoft.com/office/drawing/2014/main" id="{85E40994-BA71-E20C-D3C1-174E85A7C0AB}"/>
                </a:ext>
              </a:extLst>
            </p:cNvPr>
            <p:cNvSpPr>
              <a:spLocks noChangeShapeType="1"/>
            </p:cNvSpPr>
            <p:nvPr/>
          </p:nvSpPr>
          <p:spPr bwMode="auto">
            <a:xfrm>
              <a:off x="5544130" y="2583953"/>
              <a:ext cx="2350105" cy="0"/>
            </a:xfrm>
            <a:prstGeom prst="line">
              <a:avLst/>
            </a:prstGeom>
            <a:noFill/>
            <a:ln w="12700">
              <a:solidFill>
                <a:schemeClr val="tx1"/>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endParaRPr lang="ja-JP" altLang="en-US"/>
            </a:p>
          </p:txBody>
        </p:sp>
        <p:sp>
          <p:nvSpPr>
            <p:cNvPr id="101" name="Line 3084">
              <a:extLst>
                <a:ext uri="{FF2B5EF4-FFF2-40B4-BE49-F238E27FC236}">
                  <a16:creationId xmlns:a16="http://schemas.microsoft.com/office/drawing/2014/main" id="{21702A49-94FE-07ED-0C50-AD6EDF3049F5}"/>
                </a:ext>
              </a:extLst>
            </p:cNvPr>
            <p:cNvSpPr>
              <a:spLocks noChangeShapeType="1"/>
            </p:cNvSpPr>
            <p:nvPr/>
          </p:nvSpPr>
          <p:spPr bwMode="auto">
            <a:xfrm>
              <a:off x="5544130" y="3140968"/>
              <a:ext cx="2350105" cy="0"/>
            </a:xfrm>
            <a:prstGeom prst="line">
              <a:avLst/>
            </a:prstGeom>
            <a:noFill/>
            <a:ln w="12700">
              <a:solidFill>
                <a:schemeClr val="tx1"/>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endParaRPr lang="ja-JP" altLang="en-US"/>
            </a:p>
          </p:txBody>
        </p:sp>
      </p:grpSp>
      <p:sp>
        <p:nvSpPr>
          <p:cNvPr id="104" name="Line 3087">
            <a:extLst>
              <a:ext uri="{FF2B5EF4-FFF2-40B4-BE49-F238E27FC236}">
                <a16:creationId xmlns:a16="http://schemas.microsoft.com/office/drawing/2014/main" id="{2193D3FC-E02A-5E76-B4B0-B6BF8D3B0E9F}"/>
              </a:ext>
            </a:extLst>
          </p:cNvPr>
          <p:cNvSpPr>
            <a:spLocks noChangeShapeType="1"/>
          </p:cNvSpPr>
          <p:nvPr/>
        </p:nvSpPr>
        <p:spPr bwMode="auto">
          <a:xfrm flipH="1">
            <a:off x="7328020" y="4782323"/>
            <a:ext cx="1096716"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endParaRPr lang="ja-JP" altLang="en-US"/>
          </a:p>
        </p:txBody>
      </p:sp>
      <p:grpSp>
        <p:nvGrpSpPr>
          <p:cNvPr id="135" name="グループ化 134">
            <a:extLst>
              <a:ext uri="{FF2B5EF4-FFF2-40B4-BE49-F238E27FC236}">
                <a16:creationId xmlns:a16="http://schemas.microsoft.com/office/drawing/2014/main" id="{D2D33BB3-4292-3272-C424-492F13D680D8}"/>
              </a:ext>
            </a:extLst>
          </p:cNvPr>
          <p:cNvGrpSpPr/>
          <p:nvPr/>
        </p:nvGrpSpPr>
        <p:grpSpPr>
          <a:xfrm>
            <a:off x="5616121" y="4505473"/>
            <a:ext cx="955727" cy="795735"/>
            <a:chOff x="5616121" y="4505473"/>
            <a:chExt cx="626695" cy="795735"/>
          </a:xfrm>
        </p:grpSpPr>
        <p:sp>
          <p:nvSpPr>
            <p:cNvPr id="103" name="Line 3086">
              <a:extLst>
                <a:ext uri="{FF2B5EF4-FFF2-40B4-BE49-F238E27FC236}">
                  <a16:creationId xmlns:a16="http://schemas.microsoft.com/office/drawing/2014/main" id="{510CABED-2BBA-33BD-E4F1-E80EF614390E}"/>
                </a:ext>
              </a:extLst>
            </p:cNvPr>
            <p:cNvSpPr>
              <a:spLocks noChangeShapeType="1"/>
            </p:cNvSpPr>
            <p:nvPr/>
          </p:nvSpPr>
          <p:spPr bwMode="auto">
            <a:xfrm>
              <a:off x="5616121" y="4505473"/>
              <a:ext cx="626695" cy="0"/>
            </a:xfrm>
            <a:prstGeom prst="line">
              <a:avLst/>
            </a:prstGeom>
            <a:noFill/>
            <a:ln w="12700">
              <a:solidFill>
                <a:schemeClr val="tx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endParaRPr lang="ja-JP" altLang="en-US"/>
            </a:p>
          </p:txBody>
        </p:sp>
        <p:sp>
          <p:nvSpPr>
            <p:cNvPr id="105" name="Line 3088">
              <a:extLst>
                <a:ext uri="{FF2B5EF4-FFF2-40B4-BE49-F238E27FC236}">
                  <a16:creationId xmlns:a16="http://schemas.microsoft.com/office/drawing/2014/main" id="{C92F013E-45A5-3BD1-7E64-A668F6586991}"/>
                </a:ext>
              </a:extLst>
            </p:cNvPr>
            <p:cNvSpPr>
              <a:spLocks noChangeShapeType="1"/>
            </p:cNvSpPr>
            <p:nvPr/>
          </p:nvSpPr>
          <p:spPr bwMode="auto">
            <a:xfrm flipH="1">
              <a:off x="5616121" y="5301208"/>
              <a:ext cx="626695"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endParaRPr lang="ja-JP" altLang="en-US"/>
            </a:p>
          </p:txBody>
        </p:sp>
      </p:grpSp>
      <p:sp>
        <p:nvSpPr>
          <p:cNvPr id="106" name="Line 3089">
            <a:extLst>
              <a:ext uri="{FF2B5EF4-FFF2-40B4-BE49-F238E27FC236}">
                <a16:creationId xmlns:a16="http://schemas.microsoft.com/office/drawing/2014/main" id="{946876F9-8D1D-93DA-2A12-80DFCD5449D9}"/>
              </a:ext>
            </a:extLst>
          </p:cNvPr>
          <p:cNvSpPr>
            <a:spLocks noChangeShapeType="1"/>
          </p:cNvSpPr>
          <p:nvPr/>
        </p:nvSpPr>
        <p:spPr bwMode="auto">
          <a:xfrm>
            <a:off x="7332539" y="4304882"/>
            <a:ext cx="1092196"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endParaRPr lang="ja-JP" altLang="en-US"/>
          </a:p>
        </p:txBody>
      </p:sp>
      <p:sp>
        <p:nvSpPr>
          <p:cNvPr id="107" name="Line 3090">
            <a:extLst>
              <a:ext uri="{FF2B5EF4-FFF2-40B4-BE49-F238E27FC236}">
                <a16:creationId xmlns:a16="http://schemas.microsoft.com/office/drawing/2014/main" id="{F8709571-499F-F5EF-820A-4420221FFA61}"/>
              </a:ext>
            </a:extLst>
          </p:cNvPr>
          <p:cNvSpPr>
            <a:spLocks noChangeShapeType="1"/>
          </p:cNvSpPr>
          <p:nvPr/>
        </p:nvSpPr>
        <p:spPr bwMode="auto">
          <a:xfrm flipH="1">
            <a:off x="7332538" y="5259764"/>
            <a:ext cx="1092197"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endParaRPr lang="ja-JP" altLang="en-US"/>
          </a:p>
        </p:txBody>
      </p:sp>
      <p:sp>
        <p:nvSpPr>
          <p:cNvPr id="108" name="Rectangle 3091">
            <a:extLst>
              <a:ext uri="{FF2B5EF4-FFF2-40B4-BE49-F238E27FC236}">
                <a16:creationId xmlns:a16="http://schemas.microsoft.com/office/drawing/2014/main" id="{601A32B5-74B4-CCF6-CFBC-EB75E6F802C2}"/>
              </a:ext>
            </a:extLst>
          </p:cNvPr>
          <p:cNvSpPr>
            <a:spLocks noChangeArrowheads="1"/>
          </p:cNvSpPr>
          <p:nvPr/>
        </p:nvSpPr>
        <p:spPr bwMode="auto">
          <a:xfrm>
            <a:off x="6501594" y="2265660"/>
            <a:ext cx="1331726" cy="278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eaLnBrk="1" hangingPunct="1">
              <a:lnSpc>
                <a:spcPct val="100000"/>
              </a:lnSpc>
            </a:pPr>
            <a:r>
              <a:rPr lang="ja-JP" altLang="en-US"/>
              <a:t>　　　担保</a:t>
            </a:r>
          </a:p>
        </p:txBody>
      </p:sp>
      <p:sp>
        <p:nvSpPr>
          <p:cNvPr id="109" name="Rectangle 3092">
            <a:extLst>
              <a:ext uri="{FF2B5EF4-FFF2-40B4-BE49-F238E27FC236}">
                <a16:creationId xmlns:a16="http://schemas.microsoft.com/office/drawing/2014/main" id="{82574FA2-8899-8E92-B9D7-835A03427608}"/>
              </a:ext>
            </a:extLst>
          </p:cNvPr>
          <p:cNvSpPr>
            <a:spLocks noChangeArrowheads="1"/>
          </p:cNvSpPr>
          <p:nvPr/>
        </p:nvSpPr>
        <p:spPr bwMode="auto">
          <a:xfrm>
            <a:off x="6501594" y="1708646"/>
            <a:ext cx="1331726" cy="278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eaLnBrk="1" hangingPunct="1">
              <a:lnSpc>
                <a:spcPct val="100000"/>
              </a:lnSpc>
            </a:pPr>
            <a:r>
              <a:rPr lang="ja-JP" altLang="en-US"/>
              <a:t>有価証券貸出</a:t>
            </a:r>
          </a:p>
        </p:txBody>
      </p:sp>
      <p:sp>
        <p:nvSpPr>
          <p:cNvPr id="110" name="Rectangle 3093">
            <a:extLst>
              <a:ext uri="{FF2B5EF4-FFF2-40B4-BE49-F238E27FC236}">
                <a16:creationId xmlns:a16="http://schemas.microsoft.com/office/drawing/2014/main" id="{7745994D-A5D5-0CE0-7D30-C8304D87CC54}"/>
              </a:ext>
            </a:extLst>
          </p:cNvPr>
          <p:cNvSpPr>
            <a:spLocks noChangeArrowheads="1"/>
          </p:cNvSpPr>
          <p:nvPr/>
        </p:nvSpPr>
        <p:spPr bwMode="auto">
          <a:xfrm>
            <a:off x="6423257" y="2822674"/>
            <a:ext cx="1331726" cy="278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eaLnBrk="1" hangingPunct="1">
              <a:lnSpc>
                <a:spcPct val="100000"/>
              </a:lnSpc>
            </a:pPr>
            <a:r>
              <a:rPr lang="ja-JP" altLang="en-US"/>
              <a:t>　　　貸借料</a:t>
            </a:r>
          </a:p>
        </p:txBody>
      </p:sp>
      <p:sp>
        <p:nvSpPr>
          <p:cNvPr id="111" name="Rectangle 3094">
            <a:extLst>
              <a:ext uri="{FF2B5EF4-FFF2-40B4-BE49-F238E27FC236}">
                <a16:creationId xmlns:a16="http://schemas.microsoft.com/office/drawing/2014/main" id="{29ED399C-688D-818B-544B-D6824CA9193A}"/>
              </a:ext>
            </a:extLst>
          </p:cNvPr>
          <p:cNvSpPr>
            <a:spLocks noChangeArrowheads="1"/>
          </p:cNvSpPr>
          <p:nvPr/>
        </p:nvSpPr>
        <p:spPr bwMode="auto">
          <a:xfrm>
            <a:off x="5616386" y="4110933"/>
            <a:ext cx="1352838" cy="24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eaLnBrk="1" hangingPunct="1">
              <a:lnSpc>
                <a:spcPct val="100000"/>
              </a:lnSpc>
            </a:pPr>
            <a:r>
              <a:rPr lang="ja-JP" altLang="en-US"/>
              <a:t>貸出代理契約</a:t>
            </a:r>
          </a:p>
        </p:txBody>
      </p:sp>
      <p:sp>
        <p:nvSpPr>
          <p:cNvPr id="112" name="Rectangle 3095">
            <a:extLst>
              <a:ext uri="{FF2B5EF4-FFF2-40B4-BE49-F238E27FC236}">
                <a16:creationId xmlns:a16="http://schemas.microsoft.com/office/drawing/2014/main" id="{128DC9F5-9823-1BE4-FD3F-AB6CD8911C3B}"/>
              </a:ext>
            </a:extLst>
          </p:cNvPr>
          <p:cNvSpPr>
            <a:spLocks noChangeArrowheads="1"/>
          </p:cNvSpPr>
          <p:nvPr/>
        </p:nvSpPr>
        <p:spPr bwMode="auto">
          <a:xfrm>
            <a:off x="5637476" y="4984580"/>
            <a:ext cx="1142006" cy="24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eaLnBrk="1" hangingPunct="1">
              <a:lnSpc>
                <a:spcPct val="100000"/>
              </a:lnSpc>
            </a:pPr>
            <a:r>
              <a:rPr lang="ja-JP" altLang="en-US"/>
              <a:t>　貸借料</a:t>
            </a:r>
          </a:p>
        </p:txBody>
      </p:sp>
      <p:sp>
        <p:nvSpPr>
          <p:cNvPr id="113" name="Rectangle 3096">
            <a:extLst>
              <a:ext uri="{FF2B5EF4-FFF2-40B4-BE49-F238E27FC236}">
                <a16:creationId xmlns:a16="http://schemas.microsoft.com/office/drawing/2014/main" id="{EE5E94F9-08BF-21DF-15A9-E78996681135}"/>
              </a:ext>
            </a:extLst>
          </p:cNvPr>
          <p:cNvSpPr>
            <a:spLocks noChangeArrowheads="1"/>
          </p:cNvSpPr>
          <p:nvPr/>
        </p:nvSpPr>
        <p:spPr bwMode="auto">
          <a:xfrm>
            <a:off x="7406356" y="4545260"/>
            <a:ext cx="1331726" cy="278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eaLnBrk="1" hangingPunct="1">
              <a:lnSpc>
                <a:spcPct val="100000"/>
              </a:lnSpc>
            </a:pPr>
            <a:r>
              <a:rPr lang="ja-JP" altLang="en-US"/>
              <a:t>　　　担保</a:t>
            </a:r>
          </a:p>
        </p:txBody>
      </p:sp>
      <p:sp>
        <p:nvSpPr>
          <p:cNvPr id="114" name="Rectangle 3097">
            <a:extLst>
              <a:ext uri="{FF2B5EF4-FFF2-40B4-BE49-F238E27FC236}">
                <a16:creationId xmlns:a16="http://schemas.microsoft.com/office/drawing/2014/main" id="{8F4DE061-4905-16BA-84B8-3FBE1EC60085}"/>
              </a:ext>
            </a:extLst>
          </p:cNvPr>
          <p:cNvSpPr>
            <a:spLocks noChangeArrowheads="1"/>
          </p:cNvSpPr>
          <p:nvPr/>
        </p:nvSpPr>
        <p:spPr bwMode="auto">
          <a:xfrm>
            <a:off x="7326513" y="5022701"/>
            <a:ext cx="1333233" cy="278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eaLnBrk="1" hangingPunct="1">
              <a:lnSpc>
                <a:spcPct val="100000"/>
              </a:lnSpc>
            </a:pPr>
            <a:r>
              <a:rPr lang="ja-JP" altLang="en-US"/>
              <a:t>　　　貸借料</a:t>
            </a:r>
          </a:p>
        </p:txBody>
      </p:sp>
      <p:sp>
        <p:nvSpPr>
          <p:cNvPr id="115" name="Rectangle 3098">
            <a:extLst>
              <a:ext uri="{FF2B5EF4-FFF2-40B4-BE49-F238E27FC236}">
                <a16:creationId xmlns:a16="http://schemas.microsoft.com/office/drawing/2014/main" id="{8EAA30BE-704B-5967-2557-9FAF1C5B2746}"/>
              </a:ext>
            </a:extLst>
          </p:cNvPr>
          <p:cNvSpPr>
            <a:spLocks noChangeArrowheads="1"/>
          </p:cNvSpPr>
          <p:nvPr/>
        </p:nvSpPr>
        <p:spPr bwMode="auto">
          <a:xfrm>
            <a:off x="7326513" y="3986589"/>
            <a:ext cx="1333233" cy="280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eaLnBrk="1" hangingPunct="1">
              <a:lnSpc>
                <a:spcPct val="100000"/>
              </a:lnSpc>
            </a:pPr>
            <a:r>
              <a:rPr lang="ja-JP" altLang="en-US"/>
              <a:t>有価証券貸出</a:t>
            </a:r>
          </a:p>
        </p:txBody>
      </p:sp>
      <p:sp>
        <p:nvSpPr>
          <p:cNvPr id="117" name="Line 3101">
            <a:extLst>
              <a:ext uri="{FF2B5EF4-FFF2-40B4-BE49-F238E27FC236}">
                <a16:creationId xmlns:a16="http://schemas.microsoft.com/office/drawing/2014/main" id="{A6527F75-70DD-7688-D424-8B1D696CE7E0}"/>
              </a:ext>
            </a:extLst>
          </p:cNvPr>
          <p:cNvSpPr>
            <a:spLocks noChangeShapeType="1"/>
          </p:cNvSpPr>
          <p:nvPr/>
        </p:nvSpPr>
        <p:spPr bwMode="auto">
          <a:xfrm>
            <a:off x="3358557" y="4485996"/>
            <a:ext cx="857186" cy="0"/>
          </a:xfrm>
          <a:prstGeom prst="line">
            <a:avLst/>
          </a:prstGeom>
          <a:noFill/>
          <a:ln w="12700">
            <a:solidFill>
              <a:schemeClr val="tx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endParaRPr lang="ja-JP" altLang="en-US"/>
          </a:p>
        </p:txBody>
      </p:sp>
      <p:sp>
        <p:nvSpPr>
          <p:cNvPr id="118" name="Rectangle 3102">
            <a:extLst>
              <a:ext uri="{FF2B5EF4-FFF2-40B4-BE49-F238E27FC236}">
                <a16:creationId xmlns:a16="http://schemas.microsoft.com/office/drawing/2014/main" id="{A001FD8E-5877-61A5-4092-F0B7D7369964}"/>
              </a:ext>
            </a:extLst>
          </p:cNvPr>
          <p:cNvSpPr>
            <a:spLocks noChangeArrowheads="1"/>
          </p:cNvSpPr>
          <p:nvPr/>
        </p:nvSpPr>
        <p:spPr bwMode="auto">
          <a:xfrm>
            <a:off x="3280220" y="4088128"/>
            <a:ext cx="1018379" cy="26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eaLnBrk="1" hangingPunct="1">
              <a:lnSpc>
                <a:spcPct val="100000"/>
              </a:lnSpc>
            </a:pPr>
            <a:r>
              <a:rPr lang="ja-JP" altLang="en-US" sz="900"/>
              <a:t>３者間覚書締結</a:t>
            </a:r>
          </a:p>
        </p:txBody>
      </p:sp>
      <p:sp>
        <p:nvSpPr>
          <p:cNvPr id="119" name="Line 3103">
            <a:extLst>
              <a:ext uri="{FF2B5EF4-FFF2-40B4-BE49-F238E27FC236}">
                <a16:creationId xmlns:a16="http://schemas.microsoft.com/office/drawing/2014/main" id="{4D1D3FB6-E1F8-46B2-E8A1-F37FB1D18B73}"/>
              </a:ext>
            </a:extLst>
          </p:cNvPr>
          <p:cNvSpPr>
            <a:spLocks noChangeShapeType="1"/>
          </p:cNvSpPr>
          <p:nvPr/>
        </p:nvSpPr>
        <p:spPr bwMode="auto">
          <a:xfrm>
            <a:off x="3358557" y="3371968"/>
            <a:ext cx="857186" cy="0"/>
          </a:xfrm>
          <a:prstGeom prst="line">
            <a:avLst/>
          </a:prstGeom>
          <a:noFill/>
          <a:ln w="12700">
            <a:solidFill>
              <a:schemeClr val="tx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endParaRPr lang="ja-JP" altLang="en-US"/>
          </a:p>
        </p:txBody>
      </p:sp>
      <p:sp>
        <p:nvSpPr>
          <p:cNvPr id="120" name="Rectangle 3104">
            <a:extLst>
              <a:ext uri="{FF2B5EF4-FFF2-40B4-BE49-F238E27FC236}">
                <a16:creationId xmlns:a16="http://schemas.microsoft.com/office/drawing/2014/main" id="{263039B5-33DD-4291-B902-CBC0933F5D0B}"/>
              </a:ext>
            </a:extLst>
          </p:cNvPr>
          <p:cNvSpPr>
            <a:spLocks noChangeArrowheads="1"/>
          </p:cNvSpPr>
          <p:nvPr/>
        </p:nvSpPr>
        <p:spPr bwMode="auto">
          <a:xfrm>
            <a:off x="3280220" y="3053674"/>
            <a:ext cx="940042" cy="26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eaLnBrk="1" hangingPunct="1">
              <a:lnSpc>
                <a:spcPct val="100000"/>
              </a:lnSpc>
            </a:pPr>
            <a:r>
              <a:rPr lang="en-US" altLang="ja-JP" sz="900"/>
              <a:t>   </a:t>
            </a:r>
            <a:r>
              <a:rPr lang="ja-JP" altLang="en-US" sz="900"/>
              <a:t>再信託契約</a:t>
            </a:r>
          </a:p>
        </p:txBody>
      </p:sp>
      <p:sp>
        <p:nvSpPr>
          <p:cNvPr id="122" name="Line 3106">
            <a:extLst>
              <a:ext uri="{FF2B5EF4-FFF2-40B4-BE49-F238E27FC236}">
                <a16:creationId xmlns:a16="http://schemas.microsoft.com/office/drawing/2014/main" id="{6C9B6001-6CB5-3885-AC76-CD8EAF74B87D}"/>
              </a:ext>
            </a:extLst>
          </p:cNvPr>
          <p:cNvSpPr>
            <a:spLocks noChangeShapeType="1"/>
          </p:cNvSpPr>
          <p:nvPr/>
        </p:nvSpPr>
        <p:spPr bwMode="auto">
          <a:xfrm>
            <a:off x="1552028" y="3862670"/>
            <a:ext cx="935523" cy="0"/>
          </a:xfrm>
          <a:prstGeom prst="line">
            <a:avLst/>
          </a:prstGeom>
          <a:noFill/>
          <a:ln w="12700">
            <a:solidFill>
              <a:schemeClr val="tx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endParaRPr lang="ja-JP" altLang="en-US"/>
          </a:p>
        </p:txBody>
      </p:sp>
      <p:sp>
        <p:nvSpPr>
          <p:cNvPr id="123" name="Rectangle 3107">
            <a:extLst>
              <a:ext uri="{FF2B5EF4-FFF2-40B4-BE49-F238E27FC236}">
                <a16:creationId xmlns:a16="http://schemas.microsoft.com/office/drawing/2014/main" id="{A5E10607-82EF-61DC-CDEB-CD5E42D9348A}"/>
              </a:ext>
            </a:extLst>
          </p:cNvPr>
          <p:cNvSpPr>
            <a:spLocks noChangeArrowheads="1"/>
          </p:cNvSpPr>
          <p:nvPr/>
        </p:nvSpPr>
        <p:spPr bwMode="auto">
          <a:xfrm>
            <a:off x="1552028" y="3531114"/>
            <a:ext cx="1096716" cy="26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eaLnBrk="1" hangingPunct="1">
              <a:lnSpc>
                <a:spcPct val="100000"/>
              </a:lnSpc>
            </a:pPr>
            <a:r>
              <a:rPr lang="en-US" altLang="ja-JP" sz="900"/>
              <a:t>  </a:t>
            </a:r>
            <a:r>
              <a:rPr lang="ja-JP" altLang="en-US" sz="900"/>
              <a:t>３者間協定書</a:t>
            </a:r>
          </a:p>
        </p:txBody>
      </p:sp>
      <p:sp>
        <p:nvSpPr>
          <p:cNvPr id="124" name="Line 3108">
            <a:extLst>
              <a:ext uri="{FF2B5EF4-FFF2-40B4-BE49-F238E27FC236}">
                <a16:creationId xmlns:a16="http://schemas.microsoft.com/office/drawing/2014/main" id="{641F8F35-225E-A202-88B7-5A510B2664DE}"/>
              </a:ext>
            </a:extLst>
          </p:cNvPr>
          <p:cNvSpPr>
            <a:spLocks noChangeShapeType="1"/>
          </p:cNvSpPr>
          <p:nvPr/>
        </p:nvSpPr>
        <p:spPr bwMode="auto">
          <a:xfrm>
            <a:off x="3358557" y="3862670"/>
            <a:ext cx="857186" cy="0"/>
          </a:xfrm>
          <a:prstGeom prst="line">
            <a:avLst/>
          </a:prstGeom>
          <a:noFill/>
          <a:ln w="12700">
            <a:solidFill>
              <a:schemeClr val="tx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endParaRPr lang="ja-JP" altLang="en-US"/>
          </a:p>
        </p:txBody>
      </p:sp>
      <p:sp>
        <p:nvSpPr>
          <p:cNvPr id="125" name="Rectangle 3109">
            <a:extLst>
              <a:ext uri="{FF2B5EF4-FFF2-40B4-BE49-F238E27FC236}">
                <a16:creationId xmlns:a16="http://schemas.microsoft.com/office/drawing/2014/main" id="{7DF54404-548F-4EEA-A2E1-47578B40E67D}"/>
              </a:ext>
            </a:extLst>
          </p:cNvPr>
          <p:cNvSpPr>
            <a:spLocks noChangeArrowheads="1"/>
          </p:cNvSpPr>
          <p:nvPr/>
        </p:nvSpPr>
        <p:spPr bwMode="auto">
          <a:xfrm>
            <a:off x="3280220" y="3531115"/>
            <a:ext cx="1096716" cy="26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eaLnBrk="1" hangingPunct="1">
              <a:lnSpc>
                <a:spcPct val="100000"/>
              </a:lnSpc>
            </a:pPr>
            <a:r>
              <a:rPr lang="en-US" altLang="ja-JP" sz="900"/>
              <a:t>  </a:t>
            </a:r>
            <a:r>
              <a:rPr lang="ja-JP" altLang="en-US" sz="900"/>
              <a:t>３者間協定書</a:t>
            </a:r>
          </a:p>
        </p:txBody>
      </p:sp>
      <p:sp>
        <p:nvSpPr>
          <p:cNvPr id="126" name="Text Box 3110">
            <a:extLst>
              <a:ext uri="{FF2B5EF4-FFF2-40B4-BE49-F238E27FC236}">
                <a16:creationId xmlns:a16="http://schemas.microsoft.com/office/drawing/2014/main" id="{E1CDF494-BA09-CA1E-0F98-AEEE627BBE7C}"/>
              </a:ext>
            </a:extLst>
          </p:cNvPr>
          <p:cNvSpPr txBox="1">
            <a:spLocks noChangeArrowheads="1"/>
          </p:cNvSpPr>
          <p:nvPr/>
        </p:nvSpPr>
        <p:spPr bwMode="auto">
          <a:xfrm>
            <a:off x="5094955" y="3815132"/>
            <a:ext cx="369332" cy="195618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vert="eaVert" wrap="square">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algn="ctr" eaLnBrk="1" hangingPunct="1">
              <a:lnSpc>
                <a:spcPct val="100000"/>
              </a:lnSpc>
              <a:spcBef>
                <a:spcPct val="0"/>
              </a:spcBef>
            </a:pPr>
            <a:r>
              <a:rPr lang="ja-JP" altLang="en-US" sz="1200"/>
              <a:t>外国債・ 外国株</a:t>
            </a:r>
            <a:endParaRPr lang="ja-JP" altLang="en-US" sz="2400"/>
          </a:p>
        </p:txBody>
      </p:sp>
      <p:sp>
        <p:nvSpPr>
          <p:cNvPr id="128" name="Text Box 3113">
            <a:extLst>
              <a:ext uri="{FF2B5EF4-FFF2-40B4-BE49-F238E27FC236}">
                <a16:creationId xmlns:a16="http://schemas.microsoft.com/office/drawing/2014/main" id="{A71FB663-0687-07B8-38A4-43BAEC903168}"/>
              </a:ext>
            </a:extLst>
          </p:cNvPr>
          <p:cNvSpPr txBox="1">
            <a:spLocks noChangeArrowheads="1"/>
          </p:cNvSpPr>
          <p:nvPr/>
        </p:nvSpPr>
        <p:spPr bwMode="auto">
          <a:xfrm>
            <a:off x="4370762" y="1545628"/>
            <a:ext cx="492443" cy="4225683"/>
          </a:xfrm>
          <a:prstGeom prst="rect">
            <a:avLst/>
          </a:prstGeom>
          <a:solidFill>
            <a:schemeClr val="accent4">
              <a:lumMod val="60000"/>
              <a:lumOff val="40000"/>
            </a:schemeClr>
          </a:solidFill>
          <a:ln w="38100">
            <a:solidFill>
              <a:srgbClr val="FF0000"/>
            </a:solidFill>
            <a:miter lim="800000"/>
            <a:headEnd/>
            <a:tailEnd/>
          </a:ln>
        </p:spPr>
        <p:txBody>
          <a:bodyPr vert="eaVert" wrap="square">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algn="ctr" eaLnBrk="1" hangingPunct="1">
              <a:lnSpc>
                <a:spcPct val="100000"/>
              </a:lnSpc>
            </a:pPr>
            <a:r>
              <a:rPr lang="ja-JP" altLang="en-US" sz="2000" b="1"/>
              <a:t>カストディ</a:t>
            </a:r>
          </a:p>
        </p:txBody>
      </p:sp>
      <p:sp>
        <p:nvSpPr>
          <p:cNvPr id="130" name="Text Box 3116">
            <a:extLst>
              <a:ext uri="{FF2B5EF4-FFF2-40B4-BE49-F238E27FC236}">
                <a16:creationId xmlns:a16="http://schemas.microsoft.com/office/drawing/2014/main" id="{54C0E6AA-D165-AC7E-9ECC-E2876BD2C581}"/>
              </a:ext>
            </a:extLst>
          </p:cNvPr>
          <p:cNvSpPr txBox="1">
            <a:spLocks noChangeArrowheads="1"/>
          </p:cNvSpPr>
          <p:nvPr/>
        </p:nvSpPr>
        <p:spPr bwMode="auto">
          <a:xfrm>
            <a:off x="5073864" y="1545628"/>
            <a:ext cx="369332" cy="195618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vert="eaVert" wrap="square">
            <a:spAutoFit/>
          </a:bodyPr>
          <a:lstStyle>
            <a:defPPr>
              <a:defRPr lang="ja-JP"/>
            </a:defPPr>
            <a:lvl1pPr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fontAlgn="base">
              <a:lnSpc>
                <a:spcPct val="120000"/>
              </a:lnSpc>
              <a:spcBef>
                <a:spcPct val="50000"/>
              </a:spcBef>
              <a:spcAft>
                <a:spcPct val="0"/>
              </a:spcAft>
              <a:defRPr kumimoji="1" sz="10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ＭＳ Ｐゴシック" panose="020B0600070205080204" pitchFamily="50" charset="-128"/>
                <a:cs typeface="+mn-cs"/>
              </a:defRPr>
            </a:lvl9pPr>
          </a:lstStyle>
          <a:p>
            <a:pPr algn="ctr" eaLnBrk="1" hangingPunct="1">
              <a:lnSpc>
                <a:spcPct val="100000"/>
              </a:lnSpc>
              <a:spcBef>
                <a:spcPct val="0"/>
              </a:spcBef>
            </a:pPr>
            <a:r>
              <a:rPr lang="ja-JP" altLang="en-US" sz="1200"/>
              <a:t>国内債・ 国内株</a:t>
            </a:r>
            <a:endParaRPr lang="ja-JP" altLang="en-US" sz="2400"/>
          </a:p>
        </p:txBody>
      </p:sp>
      <p:sp>
        <p:nvSpPr>
          <p:cNvPr id="131" name="正方形/長方形 130">
            <a:extLst>
              <a:ext uri="{FF2B5EF4-FFF2-40B4-BE49-F238E27FC236}">
                <a16:creationId xmlns:a16="http://schemas.microsoft.com/office/drawing/2014/main" id="{FB7CD16B-7574-CE45-D649-090FA43D8DAE}"/>
              </a:ext>
            </a:extLst>
          </p:cNvPr>
          <p:cNvSpPr/>
          <p:nvPr/>
        </p:nvSpPr>
        <p:spPr bwMode="auto">
          <a:xfrm>
            <a:off x="2650363" y="1487607"/>
            <a:ext cx="492443" cy="4283705"/>
          </a:xfrm>
          <a:prstGeom prst="rect">
            <a:avLst/>
          </a:prstGeom>
          <a:solidFill>
            <a:schemeClr val="accent4">
              <a:lumMod val="75000"/>
            </a:schemeClr>
          </a:solidFill>
          <a:ln w="12700">
            <a:solidFill>
              <a:schemeClr val="tx1"/>
            </a:solidFill>
            <a:miter lim="800000"/>
            <a:headEnd/>
            <a:tailEnd/>
          </a:ln>
          <a:effectLst/>
        </p:spPr>
        <p:txBody>
          <a:bodyPr rot="0" spcFirstLastPara="0" vertOverflow="overflow" horzOverflow="overflow" vert="eaVert" wrap="none" lIns="61350" tIns="61350" rIns="61350" bIns="61350" numCol="1" spcCol="0" rtlCol="0" fromWordArt="0" anchor="ctr" anchorCtr="0" forceAA="0" compatLnSpc="1">
            <a:prstTxWarp prst="textNoShape">
              <a:avLst/>
            </a:prstTxWarp>
            <a:noAutofit/>
          </a:bodyPr>
          <a:lstStyle/>
          <a:p>
            <a:pPr algn="ctr" defTabSz="844083" fontAlgn="auto">
              <a:spcBef>
                <a:spcPts val="0"/>
              </a:spcBef>
              <a:spcAft>
                <a:spcPts val="256"/>
              </a:spcAft>
              <a:tabLst>
                <a:tab pos="225907" algn="l"/>
              </a:tabLst>
            </a:pPr>
            <a:r>
              <a:rPr kumimoji="1" lang="ja-JP" altLang="en-US" sz="2000" kern="0">
                <a:latin typeface="ＭＳ Ｐゴシック" panose="020B0600070205080204" pitchFamily="50" charset="-128"/>
                <a:ea typeface="ＭＳ Ｐゴシック" panose="020B0600070205080204" pitchFamily="50" charset="-128"/>
              </a:rPr>
              <a:t>運用会社</a:t>
            </a:r>
          </a:p>
        </p:txBody>
      </p:sp>
      <p:sp>
        <p:nvSpPr>
          <p:cNvPr id="133" name="正方形/長方形 132">
            <a:extLst>
              <a:ext uri="{FF2B5EF4-FFF2-40B4-BE49-F238E27FC236}">
                <a16:creationId xmlns:a16="http://schemas.microsoft.com/office/drawing/2014/main" id="{460002A6-4469-914A-2603-C9898651B463}"/>
              </a:ext>
            </a:extLst>
          </p:cNvPr>
          <p:cNvSpPr/>
          <p:nvPr/>
        </p:nvSpPr>
        <p:spPr bwMode="auto">
          <a:xfrm>
            <a:off x="6727111" y="3791386"/>
            <a:ext cx="492443" cy="1956180"/>
          </a:xfrm>
          <a:prstGeom prst="rect">
            <a:avLst/>
          </a:prstGeom>
          <a:solidFill>
            <a:schemeClr val="accent4">
              <a:lumMod val="20000"/>
              <a:lumOff val="80000"/>
            </a:schemeClr>
          </a:solidFill>
          <a:ln w="12700">
            <a:solidFill>
              <a:schemeClr val="tx1"/>
            </a:solidFill>
            <a:miter lim="800000"/>
            <a:headEnd/>
            <a:tailEnd/>
          </a:ln>
          <a:effectLst/>
        </p:spPr>
        <p:txBody>
          <a:bodyPr rot="0" spcFirstLastPara="0" vertOverflow="overflow" horzOverflow="overflow" vert="eaVert" wrap="none" lIns="61350" tIns="61350" rIns="61350" bIns="61350" numCol="1" spcCol="0" rtlCol="0" fromWordArt="0" anchor="ctr" anchorCtr="0" forceAA="0" compatLnSpc="1">
            <a:prstTxWarp prst="textNoShape">
              <a:avLst/>
            </a:prstTxWarp>
            <a:noAutofit/>
          </a:bodyPr>
          <a:lstStyle/>
          <a:p>
            <a:pPr algn="ctr" defTabSz="844083" fontAlgn="auto">
              <a:spcBef>
                <a:spcPts val="0"/>
              </a:spcBef>
              <a:spcAft>
                <a:spcPts val="256"/>
              </a:spcAft>
              <a:tabLst>
                <a:tab pos="225907" algn="l"/>
              </a:tabLst>
            </a:pPr>
            <a:r>
              <a:rPr kumimoji="1" lang="ja-JP" altLang="en-US" sz="2000" kern="0">
                <a:latin typeface="ＭＳ Ｐゴシック" panose="020B0600070205080204" pitchFamily="50" charset="-128"/>
                <a:ea typeface="ＭＳ Ｐゴシック" panose="020B0600070205080204" pitchFamily="50" charset="-128"/>
              </a:rPr>
              <a:t>海外カストディ</a:t>
            </a:r>
          </a:p>
        </p:txBody>
      </p:sp>
    </p:spTree>
    <p:extLst>
      <p:ext uri="{BB962C8B-B14F-4D97-AF65-F5344CB8AC3E}">
        <p14:creationId xmlns:p14="http://schemas.microsoft.com/office/powerpoint/2010/main" val="535596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FF15D-557B-4C33-9E5D-3AF00C8FABE9}"/>
              </a:ext>
            </a:extLst>
          </p:cNvPr>
          <p:cNvSpPr>
            <a:spLocks noGrp="1"/>
          </p:cNvSpPr>
          <p:nvPr>
            <p:ph type="title"/>
          </p:nvPr>
        </p:nvSpPr>
        <p:spPr/>
        <p:txBody>
          <a:bodyPr/>
          <a:lstStyle/>
          <a:p>
            <a:r>
              <a:rPr lang="ja-JP" altLang="en-US"/>
              <a:t>受託状況 ～ </a:t>
            </a:r>
            <a:r>
              <a:rPr lang="en-US" altLang="ja-JP"/>
              <a:t>MTBJ</a:t>
            </a:r>
            <a:r>
              <a:rPr lang="ja-JP" altLang="en-US"/>
              <a:t>の例</a:t>
            </a:r>
            <a:endParaRPr kumimoji="1" lang="ja-JP" altLang="en-US"/>
          </a:p>
        </p:txBody>
      </p:sp>
      <p:pic>
        <p:nvPicPr>
          <p:cNvPr id="3" name="図 2">
            <a:extLst>
              <a:ext uri="{FF2B5EF4-FFF2-40B4-BE49-F238E27FC236}">
                <a16:creationId xmlns:a16="http://schemas.microsoft.com/office/drawing/2014/main" id="{83CE20A2-65B4-A255-9D33-4A2F3B19CCA1}"/>
              </a:ext>
            </a:extLst>
          </p:cNvPr>
          <p:cNvPicPr>
            <a:picLocks noChangeAspect="1"/>
          </p:cNvPicPr>
          <p:nvPr/>
        </p:nvPicPr>
        <p:blipFill>
          <a:blip r:embed="rId2"/>
          <a:stretch>
            <a:fillRect/>
          </a:stretch>
        </p:blipFill>
        <p:spPr>
          <a:xfrm>
            <a:off x="200472" y="1470019"/>
            <a:ext cx="9662658" cy="4509240"/>
          </a:xfrm>
          <a:prstGeom prst="rect">
            <a:avLst/>
          </a:prstGeom>
        </p:spPr>
      </p:pic>
    </p:spTree>
    <p:extLst>
      <p:ext uri="{BB962C8B-B14F-4D97-AF65-F5344CB8AC3E}">
        <p14:creationId xmlns:p14="http://schemas.microsoft.com/office/powerpoint/2010/main" val="3042544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FF15D-557B-4C33-9E5D-3AF00C8FABE9}"/>
              </a:ext>
            </a:extLst>
          </p:cNvPr>
          <p:cNvSpPr>
            <a:spLocks noGrp="1"/>
          </p:cNvSpPr>
          <p:nvPr>
            <p:ph type="title"/>
          </p:nvPr>
        </p:nvSpPr>
        <p:spPr/>
        <p:txBody>
          <a:bodyPr/>
          <a:lstStyle/>
          <a:p>
            <a:r>
              <a:rPr lang="en-US" altLang="ja-JP"/>
              <a:t>MTBJ</a:t>
            </a:r>
            <a:r>
              <a:rPr lang="ja-JP" altLang="en-US"/>
              <a:t>組織</a:t>
            </a:r>
            <a:endParaRPr kumimoji="1" lang="ja-JP" altLang="en-US"/>
          </a:p>
        </p:txBody>
      </p:sp>
      <p:pic>
        <p:nvPicPr>
          <p:cNvPr id="8" name="図 7">
            <a:extLst>
              <a:ext uri="{FF2B5EF4-FFF2-40B4-BE49-F238E27FC236}">
                <a16:creationId xmlns:a16="http://schemas.microsoft.com/office/drawing/2014/main" id="{08E941D9-7FAC-6935-2A1E-90397577A012}"/>
              </a:ext>
            </a:extLst>
          </p:cNvPr>
          <p:cNvPicPr>
            <a:picLocks noChangeAspect="1"/>
          </p:cNvPicPr>
          <p:nvPr/>
        </p:nvPicPr>
        <p:blipFill>
          <a:blip r:embed="rId2"/>
          <a:stretch>
            <a:fillRect/>
          </a:stretch>
        </p:blipFill>
        <p:spPr>
          <a:xfrm>
            <a:off x="920552" y="988930"/>
            <a:ext cx="7776864" cy="5761543"/>
          </a:xfrm>
          <a:prstGeom prst="rect">
            <a:avLst/>
          </a:prstGeom>
        </p:spPr>
      </p:pic>
    </p:spTree>
    <p:extLst>
      <p:ext uri="{BB962C8B-B14F-4D97-AF65-F5344CB8AC3E}">
        <p14:creationId xmlns:p14="http://schemas.microsoft.com/office/powerpoint/2010/main" val="16730061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CCENTFARBEEXIST" val="0"/>
  <p:tag name="VERSION" val="V8.0"/>
  <p:tag name="VORLAGE" val="QPT_Molecules"/>
  <p:tag name="GROESSE" val="Standard"/>
  <p:tag name="THINKCELLPRESENTATIONDONOTDELETE" val="&lt;?xml version=&quot;1.0&quot; encoding=&quot;UTF-16&quot; standalone=&quot;yes&quot;?&gt;&lt;root reqver=&quot;24162&quot;&gt;&lt;version val=&quot;26946&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7&quot;&gt;&lt;elem m_fUsage=&quot;1.61289674648100023191E+00&quot;&gt;&lt;m_msothmcolidx val=&quot;0&quot;/&gt;&lt;m_rgb r=&quot;FF&quot; g=&quot;BF&quot; b=&quot;C9&quot;/&gt;&lt;m_nBrightness tagver0=&quot;26206&quot; tagname0=&quot;m_nBrightnessUNRECOGNIZED&quot; val=&quot;0&quot;/&gt;&lt;/elem&gt;&lt;elem m_fUsage=&quot;1.46609999999999995879E+00&quot;&gt;&lt;m_msothmcolidx val=&quot;0&quot;/&gt;&lt;m_rgb r=&quot;DD&quot; g=&quot;45&quot; b=&quot;14&quot;/&gt;&lt;m_nBrightness tagver0=&quot;26206&quot; tagname0=&quot;m_nBrightnessUNRECOGNIZED&quot; val=&quot;0&quot;/&gt;&lt;/elem&gt;&lt;elem m_fUsage=&quot;1.31949000000000005173E+00&quot;&gt;&lt;m_msothmcolidx val=&quot;0&quot;/&gt;&lt;m_rgb r=&quot;77&quot; g=&quot;AA&quot; b=&quot;9A&quot;/&gt;&lt;m_nBrightness tagver0=&quot;26206&quot; tagname0=&quot;m_nBrightnessUNRECOGNIZED&quot; val=&quot;0&quot;/&gt;&lt;/elem&gt;&lt;elem m_fUsage=&quot;1.04990952519000013687E+00&quot;&gt;&lt;m_msothmcolidx val=&quot;0&quot;/&gt;&lt;m_rgb r=&quot;FF&quot; g=&quot;3E&quot; b=&quot;5C&quot;/&gt;&lt;m_nBrightness tagver0=&quot;26206&quot; tagname0=&quot;m_nBrightnessUNRECOGNIZED&quot; val=&quot;0&quot;/&gt;&lt;/elem&gt;&lt;elem m_fUsage=&quot;1.00000000000000000000E+00&quot;&gt;&lt;m_msothmcolidx val=&quot;0&quot;/&gt;&lt;m_rgb r=&quot;BD&quot; g=&quot;BD&quot; b=&quot;BD&quot;/&gt;&lt;m_nBrightness tagver0=&quot;26206&quot; tagname0=&quot;m_nBrightnessUNRECOGNIZED&quot; val=&quot;0&quot;/&gt;&lt;/elem&gt;&lt;elem m_fUsage=&quot;5.31441000000000163261E-01&quot;&gt;&lt;m_msothmcolidx val=&quot;0&quot;/&gt;&lt;m_rgb r=&quot;00&quot; g=&quot;33&quot; b=&quot;44&quot;/&gt;&lt;m_nBrightness tagver0=&quot;26206&quot; tagname0=&quot;m_nBrightnessUNRECOGNIZED&quot; val=&quot;0&quot;/&gt;&lt;/elem&gt;&lt;elem m_fUsage=&quot;4.78296900000000135833E-01&quot;&gt;&lt;m_msothmcolidx val=&quot;0&quot;/&gt;&lt;m_rgb r=&quot;FF&quot; g=&quot;66&quot; b=&quot;66&quot;/&gt;&lt;m_nBrightness tagver0=&quot;26206&quot; tagname0=&quot;m_nBrightnessUNRECOGNIZED&quot; val=&quot;0&quot;/&gt;&lt;/elem&gt;&lt;/m_vecMRU&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WpODuZIoQK.hr2jMuwJyH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wDr4ixuKRjGFD0LGT0M89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WpODuZIoQK.hr2jMuwJyH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wDr4ixuKRjGFD0LGT0M89w"/>
</p:tagLst>
</file>

<file path=ppt/theme/theme1.xml><?xml version="1.0" encoding="utf-8"?>
<a:theme xmlns:a="http://schemas.openxmlformats.org/drawingml/2006/main" name="Acc_Strategy_template 4-3">
  <a:themeElements>
    <a:clrScheme name="FSテンプレート">
      <a:dk1>
        <a:sysClr val="windowText" lastClr="000000"/>
      </a:dk1>
      <a:lt1>
        <a:sysClr val="window" lastClr="FFFFFF"/>
      </a:lt1>
      <a:dk2>
        <a:srgbClr val="44546A"/>
      </a:dk2>
      <a:lt2>
        <a:srgbClr val="D9D9D9"/>
      </a:lt2>
      <a:accent1>
        <a:srgbClr val="460073"/>
      </a:accent1>
      <a:accent2>
        <a:srgbClr val="A100FF"/>
      </a:accent2>
      <a:accent3>
        <a:srgbClr val="008EFF"/>
      </a:accent3>
      <a:accent4>
        <a:srgbClr val="8BE1FF"/>
      </a:accent4>
      <a:accent5>
        <a:srgbClr val="5A5A5A"/>
      </a:accent5>
      <a:accent6>
        <a:srgbClr val="969696"/>
      </a:accent6>
      <a:hlink>
        <a:srgbClr val="0563C1"/>
      </a:hlink>
      <a:folHlink>
        <a:srgbClr val="954F72"/>
      </a:folHlink>
    </a:clrScheme>
    <a:fontScheme name="Meiryo">
      <a:majorFont>
        <a:latin typeface="Meiryo UI"/>
        <a:ea typeface="Meiryo UI"/>
        <a:cs typeface=""/>
      </a:majorFont>
      <a:minorFont>
        <a:latin typeface="Meiryo UI"/>
        <a:ea typeface="Meiryo UI"/>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6350" cap="flat" cmpd="sng" algn="ctr">
          <a:solidFill>
            <a:schemeClr val="accent6"/>
          </a:solidFill>
          <a:prstDash val="solid"/>
          <a:miter lim="800000"/>
        </a:ln>
        <a:effectLst/>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fontAlgn="auto">
          <a:spcBef>
            <a:spcPts val="600"/>
          </a:spcBef>
          <a:spcAft>
            <a:spcPts val="0"/>
          </a:spcAft>
          <a:buClr>
            <a:prstClr val="black"/>
          </a:buClr>
          <a:tabLst>
            <a:tab pos="180975" algn="l"/>
          </a:tabLst>
          <a:defRPr kumimoji="1" sz="1200" kern="0" dirty="0" err="1" smtClean="0">
            <a:solidFill>
              <a:prstClr val="black"/>
            </a:solidFill>
            <a:latin typeface="+mn-lt"/>
          </a:defRPr>
        </a:defPPr>
      </a:lstStyle>
    </a:spDef>
    <a:lnDef>
      <a:spPr>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36000" tIns="36000" rIns="36000" bIns="36000" rtlCol="0">
        <a:spAutoFit/>
      </a:bodyPr>
      <a:lstStyle>
        <a:defPPr marL="171450" indent="-171450" algn="l">
          <a:buFont typeface="Wingdings" panose="05000000000000000000" pitchFamily="2" charset="2"/>
          <a:buChar char="p"/>
          <a:defRPr kumimoji="1" sz="1200" dirty="0" err="1" smtClean="0">
            <a:latin typeface="Meiryo UI" panose="020B0604030504040204" pitchFamily="50" charset="-128"/>
            <a:ea typeface="Meiryo UI" panose="020B0604030504040204" pitchFamily="50" charset="-128"/>
          </a:defRPr>
        </a:defPPr>
      </a:lstStyle>
    </a:txDef>
  </a:objectDefaults>
  <a:extraClrSchemeLst/>
</a:theme>
</file>

<file path=ppt/theme/theme2.xml><?xml version="1.0" encoding="utf-8"?>
<a:theme xmlns:a="http://schemas.openxmlformats.org/drawingml/2006/main" name="1_Acc_Strategy_template 4-3">
  <a:themeElements>
    <a:clrScheme name="FSテンプレート">
      <a:dk1>
        <a:sysClr val="windowText" lastClr="000000"/>
      </a:dk1>
      <a:lt1>
        <a:sysClr val="window" lastClr="FFFFFF"/>
      </a:lt1>
      <a:dk2>
        <a:srgbClr val="44546A"/>
      </a:dk2>
      <a:lt2>
        <a:srgbClr val="D9D9D9"/>
      </a:lt2>
      <a:accent1>
        <a:srgbClr val="460073"/>
      </a:accent1>
      <a:accent2>
        <a:srgbClr val="A100FF"/>
      </a:accent2>
      <a:accent3>
        <a:srgbClr val="008EFF"/>
      </a:accent3>
      <a:accent4>
        <a:srgbClr val="8BE1FF"/>
      </a:accent4>
      <a:accent5>
        <a:srgbClr val="5A5A5A"/>
      </a:accent5>
      <a:accent6>
        <a:srgbClr val="969696"/>
      </a:accent6>
      <a:hlink>
        <a:srgbClr val="0563C1"/>
      </a:hlink>
      <a:folHlink>
        <a:srgbClr val="954F72"/>
      </a:folHlink>
    </a:clrScheme>
    <a:fontScheme name="Meiryo">
      <a:majorFont>
        <a:latin typeface="Meiryo UI"/>
        <a:ea typeface="Meiryo UI"/>
        <a:cs typeface=""/>
      </a:majorFont>
      <a:minorFont>
        <a:latin typeface="Meiryo UI"/>
        <a:ea typeface="Meiryo UI"/>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w="12700">
          <a:noFill/>
          <a:miter lim="800000"/>
          <a:headEnd/>
          <a:tailEnd/>
        </a:ln>
        <a:effectLst/>
      </a:spPr>
      <a:bodyPr rot="0" spcFirstLastPara="0" vertOverflow="overflow" horzOverflow="overflow" vert="horz" wrap="none" lIns="61350" tIns="61350" rIns="61350" bIns="61350" numCol="1" spcCol="0" rtlCol="0" fromWordArt="0" anchor="ctr" anchorCtr="0" forceAA="0" compatLnSpc="1">
        <a:prstTxWarp prst="textNoShape">
          <a:avLst/>
        </a:prstTxWarp>
        <a:noAutofit/>
      </a:bodyPr>
      <a:lstStyle>
        <a:defPPr algn="ctr" defTabSz="844083" fontAlgn="auto">
          <a:spcBef>
            <a:spcPts val="0"/>
          </a:spcBef>
          <a:spcAft>
            <a:spcPts val="256"/>
          </a:spcAft>
          <a:tabLst>
            <a:tab pos="225907" algn="l"/>
          </a:tabLst>
          <a:defRPr sz="500" kern="0" dirty="0" smtClean="0">
            <a:solidFill>
              <a:schemeClr val="tx1">
                <a:lumMod val="50000"/>
                <a:lumOff val="50000"/>
              </a:schemeClr>
            </a:solidFill>
            <a:latin typeface="Meiryo UI" panose="020B0604030504040204" pitchFamily="50" charset="-128"/>
            <a:ea typeface="Meiryo UI" panose="020B0604030504040204" pitchFamily="50" charset="-128"/>
          </a:defRPr>
        </a:defPPr>
      </a:lstStyle>
    </a:spDef>
    <a:lnDef>
      <a:spPr>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spAutoFit/>
      </a:bodyPr>
      <a:lstStyle>
        <a:defPPr algn="ctr">
          <a:defRPr kumimoji="1" sz="1200" dirty="0" smtClean="0">
            <a:latin typeface="Meiryo UI" panose="020B0604030504040204" pitchFamily="50" charset="-128"/>
            <a:ea typeface="Meiryo UI" panose="020B0604030504040204" pitchFamily="50" charset="-128"/>
          </a:defRPr>
        </a:defPPr>
      </a:lstStyle>
    </a:txDef>
  </a:objectDefaults>
  <a:extraClrSchemeLst/>
</a:theme>
</file>

<file path=ppt/theme/theme3.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C34EC7365253543AF52C41840CDEDF2" ma:contentTypeVersion="13" ma:contentTypeDescription="Create a new document." ma:contentTypeScope="" ma:versionID="95dd6f75eb7279436130eae24166b779">
  <xsd:schema xmlns:xsd="http://www.w3.org/2001/XMLSchema" xmlns:xs="http://www.w3.org/2001/XMLSchema" xmlns:p="http://schemas.microsoft.com/office/2006/metadata/properties" xmlns:ns2="8c7e2249-f67c-4027-b212-c28305a022e1" xmlns:ns3="fa9d62c7-0f51-469e-af76-081dc5c2cf6f" targetNamespace="http://schemas.microsoft.com/office/2006/metadata/properties" ma:root="true" ma:fieldsID="fb04dbb18f2587c151ae0426dd33bf26" ns2:_="" ns3:_="">
    <xsd:import namespace="8c7e2249-f67c-4027-b212-c28305a022e1"/>
    <xsd:import namespace="fa9d62c7-0f51-469e-af76-081dc5c2cf6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7e2249-f67c-4027-b212-c28305a022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BillingMetadata" ma:index="12" nillable="true" ma:displayName="MediaServiceBillingMetadata" ma:hidden="true" ma:internalName="MediaServiceBillingMetadata"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a9d62c7-0f51-469e-af76-081dc5c2cf6f"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e81bc249-2723-4833-85eb-5148d2aa8f1e}" ma:internalName="TaxCatchAll" ma:showField="CatchAllData" ma:web="fa9d62c7-0f51-469e-af76-081dc5c2cf6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c7e2249-f67c-4027-b212-c28305a022e1">
      <Terms xmlns="http://schemas.microsoft.com/office/infopath/2007/PartnerControls"/>
    </lcf76f155ced4ddcb4097134ff3c332f>
    <TaxCatchAll xmlns="fa9d62c7-0f51-469e-af76-081dc5c2cf6f" xsi:nil="true"/>
  </documentManagement>
</p:properties>
</file>

<file path=customXml/itemProps1.xml><?xml version="1.0" encoding="utf-8"?>
<ds:datastoreItem xmlns:ds="http://schemas.openxmlformats.org/officeDocument/2006/customXml" ds:itemID="{70AC018B-62AB-45E9-9FCE-EDFF565CFB7E}">
  <ds:schemaRefs>
    <ds:schemaRef ds:uri="http://schemas.microsoft.com/sharepoint/v3/contenttype/forms"/>
  </ds:schemaRefs>
</ds:datastoreItem>
</file>

<file path=customXml/itemProps2.xml><?xml version="1.0" encoding="utf-8"?>
<ds:datastoreItem xmlns:ds="http://schemas.openxmlformats.org/officeDocument/2006/customXml" ds:itemID="{8427AC7F-1CE4-4788-BB57-46C6C8FC00C0}"/>
</file>

<file path=customXml/itemProps3.xml><?xml version="1.0" encoding="utf-8"?>
<ds:datastoreItem xmlns:ds="http://schemas.openxmlformats.org/officeDocument/2006/customXml" ds:itemID="{40C52CE8-174C-41D1-B4F4-6FA45D0E2AEC}">
  <ds:schemaRefs>
    <ds:schemaRef ds:uri="http://purl.org/dc/dcmitype/"/>
    <ds:schemaRef ds:uri="http://purl.org/dc/terms/"/>
    <ds:schemaRef ds:uri="http://schemas.microsoft.com/office/infopath/2007/PartnerControls"/>
    <ds:schemaRef ds:uri="http://purl.org/dc/elements/1.1/"/>
    <ds:schemaRef ds:uri="8c7e2249-f67c-4027-b212-c28305a022e1"/>
    <ds:schemaRef ds:uri="http://schemas.microsoft.com/office/2006/documentManagement/types"/>
    <ds:schemaRef ds:uri="http://www.w3.org/XML/1998/namespace"/>
    <ds:schemaRef ds:uri="http://schemas.openxmlformats.org/package/2006/metadata/core-properties"/>
    <ds:schemaRef ds:uri="http://schemas.microsoft.com/office/2006/metadata/properties"/>
    <ds:schemaRef ds:uri="fa9d62c7-0f51-469e-af76-081dc5c2cf6f"/>
  </ds:schemaRefs>
</ds:datastoreItem>
</file>

<file path=docProps/app.xml><?xml version="1.0" encoding="utf-8"?>
<Properties xmlns="http://schemas.openxmlformats.org/officeDocument/2006/extended-properties" xmlns:vt="http://schemas.openxmlformats.org/officeDocument/2006/docPropsVTypes">
  <Template/>
  <TotalTime>0</TotalTime>
  <Words>1415</Words>
  <Application>Microsoft Office PowerPoint</Application>
  <PresentationFormat>A4 Paper (210x297 mm)</PresentationFormat>
  <Paragraphs>262</Paragraphs>
  <Slides>15</Slides>
  <Notes>1</Notes>
  <HiddenSlides>0</HiddenSlides>
  <MMClips>0</MMClips>
  <ScaleCrop>false</ScaleCrop>
  <HeadingPairs>
    <vt:vector size="4" baseType="variant">
      <vt:variant>
        <vt:lpstr>Theme</vt:lpstr>
      </vt:variant>
      <vt:variant>
        <vt:i4>2</vt:i4>
      </vt:variant>
      <vt:variant>
        <vt:lpstr>Slide Titles</vt:lpstr>
      </vt:variant>
      <vt:variant>
        <vt:i4>15</vt:i4>
      </vt:variant>
    </vt:vector>
  </HeadingPairs>
  <TitlesOfParts>
    <vt:vector size="17" baseType="lpstr">
      <vt:lpstr>Acc_Strategy_template 4-3</vt:lpstr>
      <vt:lpstr>1_Acc_Strategy_template 4-3</vt:lpstr>
      <vt:lpstr>資産管理の概要</vt:lpstr>
      <vt:lpstr>カストディの主な機能</vt:lpstr>
      <vt:lpstr>MTBJシステム概要図（抜粋）</vt:lpstr>
      <vt:lpstr>（参考）ほふり_システム概要図</vt:lpstr>
      <vt:lpstr>資産運用業の全体像　～　「資産運用業高度化プログレスレポート 2023」から抜粋</vt:lpstr>
      <vt:lpstr>資産管理の概要</vt:lpstr>
      <vt:lpstr>資産管理における主要業務</vt:lpstr>
      <vt:lpstr>カストディ・ソリューション ～ STATE STREETの例</vt:lpstr>
      <vt:lpstr>マスタートラスト業務 ～ 米国発の概念（大和銀行資料から抜粋）</vt:lpstr>
      <vt:lpstr>経理の基礎 ～ 投資一任の場合</vt:lpstr>
      <vt:lpstr>レポート・データ連携 ～ MTBJの例</vt:lpstr>
      <vt:lpstr>運用プロセス ～ 外国株式の例</vt:lpstr>
      <vt:lpstr>レンディング業務 ～ スキーム例</vt:lpstr>
      <vt:lpstr>受託状況 ～ MTBJの例</vt:lpstr>
      <vt:lpstr>MTBJ組織</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資産運用業の全体像　～　「資産運用業高度化プログレスレポート 2023」から抜粋</dc:title>
  <dc:creator/>
  <dc:description/>
  <cp:revision>2</cp:revision>
  <dcterms:created xsi:type="dcterms:W3CDTF">2018-10-19T05:51:13Z</dcterms:created>
  <dcterms:modified xsi:type="dcterms:W3CDTF">2026-01-15T01:15:26Z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0x0101005C34EC7365253543AF52C41840CDEDF2</vt:lpwstr>
  </property>
  <property fmtid="{D5CDD505-2E9C-101B-9397-08002B2CF9AE}" pid="3" name="MediaServiceImageTags">
    <vt:lpwstr/>
  </property>
</Properties>
</file>