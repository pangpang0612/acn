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20"/>
  </p:notesMasterIdLst>
  <p:sldIdLst>
    <p:sldId id="257" r:id="rId5"/>
    <p:sldId id="280" r:id="rId6"/>
    <p:sldId id="281" r:id="rId7"/>
    <p:sldId id="282" r:id="rId8"/>
    <p:sldId id="283" r:id="rId9"/>
    <p:sldId id="284" r:id="rId10"/>
    <p:sldId id="285" r:id="rId11"/>
    <p:sldId id="286" r:id="rId12"/>
    <p:sldId id="287" r:id="rId13"/>
    <p:sldId id="293" r:id="rId14"/>
    <p:sldId id="288" r:id="rId15"/>
    <p:sldId id="290" r:id="rId16"/>
    <p:sldId id="291" r:id="rId17"/>
    <p:sldId id="292" r:id="rId18"/>
    <p:sldId id="294" r:id="rId1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CCFF"/>
    <a:srgbClr val="9999FF"/>
    <a:srgbClr val="CCCCFF"/>
    <a:srgbClr val="CCFFCC"/>
    <a:srgbClr val="00FFFF"/>
    <a:srgbClr val="FFFFCC"/>
    <a:srgbClr val="CCFF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BBFD915-2220-4675-89FA-CA8004633CF1}" v="5" dt="2020-12-03T05:16:34.127"/>
  </p1510:revLst>
</p1510:revInfo>
</file>

<file path=ppt/tableStyles.xml><?xml version="1.0" encoding="utf-8"?>
<a:tblStyleLst xmlns:a="http://schemas.openxmlformats.org/drawingml/2006/main" def="{5C22544A-7EE6-4342-B048-85BDC9FD1C3A}">
  <a:tblStyle styleId="{5C22544A-7EE6-4342-B048-85BDC9FD1C3A}" styleName="中間スタイル 2 - アクセント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1471" autoAdjust="0"/>
    <p:restoredTop sz="94216" autoAdjust="0"/>
  </p:normalViewPr>
  <p:slideViewPr>
    <p:cSldViewPr snapToGrid="0">
      <p:cViewPr varScale="1">
        <p:scale>
          <a:sx n="74" d="100"/>
          <a:sy n="74" d="100"/>
        </p:scale>
        <p:origin x="512" y="5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3" Type="http://schemas.openxmlformats.org/officeDocument/2006/relationships/customXml" Target="../customXml/item3.xml"/><Relationship Id="rId21" Type="http://schemas.openxmlformats.org/officeDocument/2006/relationships/presProps" Target="pres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notesMaster" Target="notesMasters/notesMaster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tableStyles" Target="tableStyle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heme" Target="theme/theme1.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F2A55C-AE8C-47A4-AA40-41405454646F}" type="datetimeFigureOut">
              <a:rPr kumimoji="1" lang="ja-JP" altLang="en-US" smtClean="0"/>
              <a:t>2024/12/16</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682E424-798C-40C7-844A-B5AC440F8604}" type="slidenum">
              <a:rPr kumimoji="1" lang="ja-JP" altLang="en-US" smtClean="0"/>
              <a:t>‹#›</a:t>
            </a:fld>
            <a:endParaRPr kumimoji="1" lang="ja-JP" altLang="en-US"/>
          </a:p>
        </p:txBody>
      </p:sp>
    </p:spTree>
    <p:extLst>
      <p:ext uri="{BB962C8B-B14F-4D97-AF65-F5344CB8AC3E}">
        <p14:creationId xmlns:p14="http://schemas.microsoft.com/office/powerpoint/2010/main" val="2270864964"/>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Basic style">
    <p:spTree>
      <p:nvGrpSpPr>
        <p:cNvPr id="1" name=""/>
        <p:cNvGrpSpPr/>
        <p:nvPr/>
      </p:nvGrpSpPr>
      <p:grpSpPr>
        <a:xfrm>
          <a:off x="0" y="0"/>
          <a:ext cx="0" cy="0"/>
          <a:chOff x="0" y="0"/>
          <a:chExt cx="0" cy="0"/>
        </a:xfrm>
      </p:grpSpPr>
      <p:sp>
        <p:nvSpPr>
          <p:cNvPr id="6" name="Content Placeholder 5"/>
          <p:cNvSpPr>
            <a:spLocks noGrp="1"/>
          </p:cNvSpPr>
          <p:nvPr>
            <p:ph sz="quarter" idx="18" hasCustomPrompt="1"/>
          </p:nvPr>
        </p:nvSpPr>
        <p:spPr>
          <a:xfrm>
            <a:off x="381000" y="1156851"/>
            <a:ext cx="11429999" cy="464132"/>
          </a:xfrm>
        </p:spPr>
        <p:txBody>
          <a:bodyPr>
            <a:noAutofit/>
          </a:bodyPr>
          <a:lstStyle>
            <a:lvl1pPr>
              <a:lnSpc>
                <a:spcPct val="100000"/>
              </a:lnSpc>
              <a:spcAft>
                <a:spcPts val="600"/>
              </a:spcAft>
              <a:defRPr sz="2000">
                <a:latin typeface="Meiryo UI" panose="020B0604030504040204" pitchFamily="50" charset="-128"/>
                <a:ea typeface="Meiryo UI" panose="020B0604030504040204" pitchFamily="50" charset="-128"/>
              </a:defRPr>
            </a:lvl1pPr>
            <a:lvl2pPr>
              <a:spcAft>
                <a:spcPts val="1200"/>
              </a:spcAft>
              <a:defRPr sz="1800">
                <a:latin typeface="Meiryo UI" panose="020B0604030504040204" pitchFamily="50" charset="-128"/>
                <a:ea typeface="Meiryo UI" panose="020B0604030504040204" pitchFamily="50" charset="-128"/>
              </a:defRPr>
            </a:lvl2pPr>
            <a:lvl3pPr marL="514338" indent="-230182">
              <a:buFont typeface="Graphik" panose="020B0503030202060203" pitchFamily="34" charset="0"/>
              <a:buChar char="–"/>
              <a:defRPr sz="1600">
                <a:latin typeface="Meiryo UI" panose="020B0604030504040204" pitchFamily="50" charset="-128"/>
                <a:ea typeface="Meiryo UI" panose="020B0604030504040204" pitchFamily="50" charset="-128"/>
              </a:defRPr>
            </a:lvl3pPr>
            <a:lvl5pPr marL="857229" indent="-177796">
              <a:buFont typeface="Graphik" panose="020B0503030202060203" pitchFamily="34" charset="0"/>
              <a:buChar char="–"/>
              <a:defRPr/>
            </a:lvl5pPr>
          </a:lstStyle>
          <a:p>
            <a:pPr lvl="0"/>
            <a:r>
              <a:rPr lang="en-US" altLang="ja-JP" dirty="0"/>
              <a:t>Main</a:t>
            </a:r>
            <a:r>
              <a:rPr lang="ja-JP" altLang="en-US" dirty="0"/>
              <a:t> </a:t>
            </a:r>
            <a:r>
              <a:rPr lang="en-US" altLang="ja-JP" dirty="0"/>
              <a:t>message</a:t>
            </a:r>
            <a:r>
              <a:rPr lang="ja-JP" altLang="en-US" dirty="0"/>
              <a:t> </a:t>
            </a:r>
            <a:r>
              <a:rPr lang="en-US" altLang="ja-JP" dirty="0"/>
              <a:t>-</a:t>
            </a:r>
            <a:r>
              <a:rPr lang="ja-JP" altLang="en-US" dirty="0"/>
              <a:t> </a:t>
            </a:r>
            <a:r>
              <a:rPr lang="en-US" altLang="ja-JP" dirty="0"/>
              <a:t>text styles</a:t>
            </a:r>
            <a:r>
              <a:rPr lang="ja-JP" altLang="en-US" dirty="0"/>
              <a:t> </a:t>
            </a:r>
            <a:r>
              <a:rPr lang="en-US" altLang="ja-JP" dirty="0"/>
              <a:t>20pt</a:t>
            </a:r>
            <a:r>
              <a:rPr lang="ja-JP" altLang="en-US" dirty="0"/>
              <a:t>　（行間：段落前</a:t>
            </a:r>
            <a:r>
              <a:rPr lang="en-US" altLang="ja-JP" dirty="0"/>
              <a:t>0pt</a:t>
            </a:r>
            <a:r>
              <a:rPr lang="ja-JP" altLang="en-US" dirty="0"/>
              <a:t> 段落後</a:t>
            </a:r>
            <a:r>
              <a:rPr lang="en-US" altLang="ja-JP" dirty="0"/>
              <a:t>6pt</a:t>
            </a:r>
            <a:r>
              <a:rPr lang="ja-JP" altLang="en-US" dirty="0"/>
              <a:t> 行間</a:t>
            </a:r>
            <a:r>
              <a:rPr lang="en-US" altLang="ja-JP" dirty="0"/>
              <a:t>1</a:t>
            </a:r>
            <a:r>
              <a:rPr lang="ja-JP" altLang="en-US" dirty="0"/>
              <a:t>行）</a:t>
            </a:r>
          </a:p>
        </p:txBody>
      </p:sp>
      <p:sp>
        <p:nvSpPr>
          <p:cNvPr id="12" name="Title 10">
            <a:extLst>
              <a:ext uri="{FF2B5EF4-FFF2-40B4-BE49-F238E27FC236}">
                <a16:creationId xmlns:a16="http://schemas.microsoft.com/office/drawing/2014/main" id="{2626A05F-F7D4-482F-AB23-8FC01004866D}"/>
              </a:ext>
            </a:extLst>
          </p:cNvPr>
          <p:cNvSpPr>
            <a:spLocks noGrp="1"/>
          </p:cNvSpPr>
          <p:nvPr>
            <p:ph type="title" hasCustomPrompt="1"/>
          </p:nvPr>
        </p:nvSpPr>
        <p:spPr>
          <a:xfrm>
            <a:off x="381000" y="471050"/>
            <a:ext cx="11361295" cy="550800"/>
          </a:xfrm>
        </p:spPr>
        <p:txBody>
          <a:bodyPr>
            <a:noAutofit/>
          </a:bodyPr>
          <a:lstStyle>
            <a:lvl1pPr>
              <a:defRPr sz="3200">
                <a:latin typeface="Meiryo UI" panose="020B0604030504040204" pitchFamily="50" charset="-128"/>
                <a:ea typeface="Meiryo UI" panose="020B0604030504040204" pitchFamily="50" charset="-128"/>
              </a:defRPr>
            </a:lvl1pPr>
          </a:lstStyle>
          <a:p>
            <a:r>
              <a:rPr lang="en-US" altLang="ja-JP" dirty="0"/>
              <a:t>Slide</a:t>
            </a:r>
            <a:r>
              <a:rPr lang="ja-JP" altLang="en-US" dirty="0"/>
              <a:t> </a:t>
            </a:r>
            <a:r>
              <a:rPr lang="en-US" altLang="ja-JP" dirty="0"/>
              <a:t>Title</a:t>
            </a:r>
            <a:r>
              <a:rPr lang="ja-JP" altLang="en-US" dirty="0"/>
              <a:t> </a:t>
            </a:r>
            <a:r>
              <a:rPr lang="en-US" altLang="ja-JP" dirty="0"/>
              <a:t>32pt</a:t>
            </a:r>
            <a:endParaRPr lang="en-US" dirty="0"/>
          </a:p>
        </p:txBody>
      </p:sp>
      <p:sp>
        <p:nvSpPr>
          <p:cNvPr id="7" name="コンテンツ プレースホルダー 2">
            <a:extLst>
              <a:ext uri="{FF2B5EF4-FFF2-40B4-BE49-F238E27FC236}">
                <a16:creationId xmlns:a16="http://schemas.microsoft.com/office/drawing/2014/main" id="{FAB1C357-33B9-4341-B05D-966F6C8EDA9D}"/>
              </a:ext>
            </a:extLst>
          </p:cNvPr>
          <p:cNvSpPr>
            <a:spLocks noGrp="1"/>
          </p:cNvSpPr>
          <p:nvPr>
            <p:ph sz="quarter" idx="19" hasCustomPrompt="1"/>
          </p:nvPr>
        </p:nvSpPr>
        <p:spPr>
          <a:xfrm>
            <a:off x="381000" y="29616"/>
            <a:ext cx="10389274" cy="410800"/>
          </a:xfrm>
        </p:spPr>
        <p:txBody>
          <a:bodyPr tIns="46800">
            <a:noAutofit/>
          </a:bodyPr>
          <a:lstStyle>
            <a:lvl1pPr>
              <a:lnSpc>
                <a:spcPct val="100000"/>
              </a:lnSpc>
              <a:spcAft>
                <a:spcPts val="0"/>
              </a:spcAft>
              <a:defRPr sz="2400">
                <a:latin typeface="Meiryo UI" panose="020B0604030504040204" pitchFamily="50" charset="-128"/>
                <a:ea typeface="Meiryo UI" panose="020B0604030504040204" pitchFamily="50" charset="-128"/>
              </a:defRPr>
            </a:lvl1pPr>
          </a:lstStyle>
          <a:p>
            <a:pPr lvl="0"/>
            <a:r>
              <a:rPr lang="en-US" altLang="ja-JP" dirty="0"/>
              <a:t>1.First level</a:t>
            </a:r>
            <a:r>
              <a:rPr lang="ja-JP" altLang="en-US" dirty="0"/>
              <a:t> </a:t>
            </a:r>
            <a:r>
              <a:rPr lang="en-US" altLang="ja-JP" dirty="0"/>
              <a:t>title</a:t>
            </a:r>
            <a:r>
              <a:rPr lang="ja-JP" altLang="en-US" dirty="0"/>
              <a:t> </a:t>
            </a:r>
            <a:r>
              <a:rPr lang="en-US" altLang="ja-JP" dirty="0"/>
              <a:t>24pt</a:t>
            </a:r>
            <a:r>
              <a:rPr lang="ja-JP" altLang="en-US" dirty="0"/>
              <a:t> － ①</a:t>
            </a:r>
            <a:r>
              <a:rPr lang="en-US" altLang="ja-JP" dirty="0"/>
              <a:t>Second level</a:t>
            </a:r>
            <a:r>
              <a:rPr lang="ja-JP" altLang="en-US" dirty="0"/>
              <a:t> </a:t>
            </a:r>
            <a:r>
              <a:rPr lang="en-US" altLang="ja-JP" dirty="0"/>
              <a:t>title</a:t>
            </a:r>
            <a:r>
              <a:rPr lang="ja-JP" altLang="en-US" dirty="0"/>
              <a:t> </a:t>
            </a:r>
            <a:r>
              <a:rPr lang="en-US" altLang="ja-JP" dirty="0"/>
              <a:t>24pt</a:t>
            </a:r>
            <a:endParaRPr kumimoji="1" lang="ja-JP" altLang="en-US" dirty="0"/>
          </a:p>
        </p:txBody>
      </p:sp>
      <p:cxnSp>
        <p:nvCxnSpPr>
          <p:cNvPr id="5" name="直線コネクタ 4">
            <a:extLst>
              <a:ext uri="{FF2B5EF4-FFF2-40B4-BE49-F238E27FC236}">
                <a16:creationId xmlns:a16="http://schemas.microsoft.com/office/drawing/2014/main" id="{E5EA05CE-1CB2-4ECA-8971-00880F920D69}"/>
              </a:ext>
            </a:extLst>
          </p:cNvPr>
          <p:cNvCxnSpPr/>
          <p:nvPr userDrawn="1"/>
        </p:nvCxnSpPr>
        <p:spPr>
          <a:xfrm>
            <a:off x="381000" y="1091125"/>
            <a:ext cx="11811000" cy="0"/>
          </a:xfrm>
          <a:prstGeom prst="line">
            <a:avLst/>
          </a:prstGeom>
          <a:ln w="25400">
            <a:gradFill flip="none" rotWithShape="1">
              <a:gsLst>
                <a:gs pos="0">
                  <a:srgbClr val="A100FF"/>
                </a:gs>
                <a:gs pos="100000">
                  <a:srgbClr val="460073"/>
                </a:gs>
              </a:gsLst>
              <a:lin ang="0" scaled="1"/>
              <a:tileRect/>
            </a:gra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34048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401937349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8580068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648975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17414348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30014255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0496304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78997028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43282943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2354349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30116054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197432863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CA7DAB9-69FF-4684-9854-839CB968E5C9}" type="datetimeFigureOut">
              <a:rPr kumimoji="1" lang="ja-JP" altLang="en-US" smtClean="0"/>
              <a:t>2024/12/16</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B273E9D-BC69-4A9D-9484-448D1A334016}" type="slidenum">
              <a:rPr kumimoji="1" lang="ja-JP" altLang="en-US" smtClean="0"/>
              <a:t>‹#›</a:t>
            </a:fld>
            <a:endParaRPr kumimoji="1" lang="ja-JP" altLang="en-US"/>
          </a:p>
        </p:txBody>
      </p:sp>
    </p:spTree>
    <p:extLst>
      <p:ext uri="{BB962C8B-B14F-4D97-AF65-F5344CB8AC3E}">
        <p14:creationId xmlns:p14="http://schemas.microsoft.com/office/powerpoint/2010/main" val="4211344576"/>
      </p:ext>
    </p:extLst>
  </p:cSld>
  <p:clrMap bg1="lt1" tx1="dk1" bg2="lt2" tx2="dk2" accent1="accent1" accent2="accent2" accent3="accent3" accent4="accent4" accent5="accent5" accent6="accent6" hlink="hlink" folHlink="folHlink"/>
  <p:sldLayoutIdLst>
    <p:sldLayoutId id="2147483660"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6" name="テキスト ボックス 125">
            <a:extLst>
              <a:ext uri="{FF2B5EF4-FFF2-40B4-BE49-F238E27FC236}">
                <a16:creationId xmlns:a16="http://schemas.microsoft.com/office/drawing/2014/main" id="{600E9562-25DF-473D-B809-FD2FDF5FD6C1}"/>
              </a:ext>
            </a:extLst>
          </p:cNvPr>
          <p:cNvSpPr txBox="1"/>
          <p:nvPr/>
        </p:nvSpPr>
        <p:spPr>
          <a:xfrm>
            <a:off x="1644502" y="141058"/>
            <a:ext cx="8899451" cy="584775"/>
          </a:xfrm>
          <a:prstGeom prst="rect">
            <a:avLst/>
          </a:prstGeom>
          <a:noFill/>
        </p:spPr>
        <p:txBody>
          <a:bodyPr wrap="square" rtlCol="0">
            <a:spAutoFit/>
          </a:bodyPr>
          <a:lstStyle/>
          <a:p>
            <a:pPr algn="ctr"/>
            <a:r>
              <a:rPr kumimoji="1" lang="ja-JP" altLang="en-US" sz="3200" dirty="0">
                <a:latin typeface="Meiryo UI" panose="020B0604030504040204" pitchFamily="50" charset="-128"/>
                <a:ea typeface="Meiryo UI" panose="020B0604030504040204" pitchFamily="50" charset="-128"/>
              </a:rPr>
              <a:t>目次</a:t>
            </a:r>
          </a:p>
        </p:txBody>
      </p:sp>
      <p:sp>
        <p:nvSpPr>
          <p:cNvPr id="27" name="テキスト ボックス 26">
            <a:extLst>
              <a:ext uri="{FF2B5EF4-FFF2-40B4-BE49-F238E27FC236}">
                <a16:creationId xmlns:a16="http://schemas.microsoft.com/office/drawing/2014/main" id="{C7A46AD3-2AFA-4C0B-ABE6-7CB10F7D4EA6}"/>
              </a:ext>
            </a:extLst>
          </p:cNvPr>
          <p:cNvSpPr txBox="1"/>
          <p:nvPr/>
        </p:nvSpPr>
        <p:spPr>
          <a:xfrm>
            <a:off x="747302" y="1085287"/>
            <a:ext cx="5348698" cy="4401205"/>
          </a:xfrm>
          <a:prstGeom prst="rect">
            <a:avLst/>
          </a:prstGeom>
          <a:noFill/>
        </p:spPr>
        <p:txBody>
          <a:bodyPr wrap="square" rtlCol="0">
            <a:spAutoFit/>
          </a:bodyPr>
          <a:lstStyle/>
          <a:p>
            <a:r>
              <a:rPr lang="en-US" altLang="ja-JP" sz="2000" dirty="0">
                <a:latin typeface="Meiryo UI" panose="020B0604030504040204" pitchFamily="50" charset="-128"/>
                <a:ea typeface="Meiryo UI" panose="020B0604030504040204" pitchFamily="50" charset="-128"/>
              </a:rPr>
              <a:t>1.</a:t>
            </a:r>
            <a:r>
              <a:rPr lang="ja-JP" altLang="en-US" sz="2000" dirty="0">
                <a:latin typeface="Meiryo UI" panose="020B0604030504040204" pitchFamily="50" charset="-128"/>
                <a:ea typeface="Meiryo UI" panose="020B0604030504040204" pitchFamily="50" charset="-128"/>
              </a:rPr>
              <a:t>信託の概要</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1-1.</a:t>
            </a:r>
            <a:r>
              <a:rPr lang="ja-JP" altLang="en-US" sz="2000" dirty="0">
                <a:latin typeface="Meiryo UI" panose="020B0604030504040204" pitchFamily="50" charset="-128"/>
                <a:ea typeface="Meiryo UI" panose="020B0604030504040204" pitchFamily="50" charset="-128"/>
              </a:rPr>
              <a:t>信託とは</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1-2.</a:t>
            </a:r>
            <a:r>
              <a:rPr lang="ja-JP" altLang="en-US" sz="2000" dirty="0">
                <a:latin typeface="Meiryo UI" panose="020B0604030504040204" pitchFamily="50" charset="-128"/>
                <a:ea typeface="Meiryo UI" panose="020B0604030504040204" pitchFamily="50" charset="-128"/>
              </a:rPr>
              <a:t>信託の歴史</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1-3.</a:t>
            </a:r>
            <a:r>
              <a:rPr lang="ja-JP" altLang="en-US" sz="2000" dirty="0">
                <a:latin typeface="Meiryo UI" panose="020B0604030504040204" pitchFamily="50" charset="-128"/>
                <a:ea typeface="Meiryo UI" panose="020B0604030504040204" pitchFamily="50" charset="-128"/>
              </a:rPr>
              <a:t>信託銀行とその他の金融機関</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1-4.</a:t>
            </a:r>
            <a:r>
              <a:rPr lang="ja-JP" altLang="en-US" sz="2000" dirty="0">
                <a:latin typeface="Meiryo UI" panose="020B0604030504040204" pitchFamily="50" charset="-128"/>
                <a:ea typeface="Meiryo UI" panose="020B0604030504040204" pitchFamily="50" charset="-128"/>
              </a:rPr>
              <a:t>信託銀行と銀行の違い</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2.</a:t>
            </a:r>
            <a:r>
              <a:rPr lang="ja-JP" altLang="en-US" sz="2000" dirty="0">
                <a:latin typeface="Meiryo UI" panose="020B0604030504040204" pitchFamily="50" charset="-128"/>
                <a:ea typeface="Meiryo UI" panose="020B0604030504040204" pitchFamily="50" charset="-128"/>
              </a:rPr>
              <a:t>信託の基礎</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2-1.</a:t>
            </a:r>
            <a:r>
              <a:rPr lang="ja-JP" altLang="en-US" sz="2000" dirty="0">
                <a:latin typeface="Meiryo UI" panose="020B0604030504040204" pitchFamily="50" charset="-128"/>
                <a:ea typeface="Meiryo UI" panose="020B0604030504040204" pitchFamily="50" charset="-128"/>
              </a:rPr>
              <a:t>信託財産と信託目的</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2-2.</a:t>
            </a:r>
            <a:r>
              <a:rPr lang="ja-JP" altLang="en-US" sz="2000" dirty="0">
                <a:latin typeface="Meiryo UI" panose="020B0604030504040204" pitchFamily="50" charset="-128"/>
                <a:ea typeface="Meiryo UI" panose="020B0604030504040204" pitchFamily="50" charset="-128"/>
              </a:rPr>
              <a:t>信託受益権</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2-3.</a:t>
            </a:r>
            <a:r>
              <a:rPr lang="ja-JP" altLang="en-US" sz="2000" dirty="0">
                <a:latin typeface="Meiryo UI" panose="020B0604030504040204" pitchFamily="50" charset="-128"/>
                <a:ea typeface="Meiryo UI" panose="020B0604030504040204" pitchFamily="50" charset="-128"/>
              </a:rPr>
              <a:t>信託の種類</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2-4.</a:t>
            </a:r>
            <a:r>
              <a:rPr lang="ja-JP" altLang="en-US" sz="2000" dirty="0">
                <a:latin typeface="Meiryo UI" panose="020B0604030504040204" pitchFamily="50" charset="-128"/>
                <a:ea typeface="Meiryo UI" panose="020B0604030504040204" pitchFamily="50" charset="-128"/>
              </a:rPr>
              <a:t>金銭の信託の詳細</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2-5.</a:t>
            </a:r>
            <a:r>
              <a:rPr lang="ja-JP" altLang="en-US" sz="2000" dirty="0">
                <a:latin typeface="Meiryo UI" panose="020B0604030504040204" pitchFamily="50" charset="-128"/>
                <a:ea typeface="Meiryo UI" panose="020B0604030504040204" pitchFamily="50" charset="-128"/>
              </a:rPr>
              <a:t>指定金銭信託（合同運用）の概</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2-6.</a:t>
            </a:r>
            <a:r>
              <a:rPr lang="ja-JP" altLang="en-US" sz="2000" dirty="0">
                <a:latin typeface="Meiryo UI" panose="020B0604030504040204" pitchFamily="50" charset="-128"/>
                <a:ea typeface="Meiryo UI" panose="020B0604030504040204" pitchFamily="50" charset="-128"/>
              </a:rPr>
              <a:t>ものの信託の詳細</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p:txBody>
      </p:sp>
      <p:sp>
        <p:nvSpPr>
          <p:cNvPr id="4" name="テキスト ボックス 3">
            <a:extLst>
              <a:ext uri="{FF2B5EF4-FFF2-40B4-BE49-F238E27FC236}">
                <a16:creationId xmlns:a16="http://schemas.microsoft.com/office/drawing/2014/main" id="{F663EA12-A986-4D5D-9F7B-94D6CF2B7151}"/>
              </a:ext>
            </a:extLst>
          </p:cNvPr>
          <p:cNvSpPr txBox="1"/>
          <p:nvPr/>
        </p:nvSpPr>
        <p:spPr>
          <a:xfrm>
            <a:off x="6096000" y="1085287"/>
            <a:ext cx="5348698" cy="3170099"/>
          </a:xfrm>
          <a:prstGeom prst="rect">
            <a:avLst/>
          </a:prstGeom>
          <a:noFill/>
        </p:spPr>
        <p:txBody>
          <a:bodyPr wrap="square" rtlCol="0">
            <a:spAutoFit/>
          </a:bodyPr>
          <a:lstStyle/>
          <a:p>
            <a:r>
              <a:rPr lang="en-US" altLang="ja-JP" sz="2000" dirty="0">
                <a:latin typeface="Meiryo UI" panose="020B0604030504040204" pitchFamily="50" charset="-128"/>
                <a:ea typeface="Meiryo UI" panose="020B0604030504040204" pitchFamily="50" charset="-128"/>
              </a:rPr>
              <a:t>3.</a:t>
            </a:r>
            <a:r>
              <a:rPr lang="ja-JP" altLang="en-US" sz="2000" dirty="0">
                <a:latin typeface="Meiryo UI" panose="020B0604030504040204" pitchFamily="50" charset="-128"/>
                <a:ea typeface="Meiryo UI" panose="020B0604030504040204" pitchFamily="50" charset="-128"/>
              </a:rPr>
              <a:t>信託銀行の歴史</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3-1.</a:t>
            </a:r>
            <a:r>
              <a:rPr lang="ja-JP" altLang="en-US" sz="2000" dirty="0">
                <a:latin typeface="Meiryo UI" panose="020B0604030504040204" pitchFamily="50" charset="-128"/>
                <a:ea typeface="Meiryo UI" panose="020B0604030504040204" pitchFamily="50" charset="-128"/>
              </a:rPr>
              <a:t>みずほ信託の成り立ち</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3-2.</a:t>
            </a:r>
            <a:r>
              <a:rPr lang="ja-JP" altLang="en-US" sz="2000" dirty="0">
                <a:latin typeface="Meiryo UI" panose="020B0604030504040204" pitchFamily="50" charset="-128"/>
                <a:ea typeface="Meiryo UI" panose="020B0604030504040204" pitchFamily="50" charset="-128"/>
              </a:rPr>
              <a:t>三菱</a:t>
            </a:r>
            <a:r>
              <a:rPr lang="en-US" altLang="ja-JP" sz="2000" dirty="0">
                <a:latin typeface="Meiryo UI" panose="020B0604030504040204" pitchFamily="50" charset="-128"/>
                <a:ea typeface="Meiryo UI" panose="020B0604030504040204" pitchFamily="50" charset="-128"/>
              </a:rPr>
              <a:t>UFJ</a:t>
            </a:r>
            <a:r>
              <a:rPr lang="ja-JP" altLang="en-US" sz="2000" dirty="0">
                <a:latin typeface="Meiryo UI" panose="020B0604030504040204" pitchFamily="50" charset="-128"/>
                <a:ea typeface="Meiryo UI" panose="020B0604030504040204" pitchFamily="50" charset="-128"/>
              </a:rPr>
              <a:t>信託の成り立ち</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3-3.</a:t>
            </a:r>
            <a:r>
              <a:rPr lang="ja-JP" altLang="en-US" sz="2000" dirty="0">
                <a:latin typeface="Meiryo UI" panose="020B0604030504040204" pitchFamily="50" charset="-128"/>
                <a:ea typeface="Meiryo UI" panose="020B0604030504040204" pitchFamily="50" charset="-128"/>
              </a:rPr>
              <a:t>三井住友信託、日本カストディの成り立ち</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r>
              <a:rPr lang="en-US" altLang="ja-JP" sz="2000" dirty="0">
                <a:latin typeface="Meiryo UI" panose="020B0604030504040204" pitchFamily="50" charset="-128"/>
                <a:ea typeface="Meiryo UI" panose="020B0604030504040204" pitchFamily="50" charset="-128"/>
              </a:rPr>
              <a:t>4.</a:t>
            </a:r>
            <a:r>
              <a:rPr lang="ja-JP" altLang="en-US" sz="2000" dirty="0">
                <a:latin typeface="Meiryo UI" panose="020B0604030504040204" pitchFamily="50" charset="-128"/>
                <a:ea typeface="Meiryo UI" panose="020B0604030504040204" pitchFamily="50" charset="-128"/>
              </a:rPr>
              <a:t>信託銀行のシステム</a:t>
            </a:r>
            <a:endParaRPr lang="en-US" altLang="ja-JP" sz="2000" dirty="0">
              <a:latin typeface="Meiryo UI" panose="020B0604030504040204" pitchFamily="50" charset="-128"/>
              <a:ea typeface="Meiryo UI" panose="020B0604030504040204" pitchFamily="50" charset="-128"/>
            </a:endParaRPr>
          </a:p>
          <a:p>
            <a:r>
              <a:rPr lang="ja-JP" altLang="en-US" sz="2000" dirty="0">
                <a:latin typeface="Meiryo UI" panose="020B0604030504040204" pitchFamily="50" charset="-128"/>
                <a:ea typeface="Meiryo UI" panose="020B0604030504040204" pitchFamily="50" charset="-128"/>
              </a:rPr>
              <a:t>  </a:t>
            </a:r>
            <a:r>
              <a:rPr lang="en-US" altLang="ja-JP" sz="2000" dirty="0">
                <a:latin typeface="Meiryo UI" panose="020B0604030504040204" pitchFamily="50" charset="-128"/>
                <a:ea typeface="Meiryo UI" panose="020B0604030504040204" pitchFamily="50" charset="-128"/>
              </a:rPr>
              <a:t>4-1.</a:t>
            </a:r>
            <a:r>
              <a:rPr lang="ja-JP" altLang="en-US" sz="2000" dirty="0">
                <a:latin typeface="Meiryo UI" panose="020B0604030504040204" pitchFamily="50" charset="-128"/>
                <a:ea typeface="Meiryo UI" panose="020B0604030504040204" pitchFamily="50" charset="-128"/>
              </a:rPr>
              <a:t>信託銀行のシステム概要</a:t>
            </a:r>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a:p>
            <a:endParaRPr lang="en-US" altLang="ja-JP" sz="20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16817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1-1.</a:t>
            </a:r>
            <a:r>
              <a:rPr kumimoji="1" lang="ja-JP" altLang="en-US" b="1" dirty="0"/>
              <a:t>信託とは</a:t>
            </a:r>
          </a:p>
        </p:txBody>
      </p:sp>
      <p:sp>
        <p:nvSpPr>
          <p:cNvPr id="3" name="コンテンツ プレースホルダー 2"/>
          <p:cNvSpPr>
            <a:spLocks noGrp="1"/>
          </p:cNvSpPr>
          <p:nvPr>
            <p:ph sz="quarter" idx="18"/>
          </p:nvPr>
        </p:nvSpPr>
        <p:spPr/>
        <p:txBody>
          <a:bodyPr/>
          <a:lstStyle/>
          <a:p>
            <a:r>
              <a:rPr kumimoji="1" lang="ja-JP" altLang="en-US" sz="2400" dirty="0"/>
              <a:t>「信託」とは文字通り、「信じて託すこと」である。</a:t>
            </a:r>
          </a:p>
        </p:txBody>
      </p:sp>
      <p:sp>
        <p:nvSpPr>
          <p:cNvPr id="4" name="コンテンツ プレースホルダー 3"/>
          <p:cNvSpPr>
            <a:spLocks noGrp="1"/>
          </p:cNvSpPr>
          <p:nvPr>
            <p:ph sz="quarter" idx="19"/>
          </p:nvPr>
        </p:nvSpPr>
        <p:spPr/>
        <p:txBody>
          <a:bodyPr/>
          <a:lstStyle/>
          <a:p>
            <a:pPr marL="0" indent="0">
              <a:buNone/>
            </a:pPr>
            <a:r>
              <a:rPr lang="en-US" altLang="ja-JP" b="1" dirty="0"/>
              <a:t>1.</a:t>
            </a:r>
            <a:r>
              <a:rPr kumimoji="1" lang="ja-JP" altLang="en-US" b="1" dirty="0"/>
              <a:t>信託の概要</a:t>
            </a:r>
          </a:p>
        </p:txBody>
      </p:sp>
      <p:sp>
        <p:nvSpPr>
          <p:cNvPr id="5" name="正方形/長方形 4"/>
          <p:cNvSpPr/>
          <p:nvPr/>
        </p:nvSpPr>
        <p:spPr>
          <a:xfrm>
            <a:off x="5018390" y="1892700"/>
            <a:ext cx="2124221" cy="9566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dirty="0">
                <a:latin typeface="Meiryo UI" panose="020B0604030504040204" pitchFamily="50" charset="-128"/>
                <a:ea typeface="Meiryo UI" panose="020B0604030504040204" pitchFamily="50" charset="-128"/>
              </a:rPr>
              <a:t>受託者</a:t>
            </a:r>
            <a:endParaRPr kumimoji="1" lang="en-US" altLang="ja-JP" sz="2000" dirty="0">
              <a:latin typeface="Meiryo UI" panose="020B0604030504040204" pitchFamily="50" charset="-128"/>
              <a:ea typeface="Meiryo UI" panose="020B0604030504040204" pitchFamily="50" charset="-128"/>
            </a:endParaRPr>
          </a:p>
          <a:p>
            <a:pPr algn="ctr"/>
            <a:r>
              <a:rPr lang="ja-JP" altLang="en-US" sz="2000" dirty="0">
                <a:latin typeface="Meiryo UI" panose="020B0604030504040204" pitchFamily="50" charset="-128"/>
                <a:ea typeface="Meiryo UI" panose="020B0604030504040204" pitchFamily="50" charset="-128"/>
              </a:rPr>
              <a:t>（信託される）</a:t>
            </a:r>
            <a:endParaRPr kumimoji="1" lang="ja-JP" altLang="en-US" sz="2000" dirty="0">
              <a:latin typeface="Meiryo UI" panose="020B0604030504040204" pitchFamily="50" charset="-128"/>
              <a:ea typeface="Meiryo UI" panose="020B0604030504040204" pitchFamily="50" charset="-128"/>
            </a:endParaRPr>
          </a:p>
        </p:txBody>
      </p:sp>
      <p:sp>
        <p:nvSpPr>
          <p:cNvPr id="11" name="正方形/長方形 10"/>
          <p:cNvSpPr/>
          <p:nvPr/>
        </p:nvSpPr>
        <p:spPr>
          <a:xfrm>
            <a:off x="1726551" y="4008631"/>
            <a:ext cx="2124221" cy="9566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dirty="0">
                <a:latin typeface="Meiryo UI" panose="020B0604030504040204" pitchFamily="50" charset="-128"/>
                <a:ea typeface="Meiryo UI" panose="020B0604030504040204" pitchFamily="50" charset="-128"/>
              </a:rPr>
              <a:t>委託</a:t>
            </a:r>
            <a:r>
              <a:rPr kumimoji="1" lang="ja-JP" altLang="en-US" sz="2000" dirty="0">
                <a:latin typeface="Meiryo UI" panose="020B0604030504040204" pitchFamily="50" charset="-128"/>
                <a:ea typeface="Meiryo UI" panose="020B0604030504040204" pitchFamily="50" charset="-128"/>
              </a:rPr>
              <a:t>者</a:t>
            </a:r>
            <a:endParaRPr kumimoji="1" lang="en-US" altLang="ja-JP" sz="2000" dirty="0">
              <a:latin typeface="Meiryo UI" panose="020B0604030504040204" pitchFamily="50" charset="-128"/>
              <a:ea typeface="Meiryo UI" panose="020B0604030504040204" pitchFamily="50" charset="-128"/>
            </a:endParaRPr>
          </a:p>
          <a:p>
            <a:pPr algn="ctr"/>
            <a:r>
              <a:rPr lang="ja-JP" altLang="en-US" sz="2000" dirty="0">
                <a:latin typeface="Meiryo UI" panose="020B0604030504040204" pitchFamily="50" charset="-128"/>
                <a:ea typeface="Meiryo UI" panose="020B0604030504040204" pitchFamily="50" charset="-128"/>
              </a:rPr>
              <a:t>（信託する）</a:t>
            </a:r>
            <a:endParaRPr kumimoji="1" lang="ja-JP" altLang="en-US" sz="2000" dirty="0">
              <a:latin typeface="Meiryo UI" panose="020B0604030504040204" pitchFamily="50" charset="-128"/>
              <a:ea typeface="Meiryo UI" panose="020B0604030504040204" pitchFamily="50" charset="-128"/>
            </a:endParaRPr>
          </a:p>
        </p:txBody>
      </p:sp>
      <p:sp>
        <p:nvSpPr>
          <p:cNvPr id="12" name="正方形/長方形 11"/>
          <p:cNvSpPr/>
          <p:nvPr/>
        </p:nvSpPr>
        <p:spPr>
          <a:xfrm>
            <a:off x="8223480" y="4008631"/>
            <a:ext cx="2124221" cy="9566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dirty="0">
                <a:latin typeface="Meiryo UI" panose="020B0604030504040204" pitchFamily="50" charset="-128"/>
                <a:ea typeface="Meiryo UI" panose="020B0604030504040204" pitchFamily="50" charset="-128"/>
              </a:rPr>
              <a:t>受益</a:t>
            </a:r>
            <a:r>
              <a:rPr kumimoji="1" lang="ja-JP" altLang="en-US" sz="2000" dirty="0">
                <a:latin typeface="Meiryo UI" panose="020B0604030504040204" pitchFamily="50" charset="-128"/>
                <a:ea typeface="Meiryo UI" panose="020B0604030504040204" pitchFamily="50" charset="-128"/>
              </a:rPr>
              <a:t>者</a:t>
            </a:r>
            <a:endParaRPr kumimoji="1" lang="en-US" altLang="ja-JP" sz="2000" dirty="0">
              <a:latin typeface="Meiryo UI" panose="020B0604030504040204" pitchFamily="50" charset="-128"/>
              <a:ea typeface="Meiryo UI" panose="020B0604030504040204" pitchFamily="50" charset="-128"/>
            </a:endParaRPr>
          </a:p>
          <a:p>
            <a:pPr algn="ctr"/>
            <a:r>
              <a:rPr lang="ja-JP" altLang="en-US" sz="2000" dirty="0">
                <a:latin typeface="Meiryo UI" panose="020B0604030504040204" pitchFamily="50" charset="-128"/>
                <a:ea typeface="Meiryo UI" panose="020B0604030504040204" pitchFamily="50" charset="-128"/>
              </a:rPr>
              <a:t>（信託利益を受ける）</a:t>
            </a:r>
            <a:endParaRPr kumimoji="1" lang="en-US" altLang="ja-JP" sz="2000" dirty="0">
              <a:latin typeface="Meiryo UI" panose="020B0604030504040204" pitchFamily="50" charset="-128"/>
              <a:ea typeface="Meiryo UI" panose="020B0604030504040204" pitchFamily="50" charset="-128"/>
            </a:endParaRPr>
          </a:p>
        </p:txBody>
      </p:sp>
      <p:sp>
        <p:nvSpPr>
          <p:cNvPr id="13" name="正方形/長方形 12"/>
          <p:cNvSpPr/>
          <p:nvPr/>
        </p:nvSpPr>
        <p:spPr>
          <a:xfrm>
            <a:off x="5018390" y="5786644"/>
            <a:ext cx="2124221" cy="95660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sz="2000" dirty="0">
                <a:latin typeface="Meiryo UI" panose="020B0604030504040204" pitchFamily="50" charset="-128"/>
                <a:ea typeface="Meiryo UI" panose="020B0604030504040204" pitchFamily="50" charset="-128"/>
              </a:rPr>
              <a:t>信託財産</a:t>
            </a:r>
          </a:p>
        </p:txBody>
      </p:sp>
      <p:cxnSp>
        <p:nvCxnSpPr>
          <p:cNvPr id="7" name="直線コネクタ 6"/>
          <p:cNvCxnSpPr>
            <a:stCxn id="11" idx="3"/>
            <a:endCxn id="13" idx="1"/>
          </p:cNvCxnSpPr>
          <p:nvPr/>
        </p:nvCxnSpPr>
        <p:spPr>
          <a:xfrm>
            <a:off x="3850772" y="4486933"/>
            <a:ext cx="1167618" cy="1778013"/>
          </a:xfrm>
          <a:prstGeom prst="line">
            <a:avLst/>
          </a:prstGeom>
          <a:ln>
            <a:prstDash val="dash"/>
          </a:ln>
        </p:spPr>
        <p:style>
          <a:lnRef idx="1">
            <a:schemeClr val="dk1"/>
          </a:lnRef>
          <a:fillRef idx="0">
            <a:schemeClr val="dk1"/>
          </a:fillRef>
          <a:effectRef idx="0">
            <a:schemeClr val="dk1"/>
          </a:effectRef>
          <a:fontRef idx="minor">
            <a:schemeClr val="tx1"/>
          </a:fontRef>
        </p:style>
      </p:cxnSp>
      <p:cxnSp>
        <p:nvCxnSpPr>
          <p:cNvPr id="16" name="直線コネクタ 15"/>
          <p:cNvCxnSpPr>
            <a:stCxn id="5" idx="2"/>
            <a:endCxn id="13" idx="0"/>
          </p:cNvCxnSpPr>
          <p:nvPr/>
        </p:nvCxnSpPr>
        <p:spPr>
          <a:xfrm>
            <a:off x="6080501" y="2849303"/>
            <a:ext cx="0" cy="2937341"/>
          </a:xfrm>
          <a:prstGeom prst="line">
            <a:avLst/>
          </a:prstGeom>
        </p:spPr>
        <p:style>
          <a:lnRef idx="1">
            <a:schemeClr val="dk1"/>
          </a:lnRef>
          <a:fillRef idx="0">
            <a:schemeClr val="dk1"/>
          </a:fillRef>
          <a:effectRef idx="0">
            <a:schemeClr val="dk1"/>
          </a:effectRef>
          <a:fontRef idx="minor">
            <a:schemeClr val="tx1"/>
          </a:fontRef>
        </p:style>
      </p:cxnSp>
      <p:cxnSp>
        <p:nvCxnSpPr>
          <p:cNvPr id="20" name="直線コネクタ 19"/>
          <p:cNvCxnSpPr/>
          <p:nvPr/>
        </p:nvCxnSpPr>
        <p:spPr>
          <a:xfrm flipV="1">
            <a:off x="3048913" y="2610704"/>
            <a:ext cx="1969477" cy="1397927"/>
          </a:xfrm>
          <a:prstGeom prst="line">
            <a:avLst/>
          </a:prstGeom>
          <a:ln>
            <a:tailEnd type="triangle" w="lg" len="lg"/>
          </a:ln>
        </p:spPr>
        <p:style>
          <a:lnRef idx="1">
            <a:schemeClr val="dk1"/>
          </a:lnRef>
          <a:fillRef idx="0">
            <a:schemeClr val="dk1"/>
          </a:fillRef>
          <a:effectRef idx="0">
            <a:schemeClr val="dk1"/>
          </a:effectRef>
          <a:fontRef idx="minor">
            <a:schemeClr val="tx1"/>
          </a:fontRef>
        </p:style>
      </p:cxnSp>
      <p:cxnSp>
        <p:nvCxnSpPr>
          <p:cNvPr id="25" name="直線コネクタ 24"/>
          <p:cNvCxnSpPr/>
          <p:nvPr/>
        </p:nvCxnSpPr>
        <p:spPr>
          <a:xfrm flipV="1">
            <a:off x="2373663" y="2110147"/>
            <a:ext cx="2644727" cy="1898484"/>
          </a:xfrm>
          <a:prstGeom prst="line">
            <a:avLst/>
          </a:prstGeom>
          <a:ln>
            <a:headEnd type="triangle" w="lg" len="lg"/>
            <a:tailEnd type="triangle" w="lg" len="lg"/>
          </a:ln>
        </p:spPr>
        <p:style>
          <a:lnRef idx="1">
            <a:schemeClr val="dk1"/>
          </a:lnRef>
          <a:fillRef idx="0">
            <a:schemeClr val="dk1"/>
          </a:fillRef>
          <a:effectRef idx="0">
            <a:schemeClr val="dk1"/>
          </a:effectRef>
          <a:fontRef idx="minor">
            <a:schemeClr val="tx1"/>
          </a:fontRef>
        </p:style>
      </p:cxnSp>
      <p:cxnSp>
        <p:nvCxnSpPr>
          <p:cNvPr id="97" name="直線矢印コネクタ 96"/>
          <p:cNvCxnSpPr>
            <a:stCxn id="5" idx="3"/>
            <a:endCxn id="12" idx="0"/>
          </p:cNvCxnSpPr>
          <p:nvPr/>
        </p:nvCxnSpPr>
        <p:spPr>
          <a:xfrm>
            <a:off x="7142611" y="2371002"/>
            <a:ext cx="2142980" cy="1637629"/>
          </a:xfrm>
          <a:prstGeom prst="straightConnector1">
            <a:avLst/>
          </a:prstGeom>
          <a:ln>
            <a:tailEnd type="triangle" w="lg" len="lg"/>
          </a:ln>
        </p:spPr>
        <p:style>
          <a:lnRef idx="1">
            <a:schemeClr val="dk1"/>
          </a:lnRef>
          <a:fillRef idx="0">
            <a:schemeClr val="dk1"/>
          </a:fillRef>
          <a:effectRef idx="0">
            <a:schemeClr val="dk1"/>
          </a:effectRef>
          <a:fontRef idx="minor">
            <a:schemeClr val="tx1"/>
          </a:fontRef>
        </p:style>
      </p:cxnSp>
      <p:sp>
        <p:nvSpPr>
          <p:cNvPr id="98" name="テキスト ボックス 97"/>
          <p:cNvSpPr txBox="1"/>
          <p:nvPr/>
        </p:nvSpPr>
        <p:spPr>
          <a:xfrm>
            <a:off x="1968720" y="2690057"/>
            <a:ext cx="2092272"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信託契約の締結</a:t>
            </a:r>
          </a:p>
        </p:txBody>
      </p:sp>
      <p:sp>
        <p:nvSpPr>
          <p:cNvPr id="36" name="テキスト ボックス 35"/>
          <p:cNvSpPr txBox="1"/>
          <p:nvPr/>
        </p:nvSpPr>
        <p:spPr>
          <a:xfrm>
            <a:off x="4033651" y="3296222"/>
            <a:ext cx="2092272" cy="646331"/>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信託目的の設定</a:t>
            </a:r>
            <a:endParaRPr kumimoji="1"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財産の移転</a:t>
            </a:r>
          </a:p>
        </p:txBody>
      </p:sp>
      <p:sp>
        <p:nvSpPr>
          <p:cNvPr id="37" name="テキスト ボックス 36"/>
          <p:cNvSpPr txBox="1"/>
          <p:nvPr/>
        </p:nvSpPr>
        <p:spPr>
          <a:xfrm>
            <a:off x="8034956" y="2644441"/>
            <a:ext cx="2092272"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信託利益</a:t>
            </a:r>
          </a:p>
        </p:txBody>
      </p:sp>
      <p:sp>
        <p:nvSpPr>
          <p:cNvPr id="42" name="テキスト ボックス 41"/>
          <p:cNvSpPr txBox="1"/>
          <p:nvPr/>
        </p:nvSpPr>
        <p:spPr>
          <a:xfrm>
            <a:off x="6217959" y="4985176"/>
            <a:ext cx="2092272" cy="646331"/>
          </a:xfrm>
          <a:prstGeom prst="rect">
            <a:avLst/>
          </a:prstGeom>
          <a:noFill/>
        </p:spPr>
        <p:txBody>
          <a:bodyPr wrap="square" rtlCol="0">
            <a:spAutoFit/>
          </a:bodyPr>
          <a:lstStyle/>
          <a:p>
            <a:r>
              <a:rPr lang="ja-JP" altLang="en-US" dirty="0">
                <a:latin typeface="Meiryo UI" panose="020B0604030504040204" pitchFamily="50" charset="-128"/>
                <a:ea typeface="Meiryo UI" panose="020B0604030504040204" pitchFamily="50" charset="-128"/>
              </a:rPr>
              <a:t>善管注意義務</a:t>
            </a:r>
            <a:endParaRPr lang="en-US" altLang="ja-JP" dirty="0">
              <a:latin typeface="Meiryo UI" panose="020B0604030504040204" pitchFamily="50" charset="-128"/>
              <a:ea typeface="Meiryo UI" panose="020B0604030504040204" pitchFamily="50" charset="-128"/>
            </a:endParaRPr>
          </a:p>
          <a:p>
            <a:r>
              <a:rPr kumimoji="1" lang="ja-JP" altLang="en-US" dirty="0">
                <a:latin typeface="Meiryo UI" panose="020B0604030504040204" pitchFamily="50" charset="-128"/>
                <a:ea typeface="Meiryo UI" panose="020B0604030504040204" pitchFamily="50" charset="-128"/>
              </a:rPr>
              <a:t>分別管理義務など</a:t>
            </a:r>
          </a:p>
        </p:txBody>
      </p:sp>
      <p:sp>
        <p:nvSpPr>
          <p:cNvPr id="43" name="テキスト ボックス 42"/>
          <p:cNvSpPr txBox="1"/>
          <p:nvPr/>
        </p:nvSpPr>
        <p:spPr>
          <a:xfrm>
            <a:off x="4768868" y="5123675"/>
            <a:ext cx="2092272" cy="369332"/>
          </a:xfrm>
          <a:prstGeom prst="rect">
            <a:avLst/>
          </a:prstGeom>
          <a:noFill/>
        </p:spPr>
        <p:txBody>
          <a:bodyPr wrap="square" rtlCol="0">
            <a:spAutoFit/>
          </a:bodyPr>
          <a:lstStyle/>
          <a:p>
            <a:r>
              <a:rPr kumimoji="1" lang="ja-JP" altLang="en-US" dirty="0">
                <a:latin typeface="Meiryo UI" panose="020B0604030504040204" pitchFamily="50" charset="-128"/>
                <a:ea typeface="Meiryo UI" panose="020B0604030504040204" pitchFamily="50" charset="-128"/>
              </a:rPr>
              <a:t>管理・処分</a:t>
            </a:r>
          </a:p>
        </p:txBody>
      </p:sp>
      <p:sp>
        <p:nvSpPr>
          <p:cNvPr id="19" name="テキスト ボックス 18"/>
          <p:cNvSpPr txBox="1"/>
          <p:nvPr/>
        </p:nvSpPr>
        <p:spPr>
          <a:xfrm>
            <a:off x="7866529" y="6264947"/>
            <a:ext cx="3511333" cy="523220"/>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上記は委託者≠受託者である他益信託であり、委託者＝受託者の場合は自益信託という。</a:t>
            </a:r>
          </a:p>
        </p:txBody>
      </p:sp>
      <p:sp>
        <p:nvSpPr>
          <p:cNvPr id="6" name="下矢印 5"/>
          <p:cNvSpPr/>
          <p:nvPr/>
        </p:nvSpPr>
        <p:spPr>
          <a:xfrm>
            <a:off x="2475912" y="1703934"/>
            <a:ext cx="1220114" cy="945663"/>
          </a:xfrm>
          <a:prstGeom prst="down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419443355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1-2.</a:t>
            </a:r>
            <a:r>
              <a:rPr kumimoji="1" lang="ja-JP" altLang="en-US" b="1" dirty="0"/>
              <a:t>信託の歴史</a:t>
            </a:r>
          </a:p>
        </p:txBody>
      </p:sp>
      <p:sp>
        <p:nvSpPr>
          <p:cNvPr id="3" name="コンテンツ プレースホルダー 2"/>
          <p:cNvSpPr>
            <a:spLocks noGrp="1"/>
          </p:cNvSpPr>
          <p:nvPr>
            <p:ph sz="quarter" idx="18"/>
          </p:nvPr>
        </p:nvSpPr>
        <p:spPr>
          <a:xfrm>
            <a:off x="381000" y="1156850"/>
            <a:ext cx="11429999" cy="5405315"/>
          </a:xfrm>
        </p:spPr>
        <p:txBody>
          <a:bodyPr/>
          <a:lstStyle/>
          <a:p>
            <a:pPr>
              <a:spcBef>
                <a:spcPts val="0"/>
              </a:spcBef>
              <a:spcAft>
                <a:spcPts val="0"/>
              </a:spcAft>
            </a:pPr>
            <a:r>
              <a:rPr kumimoji="1" lang="ja-JP" altLang="en-US" sz="2400" dirty="0"/>
              <a:t>信託</a:t>
            </a:r>
            <a:r>
              <a:rPr lang="ja-JP" altLang="en-US" sz="2400" dirty="0"/>
              <a:t>（</a:t>
            </a:r>
            <a:r>
              <a:rPr lang="en-US" altLang="ja-JP" sz="2400" dirty="0"/>
              <a:t>Trust</a:t>
            </a:r>
            <a:r>
              <a:rPr lang="ja-JP" altLang="en-US" sz="2400" dirty="0"/>
              <a:t>）は古くは、ユース（</a:t>
            </a:r>
            <a:r>
              <a:rPr lang="en-US" altLang="ja-JP" sz="2400" dirty="0"/>
              <a:t>Use</a:t>
            </a:r>
            <a:r>
              <a:rPr lang="ja-JP" altLang="en-US" sz="2400" dirty="0"/>
              <a:t>）といわれていた。</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ユースは、十字軍で遠征した兵士たちにより残された家族のために使われ、中世イギリスで教会への土地の寄進が禁じられたために、その回避策として寄進者らに使われた。</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その後、アメリカ（移民の国ゆえに周囲に信頼できる人が少ない）に渡って成長し、受託者を会社組織にした営業信託（</a:t>
            </a:r>
            <a:r>
              <a:rPr lang="en-US" altLang="ja-JP" sz="2400" dirty="0"/>
              <a:t>Trust</a:t>
            </a:r>
            <a:r>
              <a:rPr lang="ja-JP" altLang="en-US" sz="2400" dirty="0"/>
              <a:t>）に発展した。</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日本で「信託」の言葉が法律に最初に登場するのは、「</a:t>
            </a:r>
            <a:r>
              <a:rPr lang="zh-TW" altLang="en-US" sz="2400" dirty="0"/>
              <a:t>日本興業銀行法</a:t>
            </a:r>
            <a:r>
              <a:rPr lang="ja-JP" altLang="en-US" sz="2400" dirty="0"/>
              <a:t>」（</a:t>
            </a:r>
            <a:r>
              <a:rPr lang="en-US" altLang="ja-JP" sz="2400" dirty="0"/>
              <a:t>1900</a:t>
            </a:r>
            <a:r>
              <a:rPr lang="ja-JP" altLang="en-US" sz="2400" dirty="0"/>
              <a:t>年</a:t>
            </a:r>
            <a:r>
              <a:rPr lang="zh-TW" altLang="en-US" sz="2400" dirty="0"/>
              <a:t>）</a:t>
            </a:r>
            <a:r>
              <a:rPr lang="ja-JP" altLang="en-US" sz="2400" dirty="0"/>
              <a:t>で、本格的な信託制度が「信託法」と「信託業法」（</a:t>
            </a:r>
            <a:r>
              <a:rPr lang="en-US" altLang="ja-JP" sz="2400" dirty="0"/>
              <a:t>1922</a:t>
            </a:r>
            <a:r>
              <a:rPr lang="ja-JP" altLang="en-US" sz="2400" dirty="0"/>
              <a:t>年）により整備された。</a:t>
            </a:r>
            <a:endParaRPr lang="en-US" altLang="ja-JP" sz="2400" dirty="0"/>
          </a:p>
          <a:p>
            <a:pPr>
              <a:spcBef>
                <a:spcPts val="0"/>
              </a:spcBef>
              <a:spcAft>
                <a:spcPts val="0"/>
              </a:spcAft>
            </a:pPr>
            <a:endParaRPr lang="en-US" altLang="ja-JP" sz="2400" dirty="0"/>
          </a:p>
          <a:p>
            <a:pPr>
              <a:spcBef>
                <a:spcPts val="0"/>
              </a:spcBef>
              <a:spcAft>
                <a:spcPts val="0"/>
              </a:spcAft>
            </a:pPr>
            <a:r>
              <a:rPr lang="en-US" altLang="ja-JP" sz="2400" dirty="0"/>
              <a:t>2006</a:t>
            </a:r>
            <a:r>
              <a:rPr lang="ja-JP" altLang="en-US" sz="2400" dirty="0"/>
              <a:t>年の信託法改正により、制度の合理化、信託の多様化</a:t>
            </a:r>
            <a:r>
              <a:rPr lang="ja-JP" altLang="en-US" sz="2400"/>
              <a:t>などが盛り込まれて</a:t>
            </a:r>
            <a:r>
              <a:rPr lang="ja-JP" altLang="en-US" sz="2400" dirty="0"/>
              <a:t>、現在に至る。</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1.</a:t>
            </a:r>
            <a:r>
              <a:rPr kumimoji="1" lang="ja-JP" altLang="en-US" b="1" dirty="0"/>
              <a:t>信託の概要</a:t>
            </a:r>
          </a:p>
        </p:txBody>
      </p:sp>
    </p:spTree>
    <p:extLst>
      <p:ext uri="{BB962C8B-B14F-4D97-AF65-F5344CB8AC3E}">
        <p14:creationId xmlns:p14="http://schemas.microsoft.com/office/powerpoint/2010/main" val="121201823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1-3.</a:t>
            </a:r>
            <a:r>
              <a:rPr kumimoji="1" lang="ja-JP" altLang="en-US" b="1" dirty="0"/>
              <a:t>信託銀行とそのほかの金融機関</a:t>
            </a:r>
          </a:p>
        </p:txBody>
      </p:sp>
      <p:sp>
        <p:nvSpPr>
          <p:cNvPr id="3" name="コンテンツ プレースホルダー 2"/>
          <p:cNvSpPr>
            <a:spLocks noGrp="1"/>
          </p:cNvSpPr>
          <p:nvPr>
            <p:ph sz="quarter" idx="18"/>
          </p:nvPr>
        </p:nvSpPr>
        <p:spPr>
          <a:xfrm>
            <a:off x="381000" y="1156850"/>
            <a:ext cx="11429999" cy="913997"/>
          </a:xfrm>
        </p:spPr>
        <p:txBody>
          <a:bodyPr/>
          <a:lstStyle/>
          <a:p>
            <a:pPr>
              <a:spcBef>
                <a:spcPts val="0"/>
              </a:spcBef>
              <a:spcAft>
                <a:spcPts val="0"/>
              </a:spcAft>
            </a:pPr>
            <a:r>
              <a:rPr kumimoji="1" lang="ja-JP" altLang="en-US" sz="2400" dirty="0"/>
              <a:t>信託銀行は銀行業務だけではなく、信託業務なども行っている銀行（計</a:t>
            </a:r>
            <a:r>
              <a:rPr kumimoji="1" lang="en-US" altLang="ja-JP" sz="2400" dirty="0"/>
              <a:t>13</a:t>
            </a:r>
            <a:r>
              <a:rPr kumimoji="1" lang="ja-JP" altLang="en-US" sz="2400" dirty="0"/>
              <a:t>行）である</a:t>
            </a:r>
            <a:r>
              <a:rPr lang="ja-JP" altLang="en-US" sz="2400" dirty="0"/>
              <a:t>。</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1.</a:t>
            </a:r>
            <a:r>
              <a:rPr kumimoji="1" lang="ja-JP" altLang="en-US" b="1" dirty="0"/>
              <a:t>信託の概要</a:t>
            </a:r>
          </a:p>
        </p:txBody>
      </p:sp>
      <p:graphicFrame>
        <p:nvGraphicFramePr>
          <p:cNvPr id="7" name="表 6"/>
          <p:cNvGraphicFramePr>
            <a:graphicFrameLocks noGrp="1"/>
          </p:cNvGraphicFramePr>
          <p:nvPr>
            <p:extLst>
              <p:ext uri="{D42A27DB-BD31-4B8C-83A1-F6EECF244321}">
                <p14:modId xmlns:p14="http://schemas.microsoft.com/office/powerpoint/2010/main" val="2331081221"/>
              </p:ext>
            </p:extLst>
          </p:nvPr>
        </p:nvGraphicFramePr>
        <p:xfrm>
          <a:off x="0" y="1990694"/>
          <a:ext cx="12192000" cy="4531831"/>
        </p:xfrm>
        <a:graphic>
          <a:graphicData uri="http://schemas.openxmlformats.org/drawingml/2006/table">
            <a:tbl>
              <a:tblPr/>
              <a:tblGrid>
                <a:gridCol w="887506">
                  <a:extLst>
                    <a:ext uri="{9D8B030D-6E8A-4147-A177-3AD203B41FA5}">
                      <a16:colId xmlns:a16="http://schemas.microsoft.com/office/drawing/2014/main" val="2225981214"/>
                    </a:ext>
                  </a:extLst>
                </a:gridCol>
                <a:gridCol w="1046234">
                  <a:extLst>
                    <a:ext uri="{9D8B030D-6E8A-4147-A177-3AD203B41FA5}">
                      <a16:colId xmlns:a16="http://schemas.microsoft.com/office/drawing/2014/main" val="4163809135"/>
                    </a:ext>
                  </a:extLst>
                </a:gridCol>
                <a:gridCol w="1287588">
                  <a:extLst>
                    <a:ext uri="{9D8B030D-6E8A-4147-A177-3AD203B41FA5}">
                      <a16:colId xmlns:a16="http://schemas.microsoft.com/office/drawing/2014/main" val="1821982893"/>
                    </a:ext>
                  </a:extLst>
                </a:gridCol>
                <a:gridCol w="8970672">
                  <a:extLst>
                    <a:ext uri="{9D8B030D-6E8A-4147-A177-3AD203B41FA5}">
                      <a16:colId xmlns:a16="http://schemas.microsoft.com/office/drawing/2014/main" val="1139822767"/>
                    </a:ext>
                  </a:extLst>
                </a:gridCol>
              </a:tblGrid>
              <a:tr h="591885">
                <a:tc>
                  <a:txBody>
                    <a:bodyPr/>
                    <a:lstStyle/>
                    <a:p>
                      <a:pPr algn="ctr"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中央銀行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日本銀行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日本唯一の中央銀行。金融政策立案・施行、紙幣発行、最終</a:t>
                      </a:r>
                      <a:r>
                        <a:rPr lang="en-US" altLang="ja-JP" sz="15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銀行間</a:t>
                      </a:r>
                      <a:r>
                        <a:rPr lang="en-US" altLang="ja-JP" sz="1500" b="0" i="0" u="none" strike="noStrike" dirty="0">
                          <a:solidFill>
                            <a:srgbClr val="000000"/>
                          </a:solidFill>
                          <a:effectLst/>
                          <a:latin typeface="Meiryo UI" panose="020B0604030504040204" pitchFamily="50" charset="-128"/>
                          <a:ea typeface="Meiryo UI" panose="020B0604030504040204" pitchFamily="50" charset="-128"/>
                        </a:rPr>
                        <a:t>)</a:t>
                      </a: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決済、調査、検査（日銀考査）などを行う。金融機関の「最後の貸し手」でもある。</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4125837"/>
                  </a:ext>
                </a:extLst>
              </a:tr>
              <a:tr h="300088">
                <a:tc rowSpan="6">
                  <a:txBody>
                    <a:bodyPr/>
                    <a:lstStyle/>
                    <a:p>
                      <a:pPr algn="ctr"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市中銀行</a:t>
                      </a:r>
                      <a:r>
                        <a:rPr lang="en-US" altLang="ja-JP" sz="1500" b="0" i="0" u="none" strike="noStrike" dirty="0">
                          <a:solidFill>
                            <a:srgbClr val="000000"/>
                          </a:solidFill>
                          <a:effectLst/>
                          <a:latin typeface="Meiryo UI" panose="020B0604030504040204" pitchFamily="50" charset="-128"/>
                          <a:ea typeface="Meiryo UI" panose="020B0604030504040204" pitchFamily="50" charset="-128"/>
                        </a:rPr>
                        <a:t>(*1)</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4">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普通銀行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ja-JP" altLang="en-US" sz="1500" b="0" i="0" u="none" strike="noStrike">
                          <a:solidFill>
                            <a:srgbClr val="000000"/>
                          </a:solidFill>
                          <a:effectLst/>
                          <a:latin typeface="Meiryo UI" panose="020B0604030504040204" pitchFamily="50" charset="-128"/>
                          <a:ea typeface="Meiryo UI" panose="020B0604030504040204" pitchFamily="50" charset="-128"/>
                        </a:rPr>
                        <a:t>都市銀行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ja-JP" altLang="en-US" sz="1500" b="0" i="0" u="none" strike="noStrike">
                          <a:solidFill>
                            <a:srgbClr val="000000"/>
                          </a:solidFill>
                          <a:effectLst/>
                          <a:latin typeface="Meiryo UI" panose="020B0604030504040204" pitchFamily="50" charset="-128"/>
                          <a:ea typeface="Meiryo UI" panose="020B0604030504040204" pitchFamily="50" charset="-128"/>
                        </a:rPr>
                        <a:t>みずほ銀行、三菱</a:t>
                      </a:r>
                      <a:r>
                        <a:rPr lang="en-US" altLang="ja-JP" sz="1500" b="0" i="0" u="none" strike="noStrike">
                          <a:solidFill>
                            <a:srgbClr val="000000"/>
                          </a:solidFill>
                          <a:effectLst/>
                          <a:latin typeface="Meiryo UI" panose="020B0604030504040204" pitchFamily="50" charset="-128"/>
                          <a:ea typeface="Meiryo UI" panose="020B0604030504040204" pitchFamily="50" charset="-128"/>
                        </a:rPr>
                        <a:t>UFJ</a:t>
                      </a:r>
                      <a:r>
                        <a:rPr lang="ja-JP" altLang="en-US" sz="1500" b="0" i="0" u="none" strike="noStrike">
                          <a:solidFill>
                            <a:srgbClr val="000000"/>
                          </a:solidFill>
                          <a:effectLst/>
                          <a:latin typeface="Meiryo UI" panose="020B0604030504040204" pitchFamily="50" charset="-128"/>
                          <a:ea typeface="Meiryo UI" panose="020B0604030504040204" pitchFamily="50" charset="-128"/>
                        </a:rPr>
                        <a:t>銀行、三井住友銀行、りそな銀行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73098550"/>
                  </a:ext>
                </a:extLst>
              </a:tr>
              <a:tr h="300088">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地方銀行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ja-JP" altLang="en-US" sz="1500" b="0" i="0" u="none" strike="noStrike">
                          <a:solidFill>
                            <a:srgbClr val="000000"/>
                          </a:solidFill>
                          <a:effectLst/>
                          <a:latin typeface="Meiryo UI" panose="020B0604030504040204" pitchFamily="50" charset="-128"/>
                          <a:ea typeface="Meiryo UI" panose="020B0604030504040204" pitchFamily="50" charset="-128"/>
                        </a:rPr>
                        <a:t>地域金融機関の代表。横浜銀行、千葉銀行、静岡銀行、第四銀行、十六銀行、中国銀行等</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78691834"/>
                  </a:ext>
                </a:extLst>
              </a:tr>
              <a:tr h="300088">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zh-TW" altLang="en-US" sz="1500" b="0" i="0" u="none" strike="noStrike" dirty="0">
                          <a:solidFill>
                            <a:srgbClr val="000000"/>
                          </a:solidFill>
                          <a:effectLst/>
                          <a:latin typeface="Meiryo UI" panose="020B0604030504040204" pitchFamily="50" charset="-128"/>
                          <a:ea typeface="Meiryo UI" panose="020B0604030504040204" pitchFamily="50" charset="-128"/>
                        </a:rPr>
                        <a:t>第二地方銀行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ja-JP" altLang="en-US" sz="1500" b="0" i="0" u="none" strike="noStrike">
                          <a:solidFill>
                            <a:srgbClr val="000000"/>
                          </a:solidFill>
                          <a:effectLst/>
                          <a:latin typeface="Meiryo UI" panose="020B0604030504040204" pitchFamily="50" charset="-128"/>
                          <a:ea typeface="Meiryo UI" panose="020B0604030504040204" pitchFamily="50" charset="-128"/>
                        </a:rPr>
                        <a:t>前身は各地域の相互銀行。北洋銀行、京葉銀行、トマト銀行、神奈川銀行、東京スター銀行等</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73239272"/>
                  </a:ext>
                </a:extLst>
              </a:tr>
              <a:tr h="300088">
                <a:tc vMerge="1">
                  <a:txBody>
                    <a:bodyPr/>
                    <a:lstStyle/>
                    <a:p>
                      <a:endParaRPr kumimoji="1" lang="ja-JP" altLang="en-US"/>
                    </a:p>
                  </a:txBody>
                  <a:tcPr/>
                </a:tc>
                <a:tc vMerge="1">
                  <a:txBody>
                    <a:bodyPr/>
                    <a:lstStyle/>
                    <a:p>
                      <a:endParaRPr kumimoji="1" lang="ja-JP" altLang="en-US"/>
                    </a:p>
                  </a:txBody>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その他</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ゆうちょ銀行、新生銀行、あおぞら銀行、ソニー銀行、</a:t>
                      </a:r>
                      <a:r>
                        <a:rPr lang="en-US" altLang="ja-JP" sz="1500" b="0" i="0" u="none" strike="noStrike" dirty="0">
                          <a:solidFill>
                            <a:srgbClr val="000000"/>
                          </a:solidFill>
                          <a:effectLst/>
                          <a:latin typeface="Meiryo UI" panose="020B0604030504040204" pitchFamily="50" charset="-128"/>
                          <a:ea typeface="Meiryo UI" panose="020B0604030504040204" pitchFamily="50" charset="-128"/>
                        </a:rPr>
                        <a:t>au</a:t>
                      </a: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じぶん銀行、セブン銀行、埼玉りそな銀行等</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103445360"/>
                  </a:ext>
                </a:extLst>
              </a:tr>
              <a:tr h="445987">
                <a:tc vMerge="1">
                  <a:txBody>
                    <a:bodyPr/>
                    <a:lstStyle/>
                    <a:p>
                      <a:endParaRPr kumimoji="1" lang="ja-JP" altLang="en-US"/>
                    </a:p>
                  </a:txBody>
                  <a:tcPr/>
                </a:tc>
                <a:tc gridSpan="2">
                  <a:txBody>
                    <a:bodyPr/>
                    <a:lstStyle/>
                    <a:p>
                      <a:pPr algn="l" rtl="0" fontAlgn="ctr"/>
                      <a:r>
                        <a:rPr lang="ja-JP" altLang="en-US" sz="1500" b="0" i="0" u="none" strike="noStrike">
                          <a:solidFill>
                            <a:srgbClr val="FFFFFF"/>
                          </a:solidFill>
                          <a:effectLst/>
                          <a:latin typeface="Meiryo UI" panose="020B0604030504040204" pitchFamily="50" charset="-128"/>
                          <a:ea typeface="Meiryo UI" panose="020B0604030504040204" pitchFamily="50" charset="-128"/>
                        </a:rPr>
                        <a:t>信託銀行</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hMerge="1">
                  <a:txBody>
                    <a:bodyPr/>
                    <a:lstStyle/>
                    <a:p>
                      <a:endParaRPr kumimoji="1" lang="ja-JP" altLang="en-US"/>
                    </a:p>
                  </a:txBody>
                  <a:tcPr/>
                </a:tc>
                <a:tc>
                  <a:txBody>
                    <a:bodyPr/>
                    <a:lstStyle/>
                    <a:p>
                      <a:pPr algn="l" rtl="0" fontAlgn="ctr"/>
                      <a:r>
                        <a:rPr lang="ja-JP" altLang="en-US" sz="1500" b="0" i="0" u="none" strike="noStrike" dirty="0">
                          <a:solidFill>
                            <a:srgbClr val="FFFFFF"/>
                          </a:solidFill>
                          <a:effectLst/>
                          <a:latin typeface="Meiryo UI" panose="020B0604030504040204" pitchFamily="50" charset="-128"/>
                          <a:ea typeface="Meiryo UI" panose="020B0604030504040204" pitchFamily="50" charset="-128"/>
                        </a:rPr>
                        <a:t>三菱</a:t>
                      </a:r>
                      <a:r>
                        <a:rPr lang="en-US" altLang="ja-JP" sz="1500" b="0" i="0" u="none" strike="noStrike" dirty="0">
                          <a:solidFill>
                            <a:srgbClr val="FFFFFF"/>
                          </a:solidFill>
                          <a:effectLst/>
                          <a:latin typeface="Meiryo UI" panose="020B0604030504040204" pitchFamily="50" charset="-128"/>
                          <a:ea typeface="Meiryo UI" panose="020B0604030504040204" pitchFamily="50" charset="-128"/>
                        </a:rPr>
                        <a:t>UFJ</a:t>
                      </a:r>
                      <a:r>
                        <a:rPr lang="ja-JP" altLang="en-US" sz="1500" b="0" i="0" u="none" strike="noStrike" dirty="0">
                          <a:solidFill>
                            <a:srgbClr val="FFFFFF"/>
                          </a:solidFill>
                          <a:effectLst/>
                          <a:latin typeface="Meiryo UI" panose="020B0604030504040204" pitchFamily="50" charset="-128"/>
                          <a:ea typeface="Meiryo UI" panose="020B0604030504040204" pitchFamily="50" charset="-128"/>
                        </a:rPr>
                        <a:t>信託銀行、三井住友信託銀行、みずほ信託銀行、日本マスタートラスト信託銀行</a:t>
                      </a:r>
                      <a:r>
                        <a:rPr lang="en-US" altLang="ja-JP" sz="1500" b="0" i="0" u="none" strike="noStrike" dirty="0">
                          <a:solidFill>
                            <a:srgbClr val="FFFFFF"/>
                          </a:solidFill>
                          <a:effectLst/>
                          <a:latin typeface="Meiryo UI" panose="020B0604030504040204" pitchFamily="50" charset="-128"/>
                          <a:ea typeface="Meiryo UI" panose="020B0604030504040204" pitchFamily="50" charset="-128"/>
                        </a:rPr>
                        <a:t>(*3)</a:t>
                      </a:r>
                      <a:r>
                        <a:rPr lang="ja-JP" altLang="en-US" sz="1500" b="0" i="0" u="none" strike="noStrike" dirty="0" err="1">
                          <a:solidFill>
                            <a:srgbClr val="FFFFFF"/>
                          </a:solidFill>
                          <a:effectLst/>
                          <a:latin typeface="Meiryo UI" panose="020B0604030504040204" pitchFamily="50" charset="-128"/>
                          <a:ea typeface="Meiryo UI" panose="020B0604030504040204" pitchFamily="50" charset="-128"/>
                        </a:rPr>
                        <a:t>、</a:t>
                      </a:r>
                      <a:r>
                        <a:rPr lang="ja-JP" altLang="en-US" sz="1500" b="0" i="0" u="none" strike="noStrike" dirty="0">
                          <a:solidFill>
                            <a:srgbClr val="FFFFFF"/>
                          </a:solidFill>
                          <a:effectLst/>
                          <a:latin typeface="Meiryo UI" panose="020B0604030504040204" pitchFamily="50" charset="-128"/>
                          <a:ea typeface="Meiryo UI" panose="020B0604030504040204" pitchFamily="50" charset="-128"/>
                        </a:rPr>
                        <a:t>日本カストディ銀行</a:t>
                      </a:r>
                      <a:r>
                        <a:rPr lang="en-US" altLang="ja-JP" sz="1500" b="0" i="0" u="none" strike="noStrike" dirty="0">
                          <a:solidFill>
                            <a:srgbClr val="FFFFFF"/>
                          </a:solidFill>
                          <a:effectLst/>
                          <a:latin typeface="Meiryo UI" panose="020B0604030504040204" pitchFamily="50" charset="-128"/>
                          <a:ea typeface="Meiryo UI" panose="020B0604030504040204" pitchFamily="50" charset="-128"/>
                        </a:rPr>
                        <a:t>(*3)</a:t>
                      </a:r>
                      <a:r>
                        <a:rPr lang="ja-JP" altLang="en-US" sz="1500" b="0" i="0" u="none" strike="noStrike" dirty="0">
                          <a:solidFill>
                            <a:srgbClr val="FFFFFF"/>
                          </a:solidFill>
                          <a:effectLst/>
                          <a:latin typeface="Meiryo UI" panose="020B0604030504040204" pitchFamily="50" charset="-128"/>
                          <a:ea typeface="Meiryo UI" panose="020B0604030504040204" pitchFamily="50" charset="-128"/>
                        </a:rPr>
                        <a:t>等</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extLst>
                  <a:ext uri="{0D108BD9-81ED-4DB2-BD59-A6C34878D82A}">
                    <a16:rowId xmlns:a16="http://schemas.microsoft.com/office/drawing/2014/main" val="153295658"/>
                  </a:ext>
                </a:extLst>
              </a:tr>
              <a:tr h="300088">
                <a:tc vMerge="1">
                  <a:txBody>
                    <a:bodyPr/>
                    <a:lstStyle/>
                    <a:p>
                      <a:endParaRPr kumimoji="1" lang="ja-JP" altLang="en-US"/>
                    </a:p>
                  </a:txBody>
                  <a:tcPr/>
                </a:tc>
                <a:tc gridSpan="2">
                  <a:txBody>
                    <a:bodyPr/>
                    <a:lstStyle/>
                    <a:p>
                      <a:pPr algn="l" rtl="0" fontAlgn="ctr"/>
                      <a:r>
                        <a:rPr lang="ja-JP" altLang="en-US" sz="1500" b="0" i="0" u="none" strike="noStrike">
                          <a:solidFill>
                            <a:srgbClr val="000000"/>
                          </a:solidFill>
                          <a:effectLst/>
                          <a:latin typeface="Meiryo UI" panose="020B0604030504040204" pitchFamily="50" charset="-128"/>
                          <a:ea typeface="Meiryo UI" panose="020B0604030504040204" pitchFamily="50" charset="-128"/>
                        </a:rPr>
                        <a:t>外国銀行</a:t>
                      </a:r>
                      <a:r>
                        <a:rPr lang="en-US" altLang="ja-JP" sz="1500" b="0" i="0" u="none" strike="noStrike">
                          <a:solidFill>
                            <a:srgbClr val="000000"/>
                          </a:solidFill>
                          <a:effectLst/>
                          <a:latin typeface="Meiryo UI" panose="020B0604030504040204" pitchFamily="50" charset="-128"/>
                          <a:ea typeface="Meiryo UI" panose="020B0604030504040204" pitchFamily="50" charset="-128"/>
                        </a:rPr>
                        <a:t>(*2)</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ＪＰモルガン・チェース銀行、クレディ・スイス銀行、ドイツ銀行など</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85220168"/>
                  </a:ext>
                </a:extLst>
              </a:tr>
              <a:tr h="300088">
                <a:tc rowSpan="5">
                  <a:txBody>
                    <a:bodyPr/>
                    <a:lstStyle/>
                    <a:p>
                      <a:pPr algn="ctr"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その他</a:t>
                      </a:r>
                      <a:endParaRPr lang="en-US" altLang="ja-JP" sz="1500" b="0" i="0" u="none" strike="noStrike" dirty="0">
                        <a:solidFill>
                          <a:srgbClr val="000000"/>
                        </a:solidFill>
                        <a:effectLst/>
                        <a:latin typeface="Meiryo UI" panose="020B0604030504040204" pitchFamily="50" charset="-128"/>
                        <a:ea typeface="Meiryo UI" panose="020B0604030504040204" pitchFamily="50" charset="-128"/>
                      </a:endParaRPr>
                    </a:p>
                    <a:p>
                      <a:pPr algn="ctr"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金融機関</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l" rtl="0" fontAlgn="ctr"/>
                      <a:r>
                        <a:rPr lang="zh-TW" altLang="en-US" sz="1500" b="0" i="0" u="none" strike="noStrike">
                          <a:solidFill>
                            <a:srgbClr val="000000"/>
                          </a:solidFill>
                          <a:effectLst/>
                          <a:latin typeface="Meiryo UI" panose="020B0604030504040204" pitchFamily="50" charset="-128"/>
                          <a:ea typeface="Meiryo UI" panose="020B0604030504040204" pitchFamily="50" charset="-128"/>
                        </a:rPr>
                        <a:t>信用金庫（信金）</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会員出資による協同組織の地域金融機関（融資以外は会員以外でも可）</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56543672"/>
                  </a:ext>
                </a:extLst>
              </a:tr>
              <a:tr h="300088">
                <a:tc vMerge="1">
                  <a:txBody>
                    <a:bodyPr/>
                    <a:lstStyle/>
                    <a:p>
                      <a:endParaRPr kumimoji="1" lang="ja-JP" altLang="en-US"/>
                    </a:p>
                  </a:txBody>
                  <a:tcPr/>
                </a:tc>
                <a:tc gridSpan="2">
                  <a:txBody>
                    <a:bodyPr/>
                    <a:lstStyle/>
                    <a:p>
                      <a:pPr algn="l" rtl="0" fontAlgn="ctr"/>
                      <a:r>
                        <a:rPr lang="zh-TW" altLang="en-US" sz="1500" b="0" i="0" u="none" strike="noStrike">
                          <a:solidFill>
                            <a:srgbClr val="000000"/>
                          </a:solidFill>
                          <a:effectLst/>
                          <a:latin typeface="Meiryo UI" panose="020B0604030504040204" pitchFamily="50" charset="-128"/>
                          <a:ea typeface="Meiryo UI" panose="020B0604030504040204" pitchFamily="50" charset="-128"/>
                        </a:rPr>
                        <a:t>信用組合（信組）</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組合員出資による協同組織の地域、業域、職域金融機関（原則、取引相手は組合員）</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07110591"/>
                  </a:ext>
                </a:extLst>
              </a:tr>
              <a:tr h="300088">
                <a:tc vMerge="1">
                  <a:txBody>
                    <a:bodyPr/>
                    <a:lstStyle/>
                    <a:p>
                      <a:endParaRPr kumimoji="1" lang="ja-JP" altLang="en-US"/>
                    </a:p>
                  </a:txBody>
                  <a:tcPr/>
                </a:tc>
                <a:tc gridSpan="2">
                  <a:txBody>
                    <a:bodyPr/>
                    <a:lstStyle/>
                    <a:p>
                      <a:pPr algn="l" rtl="0" fontAlgn="ctr"/>
                      <a:r>
                        <a:rPr lang="zh-TW" altLang="en-US" sz="1500" b="0" i="0" u="none" strike="noStrike">
                          <a:solidFill>
                            <a:srgbClr val="000000"/>
                          </a:solidFill>
                          <a:effectLst/>
                          <a:latin typeface="Meiryo UI" panose="020B0604030504040204" pitchFamily="50" charset="-128"/>
                          <a:ea typeface="Meiryo UI" panose="020B0604030504040204" pitchFamily="50" charset="-128"/>
                        </a:rPr>
                        <a:t>労働金庫（労金）</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rtl="0" fontAlgn="ct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労働組合や生活協同組合などの会員による非営利協同組織（為替、預金は会員以外でも可）</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169605936"/>
                  </a:ext>
                </a:extLst>
              </a:tr>
              <a:tr h="300088">
                <a:tc vMerge="1">
                  <a:txBody>
                    <a:bodyPr/>
                    <a:lstStyle/>
                    <a:p>
                      <a:endParaRPr kumimoji="1" lang="ja-JP" altLang="en-US"/>
                    </a:p>
                  </a:txBody>
                  <a:tcPr/>
                </a:tc>
                <a:tc gridSpan="2">
                  <a:txBody>
                    <a:bodyPr/>
                    <a:lstStyle/>
                    <a:p>
                      <a:pPr algn="l" rtl="0" fontAlgn="ctr"/>
                      <a:r>
                        <a:rPr lang="zh-TW" altLang="en-US" sz="1500" b="0" i="0" u="none" strike="noStrike">
                          <a:solidFill>
                            <a:srgbClr val="000000"/>
                          </a:solidFill>
                          <a:effectLst/>
                          <a:latin typeface="Meiryo UI" panose="020B0604030504040204" pitchFamily="50" charset="-128"/>
                          <a:ea typeface="Meiryo UI" panose="020B0604030504040204" pitchFamily="50" charset="-128"/>
                        </a:rPr>
                        <a:t>系統金融機関</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rtl="0" fontAlgn="ctr"/>
                      <a:r>
                        <a:rPr lang="zh-TW" altLang="en-US" sz="1500" b="0" i="0" u="none" strike="noStrike" dirty="0">
                          <a:solidFill>
                            <a:srgbClr val="000000"/>
                          </a:solidFill>
                          <a:effectLst/>
                          <a:latin typeface="Meiryo UI" panose="020B0604030504040204" pitchFamily="50" charset="-128"/>
                          <a:ea typeface="Meiryo UI" panose="020B0604030504040204" pitchFamily="50" charset="-128"/>
                        </a:rPr>
                        <a:t>農林中央金庫、信用農業協同組合連合会、信用漁業協同組合連合会等</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39026296"/>
                  </a:ext>
                </a:extLst>
              </a:tr>
              <a:tr h="300088">
                <a:tc vMerge="1">
                  <a:txBody>
                    <a:bodyPr/>
                    <a:lstStyle/>
                    <a:p>
                      <a:endParaRPr kumimoji="1" lang="ja-JP" altLang="en-US"/>
                    </a:p>
                  </a:txBody>
                  <a:tcPr/>
                </a:tc>
                <a:tc gridSpan="2">
                  <a:txBody>
                    <a:bodyPr/>
                    <a:lstStyle/>
                    <a:p>
                      <a:pPr algn="l" rtl="0" fontAlgn="ctr"/>
                      <a:r>
                        <a:rPr lang="zh-TW" altLang="en-US" sz="1500" b="0" i="0" u="none" strike="noStrike">
                          <a:solidFill>
                            <a:srgbClr val="000000"/>
                          </a:solidFill>
                          <a:effectLst/>
                          <a:latin typeface="Meiryo UI" panose="020B0604030504040204" pitchFamily="50" charset="-128"/>
                          <a:ea typeface="Meiryo UI" panose="020B0604030504040204" pitchFamily="50" charset="-128"/>
                        </a:rPr>
                        <a:t>政府系金融機関</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rtl="0" fontAlgn="ctr"/>
                      <a:r>
                        <a:rPr lang="zh-TW" altLang="en-US" sz="1500" b="0" i="0" u="none" strike="noStrike" dirty="0">
                          <a:solidFill>
                            <a:srgbClr val="000000"/>
                          </a:solidFill>
                          <a:effectLst/>
                          <a:latin typeface="Meiryo UI" panose="020B0604030504040204" pitchFamily="50" charset="-128"/>
                          <a:ea typeface="Meiryo UI" panose="020B0604030504040204" pitchFamily="50" charset="-128"/>
                        </a:rPr>
                        <a:t>日本政策投資銀行、国際協力銀行、商工組合中央金庫、住宅金融支援機構等</a:t>
                      </a:r>
                    </a:p>
                  </a:txBody>
                  <a:tcPr marL="8222" marR="8222" marT="8222"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640143515"/>
                  </a:ext>
                </a:extLst>
              </a:tr>
              <a:tr h="174084">
                <a:tc gridSpan="3">
                  <a:txBody>
                    <a:bodyPr/>
                    <a:lstStyle/>
                    <a:p>
                      <a:pPr algn="l" fontAlgn="ctr"/>
                      <a:r>
                        <a:rPr lang="en-US" altLang="ja-JP" sz="1500" b="0" i="0" u="none" strike="noStrike" dirty="0">
                          <a:solidFill>
                            <a:srgbClr val="000000"/>
                          </a:solidFill>
                          <a:effectLst/>
                          <a:latin typeface="Meiryo UI" panose="020B0604030504040204" pitchFamily="50" charset="-128"/>
                          <a:ea typeface="Meiryo UI" panose="020B0604030504040204" pitchFamily="50" charset="-128"/>
                        </a:rPr>
                        <a:t>(*1)</a:t>
                      </a: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中央銀行に対する用語。</a:t>
                      </a:r>
                    </a:p>
                  </a:txBody>
                  <a:tcPr marL="8222" marR="8222" marT="8222"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a:txBody>
                    <a:bodyPr/>
                    <a:lstStyle/>
                    <a:p>
                      <a:pPr algn="l" fontAlgn="ctr"/>
                      <a:r>
                        <a:rPr lang="en-US" altLang="ja-JP" sz="1500" b="0" i="0" u="none" strike="noStrike" dirty="0">
                          <a:solidFill>
                            <a:srgbClr val="000000"/>
                          </a:solidFill>
                          <a:effectLst/>
                          <a:latin typeface="Meiryo UI" panose="020B0604030504040204" pitchFamily="50" charset="-128"/>
                          <a:ea typeface="Meiryo UI" panose="020B0604030504040204" pitchFamily="50" charset="-128"/>
                        </a:rPr>
                        <a:t>(*2)</a:t>
                      </a: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外国銀行の日本国内における支店であり、銀行法･預金保険の対象外。</a:t>
                      </a:r>
                    </a:p>
                  </a:txBody>
                  <a:tcPr marL="8222" marR="8222" marT="8222"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866334874"/>
                  </a:ext>
                </a:extLst>
              </a:tr>
              <a:tr h="174084">
                <a:tc gridSpan="4">
                  <a:txBody>
                    <a:bodyPr/>
                    <a:lstStyle/>
                    <a:p>
                      <a:pPr algn="l" fontAlgn="ctr"/>
                      <a:r>
                        <a:rPr lang="en-US" altLang="ja-JP" sz="1500" b="0" i="0" u="none" strike="noStrike" dirty="0">
                          <a:solidFill>
                            <a:srgbClr val="000000"/>
                          </a:solidFill>
                          <a:effectLst/>
                          <a:latin typeface="Meiryo UI" panose="020B0604030504040204" pitchFamily="50" charset="-128"/>
                          <a:ea typeface="Meiryo UI" panose="020B0604030504040204" pitchFamily="50" charset="-128"/>
                        </a:rPr>
                        <a:t>(*3)</a:t>
                      </a:r>
                      <a:r>
                        <a:rPr lang="ja-JP" altLang="en-US" sz="1500" b="0" i="0" u="none" strike="noStrike" dirty="0">
                          <a:solidFill>
                            <a:srgbClr val="000000"/>
                          </a:solidFill>
                          <a:effectLst/>
                          <a:latin typeface="Meiryo UI" panose="020B0604030504040204" pitchFamily="50" charset="-128"/>
                          <a:ea typeface="Meiryo UI" panose="020B0604030504040204" pitchFamily="50" charset="-128"/>
                        </a:rPr>
                        <a:t>業態や金融グループの枠組みを越えて、有価証券等の資産管理業務に特化した信託銀行。</a:t>
                      </a:r>
                    </a:p>
                  </a:txBody>
                  <a:tcPr marL="8222" marR="8222" marT="8222"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024281269"/>
                  </a:ext>
                </a:extLst>
              </a:tr>
            </a:tbl>
          </a:graphicData>
        </a:graphic>
      </p:graphicFrame>
    </p:spTree>
    <p:extLst>
      <p:ext uri="{BB962C8B-B14F-4D97-AF65-F5344CB8AC3E}">
        <p14:creationId xmlns:p14="http://schemas.microsoft.com/office/powerpoint/2010/main" val="424387247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1-4.</a:t>
            </a:r>
            <a:r>
              <a:rPr kumimoji="1" lang="ja-JP" altLang="en-US" b="1" dirty="0"/>
              <a:t>信託銀行と銀行の違い</a:t>
            </a:r>
          </a:p>
        </p:txBody>
      </p:sp>
      <p:sp>
        <p:nvSpPr>
          <p:cNvPr id="3" name="コンテンツ プレースホルダー 2"/>
          <p:cNvSpPr>
            <a:spLocks noGrp="1"/>
          </p:cNvSpPr>
          <p:nvPr>
            <p:ph sz="quarter" idx="18"/>
          </p:nvPr>
        </p:nvSpPr>
        <p:spPr>
          <a:xfrm>
            <a:off x="381000" y="1156849"/>
            <a:ext cx="11429999" cy="1976315"/>
          </a:xfrm>
        </p:spPr>
        <p:txBody>
          <a:bodyPr/>
          <a:lstStyle/>
          <a:p>
            <a:pPr>
              <a:spcBef>
                <a:spcPts val="0"/>
              </a:spcBef>
              <a:spcAft>
                <a:spcPts val="0"/>
              </a:spcAft>
            </a:pPr>
            <a:r>
              <a:rPr lang="ja-JP" altLang="en-US" sz="2400" dirty="0"/>
              <a:t>信託銀行は銀行業務と信託業務の両方を営んでいる銀行で、信託銀行という商号をもつ。</a:t>
            </a:r>
            <a:endParaRPr lang="en-US" altLang="ja-JP" sz="2400" dirty="0"/>
          </a:p>
          <a:p>
            <a:pPr>
              <a:spcBef>
                <a:spcPts val="0"/>
              </a:spcBef>
              <a:spcAft>
                <a:spcPts val="0"/>
              </a:spcAft>
            </a:pPr>
            <a:r>
              <a:rPr lang="ja-JP" altLang="en-US" sz="2400" dirty="0"/>
              <a:t>信託銀行は、銀行法上の銀行が金融機関の信託業務の兼営等に関する法律（兼営法）により信託業務を兼営する形態をとり、銀行業務全てに加えて、信託業務と併営業務を営むことができる。</a:t>
            </a:r>
            <a:endParaRPr lang="en-US" altLang="ja-JP" sz="2400" dirty="0"/>
          </a:p>
          <a:p>
            <a:pPr>
              <a:spcBef>
                <a:spcPts val="0"/>
              </a:spcBef>
              <a:spcAft>
                <a:spcPts val="0"/>
              </a:spcAft>
            </a:pPr>
            <a:r>
              <a:rPr lang="ja-JP" altLang="en-US" sz="2400" dirty="0"/>
              <a:t>信託業務は信託報酬、併営業務は手数料がおもな収益源（ともに非金利収益）である。</a:t>
            </a:r>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kumimoji="1" lang="en-US" altLang="ja-JP" b="1" dirty="0"/>
              <a:t>1.</a:t>
            </a:r>
            <a:r>
              <a:rPr kumimoji="1" lang="ja-JP" altLang="en-US" b="1" dirty="0"/>
              <a:t>信託の概要</a:t>
            </a:r>
          </a:p>
        </p:txBody>
      </p:sp>
      <p:graphicFrame>
        <p:nvGraphicFramePr>
          <p:cNvPr id="17" name="表 16"/>
          <p:cNvGraphicFramePr>
            <a:graphicFrameLocks noGrp="1"/>
          </p:cNvGraphicFramePr>
          <p:nvPr>
            <p:extLst>
              <p:ext uri="{D42A27DB-BD31-4B8C-83A1-F6EECF244321}">
                <p14:modId xmlns:p14="http://schemas.microsoft.com/office/powerpoint/2010/main" val="3807709984"/>
              </p:ext>
            </p:extLst>
          </p:nvPr>
        </p:nvGraphicFramePr>
        <p:xfrm>
          <a:off x="1681533" y="3264232"/>
          <a:ext cx="8828931" cy="3548996"/>
        </p:xfrm>
        <a:graphic>
          <a:graphicData uri="http://schemas.openxmlformats.org/drawingml/2006/table">
            <a:tbl>
              <a:tblPr/>
              <a:tblGrid>
                <a:gridCol w="393446">
                  <a:extLst>
                    <a:ext uri="{9D8B030D-6E8A-4147-A177-3AD203B41FA5}">
                      <a16:colId xmlns:a16="http://schemas.microsoft.com/office/drawing/2014/main" val="1746627042"/>
                    </a:ext>
                  </a:extLst>
                </a:gridCol>
                <a:gridCol w="2549531">
                  <a:extLst>
                    <a:ext uri="{9D8B030D-6E8A-4147-A177-3AD203B41FA5}">
                      <a16:colId xmlns:a16="http://schemas.microsoft.com/office/drawing/2014/main" val="322985761"/>
                    </a:ext>
                  </a:extLst>
                </a:gridCol>
                <a:gridCol w="393446">
                  <a:extLst>
                    <a:ext uri="{9D8B030D-6E8A-4147-A177-3AD203B41FA5}">
                      <a16:colId xmlns:a16="http://schemas.microsoft.com/office/drawing/2014/main" val="3760041363"/>
                    </a:ext>
                  </a:extLst>
                </a:gridCol>
                <a:gridCol w="2549531">
                  <a:extLst>
                    <a:ext uri="{9D8B030D-6E8A-4147-A177-3AD203B41FA5}">
                      <a16:colId xmlns:a16="http://schemas.microsoft.com/office/drawing/2014/main" val="2270139236"/>
                    </a:ext>
                  </a:extLst>
                </a:gridCol>
                <a:gridCol w="393446">
                  <a:extLst>
                    <a:ext uri="{9D8B030D-6E8A-4147-A177-3AD203B41FA5}">
                      <a16:colId xmlns:a16="http://schemas.microsoft.com/office/drawing/2014/main" val="1051592532"/>
                    </a:ext>
                  </a:extLst>
                </a:gridCol>
                <a:gridCol w="2549531">
                  <a:extLst>
                    <a:ext uri="{9D8B030D-6E8A-4147-A177-3AD203B41FA5}">
                      <a16:colId xmlns:a16="http://schemas.microsoft.com/office/drawing/2014/main" val="3908462862"/>
                    </a:ext>
                  </a:extLst>
                </a:gridCol>
              </a:tblGrid>
              <a:tr h="322636">
                <a:tc rowSpan="2" gridSpan="2">
                  <a:txBody>
                    <a:bodyPr/>
                    <a:lstStyle/>
                    <a:p>
                      <a:pPr algn="ctr"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銀行業務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66"/>
                    </a:solidFill>
                  </a:tcPr>
                </a:tc>
                <a:tc rowSpan="2" hMerge="1">
                  <a:txBody>
                    <a:bodyPr/>
                    <a:lstStyle/>
                    <a:p>
                      <a:endParaRPr kumimoji="1" lang="ja-JP" altLang="en-US"/>
                    </a:p>
                  </a:txBody>
                  <a:tcPr/>
                </a:tc>
                <a:tc gridSpan="4">
                  <a:txBody>
                    <a:bodyPr/>
                    <a:lstStyle/>
                    <a:p>
                      <a:pPr algn="ctr" fontAlgn="ctr"/>
                      <a:r>
                        <a:rPr lang="zh-TW" altLang="en-US" sz="2000" b="0" i="0" u="none" strike="noStrike" dirty="0">
                          <a:solidFill>
                            <a:srgbClr val="000000"/>
                          </a:solidFill>
                          <a:effectLst/>
                          <a:latin typeface="Meiryo UI" panose="020B0604030504040204" pitchFamily="50" charset="-128"/>
                          <a:ea typeface="Meiryo UI" panose="020B0604030504040204" pitchFamily="50" charset="-128"/>
                        </a:rPr>
                        <a:t>信託業務（広義）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975332775"/>
                  </a:ext>
                </a:extLst>
              </a:tr>
              <a:tr h="322636">
                <a:tc gridSpan="2" vMerge="1">
                  <a:txBody>
                    <a:bodyPr/>
                    <a:lstStyle/>
                    <a:p>
                      <a:endParaRPr kumimoji="1" lang="ja-JP" altLang="en-US"/>
                    </a:p>
                  </a:txBody>
                  <a:tcPr/>
                </a:tc>
                <a:tc hMerge="1" vMerge="1">
                  <a:txBody>
                    <a:bodyPr/>
                    <a:lstStyle/>
                    <a:p>
                      <a:endParaRPr kumimoji="1" lang="ja-JP" altLang="en-US"/>
                    </a:p>
                  </a:txBody>
                  <a:tcPr/>
                </a:tc>
                <a:tc gridSpan="2">
                  <a:txBody>
                    <a:bodyPr/>
                    <a:lstStyle/>
                    <a:p>
                      <a:pPr algn="ctr" fontAlgn="ctr"/>
                      <a:r>
                        <a:rPr lang="zh-TW" altLang="en-US" sz="2000" b="0" i="0" u="none" strike="noStrike" dirty="0">
                          <a:solidFill>
                            <a:srgbClr val="000000"/>
                          </a:solidFill>
                          <a:effectLst/>
                          <a:latin typeface="Meiryo UI" panose="020B0604030504040204" pitchFamily="50" charset="-128"/>
                          <a:ea typeface="Meiryo UI" panose="020B0604030504040204" pitchFamily="50" charset="-128"/>
                        </a:rPr>
                        <a:t>信託業務（狭義）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DD7EE"/>
                    </a:solidFill>
                  </a:tcPr>
                </a:tc>
                <a:tc hMerge="1">
                  <a:txBody>
                    <a:bodyPr/>
                    <a:lstStyle/>
                    <a:p>
                      <a:endParaRPr kumimoji="1" lang="ja-JP" altLang="en-US"/>
                    </a:p>
                  </a:txBody>
                  <a:tcPr/>
                </a:tc>
                <a:tc gridSpan="2">
                  <a:txBody>
                    <a:bodyPr/>
                    <a:lstStyle/>
                    <a:p>
                      <a:pPr algn="ctr"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併営業務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99FF66"/>
                    </a:solidFill>
                  </a:tcPr>
                </a:tc>
                <a:tc hMerge="1">
                  <a:txBody>
                    <a:bodyPr/>
                    <a:lstStyle/>
                    <a:p>
                      <a:endParaRPr kumimoji="1" lang="ja-JP" altLang="en-US"/>
                    </a:p>
                  </a:txBody>
                  <a:tcPr/>
                </a:tc>
                <a:extLst>
                  <a:ext uri="{0D108BD9-81ED-4DB2-BD59-A6C34878D82A}">
                    <a16:rowId xmlns:a16="http://schemas.microsoft.com/office/drawing/2014/main" val="3087172687"/>
                  </a:ext>
                </a:extLst>
              </a:tr>
              <a:tr h="322636">
                <a:tc rowSpan="5">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66"/>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預金業務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2CC"/>
                    </a:solidFill>
                  </a:tcPr>
                </a:tc>
                <a:tc rowSpan="5">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金銭の信託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6DCE4"/>
                    </a:solidFill>
                  </a:tcPr>
                </a:tc>
                <a:tc rowSpan="5">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9FF66"/>
                    </a:solidFill>
                  </a:tcPr>
                </a:tc>
                <a:tc>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不動産関連業務</a:t>
                      </a:r>
                      <a:r>
                        <a:rPr lang="en-US" altLang="zh-TW" sz="2000" b="0" i="0" u="none" strike="noStrike">
                          <a:solidFill>
                            <a:srgbClr val="000000"/>
                          </a:solidFill>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99FF99"/>
                    </a:solidFill>
                  </a:tcPr>
                </a:tc>
                <a:extLst>
                  <a:ext uri="{0D108BD9-81ED-4DB2-BD59-A6C34878D82A}">
                    <a16:rowId xmlns:a16="http://schemas.microsoft.com/office/drawing/2014/main" val="2140367320"/>
                  </a:ext>
                </a:extLst>
              </a:tr>
              <a:tr h="322636">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貸付業務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2CC"/>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有価証券の信託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6DCE4"/>
                    </a:solidFill>
                  </a:tcPr>
                </a:tc>
                <a:tc vMerge="1">
                  <a:txBody>
                    <a:bodyPr/>
                    <a:lstStyle/>
                    <a:p>
                      <a:endParaRPr kumimoji="1" lang="ja-JP" altLang="en-US"/>
                    </a:p>
                  </a:txBody>
                  <a:tcPr/>
                </a:tc>
                <a:tc>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証券代行業務</a:t>
                      </a:r>
                      <a:r>
                        <a:rPr lang="en-US" altLang="zh-TW" sz="2000" b="0" i="0" u="none" strike="noStrike">
                          <a:solidFill>
                            <a:srgbClr val="000000"/>
                          </a:solidFill>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99FF99"/>
                    </a:solidFill>
                  </a:tcPr>
                </a:tc>
                <a:extLst>
                  <a:ext uri="{0D108BD9-81ED-4DB2-BD59-A6C34878D82A}">
                    <a16:rowId xmlns:a16="http://schemas.microsoft.com/office/drawing/2014/main" val="61687738"/>
                  </a:ext>
                </a:extLst>
              </a:tr>
              <a:tr h="322636">
                <a:tc vMerge="1">
                  <a:txBody>
                    <a:bodyPr/>
                    <a:lstStyle/>
                    <a:p>
                      <a:endParaRPr kumimoji="1" lang="ja-JP" altLang="en-US"/>
                    </a:p>
                  </a:txBody>
                  <a:tcPr/>
                </a:tc>
                <a:tc>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内国為替業務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2CC"/>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金銭債権の信託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6DCE4"/>
                    </a:solidFill>
                  </a:tcPr>
                </a:tc>
                <a:tc vMerge="1">
                  <a:txBody>
                    <a:bodyPr/>
                    <a:lstStyle/>
                    <a:p>
                      <a:endParaRPr kumimoji="1" lang="ja-JP" altLang="en-US"/>
                    </a:p>
                  </a:txBody>
                  <a:tcPr/>
                </a:tc>
                <a:tc>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相続関連業務</a:t>
                      </a:r>
                      <a:r>
                        <a:rPr lang="en-US" altLang="zh-TW" sz="2000" b="0" i="0" u="none" strike="noStrike">
                          <a:solidFill>
                            <a:srgbClr val="000000"/>
                          </a:solidFill>
                          <a:effectLst/>
                          <a:latin typeface="Meiryo UI" panose="020B0604030504040204" pitchFamily="50" charset="-128"/>
                          <a:ea typeface="Meiryo UI" panose="020B0604030504040204" pitchFamily="50" charset="-128"/>
                        </a:rPr>
                        <a:t>(*4)</a:t>
                      </a:r>
                      <a:r>
                        <a:rPr lang="zh-TW" altLang="en-US" sz="2000" b="0" i="0" u="none" strike="noStrike">
                          <a:solidFill>
                            <a:srgbClr val="000000"/>
                          </a:solidFill>
                          <a:effectLst/>
                          <a:latin typeface="Meiryo UI" panose="020B0604030504040204" pitchFamily="50" charset="-128"/>
                          <a:ea typeface="Meiryo UI" panose="020B0604030504040204" pitchFamily="50" charset="-128"/>
                        </a:rPr>
                        <a:t>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99FF99"/>
                    </a:solidFill>
                  </a:tcPr>
                </a:tc>
                <a:extLst>
                  <a:ext uri="{0D108BD9-81ED-4DB2-BD59-A6C34878D82A}">
                    <a16:rowId xmlns:a16="http://schemas.microsoft.com/office/drawing/2014/main" val="3317958529"/>
                  </a:ext>
                </a:extLst>
              </a:tr>
              <a:tr h="322636">
                <a:tc vMerge="1">
                  <a:txBody>
                    <a:bodyPr/>
                    <a:lstStyle/>
                    <a:p>
                      <a:endParaRPr kumimoji="1" lang="ja-JP" altLang="en-US"/>
                    </a:p>
                  </a:txBody>
                  <a:tcPr/>
                </a:tc>
                <a:tc>
                  <a:txBody>
                    <a:bodyPr/>
                    <a:lstStyle/>
                    <a:p>
                      <a:pPr algn="l" fontAlgn="ctr"/>
                      <a:r>
                        <a:rPr lang="zh-TW" altLang="en-US" sz="2000" b="0" i="0" u="none" strike="noStrike" dirty="0">
                          <a:solidFill>
                            <a:srgbClr val="000000"/>
                          </a:solidFill>
                          <a:effectLst/>
                          <a:latin typeface="Meiryo UI" panose="020B0604030504040204" pitchFamily="50" charset="-128"/>
                          <a:ea typeface="Meiryo UI" panose="020B0604030504040204" pitchFamily="50" charset="-128"/>
                        </a:rPr>
                        <a:t>外国為替業務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2CC"/>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動産の信託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6DCE4"/>
                    </a:solidFill>
                  </a:tcPr>
                </a:tc>
                <a:tc v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99FF99"/>
                    </a:solidFill>
                  </a:tcPr>
                </a:tc>
                <a:extLst>
                  <a:ext uri="{0D108BD9-81ED-4DB2-BD59-A6C34878D82A}">
                    <a16:rowId xmlns:a16="http://schemas.microsoft.com/office/drawing/2014/main" val="2640880279"/>
                  </a:ext>
                </a:extLst>
              </a:tr>
              <a:tr h="322636">
                <a:tc v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付随業務</a:t>
                      </a:r>
                      <a:r>
                        <a:rPr lang="en-US" altLang="ja-JP" sz="2000" b="0" i="0" u="none" strike="noStrike">
                          <a:solidFill>
                            <a:srgbClr val="000000"/>
                          </a:solidFill>
                          <a:effectLst/>
                          <a:latin typeface="Meiryo UI" panose="020B0604030504040204" pitchFamily="50" charset="-128"/>
                          <a:ea typeface="Meiryo UI" panose="020B0604030504040204" pitchFamily="50" charset="-128"/>
                        </a:rPr>
                        <a:t>(*1)</a:t>
                      </a:r>
                      <a:r>
                        <a:rPr lang="ja-JP" altLang="en-US" sz="2000" b="0" i="0" u="none" strike="noStrike">
                          <a:solidFill>
                            <a:srgbClr val="000000"/>
                          </a:solidFill>
                          <a:effectLst/>
                          <a:latin typeface="Meiryo UI" panose="020B0604030504040204" pitchFamily="50" charset="-128"/>
                          <a:ea typeface="Meiryo UI" panose="020B0604030504040204" pitchFamily="50" charset="-128"/>
                        </a:rPr>
                        <a:t>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2CC"/>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不動産の信託等</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6DCE4"/>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9FF99"/>
                    </a:solidFill>
                  </a:tcPr>
                </a:tc>
                <a:extLst>
                  <a:ext uri="{0D108BD9-81ED-4DB2-BD59-A6C34878D82A}">
                    <a16:rowId xmlns:a16="http://schemas.microsoft.com/office/drawing/2014/main" val="1980872475"/>
                  </a:ext>
                </a:extLst>
              </a:tr>
              <a:tr h="322636">
                <a:tc gridSpan="4">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(*1)</a:t>
                      </a:r>
                      <a:r>
                        <a:rPr lang="ja-JP" altLang="en-US" sz="1400" b="0" i="0" u="none" strike="noStrike">
                          <a:solidFill>
                            <a:srgbClr val="000000"/>
                          </a:solidFill>
                          <a:effectLst/>
                          <a:latin typeface="Meiryo UI" panose="020B0604030504040204" pitchFamily="50" charset="-128"/>
                          <a:ea typeface="Meiryo UI" panose="020B0604030504040204" pitchFamily="50" charset="-128"/>
                        </a:rPr>
                        <a:t>有価証券売買、デリバティブ等</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extLst>
                  <a:ext uri="{0D108BD9-81ED-4DB2-BD59-A6C34878D82A}">
                    <a16:rowId xmlns:a16="http://schemas.microsoft.com/office/drawing/2014/main" val="1898618369"/>
                  </a:ext>
                </a:extLst>
              </a:tr>
              <a:tr h="322636">
                <a:tc gridSpan="4">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(*2)</a:t>
                      </a:r>
                      <a:r>
                        <a:rPr lang="ja-JP" altLang="en-US" sz="1400" b="0" i="0" u="none" strike="noStrike">
                          <a:solidFill>
                            <a:srgbClr val="000000"/>
                          </a:solidFill>
                          <a:effectLst/>
                          <a:latin typeface="Meiryo UI" panose="020B0604030504040204" pitchFamily="50" charset="-128"/>
                          <a:ea typeface="Meiryo UI" panose="020B0604030504040204" pitchFamily="50" charset="-128"/>
                        </a:rPr>
                        <a:t>不動産の鑑定・査定、売買仲介等  </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extLst>
                  <a:ext uri="{0D108BD9-81ED-4DB2-BD59-A6C34878D82A}">
                    <a16:rowId xmlns:a16="http://schemas.microsoft.com/office/drawing/2014/main" val="1989489500"/>
                  </a:ext>
                </a:extLst>
              </a:tr>
              <a:tr h="322636">
                <a:tc gridSpan="4">
                  <a:txBody>
                    <a:bodyPr/>
                    <a:lstStyle/>
                    <a:p>
                      <a:pPr algn="l" fontAlgn="ctr"/>
                      <a:r>
                        <a:rPr lang="en-US" altLang="ja-JP" sz="1400" b="0" i="0" u="none" strike="noStrike">
                          <a:solidFill>
                            <a:srgbClr val="000000"/>
                          </a:solidFill>
                          <a:effectLst/>
                          <a:latin typeface="Meiryo UI" panose="020B0604030504040204" pitchFamily="50" charset="-128"/>
                          <a:ea typeface="Meiryo UI" panose="020B0604030504040204" pitchFamily="50" charset="-128"/>
                        </a:rPr>
                        <a:t>(*3)</a:t>
                      </a:r>
                      <a:r>
                        <a:rPr lang="ja-JP" altLang="en-US" sz="1400" b="0" i="0" u="none" strike="noStrike">
                          <a:solidFill>
                            <a:srgbClr val="000000"/>
                          </a:solidFill>
                          <a:effectLst/>
                          <a:latin typeface="Meiryo UI" panose="020B0604030504040204" pitchFamily="50" charset="-128"/>
                          <a:ea typeface="Meiryo UI" panose="020B0604030504040204" pitchFamily="50" charset="-128"/>
                        </a:rPr>
                        <a:t>株主名簿管理、配当金の計算・支払等</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extLst>
                  <a:ext uri="{0D108BD9-81ED-4DB2-BD59-A6C34878D82A}">
                    <a16:rowId xmlns:a16="http://schemas.microsoft.com/office/drawing/2014/main" val="3700358086"/>
                  </a:ext>
                </a:extLst>
              </a:tr>
              <a:tr h="322636">
                <a:tc gridSpan="4">
                  <a:txBody>
                    <a:bodyPr/>
                    <a:lstStyle/>
                    <a:p>
                      <a:pPr algn="l" fontAlgn="ctr"/>
                      <a:r>
                        <a:rPr lang="en-US" altLang="zh-TW" sz="1400" b="0" i="0" u="none" strike="noStrike" dirty="0">
                          <a:solidFill>
                            <a:srgbClr val="000000"/>
                          </a:solidFill>
                          <a:effectLst/>
                          <a:latin typeface="Meiryo UI" panose="020B0604030504040204" pitchFamily="50" charset="-128"/>
                          <a:ea typeface="Meiryo UI" panose="020B0604030504040204" pitchFamily="50" charset="-128"/>
                        </a:rPr>
                        <a:t>(*4)</a:t>
                      </a:r>
                      <a:r>
                        <a:rPr lang="zh-TW" altLang="en-US" sz="1400" b="0" i="0" u="none" strike="noStrike" dirty="0">
                          <a:solidFill>
                            <a:srgbClr val="000000"/>
                          </a:solidFill>
                          <a:effectLst/>
                          <a:latin typeface="Meiryo UI" panose="020B0604030504040204" pitchFamily="50" charset="-128"/>
                          <a:ea typeface="Meiryo UI" panose="020B0604030504040204" pitchFamily="50" charset="-128"/>
                        </a:rPr>
                        <a:t>遺言管理、遺言執行、遺産整理等</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r>
                        <a:rPr lang="ja-JP" altLang="en-US" sz="11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tc>
                  <a:txBody>
                    <a:bodyPr/>
                    <a:lstStyle/>
                    <a:p>
                      <a:pPr algn="l" fontAlgn="ctr"/>
                      <a:r>
                        <a:rPr lang="ja-JP" altLang="en-US" sz="1100" b="0" i="0" u="none" strike="noStrike" dirty="0">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extLst>
                  <a:ext uri="{0D108BD9-81ED-4DB2-BD59-A6C34878D82A}">
                    <a16:rowId xmlns:a16="http://schemas.microsoft.com/office/drawing/2014/main" val="140044700"/>
                  </a:ext>
                </a:extLst>
              </a:tr>
            </a:tbl>
          </a:graphicData>
        </a:graphic>
      </p:graphicFrame>
    </p:spTree>
    <p:extLst>
      <p:ext uri="{BB962C8B-B14F-4D97-AF65-F5344CB8AC3E}">
        <p14:creationId xmlns:p14="http://schemas.microsoft.com/office/powerpoint/2010/main" val="116245776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2-1.</a:t>
            </a:r>
            <a:r>
              <a:rPr kumimoji="1" lang="ja-JP" altLang="en-US" b="1" dirty="0"/>
              <a:t>信託財産と信託目的</a:t>
            </a:r>
          </a:p>
        </p:txBody>
      </p:sp>
      <p:sp>
        <p:nvSpPr>
          <p:cNvPr id="3" name="コンテンツ プレースホルダー 2"/>
          <p:cNvSpPr>
            <a:spLocks noGrp="1"/>
          </p:cNvSpPr>
          <p:nvPr>
            <p:ph sz="quarter" idx="18"/>
          </p:nvPr>
        </p:nvSpPr>
        <p:spPr>
          <a:xfrm>
            <a:off x="381000" y="1156850"/>
            <a:ext cx="11429999" cy="5405315"/>
          </a:xfrm>
        </p:spPr>
        <p:txBody>
          <a:bodyPr/>
          <a:lstStyle/>
          <a:p>
            <a:pPr>
              <a:spcBef>
                <a:spcPts val="0"/>
              </a:spcBef>
              <a:spcAft>
                <a:spcPts val="0"/>
              </a:spcAft>
            </a:pPr>
            <a:r>
              <a:rPr kumimoji="1" lang="ja-JP" altLang="en-US" sz="2400" dirty="0"/>
              <a:t>信託の重要な要素に</a:t>
            </a:r>
            <a:r>
              <a:rPr lang="ja-JP" altLang="en-US" sz="2400" dirty="0"/>
              <a:t>信託財産と信託目的が</a:t>
            </a:r>
            <a:r>
              <a:rPr kumimoji="1" lang="ja-JP" altLang="en-US" sz="2400" dirty="0"/>
              <a:t>ある。</a:t>
            </a:r>
            <a:endParaRPr kumimoji="1" lang="en-US" altLang="ja-JP" sz="2400" dirty="0"/>
          </a:p>
          <a:p>
            <a:pPr>
              <a:spcBef>
                <a:spcPts val="0"/>
              </a:spcBef>
              <a:spcAft>
                <a:spcPts val="0"/>
              </a:spcAft>
            </a:pPr>
            <a:endParaRPr lang="en-US" altLang="ja-JP" sz="2400" dirty="0"/>
          </a:p>
          <a:p>
            <a:pPr>
              <a:spcBef>
                <a:spcPts val="0"/>
              </a:spcBef>
              <a:spcAft>
                <a:spcPts val="0"/>
              </a:spcAft>
            </a:pPr>
            <a:r>
              <a:rPr lang="ja-JP" altLang="en-US" sz="2400" dirty="0"/>
              <a:t>信託財産とは、委託者から受託者（信託銀行）に信託される財産であり、経済価値があるものであれば、その種類に制限はない。</a:t>
            </a:r>
            <a:endParaRPr lang="en-US" altLang="ja-JP" sz="2400" dirty="0"/>
          </a:p>
          <a:p>
            <a:pPr>
              <a:spcBef>
                <a:spcPts val="0"/>
              </a:spcBef>
              <a:spcAft>
                <a:spcPts val="0"/>
              </a:spcAft>
            </a:pPr>
            <a:endParaRPr lang="en-US" altLang="ja-JP" sz="2400" dirty="0"/>
          </a:p>
          <a:p>
            <a:pPr>
              <a:spcBef>
                <a:spcPts val="0"/>
              </a:spcBef>
              <a:spcAft>
                <a:spcPts val="0"/>
              </a:spcAft>
            </a:pPr>
            <a:r>
              <a:rPr lang="ja-JP" altLang="en-US" sz="2400" dirty="0"/>
              <a:t>信託目的とは、受託者（信託銀行）が信託される財産を誰に対して、どのような目的で、どのように運用・管理するか、委託者が決めることができる。</a:t>
            </a:r>
          </a:p>
          <a:p>
            <a:pPr>
              <a:spcBef>
                <a:spcPts val="0"/>
              </a:spcBef>
              <a:spcAft>
                <a:spcPts val="0"/>
              </a:spcAft>
            </a:pPr>
            <a:endParaRPr lang="ja-JP" altLang="en-US" sz="2400" dirty="0"/>
          </a:p>
          <a:p>
            <a:pPr>
              <a:spcBef>
                <a:spcPts val="0"/>
              </a:spcBef>
              <a:spcAft>
                <a:spcPts val="0"/>
              </a:spcAft>
            </a:pPr>
            <a:endParaRPr lang="ja-JP" altLang="en-US" sz="2400" dirty="0"/>
          </a:p>
          <a:p>
            <a:pPr>
              <a:spcBef>
                <a:spcPts val="0"/>
              </a:spcBef>
              <a:spcAft>
                <a:spcPts val="0"/>
              </a:spcAft>
            </a:pPr>
            <a:endParaRPr lang="ja-JP" altLang="en-US" sz="2400" dirty="0"/>
          </a:p>
          <a:p>
            <a:pPr>
              <a:spcBef>
                <a:spcPts val="0"/>
              </a:spcBef>
              <a:spcAft>
                <a:spcPts val="0"/>
              </a:spcAft>
            </a:pPr>
            <a:endParaRPr lang="en-US" altLang="ja-JP" sz="2400" dirty="0"/>
          </a:p>
          <a:p>
            <a:pPr marL="0" indent="0">
              <a:spcBef>
                <a:spcPts val="0"/>
              </a:spcBef>
              <a:spcAft>
                <a:spcPts val="0"/>
              </a:spcAft>
              <a:buNone/>
            </a:pPr>
            <a:endParaRPr kumimoji="1" lang="en-US" altLang="ja-JP" sz="2400" dirty="0"/>
          </a:p>
          <a:p>
            <a:pPr marL="0" indent="0">
              <a:spcBef>
                <a:spcPts val="0"/>
              </a:spcBef>
              <a:spcAft>
                <a:spcPts val="0"/>
              </a:spcAft>
              <a:buNone/>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kumimoji="1" lang="ja-JP" altLang="en-US" b="1" dirty="0"/>
              <a:t>信託の基礎</a:t>
            </a:r>
          </a:p>
        </p:txBody>
      </p:sp>
      <p:sp>
        <p:nvSpPr>
          <p:cNvPr id="5" name="四角形吹き出し 4"/>
          <p:cNvSpPr/>
          <p:nvPr/>
        </p:nvSpPr>
        <p:spPr>
          <a:xfrm>
            <a:off x="6250744" y="2475915"/>
            <a:ext cx="3273084" cy="352612"/>
          </a:xfrm>
          <a:prstGeom prst="wedgeRectCallout">
            <a:avLst>
              <a:gd name="adj1" fmla="val -99"/>
              <a:gd name="adj2" fmla="val 104002"/>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dirty="0">
                <a:latin typeface="Meiryo UI" panose="020B0604030504040204" pitchFamily="50" charset="-128"/>
                <a:ea typeface="Meiryo UI" panose="020B0604030504040204" pitchFamily="50" charset="-128"/>
              </a:rPr>
              <a:t>委託者本人または受益者</a:t>
            </a:r>
            <a:endParaRPr kumimoji="1" lang="ja-JP" altLang="en-US" sz="2000" dirty="0">
              <a:latin typeface="Meiryo UI" panose="020B0604030504040204" pitchFamily="50" charset="-128"/>
              <a:ea typeface="Meiryo UI" panose="020B0604030504040204" pitchFamily="50" charset="-128"/>
            </a:endParaRPr>
          </a:p>
        </p:txBody>
      </p:sp>
      <p:sp>
        <p:nvSpPr>
          <p:cNvPr id="6" name="四角形吹き出し 5"/>
          <p:cNvSpPr/>
          <p:nvPr/>
        </p:nvSpPr>
        <p:spPr>
          <a:xfrm>
            <a:off x="8561238" y="3618244"/>
            <a:ext cx="2857500" cy="1077102"/>
          </a:xfrm>
          <a:prstGeom prst="wedgeRectCallout">
            <a:avLst>
              <a:gd name="adj1" fmla="val 20259"/>
              <a:gd name="adj2" fmla="val -71439"/>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dirty="0">
                <a:latin typeface="Meiryo UI" panose="020B0604030504040204" pitchFamily="50" charset="-128"/>
                <a:ea typeface="Meiryo UI" panose="020B0604030504040204" pitchFamily="50" charset="-128"/>
              </a:rPr>
              <a:t>定期的な金銭の給付、相続・事業承継、高齢者の財産管理など</a:t>
            </a:r>
          </a:p>
        </p:txBody>
      </p:sp>
      <p:sp>
        <p:nvSpPr>
          <p:cNvPr id="7" name="四角形吹き出し 6"/>
          <p:cNvSpPr/>
          <p:nvPr/>
        </p:nvSpPr>
        <p:spPr>
          <a:xfrm>
            <a:off x="1104517" y="3964977"/>
            <a:ext cx="2857500" cy="730369"/>
          </a:xfrm>
          <a:prstGeom prst="wedgeRectCallout">
            <a:avLst>
              <a:gd name="adj1" fmla="val -3864"/>
              <a:gd name="adj2" fmla="val -68932"/>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sz="2000" dirty="0">
                <a:latin typeface="Meiryo UI" panose="020B0604030504040204" pitchFamily="50" charset="-128"/>
                <a:ea typeface="Meiryo UI" panose="020B0604030504040204" pitchFamily="50" charset="-128"/>
              </a:rPr>
              <a:t>債券や株式などによる運用・財産の管理</a:t>
            </a:r>
          </a:p>
        </p:txBody>
      </p:sp>
    </p:spTree>
    <p:extLst>
      <p:ext uri="{BB962C8B-B14F-4D97-AF65-F5344CB8AC3E}">
        <p14:creationId xmlns:p14="http://schemas.microsoft.com/office/powerpoint/2010/main" val="57221279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2-2.</a:t>
            </a:r>
            <a:r>
              <a:rPr kumimoji="1" lang="ja-JP" altLang="en-US" b="1" dirty="0"/>
              <a:t>信託受益権</a:t>
            </a:r>
          </a:p>
        </p:txBody>
      </p:sp>
      <p:sp>
        <p:nvSpPr>
          <p:cNvPr id="3" name="コンテンツ プレースホルダー 2"/>
          <p:cNvSpPr>
            <a:spLocks noGrp="1"/>
          </p:cNvSpPr>
          <p:nvPr>
            <p:ph sz="quarter" idx="18"/>
          </p:nvPr>
        </p:nvSpPr>
        <p:spPr>
          <a:xfrm>
            <a:off x="381000" y="1156850"/>
            <a:ext cx="11429999" cy="2437025"/>
          </a:xfrm>
        </p:spPr>
        <p:txBody>
          <a:bodyPr/>
          <a:lstStyle/>
          <a:p>
            <a:pPr>
              <a:spcBef>
                <a:spcPts val="0"/>
              </a:spcBef>
              <a:spcAft>
                <a:spcPts val="0"/>
              </a:spcAft>
            </a:pPr>
            <a:r>
              <a:rPr kumimoji="1" lang="ja-JP" altLang="en-US" sz="2400" dirty="0"/>
              <a:t>信託により、</a:t>
            </a:r>
            <a:r>
              <a:rPr lang="ja-JP" altLang="en-US" sz="2400" dirty="0"/>
              <a:t>信託財産の運用等から生じる利益を受け取る権利を受益者は得ることができる</a:t>
            </a:r>
            <a:r>
              <a:rPr kumimoji="1" lang="ja-JP" altLang="en-US" sz="2400" dirty="0"/>
              <a:t>。これを信託受益権という。</a:t>
            </a:r>
            <a:endParaRPr kumimoji="1" lang="en-US" altLang="ja-JP" sz="2400" dirty="0"/>
          </a:p>
          <a:p>
            <a:pPr>
              <a:spcBef>
                <a:spcPts val="0"/>
              </a:spcBef>
              <a:spcAft>
                <a:spcPts val="0"/>
              </a:spcAft>
            </a:pPr>
            <a:endParaRPr lang="en-US" altLang="ja-JP" sz="2400" dirty="0"/>
          </a:p>
          <a:p>
            <a:pPr marL="0" indent="0">
              <a:spcBef>
                <a:spcPts val="0"/>
              </a:spcBef>
              <a:spcAft>
                <a:spcPts val="0"/>
              </a:spcAft>
              <a:buNone/>
            </a:pPr>
            <a:r>
              <a:rPr kumimoji="1" lang="ja-JP" altLang="en-US" sz="2400" dirty="0"/>
              <a:t>・委託者が信託受益権を他者に与える場合、他益信託という。</a:t>
            </a:r>
            <a:endParaRPr kumimoji="1" lang="en-US" altLang="ja-JP" sz="2400" dirty="0"/>
          </a:p>
          <a:p>
            <a:pPr marL="0" indent="0">
              <a:spcBef>
                <a:spcPts val="0"/>
              </a:spcBef>
              <a:spcAft>
                <a:spcPts val="0"/>
              </a:spcAft>
              <a:buNone/>
            </a:pPr>
            <a:endParaRPr lang="en-US" altLang="ja-JP" sz="2400" dirty="0"/>
          </a:p>
          <a:p>
            <a:pPr marL="0" indent="0">
              <a:spcBef>
                <a:spcPts val="0"/>
              </a:spcBef>
              <a:spcAft>
                <a:spcPts val="0"/>
              </a:spcAft>
              <a:buNone/>
            </a:pPr>
            <a:r>
              <a:rPr kumimoji="1" lang="ja-JP" altLang="en-US" sz="2400" dirty="0"/>
              <a:t>・委託者が信託受益権を自分自身に与える場合、自益信託という。</a:t>
            </a:r>
            <a:endParaRPr kumimoji="1"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kumimoji="1" lang="ja-JP" altLang="en-US" b="1" dirty="0"/>
              <a:t>信託の基礎</a:t>
            </a:r>
          </a:p>
        </p:txBody>
      </p:sp>
      <p:grpSp>
        <p:nvGrpSpPr>
          <p:cNvPr id="16" name="グループ化 15"/>
          <p:cNvGrpSpPr/>
          <p:nvPr/>
        </p:nvGrpSpPr>
        <p:grpSpPr>
          <a:xfrm>
            <a:off x="897865" y="3924220"/>
            <a:ext cx="4875458" cy="2196631"/>
            <a:chOff x="315974" y="3951929"/>
            <a:chExt cx="4875458" cy="2196631"/>
          </a:xfrm>
        </p:grpSpPr>
        <p:sp>
          <p:nvSpPr>
            <p:cNvPr id="5" name="正方形/長方形 4"/>
            <p:cNvSpPr/>
            <p:nvPr/>
          </p:nvSpPr>
          <p:spPr>
            <a:xfrm>
              <a:off x="2019697" y="4538303"/>
              <a:ext cx="1315174" cy="42019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受託者</a:t>
              </a:r>
            </a:p>
          </p:txBody>
        </p:sp>
        <p:sp>
          <p:nvSpPr>
            <p:cNvPr id="6" name="正方形/長方形 5"/>
            <p:cNvSpPr/>
            <p:nvPr/>
          </p:nvSpPr>
          <p:spPr>
            <a:xfrm>
              <a:off x="704523" y="5728367"/>
              <a:ext cx="1315174" cy="42019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dirty="0">
                  <a:latin typeface="Meiryo UI" panose="020B0604030504040204" pitchFamily="50" charset="-128"/>
                  <a:ea typeface="Meiryo UI" panose="020B0604030504040204" pitchFamily="50" charset="-128"/>
                </a:rPr>
                <a:t>委託</a:t>
              </a:r>
              <a:r>
                <a:rPr kumimoji="1" lang="ja-JP" altLang="en-US" dirty="0">
                  <a:latin typeface="Meiryo UI" panose="020B0604030504040204" pitchFamily="50" charset="-128"/>
                  <a:ea typeface="Meiryo UI" panose="020B0604030504040204" pitchFamily="50" charset="-128"/>
                </a:rPr>
                <a:t>者</a:t>
              </a:r>
            </a:p>
          </p:txBody>
        </p:sp>
        <p:sp>
          <p:nvSpPr>
            <p:cNvPr id="7" name="正方形/長方形 6"/>
            <p:cNvSpPr/>
            <p:nvPr/>
          </p:nvSpPr>
          <p:spPr>
            <a:xfrm>
              <a:off x="3334871" y="5728367"/>
              <a:ext cx="1315174" cy="42019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dirty="0">
                  <a:latin typeface="Meiryo UI" panose="020B0604030504040204" pitchFamily="50" charset="-128"/>
                  <a:ea typeface="Meiryo UI" panose="020B0604030504040204" pitchFamily="50" charset="-128"/>
                </a:rPr>
                <a:t>受益</a:t>
              </a:r>
              <a:r>
                <a:rPr kumimoji="1" lang="ja-JP" altLang="en-US" dirty="0">
                  <a:latin typeface="Meiryo UI" panose="020B0604030504040204" pitchFamily="50" charset="-128"/>
                  <a:ea typeface="Meiryo UI" panose="020B0604030504040204" pitchFamily="50" charset="-128"/>
                </a:rPr>
                <a:t>者</a:t>
              </a:r>
            </a:p>
          </p:txBody>
        </p:sp>
        <p:cxnSp>
          <p:nvCxnSpPr>
            <p:cNvPr id="9" name="直線コネクタ 8"/>
            <p:cNvCxnSpPr/>
            <p:nvPr/>
          </p:nvCxnSpPr>
          <p:spPr>
            <a:xfrm flipH="1">
              <a:off x="1362110" y="4748399"/>
              <a:ext cx="657587" cy="979968"/>
            </a:xfrm>
            <a:prstGeom prst="line">
              <a:avLst/>
            </a:prstGeom>
            <a:ln>
              <a:headEnd type="triangle" w="lg" len="lg"/>
              <a:tailEnd type="triangle" w="lg" len="lg"/>
            </a:ln>
          </p:spPr>
          <p:style>
            <a:lnRef idx="1">
              <a:schemeClr val="dk1"/>
            </a:lnRef>
            <a:fillRef idx="0">
              <a:schemeClr val="dk1"/>
            </a:fillRef>
            <a:effectRef idx="0">
              <a:schemeClr val="dk1"/>
            </a:effectRef>
            <a:fontRef idx="minor">
              <a:schemeClr val="tx1"/>
            </a:fontRef>
          </p:style>
        </p:cxnSp>
        <p:sp>
          <p:nvSpPr>
            <p:cNvPr id="10" name="テキスト ボックス 9"/>
            <p:cNvSpPr txBox="1"/>
            <p:nvPr/>
          </p:nvSpPr>
          <p:spPr>
            <a:xfrm>
              <a:off x="315974" y="4986949"/>
              <a:ext cx="2092272" cy="307777"/>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信託契約の締結</a:t>
              </a:r>
            </a:p>
          </p:txBody>
        </p:sp>
        <p:cxnSp>
          <p:nvCxnSpPr>
            <p:cNvPr id="11" name="直線コネクタ 10"/>
            <p:cNvCxnSpPr>
              <a:stCxn id="7" idx="0"/>
              <a:endCxn id="5" idx="3"/>
            </p:cNvCxnSpPr>
            <p:nvPr/>
          </p:nvCxnSpPr>
          <p:spPr>
            <a:xfrm flipH="1" flipV="1">
              <a:off x="3334871" y="4748400"/>
              <a:ext cx="657587" cy="979967"/>
            </a:xfrm>
            <a:prstGeom prst="line">
              <a:avLst/>
            </a:prstGeom>
            <a:ln>
              <a:headEnd type="triangle" w="lg" len="lg"/>
              <a:tailEnd type="none" w="lg" len="lg"/>
            </a:ln>
          </p:spPr>
          <p:style>
            <a:lnRef idx="1">
              <a:schemeClr val="dk1"/>
            </a:lnRef>
            <a:fillRef idx="0">
              <a:schemeClr val="dk1"/>
            </a:fillRef>
            <a:effectRef idx="0">
              <a:schemeClr val="dk1"/>
            </a:effectRef>
            <a:fontRef idx="minor">
              <a:schemeClr val="tx1"/>
            </a:fontRef>
          </p:style>
        </p:cxnSp>
        <p:sp>
          <p:nvSpPr>
            <p:cNvPr id="14" name="テキスト ボックス 13"/>
            <p:cNvSpPr txBox="1"/>
            <p:nvPr/>
          </p:nvSpPr>
          <p:spPr>
            <a:xfrm>
              <a:off x="3722588" y="4958496"/>
              <a:ext cx="1468844" cy="307777"/>
            </a:xfrm>
            <a:prstGeom prst="rect">
              <a:avLst/>
            </a:prstGeom>
            <a:noFill/>
          </p:spPr>
          <p:txBody>
            <a:bodyPr wrap="square" rtlCol="0">
              <a:spAutoFit/>
            </a:bodyPr>
            <a:lstStyle/>
            <a:p>
              <a:r>
                <a:rPr kumimoji="1" lang="ja-JP" altLang="en-US" sz="1400" dirty="0">
                  <a:latin typeface="Meiryo UI" panose="020B0604030504040204" pitchFamily="50" charset="-128"/>
                  <a:ea typeface="Meiryo UI" panose="020B0604030504040204" pitchFamily="50" charset="-128"/>
                </a:rPr>
                <a:t>信託受益権</a:t>
              </a:r>
            </a:p>
          </p:txBody>
        </p:sp>
        <p:sp>
          <p:nvSpPr>
            <p:cNvPr id="15" name="テキスト ボックス 14"/>
            <p:cNvSpPr txBox="1"/>
            <p:nvPr/>
          </p:nvSpPr>
          <p:spPr>
            <a:xfrm>
              <a:off x="1934204" y="3951929"/>
              <a:ext cx="1486160" cy="369332"/>
            </a:xfrm>
            <a:prstGeom prst="rect">
              <a:avLst/>
            </a:prstGeom>
            <a:noFill/>
          </p:spPr>
          <p:txBody>
            <a:bodyPr wrap="square" rtlCol="0">
              <a:spAutoFit/>
            </a:bodyPr>
            <a:lstStyle/>
            <a:p>
              <a:pPr algn="ctr"/>
              <a:r>
                <a:rPr kumimoji="1" lang="en-US" altLang="ja-JP" dirty="0">
                  <a:latin typeface="Meiryo UI" panose="020B0604030504040204" pitchFamily="50" charset="-128"/>
                  <a:ea typeface="Meiryo UI" panose="020B0604030504040204" pitchFamily="50" charset="-128"/>
                </a:rPr>
                <a:t>【</a:t>
              </a:r>
              <a:r>
                <a:rPr kumimoji="1" lang="ja-JP" altLang="en-US" dirty="0">
                  <a:latin typeface="Meiryo UI" panose="020B0604030504040204" pitchFamily="50" charset="-128"/>
                  <a:ea typeface="Meiryo UI" panose="020B0604030504040204" pitchFamily="50" charset="-128"/>
                </a:rPr>
                <a:t>他益信託</a:t>
              </a:r>
              <a:r>
                <a:rPr kumimoji="1" lang="en-US" altLang="ja-JP"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grpSp>
        <p:nvGrpSpPr>
          <p:cNvPr id="34" name="グループ化 33"/>
          <p:cNvGrpSpPr/>
          <p:nvPr/>
        </p:nvGrpSpPr>
        <p:grpSpPr>
          <a:xfrm>
            <a:off x="7154525" y="3986359"/>
            <a:ext cx="4135830" cy="1933179"/>
            <a:chOff x="7154525" y="3986359"/>
            <a:chExt cx="4135830" cy="1933179"/>
          </a:xfrm>
        </p:grpSpPr>
        <p:sp>
          <p:nvSpPr>
            <p:cNvPr id="25" name="テキスト ボックス 24"/>
            <p:cNvSpPr txBox="1"/>
            <p:nvPr/>
          </p:nvSpPr>
          <p:spPr>
            <a:xfrm>
              <a:off x="8479360" y="3986359"/>
              <a:ext cx="1486160" cy="369332"/>
            </a:xfrm>
            <a:prstGeom prst="rect">
              <a:avLst/>
            </a:prstGeom>
            <a:noFill/>
          </p:spPr>
          <p:txBody>
            <a:bodyPr wrap="square" rtlCol="0">
              <a:spAutoFit/>
            </a:bodyPr>
            <a:lstStyle/>
            <a:p>
              <a:pPr algn="ctr"/>
              <a:r>
                <a:rPr kumimoji="1" lang="en-US" altLang="ja-JP" dirty="0">
                  <a:latin typeface="Meiryo UI" panose="020B0604030504040204" pitchFamily="50" charset="-128"/>
                  <a:ea typeface="Meiryo UI" panose="020B0604030504040204" pitchFamily="50" charset="-128"/>
                </a:rPr>
                <a:t>【</a:t>
              </a:r>
              <a:r>
                <a:rPr lang="ja-JP" altLang="en-US" dirty="0">
                  <a:latin typeface="Meiryo UI" panose="020B0604030504040204" pitchFamily="50" charset="-128"/>
                  <a:ea typeface="Meiryo UI" panose="020B0604030504040204" pitchFamily="50" charset="-128"/>
                </a:rPr>
                <a:t>自益</a:t>
              </a:r>
              <a:r>
                <a:rPr kumimoji="1" lang="ja-JP" altLang="en-US" dirty="0">
                  <a:latin typeface="Meiryo UI" panose="020B0604030504040204" pitchFamily="50" charset="-128"/>
                  <a:ea typeface="Meiryo UI" panose="020B0604030504040204" pitchFamily="50" charset="-128"/>
                </a:rPr>
                <a:t>信託</a:t>
              </a:r>
              <a:r>
                <a:rPr kumimoji="1" lang="en-US" altLang="ja-JP"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33" name="グループ化 32"/>
            <p:cNvGrpSpPr/>
            <p:nvPr/>
          </p:nvGrpSpPr>
          <p:grpSpPr>
            <a:xfrm>
              <a:off x="7154525" y="4775884"/>
              <a:ext cx="4135830" cy="1143654"/>
              <a:chOff x="6562973" y="5266273"/>
              <a:chExt cx="4135830" cy="1143654"/>
            </a:xfrm>
          </p:grpSpPr>
          <p:sp>
            <p:nvSpPr>
              <p:cNvPr id="19" name="正方形/長方形 18"/>
              <p:cNvSpPr/>
              <p:nvPr/>
            </p:nvSpPr>
            <p:spPr>
              <a:xfrm>
                <a:off x="6562973" y="5491865"/>
                <a:ext cx="1315174" cy="718834"/>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lang="ja-JP" altLang="en-US" dirty="0">
                    <a:latin typeface="Meiryo UI" panose="020B0604030504040204" pitchFamily="50" charset="-128"/>
                    <a:ea typeface="Meiryo UI" panose="020B0604030504040204" pitchFamily="50" charset="-128"/>
                  </a:rPr>
                  <a:t>委託</a:t>
                </a:r>
                <a:r>
                  <a:rPr kumimoji="1" lang="ja-JP" altLang="en-US" dirty="0">
                    <a:latin typeface="Meiryo UI" panose="020B0604030504040204" pitchFamily="50" charset="-128"/>
                    <a:ea typeface="Meiryo UI" panose="020B0604030504040204" pitchFamily="50" charset="-128"/>
                  </a:rPr>
                  <a:t>者</a:t>
                </a:r>
                <a:endParaRPr kumimoji="1" lang="en-US" altLang="ja-JP" dirty="0">
                  <a:latin typeface="Meiryo UI" panose="020B0604030504040204" pitchFamily="50" charset="-128"/>
                  <a:ea typeface="Meiryo UI" panose="020B0604030504040204" pitchFamily="50" charset="-128"/>
                </a:endParaRPr>
              </a:p>
              <a:p>
                <a:pPr algn="ctr"/>
                <a:r>
                  <a:rPr lang="ja-JP" altLang="en-US" dirty="0">
                    <a:latin typeface="Meiryo UI" panose="020B0604030504040204" pitchFamily="50" charset="-128"/>
                    <a:ea typeface="Meiryo UI" panose="020B0604030504040204" pitchFamily="50" charset="-128"/>
                  </a:rPr>
                  <a:t>受益者</a:t>
                </a:r>
                <a:endParaRPr kumimoji="1" lang="ja-JP" altLang="en-US" dirty="0">
                  <a:latin typeface="Meiryo UI" panose="020B0604030504040204" pitchFamily="50" charset="-128"/>
                  <a:ea typeface="Meiryo UI" panose="020B0604030504040204" pitchFamily="50" charset="-128"/>
                </a:endParaRPr>
              </a:p>
            </p:txBody>
          </p:sp>
          <p:sp>
            <p:nvSpPr>
              <p:cNvPr id="20" name="正方形/長方形 19"/>
              <p:cNvSpPr/>
              <p:nvPr/>
            </p:nvSpPr>
            <p:spPr>
              <a:xfrm>
                <a:off x="9383629" y="5641186"/>
                <a:ext cx="1315174" cy="420193"/>
              </a:xfrm>
              <a:prstGeom prst="rect">
                <a:avLst/>
              </a:prstGeom>
              <a:ln>
                <a:solidFill>
                  <a:schemeClr val="tx1"/>
                </a:solidFill>
              </a:ln>
            </p:spPr>
            <p:style>
              <a:lnRef idx="2">
                <a:schemeClr val="accent6"/>
              </a:lnRef>
              <a:fillRef idx="1">
                <a:schemeClr val="lt1"/>
              </a:fillRef>
              <a:effectRef idx="0">
                <a:schemeClr val="accent6"/>
              </a:effectRef>
              <a:fontRef idx="minor">
                <a:schemeClr val="dk1"/>
              </a:fontRef>
            </p:style>
            <p:txBody>
              <a:bodyPr rtlCol="0" anchor="ctr"/>
              <a:lstStyle/>
              <a:p>
                <a:pPr algn="ctr"/>
                <a:r>
                  <a:rPr kumimoji="1" lang="ja-JP" altLang="en-US" dirty="0">
                    <a:latin typeface="Meiryo UI" panose="020B0604030504040204" pitchFamily="50" charset="-128"/>
                    <a:ea typeface="Meiryo UI" panose="020B0604030504040204" pitchFamily="50" charset="-128"/>
                  </a:rPr>
                  <a:t>受託者</a:t>
                </a:r>
              </a:p>
            </p:txBody>
          </p:sp>
          <p:sp>
            <p:nvSpPr>
              <p:cNvPr id="22" name="テキスト ボックス 21"/>
              <p:cNvSpPr txBox="1"/>
              <p:nvPr/>
            </p:nvSpPr>
            <p:spPr>
              <a:xfrm>
                <a:off x="7935089" y="5266273"/>
                <a:ext cx="1434685" cy="307777"/>
              </a:xfrm>
              <a:prstGeom prst="rect">
                <a:avLst/>
              </a:prstGeom>
              <a:noFill/>
            </p:spPr>
            <p:txBody>
              <a:bodyPr wrap="square" rtlCol="0">
                <a:spAutoFit/>
              </a:bodyPr>
              <a:lstStyle/>
              <a:p>
                <a:pPr algn="ctr"/>
                <a:r>
                  <a:rPr kumimoji="1" lang="ja-JP" altLang="en-US" sz="1400" dirty="0">
                    <a:latin typeface="Meiryo UI" panose="020B0604030504040204" pitchFamily="50" charset="-128"/>
                    <a:ea typeface="Meiryo UI" panose="020B0604030504040204" pitchFamily="50" charset="-128"/>
                  </a:rPr>
                  <a:t>信託契約の締結</a:t>
                </a:r>
              </a:p>
            </p:txBody>
          </p:sp>
          <p:sp>
            <p:nvSpPr>
              <p:cNvPr id="24" name="テキスト ボックス 23"/>
              <p:cNvSpPr txBox="1"/>
              <p:nvPr/>
            </p:nvSpPr>
            <p:spPr>
              <a:xfrm>
                <a:off x="8034037" y="6102150"/>
                <a:ext cx="1236787" cy="307777"/>
              </a:xfrm>
              <a:prstGeom prst="rect">
                <a:avLst/>
              </a:prstGeom>
              <a:noFill/>
            </p:spPr>
            <p:txBody>
              <a:bodyPr wrap="square" rtlCol="0">
                <a:spAutoFit/>
              </a:bodyPr>
              <a:lstStyle/>
              <a:p>
                <a:pPr algn="ctr"/>
                <a:r>
                  <a:rPr kumimoji="1" lang="ja-JP" altLang="en-US" sz="1400" dirty="0">
                    <a:latin typeface="Meiryo UI" panose="020B0604030504040204" pitchFamily="50" charset="-128"/>
                    <a:ea typeface="Meiryo UI" panose="020B0604030504040204" pitchFamily="50" charset="-128"/>
                  </a:rPr>
                  <a:t>信託受益権</a:t>
                </a:r>
              </a:p>
            </p:txBody>
          </p:sp>
          <p:cxnSp>
            <p:nvCxnSpPr>
              <p:cNvPr id="28" name="直線コネクタ 27"/>
              <p:cNvCxnSpPr/>
              <p:nvPr/>
            </p:nvCxnSpPr>
            <p:spPr>
              <a:xfrm flipH="1">
                <a:off x="7878147" y="5709050"/>
                <a:ext cx="1505482" cy="0"/>
              </a:xfrm>
              <a:prstGeom prst="line">
                <a:avLst/>
              </a:prstGeom>
              <a:ln>
                <a:headEnd type="triangle" w="lg" len="lg"/>
                <a:tailEnd type="triangle" w="lg" len="lg"/>
              </a:ln>
            </p:spPr>
            <p:style>
              <a:lnRef idx="1">
                <a:schemeClr val="dk1"/>
              </a:lnRef>
              <a:fillRef idx="0">
                <a:schemeClr val="dk1"/>
              </a:fillRef>
              <a:effectRef idx="0">
                <a:schemeClr val="dk1"/>
              </a:effectRef>
              <a:fontRef idx="minor">
                <a:schemeClr val="tx1"/>
              </a:fontRef>
            </p:style>
          </p:cxnSp>
          <p:cxnSp>
            <p:nvCxnSpPr>
              <p:cNvPr id="32" name="直線コネクタ 31"/>
              <p:cNvCxnSpPr/>
              <p:nvPr/>
            </p:nvCxnSpPr>
            <p:spPr>
              <a:xfrm flipH="1">
                <a:off x="7878147" y="5967149"/>
                <a:ext cx="1505482" cy="0"/>
              </a:xfrm>
              <a:prstGeom prst="line">
                <a:avLst/>
              </a:prstGeom>
              <a:ln>
                <a:headEnd type="none" w="lg" len="lg"/>
                <a:tailEnd type="triangle" w="lg" len="lg"/>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23765651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2-3.</a:t>
            </a:r>
            <a:r>
              <a:rPr kumimoji="1" lang="ja-JP" altLang="en-US" b="1" dirty="0"/>
              <a:t>信託の種類</a:t>
            </a:r>
          </a:p>
        </p:txBody>
      </p:sp>
      <p:sp>
        <p:nvSpPr>
          <p:cNvPr id="3" name="コンテンツ プレースホルダー 2"/>
          <p:cNvSpPr>
            <a:spLocks noGrp="1"/>
          </p:cNvSpPr>
          <p:nvPr>
            <p:ph sz="quarter" idx="18"/>
          </p:nvPr>
        </p:nvSpPr>
        <p:spPr>
          <a:xfrm>
            <a:off x="381000" y="1156851"/>
            <a:ext cx="11429999" cy="1350822"/>
          </a:xfrm>
        </p:spPr>
        <p:txBody>
          <a:bodyPr/>
          <a:lstStyle/>
          <a:p>
            <a:pPr>
              <a:spcBef>
                <a:spcPts val="0"/>
              </a:spcBef>
              <a:spcAft>
                <a:spcPts val="0"/>
              </a:spcAft>
            </a:pPr>
            <a:r>
              <a:rPr kumimoji="1" lang="ja-JP" altLang="en-US" sz="2400" dirty="0"/>
              <a:t>信託に</a:t>
            </a:r>
            <a:r>
              <a:rPr lang="ja-JP" altLang="en-US" sz="2400" dirty="0"/>
              <a:t>は、金銭の信託、金銭以外の信託、ものの信託の</a:t>
            </a:r>
            <a:r>
              <a:rPr lang="en-US" altLang="ja-JP" sz="2400" dirty="0"/>
              <a:t>3</a:t>
            </a:r>
            <a:r>
              <a:rPr lang="ja-JP" altLang="en-US" sz="2400" dirty="0"/>
              <a:t>種類がある。</a:t>
            </a:r>
            <a:endParaRPr lang="en-US" altLang="ja-JP" sz="2400" dirty="0"/>
          </a:p>
          <a:p>
            <a:pPr>
              <a:spcBef>
                <a:spcPts val="0"/>
              </a:spcBef>
              <a:spcAft>
                <a:spcPts val="0"/>
              </a:spcAft>
            </a:pPr>
            <a:endParaRPr lang="en-US" altLang="ja-JP" sz="2400" dirty="0"/>
          </a:p>
          <a:p>
            <a:pPr>
              <a:spcBef>
                <a:spcPts val="0"/>
              </a:spcBef>
              <a:spcAft>
                <a:spcPts val="0"/>
              </a:spcAft>
            </a:pPr>
            <a:r>
              <a:rPr lang="en-US" altLang="ja-JP" sz="2400" dirty="0"/>
              <a:t>3</a:t>
            </a:r>
            <a:r>
              <a:rPr lang="ja-JP" altLang="en-US" sz="2400" dirty="0"/>
              <a:t>種類の信託については、次スライド以降で詳細を説明する。</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kumimoji="1" lang="ja-JP" altLang="en-US" b="1" dirty="0"/>
              <a:t>信託の基礎</a:t>
            </a:r>
          </a:p>
        </p:txBody>
      </p:sp>
      <p:graphicFrame>
        <p:nvGraphicFramePr>
          <p:cNvPr id="6" name="表 5"/>
          <p:cNvGraphicFramePr>
            <a:graphicFrameLocks noGrp="1"/>
          </p:cNvGraphicFramePr>
          <p:nvPr>
            <p:extLst>
              <p:ext uri="{D42A27DB-BD31-4B8C-83A1-F6EECF244321}">
                <p14:modId xmlns:p14="http://schemas.microsoft.com/office/powerpoint/2010/main" val="911973690"/>
              </p:ext>
            </p:extLst>
          </p:nvPr>
        </p:nvGraphicFramePr>
        <p:xfrm>
          <a:off x="232348" y="2743203"/>
          <a:ext cx="11658598" cy="3020286"/>
        </p:xfrm>
        <a:graphic>
          <a:graphicData uri="http://schemas.openxmlformats.org/drawingml/2006/table">
            <a:tbl>
              <a:tblPr/>
              <a:tblGrid>
                <a:gridCol w="1475253">
                  <a:extLst>
                    <a:ext uri="{9D8B030D-6E8A-4147-A177-3AD203B41FA5}">
                      <a16:colId xmlns:a16="http://schemas.microsoft.com/office/drawing/2014/main" val="1189938133"/>
                    </a:ext>
                  </a:extLst>
                </a:gridCol>
                <a:gridCol w="1191745">
                  <a:extLst>
                    <a:ext uri="{9D8B030D-6E8A-4147-A177-3AD203B41FA5}">
                      <a16:colId xmlns:a16="http://schemas.microsoft.com/office/drawing/2014/main" val="2472824813"/>
                    </a:ext>
                  </a:extLst>
                </a:gridCol>
                <a:gridCol w="2161309">
                  <a:extLst>
                    <a:ext uri="{9D8B030D-6E8A-4147-A177-3AD203B41FA5}">
                      <a16:colId xmlns:a16="http://schemas.microsoft.com/office/drawing/2014/main" val="2612285296"/>
                    </a:ext>
                  </a:extLst>
                </a:gridCol>
                <a:gridCol w="2244436">
                  <a:extLst>
                    <a:ext uri="{9D8B030D-6E8A-4147-A177-3AD203B41FA5}">
                      <a16:colId xmlns:a16="http://schemas.microsoft.com/office/drawing/2014/main" val="3725771898"/>
                    </a:ext>
                  </a:extLst>
                </a:gridCol>
                <a:gridCol w="4585855">
                  <a:extLst>
                    <a:ext uri="{9D8B030D-6E8A-4147-A177-3AD203B41FA5}">
                      <a16:colId xmlns:a16="http://schemas.microsoft.com/office/drawing/2014/main" val="126195103"/>
                    </a:ext>
                  </a:extLst>
                </a:gridCol>
              </a:tblGrid>
              <a:tr h="900543">
                <a:tc gridSpan="2">
                  <a:txBody>
                    <a:bodyPr/>
                    <a:lstStyle/>
                    <a:p>
                      <a:pPr algn="ctr" fontAlgn="ctr"/>
                      <a:r>
                        <a:rPr lang="ja-JP" altLang="en-US" sz="2000" b="0" i="0" u="none" strike="noStrike" dirty="0">
                          <a:solidFill>
                            <a:srgbClr val="FFFFFF"/>
                          </a:solidFill>
                          <a:effectLst/>
                          <a:latin typeface="Meiryo UI" panose="020B0604030504040204" pitchFamily="50" charset="-128"/>
                          <a:ea typeface="Meiryo UI" panose="020B0604030504040204" pitchFamily="50" charset="-128"/>
                        </a:rPr>
                        <a:t>信託の種類</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hMerge="1">
                  <a:txBody>
                    <a:bodyPr/>
                    <a:lstStyle/>
                    <a:p>
                      <a:endParaRPr kumimoji="1" lang="ja-JP" altLang="en-US"/>
                    </a:p>
                  </a:txBody>
                  <a:tcPr/>
                </a:tc>
                <a:tc>
                  <a:txBody>
                    <a:bodyPr/>
                    <a:lstStyle/>
                    <a:p>
                      <a:pPr algn="ctr" fontAlgn="ctr"/>
                      <a:r>
                        <a:rPr lang="zh-TW" altLang="en-US" sz="2000" b="0" i="0" u="none" strike="noStrike" dirty="0">
                          <a:solidFill>
                            <a:srgbClr val="FFFFFF"/>
                          </a:solidFill>
                          <a:effectLst/>
                          <a:latin typeface="Meiryo UI" panose="020B0604030504040204" pitchFamily="50" charset="-128"/>
                          <a:ea typeface="Meiryo UI" panose="020B0604030504040204" pitchFamily="50" charset="-128"/>
                        </a:rPr>
                        <a:t>信託引受</a:t>
                      </a:r>
                      <a:br>
                        <a:rPr lang="zh-TW" altLang="en-US" sz="2000" b="0" i="0" u="none" strike="noStrike" dirty="0">
                          <a:solidFill>
                            <a:srgbClr val="FFFFFF"/>
                          </a:solidFill>
                          <a:effectLst/>
                          <a:latin typeface="Meiryo UI" panose="020B0604030504040204" pitchFamily="50" charset="-128"/>
                          <a:ea typeface="Meiryo UI" panose="020B0604030504040204" pitchFamily="50" charset="-128"/>
                        </a:rPr>
                      </a:br>
                      <a:r>
                        <a:rPr lang="zh-TW" altLang="en-US" sz="2000" b="0" i="0" u="none" strike="noStrike" dirty="0">
                          <a:solidFill>
                            <a:srgbClr val="FFFFFF"/>
                          </a:solidFill>
                          <a:effectLst/>
                          <a:latin typeface="Meiryo UI" panose="020B0604030504040204" pitchFamily="50" charset="-128"/>
                          <a:ea typeface="Meiryo UI" panose="020B0604030504040204" pitchFamily="50" charset="-128"/>
                        </a:rPr>
                        <a:t>（開始）時</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a:txBody>
                    <a:bodyPr/>
                    <a:lstStyle/>
                    <a:p>
                      <a:pPr algn="ctr" fontAlgn="ctr"/>
                      <a:r>
                        <a:rPr lang="zh-TW" altLang="en-US" sz="2000" b="0" i="0" u="none" strike="noStrike">
                          <a:solidFill>
                            <a:srgbClr val="FFFFFF"/>
                          </a:solidFill>
                          <a:effectLst/>
                          <a:latin typeface="Meiryo UI" panose="020B0604030504040204" pitchFamily="50" charset="-128"/>
                          <a:ea typeface="Meiryo UI" panose="020B0604030504040204" pitchFamily="50" charset="-128"/>
                        </a:rPr>
                        <a:t>信託交付</a:t>
                      </a:r>
                      <a:br>
                        <a:rPr lang="zh-TW" altLang="en-US" sz="2000" b="0" i="0" u="none" strike="noStrike">
                          <a:solidFill>
                            <a:srgbClr val="FFFFFF"/>
                          </a:solidFill>
                          <a:effectLst/>
                          <a:latin typeface="Meiryo UI" panose="020B0604030504040204" pitchFamily="50" charset="-128"/>
                          <a:ea typeface="Meiryo UI" panose="020B0604030504040204" pitchFamily="50" charset="-128"/>
                        </a:rPr>
                      </a:br>
                      <a:r>
                        <a:rPr lang="zh-TW" altLang="en-US" sz="2000" b="0" i="0" u="none" strike="noStrike">
                          <a:solidFill>
                            <a:srgbClr val="FFFFFF"/>
                          </a:solidFill>
                          <a:effectLst/>
                          <a:latin typeface="Meiryo UI" panose="020B0604030504040204" pitchFamily="50" charset="-128"/>
                          <a:ea typeface="Meiryo UI" panose="020B0604030504040204" pitchFamily="50" charset="-128"/>
                        </a:rPr>
                        <a:t>（終了）時</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a:txBody>
                    <a:bodyPr/>
                    <a:lstStyle/>
                    <a:p>
                      <a:pPr algn="ctr" fontAlgn="ctr"/>
                      <a:r>
                        <a:rPr lang="ja-JP" altLang="en-US" sz="2000" b="0" i="0" u="none" strike="noStrike" dirty="0">
                          <a:solidFill>
                            <a:srgbClr val="FFFFFF"/>
                          </a:solidFill>
                          <a:effectLst/>
                          <a:latin typeface="Meiryo UI" panose="020B0604030504040204" pitchFamily="50" charset="-128"/>
                          <a:ea typeface="Meiryo UI" panose="020B0604030504040204" pitchFamily="50" charset="-128"/>
                        </a:rPr>
                        <a:t>信託の対象例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extLst>
                  <a:ext uri="{0D108BD9-81ED-4DB2-BD59-A6C34878D82A}">
                    <a16:rowId xmlns:a16="http://schemas.microsoft.com/office/drawing/2014/main" val="3117358782"/>
                  </a:ext>
                </a:extLst>
              </a:tr>
              <a:tr h="706581">
                <a:tc rowSpan="2">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金銭</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62938917"/>
                  </a:ext>
                </a:extLst>
              </a:tr>
              <a:tr h="706581">
                <a:tc v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金外信託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金銭以外</a:t>
                      </a:r>
                      <a:r>
                        <a:rPr lang="en-US" altLang="ja-JP" sz="2000" b="0" i="0" u="none" strike="noStrike" dirty="0">
                          <a:solidFill>
                            <a:srgbClr val="000000"/>
                          </a:solidFill>
                          <a:effectLst/>
                          <a:latin typeface="Meiryo UI" panose="020B0604030504040204" pitchFamily="50" charset="-128"/>
                          <a:ea typeface="Meiryo UI" panose="020B0604030504040204" pitchFamily="50" charset="-128"/>
                        </a:rPr>
                        <a:t>(*1)</a:t>
                      </a:r>
                      <a:endParaRPr lang="ja-JP" altLang="en-US" sz="2000" b="0" i="0" u="none" strike="noStrike" dirty="0">
                        <a:solidFill>
                          <a:srgbClr val="000000"/>
                        </a:solidFill>
                        <a:effectLst/>
                        <a:latin typeface="Meiryo UI" panose="020B0604030504040204" pitchFamily="50" charset="-128"/>
                        <a:ea typeface="Meiryo UI" panose="020B0604030504040204" pitchFamily="50" charset="-128"/>
                      </a:endParaRP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従業員持ち株など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540010973"/>
                  </a:ext>
                </a:extLst>
              </a:tr>
              <a:tr h="706581">
                <a:tc gridSpan="2">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ものの信託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金銭以外</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金銭以外</a:t>
                      </a:r>
                      <a:r>
                        <a:rPr lang="en-US" altLang="ja-JP" sz="2000" b="0" i="0" u="none" strike="noStrike" dirty="0">
                          <a:solidFill>
                            <a:srgbClr val="000000"/>
                          </a:solidFill>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有価証券、金銭債権、不動産、動産など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432609130"/>
                  </a:ext>
                </a:extLst>
              </a:tr>
            </a:tbl>
          </a:graphicData>
        </a:graphic>
      </p:graphicFrame>
      <p:sp>
        <p:nvSpPr>
          <p:cNvPr id="7" name="テキスト ボックス 6"/>
          <p:cNvSpPr txBox="1"/>
          <p:nvPr/>
        </p:nvSpPr>
        <p:spPr>
          <a:xfrm>
            <a:off x="380999" y="5846619"/>
            <a:ext cx="11361295" cy="369332"/>
          </a:xfrm>
          <a:prstGeom prst="rect">
            <a:avLst/>
          </a:prstGeom>
          <a:noFill/>
        </p:spPr>
        <p:txBody>
          <a:bodyPr wrap="square" rtlCol="0">
            <a:spAutoFit/>
          </a:bodyPr>
          <a:lstStyle/>
          <a:p>
            <a:r>
              <a:rPr lang="en-US" altLang="ja-JP" dirty="0">
                <a:latin typeface="Meiryo UI" panose="020B0604030504040204" pitchFamily="50" charset="-128"/>
                <a:ea typeface="Meiryo UI" panose="020B0604030504040204" pitchFamily="50" charset="-128"/>
              </a:rPr>
              <a:t>(*1)</a:t>
            </a:r>
            <a:r>
              <a:rPr lang="ja-JP" altLang="en-US" dirty="0">
                <a:latin typeface="Meiryo UI" panose="020B0604030504040204" pitchFamily="50" charset="-128"/>
                <a:ea typeface="Meiryo UI" panose="020B0604030504040204" pitchFamily="50" charset="-128"/>
              </a:rPr>
              <a:t>金銭以外のもの、たとえば株式などを現金化せずにそのまま交付（「現状有姿（げんじょうゆうし）」という）する。</a:t>
            </a:r>
          </a:p>
        </p:txBody>
      </p:sp>
    </p:spTree>
    <p:extLst>
      <p:ext uri="{BB962C8B-B14F-4D97-AF65-F5344CB8AC3E}">
        <p14:creationId xmlns:p14="http://schemas.microsoft.com/office/powerpoint/2010/main" val="339439681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2-4.</a:t>
            </a:r>
            <a:r>
              <a:rPr kumimoji="1" lang="ja-JP" altLang="en-US" b="1" dirty="0"/>
              <a:t>金銭の信託の詳細</a:t>
            </a:r>
          </a:p>
        </p:txBody>
      </p:sp>
      <p:sp>
        <p:nvSpPr>
          <p:cNvPr id="3" name="コンテンツ プレースホルダー 2"/>
          <p:cNvSpPr>
            <a:spLocks noGrp="1"/>
          </p:cNvSpPr>
          <p:nvPr>
            <p:ph sz="quarter" idx="18"/>
          </p:nvPr>
        </p:nvSpPr>
        <p:spPr>
          <a:xfrm>
            <a:off x="381000" y="1156851"/>
            <a:ext cx="11429999" cy="533404"/>
          </a:xfrm>
        </p:spPr>
        <p:txBody>
          <a:bodyPr/>
          <a:lstStyle/>
          <a:p>
            <a:pPr>
              <a:spcBef>
                <a:spcPts val="0"/>
              </a:spcBef>
              <a:spcAft>
                <a:spcPts val="0"/>
              </a:spcAft>
            </a:pPr>
            <a:r>
              <a:rPr kumimoji="1" lang="ja-JP" altLang="en-US" sz="2400" dirty="0"/>
              <a:t>金銭信託、金外信託の詳細は以下のとおり。</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kumimoji="1" lang="ja-JP" altLang="en-US" b="1" dirty="0"/>
              <a:t>信託の基礎</a:t>
            </a:r>
          </a:p>
        </p:txBody>
      </p:sp>
      <p:graphicFrame>
        <p:nvGraphicFramePr>
          <p:cNvPr id="7" name="表 6"/>
          <p:cNvGraphicFramePr>
            <a:graphicFrameLocks noGrp="1"/>
          </p:cNvGraphicFramePr>
          <p:nvPr>
            <p:extLst>
              <p:ext uri="{D42A27DB-BD31-4B8C-83A1-F6EECF244321}">
                <p14:modId xmlns:p14="http://schemas.microsoft.com/office/powerpoint/2010/main" val="183140833"/>
              </p:ext>
            </p:extLst>
          </p:nvPr>
        </p:nvGraphicFramePr>
        <p:xfrm>
          <a:off x="76199" y="1925778"/>
          <a:ext cx="12039600" cy="3973739"/>
        </p:xfrm>
        <a:graphic>
          <a:graphicData uri="http://schemas.openxmlformats.org/drawingml/2006/table">
            <a:tbl>
              <a:tblPr/>
              <a:tblGrid>
                <a:gridCol w="1340724">
                  <a:extLst>
                    <a:ext uri="{9D8B030D-6E8A-4147-A177-3AD203B41FA5}">
                      <a16:colId xmlns:a16="http://schemas.microsoft.com/office/drawing/2014/main" val="3009113300"/>
                    </a:ext>
                  </a:extLst>
                </a:gridCol>
                <a:gridCol w="1181179">
                  <a:extLst>
                    <a:ext uri="{9D8B030D-6E8A-4147-A177-3AD203B41FA5}">
                      <a16:colId xmlns:a16="http://schemas.microsoft.com/office/drawing/2014/main" val="3966925213"/>
                    </a:ext>
                  </a:extLst>
                </a:gridCol>
                <a:gridCol w="2308184">
                  <a:extLst>
                    <a:ext uri="{9D8B030D-6E8A-4147-A177-3AD203B41FA5}">
                      <a16:colId xmlns:a16="http://schemas.microsoft.com/office/drawing/2014/main" val="3695995818"/>
                    </a:ext>
                  </a:extLst>
                </a:gridCol>
                <a:gridCol w="1837999">
                  <a:extLst>
                    <a:ext uri="{9D8B030D-6E8A-4147-A177-3AD203B41FA5}">
                      <a16:colId xmlns:a16="http://schemas.microsoft.com/office/drawing/2014/main" val="854590843"/>
                    </a:ext>
                  </a:extLst>
                </a:gridCol>
                <a:gridCol w="5371514">
                  <a:extLst>
                    <a:ext uri="{9D8B030D-6E8A-4147-A177-3AD203B41FA5}">
                      <a16:colId xmlns:a16="http://schemas.microsoft.com/office/drawing/2014/main" val="819396346"/>
                    </a:ext>
                  </a:extLst>
                </a:gridCol>
              </a:tblGrid>
              <a:tr h="440826">
                <a:tc gridSpan="2">
                  <a:txBody>
                    <a:bodyPr/>
                    <a:lstStyle/>
                    <a:p>
                      <a:pPr algn="ctr" fontAlgn="ctr"/>
                      <a:r>
                        <a:rPr lang="ja-JP" altLang="en-US" sz="2000" b="0" i="0" u="none" strike="noStrike">
                          <a:solidFill>
                            <a:srgbClr val="FFFFFF"/>
                          </a:solidFill>
                          <a:effectLst/>
                          <a:latin typeface="Meiryo UI" panose="020B0604030504040204" pitchFamily="50" charset="-128"/>
                          <a:ea typeface="Meiryo UI" panose="020B0604030504040204" pitchFamily="50" charset="-128"/>
                        </a:rPr>
                        <a:t>信託の種類</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hMerge="1">
                  <a:txBody>
                    <a:bodyPr/>
                    <a:lstStyle/>
                    <a:p>
                      <a:endParaRPr kumimoji="1" lang="ja-JP" altLang="en-US"/>
                    </a:p>
                  </a:txBody>
                  <a:tcPr/>
                </a:tc>
                <a:tc gridSpan="2">
                  <a:txBody>
                    <a:bodyPr/>
                    <a:lstStyle/>
                    <a:p>
                      <a:pPr algn="ctr" fontAlgn="ctr"/>
                      <a:r>
                        <a:rPr lang="ja-JP" altLang="en-US" sz="2000" b="0" i="0" u="none" strike="noStrike">
                          <a:solidFill>
                            <a:srgbClr val="FFFFFF"/>
                          </a:solidFill>
                          <a:effectLst/>
                          <a:latin typeface="Meiryo UI" panose="020B0604030504040204" pitchFamily="50" charset="-128"/>
                          <a:ea typeface="Meiryo UI" panose="020B0604030504040204" pitchFamily="50" charset="-128"/>
                        </a:rPr>
                        <a:t>信託の詳細</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hMerge="1">
                  <a:txBody>
                    <a:bodyPr/>
                    <a:lstStyle/>
                    <a:p>
                      <a:endParaRPr kumimoji="1" lang="ja-JP" altLang="en-US"/>
                    </a:p>
                  </a:txBody>
                  <a:tcPr/>
                </a:tc>
                <a:tc>
                  <a:txBody>
                    <a:bodyPr/>
                    <a:lstStyle/>
                    <a:p>
                      <a:pPr algn="ctr" fontAlgn="ctr"/>
                      <a:r>
                        <a:rPr lang="ja-JP" altLang="en-US" sz="2000" b="0" i="0" u="none" strike="noStrike">
                          <a:solidFill>
                            <a:srgbClr val="FFFFFF"/>
                          </a:solidFill>
                          <a:effectLst/>
                          <a:latin typeface="Meiryo UI" panose="020B0604030504040204" pitchFamily="50" charset="-128"/>
                          <a:ea typeface="Meiryo UI" panose="020B0604030504040204" pitchFamily="50" charset="-128"/>
                        </a:rPr>
                        <a:t>具体例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extLst>
                  <a:ext uri="{0D108BD9-81ED-4DB2-BD59-A6C34878D82A}">
                    <a16:rowId xmlns:a16="http://schemas.microsoft.com/office/drawing/2014/main" val="1539281309"/>
                  </a:ext>
                </a:extLst>
              </a:tr>
              <a:tr h="370294">
                <a:tc rowSpan="5">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金銭の信託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金銭信託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特定</a:t>
                      </a:r>
                      <a:r>
                        <a:rPr lang="en-US" altLang="zh-TW" sz="2000" b="0" i="0" u="none" strike="noStrike">
                          <a:solidFill>
                            <a:srgbClr val="000000"/>
                          </a:solidFill>
                          <a:effectLst/>
                          <a:latin typeface="Meiryo UI" panose="020B0604030504040204" pitchFamily="50" charset="-128"/>
                          <a:ea typeface="Meiryo UI" panose="020B0604030504040204" pitchFamily="50" charset="-128"/>
                        </a:rPr>
                        <a:t>(*1)</a:t>
                      </a:r>
                      <a:r>
                        <a:rPr lang="zh-TW" altLang="en-US" sz="2000" b="0" i="0" u="none" strike="noStrike">
                          <a:solidFill>
                            <a:srgbClr val="000000"/>
                          </a:solidFill>
                          <a:effectLst/>
                          <a:latin typeface="Meiryo UI" panose="020B0604030504040204" pitchFamily="50" charset="-128"/>
                          <a:ea typeface="Meiryo UI" panose="020B0604030504040204" pitchFamily="50" charset="-128"/>
                        </a:rPr>
                        <a:t>金銭信託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投資信託、確定拠出年金信託など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3001842942"/>
                  </a:ext>
                </a:extLst>
              </a:tr>
              <a:tr h="370294">
                <a:tc vMerge="1">
                  <a:txBody>
                    <a:bodyPr/>
                    <a:lstStyle/>
                    <a:p>
                      <a:endParaRPr kumimoji="1" lang="ja-JP" altLang="en-US"/>
                    </a:p>
                  </a:txBody>
                  <a:tcPr/>
                </a:tc>
                <a:tc vMerge="1">
                  <a:txBody>
                    <a:bodyPr/>
                    <a:lstStyle/>
                    <a:p>
                      <a:endParaRPr kumimoji="1" lang="ja-JP" altLang="en-US"/>
                    </a:p>
                  </a:txBody>
                  <a:tcPr/>
                </a:tc>
                <a:tc rowSpan="2">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指定</a:t>
                      </a:r>
                      <a:r>
                        <a:rPr lang="en-US" altLang="zh-TW" sz="2000" b="0" i="0" u="none" strike="noStrike">
                          <a:solidFill>
                            <a:srgbClr val="000000"/>
                          </a:solidFill>
                          <a:effectLst/>
                          <a:latin typeface="Meiryo UI" panose="020B0604030504040204" pitchFamily="50" charset="-128"/>
                          <a:ea typeface="Meiryo UI" panose="020B0604030504040204" pitchFamily="50" charset="-128"/>
                        </a:rPr>
                        <a:t>(*2)</a:t>
                      </a:r>
                      <a:r>
                        <a:rPr lang="zh-TW" altLang="en-US" sz="2000" b="0" i="0" u="none" strike="noStrike">
                          <a:solidFill>
                            <a:srgbClr val="000000"/>
                          </a:solidFill>
                          <a:effectLst/>
                          <a:latin typeface="Meiryo UI" panose="020B0604030504040204" pitchFamily="50" charset="-128"/>
                          <a:ea typeface="Meiryo UI" panose="020B0604030504040204" pitchFamily="50" charset="-128"/>
                        </a:rPr>
                        <a:t>金銭信託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合同運用</a:t>
                      </a:r>
                      <a:r>
                        <a:rPr lang="en-US" altLang="ja-JP" sz="2000" b="0" i="0" u="none" strike="noStrike" dirty="0">
                          <a:solidFill>
                            <a:srgbClr val="000000"/>
                          </a:solidFill>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財産形成信託、後見制度支援信託など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848421801"/>
                  </a:ext>
                </a:extLst>
              </a:tr>
              <a:tr h="370294">
                <a:tc vMerge="1">
                  <a:txBody>
                    <a:bodyPr/>
                    <a:lstStyle/>
                    <a:p>
                      <a:endParaRPr kumimoji="1" lang="ja-JP" altLang="en-US"/>
                    </a:p>
                  </a:txBody>
                  <a:tcPr/>
                </a:tc>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単独運用</a:t>
                      </a:r>
                      <a:r>
                        <a:rPr lang="en-US" altLang="ja-JP" sz="2000" b="0" i="0" u="none" strike="noStrike">
                          <a:solidFill>
                            <a:srgbClr val="000000"/>
                          </a:solidFill>
                          <a:effectLst/>
                          <a:latin typeface="Meiryo UI" panose="020B0604030504040204" pitchFamily="50" charset="-128"/>
                          <a:ea typeface="Meiryo UI" panose="020B0604030504040204" pitchFamily="50" charset="-128"/>
                        </a:rPr>
                        <a:t>(*4)</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年金信託、確定給付企業年金信託など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54963221"/>
                  </a:ext>
                </a:extLst>
              </a:tr>
              <a:tr h="370294">
                <a:tc vMerge="1">
                  <a:txBody>
                    <a:bodyPr/>
                    <a:lstStyle/>
                    <a:p>
                      <a:endParaRPr kumimoji="1" lang="ja-JP" altLang="en-US"/>
                    </a:p>
                  </a:txBody>
                  <a:tcPr/>
                </a:tc>
                <a:tc rowSpan="2">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金外信託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gridSpan="2">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特定</a:t>
                      </a:r>
                      <a:r>
                        <a:rPr lang="en-US" altLang="zh-TW" sz="2000" b="0" i="0" u="none" strike="noStrike">
                          <a:solidFill>
                            <a:srgbClr val="000000"/>
                          </a:solidFill>
                          <a:effectLst/>
                          <a:latin typeface="Meiryo UI" panose="020B0604030504040204" pitchFamily="50" charset="-128"/>
                          <a:ea typeface="Meiryo UI" panose="020B0604030504040204" pitchFamily="50" charset="-128"/>
                        </a:rPr>
                        <a:t>(*1)</a:t>
                      </a:r>
                      <a:r>
                        <a:rPr lang="zh-TW" altLang="en-US" sz="2000" b="0" i="0" u="none" strike="noStrike">
                          <a:solidFill>
                            <a:srgbClr val="000000"/>
                          </a:solidFill>
                          <a:effectLst/>
                          <a:latin typeface="Meiryo UI" panose="020B0604030504040204" pitchFamily="50" charset="-128"/>
                          <a:ea typeface="Meiryo UI" panose="020B0604030504040204" pitchFamily="50" charset="-128"/>
                        </a:rPr>
                        <a:t>金外信託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従業員持ち株信託、特定金外信託など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937336630"/>
                  </a:ext>
                </a:extLst>
              </a:tr>
              <a:tr h="370294">
                <a:tc vMerge="1">
                  <a:txBody>
                    <a:bodyPr/>
                    <a:lstStyle/>
                    <a:p>
                      <a:endParaRPr kumimoji="1" lang="ja-JP" altLang="en-US"/>
                    </a:p>
                  </a:txBody>
                  <a:tcPr/>
                </a:tc>
                <a:tc vMerge="1">
                  <a:txBody>
                    <a:bodyPr/>
                    <a:lstStyle/>
                    <a:p>
                      <a:endParaRPr kumimoji="1" lang="ja-JP" altLang="en-US"/>
                    </a:p>
                  </a:txBody>
                  <a:tcPr/>
                </a:tc>
                <a:tc gridSpan="2">
                  <a:txBody>
                    <a:bodyPr/>
                    <a:lstStyle/>
                    <a:p>
                      <a:pPr algn="l" fontAlgn="ctr"/>
                      <a:r>
                        <a:rPr lang="zh-TW" altLang="en-US" sz="2000" b="0" i="0" u="none" strike="noStrike">
                          <a:solidFill>
                            <a:srgbClr val="000000"/>
                          </a:solidFill>
                          <a:effectLst/>
                          <a:latin typeface="Meiryo UI" panose="020B0604030504040204" pitchFamily="50" charset="-128"/>
                          <a:ea typeface="Meiryo UI" panose="020B0604030504040204" pitchFamily="50" charset="-128"/>
                        </a:rPr>
                        <a:t>指定</a:t>
                      </a:r>
                      <a:r>
                        <a:rPr lang="en-US" altLang="zh-TW" sz="2000" b="0" i="0" u="none" strike="noStrike">
                          <a:solidFill>
                            <a:srgbClr val="000000"/>
                          </a:solidFill>
                          <a:effectLst/>
                          <a:latin typeface="Meiryo UI" panose="020B0604030504040204" pitchFamily="50" charset="-128"/>
                          <a:ea typeface="Meiryo UI" panose="020B0604030504040204" pitchFamily="50" charset="-128"/>
                        </a:rPr>
                        <a:t>(*2)</a:t>
                      </a:r>
                      <a:r>
                        <a:rPr lang="zh-TW" altLang="en-US" sz="2000" b="0" i="0" u="none" strike="noStrike">
                          <a:solidFill>
                            <a:srgbClr val="000000"/>
                          </a:solidFill>
                          <a:effectLst/>
                          <a:latin typeface="Meiryo UI" panose="020B0604030504040204" pitchFamily="50" charset="-128"/>
                          <a:ea typeface="Meiryo UI" panose="020B0604030504040204" pitchFamily="50" charset="-128"/>
                        </a:rPr>
                        <a:t>金外信託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h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指定金外信託、ファンドトラストなど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018736565"/>
                  </a:ext>
                </a:extLst>
              </a:tr>
              <a:tr h="367781">
                <a:tc gridSpan="5">
                  <a:txBody>
                    <a:bodyPr/>
                    <a:lstStyle/>
                    <a:p>
                      <a:pPr algn="l" fontAlgn="ctr"/>
                      <a:r>
                        <a:rPr lang="en-US" altLang="ja-JP" sz="1600" b="0" i="0" u="none" strike="noStrike" dirty="0">
                          <a:solidFill>
                            <a:srgbClr val="000000"/>
                          </a:solidFill>
                          <a:effectLst/>
                          <a:latin typeface="Meiryo UI" panose="020B0604030504040204" pitchFamily="50" charset="-128"/>
                          <a:ea typeface="Meiryo UI" panose="020B0604030504040204" pitchFamily="50" charset="-128"/>
                        </a:rPr>
                        <a:t>(*1)</a:t>
                      </a: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「指定」とは委託者が運用方法を貸付金や有価証券等というように種類をおおまかに指定し、具体的な貸付先や銘柄等は受託者に任せるもの。</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872098856"/>
                  </a:ext>
                </a:extLst>
              </a:tr>
              <a:tr h="568036">
                <a:tc gridSpan="5">
                  <a:txBody>
                    <a:bodyPr/>
                    <a:lstStyle/>
                    <a:p>
                      <a:pPr algn="l" fontAlgn="ctr"/>
                      <a:r>
                        <a:rPr lang="en-US" altLang="ja-JP" sz="1600" b="0" i="0" u="none" strike="noStrike">
                          <a:solidFill>
                            <a:srgbClr val="000000"/>
                          </a:solidFill>
                          <a:effectLst/>
                          <a:latin typeface="Meiryo UI" panose="020B0604030504040204" pitchFamily="50" charset="-128"/>
                          <a:ea typeface="Meiryo UI" panose="020B0604030504040204" pitchFamily="50" charset="-128"/>
                        </a:rPr>
                        <a:t>(*2)</a:t>
                      </a:r>
                      <a:r>
                        <a:rPr lang="ja-JP" altLang="en-US" sz="1600" b="0" i="0" u="none" strike="noStrike">
                          <a:solidFill>
                            <a:srgbClr val="000000"/>
                          </a:solidFill>
                          <a:effectLst/>
                          <a:latin typeface="Meiryo UI" panose="020B0604030504040204" pitchFamily="50" charset="-128"/>
                          <a:ea typeface="Meiryo UI" panose="020B0604030504040204" pitchFamily="50" charset="-128"/>
                        </a:rPr>
                        <a:t>「特定」とは委託者が運用方法を具体的に特定するものをいう。貸付金であれば貸付先、金額、利率などを、また、有価証券であれば銘柄、数量、価格などを特定するもの。</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020487591"/>
                  </a:ext>
                </a:extLst>
              </a:tr>
              <a:tr h="304800">
                <a:tc gridSpan="5">
                  <a:txBody>
                    <a:bodyPr/>
                    <a:lstStyle/>
                    <a:p>
                      <a:pPr algn="l" fontAlgn="ctr"/>
                      <a:r>
                        <a:rPr lang="en-US" altLang="ja-JP" sz="1600" b="0" i="0" u="none" strike="noStrike" dirty="0">
                          <a:solidFill>
                            <a:srgbClr val="000000"/>
                          </a:solidFill>
                          <a:effectLst/>
                          <a:latin typeface="Meiryo UI" panose="020B0604030504040204" pitchFamily="50" charset="-128"/>
                          <a:ea typeface="Meiryo UI" panose="020B0604030504040204" pitchFamily="50" charset="-128"/>
                        </a:rPr>
                        <a:t>(*3)</a:t>
                      </a: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「合同運用」とは、運用方法が同じ複数の信託の信託財産を合同して運用するもの。</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608888280"/>
                  </a:ext>
                </a:extLst>
              </a:tr>
              <a:tr h="440826">
                <a:tc gridSpan="5">
                  <a:txBody>
                    <a:bodyPr/>
                    <a:lstStyle/>
                    <a:p>
                      <a:pPr algn="l" fontAlgn="ctr"/>
                      <a:r>
                        <a:rPr lang="en-US" altLang="ja-JP" sz="1600" b="0" i="0" u="none" strike="noStrike" dirty="0">
                          <a:solidFill>
                            <a:srgbClr val="000000"/>
                          </a:solidFill>
                          <a:effectLst/>
                          <a:latin typeface="Meiryo UI" panose="020B0604030504040204" pitchFamily="50" charset="-128"/>
                          <a:ea typeface="Meiryo UI" panose="020B0604030504040204" pitchFamily="50" charset="-128"/>
                        </a:rPr>
                        <a:t>(*4)</a:t>
                      </a:r>
                      <a:r>
                        <a:rPr lang="ja-JP" altLang="en-US" sz="1600" b="0" i="0" u="none" strike="noStrike" dirty="0">
                          <a:solidFill>
                            <a:srgbClr val="000000"/>
                          </a:solidFill>
                          <a:effectLst/>
                          <a:latin typeface="Meiryo UI" panose="020B0604030504040204" pitchFamily="50" charset="-128"/>
                          <a:ea typeface="Meiryo UI" panose="020B0604030504040204" pitchFamily="50" charset="-128"/>
                        </a:rPr>
                        <a:t>「単独運用」とは、ある信託の信託財産のみを他の信託の信託財産と区別して、単独で運用するもの。</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124943484"/>
                  </a:ext>
                </a:extLst>
              </a:tr>
            </a:tbl>
          </a:graphicData>
        </a:graphic>
      </p:graphicFrame>
    </p:spTree>
    <p:extLst>
      <p:ext uri="{BB962C8B-B14F-4D97-AF65-F5344CB8AC3E}">
        <p14:creationId xmlns:p14="http://schemas.microsoft.com/office/powerpoint/2010/main" val="337534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2-5.</a:t>
            </a:r>
            <a:r>
              <a:rPr lang="zh-TW" altLang="en-US" b="1" dirty="0"/>
              <a:t>指定金銭信託</a:t>
            </a:r>
            <a:r>
              <a:rPr lang="ja-JP" altLang="en-US" b="1" dirty="0"/>
              <a:t>（合同運用）の概要</a:t>
            </a:r>
            <a:endParaRPr lang="zh-TW" altLang="en-US" b="1" dirty="0"/>
          </a:p>
        </p:txBody>
      </p:sp>
      <p:sp>
        <p:nvSpPr>
          <p:cNvPr id="3" name="コンテンツ プレースホルダー 2"/>
          <p:cNvSpPr>
            <a:spLocks noGrp="1"/>
          </p:cNvSpPr>
          <p:nvPr>
            <p:ph sz="quarter" idx="18"/>
          </p:nvPr>
        </p:nvSpPr>
        <p:spPr>
          <a:xfrm>
            <a:off x="381000" y="1156851"/>
            <a:ext cx="11429999" cy="533404"/>
          </a:xfrm>
        </p:spPr>
        <p:txBody>
          <a:bodyPr/>
          <a:lstStyle/>
          <a:p>
            <a:pPr>
              <a:spcBef>
                <a:spcPts val="0"/>
              </a:spcBef>
              <a:spcAft>
                <a:spcPts val="0"/>
              </a:spcAft>
            </a:pPr>
            <a:r>
              <a:rPr lang="zh-TW" altLang="en-US" sz="2400" dirty="0"/>
              <a:t>指定金銭信託（合同運用）</a:t>
            </a:r>
            <a:r>
              <a:rPr lang="ja-JP" altLang="en-US" sz="2400" dirty="0"/>
              <a:t>の概要は以下のとおり。</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kumimoji="1" lang="ja-JP" altLang="en-US" b="1" dirty="0"/>
              <a:t>信託の基礎</a:t>
            </a:r>
          </a:p>
        </p:txBody>
      </p:sp>
      <p:sp>
        <p:nvSpPr>
          <p:cNvPr id="6" name="AutoShape 2"/>
          <p:cNvSpPr>
            <a:spLocks noChangeArrowheads="1"/>
          </p:cNvSpPr>
          <p:nvPr/>
        </p:nvSpPr>
        <p:spPr bwMode="auto">
          <a:xfrm>
            <a:off x="1461818" y="1995055"/>
            <a:ext cx="9145588" cy="1143000"/>
          </a:xfrm>
          <a:prstGeom prst="roundRect">
            <a:avLst>
              <a:gd name="adj" fmla="val 16667"/>
            </a:avLst>
          </a:prstGeom>
          <a:solidFill>
            <a:srgbClr val="CCFFFF"/>
          </a:solidFill>
          <a:ln w="9525">
            <a:solidFill>
              <a:schemeClr val="tx1"/>
            </a:solidFill>
            <a:prstDash val="dash"/>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8" name="AutoShape 3"/>
          <p:cNvSpPr>
            <a:spLocks noChangeArrowheads="1"/>
          </p:cNvSpPr>
          <p:nvPr/>
        </p:nvSpPr>
        <p:spPr bwMode="auto">
          <a:xfrm>
            <a:off x="1774556" y="2376055"/>
            <a:ext cx="1733550" cy="457200"/>
          </a:xfrm>
          <a:prstGeom prst="roundRect">
            <a:avLst>
              <a:gd name="adj" fmla="val 16667"/>
            </a:avLst>
          </a:prstGeom>
          <a:solidFill>
            <a:schemeClr val="accent1"/>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個人・法人</a:t>
            </a:r>
          </a:p>
        </p:txBody>
      </p:sp>
      <p:sp>
        <p:nvSpPr>
          <p:cNvPr id="9" name="AutoShape 4"/>
          <p:cNvSpPr>
            <a:spLocks noChangeArrowheads="1"/>
          </p:cNvSpPr>
          <p:nvPr/>
        </p:nvSpPr>
        <p:spPr bwMode="auto">
          <a:xfrm>
            <a:off x="4911456" y="2376055"/>
            <a:ext cx="1733550" cy="457200"/>
          </a:xfrm>
          <a:prstGeom prst="roundRect">
            <a:avLst>
              <a:gd name="adj" fmla="val 16667"/>
            </a:avLst>
          </a:prstGeom>
          <a:solidFill>
            <a:schemeClr val="accent1"/>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個人・法人</a:t>
            </a:r>
          </a:p>
        </p:txBody>
      </p:sp>
      <p:sp>
        <p:nvSpPr>
          <p:cNvPr id="10" name="AutoShape 5"/>
          <p:cNvSpPr>
            <a:spLocks noChangeArrowheads="1"/>
          </p:cNvSpPr>
          <p:nvPr/>
        </p:nvSpPr>
        <p:spPr bwMode="auto">
          <a:xfrm>
            <a:off x="8130906" y="2376055"/>
            <a:ext cx="1733550" cy="457200"/>
          </a:xfrm>
          <a:prstGeom prst="roundRect">
            <a:avLst>
              <a:gd name="adj" fmla="val 16667"/>
            </a:avLst>
          </a:prstGeom>
          <a:solidFill>
            <a:schemeClr val="accent1"/>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個人・法人</a:t>
            </a:r>
          </a:p>
        </p:txBody>
      </p:sp>
      <p:sp>
        <p:nvSpPr>
          <p:cNvPr id="11" name="AutoShape 6"/>
          <p:cNvSpPr>
            <a:spLocks noChangeArrowheads="1"/>
          </p:cNvSpPr>
          <p:nvPr/>
        </p:nvSpPr>
        <p:spPr bwMode="auto">
          <a:xfrm>
            <a:off x="3260456" y="4128655"/>
            <a:ext cx="5283200" cy="609600"/>
          </a:xfrm>
          <a:prstGeom prst="roundRect">
            <a:avLst>
              <a:gd name="adj" fmla="val 16667"/>
            </a:avLst>
          </a:prstGeom>
          <a:solidFill>
            <a:srgbClr val="CCFFCC"/>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信託銀行</a:t>
            </a:r>
          </a:p>
        </p:txBody>
      </p:sp>
      <p:sp>
        <p:nvSpPr>
          <p:cNvPr id="12" name="AutoShape 7"/>
          <p:cNvSpPr>
            <a:spLocks noChangeArrowheads="1"/>
          </p:cNvSpPr>
          <p:nvPr/>
        </p:nvSpPr>
        <p:spPr bwMode="auto">
          <a:xfrm rot="2700000">
            <a:off x="3152506" y="3353955"/>
            <a:ext cx="1371600" cy="330200"/>
          </a:xfrm>
          <a:prstGeom prst="rightArrow">
            <a:avLst>
              <a:gd name="adj1" fmla="val 50000"/>
              <a:gd name="adj2" fmla="val 103846"/>
            </a:avLst>
          </a:prstGeom>
          <a:solidFill>
            <a:srgbClr val="FFCCFF"/>
          </a:solidFill>
          <a:ln w="9525">
            <a:solidFill>
              <a:schemeClr val="tx1"/>
            </a:solidFill>
            <a:miter lim="800000"/>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13" name="AutoShape 8"/>
          <p:cNvSpPr>
            <a:spLocks noChangeArrowheads="1"/>
          </p:cNvSpPr>
          <p:nvPr/>
        </p:nvSpPr>
        <p:spPr bwMode="auto">
          <a:xfrm rot="13500000">
            <a:off x="2657206" y="3353955"/>
            <a:ext cx="1371600" cy="330200"/>
          </a:xfrm>
          <a:prstGeom prst="rightArrow">
            <a:avLst>
              <a:gd name="adj1" fmla="val 50000"/>
              <a:gd name="adj2" fmla="val 103846"/>
            </a:avLst>
          </a:prstGeom>
          <a:solidFill>
            <a:srgbClr val="FFFF99"/>
          </a:solidFill>
          <a:ln w="9525">
            <a:solidFill>
              <a:schemeClr val="tx1"/>
            </a:solidFill>
            <a:miter lim="800000"/>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14" name="AutoShape 9"/>
          <p:cNvSpPr>
            <a:spLocks noChangeArrowheads="1"/>
          </p:cNvSpPr>
          <p:nvPr/>
        </p:nvSpPr>
        <p:spPr bwMode="auto">
          <a:xfrm rot="8100000">
            <a:off x="8048356" y="3366655"/>
            <a:ext cx="1485900" cy="304800"/>
          </a:xfrm>
          <a:prstGeom prst="rightArrow">
            <a:avLst>
              <a:gd name="adj1" fmla="val 50000"/>
              <a:gd name="adj2" fmla="val 121875"/>
            </a:avLst>
          </a:prstGeom>
          <a:solidFill>
            <a:srgbClr val="FFCCFF"/>
          </a:solidFill>
          <a:ln w="9525">
            <a:solidFill>
              <a:schemeClr val="tx1"/>
            </a:solidFill>
            <a:miter lim="800000"/>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15" name="AutoShape 10"/>
          <p:cNvSpPr>
            <a:spLocks noChangeArrowheads="1"/>
          </p:cNvSpPr>
          <p:nvPr/>
        </p:nvSpPr>
        <p:spPr bwMode="auto">
          <a:xfrm rot="18900000">
            <a:off x="7553056" y="3290455"/>
            <a:ext cx="1485900" cy="304800"/>
          </a:xfrm>
          <a:prstGeom prst="rightArrow">
            <a:avLst>
              <a:gd name="adj1" fmla="val 50000"/>
              <a:gd name="adj2" fmla="val 121875"/>
            </a:avLst>
          </a:prstGeom>
          <a:solidFill>
            <a:srgbClr val="FFFF99"/>
          </a:solidFill>
          <a:ln w="9525">
            <a:solidFill>
              <a:schemeClr val="tx1"/>
            </a:solidFill>
            <a:miter lim="800000"/>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16" name="AutoShape 11"/>
          <p:cNvSpPr>
            <a:spLocks noChangeArrowheads="1"/>
          </p:cNvSpPr>
          <p:nvPr/>
        </p:nvSpPr>
        <p:spPr bwMode="auto">
          <a:xfrm>
            <a:off x="5819506" y="2985655"/>
            <a:ext cx="330200" cy="1066800"/>
          </a:xfrm>
          <a:prstGeom prst="downArrow">
            <a:avLst>
              <a:gd name="adj1" fmla="val 50000"/>
              <a:gd name="adj2" fmla="val 80769"/>
            </a:avLst>
          </a:prstGeom>
          <a:solidFill>
            <a:srgbClr val="FFCCFF"/>
          </a:solidFill>
          <a:ln w="9525">
            <a:solidFill>
              <a:schemeClr val="tx1"/>
            </a:solidFill>
            <a:miter lim="800000"/>
            <a:headEnd/>
            <a:tailEnd/>
          </a:ln>
        </p:spPr>
        <p:txBody>
          <a:bodyPr vert="eaVert"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17" name="AutoShape 12"/>
          <p:cNvSpPr>
            <a:spLocks noChangeArrowheads="1"/>
          </p:cNvSpPr>
          <p:nvPr/>
        </p:nvSpPr>
        <p:spPr bwMode="auto">
          <a:xfrm rot="10800000">
            <a:off x="5406756" y="2985655"/>
            <a:ext cx="330200" cy="1066800"/>
          </a:xfrm>
          <a:prstGeom prst="downArrow">
            <a:avLst>
              <a:gd name="adj1" fmla="val 50000"/>
              <a:gd name="adj2" fmla="val 80769"/>
            </a:avLst>
          </a:prstGeom>
          <a:solidFill>
            <a:srgbClr val="FFFF99"/>
          </a:solidFill>
          <a:ln w="9525">
            <a:solidFill>
              <a:schemeClr val="tx1"/>
            </a:solidFill>
            <a:miter lim="800000"/>
            <a:headEnd/>
            <a:tailEnd/>
          </a:ln>
        </p:spPr>
        <p:txBody>
          <a:bodyPr vert="eaVert"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18" name="AutoShape 13"/>
          <p:cNvSpPr>
            <a:spLocks noChangeArrowheads="1"/>
          </p:cNvSpPr>
          <p:nvPr/>
        </p:nvSpPr>
        <p:spPr bwMode="auto">
          <a:xfrm>
            <a:off x="3755756" y="2985655"/>
            <a:ext cx="742950" cy="304800"/>
          </a:xfrm>
          <a:prstGeom prst="roundRect">
            <a:avLst>
              <a:gd name="adj" fmla="val 16667"/>
            </a:avLst>
          </a:prstGeom>
          <a:solidFill>
            <a:srgbClr val="FFCCFF"/>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金銭</a:t>
            </a:r>
          </a:p>
        </p:txBody>
      </p:sp>
      <p:sp>
        <p:nvSpPr>
          <p:cNvPr id="19" name="AutoShape 14"/>
          <p:cNvSpPr>
            <a:spLocks noChangeArrowheads="1"/>
          </p:cNvSpPr>
          <p:nvPr/>
        </p:nvSpPr>
        <p:spPr bwMode="auto">
          <a:xfrm>
            <a:off x="6149706" y="3290455"/>
            <a:ext cx="742950" cy="304800"/>
          </a:xfrm>
          <a:prstGeom prst="roundRect">
            <a:avLst>
              <a:gd name="adj" fmla="val 16667"/>
            </a:avLst>
          </a:prstGeom>
          <a:solidFill>
            <a:srgbClr val="FFCCFF"/>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金銭</a:t>
            </a:r>
          </a:p>
        </p:txBody>
      </p:sp>
      <p:sp>
        <p:nvSpPr>
          <p:cNvPr id="20" name="AutoShape 15"/>
          <p:cNvSpPr>
            <a:spLocks noChangeArrowheads="1"/>
          </p:cNvSpPr>
          <p:nvPr/>
        </p:nvSpPr>
        <p:spPr bwMode="auto">
          <a:xfrm>
            <a:off x="8956406" y="3595255"/>
            <a:ext cx="742950" cy="304800"/>
          </a:xfrm>
          <a:prstGeom prst="roundRect">
            <a:avLst>
              <a:gd name="adj" fmla="val 16667"/>
            </a:avLst>
          </a:prstGeom>
          <a:solidFill>
            <a:srgbClr val="FFCCFF"/>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金銭</a:t>
            </a:r>
          </a:p>
        </p:txBody>
      </p:sp>
      <p:sp>
        <p:nvSpPr>
          <p:cNvPr id="21" name="AutoShape 16"/>
          <p:cNvSpPr>
            <a:spLocks noChangeArrowheads="1"/>
          </p:cNvSpPr>
          <p:nvPr/>
        </p:nvSpPr>
        <p:spPr bwMode="auto">
          <a:xfrm>
            <a:off x="7030127" y="3193047"/>
            <a:ext cx="742950" cy="601180"/>
          </a:xfrm>
          <a:prstGeom prst="roundRect">
            <a:avLst>
              <a:gd name="adj" fmla="val 16667"/>
            </a:avLst>
          </a:prstGeom>
          <a:solidFill>
            <a:srgbClr val="FFFF99"/>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元本</a:t>
            </a:r>
          </a:p>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収益</a:t>
            </a:r>
          </a:p>
        </p:txBody>
      </p:sp>
      <p:sp>
        <p:nvSpPr>
          <p:cNvPr id="22" name="AutoShape 17"/>
          <p:cNvSpPr>
            <a:spLocks noChangeArrowheads="1"/>
          </p:cNvSpPr>
          <p:nvPr/>
        </p:nvSpPr>
        <p:spPr bwMode="auto">
          <a:xfrm>
            <a:off x="4663806" y="3442855"/>
            <a:ext cx="742950" cy="609600"/>
          </a:xfrm>
          <a:prstGeom prst="roundRect">
            <a:avLst>
              <a:gd name="adj" fmla="val 16667"/>
            </a:avLst>
          </a:prstGeom>
          <a:solidFill>
            <a:srgbClr val="FFFF99"/>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元本</a:t>
            </a:r>
          </a:p>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収益</a:t>
            </a:r>
          </a:p>
        </p:txBody>
      </p:sp>
      <p:sp>
        <p:nvSpPr>
          <p:cNvPr id="23" name="AutoShape 18"/>
          <p:cNvSpPr>
            <a:spLocks noChangeArrowheads="1"/>
          </p:cNvSpPr>
          <p:nvPr/>
        </p:nvSpPr>
        <p:spPr bwMode="auto">
          <a:xfrm>
            <a:off x="2352406" y="3519055"/>
            <a:ext cx="742950" cy="609600"/>
          </a:xfrm>
          <a:prstGeom prst="roundRect">
            <a:avLst>
              <a:gd name="adj" fmla="val 16667"/>
            </a:avLst>
          </a:prstGeom>
          <a:solidFill>
            <a:srgbClr val="FFFF99"/>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元本</a:t>
            </a:r>
          </a:p>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収益</a:t>
            </a:r>
          </a:p>
        </p:txBody>
      </p:sp>
      <p:sp>
        <p:nvSpPr>
          <p:cNvPr id="24" name="Rectangle 19"/>
          <p:cNvSpPr>
            <a:spLocks noChangeArrowheads="1"/>
          </p:cNvSpPr>
          <p:nvPr/>
        </p:nvSpPr>
        <p:spPr bwMode="auto">
          <a:xfrm>
            <a:off x="3343006" y="6262255"/>
            <a:ext cx="5200650" cy="533400"/>
          </a:xfrm>
          <a:prstGeom prst="rect">
            <a:avLst/>
          </a:prstGeom>
          <a:solidFill>
            <a:srgbClr val="FFCCFF"/>
          </a:solidFill>
          <a:ln w="9525">
            <a:solidFill>
              <a:schemeClr val="tx1"/>
            </a:solidFill>
            <a:miter lim="800000"/>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貸付金・有価証券　等</a:t>
            </a:r>
          </a:p>
        </p:txBody>
      </p:sp>
      <p:sp>
        <p:nvSpPr>
          <p:cNvPr id="25" name="AutoShape 20"/>
          <p:cNvSpPr>
            <a:spLocks noChangeArrowheads="1"/>
          </p:cNvSpPr>
          <p:nvPr/>
        </p:nvSpPr>
        <p:spPr bwMode="auto">
          <a:xfrm>
            <a:off x="5984606" y="4890655"/>
            <a:ext cx="495300" cy="1219200"/>
          </a:xfrm>
          <a:prstGeom prst="upArrow">
            <a:avLst>
              <a:gd name="adj1" fmla="val 50000"/>
              <a:gd name="adj2" fmla="val 61538"/>
            </a:avLst>
          </a:prstGeom>
          <a:solidFill>
            <a:srgbClr val="FFFF99"/>
          </a:solidFill>
          <a:ln w="9525">
            <a:solidFill>
              <a:schemeClr val="tx1"/>
            </a:solidFill>
            <a:miter lim="800000"/>
            <a:headEnd/>
            <a:tailEnd/>
          </a:ln>
        </p:spPr>
        <p:txBody>
          <a:bodyPr vert="eaVert"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26" name="AutoShape 21"/>
          <p:cNvSpPr>
            <a:spLocks noChangeArrowheads="1"/>
          </p:cNvSpPr>
          <p:nvPr/>
        </p:nvSpPr>
        <p:spPr bwMode="auto">
          <a:xfrm rot="10800000">
            <a:off x="5159106" y="4890655"/>
            <a:ext cx="495300" cy="1219200"/>
          </a:xfrm>
          <a:prstGeom prst="upArrow">
            <a:avLst>
              <a:gd name="adj1" fmla="val 50000"/>
              <a:gd name="adj2" fmla="val 61538"/>
            </a:avLst>
          </a:prstGeom>
          <a:solidFill>
            <a:srgbClr val="FFCCFF"/>
          </a:solidFill>
          <a:ln w="9525">
            <a:solidFill>
              <a:schemeClr val="tx1"/>
            </a:solidFill>
            <a:miter lim="800000"/>
            <a:headEnd/>
            <a:tailEnd/>
          </a:ln>
        </p:spPr>
        <p:txBody>
          <a:bodyPr vert="eaVert"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endParaRPr lang="ja-JP" altLang="en-US" sz="5400">
              <a:latin typeface="Meiryo UI" panose="020B0604030504040204" pitchFamily="50" charset="-128"/>
              <a:ea typeface="Meiryo UI" panose="020B0604030504040204" pitchFamily="50" charset="-128"/>
            </a:endParaRPr>
          </a:p>
        </p:txBody>
      </p:sp>
      <p:sp>
        <p:nvSpPr>
          <p:cNvPr id="27" name="AutoShape 22"/>
          <p:cNvSpPr>
            <a:spLocks noChangeArrowheads="1"/>
          </p:cNvSpPr>
          <p:nvPr/>
        </p:nvSpPr>
        <p:spPr bwMode="auto">
          <a:xfrm>
            <a:off x="6645006" y="5271655"/>
            <a:ext cx="1816100" cy="609600"/>
          </a:xfrm>
          <a:prstGeom prst="roundRect">
            <a:avLst>
              <a:gd name="adj" fmla="val 16667"/>
            </a:avLst>
          </a:prstGeom>
          <a:solidFill>
            <a:srgbClr val="FFCCFF"/>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利息</a:t>
            </a:r>
          </a:p>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配当金</a:t>
            </a:r>
          </a:p>
        </p:txBody>
      </p:sp>
      <p:sp>
        <p:nvSpPr>
          <p:cNvPr id="28" name="AutoShape 23"/>
          <p:cNvSpPr>
            <a:spLocks noChangeArrowheads="1"/>
          </p:cNvSpPr>
          <p:nvPr/>
        </p:nvSpPr>
        <p:spPr bwMode="auto">
          <a:xfrm>
            <a:off x="3920856" y="5271655"/>
            <a:ext cx="990600" cy="304800"/>
          </a:xfrm>
          <a:prstGeom prst="roundRect">
            <a:avLst>
              <a:gd name="adj" fmla="val 16667"/>
            </a:avLst>
          </a:prstGeom>
          <a:solidFill>
            <a:srgbClr val="FFCCFF"/>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運用</a:t>
            </a:r>
          </a:p>
        </p:txBody>
      </p:sp>
      <p:sp>
        <p:nvSpPr>
          <p:cNvPr id="29" name="Oval 24"/>
          <p:cNvSpPr>
            <a:spLocks noChangeArrowheads="1"/>
          </p:cNvSpPr>
          <p:nvPr/>
        </p:nvSpPr>
        <p:spPr bwMode="auto">
          <a:xfrm>
            <a:off x="7965806" y="4433455"/>
            <a:ext cx="1403350" cy="533400"/>
          </a:xfrm>
          <a:prstGeom prst="ellipse">
            <a:avLst/>
          </a:prstGeom>
          <a:solidFill>
            <a:srgbClr val="FFCC99"/>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a:latin typeface="Meiryo UI" panose="020B0604030504040204" pitchFamily="50" charset="-128"/>
                <a:ea typeface="Meiryo UI" panose="020B0604030504040204" pitchFamily="50" charset="-128"/>
              </a:rPr>
              <a:t>受託者</a:t>
            </a:r>
          </a:p>
        </p:txBody>
      </p:sp>
      <p:sp>
        <p:nvSpPr>
          <p:cNvPr id="30" name="Oval 25"/>
          <p:cNvSpPr>
            <a:spLocks noChangeArrowheads="1"/>
          </p:cNvSpPr>
          <p:nvPr/>
        </p:nvSpPr>
        <p:spPr bwMode="auto">
          <a:xfrm>
            <a:off x="7635606" y="1690255"/>
            <a:ext cx="2724150" cy="533400"/>
          </a:xfrm>
          <a:prstGeom prst="ellipse">
            <a:avLst/>
          </a:prstGeom>
          <a:solidFill>
            <a:srgbClr val="FFCC99"/>
          </a:solidFill>
          <a:ln w="9525">
            <a:solidFill>
              <a:schemeClr val="tx1"/>
            </a:solidFill>
            <a:round/>
            <a:headEnd/>
            <a:tailEnd/>
          </a:ln>
        </p:spPr>
        <p:txBody>
          <a:bodyPr wrap="none" anchor="ctr"/>
          <a:lstStyle>
            <a:lvl1pPr algn="l" eaLnBrk="0" hangingPunct="0">
              <a:spcBef>
                <a:spcPct val="25000"/>
              </a:spcBef>
              <a:spcAft>
                <a:spcPct val="25000"/>
              </a:spcAft>
              <a:buSzPct val="70000"/>
              <a:buFont typeface="Wingdings" panose="05000000000000000000" pitchFamily="2" charset="2"/>
              <a:buChar char="p"/>
              <a:defRPr kumimoji="1" sz="1400" b="1">
                <a:solidFill>
                  <a:schemeClr val="tx1"/>
                </a:solidFill>
                <a:latin typeface="ＭＳ Ｐゴシック" panose="020B0600070205080204" pitchFamily="50" charset="-128"/>
                <a:ea typeface="ＭＳ Ｐゴシック" panose="020B0600070205080204" pitchFamily="50" charset="-128"/>
              </a:defRPr>
            </a:lvl1pPr>
            <a:lvl2pPr marL="742950" indent="-28575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2pPr>
            <a:lvl3pPr marL="11430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3pPr>
            <a:lvl4pPr marL="16002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4pPr>
            <a:lvl5pPr marL="2057400" indent="-228600" algn="l" eaLnBrk="0"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5pPr>
            <a:lvl6pPr marL="25146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6pPr>
            <a:lvl7pPr marL="29718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7pPr>
            <a:lvl8pPr marL="34290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8pPr>
            <a:lvl9pPr marL="3886200" indent="-228600" eaLnBrk="0" fontAlgn="base" hangingPunct="0">
              <a:spcBef>
                <a:spcPct val="25000"/>
              </a:spcBef>
              <a:spcAft>
                <a:spcPct val="25000"/>
              </a:spcAft>
              <a:buSzPct val="70000"/>
              <a:buFont typeface="Wingdings" panose="05000000000000000000" pitchFamily="2" charset="2"/>
              <a:buChar char="p"/>
              <a:defRPr kumimoji="1" sz="1200">
                <a:solidFill>
                  <a:schemeClr val="tx1"/>
                </a:solidFill>
                <a:latin typeface="ＭＳ Ｐゴシック" panose="020B0600070205080204" pitchFamily="50" charset="-128"/>
                <a:ea typeface="ＭＳ Ｐゴシック" panose="020B0600070205080204" pitchFamily="50" charset="-128"/>
              </a:defRPr>
            </a:lvl9pPr>
          </a:lstStyle>
          <a:p>
            <a:pPr algn="ctr" eaLnBrk="1" hangingPunct="1">
              <a:spcBef>
                <a:spcPct val="0"/>
              </a:spcBef>
              <a:spcAft>
                <a:spcPct val="0"/>
              </a:spcAft>
              <a:buSzTx/>
              <a:buFontTx/>
              <a:buNone/>
            </a:pPr>
            <a:r>
              <a:rPr lang="ja-JP" altLang="en-US" sz="1800" b="0" dirty="0">
                <a:latin typeface="Meiryo UI" panose="020B0604030504040204" pitchFamily="50" charset="-128"/>
                <a:ea typeface="Meiryo UI" panose="020B0604030504040204" pitchFamily="50" charset="-128"/>
              </a:rPr>
              <a:t>委託者、かつ受益者</a:t>
            </a:r>
          </a:p>
        </p:txBody>
      </p:sp>
    </p:spTree>
    <p:extLst>
      <p:ext uri="{BB962C8B-B14F-4D97-AF65-F5344CB8AC3E}">
        <p14:creationId xmlns:p14="http://schemas.microsoft.com/office/powerpoint/2010/main" val="19171196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2-6.</a:t>
            </a:r>
            <a:r>
              <a:rPr lang="ja-JP" altLang="en-US" b="1" dirty="0"/>
              <a:t>ものの</a:t>
            </a:r>
            <a:r>
              <a:rPr kumimoji="1" lang="ja-JP" altLang="en-US" b="1" dirty="0"/>
              <a:t>信託の詳細</a:t>
            </a:r>
          </a:p>
        </p:txBody>
      </p:sp>
      <p:sp>
        <p:nvSpPr>
          <p:cNvPr id="3" name="コンテンツ プレースホルダー 2"/>
          <p:cNvSpPr>
            <a:spLocks noGrp="1"/>
          </p:cNvSpPr>
          <p:nvPr>
            <p:ph sz="quarter" idx="18"/>
          </p:nvPr>
        </p:nvSpPr>
        <p:spPr>
          <a:xfrm>
            <a:off x="381000" y="1156851"/>
            <a:ext cx="11429999" cy="533404"/>
          </a:xfrm>
        </p:spPr>
        <p:txBody>
          <a:bodyPr/>
          <a:lstStyle/>
          <a:p>
            <a:pPr>
              <a:spcBef>
                <a:spcPts val="0"/>
              </a:spcBef>
              <a:spcAft>
                <a:spcPts val="0"/>
              </a:spcAft>
            </a:pPr>
            <a:r>
              <a:rPr kumimoji="1" lang="ja-JP" altLang="en-US" sz="2400" dirty="0"/>
              <a:t>ものの信託の詳細は以下のとおり。</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2.</a:t>
            </a:r>
            <a:r>
              <a:rPr kumimoji="1" lang="ja-JP" altLang="en-US" b="1" dirty="0"/>
              <a:t>信託の基礎</a:t>
            </a:r>
          </a:p>
        </p:txBody>
      </p:sp>
      <p:graphicFrame>
        <p:nvGraphicFramePr>
          <p:cNvPr id="5" name="表 4"/>
          <p:cNvGraphicFramePr>
            <a:graphicFrameLocks noGrp="1"/>
          </p:cNvGraphicFramePr>
          <p:nvPr>
            <p:extLst>
              <p:ext uri="{D42A27DB-BD31-4B8C-83A1-F6EECF244321}">
                <p14:modId xmlns:p14="http://schemas.microsoft.com/office/powerpoint/2010/main" val="4040054956"/>
              </p:ext>
            </p:extLst>
          </p:nvPr>
        </p:nvGraphicFramePr>
        <p:xfrm>
          <a:off x="0" y="1617440"/>
          <a:ext cx="12192000" cy="5204102"/>
        </p:xfrm>
        <a:graphic>
          <a:graphicData uri="http://schemas.openxmlformats.org/drawingml/2006/table">
            <a:tbl>
              <a:tblPr/>
              <a:tblGrid>
                <a:gridCol w="1122218">
                  <a:extLst>
                    <a:ext uri="{9D8B030D-6E8A-4147-A177-3AD203B41FA5}">
                      <a16:colId xmlns:a16="http://schemas.microsoft.com/office/drawing/2014/main" val="918723803"/>
                    </a:ext>
                  </a:extLst>
                </a:gridCol>
                <a:gridCol w="1870364">
                  <a:extLst>
                    <a:ext uri="{9D8B030D-6E8A-4147-A177-3AD203B41FA5}">
                      <a16:colId xmlns:a16="http://schemas.microsoft.com/office/drawing/2014/main" val="157784993"/>
                    </a:ext>
                  </a:extLst>
                </a:gridCol>
                <a:gridCol w="1925782">
                  <a:extLst>
                    <a:ext uri="{9D8B030D-6E8A-4147-A177-3AD203B41FA5}">
                      <a16:colId xmlns:a16="http://schemas.microsoft.com/office/drawing/2014/main" val="3913012595"/>
                    </a:ext>
                  </a:extLst>
                </a:gridCol>
                <a:gridCol w="7273636">
                  <a:extLst>
                    <a:ext uri="{9D8B030D-6E8A-4147-A177-3AD203B41FA5}">
                      <a16:colId xmlns:a16="http://schemas.microsoft.com/office/drawing/2014/main" val="2391682905"/>
                    </a:ext>
                  </a:extLst>
                </a:gridCol>
              </a:tblGrid>
              <a:tr h="273240">
                <a:tc gridSpan="2">
                  <a:txBody>
                    <a:bodyPr/>
                    <a:lstStyle/>
                    <a:p>
                      <a:pPr algn="ctr" fontAlgn="ctr"/>
                      <a:r>
                        <a:rPr lang="ja-JP" altLang="en-US" sz="1800" b="0" i="0" u="none" strike="noStrike">
                          <a:solidFill>
                            <a:srgbClr val="FFFFFF"/>
                          </a:solidFill>
                          <a:effectLst/>
                          <a:latin typeface="Meiryo UI" panose="020B0604030504040204" pitchFamily="50" charset="-128"/>
                          <a:ea typeface="Meiryo UI" panose="020B0604030504040204" pitchFamily="50" charset="-128"/>
                        </a:rPr>
                        <a:t>信託の種類</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hMerge="1">
                  <a:txBody>
                    <a:bodyPr/>
                    <a:lstStyle/>
                    <a:p>
                      <a:endParaRPr kumimoji="1" lang="ja-JP" altLang="en-US"/>
                    </a:p>
                  </a:txBody>
                  <a:tcPr/>
                </a:tc>
                <a:tc>
                  <a:txBody>
                    <a:bodyPr/>
                    <a:lstStyle/>
                    <a:p>
                      <a:pPr algn="ctr" fontAlgn="ctr"/>
                      <a:r>
                        <a:rPr lang="ja-JP" altLang="en-US" sz="1800" b="0" i="0" u="none" strike="noStrike">
                          <a:solidFill>
                            <a:srgbClr val="FFFFFF"/>
                          </a:solidFill>
                          <a:effectLst/>
                          <a:latin typeface="Meiryo UI" panose="020B0604030504040204" pitchFamily="50" charset="-128"/>
                          <a:ea typeface="Meiryo UI" panose="020B0604030504040204" pitchFamily="50" charset="-128"/>
                        </a:rPr>
                        <a:t>具体例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a:txBody>
                    <a:bodyPr/>
                    <a:lstStyle/>
                    <a:p>
                      <a:pPr algn="ctr" fontAlgn="ctr"/>
                      <a:r>
                        <a:rPr lang="ja-JP" altLang="en-US" sz="1800" b="0" i="0" u="none" strike="noStrike">
                          <a:solidFill>
                            <a:srgbClr val="FFFFFF"/>
                          </a:solidFill>
                          <a:effectLst/>
                          <a:latin typeface="Meiryo UI" panose="020B0604030504040204" pitchFamily="50" charset="-128"/>
                          <a:ea typeface="Meiryo UI" panose="020B0604030504040204" pitchFamily="50" charset="-128"/>
                        </a:rPr>
                        <a:t>具体例</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extLst>
                  <a:ext uri="{0D108BD9-81ED-4DB2-BD59-A6C34878D82A}">
                    <a16:rowId xmlns:a16="http://schemas.microsoft.com/office/drawing/2014/main" val="1839717035"/>
                  </a:ext>
                </a:extLst>
              </a:tr>
              <a:tr h="395651">
                <a:tc rowSpan="11">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ものの信託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rowSpan="3">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有価証券の信託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zh-TW" altLang="en-US" sz="1800" b="0" i="0" u="none" strike="noStrike">
                          <a:solidFill>
                            <a:srgbClr val="000000"/>
                          </a:solidFill>
                          <a:effectLst/>
                          <a:latin typeface="Meiryo UI" panose="020B0604030504040204" pitchFamily="50" charset="-128"/>
                          <a:ea typeface="Meiryo UI" panose="020B0604030504040204" pitchFamily="50" charset="-128"/>
                        </a:rPr>
                        <a:t>有価証券管理信託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機関投資家等の指図に従って、受託者が議決権を行使する信託。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4100421"/>
                  </a:ext>
                </a:extLst>
              </a:tr>
              <a:tr h="229521">
                <a:tc vMerge="1">
                  <a:txBody>
                    <a:bodyPr/>
                    <a:lstStyle/>
                    <a:p>
                      <a:endParaRPr kumimoji="1" lang="ja-JP" altLang="en-US"/>
                    </a:p>
                  </a:txBody>
                  <a:tcPr/>
                </a:tc>
                <a:tc vMerge="1">
                  <a:txBody>
                    <a:bodyPr/>
                    <a:lstStyle/>
                    <a:p>
                      <a:endParaRPr kumimoji="1" lang="ja-JP" altLang="en-US"/>
                    </a:p>
                  </a:txBody>
                  <a:tcPr/>
                </a:tc>
                <a:tc>
                  <a:txBody>
                    <a:bodyPr/>
                    <a:lstStyle/>
                    <a:p>
                      <a:pPr algn="l" fontAlgn="ctr"/>
                      <a:r>
                        <a:rPr lang="zh-TW" altLang="en-US" sz="1800" b="0" i="0" u="none" strike="noStrike">
                          <a:solidFill>
                            <a:srgbClr val="000000"/>
                          </a:solidFill>
                          <a:effectLst/>
                          <a:latin typeface="Meiryo UI" panose="020B0604030504040204" pitchFamily="50" charset="-128"/>
                          <a:ea typeface="Meiryo UI" panose="020B0604030504040204" pitchFamily="50" charset="-128"/>
                        </a:rPr>
                        <a:t>有価証券運用信託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dirty="0">
                          <a:solidFill>
                            <a:srgbClr val="000000"/>
                          </a:solidFill>
                          <a:effectLst/>
                          <a:latin typeface="Meiryo UI" panose="020B0604030504040204" pitchFamily="50" charset="-128"/>
                          <a:ea typeface="Meiryo UI" panose="020B0604030504040204" pitchFamily="50" charset="-128"/>
                        </a:rPr>
                        <a:t>有価証券を受託者が運用するための信託。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660171904"/>
                  </a:ext>
                </a:extLst>
              </a:tr>
              <a:tr h="395651">
                <a:tc vMerge="1">
                  <a:txBody>
                    <a:bodyPr/>
                    <a:lstStyle/>
                    <a:p>
                      <a:endParaRPr kumimoji="1" lang="ja-JP" altLang="en-US"/>
                    </a:p>
                  </a:txBody>
                  <a:tcPr/>
                </a:tc>
                <a:tc vMerge="1">
                  <a:txBody>
                    <a:bodyPr/>
                    <a:lstStyle/>
                    <a:p>
                      <a:endParaRPr kumimoji="1" lang="ja-JP" altLang="en-US"/>
                    </a:p>
                  </a:txBody>
                  <a:tcPr/>
                </a:tc>
                <a:tc>
                  <a:txBody>
                    <a:bodyPr/>
                    <a:lstStyle/>
                    <a:p>
                      <a:pPr algn="l" fontAlgn="ctr"/>
                      <a:r>
                        <a:rPr lang="zh-TW" altLang="en-US" sz="1800" b="0" i="0" u="none" strike="noStrike">
                          <a:solidFill>
                            <a:srgbClr val="000000"/>
                          </a:solidFill>
                          <a:effectLst/>
                          <a:latin typeface="Meiryo UI" panose="020B0604030504040204" pitchFamily="50" charset="-128"/>
                          <a:ea typeface="Meiryo UI" panose="020B0604030504040204" pitchFamily="50" charset="-128"/>
                        </a:rPr>
                        <a:t>有価証券処分信託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有価証券の売却を受託者に委ねることでインサイダー情報を遮断する信託。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20913410"/>
                  </a:ext>
                </a:extLst>
              </a:tr>
              <a:tr h="395651">
                <a:tc vMerge="1">
                  <a:txBody>
                    <a:bodyPr/>
                    <a:lstStyle/>
                    <a:p>
                      <a:endParaRPr kumimoji="1" lang="ja-JP" altLang="en-US"/>
                    </a:p>
                  </a:txBody>
                  <a:tcPr/>
                </a:tc>
                <a:tc rowSpan="4">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金銭債権の信託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zh-TW" altLang="en-US" sz="1800" b="0" i="0" u="none" strike="noStrike">
                          <a:solidFill>
                            <a:srgbClr val="000000"/>
                          </a:solidFill>
                          <a:effectLst/>
                          <a:latin typeface="Meiryo UI" panose="020B0604030504040204" pitchFamily="50" charset="-128"/>
                          <a:ea typeface="Meiryo UI" panose="020B0604030504040204" pitchFamily="50" charset="-128"/>
                        </a:rPr>
                        <a:t>貸付金銭信託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企業向け貸付を信託対象としたものであるが、現在は販売されていない。</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1253831988"/>
                  </a:ext>
                </a:extLst>
              </a:tr>
              <a:tr h="459042">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住宅ローン債権信託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住宅ローン金融会社が債権を委託、受益証券化し機関投資家に販売し債権を資金化する信託。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318935015"/>
                  </a:ext>
                </a:extLst>
              </a:tr>
              <a:tr h="459042">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クレジット債権信託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dirty="0">
                          <a:solidFill>
                            <a:srgbClr val="000000"/>
                          </a:solidFill>
                          <a:effectLst/>
                          <a:latin typeface="Meiryo UI" panose="020B0604030504040204" pitchFamily="50" charset="-128"/>
                          <a:ea typeface="Meiryo UI" panose="020B0604030504040204" pitchFamily="50" charset="-128"/>
                        </a:rPr>
                        <a:t>クレジット会社が債権を委託、受益証券化し機関投資家に販売し債権を資金化する信託。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4848393"/>
                  </a:ext>
                </a:extLst>
              </a:tr>
              <a:tr h="459042">
                <a:tc vMerge="1">
                  <a:txBody>
                    <a:bodyPr/>
                    <a:lstStyle/>
                    <a:p>
                      <a:endParaRPr kumimoji="1" lang="ja-JP" altLang="en-US"/>
                    </a:p>
                  </a:txBody>
                  <a:tcPr/>
                </a:tc>
                <a:tc vMerge="1">
                  <a:txBody>
                    <a:bodyPr/>
                    <a:lstStyle/>
                    <a:p>
                      <a:endParaRPr kumimoji="1" lang="ja-JP" altLang="en-US"/>
                    </a:p>
                  </a:txBody>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リース債権信託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リース会社が債権を委託、受益証券化し機関投資家に販売し債権を資金化する信託。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507137072"/>
                  </a:ext>
                </a:extLst>
              </a:tr>
              <a:tr h="395651">
                <a:tc vMerge="1">
                  <a:txBody>
                    <a:bodyPr/>
                    <a:lstStyle/>
                    <a:p>
                      <a:endParaRPr kumimoji="1" lang="ja-JP" altLang="en-US"/>
                    </a:p>
                  </a:txBody>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不動産の信託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不動産信託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不動産を委託し、得られる賃料収入、売却益などを受け取る信託。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67196065"/>
                  </a:ext>
                </a:extLst>
              </a:tr>
              <a:tr h="395651">
                <a:tc vMerge="1">
                  <a:txBody>
                    <a:bodyPr/>
                    <a:lstStyle/>
                    <a:p>
                      <a:endParaRPr kumimoji="1" lang="ja-JP" altLang="en-US"/>
                    </a:p>
                  </a:txBody>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土地貸借権の信託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土地信託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貸借権を委託し、得られる権利金、地代などを受け取る信託。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4019490914"/>
                  </a:ext>
                </a:extLst>
              </a:tr>
              <a:tr h="588011">
                <a:tc vMerge="1">
                  <a:txBody>
                    <a:bodyPr/>
                    <a:lstStyle/>
                    <a:p>
                      <a:endParaRPr kumimoji="1" lang="ja-JP" altLang="en-US"/>
                    </a:p>
                  </a:txBody>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特定持ち分の信託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特定持ち分信託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dirty="0">
                          <a:solidFill>
                            <a:srgbClr val="000000"/>
                          </a:solidFill>
                          <a:effectLst/>
                          <a:latin typeface="Meiryo UI" panose="020B0604030504040204" pitchFamily="50" charset="-128"/>
                          <a:ea typeface="Meiryo UI" panose="020B0604030504040204" pitchFamily="50" charset="-128"/>
                        </a:rPr>
                        <a:t>不動産の原保有者が設立した特定目的会社が倒産しても、特定持ち分を委託していれば持ち分に倒産の影響が及ばない信託。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795477610"/>
                  </a:ext>
                </a:extLst>
              </a:tr>
              <a:tr h="395651">
                <a:tc vMerge="1">
                  <a:txBody>
                    <a:bodyPr/>
                    <a:lstStyle/>
                    <a:p>
                      <a:endParaRPr kumimoji="1" lang="ja-JP" altLang="en-US"/>
                    </a:p>
                  </a:txBody>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動産の信託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a:solidFill>
                            <a:srgbClr val="000000"/>
                          </a:solidFill>
                          <a:effectLst/>
                          <a:latin typeface="Meiryo UI" panose="020B0604030504040204" pitchFamily="50" charset="-128"/>
                          <a:ea typeface="Meiryo UI" panose="020B0604030504040204" pitchFamily="50" charset="-128"/>
                        </a:rPr>
                        <a:t>動産信託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tc>
                  <a:txBody>
                    <a:bodyPr/>
                    <a:lstStyle/>
                    <a:p>
                      <a:pPr algn="l" fontAlgn="ctr"/>
                      <a:r>
                        <a:rPr lang="ja-JP" altLang="en-US" sz="1800" b="0" i="0" u="none" strike="noStrike" dirty="0">
                          <a:solidFill>
                            <a:srgbClr val="000000"/>
                          </a:solidFill>
                          <a:effectLst/>
                          <a:latin typeface="Meiryo UI" panose="020B0604030504040204" pitchFamily="50" charset="-128"/>
                          <a:ea typeface="Meiryo UI" panose="020B0604030504040204" pitchFamily="50" charset="-128"/>
                        </a:rPr>
                        <a:t>車両、船舶などの動産を委託し、得られる収益などを受け取る信託。</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FFFFFF"/>
                    </a:solidFill>
                  </a:tcPr>
                </a:tc>
                <a:extLst>
                  <a:ext uri="{0D108BD9-81ED-4DB2-BD59-A6C34878D82A}">
                    <a16:rowId xmlns:a16="http://schemas.microsoft.com/office/drawing/2014/main" val="2423161351"/>
                  </a:ext>
                </a:extLst>
              </a:tr>
            </a:tbl>
          </a:graphicData>
        </a:graphic>
      </p:graphicFrame>
    </p:spTree>
    <p:extLst>
      <p:ext uri="{BB962C8B-B14F-4D97-AF65-F5344CB8AC3E}">
        <p14:creationId xmlns:p14="http://schemas.microsoft.com/office/powerpoint/2010/main" val="252935266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3-1.</a:t>
            </a:r>
            <a:r>
              <a:rPr lang="ja-JP" altLang="en-US" b="1" dirty="0"/>
              <a:t>みずほ</a:t>
            </a:r>
            <a:r>
              <a:rPr kumimoji="1" lang="ja-JP" altLang="en-US" b="1" dirty="0"/>
              <a:t>信託の成り立ち</a:t>
            </a:r>
          </a:p>
        </p:txBody>
      </p:sp>
      <p:sp>
        <p:nvSpPr>
          <p:cNvPr id="3" name="コンテンツ プレースホルダー 2"/>
          <p:cNvSpPr>
            <a:spLocks noGrp="1"/>
          </p:cNvSpPr>
          <p:nvPr>
            <p:ph sz="quarter" idx="18"/>
          </p:nvPr>
        </p:nvSpPr>
        <p:spPr>
          <a:xfrm>
            <a:off x="381000" y="1156851"/>
            <a:ext cx="11429999" cy="533404"/>
          </a:xfrm>
        </p:spPr>
        <p:txBody>
          <a:bodyPr/>
          <a:lstStyle/>
          <a:p>
            <a:pPr>
              <a:spcBef>
                <a:spcPts val="0"/>
              </a:spcBef>
              <a:spcAft>
                <a:spcPts val="0"/>
              </a:spcAft>
            </a:pPr>
            <a:r>
              <a:rPr lang="ja-JP" altLang="en-US" sz="2400" dirty="0"/>
              <a:t>全銀協</a:t>
            </a:r>
            <a:r>
              <a:rPr lang="en-US" altLang="ja-JP" sz="2400" dirty="0"/>
              <a:t>HP</a:t>
            </a:r>
            <a:r>
              <a:rPr lang="ja-JP" altLang="en-US" sz="2400" dirty="0"/>
              <a:t>「最近の銀行の合併を知るには」から抜粋。</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ja-JP" altLang="en-US" b="1" dirty="0"/>
              <a:t>３．信託銀行の歴史</a:t>
            </a:r>
            <a:endParaRPr kumimoji="1" lang="ja-JP" altLang="en-US" b="1" dirty="0"/>
          </a:p>
        </p:txBody>
      </p:sp>
      <p:pic>
        <p:nvPicPr>
          <p:cNvPr id="9" name="図 8"/>
          <p:cNvPicPr>
            <a:picLocks noChangeAspect="1"/>
          </p:cNvPicPr>
          <p:nvPr/>
        </p:nvPicPr>
        <p:blipFill>
          <a:blip r:embed="rId2"/>
          <a:stretch>
            <a:fillRect/>
          </a:stretch>
        </p:blipFill>
        <p:spPr>
          <a:xfrm>
            <a:off x="1014825" y="1962590"/>
            <a:ext cx="10093644" cy="4016180"/>
          </a:xfrm>
          <a:prstGeom prst="rect">
            <a:avLst/>
          </a:prstGeom>
        </p:spPr>
      </p:pic>
    </p:spTree>
    <p:extLst>
      <p:ext uri="{BB962C8B-B14F-4D97-AF65-F5344CB8AC3E}">
        <p14:creationId xmlns:p14="http://schemas.microsoft.com/office/powerpoint/2010/main" val="261491429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3-2.</a:t>
            </a:r>
            <a:r>
              <a:rPr kumimoji="1" lang="ja-JP" altLang="en-US" b="1" dirty="0"/>
              <a:t>三菱</a:t>
            </a:r>
            <a:r>
              <a:rPr kumimoji="1" lang="en-US" altLang="ja-JP" b="1" dirty="0"/>
              <a:t>UFJ</a:t>
            </a:r>
            <a:r>
              <a:rPr kumimoji="1" lang="ja-JP" altLang="en-US" b="1" dirty="0"/>
              <a:t>信託の成り立ち</a:t>
            </a:r>
          </a:p>
        </p:txBody>
      </p:sp>
      <p:sp>
        <p:nvSpPr>
          <p:cNvPr id="3" name="コンテンツ プレースホルダー 2"/>
          <p:cNvSpPr>
            <a:spLocks noGrp="1"/>
          </p:cNvSpPr>
          <p:nvPr>
            <p:ph sz="quarter" idx="18"/>
          </p:nvPr>
        </p:nvSpPr>
        <p:spPr>
          <a:xfrm>
            <a:off x="381000" y="1156851"/>
            <a:ext cx="11429999" cy="533404"/>
          </a:xfrm>
        </p:spPr>
        <p:txBody>
          <a:bodyPr/>
          <a:lstStyle/>
          <a:p>
            <a:pPr>
              <a:spcBef>
                <a:spcPts val="0"/>
              </a:spcBef>
              <a:spcAft>
                <a:spcPts val="0"/>
              </a:spcAft>
            </a:pPr>
            <a:r>
              <a:rPr lang="ja-JP" altLang="en-US" sz="2400" dirty="0"/>
              <a:t>全銀協</a:t>
            </a:r>
            <a:r>
              <a:rPr lang="en-US" altLang="ja-JP" sz="2400" dirty="0"/>
              <a:t>HP</a:t>
            </a:r>
            <a:r>
              <a:rPr lang="ja-JP" altLang="en-US" sz="2400" dirty="0"/>
              <a:t>「最近の銀行の合併を知るには」から抜粋。</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ja-JP" altLang="en-US" b="1" dirty="0"/>
              <a:t>３．信託銀行の歴史</a:t>
            </a:r>
            <a:endParaRPr kumimoji="1" lang="ja-JP" altLang="en-US" b="1" dirty="0"/>
          </a:p>
        </p:txBody>
      </p:sp>
      <p:pic>
        <p:nvPicPr>
          <p:cNvPr id="8" name="図 7"/>
          <p:cNvPicPr>
            <a:picLocks noChangeAspect="1"/>
          </p:cNvPicPr>
          <p:nvPr/>
        </p:nvPicPr>
        <p:blipFill>
          <a:blip r:embed="rId2"/>
          <a:stretch>
            <a:fillRect/>
          </a:stretch>
        </p:blipFill>
        <p:spPr>
          <a:xfrm>
            <a:off x="644133" y="2209944"/>
            <a:ext cx="10903732" cy="3642213"/>
          </a:xfrm>
          <a:prstGeom prst="rect">
            <a:avLst/>
          </a:prstGeom>
        </p:spPr>
      </p:pic>
    </p:spTree>
    <p:extLst>
      <p:ext uri="{BB962C8B-B14F-4D97-AF65-F5344CB8AC3E}">
        <p14:creationId xmlns:p14="http://schemas.microsoft.com/office/powerpoint/2010/main" val="24763201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3-3.</a:t>
            </a:r>
            <a:r>
              <a:rPr kumimoji="1" lang="ja-JP" altLang="en-US" b="1" dirty="0"/>
              <a:t>三井住友信託、日本カストディの成り立ち</a:t>
            </a:r>
          </a:p>
        </p:txBody>
      </p:sp>
      <p:sp>
        <p:nvSpPr>
          <p:cNvPr id="3" name="コンテンツ プレースホルダー 2"/>
          <p:cNvSpPr>
            <a:spLocks noGrp="1"/>
          </p:cNvSpPr>
          <p:nvPr>
            <p:ph sz="quarter" idx="18"/>
          </p:nvPr>
        </p:nvSpPr>
        <p:spPr>
          <a:xfrm>
            <a:off x="381000" y="1156851"/>
            <a:ext cx="11429999" cy="533404"/>
          </a:xfrm>
        </p:spPr>
        <p:txBody>
          <a:bodyPr/>
          <a:lstStyle/>
          <a:p>
            <a:pPr>
              <a:spcBef>
                <a:spcPts val="0"/>
              </a:spcBef>
              <a:spcAft>
                <a:spcPts val="0"/>
              </a:spcAft>
            </a:pPr>
            <a:r>
              <a:rPr lang="ja-JP" altLang="en-US" sz="2400" dirty="0"/>
              <a:t>全銀協</a:t>
            </a:r>
            <a:r>
              <a:rPr lang="en-US" altLang="ja-JP" sz="2400" dirty="0"/>
              <a:t>HP</a:t>
            </a:r>
            <a:r>
              <a:rPr lang="ja-JP" altLang="en-US" sz="2400" dirty="0"/>
              <a:t>「最近の銀行の合併を知るには」から抜粋。</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ja-JP" altLang="en-US" b="1" dirty="0"/>
              <a:t>３．信託銀行の歴史</a:t>
            </a:r>
            <a:endParaRPr kumimoji="1" lang="ja-JP" altLang="en-US" b="1" dirty="0"/>
          </a:p>
        </p:txBody>
      </p:sp>
      <p:sp>
        <p:nvSpPr>
          <p:cNvPr id="8" name="テキスト ボックス 7"/>
          <p:cNvSpPr txBox="1"/>
          <p:nvPr/>
        </p:nvSpPr>
        <p:spPr>
          <a:xfrm>
            <a:off x="1528408" y="6550223"/>
            <a:ext cx="8895752" cy="307777"/>
          </a:xfrm>
          <a:prstGeom prst="rect">
            <a:avLst/>
          </a:prstGeom>
          <a:noFill/>
        </p:spPr>
        <p:txBody>
          <a:bodyPr wrap="square" rtlCol="0">
            <a:spAutoFit/>
          </a:bodyPr>
          <a:lstStyle/>
          <a:p>
            <a:r>
              <a:rPr lang="en-US" altLang="ja-JP" sz="1400" dirty="0">
                <a:latin typeface="Meiryo UI" panose="020B0604030504040204" pitchFamily="50" charset="-128"/>
                <a:ea typeface="Meiryo UI" panose="020B0604030504040204" pitchFamily="50" charset="-128"/>
              </a:rPr>
              <a:t>※</a:t>
            </a:r>
            <a:r>
              <a:rPr lang="ja-JP" altLang="en-US" sz="1400" dirty="0">
                <a:latin typeface="Meiryo UI" panose="020B0604030504040204" pitchFamily="50" charset="-128"/>
                <a:ea typeface="Meiryo UI" panose="020B0604030504040204" pitchFamily="50" charset="-128"/>
              </a:rPr>
              <a:t>日本マスタートラスト信託はチェース・マンハッタン信託銀行が起源であるが、買収、改称のみのため、</a:t>
            </a:r>
            <a:r>
              <a:rPr lang="ja-JP" altLang="en-US" sz="1400">
                <a:latin typeface="Meiryo UI" panose="020B0604030504040204" pitchFamily="50" charset="-128"/>
                <a:ea typeface="Meiryo UI" panose="020B0604030504040204" pitchFamily="50" charset="-128"/>
              </a:rPr>
              <a:t>記載なし。</a:t>
            </a:r>
            <a:endParaRPr lang="ja-JP" altLang="en-US" sz="1400" dirty="0">
              <a:latin typeface="Meiryo UI" panose="020B0604030504040204" pitchFamily="50" charset="-128"/>
              <a:ea typeface="Meiryo UI" panose="020B0604030504040204" pitchFamily="50" charset="-128"/>
            </a:endParaRPr>
          </a:p>
        </p:txBody>
      </p:sp>
      <p:pic>
        <p:nvPicPr>
          <p:cNvPr id="9" name="図 8"/>
          <p:cNvPicPr>
            <a:picLocks noChangeAspect="1"/>
          </p:cNvPicPr>
          <p:nvPr/>
        </p:nvPicPr>
        <p:blipFill>
          <a:blip r:embed="rId2"/>
          <a:stretch>
            <a:fillRect/>
          </a:stretch>
        </p:blipFill>
        <p:spPr>
          <a:xfrm>
            <a:off x="1421551" y="1770897"/>
            <a:ext cx="9280192" cy="4698683"/>
          </a:xfrm>
          <a:prstGeom prst="rect">
            <a:avLst/>
          </a:prstGeom>
        </p:spPr>
      </p:pic>
    </p:spTree>
    <p:extLst>
      <p:ext uri="{BB962C8B-B14F-4D97-AF65-F5344CB8AC3E}">
        <p14:creationId xmlns:p14="http://schemas.microsoft.com/office/powerpoint/2010/main" val="383112646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en-US" altLang="ja-JP" b="1" dirty="0"/>
              <a:t>4-1.</a:t>
            </a:r>
            <a:r>
              <a:rPr kumimoji="1" lang="ja-JP" altLang="en-US" b="1" dirty="0"/>
              <a:t>信託銀行のシステム概要</a:t>
            </a:r>
          </a:p>
        </p:txBody>
      </p:sp>
      <p:sp>
        <p:nvSpPr>
          <p:cNvPr id="3" name="コンテンツ プレースホルダー 2"/>
          <p:cNvSpPr>
            <a:spLocks noGrp="1"/>
          </p:cNvSpPr>
          <p:nvPr>
            <p:ph sz="quarter" idx="18"/>
          </p:nvPr>
        </p:nvSpPr>
        <p:spPr>
          <a:xfrm>
            <a:off x="381000" y="1156851"/>
            <a:ext cx="11429999" cy="533404"/>
          </a:xfrm>
        </p:spPr>
        <p:txBody>
          <a:bodyPr/>
          <a:lstStyle/>
          <a:p>
            <a:pPr>
              <a:spcBef>
                <a:spcPts val="0"/>
              </a:spcBef>
              <a:spcAft>
                <a:spcPts val="0"/>
              </a:spcAft>
            </a:pPr>
            <a:r>
              <a:rPr lang="ja-JP" altLang="en-US" sz="2400" dirty="0"/>
              <a:t>信託銀行のシステム概要は以下のとおり。</a:t>
            </a: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zh-TW" sz="2400" dirty="0"/>
          </a:p>
          <a:p>
            <a:pPr>
              <a:spcBef>
                <a:spcPts val="0"/>
              </a:spcBef>
              <a:spcAft>
                <a:spcPts val="0"/>
              </a:spcAft>
            </a:pPr>
            <a:endParaRPr lang="zh-TW" altLang="en-US" sz="2400" dirty="0"/>
          </a:p>
          <a:p>
            <a:pPr>
              <a:spcBef>
                <a:spcPts val="0"/>
              </a:spcBef>
              <a:spcAft>
                <a:spcPts val="0"/>
              </a:spcAft>
            </a:pPr>
            <a:endParaRPr lang="en-US" altLang="ja-JP" sz="2400" dirty="0"/>
          </a:p>
          <a:p>
            <a:pPr>
              <a:spcBef>
                <a:spcPts val="0"/>
              </a:spcBef>
              <a:spcAft>
                <a:spcPts val="0"/>
              </a:spcAft>
            </a:pPr>
            <a:endParaRPr lang="en-US" altLang="ja-JP" sz="2400" dirty="0"/>
          </a:p>
          <a:p>
            <a:pPr>
              <a:spcBef>
                <a:spcPts val="0"/>
              </a:spcBef>
              <a:spcAft>
                <a:spcPts val="0"/>
              </a:spcAft>
            </a:pPr>
            <a:endParaRPr lang="en-US" altLang="ja-JP" sz="2400" dirty="0"/>
          </a:p>
          <a:p>
            <a:endParaRPr lang="en-US" altLang="ja-JP" sz="2400" dirty="0"/>
          </a:p>
          <a:p>
            <a:endParaRPr lang="en-US" altLang="ja-JP" sz="2400" dirty="0"/>
          </a:p>
          <a:p>
            <a:endParaRPr lang="en-US" altLang="ja-JP" sz="2400" dirty="0"/>
          </a:p>
        </p:txBody>
      </p:sp>
      <p:sp>
        <p:nvSpPr>
          <p:cNvPr id="4" name="コンテンツ プレースホルダー 3"/>
          <p:cNvSpPr>
            <a:spLocks noGrp="1"/>
          </p:cNvSpPr>
          <p:nvPr>
            <p:ph sz="quarter" idx="19"/>
          </p:nvPr>
        </p:nvSpPr>
        <p:spPr/>
        <p:txBody>
          <a:bodyPr/>
          <a:lstStyle/>
          <a:p>
            <a:pPr marL="0" indent="0">
              <a:buNone/>
            </a:pPr>
            <a:r>
              <a:rPr lang="en-US" altLang="ja-JP" b="1" dirty="0"/>
              <a:t>4</a:t>
            </a:r>
            <a:r>
              <a:rPr lang="ja-JP" altLang="en-US" b="1" dirty="0" err="1"/>
              <a:t>．</a:t>
            </a:r>
            <a:r>
              <a:rPr lang="ja-JP" altLang="en-US" b="1" dirty="0"/>
              <a:t>信託銀行のシステム</a:t>
            </a:r>
            <a:endParaRPr kumimoji="1" lang="ja-JP" altLang="en-US" b="1" dirty="0"/>
          </a:p>
        </p:txBody>
      </p:sp>
      <p:graphicFrame>
        <p:nvGraphicFramePr>
          <p:cNvPr id="5" name="表 4"/>
          <p:cNvGraphicFramePr>
            <a:graphicFrameLocks noGrp="1"/>
          </p:cNvGraphicFramePr>
          <p:nvPr>
            <p:extLst>
              <p:ext uri="{D42A27DB-BD31-4B8C-83A1-F6EECF244321}">
                <p14:modId xmlns:p14="http://schemas.microsoft.com/office/powerpoint/2010/main" val="2182793888"/>
              </p:ext>
            </p:extLst>
          </p:nvPr>
        </p:nvGraphicFramePr>
        <p:xfrm>
          <a:off x="1214508" y="1825256"/>
          <a:ext cx="9762981" cy="3376248"/>
        </p:xfrm>
        <a:graphic>
          <a:graphicData uri="http://schemas.openxmlformats.org/drawingml/2006/table">
            <a:tbl>
              <a:tblPr/>
              <a:tblGrid>
                <a:gridCol w="435070">
                  <a:extLst>
                    <a:ext uri="{9D8B030D-6E8A-4147-A177-3AD203B41FA5}">
                      <a16:colId xmlns:a16="http://schemas.microsoft.com/office/drawing/2014/main" val="1189767591"/>
                    </a:ext>
                  </a:extLst>
                </a:gridCol>
                <a:gridCol w="2819257">
                  <a:extLst>
                    <a:ext uri="{9D8B030D-6E8A-4147-A177-3AD203B41FA5}">
                      <a16:colId xmlns:a16="http://schemas.microsoft.com/office/drawing/2014/main" val="1991769932"/>
                    </a:ext>
                  </a:extLst>
                </a:gridCol>
                <a:gridCol w="435070">
                  <a:extLst>
                    <a:ext uri="{9D8B030D-6E8A-4147-A177-3AD203B41FA5}">
                      <a16:colId xmlns:a16="http://schemas.microsoft.com/office/drawing/2014/main" val="2773027026"/>
                    </a:ext>
                  </a:extLst>
                </a:gridCol>
                <a:gridCol w="2819257">
                  <a:extLst>
                    <a:ext uri="{9D8B030D-6E8A-4147-A177-3AD203B41FA5}">
                      <a16:colId xmlns:a16="http://schemas.microsoft.com/office/drawing/2014/main" val="3822746215"/>
                    </a:ext>
                  </a:extLst>
                </a:gridCol>
                <a:gridCol w="435070">
                  <a:extLst>
                    <a:ext uri="{9D8B030D-6E8A-4147-A177-3AD203B41FA5}">
                      <a16:colId xmlns:a16="http://schemas.microsoft.com/office/drawing/2014/main" val="1566879239"/>
                    </a:ext>
                  </a:extLst>
                </a:gridCol>
                <a:gridCol w="2819257">
                  <a:extLst>
                    <a:ext uri="{9D8B030D-6E8A-4147-A177-3AD203B41FA5}">
                      <a16:colId xmlns:a16="http://schemas.microsoft.com/office/drawing/2014/main" val="2597551381"/>
                    </a:ext>
                  </a:extLst>
                </a:gridCol>
              </a:tblGrid>
              <a:tr h="422031">
                <a:tc rowSpan="2" gridSpan="2">
                  <a:txBody>
                    <a:bodyPr/>
                    <a:lstStyle/>
                    <a:p>
                      <a:pPr algn="ctr"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銀行業務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F66"/>
                    </a:solidFill>
                  </a:tcPr>
                </a:tc>
                <a:tc rowSpan="2" hMerge="1">
                  <a:txBody>
                    <a:bodyPr/>
                    <a:lstStyle/>
                    <a:p>
                      <a:endParaRPr kumimoji="1" lang="ja-JP" altLang="en-US"/>
                    </a:p>
                  </a:txBody>
                  <a:tcPr/>
                </a:tc>
                <a:tc gridSpan="4">
                  <a:txBody>
                    <a:bodyPr/>
                    <a:lstStyle/>
                    <a:p>
                      <a:pPr algn="ctr" fontAlgn="ctr"/>
                      <a:r>
                        <a:rPr lang="zh-TW" altLang="en-US" sz="2000" b="0" i="0" u="none" strike="noStrike" dirty="0">
                          <a:solidFill>
                            <a:srgbClr val="000000"/>
                          </a:solidFill>
                          <a:effectLst/>
                          <a:latin typeface="Meiryo UI" panose="020B0604030504040204" pitchFamily="50" charset="-128"/>
                          <a:ea typeface="Meiryo UI" panose="020B0604030504040204" pitchFamily="50" charset="-128"/>
                        </a:rPr>
                        <a:t>信託業務（広義）</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w="6350" cap="flat" cmpd="sng" algn="ctr">
                      <a:solidFill>
                        <a:srgbClr val="000000"/>
                      </a:solidFill>
                      <a:prstDash val="solid"/>
                      <a:round/>
                      <a:headEnd type="none" w="med" len="med"/>
                      <a:tailEnd type="none" w="med" len="med"/>
                    </a:lnB>
                    <a:solidFill>
                      <a:srgbClr val="9966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3610209407"/>
                  </a:ext>
                </a:extLst>
              </a:tr>
              <a:tr h="422031">
                <a:tc gridSpan="2" vMerge="1">
                  <a:txBody>
                    <a:bodyPr/>
                    <a:lstStyle/>
                    <a:p>
                      <a:endParaRPr kumimoji="1" lang="ja-JP" altLang="en-US"/>
                    </a:p>
                  </a:txBody>
                  <a:tcPr/>
                </a:tc>
                <a:tc hMerge="1" vMerge="1">
                  <a:txBody>
                    <a:bodyPr/>
                    <a:lstStyle/>
                    <a:p>
                      <a:endParaRPr kumimoji="1" lang="ja-JP" altLang="en-US"/>
                    </a:p>
                  </a:txBody>
                  <a:tcPr/>
                </a:tc>
                <a:tc gridSpan="2">
                  <a:txBody>
                    <a:bodyPr/>
                    <a:lstStyle/>
                    <a:p>
                      <a:pPr algn="ctr" fontAlgn="ctr"/>
                      <a:r>
                        <a:rPr lang="zh-TW" altLang="en-US" sz="2000" b="0" i="0" u="none" strike="noStrike" dirty="0">
                          <a:solidFill>
                            <a:srgbClr val="000000"/>
                          </a:solidFill>
                          <a:effectLst/>
                          <a:latin typeface="Meiryo UI" panose="020B0604030504040204" pitchFamily="50" charset="-128"/>
                          <a:ea typeface="Meiryo UI" panose="020B0604030504040204" pitchFamily="50" charset="-128"/>
                        </a:rPr>
                        <a:t>信託業務（狭義）</a:t>
                      </a:r>
                      <a:r>
                        <a:rPr lang="en-US" altLang="zh-TW" sz="2000" b="0" i="0" u="none" strike="noStrike" dirty="0">
                          <a:solidFill>
                            <a:srgbClr val="000000"/>
                          </a:solidFill>
                          <a:effectLst/>
                          <a:latin typeface="Meiryo UI" panose="020B0604030504040204" pitchFamily="50" charset="-128"/>
                          <a:ea typeface="Meiryo UI" panose="020B0604030504040204" pitchFamily="50" charset="-128"/>
                        </a:rPr>
                        <a:t>(*3)</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BDD7EE"/>
                    </a:solidFill>
                  </a:tcPr>
                </a:tc>
                <a:tc hMerge="1">
                  <a:txBody>
                    <a:bodyPr/>
                    <a:lstStyle/>
                    <a:p>
                      <a:endParaRPr kumimoji="1" lang="ja-JP" altLang="en-US"/>
                    </a:p>
                  </a:txBody>
                  <a:tcPr/>
                </a:tc>
                <a:tc gridSpan="2">
                  <a:txBody>
                    <a:bodyPr/>
                    <a:lstStyle/>
                    <a:p>
                      <a:pPr algn="ctr"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併営業務</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99FF66"/>
                    </a:solidFill>
                  </a:tcPr>
                </a:tc>
                <a:tc hMerge="1">
                  <a:txBody>
                    <a:bodyPr/>
                    <a:lstStyle/>
                    <a:p>
                      <a:endParaRPr kumimoji="1" lang="ja-JP" altLang="en-US"/>
                    </a:p>
                  </a:txBody>
                  <a:tcPr/>
                </a:tc>
                <a:extLst>
                  <a:ext uri="{0D108BD9-81ED-4DB2-BD59-A6C34878D82A}">
                    <a16:rowId xmlns:a16="http://schemas.microsoft.com/office/drawing/2014/main" val="2860390828"/>
                  </a:ext>
                </a:extLst>
              </a:tr>
              <a:tr h="422031">
                <a:tc rowSpan="3">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F66"/>
                    </a:solidFill>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勘定系システム</a:t>
                      </a:r>
                      <a:r>
                        <a:rPr lang="en-US" altLang="ja-JP" sz="2000" b="0" i="0" u="none" strike="noStrike">
                          <a:solidFill>
                            <a:srgbClr val="000000"/>
                          </a:solidFill>
                          <a:effectLst/>
                          <a:latin typeface="Meiryo UI" panose="020B0604030504040204" pitchFamily="50" charset="-128"/>
                          <a:ea typeface="Meiryo UI" panose="020B0604030504040204" pitchFamily="50" charset="-128"/>
                        </a:rPr>
                        <a:t>(*1)</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FFF2CC"/>
                    </a:solidFill>
                  </a:tcPr>
                </a:tc>
                <a:tc rowSpan="3">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BDD7EE"/>
                    </a:solidFill>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資産管理システム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D6DCE4"/>
                    </a:solidFill>
                  </a:tcPr>
                </a:tc>
                <a:tc rowSpan="3">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9FF66"/>
                    </a:solidFill>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不動産管理システム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w="6350" cap="flat" cmpd="sng" algn="ctr">
                      <a:solidFill>
                        <a:srgbClr val="000000"/>
                      </a:solidFill>
                      <a:prstDash val="solid"/>
                      <a:round/>
                      <a:headEnd type="none" w="med" len="med"/>
                      <a:tailEnd type="none" w="med" len="med"/>
                    </a:lnT>
                    <a:lnB>
                      <a:noFill/>
                    </a:lnB>
                    <a:solidFill>
                      <a:srgbClr val="99FF99"/>
                    </a:solidFill>
                  </a:tcPr>
                </a:tc>
                <a:extLst>
                  <a:ext uri="{0D108BD9-81ED-4DB2-BD59-A6C34878D82A}">
                    <a16:rowId xmlns:a16="http://schemas.microsoft.com/office/drawing/2014/main" val="2006013922"/>
                  </a:ext>
                </a:extLst>
              </a:tr>
              <a:tr h="422031">
                <a:tc v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市場系システム</a:t>
                      </a:r>
                      <a:r>
                        <a:rPr lang="en-US" altLang="ja-JP" sz="2000" b="0" i="0" u="none" strike="noStrike">
                          <a:solidFill>
                            <a:srgbClr val="000000"/>
                          </a:solidFill>
                          <a:effectLst/>
                          <a:latin typeface="Meiryo UI" panose="020B0604030504040204" pitchFamily="50" charset="-128"/>
                          <a:ea typeface="Meiryo UI" panose="020B0604030504040204" pitchFamily="50" charset="-128"/>
                        </a:rPr>
                        <a:t>(*2)</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FFF2CC"/>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資産運用システム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D6DCE4"/>
                    </a:solidFill>
                  </a:tcPr>
                </a:tc>
                <a:tc v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証券代行システム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a:noFill/>
                    </a:lnB>
                    <a:solidFill>
                      <a:srgbClr val="99FF99"/>
                    </a:solidFill>
                  </a:tcPr>
                </a:tc>
                <a:extLst>
                  <a:ext uri="{0D108BD9-81ED-4DB2-BD59-A6C34878D82A}">
                    <a16:rowId xmlns:a16="http://schemas.microsoft.com/office/drawing/2014/main" val="4078050004"/>
                  </a:ext>
                </a:extLst>
              </a:tr>
              <a:tr h="422031">
                <a:tc v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情報系システム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FFF2CC"/>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年金システム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D6DCE4"/>
                    </a:solidFill>
                  </a:tcPr>
                </a:tc>
                <a:tc vMerge="1">
                  <a:txBody>
                    <a:bodyPr/>
                    <a:lstStyle/>
                    <a:p>
                      <a:endParaRPr kumimoji="1" lang="ja-JP" altLang="en-US"/>
                    </a:p>
                  </a:txBody>
                  <a:tcPr/>
                </a:tc>
                <a:tc>
                  <a:txBody>
                    <a:bodyPr/>
                    <a:lstStyle/>
                    <a:p>
                      <a:pPr algn="l" fontAlgn="ct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相続業務支援システム</a:t>
                      </a:r>
                    </a:p>
                  </a:txBody>
                  <a:tcPr marL="9525" marR="9525" marT="9525" marB="0" anchor="ctr">
                    <a:lnL w="6350" cap="flat" cmpd="sng" algn="ctr">
                      <a:solidFill>
                        <a:srgbClr val="000000"/>
                      </a:solidFill>
                      <a:prstDash val="solid"/>
                      <a:round/>
                      <a:headEnd type="none" w="med" len="med"/>
                      <a:tailEnd type="none" w="med" len="med"/>
                    </a:lnL>
                    <a:lnR w="6350" cap="flat" cmpd="sng" algn="ctr">
                      <a:solidFill>
                        <a:srgbClr val="000000"/>
                      </a:solidFill>
                      <a:prstDash val="solid"/>
                      <a:round/>
                      <a:headEnd type="none" w="med" len="med"/>
                      <a:tailEnd type="none" w="med" len="med"/>
                    </a:lnR>
                    <a:lnT>
                      <a:noFill/>
                    </a:lnT>
                    <a:lnB w="6350" cap="flat" cmpd="sng" algn="ctr">
                      <a:solidFill>
                        <a:srgbClr val="000000"/>
                      </a:solidFill>
                      <a:prstDash val="solid"/>
                      <a:round/>
                      <a:headEnd type="none" w="med" len="med"/>
                      <a:tailEnd type="none" w="med" len="med"/>
                    </a:lnB>
                    <a:solidFill>
                      <a:srgbClr val="99FF99"/>
                    </a:solidFill>
                  </a:tcPr>
                </a:tc>
                <a:extLst>
                  <a:ext uri="{0D108BD9-81ED-4DB2-BD59-A6C34878D82A}">
                    <a16:rowId xmlns:a16="http://schemas.microsoft.com/office/drawing/2014/main" val="417068225"/>
                  </a:ext>
                </a:extLst>
              </a:tr>
              <a:tr h="422031">
                <a:tc gridSpan="6">
                  <a:txBody>
                    <a:bodyPr/>
                    <a:lstStyle/>
                    <a:p>
                      <a:pPr algn="l" fontAlgn="ctr"/>
                      <a:r>
                        <a:rPr lang="en-US" altLang="ja-JP" sz="2000" b="0" i="0" u="none" strike="noStrike" dirty="0">
                          <a:solidFill>
                            <a:srgbClr val="000000"/>
                          </a:solidFill>
                          <a:effectLst/>
                          <a:latin typeface="Meiryo UI" panose="020B0604030504040204" pitchFamily="50" charset="-128"/>
                          <a:ea typeface="Meiryo UI" panose="020B0604030504040204" pitchFamily="50" charset="-128"/>
                        </a:rPr>
                        <a:t>(*1)</a:t>
                      </a: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勘定系の中に金銭信託等のリテール販売部分が組み込まれているのが特徴</a:t>
                      </a:r>
                    </a:p>
                  </a:txBody>
                  <a:tcPr marL="9525" marR="9525" marT="9525" marB="0" anchor="ctr">
                    <a:lnL>
                      <a:noFill/>
                    </a:lnL>
                    <a:lnR>
                      <a:noFill/>
                    </a:lnR>
                    <a:lnT w="6350" cap="flat" cmpd="sng" algn="ctr">
                      <a:solidFill>
                        <a:srgbClr val="000000"/>
                      </a:solidFill>
                      <a:prstDash val="solid"/>
                      <a:round/>
                      <a:headEnd type="none" w="med" len="med"/>
                      <a:tailEnd type="none" w="med" len="med"/>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2030904104"/>
                  </a:ext>
                </a:extLst>
              </a:tr>
              <a:tr h="422031">
                <a:tc gridSpan="4">
                  <a:txBody>
                    <a:bodyPr/>
                    <a:lstStyle/>
                    <a:p>
                      <a:pPr algn="l" fontAlgn="ctr"/>
                      <a:r>
                        <a:rPr lang="en-US" altLang="ja-JP" sz="2000" b="0" i="0" u="none" strike="noStrike" dirty="0">
                          <a:solidFill>
                            <a:srgbClr val="000000"/>
                          </a:solidFill>
                          <a:effectLst/>
                          <a:latin typeface="Meiryo UI" panose="020B0604030504040204" pitchFamily="50" charset="-128"/>
                          <a:ea typeface="Meiryo UI" panose="020B0604030504040204" pitchFamily="50" charset="-128"/>
                        </a:rPr>
                        <a:t>(*2)</a:t>
                      </a: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有価証券、デリバティブ等の業務システム</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tc>
                  <a:txBody>
                    <a:bodyPr/>
                    <a:lstStyle/>
                    <a:p>
                      <a:pPr algn="l" fontAlgn="ctr"/>
                      <a:r>
                        <a:rPr lang="ja-JP" altLang="en-US" sz="2000" b="0" i="0" u="none" strike="noStrike">
                          <a:solidFill>
                            <a:srgbClr val="000000"/>
                          </a:solidFill>
                          <a:effectLst/>
                          <a:latin typeface="Meiryo UI" panose="020B0604030504040204" pitchFamily="50" charset="-128"/>
                          <a:ea typeface="Meiryo UI" panose="020B0604030504040204" pitchFamily="50" charset="-128"/>
                        </a:rPr>
                        <a:t>　</a:t>
                      </a:r>
                    </a:p>
                  </a:txBody>
                  <a:tcPr marL="9525" marR="9525" marT="9525" marB="0" anchor="ctr">
                    <a:lnL>
                      <a:noFill/>
                    </a:lnL>
                    <a:lnR>
                      <a:noFill/>
                    </a:lnR>
                    <a:lnT>
                      <a:noFill/>
                    </a:lnT>
                    <a:lnB>
                      <a:noFill/>
                    </a:lnB>
                    <a:solidFill>
                      <a:srgbClr val="FFFFFF"/>
                    </a:solidFill>
                  </a:tcPr>
                </a:tc>
                <a:extLst>
                  <a:ext uri="{0D108BD9-81ED-4DB2-BD59-A6C34878D82A}">
                    <a16:rowId xmlns:a16="http://schemas.microsoft.com/office/drawing/2014/main" val="4118912611"/>
                  </a:ext>
                </a:extLst>
              </a:tr>
              <a:tr h="422031">
                <a:tc gridSpan="6">
                  <a:txBody>
                    <a:bodyPr/>
                    <a:lstStyle/>
                    <a:p>
                      <a:pPr algn="l" fontAlgn="ctr"/>
                      <a:r>
                        <a:rPr lang="en-US" altLang="ja-JP" sz="2000" b="0" i="0" u="none" strike="noStrike" dirty="0">
                          <a:solidFill>
                            <a:srgbClr val="000000"/>
                          </a:solidFill>
                          <a:effectLst/>
                          <a:latin typeface="Meiryo UI" panose="020B0604030504040204" pitchFamily="50" charset="-128"/>
                          <a:ea typeface="Meiryo UI" panose="020B0604030504040204" pitchFamily="50" charset="-128"/>
                        </a:rPr>
                        <a:t>(*3)</a:t>
                      </a:r>
                      <a:r>
                        <a:rPr lang="ja-JP" altLang="en-US" sz="2000" b="0" i="0" u="none" strike="noStrike" dirty="0">
                          <a:solidFill>
                            <a:srgbClr val="000000"/>
                          </a:solidFill>
                          <a:effectLst/>
                          <a:latin typeface="Meiryo UI" panose="020B0604030504040204" pitchFamily="50" charset="-128"/>
                          <a:ea typeface="Meiryo UI" panose="020B0604030504040204" pitchFamily="50" charset="-128"/>
                        </a:rPr>
                        <a:t>自行の業務システムだけではなく、厚生年金基金など外部向けの業務システムも含む</a:t>
                      </a:r>
                    </a:p>
                  </a:txBody>
                  <a:tcPr marL="9525" marR="9525" marT="9525" marB="0" anchor="ctr">
                    <a:lnL>
                      <a:noFill/>
                    </a:lnL>
                    <a:lnR>
                      <a:noFill/>
                    </a:lnR>
                    <a:lnT>
                      <a:noFill/>
                    </a:lnT>
                    <a:lnB>
                      <a:noFill/>
                    </a:lnB>
                    <a:solidFill>
                      <a:srgbClr val="FFFFFF"/>
                    </a:solidFill>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tc hMerge="1">
                  <a:txBody>
                    <a:bodyPr/>
                    <a:lstStyle/>
                    <a:p>
                      <a:endParaRPr kumimoji="1" lang="ja-JP" altLang="en-US"/>
                    </a:p>
                  </a:txBody>
                  <a:tcPr/>
                </a:tc>
                <a:extLst>
                  <a:ext uri="{0D108BD9-81ED-4DB2-BD59-A6C34878D82A}">
                    <a16:rowId xmlns:a16="http://schemas.microsoft.com/office/drawing/2014/main" val="4118340041"/>
                  </a:ext>
                </a:extLst>
              </a:tr>
            </a:tbl>
          </a:graphicData>
        </a:graphic>
      </p:graphicFrame>
    </p:spTree>
    <p:extLst>
      <p:ext uri="{BB962C8B-B14F-4D97-AF65-F5344CB8AC3E}">
        <p14:creationId xmlns:p14="http://schemas.microsoft.com/office/powerpoint/2010/main" val="2721666689"/>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bodyPr rtlCol="0" anchor="ctr"/>
      <a:lstStyle>
        <a:defPPr algn="ctr">
          <a:defRPr dirty="0" smtClean="0">
            <a:latin typeface="Meiryo UI" panose="020B0604030504040204" pitchFamily="50" charset="-128"/>
            <a:ea typeface="Meiryo UI" panose="020B0604030504040204" pitchFamily="50" charset="-128"/>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ドキュメント" ma:contentTypeID="0x0101005C34EC7365253543AF52C41840CDEDF2" ma:contentTypeVersion="13" ma:contentTypeDescription="新しいドキュメントを作成します。" ma:contentTypeScope="" ma:versionID="a1acc59c8d3af2964436cae9eccde238">
  <xsd:schema xmlns:xsd="http://www.w3.org/2001/XMLSchema" xmlns:xs="http://www.w3.org/2001/XMLSchema" xmlns:p="http://schemas.microsoft.com/office/2006/metadata/properties" xmlns:ns2="8c7e2249-f67c-4027-b212-c28305a022e1" xmlns:ns3="fa9d62c7-0f51-469e-af76-081dc5c2cf6f" targetNamespace="http://schemas.microsoft.com/office/2006/metadata/properties" ma:root="true" ma:fieldsID="af49c0f8d4a088d6463ec3f5fc0d4d55" ns2:_="" ns3:_="">
    <xsd:import namespace="8c7e2249-f67c-4027-b212-c28305a022e1"/>
    <xsd:import namespace="fa9d62c7-0f51-469e-af76-081dc5c2cf6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MediaServiceBillingMetadata" minOccurs="0"/>
                <xsd:element ref="ns2:MediaServiceDateTaken"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8c7e2249-f67c-4027-b212-c28305a022e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MediaServiceBillingMetadata" ma:index="12" nillable="true" ma:displayName="MediaServiceBillingMetadata" ma:hidden="true" ma:internalName="MediaServiceBillingMetadata" ma:readOnly="true">
      <xsd:simpleType>
        <xsd:restriction base="dms:Note"/>
      </xsd:simpleType>
    </xsd:element>
    <xsd:element name="MediaServiceDateTaken" ma:index="13" nillable="true" ma:displayName="MediaServiceDateTaken" ma:hidden="true" ma:indexed="true" ma:internalName="MediaServiceDateTaken" ma:readOnly="true">
      <xsd:simpleType>
        <xsd:restriction base="dms:Text"/>
      </xsd:simpleType>
    </xsd:element>
    <xsd:element name="MediaServiceGenerationTime" ma:index="14" nillable="true" ma:displayName="MediaServiceGenerationTime" ma:hidden="true" ma:internalName="MediaServiceGenerationTime" ma:readOnly="true">
      <xsd:simpleType>
        <xsd:restriction base="dms:Text"/>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LengthInSeconds" ma:index="16" nillable="true" ma:displayName="MediaLengthInSeconds" ma:hidden="true" ma:internalName="MediaLengthInSeconds" ma:readOnly="true">
      <xsd:simpleType>
        <xsd:restriction base="dms:Unknown"/>
      </xsd:simpleType>
    </xsd:element>
    <xsd:element name="lcf76f155ced4ddcb4097134ff3c332f" ma:index="18" nillable="true" ma:taxonomy="true" ma:internalName="lcf76f155ced4ddcb4097134ff3c332f" ma:taxonomyFieldName="MediaServiceImageTags" ma:displayName="画像タグ" ma:readOnly="false" ma:fieldId="{5cf76f15-5ced-4ddc-b409-7134ff3c332f}" ma:taxonomyMulti="true" ma:sspId="6d165d17-9b79-46c3-82b9-c927e733c429" ma:termSetId="09814cd3-568e-fe90-9814-8d621ff8fb84" ma:anchorId="fba54fb3-c3e1-fe81-a776-ca4b69148c4d" ma:open="true" ma:isKeyword="false">
      <xsd:complexType>
        <xsd:sequence>
          <xsd:element ref="pc:Terms" minOccurs="0" maxOccurs="1"/>
        </xsd:sequence>
      </xsd:complexType>
    </xsd:element>
    <xsd:element name="MediaServiceOCR" ma:index="20" nillable="true" ma:displayName="Extracted Text" ma:internalName="MediaServiceOCR"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fa9d62c7-0f51-469e-af76-081dc5c2cf6f" elementFormDefault="qualified">
    <xsd:import namespace="http://schemas.microsoft.com/office/2006/documentManagement/types"/>
    <xsd:import namespace="http://schemas.microsoft.com/office/infopath/2007/PartnerControls"/>
    <xsd:element name="TaxCatchAll" ma:index="19" nillable="true" ma:displayName="Taxonomy Catch All Column" ma:hidden="true" ma:list="{e81bc249-2723-4833-85eb-5148d2aa8f1e}" ma:internalName="TaxCatchAll" ma:showField="CatchAllData" ma:web="fa9d62c7-0f51-469e-af76-081dc5c2cf6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コンテンツ タイプ"/>
        <xsd:element ref="dc:title" minOccurs="0" maxOccurs="1" ma:index="4" ma:displayName="タイトル"/>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8c7e2249-f67c-4027-b212-c28305a022e1">
      <Terms xmlns="http://schemas.microsoft.com/office/infopath/2007/PartnerControls"/>
    </lcf76f155ced4ddcb4097134ff3c332f>
    <TaxCatchAll xmlns="fa9d62c7-0f51-469e-af76-081dc5c2cf6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1683A76D-A527-4D2E-A74C-E34B31EDB2B3}"/>
</file>

<file path=customXml/itemProps2.xml><?xml version="1.0" encoding="utf-8"?>
<ds:datastoreItem xmlns:ds="http://schemas.openxmlformats.org/officeDocument/2006/customXml" ds:itemID="{D2C9D3CD-C734-4022-B5BC-3ADCE537E0E5}">
  <ds:schemaRefs>
    <ds:schemaRef ds:uri="http://schemas.microsoft.com/office/infopath/2007/PartnerControls"/>
    <ds:schemaRef ds:uri="http://schemas.microsoft.com/office/2006/documentManagement/types"/>
    <ds:schemaRef ds:uri="http://purl.org/dc/terms/"/>
    <ds:schemaRef ds:uri="http://schemas.microsoft.com/office/2006/metadata/properties"/>
    <ds:schemaRef ds:uri="92fcded3-db20-43a3-a341-4851807cbd60"/>
    <ds:schemaRef ds:uri="http://purl.org/dc/dcmitype/"/>
    <ds:schemaRef ds:uri="adc38d54-8b7f-495c-9205-663ee90ec41c"/>
    <ds:schemaRef ds:uri="http://purl.org/dc/elements/1.1/"/>
    <ds:schemaRef ds:uri="http://schemas.openxmlformats.org/package/2006/metadata/core-properties"/>
    <ds:schemaRef ds:uri="http://www.w3.org/XML/1998/namespace"/>
  </ds:schemaRefs>
</ds:datastoreItem>
</file>

<file path=customXml/itemProps3.xml><?xml version="1.0" encoding="utf-8"?>
<ds:datastoreItem xmlns:ds="http://schemas.openxmlformats.org/officeDocument/2006/customXml" ds:itemID="{2D4B5CD3-691B-4306-B00F-BC0A8670FE41}">
  <ds:schemaRefs>
    <ds:schemaRef ds:uri="http://schemas.microsoft.com/sharepoint/v3/contenttype/forms"/>
  </ds:schemaRefs>
</ds:datastoreItem>
</file>

<file path=docMetadata/LabelInfo.xml><?xml version="1.0" encoding="utf-8"?>
<clbl:labelList xmlns:clbl="http://schemas.microsoft.com/office/2020/mipLabelMetadata">
  <clbl:label id="{e0793d39-0939-496d-b129-198edd916feb}" enabled="0" method="" siteId="{e0793d39-0939-496d-b129-198edd916feb}" removed="1"/>
</clbl:labelList>
</file>

<file path=docProps/app.xml><?xml version="1.0" encoding="utf-8"?>
<Properties xmlns="http://schemas.openxmlformats.org/officeDocument/2006/extended-properties" xmlns:vt="http://schemas.openxmlformats.org/officeDocument/2006/docPropsVTypes">
  <TotalTime>10828</TotalTime>
  <Words>2296</Words>
  <Application>Microsoft Office PowerPoint</Application>
  <PresentationFormat>ワイド画面</PresentationFormat>
  <Paragraphs>407</Paragraphs>
  <Slides>15</Slides>
  <Notes>0</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15</vt:i4>
      </vt:variant>
    </vt:vector>
  </HeadingPairs>
  <TitlesOfParts>
    <vt:vector size="21" baseType="lpstr">
      <vt:lpstr>Graphik</vt:lpstr>
      <vt:lpstr>Meiryo UI</vt:lpstr>
      <vt:lpstr>游ゴシック</vt:lpstr>
      <vt:lpstr>游ゴシック Light</vt:lpstr>
      <vt:lpstr>Arial</vt:lpstr>
      <vt:lpstr>Office テーマ</vt:lpstr>
      <vt:lpstr>PowerPoint プレゼンテーション</vt:lpstr>
      <vt:lpstr>1-1.信託とは</vt:lpstr>
      <vt:lpstr>1-2.信託の歴史</vt:lpstr>
      <vt:lpstr>1-3.信託銀行とそのほかの金融機関</vt:lpstr>
      <vt:lpstr>1-4.信託銀行と銀行の違い</vt:lpstr>
      <vt:lpstr>2-1.信託財産と信託目的</vt:lpstr>
      <vt:lpstr>2-2.信託受益権</vt:lpstr>
      <vt:lpstr>2-3.信託の種類</vt:lpstr>
      <vt:lpstr>2-4.金銭の信託の詳細</vt:lpstr>
      <vt:lpstr>2-5.指定金銭信託（合同運用）の概要</vt:lpstr>
      <vt:lpstr>2-6.ものの信託の詳細</vt:lpstr>
      <vt:lpstr>3-1.みずほ信託の成り立ち</vt:lpstr>
      <vt:lpstr>3-2.三菱UFJ信託の成り立ち</vt:lpstr>
      <vt:lpstr>3-3.三井住友信託、日本カストディの成り立ち</vt:lpstr>
      <vt:lpstr>4-1.信託銀行のシステム概要</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Windows User</dc:creator>
  <cp:lastModifiedBy>Toyoda, Megumi</cp:lastModifiedBy>
  <cp:revision>262</cp:revision>
  <dcterms:created xsi:type="dcterms:W3CDTF">2020-03-30T06:46:35Z</dcterms:created>
  <dcterms:modified xsi:type="dcterms:W3CDTF">2024-12-16T04:25:18Z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0x0101005C34EC7365253543AF52C41840CDEDF2</vt:lpwstr>
  </property>
</Properties>
</file>