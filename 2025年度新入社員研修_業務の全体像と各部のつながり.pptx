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1" r:id="rId4"/>
    <p:sldMasterId id="2147483740" r:id="rId5"/>
    <p:sldMasterId id="2147483759" r:id="rId6"/>
  </p:sldMasterIdLst>
  <p:notesMasterIdLst>
    <p:notesMasterId r:id="rId18"/>
  </p:notesMasterIdLst>
  <p:handoutMasterIdLst>
    <p:handoutMasterId r:id="rId19"/>
  </p:handoutMasterIdLst>
  <p:sldIdLst>
    <p:sldId id="307" r:id="rId7"/>
    <p:sldId id="308" r:id="rId8"/>
    <p:sldId id="328" r:id="rId9"/>
    <p:sldId id="309" r:id="rId10"/>
    <p:sldId id="323" r:id="rId11"/>
    <p:sldId id="322" r:id="rId12"/>
    <p:sldId id="325" r:id="rId13"/>
    <p:sldId id="326" r:id="rId14"/>
    <p:sldId id="327" r:id="rId15"/>
    <p:sldId id="329" r:id="rId16"/>
    <p:sldId id="305" r:id="rId17"/>
  </p:sldIdLst>
  <p:sldSz cx="10691813" cy="7559675"/>
  <p:notesSz cx="6735763" cy="9866313"/>
  <p:defaultTex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38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33CCFF"/>
    <a:srgbClr val="FFFFCC"/>
    <a:srgbClr val="FFCCFF"/>
    <a:srgbClr val="99FFCC"/>
    <a:srgbClr val="E3EAEE"/>
    <a:srgbClr val="F0F4F6"/>
    <a:srgbClr val="7A9EAF"/>
    <a:srgbClr val="D5E4EC"/>
    <a:srgbClr val="97B3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40" autoAdjust="0"/>
    <p:restoredTop sz="77791" autoAdjust="0"/>
  </p:normalViewPr>
  <p:slideViewPr>
    <p:cSldViewPr snapToGrid="0" snapToObjects="1">
      <p:cViewPr varScale="1">
        <p:scale>
          <a:sx n="81" d="100"/>
          <a:sy n="81" d="100"/>
        </p:scale>
        <p:origin x="1842" y="78"/>
      </p:cViewPr>
      <p:guideLst>
        <p:guide orient="horz" pos="2381"/>
        <p:guide pos="336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79" d="100"/>
          <a:sy n="79" d="100"/>
        </p:scale>
        <p:origin x="397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uzawa Ayana/増沢　彩奈" userId="11cba5a8-d928-4f8b-ad27-c44193c812e3" providerId="ADAL" clId="{6E26B298-4F33-4E53-8886-3932091909E8}"/>
    <pc:docChg chg="modSld">
      <pc:chgData name="Masuzawa Ayana/増沢　彩奈" userId="11cba5a8-d928-4f8b-ad27-c44193c812e3" providerId="ADAL" clId="{6E26B298-4F33-4E53-8886-3932091909E8}" dt="2025-04-24T04:09:44.005" v="9" actId="1076"/>
      <pc:docMkLst>
        <pc:docMk/>
      </pc:docMkLst>
      <pc:sldChg chg="modSp mod">
        <pc:chgData name="Masuzawa Ayana/増沢　彩奈" userId="11cba5a8-d928-4f8b-ad27-c44193c812e3" providerId="ADAL" clId="{6E26B298-4F33-4E53-8886-3932091909E8}" dt="2025-04-24T04:09:44.005" v="9" actId="1076"/>
        <pc:sldMkLst>
          <pc:docMk/>
          <pc:sldMk cId="2096847733" sldId="305"/>
        </pc:sldMkLst>
        <pc:picChg chg="mod">
          <ac:chgData name="Masuzawa Ayana/増沢　彩奈" userId="11cba5a8-d928-4f8b-ad27-c44193c812e3" providerId="ADAL" clId="{6E26B298-4F33-4E53-8886-3932091909E8}" dt="2025-04-24T04:09:44.005" v="9" actId="1076"/>
          <ac:picMkLst>
            <pc:docMk/>
            <pc:sldMk cId="2096847733" sldId="305"/>
            <ac:picMk id="6" creationId="{CC0FA39B-94BF-7E85-6266-6EDD2B80108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F37DF40-EC57-FF5E-0864-D0DB93A35FA0}"/>
              </a:ext>
            </a:extLst>
          </p:cNvPr>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F965A41-8C8A-67E9-7DEB-84C61CD03DE4}"/>
              </a:ext>
            </a:extLst>
          </p:cNvPr>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61DACD1E-0B6E-4160-8039-91A49E153C54}" type="datetimeFigureOut">
              <a:rPr kumimoji="1" lang="ja-JP" altLang="en-US" smtClean="0"/>
              <a:t>2025/9/24</a:t>
            </a:fld>
            <a:endParaRPr kumimoji="1" lang="ja-JP" altLang="en-US"/>
          </a:p>
        </p:txBody>
      </p:sp>
      <p:sp>
        <p:nvSpPr>
          <p:cNvPr id="4" name="フッター プレースホルダー 3">
            <a:extLst>
              <a:ext uri="{FF2B5EF4-FFF2-40B4-BE49-F238E27FC236}">
                <a16:creationId xmlns:a16="http://schemas.microsoft.com/office/drawing/2014/main" id="{DDD7951C-AE41-F9F2-5B9D-186A8E9E01BF}"/>
              </a:ext>
            </a:extLst>
          </p:cNvPr>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D8FF5C13-0EAC-672E-1915-D254A68E39CA}"/>
              </a:ext>
            </a:extLst>
          </p:cNvPr>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EA972C27-3283-4338-96A2-212E1816F876}" type="slidenum">
              <a:rPr kumimoji="1" lang="ja-JP" altLang="en-US" smtClean="0"/>
              <a:t>‹#›</a:t>
            </a:fld>
            <a:endParaRPr kumimoji="1" lang="ja-JP" altLang="en-US"/>
          </a:p>
        </p:txBody>
      </p:sp>
    </p:spTree>
    <p:extLst>
      <p:ext uri="{BB962C8B-B14F-4D97-AF65-F5344CB8AC3E}">
        <p14:creationId xmlns:p14="http://schemas.microsoft.com/office/powerpoint/2010/main" val="41811379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07" userDrawn="1">
          <p15:clr>
            <a:srgbClr val="F26B43"/>
          </p15:clr>
        </p15:guide>
        <p15:guide id="2" pos="21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62F03FA-756E-4683-9BEF-662025B53C13}"/>
              </a:ext>
            </a:extLst>
          </p:cNvPr>
          <p:cNvSpPr>
            <a:spLocks noGrp="1"/>
          </p:cNvSpPr>
          <p:nvPr>
            <p:ph type="hdr" sz="quarter"/>
          </p:nvPr>
        </p:nvSpPr>
        <p:spPr>
          <a:xfrm>
            <a:off x="0" y="0"/>
            <a:ext cx="2918831" cy="495029"/>
          </a:xfrm>
          <a:prstGeom prst="rect">
            <a:avLst/>
          </a:prstGeom>
        </p:spPr>
        <p:txBody>
          <a:bodyPr vert="horz" lIns="91440" tIns="45720" rIns="91440" bIns="45720" rtlCol="0"/>
          <a:lstStyle>
            <a:lvl1pPr algn="l" defTabSz="995507" eaLnBrk="1" fontAlgn="auto" hangingPunct="1">
              <a:spcBef>
                <a:spcPts val="0"/>
              </a:spcBef>
              <a:spcAft>
                <a:spcPts val="0"/>
              </a:spcAft>
              <a:defRPr sz="1200">
                <a:latin typeface="+mn-lt"/>
                <a:ea typeface="+mn-ea"/>
                <a:cs typeface="+mn-cs"/>
              </a:defRPr>
            </a:lvl1pPr>
          </a:lstStyle>
          <a:p>
            <a:pPr>
              <a:defRPr/>
            </a:pPr>
            <a:endParaRPr lang="ja-JP" altLang="en-US" dirty="0"/>
          </a:p>
        </p:txBody>
      </p:sp>
      <p:sp>
        <p:nvSpPr>
          <p:cNvPr id="3" name="日付プレースホルダー 2">
            <a:extLst>
              <a:ext uri="{FF2B5EF4-FFF2-40B4-BE49-F238E27FC236}">
                <a16:creationId xmlns:a16="http://schemas.microsoft.com/office/drawing/2014/main" id="{A6D1A473-1916-4F6E-B2E3-0A6248114624}"/>
              </a:ext>
            </a:extLst>
          </p:cNvPr>
          <p:cNvSpPr>
            <a:spLocks noGrp="1"/>
          </p:cNvSpPr>
          <p:nvPr>
            <p:ph type="dt" idx="1"/>
          </p:nvPr>
        </p:nvSpPr>
        <p:spPr>
          <a:xfrm>
            <a:off x="3815373" y="0"/>
            <a:ext cx="2918831" cy="495029"/>
          </a:xfrm>
          <a:prstGeom prst="rect">
            <a:avLst/>
          </a:prstGeom>
        </p:spPr>
        <p:txBody>
          <a:bodyPr vert="horz" lIns="91440" tIns="45720" rIns="91440" bIns="45720" rtlCol="0"/>
          <a:lstStyle>
            <a:lvl1pPr algn="r" defTabSz="995507" eaLnBrk="1" fontAlgn="auto" hangingPunct="1">
              <a:spcBef>
                <a:spcPts val="0"/>
              </a:spcBef>
              <a:spcAft>
                <a:spcPts val="0"/>
              </a:spcAft>
              <a:defRPr sz="1200">
                <a:latin typeface="+mn-lt"/>
                <a:ea typeface="+mn-ea"/>
                <a:cs typeface="+mn-cs"/>
              </a:defRPr>
            </a:lvl1pPr>
          </a:lstStyle>
          <a:p>
            <a:pPr>
              <a:defRPr/>
            </a:pPr>
            <a:fld id="{4DF7E803-16FA-4EF9-B1F7-C4789EDC06BE}" type="datetimeFigureOut">
              <a:rPr lang="ja-JP" altLang="en-US"/>
              <a:pPr>
                <a:defRPr/>
              </a:pPr>
              <a:t>2025/9/24</a:t>
            </a:fld>
            <a:endParaRPr lang="ja-JP" altLang="en-US" dirty="0"/>
          </a:p>
        </p:txBody>
      </p:sp>
      <p:sp>
        <p:nvSpPr>
          <p:cNvPr id="4" name="スライド イメージ プレースホルダー 3">
            <a:extLst>
              <a:ext uri="{FF2B5EF4-FFF2-40B4-BE49-F238E27FC236}">
                <a16:creationId xmlns:a16="http://schemas.microsoft.com/office/drawing/2014/main" id="{C4B1364E-53F5-492F-8628-1669423DB452}"/>
              </a:ext>
            </a:extLst>
          </p:cNvPr>
          <p:cNvSpPr>
            <a:spLocks noGrp="1" noRot="1" noChangeAspect="1"/>
          </p:cNvSpPr>
          <p:nvPr>
            <p:ph type="sldImg" idx="2"/>
          </p:nvPr>
        </p:nvSpPr>
        <p:spPr>
          <a:xfrm>
            <a:off x="1014413" y="1233488"/>
            <a:ext cx="4706937" cy="3328987"/>
          </a:xfrm>
          <a:prstGeom prst="rect">
            <a:avLst/>
          </a:prstGeom>
          <a:noFill/>
          <a:ln w="12700">
            <a:solidFill>
              <a:prstClr val="black"/>
            </a:solidFill>
          </a:ln>
        </p:spPr>
        <p:txBody>
          <a:bodyPr vert="horz" lIns="91440" tIns="45720" rIns="91440" bIns="45720" rtlCol="0" anchor="ctr"/>
          <a:lstStyle/>
          <a:p>
            <a:pPr lvl="0"/>
            <a:endParaRPr lang="ja-JP" altLang="en-US" noProof="0" dirty="0"/>
          </a:p>
        </p:txBody>
      </p:sp>
      <p:sp>
        <p:nvSpPr>
          <p:cNvPr id="5" name="ノート プレースホルダー 4">
            <a:extLst>
              <a:ext uri="{FF2B5EF4-FFF2-40B4-BE49-F238E27FC236}">
                <a16:creationId xmlns:a16="http://schemas.microsoft.com/office/drawing/2014/main" id="{67F6D212-2816-475B-8DD2-6A201E5BE084}"/>
              </a:ext>
            </a:extLst>
          </p:cNvPr>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a:extLst>
              <a:ext uri="{FF2B5EF4-FFF2-40B4-BE49-F238E27FC236}">
                <a16:creationId xmlns:a16="http://schemas.microsoft.com/office/drawing/2014/main" id="{CFA19969-BA1C-4938-8AE6-146FA8D6537B}"/>
              </a:ext>
            </a:extLst>
          </p:cNvPr>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defTabSz="995507" eaLnBrk="1" fontAlgn="auto" hangingPunct="1">
              <a:spcBef>
                <a:spcPts val="0"/>
              </a:spcBef>
              <a:spcAft>
                <a:spcPts val="0"/>
              </a:spcAft>
              <a:defRPr sz="1200">
                <a:latin typeface="+mn-lt"/>
                <a:ea typeface="+mn-ea"/>
                <a:cs typeface="+mn-cs"/>
              </a:defRPr>
            </a:lvl1pPr>
          </a:lstStyle>
          <a:p>
            <a:pPr>
              <a:defRPr/>
            </a:pPr>
            <a:endParaRPr lang="ja-JP" altLang="en-US" dirty="0"/>
          </a:p>
        </p:txBody>
      </p:sp>
      <p:sp>
        <p:nvSpPr>
          <p:cNvPr id="7" name="スライド番号プレースホルダー 6">
            <a:extLst>
              <a:ext uri="{FF2B5EF4-FFF2-40B4-BE49-F238E27FC236}">
                <a16:creationId xmlns:a16="http://schemas.microsoft.com/office/drawing/2014/main" id="{47E4A35F-C4F4-44DC-8BE1-3E477C4787D9}"/>
              </a:ext>
            </a:extLst>
          </p:cNvPr>
          <p:cNvSpPr>
            <a:spLocks noGrp="1"/>
          </p:cNvSpPr>
          <p:nvPr>
            <p:ph type="sldNum" sz="quarter" idx="5"/>
          </p:nvPr>
        </p:nvSpPr>
        <p:spPr>
          <a:xfrm>
            <a:off x="3815373" y="9371286"/>
            <a:ext cx="2918831" cy="49502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C327DF7C-A60A-4094-97DD-15C0A5FA18C4}" type="slidenum">
              <a:rPr lang="ja-JP" altLang="en-US"/>
              <a:pPr/>
              <a:t>‹#›</a:t>
            </a:fld>
            <a:endParaRPr lang="ja-JP" altLang="en-US" dirty="0"/>
          </a:p>
        </p:txBody>
      </p:sp>
    </p:spTree>
  </p:cSld>
  <p:clrMap bg1="lt1" tx1="dk1" bg2="lt2" tx2="dk2" accent1="accent1" accent2="accent2" accent3="accent3" accent4="accent4" accent5="accent5" accent6="accent6" hlink="hlink" folHlink="folHlink"/>
  <p:notesStyle>
    <a:lvl1pPr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1pPr>
    <a:lvl2pPr marL="496888"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2pPr>
    <a:lvl3pPr marL="995363"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3pPr>
    <a:lvl4pPr marL="1492250"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4pPr>
    <a:lvl5pPr marL="1990725"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5pPr>
    <a:lvl6pPr marL="2488768" algn="l" defTabSz="995507" rtl="0" eaLnBrk="1" latinLnBrk="0" hangingPunct="1">
      <a:defRPr kumimoji="1" sz="1306" kern="1200">
        <a:solidFill>
          <a:schemeClr val="tx1"/>
        </a:solidFill>
        <a:latin typeface="+mn-lt"/>
        <a:ea typeface="+mn-ea"/>
        <a:cs typeface="+mn-cs"/>
      </a:defRPr>
    </a:lvl6pPr>
    <a:lvl7pPr marL="2986522" algn="l" defTabSz="995507" rtl="0" eaLnBrk="1" latinLnBrk="0" hangingPunct="1">
      <a:defRPr kumimoji="1" sz="1306" kern="1200">
        <a:solidFill>
          <a:schemeClr val="tx1"/>
        </a:solidFill>
        <a:latin typeface="+mn-lt"/>
        <a:ea typeface="+mn-ea"/>
        <a:cs typeface="+mn-cs"/>
      </a:defRPr>
    </a:lvl7pPr>
    <a:lvl8pPr marL="3484275" algn="l" defTabSz="995507" rtl="0" eaLnBrk="1" latinLnBrk="0" hangingPunct="1">
      <a:defRPr kumimoji="1" sz="1306" kern="1200">
        <a:solidFill>
          <a:schemeClr val="tx1"/>
        </a:solidFill>
        <a:latin typeface="+mn-lt"/>
        <a:ea typeface="+mn-ea"/>
        <a:cs typeface="+mn-cs"/>
      </a:defRPr>
    </a:lvl8pPr>
    <a:lvl9pPr marL="3982029" algn="l" defTabSz="995507" rtl="0" eaLnBrk="1" latinLnBrk="0" hangingPunct="1">
      <a:defRPr kumimoji="1" sz="13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dirty="0"/>
              <a:t>今年度のこのコマを担当致します、業務企画推進部・事務企画</a:t>
            </a:r>
            <a:r>
              <a:rPr kumimoji="1" lang="en-US" altLang="ja-JP" sz="1200" dirty="0"/>
              <a:t>G</a:t>
            </a:r>
            <a:r>
              <a:rPr kumimoji="1" lang="ja-JP" altLang="en-US" sz="1200" dirty="0"/>
              <a:t>の上原と申します。</a:t>
            </a:r>
            <a:endParaRPr kumimoji="1" lang="en-US" altLang="ja-JP" sz="1200" dirty="0"/>
          </a:p>
          <a:p>
            <a:r>
              <a:rPr kumimoji="1" lang="en-US" altLang="ja-JP" sz="1200" dirty="0"/>
              <a:t>2001</a:t>
            </a:r>
            <a:r>
              <a:rPr kumimoji="1" lang="ja-JP" altLang="en-US" sz="1200" dirty="0"/>
              <a:t>（平成</a:t>
            </a:r>
            <a:r>
              <a:rPr kumimoji="1" lang="en-US" altLang="ja-JP" sz="1200" dirty="0"/>
              <a:t>13</a:t>
            </a:r>
            <a:r>
              <a:rPr kumimoji="1" lang="ja-JP" altLang="en-US" sz="1200" dirty="0"/>
              <a:t>）年に入社以来、異動経験がななく、現在所属している事務企画</a:t>
            </a:r>
            <a:r>
              <a:rPr kumimoji="1" lang="en-US" altLang="ja-JP" sz="1200" dirty="0"/>
              <a:t>G</a:t>
            </a:r>
            <a:r>
              <a:rPr kumimoji="1" lang="ja-JP" altLang="en-US" sz="1200" dirty="0"/>
              <a:t>にて主にファンド管理に関わる事務システム企画に携わってきました。</a:t>
            </a:r>
            <a:endParaRPr kumimoji="1" lang="en-US" altLang="ja-JP" sz="1200" dirty="0"/>
          </a:p>
          <a:p>
            <a:endParaRPr kumimoji="1" lang="en-US" altLang="ja-JP" sz="1200" dirty="0"/>
          </a:p>
          <a:p>
            <a:r>
              <a:rPr kumimoji="1" lang="ja-JP" altLang="en-US" sz="1200" dirty="0"/>
              <a:t>本日から</a:t>
            </a:r>
            <a:r>
              <a:rPr kumimoji="1" lang="en-US" altLang="ja-JP" sz="1200" dirty="0"/>
              <a:t>MUTB</a:t>
            </a:r>
            <a:r>
              <a:rPr kumimoji="1" lang="ja-JP" altLang="en-US" sz="1200" dirty="0"/>
              <a:t>出向、</a:t>
            </a:r>
            <a:r>
              <a:rPr kumimoji="1" lang="en-US" altLang="ja-JP" sz="1200" dirty="0"/>
              <a:t>MTBJ</a:t>
            </a:r>
            <a:r>
              <a:rPr kumimoji="1" lang="ja-JP" altLang="en-US" sz="1200" dirty="0"/>
              <a:t>採用の方々が合同で研修の研修が開始されるということで、本日はその初回のコマになります。</a:t>
            </a:r>
            <a:endParaRPr kumimoji="1" lang="en-US" altLang="ja-JP" sz="1200" dirty="0"/>
          </a:p>
          <a:p>
            <a:r>
              <a:rPr kumimoji="1" lang="ja-JP" altLang="en-US" sz="1200" dirty="0"/>
              <a:t>このコマ以後に続く各部署の紹介に繋げるため、まずは寛大に全体把握をできるコマにしていきたいと思います。よろしくお願い致します。</a:t>
            </a:r>
            <a:endParaRPr kumimoji="1" lang="en-US" altLang="ja-JP" sz="1200"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0</a:t>
            </a:fld>
            <a:endParaRPr lang="ja-JP" altLang="en-US" dirty="0"/>
          </a:p>
        </p:txBody>
      </p:sp>
    </p:spTree>
    <p:extLst>
      <p:ext uri="{BB962C8B-B14F-4D97-AF65-F5344CB8AC3E}">
        <p14:creationId xmlns:p14="http://schemas.microsoft.com/office/powerpoint/2010/main" val="254553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eaLnBrk="1" hangingPunct="1"/>
            <a:r>
              <a:rPr lang="en-US" altLang="ja-JP" dirty="0">
                <a:latin typeface="Arial" charset="0"/>
              </a:rPr>
              <a:t>3</a:t>
            </a:r>
            <a:r>
              <a:rPr lang="ja-JP" altLang="en-US" dirty="0">
                <a:latin typeface="Arial" charset="0"/>
              </a:rPr>
              <a:t>分程度</a:t>
            </a:r>
            <a:endParaRPr lang="en-US" altLang="ja-JP" dirty="0">
              <a:latin typeface="Arial" charset="0"/>
            </a:endParaRPr>
          </a:p>
          <a:p>
            <a:endParaRPr lang="en-US" altLang="ja-JP" dirty="0"/>
          </a:p>
          <a:p>
            <a:r>
              <a:rPr lang="ja-JP" altLang="en-US" dirty="0"/>
              <a:t>ねらい（スライドを読み上げる）</a:t>
            </a:r>
            <a:endParaRPr lang="en-US" altLang="ja-JP" dirty="0"/>
          </a:p>
          <a:p>
            <a:endParaRPr lang="en-US" altLang="ja-JP" dirty="0"/>
          </a:p>
          <a:p>
            <a:r>
              <a:rPr lang="ja-JP" altLang="en-US" dirty="0"/>
              <a:t>これまでの研修では、ビジネスマナーや仕事の進め方、業務といっても信託とは何か？といった一般的な知識やスキルに関する、研修、お話が多かったかと思います。</a:t>
            </a:r>
            <a:endParaRPr lang="en-US" altLang="ja-JP" dirty="0"/>
          </a:p>
          <a:p>
            <a:r>
              <a:rPr lang="ja-JP" altLang="en-US" dirty="0"/>
              <a:t>本日からは業務で取扱う、信託商品の種類や有価証券取引、各部の業務の詳細説明の講義となります。</a:t>
            </a:r>
            <a:endParaRPr lang="en-US" altLang="ja-JP" dirty="0"/>
          </a:p>
          <a:p>
            <a:r>
              <a:rPr lang="ja-JP" altLang="en-US" dirty="0"/>
              <a:t>この講義は業務に関する講義の最初です。</a:t>
            </a:r>
            <a:endParaRPr lang="en-US" altLang="ja-JP" dirty="0"/>
          </a:p>
          <a:p>
            <a:endParaRPr lang="en-US" altLang="ja-JP" dirty="0"/>
          </a:p>
          <a:p>
            <a:r>
              <a:rPr lang="ja-JP" altLang="en-US" dirty="0"/>
              <a:t>この時間で資産管理業務の全体像と各部署がどのような役割を担っているのか大まかに理解していただくことで、この後の講義の理解促進につながればと思っております。</a:t>
            </a:r>
            <a:endParaRPr lang="en-US" altLang="ja-JP" dirty="0"/>
          </a:p>
          <a:p>
            <a:r>
              <a:rPr lang="ja-JP" altLang="en-US" dirty="0"/>
              <a:t>学習の進めかたですが</a:t>
            </a:r>
            <a:endParaRPr lang="en-US" altLang="ja-JP" dirty="0"/>
          </a:p>
          <a:p>
            <a:pPr defTabSz="914342">
              <a:defRPr/>
            </a:pPr>
            <a:r>
              <a:rPr lang="ja-JP" altLang="en-US" dirty="0"/>
              <a:t>皆さんはスライドを見てください。スライドと手元資料は同一です。私の説明で必要な事項は適宜書き込んでください。</a:t>
            </a:r>
            <a:endParaRPr lang="en-US" altLang="ja-JP" dirty="0"/>
          </a:p>
          <a:p>
            <a:pPr defTabSz="914342">
              <a:defRPr/>
            </a:pPr>
            <a:r>
              <a:rPr lang="ja-JP" altLang="en-US" dirty="0"/>
              <a:t>皆さんにとっては初めての内容ですし、部分部分でついていけないところがあっても、気にせず、全体像を把握してもらえば結構です。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1</a:t>
            </a:fld>
            <a:endParaRPr lang="ja-JP" altLang="en-US" dirty="0"/>
          </a:p>
        </p:txBody>
      </p:sp>
    </p:spTree>
    <p:extLst>
      <p:ext uri="{BB962C8B-B14F-4D97-AF65-F5344CB8AC3E}">
        <p14:creationId xmlns:p14="http://schemas.microsoft.com/office/powerpoint/2010/main" val="3959045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eaLnBrk="1" hangingPunct="1"/>
            <a:r>
              <a:rPr lang="en-US" altLang="ja-JP" dirty="0">
                <a:latin typeface="Arial" charset="0"/>
              </a:rPr>
              <a:t>3</a:t>
            </a:r>
            <a:r>
              <a:rPr lang="ja-JP" altLang="en-US" dirty="0">
                <a:latin typeface="Arial" charset="0"/>
              </a:rPr>
              <a:t>分程度</a:t>
            </a:r>
            <a:endParaRPr lang="en-US" altLang="ja-JP" dirty="0">
              <a:latin typeface="Arial" charset="0"/>
            </a:endParaRPr>
          </a:p>
          <a:p>
            <a:pPr eaLnBrk="1" hangingPunct="1"/>
            <a:endParaRPr lang="en-US" altLang="ja-JP" dirty="0">
              <a:latin typeface="Arial" charset="0"/>
            </a:endParaRPr>
          </a:p>
          <a:p>
            <a:pPr eaLnBrk="1" hangingPunct="1"/>
            <a:r>
              <a:rPr lang="ja-JP" altLang="en-US" dirty="0">
                <a:latin typeface="Arial" charset="0"/>
              </a:rPr>
              <a:t>さて、資産管理業務といった場合、どのような関係者がいるのでしょうか。これまでの研修資料の「会社の概要」で使用した資料から抜粋したものです。当社の関係者には、様々な人がいます。</a:t>
            </a:r>
            <a:endParaRPr lang="en-US" altLang="ja-JP" dirty="0">
              <a:latin typeface="Arial" charset="0"/>
            </a:endParaRPr>
          </a:p>
          <a:p>
            <a:pPr eaLnBrk="1" hangingPunct="1"/>
            <a:endParaRPr lang="en-US" altLang="ja-JP" dirty="0">
              <a:latin typeface="Arial" charset="0"/>
            </a:endParaRPr>
          </a:p>
          <a:p>
            <a:pPr eaLnBrk="1" hangingPunct="1"/>
            <a:r>
              <a:rPr lang="ja-JP" altLang="en-US" dirty="0">
                <a:latin typeface="Arial" charset="0"/>
              </a:rPr>
              <a:t>まず一番上のお客様です。</a:t>
            </a:r>
            <a:endParaRPr lang="en-US" altLang="ja-JP" dirty="0">
              <a:latin typeface="Arial" charset="0"/>
            </a:endParaRPr>
          </a:p>
          <a:p>
            <a:pPr eaLnBrk="1" hangingPunct="1"/>
            <a:r>
              <a:rPr lang="ja-JP" altLang="en-US" dirty="0">
                <a:latin typeface="Arial" charset="0"/>
              </a:rPr>
              <a:t>お客様としては企業年金、金融法人、投信委託会社、公的年金等の色々なお客様がいます。</a:t>
            </a:r>
            <a:endParaRPr lang="en-US" altLang="ja-JP" dirty="0">
              <a:latin typeface="Arial" charset="0"/>
            </a:endParaRPr>
          </a:p>
          <a:p>
            <a:pPr eaLnBrk="1" hangingPunct="1"/>
            <a:r>
              <a:rPr lang="ja-JP" altLang="en-US" dirty="0">
                <a:latin typeface="Arial" charset="0"/>
              </a:rPr>
              <a:t>これらのお客様と、信託契約等を締結し、</a:t>
            </a:r>
            <a:r>
              <a:rPr lang="en-US" altLang="ja-JP" dirty="0">
                <a:latin typeface="Arial" charset="0"/>
              </a:rPr>
              <a:t>MTBJ</a:t>
            </a:r>
            <a:r>
              <a:rPr lang="ja-JP" altLang="en-US" dirty="0">
                <a:latin typeface="Arial" charset="0"/>
              </a:rPr>
              <a:t>で資産を預かることになります。</a:t>
            </a:r>
            <a:endParaRPr lang="en-US" altLang="ja-JP" dirty="0">
              <a:latin typeface="Arial" charset="0"/>
            </a:endParaRPr>
          </a:p>
          <a:p>
            <a:pPr eaLnBrk="1" hangingPunct="1"/>
            <a:r>
              <a:rPr lang="ja-JP" altLang="en-US" dirty="0">
                <a:latin typeface="Arial" charset="0"/>
              </a:rPr>
              <a:t>そのうち最も代表的な信託契約は、</a:t>
            </a:r>
            <a:r>
              <a:rPr lang="en-US" altLang="ja-JP" dirty="0">
                <a:latin typeface="Arial" charset="0"/>
              </a:rPr>
              <a:t>MUTB</a:t>
            </a:r>
            <a:r>
              <a:rPr lang="ja-JP" altLang="en-US" dirty="0">
                <a:latin typeface="Arial" charset="0"/>
              </a:rPr>
              <a:t>、</a:t>
            </a:r>
            <a:r>
              <a:rPr lang="en-US" altLang="ja-JP" dirty="0">
                <a:latin typeface="Arial" charset="0"/>
              </a:rPr>
              <a:t>MTBJ</a:t>
            </a:r>
            <a:r>
              <a:rPr lang="ja-JP" altLang="en-US" dirty="0">
                <a:latin typeface="Arial" charset="0"/>
              </a:rPr>
              <a:t>の両者で共同して受託する形式や、</a:t>
            </a:r>
            <a:r>
              <a:rPr lang="en-US" altLang="ja-JP" dirty="0">
                <a:latin typeface="Arial" charset="0"/>
              </a:rPr>
              <a:t>MUTB</a:t>
            </a:r>
            <a:r>
              <a:rPr lang="ja-JP" altLang="en-US" dirty="0">
                <a:latin typeface="Arial" charset="0"/>
              </a:rPr>
              <a:t>からお客様と締結したあとに</a:t>
            </a:r>
            <a:r>
              <a:rPr lang="en-US" altLang="ja-JP" dirty="0">
                <a:latin typeface="Arial" charset="0"/>
              </a:rPr>
              <a:t>MTBJ</a:t>
            </a:r>
            <a:r>
              <a:rPr lang="ja-JP" altLang="en-US" dirty="0">
                <a:latin typeface="Arial" charset="0"/>
              </a:rPr>
              <a:t>に再信託として受託する形式があります。</a:t>
            </a:r>
            <a:endParaRPr lang="en-US" altLang="ja-JP" dirty="0">
              <a:latin typeface="Arial" charset="0"/>
            </a:endParaRPr>
          </a:p>
          <a:p>
            <a:pPr eaLnBrk="1" hangingPunct="1"/>
            <a:r>
              <a:rPr lang="ja-JP" altLang="en-US" dirty="0">
                <a:latin typeface="Arial" charset="0"/>
              </a:rPr>
              <a:t>また、数は少ないですが、</a:t>
            </a:r>
            <a:r>
              <a:rPr lang="en-US" altLang="ja-JP" dirty="0">
                <a:latin typeface="Arial" charset="0"/>
              </a:rPr>
              <a:t>MUTB</a:t>
            </a:r>
            <a:r>
              <a:rPr lang="ja-JP" altLang="en-US" dirty="0">
                <a:latin typeface="Arial" charset="0"/>
              </a:rPr>
              <a:t>を通さずにお客様と</a:t>
            </a:r>
            <a:r>
              <a:rPr lang="en-US" altLang="ja-JP" dirty="0">
                <a:latin typeface="Arial" charset="0"/>
              </a:rPr>
              <a:t>MTBJ</a:t>
            </a:r>
            <a:r>
              <a:rPr lang="ja-JP" altLang="en-US" dirty="0">
                <a:latin typeface="Arial" charset="0"/>
              </a:rPr>
              <a:t>で直接信託契約を締結する単独受託という形式もあります。</a:t>
            </a:r>
            <a:endParaRPr lang="en-US" altLang="ja-JP" dirty="0">
              <a:latin typeface="Arial" charset="0"/>
            </a:endParaRPr>
          </a:p>
          <a:p>
            <a:pPr eaLnBrk="1" hangingPunct="1"/>
            <a:r>
              <a:rPr lang="ja-JP" altLang="en-US" dirty="0">
                <a:latin typeface="Arial" charset="0"/>
              </a:rPr>
              <a:t>こういった形の中で、三菱</a:t>
            </a:r>
            <a:r>
              <a:rPr lang="en-US" altLang="ja-JP" dirty="0">
                <a:latin typeface="Arial" charset="0"/>
              </a:rPr>
              <a:t>UFJ</a:t>
            </a:r>
            <a:r>
              <a:rPr lang="ja-JP" altLang="en-US" dirty="0">
                <a:latin typeface="Arial" charset="0"/>
              </a:rPr>
              <a:t>信託銀行、</a:t>
            </a:r>
            <a:r>
              <a:rPr lang="en-US" altLang="ja-JP" dirty="0">
                <a:latin typeface="Arial" charset="0"/>
              </a:rPr>
              <a:t>MUTB</a:t>
            </a:r>
            <a:r>
              <a:rPr lang="ja-JP" altLang="en-US" dirty="0">
                <a:latin typeface="Arial" charset="0"/>
              </a:rPr>
              <a:t>と当社</a:t>
            </a:r>
            <a:r>
              <a:rPr lang="en-US" altLang="ja-JP" dirty="0">
                <a:latin typeface="Arial" charset="0"/>
              </a:rPr>
              <a:t>MTBJ</a:t>
            </a:r>
            <a:r>
              <a:rPr lang="ja-JP" altLang="en-US" dirty="0">
                <a:latin typeface="Arial" charset="0"/>
              </a:rPr>
              <a:t>は、両者で職務を分担しながら、お客様にサービスを提供することになります。</a:t>
            </a:r>
            <a:endParaRPr lang="en-US" altLang="ja-JP" dirty="0">
              <a:latin typeface="Arial" charset="0"/>
            </a:endParaRPr>
          </a:p>
          <a:p>
            <a:pPr eaLnBrk="1" hangingPunct="1"/>
            <a:r>
              <a:rPr lang="ja-JP" altLang="en-US" dirty="0">
                <a:latin typeface="Arial" charset="0"/>
              </a:rPr>
              <a:t>なお、当社が行う資産管理以外にも、お客様の種類によって、</a:t>
            </a:r>
            <a:r>
              <a:rPr lang="en-US" altLang="ja-JP" dirty="0">
                <a:latin typeface="Arial" charset="0"/>
              </a:rPr>
              <a:t>MUTB</a:t>
            </a:r>
            <a:r>
              <a:rPr lang="ja-JP" altLang="en-US" dirty="0">
                <a:latin typeface="Arial" charset="0"/>
              </a:rPr>
              <a:t>で行う資産の運用や、年金制度の管理があり、それらは</a:t>
            </a:r>
            <a:r>
              <a:rPr lang="en-US" altLang="ja-JP" dirty="0">
                <a:latin typeface="Arial" charset="0"/>
              </a:rPr>
              <a:t>MUTB</a:t>
            </a:r>
            <a:r>
              <a:rPr lang="ja-JP" altLang="en-US" dirty="0">
                <a:latin typeface="Arial" charset="0"/>
              </a:rPr>
              <a:t>で行っています。</a:t>
            </a:r>
            <a:endParaRPr lang="en-US" altLang="ja-JP" dirty="0">
              <a:latin typeface="Arial" charset="0"/>
            </a:endParaRPr>
          </a:p>
          <a:p>
            <a:pPr eaLnBrk="1" hangingPunct="1"/>
            <a:r>
              <a:rPr lang="ja-JP" altLang="en-US" dirty="0">
                <a:latin typeface="Arial" charset="0"/>
              </a:rPr>
              <a:t>また資産管理業務についても、受託財産事業としての全体的な企画、お客様への営業は</a:t>
            </a:r>
            <a:r>
              <a:rPr lang="en-US" altLang="ja-JP" dirty="0">
                <a:latin typeface="Arial" charset="0"/>
              </a:rPr>
              <a:t>MUTB</a:t>
            </a:r>
            <a:r>
              <a:rPr lang="ja-JP" altLang="en-US" dirty="0">
                <a:latin typeface="Arial" charset="0"/>
              </a:rPr>
              <a:t>で、実際の資産管理事務やそれに関する企画等は</a:t>
            </a:r>
            <a:r>
              <a:rPr lang="en-US" altLang="ja-JP" dirty="0">
                <a:latin typeface="Arial" charset="0"/>
              </a:rPr>
              <a:t>MTBJ</a:t>
            </a:r>
            <a:r>
              <a:rPr lang="ja-JP" altLang="en-US" dirty="0">
                <a:latin typeface="Arial" charset="0"/>
              </a:rPr>
              <a:t>で行っています。</a:t>
            </a:r>
            <a:endParaRPr lang="en-US" altLang="ja-JP" dirty="0">
              <a:latin typeface="Arial" charset="0"/>
            </a:endParaRPr>
          </a:p>
          <a:p>
            <a:pPr eaLnBrk="1" hangingPunct="1"/>
            <a:r>
              <a:rPr lang="ja-JP" altLang="en-US" dirty="0">
                <a:latin typeface="Arial" charset="0"/>
              </a:rPr>
              <a:t>これより、資産管理の業務について、見ていきたいと思います。</a:t>
            </a:r>
            <a:endParaRPr lang="en-US" altLang="ja-JP" dirty="0">
              <a:latin typeface="Arial"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2</a:t>
            </a:fld>
            <a:endParaRPr lang="ja-JP" altLang="en-US" dirty="0"/>
          </a:p>
        </p:txBody>
      </p:sp>
    </p:spTree>
    <p:extLst>
      <p:ext uri="{BB962C8B-B14F-4D97-AF65-F5344CB8AC3E}">
        <p14:creationId xmlns:p14="http://schemas.microsoft.com/office/powerpoint/2010/main" val="1528444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eaLnBrk="1" hangingPunct="1"/>
            <a:r>
              <a:rPr lang="en-US" altLang="ja-JP" dirty="0">
                <a:latin typeface="Arial" charset="0"/>
              </a:rPr>
              <a:t>3</a:t>
            </a:r>
            <a:r>
              <a:rPr lang="ja-JP" altLang="en-US" dirty="0">
                <a:latin typeface="Arial" charset="0"/>
              </a:rPr>
              <a:t>分程度</a:t>
            </a:r>
            <a:endParaRPr lang="en-US" altLang="ja-JP" dirty="0">
              <a:latin typeface="Arial" charset="0"/>
            </a:endParaRPr>
          </a:p>
          <a:p>
            <a:pPr eaLnBrk="1" hangingPunct="1"/>
            <a:endParaRPr lang="en-US" altLang="ja-JP" dirty="0">
              <a:latin typeface="Arial" charset="0"/>
            </a:endParaRPr>
          </a:p>
          <a:p>
            <a:r>
              <a:rPr kumimoji="1" lang="ja-JP" altLang="en-US" dirty="0"/>
              <a:t>こちらホームページから抜粋した、当社の組織図です。</a:t>
            </a:r>
            <a:endParaRPr kumimoji="1" lang="en-US" altLang="ja-JP" dirty="0"/>
          </a:p>
          <a:p>
            <a:r>
              <a:rPr kumimoji="1" lang="ja-JP" altLang="en-US" dirty="0"/>
              <a:t>総合企画部から大阪資産管理部まで全部で</a:t>
            </a:r>
            <a:r>
              <a:rPr kumimoji="1" lang="en-US" altLang="ja-JP" dirty="0"/>
              <a:t>15</a:t>
            </a:r>
            <a:r>
              <a:rPr kumimoji="1" lang="ja-JP" altLang="en-US" dirty="0"/>
              <a:t>の部で構成されています。</a:t>
            </a:r>
            <a:endParaRPr kumimoji="1" lang="en-US" altLang="ja-JP" dirty="0"/>
          </a:p>
          <a:p>
            <a:r>
              <a:rPr kumimoji="1" lang="ja-JP" altLang="en-US" dirty="0"/>
              <a:t>そのうち、資産管理業務を担う部署は業務企画推進部から大阪資産管理部までの赤枠の</a:t>
            </a:r>
            <a:r>
              <a:rPr kumimoji="1" lang="en-US" altLang="ja-JP" dirty="0"/>
              <a:t>11</a:t>
            </a:r>
            <a:r>
              <a:rPr kumimoji="1" lang="ja-JP" altLang="en-US" dirty="0"/>
              <a:t>部になっています。</a:t>
            </a:r>
            <a:endParaRPr kumimoji="1" lang="en-US" altLang="ja-JP" dirty="0"/>
          </a:p>
          <a:p>
            <a:endParaRPr kumimoji="1" lang="en-US" altLang="ja-JP" dirty="0"/>
          </a:p>
          <a:p>
            <a:r>
              <a:rPr kumimoji="1" lang="ja-JP" altLang="en-US" dirty="0"/>
              <a:t>また、点線の部が、資産管理の実際の事務を担っている部署になっており、社員の約</a:t>
            </a:r>
            <a:r>
              <a:rPr kumimoji="1" lang="en-US" altLang="ja-JP" dirty="0"/>
              <a:t>8</a:t>
            </a:r>
            <a:r>
              <a:rPr kumimoji="1" lang="ja-JP" altLang="en-US" dirty="0"/>
              <a:t>割以上を占めています。</a:t>
            </a:r>
            <a:endParaRPr kumimoji="1" lang="en-US" altLang="ja-JP" dirty="0"/>
          </a:p>
          <a:p>
            <a:r>
              <a:rPr kumimoji="1" lang="ja-JP" altLang="en-US" dirty="0"/>
              <a:t>こちらをよく</a:t>
            </a:r>
            <a:r>
              <a:rPr kumimoji="1" lang="en-US" altLang="ja-JP" dirty="0"/>
              <a:t>MTBJ</a:t>
            </a:r>
            <a:r>
              <a:rPr kumimoji="1" lang="ja-JP" altLang="en-US" dirty="0"/>
              <a:t>の中では実際に業務を行っている部署ということで現業部とよんでいます。おそらく皆さんの多くがこの青枠の現業部にまずは配属されることになると思います。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3</a:t>
            </a:fld>
            <a:endParaRPr lang="ja-JP" altLang="en-US" dirty="0"/>
          </a:p>
        </p:txBody>
      </p:sp>
    </p:spTree>
    <p:extLst>
      <p:ext uri="{BB962C8B-B14F-4D97-AF65-F5344CB8AC3E}">
        <p14:creationId xmlns:p14="http://schemas.microsoft.com/office/powerpoint/2010/main" val="4049759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14342">
              <a:defRPr/>
            </a:pPr>
            <a:r>
              <a:rPr lang="ja-JP" altLang="en-US" dirty="0"/>
              <a:t>サービス体制はこのようになっています。先ほどとは少し違った切り口になっていますが、お客様目線で表現するとこうなります。</a:t>
            </a:r>
            <a:endParaRPr lang="en-US" altLang="ja-JP" dirty="0"/>
          </a:p>
          <a:p>
            <a:pPr defTabSz="914342">
              <a:defRPr/>
            </a:pPr>
            <a:endParaRPr lang="en-US" altLang="ja-JP" dirty="0"/>
          </a:p>
          <a:p>
            <a:pPr defTabSz="914342">
              <a:defRPr/>
            </a:pPr>
            <a:r>
              <a:rPr lang="ja-JP" altLang="en-US" dirty="0"/>
              <a:t>先ほど申し上げた、投信、非投信、事務代行という軸。</a:t>
            </a:r>
            <a:endParaRPr lang="en-US" altLang="ja-JP" dirty="0"/>
          </a:p>
          <a:p>
            <a:pPr defTabSz="914342">
              <a:defRPr/>
            </a:pPr>
            <a:r>
              <a:rPr lang="ja-JP" altLang="en-US" dirty="0"/>
              <a:t>この後にご説明します、ファンド系、商品系という軸があります。</a:t>
            </a:r>
            <a:endParaRPr lang="en-US" altLang="ja-JP" dirty="0"/>
          </a:p>
          <a:p>
            <a:pPr defTabSz="914342">
              <a:defRPr/>
            </a:pPr>
            <a:endParaRPr lang="en-US" altLang="ja-JP" dirty="0"/>
          </a:p>
          <a:p>
            <a:pPr defTabSz="914342">
              <a:defRPr/>
            </a:pPr>
            <a:r>
              <a:rPr lang="ja-JP" altLang="en-US" dirty="0"/>
              <a:t>なお、市場決済領域については、顧客の事務代行の一種にあたりますが、</a:t>
            </a:r>
            <a:r>
              <a:rPr lang="en-US" altLang="ja-JP" dirty="0"/>
              <a:t>MUTB</a:t>
            </a:r>
            <a:r>
              <a:rPr lang="ja-JP" altLang="en-US" dirty="0"/>
              <a:t>の市場業務（銀行業務等）にあたります。</a:t>
            </a:r>
            <a:endParaRPr lang="en-US" altLang="ja-JP" dirty="0"/>
          </a:p>
          <a:p>
            <a:pPr defTabSz="914342">
              <a:defRPr/>
            </a:pPr>
            <a:r>
              <a:rPr lang="ja-JP" altLang="en-US" dirty="0"/>
              <a:t>（市場管理部、デリバティブ管理部、国内資産管理部に機能分散）</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4</a:t>
            </a:fld>
            <a:endParaRPr lang="ja-JP" altLang="en-US" dirty="0"/>
          </a:p>
        </p:txBody>
      </p:sp>
    </p:spTree>
    <p:extLst>
      <p:ext uri="{BB962C8B-B14F-4D97-AF65-F5344CB8AC3E}">
        <p14:creationId xmlns:p14="http://schemas.microsoft.com/office/powerpoint/2010/main" val="1137275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12</a:t>
            </a:r>
            <a:r>
              <a:rPr lang="ja-JP" altLang="en-US" dirty="0"/>
              <a:t>：</a:t>
            </a:r>
            <a:r>
              <a:rPr lang="en-US" altLang="ja-JP" dirty="0"/>
              <a:t>47</a:t>
            </a:r>
            <a:r>
              <a:rPr lang="ja-JP" altLang="en-US" dirty="0"/>
              <a:t>～</a:t>
            </a:r>
            <a:r>
              <a:rPr lang="en-US" altLang="ja-JP" dirty="0"/>
              <a:t>12</a:t>
            </a:r>
            <a:r>
              <a:rPr lang="ja-JP" altLang="en-US" dirty="0"/>
              <a:t>：</a:t>
            </a:r>
            <a:r>
              <a:rPr lang="en-US" altLang="ja-JP" dirty="0"/>
              <a:t>49</a:t>
            </a:r>
          </a:p>
          <a:p>
            <a:r>
              <a:rPr lang="en-US" altLang="ja-JP" dirty="0"/>
              <a:t>11</a:t>
            </a:r>
            <a:r>
              <a:rPr lang="ja-JP" altLang="en-US" dirty="0"/>
              <a:t>：</a:t>
            </a:r>
            <a:r>
              <a:rPr lang="en-US" altLang="ja-JP" dirty="0"/>
              <a:t>24</a:t>
            </a:r>
            <a:r>
              <a:rPr lang="ja-JP" altLang="en-US" dirty="0"/>
              <a:t>～</a:t>
            </a:r>
            <a:r>
              <a:rPr lang="en-US" altLang="ja-JP" dirty="0"/>
              <a:t>11</a:t>
            </a:r>
            <a:r>
              <a:rPr lang="ja-JP" altLang="en-US" dirty="0"/>
              <a:t>：</a:t>
            </a:r>
            <a:r>
              <a:rPr lang="en-US" altLang="ja-JP" dirty="0"/>
              <a:t>27</a:t>
            </a:r>
          </a:p>
          <a:p>
            <a:r>
              <a:rPr lang="ja-JP" altLang="en-US" dirty="0"/>
              <a:t>今まで長々と説明しましたが、最後に改めて、各部のつながりについてお話したいと思います。</a:t>
            </a:r>
            <a:endParaRPr lang="en-US" altLang="ja-JP" dirty="0"/>
          </a:p>
          <a:p>
            <a:endParaRPr lang="en-US" altLang="ja-JP" dirty="0"/>
          </a:p>
          <a:p>
            <a:r>
              <a:rPr lang="ja-JP" altLang="en-US" dirty="0"/>
              <a:t>横軸は、本日メインでお話した、信託商品の種類として、非投信、投信を記載しています。</a:t>
            </a:r>
            <a:endParaRPr lang="en-US" altLang="ja-JP" dirty="0"/>
          </a:p>
          <a:p>
            <a:r>
              <a:rPr lang="ja-JP" altLang="en-US" dirty="0"/>
              <a:t>証券信託・年金信託非投信と呼ばれている領域で、投資信託が投信の領域になっています。</a:t>
            </a:r>
            <a:endParaRPr lang="en-US" altLang="ja-JP" dirty="0"/>
          </a:p>
          <a:p>
            <a:r>
              <a:rPr lang="ja-JP" altLang="en-US" dirty="0"/>
              <a:t>縦軸は主な業務をメインに記載しています。</a:t>
            </a:r>
            <a:endParaRPr lang="en-US" altLang="ja-JP" dirty="0"/>
          </a:p>
          <a:p>
            <a:endParaRPr lang="en-US" altLang="ja-JP" dirty="0"/>
          </a:p>
          <a:p>
            <a:r>
              <a:rPr lang="ja-JP" altLang="en-US" dirty="0"/>
              <a:t>（上から～）</a:t>
            </a:r>
            <a:endParaRPr lang="en-US" altLang="ja-JP" dirty="0"/>
          </a:p>
          <a:p>
            <a:endParaRPr lang="en-US" altLang="ja-JP" dirty="0"/>
          </a:p>
          <a:p>
            <a:r>
              <a:rPr lang="ja-JP" altLang="en-US" dirty="0"/>
              <a:t>まずスタートとなる、お客様の契約管理、信託金受入のところは</a:t>
            </a:r>
            <a:endParaRPr lang="en-US" altLang="ja-JP" dirty="0"/>
          </a:p>
          <a:p>
            <a:r>
              <a:rPr lang="ja-JP" altLang="en-US" dirty="0"/>
              <a:t>●非投信ではファンド管理部、投信では投資信託部投信ファンド管領域</a:t>
            </a:r>
            <a:r>
              <a:rPr lang="en-US" altLang="ja-JP" dirty="0"/>
              <a:t>G</a:t>
            </a:r>
            <a:r>
              <a:rPr lang="ja-JP" altLang="en-US" dirty="0"/>
              <a:t>ということでお話をさせていただきました。</a:t>
            </a:r>
            <a:endParaRPr lang="en-US" altLang="ja-JP" dirty="0"/>
          </a:p>
          <a:p>
            <a:r>
              <a:rPr lang="ja-JP" altLang="en-US" dirty="0"/>
              <a:t>●運用者が証券会社と株や債券を約定して、運用の指図を</a:t>
            </a:r>
            <a:r>
              <a:rPr lang="en-US" altLang="ja-JP" dirty="0"/>
              <a:t>MTBJ</a:t>
            </a:r>
            <a:r>
              <a:rPr lang="ja-JP" altLang="en-US" dirty="0"/>
              <a:t>に送付してきますので、約定、決済が必要です。</a:t>
            </a:r>
            <a:endParaRPr lang="en-US" altLang="ja-JP" dirty="0"/>
          </a:p>
          <a:p>
            <a:r>
              <a:rPr lang="ja-JP" altLang="en-US" dirty="0"/>
              <a:t>また、持っている株や債券の配当金や利息等の権利処理が必要です。</a:t>
            </a:r>
            <a:endParaRPr lang="en-US" altLang="ja-JP" dirty="0"/>
          </a:p>
          <a:p>
            <a:r>
              <a:rPr lang="ja-JP" altLang="en-US" dirty="0"/>
              <a:t>これは、非投信であれば、国内証券は国内資産管理部、外国証券であれば外国資産管理部、市場管理部、デリバティブであればデリバティブ管理部で分担して業務を行っています。</a:t>
            </a:r>
            <a:endParaRPr lang="en-US" altLang="ja-JP" dirty="0"/>
          </a:p>
          <a:p>
            <a:r>
              <a:rPr lang="ja-JP" altLang="en-US" dirty="0"/>
              <a:t>投信であれば、投信商品管理領域メインで行っており、一部業務については非投信とあわせて国内資産管理部や外国資産管理部、市場管理部、デリバティブ管理部で行っています。</a:t>
            </a:r>
            <a:endParaRPr lang="en-US" altLang="ja-JP" dirty="0"/>
          </a:p>
          <a:p>
            <a:endParaRPr lang="en-US" altLang="ja-JP" dirty="0"/>
          </a:p>
          <a:p>
            <a:r>
              <a:rPr lang="ja-JP" altLang="en-US" dirty="0"/>
              <a:t>●非投信としてお客様への運用報告を行っているのはファンド管理部で、投信として基準価額算出を行いお客様と照合を行っているのは投資信託部投信ファンド管理領域で行っています。</a:t>
            </a:r>
            <a:endParaRPr lang="en-US" altLang="ja-JP" dirty="0"/>
          </a:p>
          <a:p>
            <a:endParaRPr lang="en-US" altLang="ja-JP" dirty="0"/>
          </a:p>
          <a:p>
            <a:r>
              <a:rPr lang="ja-JP" altLang="en-US" dirty="0"/>
              <a:t>●また派生的な話（ただし昨今重要度を増している）として、余った債券、株式等の貸借取引等については、証券取引執行部が行っています。</a:t>
            </a:r>
            <a:endParaRPr lang="en-US" altLang="ja-JP" dirty="0"/>
          </a:p>
          <a:p>
            <a:endParaRPr lang="en-US" altLang="ja-JP" dirty="0"/>
          </a:p>
          <a:p>
            <a:r>
              <a:rPr lang="ja-JP" altLang="en-US" dirty="0"/>
              <a:t>●危機管理体制（ただし昨今はデュアル体制志向）として、大阪オフィスで業務を行っているのは大阪資産管理部です。</a:t>
            </a:r>
            <a:endParaRPr lang="en-US" altLang="ja-JP" dirty="0"/>
          </a:p>
          <a:p>
            <a:endParaRPr lang="en-US" altLang="ja-JP" dirty="0"/>
          </a:p>
          <a:p>
            <a:r>
              <a:rPr lang="ja-JP" altLang="en-US" dirty="0"/>
              <a:t>●顧客である運用会社としての事務を代行しているのは運用管理部、市場決済領域になります。（昨今広がりを見せている）</a:t>
            </a:r>
            <a:endParaRPr lang="en-US" altLang="ja-JP" dirty="0"/>
          </a:p>
          <a:p>
            <a:endParaRPr lang="en-US" altLang="ja-JP" dirty="0"/>
          </a:p>
          <a:p>
            <a:r>
              <a:rPr lang="ja-JP" altLang="en-US" dirty="0"/>
              <a:t>ここまでが実際に実務を行う部署となっています。</a:t>
            </a:r>
            <a:endParaRPr lang="en-US" altLang="ja-JP" dirty="0"/>
          </a:p>
          <a:p>
            <a:endParaRPr lang="en-US" altLang="ja-JP" dirty="0"/>
          </a:p>
          <a:p>
            <a:r>
              <a:rPr lang="ja-JP" altLang="en-US" dirty="0"/>
              <a:t>●顧客の窓口については、クライアントサービスの領域が担っています。</a:t>
            </a:r>
            <a:endParaRPr lang="en-US" altLang="ja-JP" dirty="0"/>
          </a:p>
          <a:p>
            <a:endParaRPr lang="en-US" altLang="ja-JP" dirty="0"/>
          </a:p>
          <a:p>
            <a:r>
              <a:rPr lang="ja-JP" altLang="en-US" dirty="0"/>
              <a:t>●最後に、資産管理業務の統括として業務企画推進部が全体を担っているというところになります。</a:t>
            </a:r>
            <a:endParaRPr lang="en-US" altLang="ja-JP" dirty="0"/>
          </a:p>
          <a:p>
            <a:endParaRPr lang="en-US" altLang="ja-JP" dirty="0"/>
          </a:p>
          <a:p>
            <a:r>
              <a:rPr lang="ja-JP" altLang="en-US" dirty="0"/>
              <a:t>以上でおわりになりますが、何か質問はありますでしょうか？</a:t>
            </a:r>
            <a:endParaRPr lang="en-US" altLang="ja-JP" dirty="0"/>
          </a:p>
          <a:p>
            <a:endParaRPr lang="en-US" altLang="ja-JP" dirty="0"/>
          </a:p>
          <a:p>
            <a:r>
              <a:rPr lang="ja-JP" altLang="en-US" dirty="0"/>
              <a:t>このあとも信託商品や各部の説明があると思いますので、こちらの講義を思い出しながら、理解の助けになってもらえればと思います。</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5</a:t>
            </a:fld>
            <a:endParaRPr lang="ja-JP" altLang="en-US" dirty="0"/>
          </a:p>
        </p:txBody>
      </p:sp>
    </p:spTree>
    <p:extLst>
      <p:ext uri="{BB962C8B-B14F-4D97-AF65-F5344CB8AC3E}">
        <p14:creationId xmlns:p14="http://schemas.microsoft.com/office/powerpoint/2010/main" val="2248371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lang="ja-JP" altLang="en-US" dirty="0"/>
              <a:t>ここからがメインになります。</a:t>
            </a:r>
            <a:endParaRPr lang="en-US" altLang="ja-JP" dirty="0"/>
          </a:p>
          <a:p>
            <a:pPr>
              <a:defRPr/>
            </a:pPr>
            <a:endParaRPr lang="en-US" altLang="ja-JP" dirty="0"/>
          </a:p>
          <a:p>
            <a:r>
              <a:rPr lang="ja-JP" altLang="en-US" dirty="0"/>
              <a:t>ここからは、今まで見てきた業務の流れをもとに、各商品ごとにどの業務をどの部署が行っているのか説明します。</a:t>
            </a:r>
            <a:endParaRPr lang="en-US" altLang="ja-JP" dirty="0"/>
          </a:p>
          <a:p>
            <a:r>
              <a:rPr lang="ja-JP" altLang="en-US" dirty="0"/>
              <a:t>まず、これまで見てきた、非投信という商品を例に、各業務と各部のつながりについて説明します。</a:t>
            </a:r>
            <a:endParaRPr lang="en-US" altLang="ja-JP" dirty="0"/>
          </a:p>
          <a:p>
            <a:endParaRPr lang="en-US" altLang="ja-JP" dirty="0"/>
          </a:p>
          <a:p>
            <a:r>
              <a:rPr lang="ja-JP" altLang="en-US" dirty="0"/>
              <a:t>●まずお客様に営業しているのは、</a:t>
            </a:r>
            <a:r>
              <a:rPr lang="en-US" altLang="ja-JP" dirty="0"/>
              <a:t>MUTB</a:t>
            </a:r>
            <a:r>
              <a:rPr lang="ja-JP" altLang="en-US" dirty="0"/>
              <a:t>の営業店になり、先ほど説明したとおりです。</a:t>
            </a:r>
            <a:endParaRPr lang="en-US" altLang="ja-JP" dirty="0"/>
          </a:p>
          <a:p>
            <a:r>
              <a:rPr lang="en-US" altLang="ja-JP" dirty="0"/>
              <a:t>MTBJ</a:t>
            </a:r>
            <a:r>
              <a:rPr lang="ja-JP" altLang="en-US" dirty="0"/>
              <a:t>としては、まず契約管理、信託金受入があります。先ほど説明した信託契約の管理、ファンドの管理と、元手になるお金の受入れをします。</a:t>
            </a:r>
            <a:endParaRPr lang="en-US" altLang="ja-JP" dirty="0"/>
          </a:p>
          <a:p>
            <a:r>
              <a:rPr lang="ja-JP" altLang="en-US" dirty="0"/>
              <a:t>これは　当社では「ファンド管理部」が行っています。</a:t>
            </a:r>
            <a:endParaRPr lang="en-US" altLang="ja-JP" dirty="0"/>
          </a:p>
          <a:p>
            <a:endParaRPr lang="en-US" altLang="ja-JP" dirty="0"/>
          </a:p>
          <a:p>
            <a:r>
              <a:rPr lang="ja-JP" altLang="en-US" dirty="0"/>
              <a:t>ファンド管理部は、その業務内容は、証券信託、企業年金等の契約管理等となっています。</a:t>
            </a:r>
            <a:endParaRPr lang="en-US" altLang="ja-JP" dirty="0"/>
          </a:p>
          <a:p>
            <a:r>
              <a:rPr lang="ja-JP" altLang="en-US" dirty="0"/>
              <a:t>契約管理は先ほどお話した、お客様の名称や住所、税金の属性等といったお客様の契約管理を行っていますし、またその下のファンド管理</a:t>
            </a:r>
            <a:r>
              <a:rPr lang="en-US" altLang="ja-JP" dirty="0"/>
              <a:t>G</a:t>
            </a:r>
            <a:r>
              <a:rPr lang="ja-JP" altLang="en-US" dirty="0"/>
              <a:t>というグループの業務分掌を見ると、契約管理に加えて、元本管理とも記載があります。これが、信託金の受入等のことであり、元手になるお金のことを元本と呼んでいますので、その管理のことです。</a:t>
            </a:r>
            <a:endParaRPr lang="en-US" altLang="ja-JP" dirty="0"/>
          </a:p>
          <a:p>
            <a:endParaRPr lang="en-US" altLang="ja-JP" dirty="0"/>
          </a:p>
          <a:p>
            <a:r>
              <a:rPr lang="ja-JP" altLang="en-US" dirty="0"/>
              <a:t>次に、スライドに戻って、スライド左下の運用者を見てください。</a:t>
            </a:r>
            <a:endParaRPr lang="en-US" altLang="ja-JP" dirty="0"/>
          </a:p>
          <a:p>
            <a:r>
              <a:rPr lang="ja-JP" altLang="en-US" dirty="0"/>
              <a:t>●運用会社が証券会社に対して売買の発注を行います。また、その運用の結果を</a:t>
            </a:r>
            <a:r>
              <a:rPr lang="en-US" altLang="ja-JP" dirty="0"/>
              <a:t>MTBJ</a:t>
            </a:r>
            <a:r>
              <a:rPr lang="ja-JP" altLang="en-US" dirty="0"/>
              <a:t>が受け取ります。また、株や債券を持っていると受取れる配当金や利息等の権利処理については、ここに記載されている</a:t>
            </a:r>
            <a:r>
              <a:rPr lang="en-US" altLang="ja-JP" dirty="0"/>
              <a:t>3</a:t>
            </a:r>
            <a:r>
              <a:rPr lang="ja-JP" altLang="en-US" dirty="0"/>
              <a:t>つの部署「国内資産管理部」「外国資産管理部」「市場管理部」「デリバティブ管理部」が担っています。当然、国内の証券については「国内資産管理部」、外国の有価証券は　⇒「外国資産管理部」「市場管理部」が行っています。</a:t>
            </a:r>
            <a:endParaRPr lang="en-US" altLang="ja-JP" dirty="0"/>
          </a:p>
          <a:p>
            <a:pPr defTabSz="914342">
              <a:defRPr/>
            </a:pPr>
            <a:endParaRPr lang="en-US" altLang="ja-JP" dirty="0"/>
          </a:p>
          <a:p>
            <a:pPr defTabSz="914342">
              <a:defRPr/>
            </a:pPr>
            <a:r>
              <a:rPr lang="ja-JP" altLang="en-US" dirty="0"/>
              <a:t>また、国内資産管理部は、国内証券等に係る銘柄情報および権利管理と書かれています。これは、銘柄として、国債といった情報を管理したりすることで、国債でも何年債のいつ発行したものかとか、利息があるのかないのか、年何回あるかとか、満期はいつかといった情報を管理しています。権利管理は先ほどまで流れで話していた、配当、利息等の管理のことで、配当、利息の予定額管理や受取る処理のことを言っています。</a:t>
            </a:r>
            <a:endParaRPr lang="en-US" altLang="ja-JP" dirty="0"/>
          </a:p>
          <a:p>
            <a:pPr defTabSz="914342">
              <a:defRPr/>
            </a:pPr>
            <a:r>
              <a:rPr lang="ja-JP" altLang="en-US" dirty="0"/>
              <a:t>また、次に記載している国内証券等の決済および取引管理とは、今までの流れで見てきた、いつ誰から株や債券をいくらで買うといった情報を運用者から受領して、システムに登録し実際に決済として受渡しを行うことを言っています。</a:t>
            </a:r>
            <a:endParaRPr lang="en-US" altLang="ja-JP" dirty="0"/>
          </a:p>
          <a:p>
            <a:pPr defTabSz="914342">
              <a:defRPr/>
            </a:pPr>
            <a:r>
              <a:rPr lang="ja-JP" altLang="en-US" dirty="0"/>
              <a:t>そのほか、有価証券との出納及び保管では、実際の有価証券の保管することを言っていたりします。ただ実際には証書や株券といった本物のモノがあるのはまれでシステム的に管理するのがほとんどです。</a:t>
            </a:r>
            <a:endParaRPr lang="en-US" altLang="ja-JP" dirty="0"/>
          </a:p>
          <a:p>
            <a:pPr defTabSz="914342">
              <a:defRPr/>
            </a:pPr>
            <a:endParaRPr lang="en-US" altLang="ja-JP" dirty="0"/>
          </a:p>
          <a:p>
            <a:pPr defTabSz="914342">
              <a:defRPr/>
            </a:pPr>
            <a:r>
              <a:rPr lang="ja-JP" altLang="en-US" dirty="0"/>
              <a:t>続いて、国資産管理部を見てください。こちらに関しては外国証券に関わる銘柄情報の管理、権利管理、外国証券の決済および取引管理とあり、先ほど国内証券としてお話した内容の業務を行っています。</a:t>
            </a:r>
            <a:endParaRPr lang="en-US" altLang="ja-JP" dirty="0"/>
          </a:p>
          <a:p>
            <a:pPr defTabSz="914342">
              <a:defRPr/>
            </a:pPr>
            <a:r>
              <a:rPr lang="ja-JP" altLang="en-US" dirty="0"/>
              <a:t>また外国証券については、外国資産管理部だけでなく、１１番の市場管理部でも業務を行っています。業務としては資料に記載がある、外国証券の取引口座管理やその下の派生事務、税務申告等があります。取引口座管理とは先ほどまでお話した、カストディアンと呼ばれる海外の委託先にある口座の管理のことです。また、税務申告とは、外国に投資する際にはそれぞれの国の税務情報を管理し、場合によって税金の還付申告等が発生しますので、その管理をしています。</a:t>
            </a:r>
            <a:endParaRPr lang="en-US" altLang="ja-JP" dirty="0"/>
          </a:p>
          <a:p>
            <a:pPr defTabSz="914342">
              <a:defRPr/>
            </a:pPr>
            <a:r>
              <a:rPr lang="ja-JP" altLang="en-US" dirty="0"/>
              <a:t>このように、外国証券は、投資国が多く、管理が複雑なため、この</a:t>
            </a:r>
            <a:r>
              <a:rPr lang="en-US" altLang="ja-JP" dirty="0"/>
              <a:t>2</a:t>
            </a:r>
            <a:r>
              <a:rPr lang="ja-JP" altLang="en-US" dirty="0"/>
              <a:t>部署で役割を分担して業務を行っています。</a:t>
            </a:r>
            <a:endParaRPr lang="en-US" altLang="ja-JP" dirty="0"/>
          </a:p>
          <a:p>
            <a:r>
              <a:rPr lang="ja-JP" altLang="en-US" dirty="0"/>
              <a:t>スライドにもどります。</a:t>
            </a:r>
            <a:endParaRPr lang="en-US" altLang="ja-JP" dirty="0"/>
          </a:p>
          <a:p>
            <a:endParaRPr lang="en-US" altLang="ja-JP" dirty="0"/>
          </a:p>
          <a:p>
            <a:pPr defTabSz="914342">
              <a:defRPr/>
            </a:pPr>
            <a:r>
              <a:rPr lang="ja-JP" altLang="en-US" dirty="0"/>
              <a:t>最後に、運用情報をお客様へ情報開示するのは、最初にお話した契約管理、信託金受入と同様に　「ファンド管理部」で行っており、信託契約の入り口と出口を担っています。</a:t>
            </a:r>
            <a:endParaRPr lang="en-US" altLang="ja-JP" dirty="0"/>
          </a:p>
          <a:p>
            <a:pPr defTabSz="914342">
              <a:defRPr/>
            </a:pPr>
            <a:r>
              <a:rPr lang="en-US" altLang="ja-JP" dirty="0"/>
              <a:t>MTBJ</a:t>
            </a:r>
            <a:r>
              <a:rPr lang="ja-JP" altLang="en-US" dirty="0"/>
              <a:t>社内用語になりますが、よく聞く言葉として、このファンド管理部の位置づけをファンド系部署と呼んでいます。これは信託契約というファンドの器を管理していることからそのように呼んでいます。一方で、真ん中にある部分を商品系部署と呼んでいます。これはファンドの中にある国内証券や外国証券等の実際の投資商品を管理しているのでそのように呼んでいます。</a:t>
            </a:r>
            <a:endParaRPr lang="en-US" altLang="ja-JP" dirty="0"/>
          </a:p>
          <a:p>
            <a:pPr defTabSz="914342">
              <a:defRPr/>
            </a:pPr>
            <a:r>
              <a:rPr lang="ja-JP" altLang="en-US" dirty="0"/>
              <a:t>よく聞く言葉なので、覚えておくといいと思います。後ほどスライドでも改めてご紹介します。</a:t>
            </a:r>
            <a:endParaRPr lang="en-US" altLang="ja-JP" dirty="0"/>
          </a:p>
          <a:p>
            <a:pPr defTabSz="914342">
              <a:defRPr/>
            </a:pPr>
            <a:endParaRPr lang="en-US" altLang="ja-JP" dirty="0"/>
          </a:p>
          <a:p>
            <a:pPr defTabSz="914342">
              <a:defRPr/>
            </a:pPr>
            <a:r>
              <a:rPr lang="ja-JP" altLang="en-US" dirty="0"/>
              <a:t>また、スライドの左下を見てください。</a:t>
            </a:r>
            <a:endParaRPr lang="en-US" altLang="ja-JP" dirty="0"/>
          </a:p>
          <a:p>
            <a:pPr defTabSz="914342">
              <a:defRPr/>
            </a:pPr>
            <a:r>
              <a:rPr lang="ja-JP" altLang="en-US" dirty="0"/>
              <a:t>運用者の事務代行を行っている運用管理部があります。</a:t>
            </a:r>
            <a:endParaRPr lang="en-US" altLang="ja-JP" dirty="0"/>
          </a:p>
          <a:p>
            <a:pPr defTabSz="914342">
              <a:defRPr/>
            </a:pPr>
            <a:r>
              <a:rPr lang="ja-JP" altLang="en-US" dirty="0"/>
              <a:t>こちらでは、信託銀行の立場ではなく、投資顧問や</a:t>
            </a:r>
            <a:r>
              <a:rPr lang="en-US" altLang="ja-JP" dirty="0"/>
              <a:t>MUTB</a:t>
            </a:r>
            <a:r>
              <a:rPr lang="ja-JP" altLang="en-US" dirty="0"/>
              <a:t>運用部門で行う運用者としての事務を運用者の立場として代行しています。運用会社の本業は、集めたお金をどこにどうやって投資するのか考え実行するということですが、運用するにも必ず事務が発生します。当社では、運用会社が運用に専念できるよう、運用以外のレポート作成などを顧客に成り代わって行っています。</a:t>
            </a:r>
            <a:endParaRPr lang="en-US" altLang="ja-JP" dirty="0"/>
          </a:p>
          <a:p>
            <a:pPr defTabSz="914342">
              <a:defRPr/>
            </a:pPr>
            <a:r>
              <a:rPr lang="ja-JP" altLang="en-US" dirty="0"/>
              <a:t>管理残高は２１兆円と書かれていますが、このサービスでは、実際に資産を預かっている訳ではありません。所謂アウトソースビジネスであり、お客様の事務を</a:t>
            </a:r>
            <a:r>
              <a:rPr lang="en-US" altLang="ja-JP" dirty="0"/>
              <a:t>MTBJ</a:t>
            </a:r>
            <a:r>
              <a:rPr lang="ja-JP" altLang="en-US" dirty="0"/>
              <a:t>が代わりに行っているものです。従来はただ資産を預かっていましたが、その資産管理で培った高い事務ノウハウを顧客にサービスとして提供しているもので、当社の中でも比較的新しいサービスです。ただ事務といっても、このように顧客ﾆｰｽﾞを踏まえて、高い事務レベルそのものを顧客への付加価値として提供しており、今後も拡大していく領域となります。</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6</a:t>
            </a:fld>
            <a:endParaRPr lang="ja-JP" altLang="en-US" dirty="0"/>
          </a:p>
        </p:txBody>
      </p:sp>
    </p:spTree>
    <p:extLst>
      <p:ext uri="{BB962C8B-B14F-4D97-AF65-F5344CB8AC3E}">
        <p14:creationId xmlns:p14="http://schemas.microsoft.com/office/powerpoint/2010/main" val="1137733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14342">
              <a:defRPr/>
            </a:pPr>
            <a:r>
              <a:rPr lang="en-US" altLang="ja-JP" dirty="0"/>
              <a:t>12</a:t>
            </a:r>
            <a:r>
              <a:rPr lang="ja-JP" altLang="en-US" dirty="0"/>
              <a:t>：</a:t>
            </a:r>
            <a:r>
              <a:rPr lang="en-US" altLang="ja-JP" dirty="0"/>
              <a:t>38</a:t>
            </a:r>
            <a:r>
              <a:rPr lang="ja-JP" altLang="en-US" dirty="0"/>
              <a:t>～</a:t>
            </a:r>
            <a:r>
              <a:rPr lang="en-US" altLang="ja-JP" dirty="0"/>
              <a:t>12</a:t>
            </a:r>
            <a:r>
              <a:rPr lang="ja-JP" altLang="en-US" dirty="0"/>
              <a:t>：</a:t>
            </a:r>
            <a:r>
              <a:rPr lang="en-US" altLang="ja-JP" dirty="0"/>
              <a:t>41</a:t>
            </a:r>
          </a:p>
          <a:p>
            <a:pPr defTabSz="914342">
              <a:defRPr/>
            </a:pPr>
            <a:r>
              <a:rPr lang="en-US" altLang="ja-JP" dirty="0"/>
              <a:t>11</a:t>
            </a:r>
            <a:r>
              <a:rPr lang="ja-JP" altLang="en-US" dirty="0"/>
              <a:t>：</a:t>
            </a:r>
            <a:r>
              <a:rPr lang="en-US" altLang="ja-JP" dirty="0"/>
              <a:t>14</a:t>
            </a:r>
            <a:r>
              <a:rPr lang="ja-JP" altLang="en-US" dirty="0"/>
              <a:t>～</a:t>
            </a:r>
            <a:r>
              <a:rPr lang="en-US" altLang="ja-JP" dirty="0"/>
              <a:t>11</a:t>
            </a:r>
            <a:r>
              <a:rPr lang="ja-JP" altLang="en-US" dirty="0"/>
              <a:t>：</a:t>
            </a:r>
            <a:r>
              <a:rPr lang="en-US" altLang="ja-JP" dirty="0"/>
              <a:t>19</a:t>
            </a:r>
            <a:r>
              <a:rPr lang="ja-JP" altLang="en-US" dirty="0"/>
              <a:t>　</a:t>
            </a:r>
            <a:r>
              <a:rPr lang="en-US" altLang="ja-JP" dirty="0"/>
              <a:t>【5</a:t>
            </a:r>
            <a:r>
              <a:rPr lang="ja-JP" altLang="en-US" dirty="0"/>
              <a:t>分</a:t>
            </a:r>
            <a:r>
              <a:rPr lang="en-US" altLang="ja-JP" dirty="0"/>
              <a:t>】+</a:t>
            </a:r>
            <a:r>
              <a:rPr lang="ja-JP" altLang="en-US" dirty="0"/>
              <a:t>質問</a:t>
            </a:r>
            <a:endParaRPr lang="en-US" altLang="ja-JP" dirty="0"/>
          </a:p>
          <a:p>
            <a:r>
              <a:rPr lang="ja-JP" altLang="en-US" dirty="0"/>
              <a:t>続いて、商品が変わって、投資信託という商品の場合です。全体的は流れは非投信と類似していますので、非投信と異なる部分を中心に説明します。</a:t>
            </a:r>
            <a:endParaRPr lang="en-US" altLang="ja-JP" dirty="0"/>
          </a:p>
          <a:p>
            <a:r>
              <a:rPr lang="ja-JP" altLang="en-US" dirty="0"/>
              <a:t>投信の管理残高は全体で</a:t>
            </a:r>
            <a:r>
              <a:rPr lang="en-US" altLang="ja-JP" dirty="0"/>
              <a:t>73</a:t>
            </a:r>
            <a:r>
              <a:rPr lang="ja-JP" altLang="en-US" dirty="0"/>
              <a:t>兆円くらい管理しています。</a:t>
            </a:r>
            <a:endParaRPr lang="en-US" altLang="ja-JP" dirty="0"/>
          </a:p>
          <a:p>
            <a:r>
              <a:rPr lang="ja-JP" altLang="en-US" dirty="0"/>
              <a:t>●まず、非投信と同じくお客様の窓口のところは</a:t>
            </a:r>
            <a:r>
              <a:rPr lang="en-US" altLang="ja-JP" dirty="0"/>
              <a:t>MUTB</a:t>
            </a:r>
            <a:r>
              <a:rPr lang="ja-JP" altLang="en-US" dirty="0"/>
              <a:t>が担っています。</a:t>
            </a:r>
          </a:p>
          <a:p>
            <a:pPr defTabSz="914342">
              <a:defRPr/>
            </a:pPr>
            <a:r>
              <a:rPr lang="ja-JP" altLang="en-US" dirty="0"/>
              <a:t>最初に行う投資信託における契約管理、信託金の受入は　⇒「投資信託部投信ファンド管理</a:t>
            </a:r>
            <a:r>
              <a:rPr lang="en-US" altLang="ja-JP" dirty="0"/>
              <a:t>G</a:t>
            </a:r>
            <a:r>
              <a:rPr lang="ja-JP" altLang="en-US" dirty="0"/>
              <a:t>」が行っています。</a:t>
            </a:r>
            <a:endParaRPr lang="en-US" altLang="ja-JP" dirty="0"/>
          </a:p>
          <a:p>
            <a:pPr defTabSz="914342">
              <a:defRPr/>
            </a:pPr>
            <a:endParaRPr lang="en-US" altLang="ja-JP" dirty="0"/>
          </a:p>
          <a:p>
            <a:pPr defTabSz="914342">
              <a:defRPr/>
            </a:pPr>
            <a:r>
              <a:rPr lang="ja-JP" altLang="en-US" dirty="0"/>
              <a:t>投資信託部になります。こちらの業務は、非投信ではファンド管理部が担っていたんですけれども投信にかかるファンド管理部の機能は、この投資信託部投信が担っています。</a:t>
            </a:r>
            <a:endParaRPr lang="en-US" altLang="ja-JP" dirty="0"/>
          </a:p>
          <a:p>
            <a:pPr defTabSz="914342">
              <a:defRPr/>
            </a:pPr>
            <a:r>
              <a:rPr lang="ja-JP" altLang="en-US" dirty="0"/>
              <a:t>また、スライドに戻ってください。</a:t>
            </a:r>
            <a:endParaRPr lang="en-US" altLang="ja-JP" dirty="0"/>
          </a:p>
          <a:p>
            <a:pPr defTabSz="914342">
              <a:defRPr/>
            </a:pPr>
            <a:endParaRPr lang="en-US" altLang="ja-JP" dirty="0"/>
          </a:p>
          <a:p>
            <a:pPr defTabSz="914342">
              <a:defRPr/>
            </a:pPr>
            <a:r>
              <a:rPr lang="ja-JP" altLang="en-US" dirty="0"/>
              <a:t>続いて、運用の部分です。</a:t>
            </a:r>
            <a:endParaRPr lang="en-US" altLang="ja-JP" dirty="0"/>
          </a:p>
          <a:p>
            <a:pPr defTabSz="914342">
              <a:defRPr/>
            </a:pPr>
            <a:r>
              <a:rPr lang="ja-JP" altLang="en-US" dirty="0"/>
              <a:t>●投資信託の場合は、お客様である投信委託会社が直接運用するという形になっています。投信委託会社がお客様でもあり、運用者でもある点が非投信との違いと考えていただければと思います。お客様から運用の指図をもらって、非投信と同じく、約定の処理と権利の処理を行います。</a:t>
            </a:r>
            <a:endParaRPr lang="en-US" altLang="ja-JP" dirty="0"/>
          </a:p>
          <a:p>
            <a:pPr defTabSz="914342">
              <a:defRPr/>
            </a:pPr>
            <a:r>
              <a:rPr lang="ja-JP" altLang="en-US" dirty="0"/>
              <a:t>担ってる部署としては、投資信託部投信商品管理</a:t>
            </a:r>
            <a:r>
              <a:rPr lang="en-US" altLang="ja-JP" dirty="0"/>
              <a:t>G</a:t>
            </a:r>
            <a:r>
              <a:rPr lang="ja-JP" altLang="en-US" dirty="0"/>
              <a:t>、国内資産管理部、外国資産管理部、市場管理部となります。投信の場合には、この一番上の投資信託部投信商品管理</a:t>
            </a:r>
            <a:r>
              <a:rPr lang="en-US" altLang="ja-JP" dirty="0"/>
              <a:t>G</a:t>
            </a:r>
            <a:r>
              <a:rPr lang="ja-JP" altLang="en-US" dirty="0"/>
              <a:t>がメインで業務を担っていますが、一部の業務のみ、非投信とあわせて、非投信と同じく、国内資産管理部以下の３つの部署で行っています。</a:t>
            </a:r>
            <a:endParaRPr lang="en-US" altLang="ja-JP" dirty="0"/>
          </a:p>
          <a:p>
            <a:pPr defTabSz="914342">
              <a:defRPr/>
            </a:pPr>
            <a:endParaRPr lang="en-US" altLang="ja-JP" dirty="0"/>
          </a:p>
          <a:p>
            <a:pPr defTabSz="914342">
              <a:defRPr/>
            </a:pPr>
            <a:r>
              <a:rPr lang="ja-JP" altLang="en-US" dirty="0"/>
              <a:t>●非投信の場合は、運用結果についてお客様に開示する業務があったんですが、投信の場合は、そういった業務に関しては、やっていません。代わりに、基準価額という、今日の投資信託の値段はいくらになりましたという金額を算出してお客様と照合することをやっており、それを、投信ファンド管理</a:t>
            </a:r>
            <a:r>
              <a:rPr lang="en-US" altLang="ja-JP" dirty="0"/>
              <a:t>G</a:t>
            </a:r>
            <a:r>
              <a:rPr lang="ja-JP" altLang="en-US" dirty="0"/>
              <a:t>で担っています。</a:t>
            </a:r>
            <a:endParaRPr lang="en-US" altLang="ja-JP" dirty="0"/>
          </a:p>
          <a:p>
            <a:pPr defTabSz="914342">
              <a:defRPr/>
            </a:pPr>
            <a:r>
              <a:rPr lang="ja-JP" altLang="en-US" dirty="0"/>
              <a:t>投信では、ファンド系部署としては、投資信託部投信ファンド管理</a:t>
            </a:r>
            <a:r>
              <a:rPr lang="en-US" altLang="ja-JP" dirty="0"/>
              <a:t>G</a:t>
            </a:r>
            <a:r>
              <a:rPr lang="ja-JP" altLang="en-US" dirty="0"/>
              <a:t>、商品系部署は投資信託部投信商品管理</a:t>
            </a:r>
            <a:r>
              <a:rPr lang="en-US" altLang="ja-JP" dirty="0"/>
              <a:t>G</a:t>
            </a:r>
            <a:r>
              <a:rPr lang="ja-JP" altLang="en-US" dirty="0"/>
              <a:t>が中心となって業務を行っています。</a:t>
            </a:r>
            <a:endParaRPr lang="en-US" altLang="ja-JP" dirty="0"/>
          </a:p>
          <a:p>
            <a:pPr defTabSz="914342">
              <a:defRPr/>
            </a:pPr>
            <a:endParaRPr lang="en-US" altLang="ja-JP" dirty="0"/>
          </a:p>
          <a:p>
            <a:pPr defTabSz="914342">
              <a:defRPr/>
            </a:pPr>
            <a:r>
              <a:rPr lang="ja-JP" altLang="en-US" dirty="0"/>
              <a:t>●スライドの</a:t>
            </a:r>
            <a:r>
              <a:rPr lang="en-US" altLang="ja-JP" dirty="0"/>
              <a:t>1</a:t>
            </a:r>
            <a:r>
              <a:rPr lang="ja-JP" altLang="en-US" dirty="0"/>
              <a:t>番左下を見てください。</a:t>
            </a:r>
            <a:endParaRPr lang="en-US" altLang="ja-JP" dirty="0"/>
          </a:p>
          <a:p>
            <a:pPr defTabSz="914342">
              <a:defRPr/>
            </a:pPr>
            <a:r>
              <a:rPr lang="ja-JP" altLang="en-US" dirty="0"/>
              <a:t>運用会社としての投信委託会社の事務を代行する業務があります。</a:t>
            </a:r>
            <a:endParaRPr lang="en-US" altLang="ja-JP" dirty="0"/>
          </a:p>
          <a:p>
            <a:pPr defTabSz="914342">
              <a:defRPr/>
            </a:pPr>
            <a:r>
              <a:rPr lang="ja-JP" altLang="en-US" dirty="0"/>
              <a:t>非投信と同じように、運用管理部で業務を行っています。先ほどの信託銀行として行う基準価額算出とは別に、お客様である投信委託会社としての基準価額算出を行う等しています。</a:t>
            </a:r>
            <a:endParaRPr lang="en-US" altLang="ja-JP" dirty="0"/>
          </a:p>
          <a:p>
            <a:pPr defTabSz="914342">
              <a:defRPr/>
            </a:pPr>
            <a:r>
              <a:rPr lang="ja-JP" altLang="en-US" dirty="0"/>
              <a:t>こちらも、非投信と同じように実際に資産を預かっている訳ではなく、お客様に高い事務レベルを提供するというサービス、業務になっています。</a:t>
            </a:r>
            <a:endParaRPr lang="en-US" altLang="ja-JP" dirty="0"/>
          </a:p>
          <a:p>
            <a:pPr defTabSz="914342">
              <a:defRPr/>
            </a:pPr>
            <a:endParaRPr lang="en-US" altLang="ja-JP" dirty="0"/>
          </a:p>
          <a:p>
            <a:pPr defTabSz="914342">
              <a:defRPr/>
            </a:pPr>
            <a:r>
              <a:rPr lang="ja-JP" altLang="en-US" dirty="0"/>
              <a:t>以上が、投信の流れとなります。</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7</a:t>
            </a:fld>
            <a:endParaRPr lang="ja-JP" altLang="en-US" dirty="0"/>
          </a:p>
        </p:txBody>
      </p:sp>
    </p:spTree>
    <p:extLst>
      <p:ext uri="{BB962C8B-B14F-4D97-AF65-F5344CB8AC3E}">
        <p14:creationId xmlns:p14="http://schemas.microsoft.com/office/powerpoint/2010/main" val="3278921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14342">
              <a:defRPr/>
            </a:pPr>
            <a:r>
              <a:rPr lang="en-US" altLang="ja-JP" dirty="0"/>
              <a:t>12</a:t>
            </a:r>
            <a:r>
              <a:rPr lang="ja-JP" altLang="en-US" dirty="0"/>
              <a:t>：</a:t>
            </a:r>
            <a:r>
              <a:rPr lang="en-US" altLang="ja-JP" dirty="0"/>
              <a:t>42</a:t>
            </a:r>
            <a:r>
              <a:rPr lang="ja-JP" altLang="en-US" dirty="0"/>
              <a:t>～</a:t>
            </a:r>
            <a:r>
              <a:rPr lang="en-US" altLang="ja-JP" dirty="0"/>
              <a:t>12</a:t>
            </a:r>
            <a:r>
              <a:rPr lang="ja-JP" altLang="en-US" dirty="0"/>
              <a:t>：</a:t>
            </a:r>
            <a:r>
              <a:rPr lang="en-US" altLang="ja-JP" dirty="0"/>
              <a:t>44</a:t>
            </a:r>
          </a:p>
          <a:p>
            <a:pPr defTabSz="914342">
              <a:defRPr/>
            </a:pPr>
            <a:r>
              <a:rPr lang="en-US" altLang="ja-JP" dirty="0"/>
              <a:t>11</a:t>
            </a:r>
            <a:r>
              <a:rPr lang="ja-JP" altLang="en-US" dirty="0"/>
              <a:t>：</a:t>
            </a:r>
            <a:r>
              <a:rPr lang="en-US" altLang="ja-JP" dirty="0"/>
              <a:t>19</a:t>
            </a:r>
            <a:r>
              <a:rPr lang="ja-JP" altLang="en-US" dirty="0"/>
              <a:t>～</a:t>
            </a:r>
            <a:r>
              <a:rPr lang="en-US" altLang="ja-JP" dirty="0"/>
              <a:t>11</a:t>
            </a:r>
            <a:r>
              <a:rPr lang="ja-JP" altLang="en-US" dirty="0"/>
              <a:t>：</a:t>
            </a:r>
            <a:r>
              <a:rPr lang="en-US" altLang="ja-JP" dirty="0"/>
              <a:t>22</a:t>
            </a:r>
            <a:r>
              <a:rPr lang="ja-JP" altLang="en-US" dirty="0"/>
              <a:t>　</a:t>
            </a:r>
            <a:r>
              <a:rPr lang="en-US" altLang="ja-JP" dirty="0"/>
              <a:t>【3</a:t>
            </a:r>
            <a:r>
              <a:rPr lang="ja-JP" altLang="en-US" dirty="0"/>
              <a:t>分弱</a:t>
            </a:r>
            <a:r>
              <a:rPr lang="en-US" altLang="ja-JP" dirty="0"/>
              <a:t>】</a:t>
            </a:r>
          </a:p>
          <a:p>
            <a:r>
              <a:rPr lang="ja-JP" altLang="en-US" dirty="0"/>
              <a:t>最後に非投信のなかで非信託という、信託ではない業務をご説明します。</a:t>
            </a:r>
            <a:endParaRPr lang="en-US" altLang="ja-JP" dirty="0"/>
          </a:p>
          <a:p>
            <a:r>
              <a:rPr lang="ja-JP" altLang="en-US" dirty="0"/>
              <a:t>こちらは信託の仕組みを使わずに、お客様から有価証券を預かる業務を行っており、有価証券管理サービスと呼ばれています。</a:t>
            </a:r>
            <a:endParaRPr lang="en-US" altLang="ja-JP" dirty="0"/>
          </a:p>
          <a:p>
            <a:endParaRPr lang="en-US" altLang="ja-JP" dirty="0"/>
          </a:p>
          <a:p>
            <a:r>
              <a:rPr lang="ja-JP" altLang="en-US" dirty="0"/>
              <a:t>信託に比べると、業務内容が限定されています。例えば、信託では、余裕資金を預かったりしていますが、資金の預かりはなく、有価証券しか預かっていません。</a:t>
            </a:r>
            <a:endParaRPr lang="en-US" altLang="ja-JP" dirty="0"/>
          </a:p>
          <a:p>
            <a:r>
              <a:rPr lang="ja-JP" altLang="en-US" dirty="0"/>
              <a:t>また、信託では会計処理として帳簿をつけて、信託としての貸借対照表、損益計算書を作成していますが、非信託では、帳簿を付けたりはしておらず、単純な運用報告しか作成していません。</a:t>
            </a:r>
            <a:endParaRPr lang="en-US" altLang="ja-JP" dirty="0"/>
          </a:p>
          <a:p>
            <a:r>
              <a:rPr lang="ja-JP" altLang="en-US" dirty="0"/>
              <a:t>また、信託のような財産名義の移転や倒産隔離といった機能もありませんので、こちらは、国内債券や国内株式を単純に預かることに主眼をおいた商品と思っていただければと思います。</a:t>
            </a:r>
            <a:endParaRPr lang="en-US" altLang="ja-JP" dirty="0"/>
          </a:p>
          <a:p>
            <a:r>
              <a:rPr lang="ja-JP" altLang="en-US" dirty="0"/>
              <a:t>お客様としては、地銀、生損保といった金融法人のお客様が中心になっており、預かり残高は</a:t>
            </a:r>
            <a:r>
              <a:rPr lang="en-US" altLang="ja-JP" dirty="0"/>
              <a:t>1</a:t>
            </a:r>
            <a:r>
              <a:rPr lang="ja-JP" altLang="en-US" dirty="0"/>
              <a:t>番大きくて</a:t>
            </a:r>
            <a:r>
              <a:rPr lang="en-US" altLang="ja-JP" dirty="0"/>
              <a:t>200</a:t>
            </a:r>
            <a:r>
              <a:rPr lang="ja-JP" altLang="en-US" dirty="0"/>
              <a:t>兆弱くらいになっていますが、顧客数が少なく大口の金融機関からの預りが多くなっています。</a:t>
            </a:r>
            <a:endParaRPr lang="en-US" altLang="ja-JP" dirty="0"/>
          </a:p>
          <a:p>
            <a:endParaRPr lang="en-US" altLang="ja-JP" dirty="0"/>
          </a:p>
          <a:p>
            <a:r>
              <a:rPr lang="ja-JP" altLang="en-US" dirty="0"/>
              <a:t>まず業務の流れとして、</a:t>
            </a:r>
            <a:endParaRPr lang="en-US" altLang="ja-JP" dirty="0"/>
          </a:p>
          <a:p>
            <a:r>
              <a:rPr lang="ja-JP" altLang="en-US" dirty="0"/>
              <a:t>●入口で</a:t>
            </a:r>
            <a:r>
              <a:rPr lang="en-US" altLang="ja-JP" dirty="0"/>
              <a:t>MUTB</a:t>
            </a:r>
            <a:r>
              <a:rPr lang="ja-JP" altLang="en-US" dirty="0"/>
              <a:t>営業店が入る点はこれまでと同じですが、有価証券の保管、受入から、買付、売却指図を受け付けます。</a:t>
            </a:r>
            <a:endParaRPr lang="en-US" altLang="ja-JP" dirty="0"/>
          </a:p>
          <a:p>
            <a:r>
              <a:rPr lang="ja-JP" altLang="en-US" dirty="0"/>
              <a:t>●その後の証券会社との決済、財産状況の報告までを国内資産管理部・市場管理部が行っています。国内証券の預かりは、国内資産管理部で、外国証券の預かりは、市場管理部が行っています。なお、ほとんどが国内証券の預かりになっています。資産規模としては大きいですが、まずはこれまでにお話した非投信、投信といった信託商品を理解いただき、頭の片隅に置いておいていただければと思います。</a:t>
            </a:r>
            <a:endParaRPr lang="en-US" altLang="ja-JP" dirty="0"/>
          </a:p>
          <a:p>
            <a:endParaRPr kumimoji="1" lang="en-US" altLang="ja-JP" dirty="0"/>
          </a:p>
          <a:p>
            <a:pPr defTabSz="914342">
              <a:defRPr/>
            </a:pPr>
            <a:endParaRPr lang="en-US" altLang="ja-JP" dirty="0"/>
          </a:p>
          <a:p>
            <a:pPr defTabSz="914342">
              <a:defRPr/>
            </a:pPr>
            <a:r>
              <a:rPr lang="ja-JP" altLang="en-US" dirty="0"/>
              <a:t>スライドに記載した部以外にも資産管理に関わりがある部があります。</a:t>
            </a:r>
            <a:endParaRPr lang="en-US" altLang="ja-JP" dirty="0"/>
          </a:p>
          <a:p>
            <a:pPr defTabSz="914342">
              <a:defRPr/>
            </a:pPr>
            <a:r>
              <a:rPr lang="ja-JP" altLang="en-US" dirty="0"/>
              <a:t>業務企画推進部、証券取引執行部、大阪資産管理部です。</a:t>
            </a:r>
            <a:endParaRPr lang="en-US" altLang="ja-JP" dirty="0"/>
          </a:p>
          <a:p>
            <a:pPr defTabSz="914342">
              <a:defRPr/>
            </a:pPr>
            <a:endParaRPr lang="en-US" altLang="ja-JP" dirty="0"/>
          </a:p>
          <a:p>
            <a:r>
              <a:rPr lang="ja-JP" altLang="en-US" dirty="0"/>
              <a:t>まずは、証券取引執行部です。</a:t>
            </a:r>
            <a:endParaRPr lang="en-US" altLang="ja-JP" dirty="0"/>
          </a:p>
          <a:p>
            <a:r>
              <a:rPr lang="en-US" altLang="ja-JP" dirty="0"/>
              <a:t>MTBJ</a:t>
            </a:r>
            <a:r>
              <a:rPr lang="ja-JP" altLang="en-US" dirty="0"/>
              <a:t>は資産管理という事務中心の会社ですが、一部では運用も行っており、それを担っている部署になります。</a:t>
            </a:r>
            <a:endParaRPr lang="en-US" altLang="ja-JP" dirty="0"/>
          </a:p>
          <a:p>
            <a:r>
              <a:rPr lang="ja-JP" altLang="en-US" dirty="0"/>
              <a:t>例えば、１つ目に記載している受託財産に係る株式および債券等の貸借の執行ということを行っています。</a:t>
            </a:r>
            <a:endParaRPr lang="en-US" altLang="ja-JP" dirty="0"/>
          </a:p>
          <a:p>
            <a:r>
              <a:rPr lang="ja-JP" altLang="en-US" dirty="0"/>
              <a:t>資産を預かって、ただ口座に寝かせておくと勿体ないので、その口座においている余った株を他の人に貸すとかして、収益を上げています。</a:t>
            </a:r>
            <a:endParaRPr lang="en-US" altLang="ja-JP" dirty="0"/>
          </a:p>
          <a:p>
            <a:r>
              <a:rPr lang="ja-JP" altLang="en-US" dirty="0"/>
              <a:t>また、他にも２つ目の余裕金の運用ということも行っています。お客様から</a:t>
            </a:r>
            <a:r>
              <a:rPr lang="en-US" altLang="ja-JP" dirty="0"/>
              <a:t>100</a:t>
            </a:r>
            <a:r>
              <a:rPr lang="ja-JP" altLang="en-US" dirty="0"/>
              <a:t>億円を預かって、様々な資産に投資が行われる訳ですが、資産を売ったり買ったり、配当金、利金が入ってきたり、税金の支払いに備えておいたり、資金は常に流動的で</a:t>
            </a:r>
            <a:r>
              <a:rPr lang="en-US" altLang="ja-JP" dirty="0"/>
              <a:t>100</a:t>
            </a:r>
            <a:r>
              <a:rPr lang="ja-JP" altLang="en-US" dirty="0"/>
              <a:t>億円の</a:t>
            </a:r>
            <a:r>
              <a:rPr lang="en-US" altLang="ja-JP" dirty="0"/>
              <a:t>100</a:t>
            </a:r>
            <a:r>
              <a:rPr lang="ja-JP" altLang="en-US" dirty="0"/>
              <a:t>％常に使われているわけではありません。</a:t>
            </a:r>
            <a:r>
              <a:rPr lang="en-US" altLang="ja-JP" dirty="0"/>
              <a:t>1</a:t>
            </a:r>
            <a:r>
              <a:rPr lang="ja-JP" altLang="en-US" dirty="0"/>
              <a:t>億円、余裕資金が</a:t>
            </a:r>
            <a:r>
              <a:rPr lang="en-US" altLang="ja-JP" dirty="0"/>
              <a:t>10</a:t>
            </a:r>
            <a:r>
              <a:rPr lang="ja-JP" altLang="en-US" dirty="0"/>
              <a:t>日あれば、その</a:t>
            </a:r>
            <a:r>
              <a:rPr lang="en-US" altLang="ja-JP" dirty="0"/>
              <a:t>1</a:t>
            </a:r>
            <a:r>
              <a:rPr lang="ja-JP" altLang="en-US" dirty="0"/>
              <a:t>億円をただ置いておくのは無駄ですよね？なので、そういったお金をある程度まとめて、効率的に運用するサービスも提供しています。</a:t>
            </a:r>
            <a:endParaRPr lang="en-US" altLang="ja-JP" dirty="0"/>
          </a:p>
          <a:p>
            <a:pPr defTabSz="914342">
              <a:defRPr/>
            </a:pPr>
            <a:endParaRPr lang="en-US" altLang="ja-JP" dirty="0"/>
          </a:p>
          <a:p>
            <a:pPr defTabSz="914342">
              <a:defRPr/>
            </a:pPr>
            <a:r>
              <a:rPr lang="ja-JP" altLang="en-US" dirty="0"/>
              <a:t>続いて、大阪資産管理部です。その名のとおり、大阪で業務を行っています。</a:t>
            </a:r>
            <a:endParaRPr lang="en-US" altLang="ja-JP" dirty="0"/>
          </a:p>
          <a:p>
            <a:pPr defTabSz="914342">
              <a:defRPr/>
            </a:pPr>
            <a:r>
              <a:rPr lang="ja-JP" altLang="en-US" dirty="0"/>
              <a:t>ここは東京で何かあった場合でも大阪で業務を継続できるようにするための部署です。</a:t>
            </a:r>
            <a:endParaRPr lang="en-US" altLang="ja-JP" dirty="0"/>
          </a:p>
          <a:p>
            <a:pPr defTabSz="914342">
              <a:defRPr/>
            </a:pPr>
            <a:r>
              <a:rPr lang="ja-JP" altLang="en-US" dirty="0"/>
              <a:t>今まで説明した業務の中でも、対外的に重要な業務、例えばお金や有価証券の受渡し、決済等の業務を、平常時から東京と並行して行う部署となっております。</a:t>
            </a:r>
            <a:endParaRPr lang="en-US" altLang="ja-JP" dirty="0"/>
          </a:p>
          <a:p>
            <a:r>
              <a:rPr lang="ja-JP" altLang="en-US" dirty="0"/>
              <a:t>我々は何１００兆円の顧客資産を預かる銀行です。単に銀行というより一つの社会インフラと言っても過言ではないと思います。</a:t>
            </a:r>
            <a:endParaRPr lang="en-US" altLang="ja-JP" dirty="0"/>
          </a:p>
          <a:p>
            <a:r>
              <a:rPr lang="ja-JP" altLang="en-US" dirty="0"/>
              <a:t>関東で大規模な災害があった場合にも、お金が払えないといったことが起きないように、危機管理体制を構築しています。システム的な面でも愛知県にシステムのバックアップがありますし、事務処理も中断せず継続できるようにするために、大阪オフィスが存在しているのです。現在、大阪の機能は浜松町より限定されていますが、今後も、適宜業務範囲を広げていく予定です。</a:t>
            </a:r>
            <a:endParaRPr lang="en-US" altLang="ja-JP" dirty="0"/>
          </a:p>
          <a:p>
            <a:endParaRPr lang="en-US" altLang="ja-JP" dirty="0"/>
          </a:p>
          <a:p>
            <a:r>
              <a:rPr lang="ja-JP" altLang="en-US" dirty="0"/>
              <a:t>続いて、カｽﾀﾏｰｻｰﾋﾞｽ</a:t>
            </a:r>
            <a:r>
              <a:rPr lang="en-US" altLang="ja-JP" dirty="0"/>
              <a:t>G</a:t>
            </a:r>
            <a:r>
              <a:rPr lang="ja-JP" altLang="en-US" dirty="0"/>
              <a:t>です。資産業務に関するコンサルティング、及び機能営業推進というところと、市場調査、</a:t>
            </a:r>
            <a:r>
              <a:rPr lang="en-US" altLang="ja-JP" dirty="0"/>
              <a:t>VOC</a:t>
            </a:r>
            <a:r>
              <a:rPr lang="ja-JP" altLang="en-US" dirty="0"/>
              <a:t>（ボイスオブカスタマー）ですけど、お客様の声をうけて、どのように顧客満足度を向上していくかというところを企画して、実行していくということを行っています。具体的には、資産管理会社である</a:t>
            </a:r>
            <a:r>
              <a:rPr lang="en-US" altLang="ja-JP" dirty="0"/>
              <a:t>MTBJ</a:t>
            </a:r>
            <a:r>
              <a:rPr lang="ja-JP" altLang="en-US" dirty="0"/>
              <a:t>としてのお客様窓口を担っています。</a:t>
            </a:r>
            <a:endParaRPr lang="en-US" altLang="ja-JP" dirty="0"/>
          </a:p>
          <a:p>
            <a:r>
              <a:rPr lang="en-US" altLang="ja-JP" dirty="0"/>
              <a:t>MUTB</a:t>
            </a:r>
            <a:r>
              <a:rPr lang="ja-JP" altLang="en-US" dirty="0"/>
              <a:t>は信託商品を売るという意味でのお客様窓口ですが、</a:t>
            </a:r>
            <a:r>
              <a:rPr lang="en-US" altLang="ja-JP" dirty="0"/>
              <a:t>MTBJ</a:t>
            </a:r>
            <a:r>
              <a:rPr lang="ja-JP" altLang="en-US" dirty="0"/>
              <a:t>におけるお客様窓口とはもう少し資産管理事務に近いお客様窓口です。こんな新しい有価証券に投資したいとか、国に投資したいとかそういった、資産管理として新しい要望、ニーズが日々寄せられるため、</a:t>
            </a:r>
            <a:r>
              <a:rPr lang="en-US" altLang="ja-JP" dirty="0"/>
              <a:t>MTBJ</a:t>
            </a:r>
            <a:r>
              <a:rPr lang="ja-JP" altLang="en-US" dirty="0"/>
              <a:t>として資産管理を行い、お客様に提供ができるかといったことを実務に近い部分から検討し、お客様と調整する部署になります。</a:t>
            </a:r>
            <a:endParaRPr lang="en-US" altLang="ja-JP" dirty="0"/>
          </a:p>
          <a:p>
            <a:endParaRPr lang="en-US" altLang="ja-JP" dirty="0"/>
          </a:p>
          <a:p>
            <a:pPr marL="0" marR="0" indent="0" algn="l" defTabSz="914342" rtl="0" eaLnBrk="0" fontAlgn="base" latinLnBrk="0" hangingPunct="0">
              <a:lnSpc>
                <a:spcPct val="100000"/>
              </a:lnSpc>
              <a:spcBef>
                <a:spcPct val="30000"/>
              </a:spcBef>
              <a:spcAft>
                <a:spcPct val="0"/>
              </a:spcAft>
              <a:buClrTx/>
              <a:buSzTx/>
              <a:buFontTx/>
              <a:buNone/>
              <a:tabLst/>
              <a:defRPr/>
            </a:pPr>
            <a:r>
              <a:rPr lang="ja-JP" altLang="en-US" dirty="0"/>
              <a:t>業務企画推進部で、私も所属する部署です。こちらは、資産管理業務にかかる統括をしており、業務戦略に関する企画や、システム、事務の企画、日本も含めた各国の市場制度の調査等を行っています。税制、会計の精度変更や、新商品提供があれば、こちらの部署で対応しますし、また普段事務をするうえで何か業務をする上で困ったことがあれば、こちらで対応を検討したりもします。</a:t>
            </a:r>
            <a:endParaRPr lang="en-US" altLang="ja-JP"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8</a:t>
            </a:fld>
            <a:endParaRPr lang="ja-JP" altLang="en-US" dirty="0"/>
          </a:p>
        </p:txBody>
      </p:sp>
    </p:spTree>
    <p:extLst>
      <p:ext uri="{BB962C8B-B14F-4D97-AF65-F5344CB8AC3E}">
        <p14:creationId xmlns:p14="http://schemas.microsoft.com/office/powerpoint/2010/main" val="1472349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12</a:t>
            </a:r>
            <a:r>
              <a:rPr lang="ja-JP" altLang="en-US" dirty="0"/>
              <a:t>：</a:t>
            </a:r>
            <a:r>
              <a:rPr lang="en-US" altLang="ja-JP" dirty="0"/>
              <a:t>47</a:t>
            </a:r>
            <a:r>
              <a:rPr lang="ja-JP" altLang="en-US" dirty="0"/>
              <a:t>～</a:t>
            </a:r>
            <a:r>
              <a:rPr lang="en-US" altLang="ja-JP" dirty="0"/>
              <a:t>12</a:t>
            </a:r>
            <a:r>
              <a:rPr lang="ja-JP" altLang="en-US" dirty="0"/>
              <a:t>：</a:t>
            </a:r>
            <a:r>
              <a:rPr lang="en-US" altLang="ja-JP" dirty="0"/>
              <a:t>49</a:t>
            </a:r>
          </a:p>
          <a:p>
            <a:r>
              <a:rPr lang="en-US" altLang="ja-JP" dirty="0"/>
              <a:t>11</a:t>
            </a:r>
            <a:r>
              <a:rPr lang="ja-JP" altLang="en-US" dirty="0"/>
              <a:t>：</a:t>
            </a:r>
            <a:r>
              <a:rPr lang="en-US" altLang="ja-JP" dirty="0"/>
              <a:t>24</a:t>
            </a:r>
            <a:r>
              <a:rPr lang="ja-JP" altLang="en-US" dirty="0"/>
              <a:t>～</a:t>
            </a:r>
            <a:r>
              <a:rPr lang="en-US" altLang="ja-JP" dirty="0"/>
              <a:t>11</a:t>
            </a:r>
            <a:r>
              <a:rPr lang="ja-JP" altLang="en-US" dirty="0"/>
              <a:t>：</a:t>
            </a:r>
            <a:r>
              <a:rPr lang="en-US" altLang="ja-JP" dirty="0"/>
              <a:t>27</a:t>
            </a:r>
          </a:p>
          <a:p>
            <a:r>
              <a:rPr lang="ja-JP" altLang="en-US" dirty="0"/>
              <a:t>今まで長々と説明しましたが、最後に改めて、各部のつながりについてお話したいと思います。</a:t>
            </a:r>
            <a:endParaRPr lang="en-US" altLang="ja-JP" dirty="0"/>
          </a:p>
          <a:p>
            <a:endParaRPr lang="en-US" altLang="ja-JP" dirty="0"/>
          </a:p>
          <a:p>
            <a:r>
              <a:rPr lang="ja-JP" altLang="en-US" dirty="0"/>
              <a:t>横軸は、本日メインでお話した、信託商品の種類として、非投信、投信を記載しています。</a:t>
            </a:r>
            <a:endParaRPr lang="en-US" altLang="ja-JP" dirty="0"/>
          </a:p>
          <a:p>
            <a:r>
              <a:rPr lang="ja-JP" altLang="en-US" dirty="0"/>
              <a:t>証券信託・年金信託非投信と呼ばれている領域で、投資信託が投信の領域になっています。</a:t>
            </a:r>
            <a:endParaRPr lang="en-US" altLang="ja-JP" dirty="0"/>
          </a:p>
          <a:p>
            <a:r>
              <a:rPr lang="ja-JP" altLang="en-US" dirty="0"/>
              <a:t>縦軸は主な業務をメインに記載しています。</a:t>
            </a:r>
            <a:endParaRPr lang="en-US" altLang="ja-JP" dirty="0"/>
          </a:p>
          <a:p>
            <a:endParaRPr lang="en-US" altLang="ja-JP" dirty="0"/>
          </a:p>
          <a:p>
            <a:r>
              <a:rPr lang="ja-JP" altLang="en-US" dirty="0"/>
              <a:t>（上から～）</a:t>
            </a:r>
            <a:endParaRPr lang="en-US" altLang="ja-JP" dirty="0"/>
          </a:p>
          <a:p>
            <a:endParaRPr lang="en-US" altLang="ja-JP" dirty="0"/>
          </a:p>
          <a:p>
            <a:r>
              <a:rPr lang="ja-JP" altLang="en-US" dirty="0"/>
              <a:t>まずスタートとなる、お客様の契約管理、信託金受入のところは</a:t>
            </a:r>
            <a:endParaRPr lang="en-US" altLang="ja-JP" dirty="0"/>
          </a:p>
          <a:p>
            <a:r>
              <a:rPr lang="ja-JP" altLang="en-US" dirty="0"/>
              <a:t>●非投信ではファンド管理部、投信では投資信託部投信ファンド管領域</a:t>
            </a:r>
            <a:r>
              <a:rPr lang="en-US" altLang="ja-JP" dirty="0"/>
              <a:t>G</a:t>
            </a:r>
            <a:r>
              <a:rPr lang="ja-JP" altLang="en-US" dirty="0"/>
              <a:t>ということでお話をさせていただきました。</a:t>
            </a:r>
            <a:endParaRPr lang="en-US" altLang="ja-JP" dirty="0"/>
          </a:p>
          <a:p>
            <a:r>
              <a:rPr lang="ja-JP" altLang="en-US" dirty="0"/>
              <a:t>●運用者が証券会社と株や債券を約定して、運用の指図を</a:t>
            </a:r>
            <a:r>
              <a:rPr lang="en-US" altLang="ja-JP" dirty="0"/>
              <a:t>MTBJ</a:t>
            </a:r>
            <a:r>
              <a:rPr lang="ja-JP" altLang="en-US" dirty="0"/>
              <a:t>に送付してきますので、約定、決済が必要です。</a:t>
            </a:r>
            <a:endParaRPr lang="en-US" altLang="ja-JP" dirty="0"/>
          </a:p>
          <a:p>
            <a:r>
              <a:rPr lang="ja-JP" altLang="en-US" dirty="0"/>
              <a:t>また、持っている株や債券の配当金や利息等の権利処理が必要です。</a:t>
            </a:r>
            <a:endParaRPr lang="en-US" altLang="ja-JP" dirty="0"/>
          </a:p>
          <a:p>
            <a:r>
              <a:rPr lang="ja-JP" altLang="en-US" dirty="0"/>
              <a:t>これは、非投信であれば、国内証券は国内資産管理部、外国証券であれば外国資産管理部、市場管理部、デリバティブであればデリバティブ管理部で分担して業務を行っています。</a:t>
            </a:r>
            <a:endParaRPr lang="en-US" altLang="ja-JP" dirty="0"/>
          </a:p>
          <a:p>
            <a:r>
              <a:rPr lang="ja-JP" altLang="en-US" dirty="0"/>
              <a:t>投信であれば、投信商品管理領域メインで行っており、一部業務については非投信とあわせて国内資産管理部や外国資産管理部、市場管理部、デリバティブ管理部で行っています。</a:t>
            </a:r>
            <a:endParaRPr lang="en-US" altLang="ja-JP" dirty="0"/>
          </a:p>
          <a:p>
            <a:endParaRPr lang="en-US" altLang="ja-JP" dirty="0"/>
          </a:p>
          <a:p>
            <a:r>
              <a:rPr lang="ja-JP" altLang="en-US" dirty="0"/>
              <a:t>●非投信としてお客様への運用報告を行っているのはファンド管理部で、投信として基準価額算出を行いお客様と照合を行っているのは投資信託部投信ファンド管理領域で行っています。</a:t>
            </a:r>
            <a:endParaRPr lang="en-US" altLang="ja-JP" dirty="0"/>
          </a:p>
          <a:p>
            <a:endParaRPr lang="en-US" altLang="ja-JP" dirty="0"/>
          </a:p>
          <a:p>
            <a:r>
              <a:rPr lang="ja-JP" altLang="en-US" dirty="0"/>
              <a:t>●また派生的な話（ただし昨今重要度を増している）として、余った債券、株式等の貸借取引等については、証券取引執行部が行っています。</a:t>
            </a:r>
            <a:endParaRPr lang="en-US" altLang="ja-JP" dirty="0"/>
          </a:p>
          <a:p>
            <a:endParaRPr lang="en-US" altLang="ja-JP" dirty="0"/>
          </a:p>
          <a:p>
            <a:r>
              <a:rPr lang="ja-JP" altLang="en-US" dirty="0"/>
              <a:t>●危機管理体制（ただし昨今はデュアル体制志向）として、大阪オフィスで業務を行っているのは大阪資産管理部です。</a:t>
            </a:r>
            <a:endParaRPr lang="en-US" altLang="ja-JP" dirty="0"/>
          </a:p>
          <a:p>
            <a:endParaRPr lang="en-US" altLang="ja-JP" dirty="0"/>
          </a:p>
          <a:p>
            <a:r>
              <a:rPr lang="ja-JP" altLang="en-US" dirty="0"/>
              <a:t>●顧客である運用会社としての事務を代行しているのは運用管理部、市場決済領域になります。（昨今広がりを見せている）</a:t>
            </a:r>
            <a:endParaRPr lang="en-US" altLang="ja-JP" dirty="0"/>
          </a:p>
          <a:p>
            <a:endParaRPr lang="en-US" altLang="ja-JP" dirty="0"/>
          </a:p>
          <a:p>
            <a:r>
              <a:rPr lang="ja-JP" altLang="en-US" dirty="0"/>
              <a:t>ここまでが実際に実務を行う部署となっています。</a:t>
            </a:r>
            <a:endParaRPr lang="en-US" altLang="ja-JP" dirty="0"/>
          </a:p>
          <a:p>
            <a:endParaRPr lang="en-US" altLang="ja-JP" dirty="0"/>
          </a:p>
          <a:p>
            <a:r>
              <a:rPr lang="ja-JP" altLang="en-US" dirty="0"/>
              <a:t>●顧客の窓口については、クライアントサービスの領域が担っています。</a:t>
            </a:r>
            <a:endParaRPr lang="en-US" altLang="ja-JP" dirty="0"/>
          </a:p>
          <a:p>
            <a:endParaRPr lang="en-US" altLang="ja-JP" dirty="0"/>
          </a:p>
          <a:p>
            <a:r>
              <a:rPr lang="ja-JP" altLang="en-US" dirty="0"/>
              <a:t>●最後に、資産管理業務の統括として業務企画推進部が全体を担っているというところになります。</a:t>
            </a:r>
            <a:endParaRPr lang="en-US" altLang="ja-JP" dirty="0"/>
          </a:p>
          <a:p>
            <a:endParaRPr lang="en-US" altLang="ja-JP" dirty="0"/>
          </a:p>
          <a:p>
            <a:r>
              <a:rPr lang="ja-JP" altLang="en-US" dirty="0"/>
              <a:t>以上でおわりになりますが、何か質問はありますでしょうか？</a:t>
            </a:r>
            <a:endParaRPr lang="en-US" altLang="ja-JP" dirty="0"/>
          </a:p>
          <a:p>
            <a:endParaRPr lang="en-US" altLang="ja-JP" dirty="0"/>
          </a:p>
          <a:p>
            <a:r>
              <a:rPr lang="ja-JP" altLang="en-US" dirty="0"/>
              <a:t>このあとも信託商品や各部の説明があると思いますので、こちらの講義を思い出しながら、理解の助けになってもらえればと思います。</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9</a:t>
            </a:fld>
            <a:endParaRPr lang="ja-JP" altLang="en-US" dirty="0"/>
          </a:p>
        </p:txBody>
      </p:sp>
    </p:spTree>
    <p:extLst>
      <p:ext uri="{BB962C8B-B14F-4D97-AF65-F5344CB8AC3E}">
        <p14:creationId xmlns:p14="http://schemas.microsoft.com/office/powerpoint/2010/main" val="3513027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5" name="図 4" descr="アプリケーション が含まれている画像&#10;&#10;自動的に生成された説明">
            <a:extLst>
              <a:ext uri="{FF2B5EF4-FFF2-40B4-BE49-F238E27FC236}">
                <a16:creationId xmlns:a16="http://schemas.microsoft.com/office/drawing/2014/main" id="{D2C60FBF-BBAA-2D51-F86D-69540F3598C6}"/>
              </a:ext>
            </a:extLst>
          </p:cNvPr>
          <p:cNvPicPr>
            <a:picLocks noChangeAspect="1"/>
          </p:cNvPicPr>
          <p:nvPr userDrawn="1"/>
        </p:nvPicPr>
        <p:blipFill>
          <a:blip r:embed="rId2"/>
          <a:stretch>
            <a:fillRect/>
          </a:stretch>
        </p:blipFill>
        <p:spPr>
          <a:xfrm>
            <a:off x="5556" y="1586"/>
            <a:ext cx="10690737" cy="7563600"/>
          </a:xfrm>
          <a:prstGeom prst="rect">
            <a:avLst/>
          </a:prstGeom>
        </p:spPr>
      </p:pic>
      <p:sp>
        <p:nvSpPr>
          <p:cNvPr id="9" name="タイトル プレースホルダー 31">
            <a:extLst>
              <a:ext uri="{FF2B5EF4-FFF2-40B4-BE49-F238E27FC236}">
                <a16:creationId xmlns:a16="http://schemas.microsoft.com/office/drawing/2014/main" id="{E7D79915-43F7-BFD5-9A9C-A6840FE8F8DF}"/>
              </a:ext>
            </a:extLst>
          </p:cNvPr>
          <p:cNvSpPr>
            <a:spLocks noGrp="1"/>
          </p:cNvSpPr>
          <p:nvPr userDrawn="1">
            <p:ph type="title" hasCustomPrompt="1"/>
          </p:nvPr>
        </p:nvSpPr>
        <p:spPr>
          <a:xfrm>
            <a:off x="1074643" y="2198598"/>
            <a:ext cx="7958241" cy="902748"/>
          </a:xfrm>
          <a:prstGeom prst="rect">
            <a:avLst/>
          </a:prstGeom>
        </p:spPr>
        <p:txBody>
          <a:bodyPr vert="horz" wrap="square" lIns="0" tIns="0" rIns="0" bIns="0" rtlCol="0" anchor="ctr" anchorCtr="0">
            <a:spAutoFit/>
          </a:bodyPr>
          <a:lstStyle>
            <a:lvl1pPr marL="0" indent="0">
              <a:lnSpc>
                <a:spcPts val="3800"/>
              </a:lnSpc>
              <a:buFont typeface="Arial" panose="020B0604020202020204" pitchFamily="34" charset="0"/>
              <a:buNone/>
              <a:defRPr sz="2700">
                <a:latin typeface="+mj-ea"/>
                <a:ea typeface="+mj-ea"/>
              </a:defRPr>
            </a:lvl1pPr>
          </a:lstStyle>
          <a:p>
            <a:r>
              <a:rPr kumimoji="1" lang="ja-JP" altLang="en-US" dirty="0"/>
              <a:t>タイトル</a:t>
            </a:r>
            <a:r>
              <a:rPr kumimoji="1" lang="en-US" altLang="ja-JP" dirty="0"/>
              <a:t>/BIZ UDP</a:t>
            </a:r>
            <a:r>
              <a:rPr kumimoji="1" lang="ja-JP" altLang="en-US" dirty="0"/>
              <a:t>ゴシック</a:t>
            </a:r>
            <a:r>
              <a:rPr kumimoji="1" lang="en-US" altLang="ja-JP" dirty="0"/>
              <a:t>/27pt/</a:t>
            </a:r>
            <a:r>
              <a:rPr kumimoji="1" lang="ja-JP" altLang="en-US" dirty="0"/>
              <a:t>行間</a:t>
            </a:r>
            <a:r>
              <a:rPr kumimoji="1" lang="en-US" altLang="ja-JP" dirty="0"/>
              <a:t>38pt</a:t>
            </a:r>
            <a:r>
              <a:rPr kumimoji="1" lang="ja-JP" altLang="en-US" dirty="0"/>
              <a:t>〇〇〇〇〇〇〇〇〇〇〇〇〇〇〇</a:t>
            </a:r>
          </a:p>
        </p:txBody>
      </p:sp>
      <p:sp>
        <p:nvSpPr>
          <p:cNvPr id="10" name="テキスト プレースホルダー 2">
            <a:extLst>
              <a:ext uri="{FF2B5EF4-FFF2-40B4-BE49-F238E27FC236}">
                <a16:creationId xmlns:a16="http://schemas.microsoft.com/office/drawing/2014/main" id="{1DC63F3E-2CCB-BB64-EC48-53B9CA1B5A0A}"/>
              </a:ext>
            </a:extLst>
          </p:cNvPr>
          <p:cNvSpPr>
            <a:spLocks noGrp="1"/>
          </p:cNvSpPr>
          <p:nvPr userDrawn="1">
            <p:ph type="body" sz="quarter" idx="10" hasCustomPrompt="1"/>
          </p:nvPr>
        </p:nvSpPr>
        <p:spPr>
          <a:xfrm>
            <a:off x="713979" y="703324"/>
            <a:ext cx="5602220" cy="230832"/>
          </a:xfrm>
          <a:prstGeom prst="rect">
            <a:avLst/>
          </a:prstGeom>
        </p:spPr>
        <p:txBody>
          <a:bodyPr lIns="0" tIns="0" rIns="0" bIns="0">
            <a:spAutoFit/>
          </a:bodyPr>
          <a:lstStyle>
            <a:lvl1pPr marL="0" indent="0">
              <a:lnSpc>
                <a:spcPct val="100000"/>
              </a:lnSpc>
              <a:buNone/>
              <a:defRPr sz="1500"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dirty="0"/>
              <a:t>会社名</a:t>
            </a:r>
            <a:r>
              <a:rPr kumimoji="1" lang="en-US" altLang="ja-JP" dirty="0"/>
              <a:t>/BIZ UDP</a:t>
            </a:r>
            <a:r>
              <a:rPr kumimoji="1" lang="ja-JP" altLang="en-US" dirty="0"/>
              <a:t>ゴシック</a:t>
            </a:r>
            <a:r>
              <a:rPr kumimoji="1" lang="en-US" altLang="ja-JP" dirty="0"/>
              <a:t>/15pt</a:t>
            </a:r>
            <a:endParaRPr kumimoji="1" lang="ja-JP" altLang="en-US" dirty="0"/>
          </a:p>
        </p:txBody>
      </p:sp>
      <p:sp>
        <p:nvSpPr>
          <p:cNvPr id="11" name="テキスト プレースホルダー 2">
            <a:extLst>
              <a:ext uri="{FF2B5EF4-FFF2-40B4-BE49-F238E27FC236}">
                <a16:creationId xmlns:a16="http://schemas.microsoft.com/office/drawing/2014/main" id="{C21982E8-0AA5-B139-A638-609E7BE6AA6D}"/>
              </a:ext>
            </a:extLst>
          </p:cNvPr>
          <p:cNvSpPr>
            <a:spLocks noGrp="1"/>
          </p:cNvSpPr>
          <p:nvPr userDrawn="1">
            <p:ph type="body" sz="quarter" idx="11" hasCustomPrompt="1"/>
          </p:nvPr>
        </p:nvSpPr>
        <p:spPr>
          <a:xfrm>
            <a:off x="1074641" y="3369600"/>
            <a:ext cx="5760000" cy="230832"/>
          </a:xfrm>
          <a:prstGeom prst="rect">
            <a:avLst/>
          </a:prstGeom>
        </p:spPr>
        <p:txBody>
          <a:bodyPr lIns="0" tIns="0" rIns="0" bIns="0">
            <a:spAutoFit/>
          </a:bodyPr>
          <a:lstStyle>
            <a:lvl1pPr marL="0" indent="0">
              <a:lnSpc>
                <a:spcPct val="100000"/>
              </a:lnSpc>
              <a:buNone/>
              <a:defRPr sz="1500"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dirty="0"/>
              <a:t>タイトル</a:t>
            </a:r>
            <a:r>
              <a:rPr kumimoji="1" lang="en-US" altLang="ja-JP" dirty="0"/>
              <a:t>/BIZ UDP</a:t>
            </a:r>
            <a:r>
              <a:rPr kumimoji="1" lang="ja-JP" altLang="en-US" dirty="0"/>
              <a:t>ゴシック</a:t>
            </a:r>
            <a:r>
              <a:rPr kumimoji="1" lang="en-US" altLang="ja-JP" dirty="0"/>
              <a:t>/15pt</a:t>
            </a:r>
            <a:endParaRPr kumimoji="1" lang="ja-JP" altLang="en-US" dirty="0"/>
          </a:p>
        </p:txBody>
      </p:sp>
      <p:sp>
        <p:nvSpPr>
          <p:cNvPr id="12" name="テキスト プレースホルダー 2">
            <a:extLst>
              <a:ext uri="{FF2B5EF4-FFF2-40B4-BE49-F238E27FC236}">
                <a16:creationId xmlns:a16="http://schemas.microsoft.com/office/drawing/2014/main" id="{98F789AA-6DDF-1CB2-212D-496D0A30DBFF}"/>
              </a:ext>
            </a:extLst>
          </p:cNvPr>
          <p:cNvSpPr>
            <a:spLocks noGrp="1"/>
          </p:cNvSpPr>
          <p:nvPr userDrawn="1">
            <p:ph type="body" sz="quarter" idx="12" hasCustomPrompt="1"/>
          </p:nvPr>
        </p:nvSpPr>
        <p:spPr>
          <a:xfrm>
            <a:off x="1074641" y="4060800"/>
            <a:ext cx="5760000" cy="230832"/>
          </a:xfrm>
          <a:prstGeom prst="rect">
            <a:avLst/>
          </a:prstGeom>
        </p:spPr>
        <p:txBody>
          <a:bodyPr lIns="0" tIns="0" rIns="0" bIns="0">
            <a:spAutoFit/>
          </a:bodyPr>
          <a:lstStyle>
            <a:lvl1pPr marL="0" indent="0">
              <a:lnSpc>
                <a:spcPct val="100000"/>
              </a:lnSpc>
              <a:buNone/>
              <a:defRPr sz="1500"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a:t>日付</a:t>
            </a:r>
            <a:r>
              <a:rPr kumimoji="1" lang="en-US" altLang="ja-JP" dirty="0"/>
              <a:t>/BIZ UDP</a:t>
            </a:r>
            <a:r>
              <a:rPr kumimoji="1" lang="ja-JP" altLang="en-US" dirty="0"/>
              <a:t>ゴシック</a:t>
            </a:r>
            <a:r>
              <a:rPr kumimoji="1" lang="en-US" altLang="ja-JP" dirty="0"/>
              <a:t>/15pt</a:t>
            </a:r>
            <a:endParaRPr kumimoji="1" lang="ja-JP" altLang="en-US" dirty="0"/>
          </a:p>
        </p:txBody>
      </p:sp>
      <p:sp>
        <p:nvSpPr>
          <p:cNvPr id="13" name="テキスト プレースホルダー 2">
            <a:extLst>
              <a:ext uri="{FF2B5EF4-FFF2-40B4-BE49-F238E27FC236}">
                <a16:creationId xmlns:a16="http://schemas.microsoft.com/office/drawing/2014/main" id="{4636B0AC-C4BF-B3EB-36B9-77DC068456A5}"/>
              </a:ext>
            </a:extLst>
          </p:cNvPr>
          <p:cNvSpPr>
            <a:spLocks noGrp="1"/>
          </p:cNvSpPr>
          <p:nvPr userDrawn="1">
            <p:ph type="body" sz="quarter" idx="13" hasCustomPrompt="1"/>
          </p:nvPr>
        </p:nvSpPr>
        <p:spPr>
          <a:xfrm>
            <a:off x="1074641" y="4356000"/>
            <a:ext cx="3600000" cy="230832"/>
          </a:xfrm>
          <a:prstGeom prst="rect">
            <a:avLst/>
          </a:prstGeom>
        </p:spPr>
        <p:txBody>
          <a:bodyPr wrap="square" lIns="0" tIns="0" rIns="0" bIns="0">
            <a:spAutoFit/>
          </a:bodyPr>
          <a:lstStyle>
            <a:lvl1pPr marL="0" indent="0">
              <a:lnSpc>
                <a:spcPct val="100000"/>
              </a:lnSpc>
              <a:buNone/>
              <a:defRPr sz="1500"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dirty="0"/>
              <a:t>部署名</a:t>
            </a:r>
            <a:r>
              <a:rPr kumimoji="1" lang="en-US" altLang="ja-JP" dirty="0"/>
              <a:t>/BIZ UDP</a:t>
            </a:r>
            <a:r>
              <a:rPr kumimoji="1" lang="ja-JP" altLang="en-US" dirty="0"/>
              <a:t>ゴシック</a:t>
            </a:r>
            <a:r>
              <a:rPr kumimoji="1" lang="en-US" altLang="ja-JP" dirty="0"/>
              <a:t>/15pt</a:t>
            </a:r>
            <a:endParaRPr kumimoji="1" lang="ja-JP" altLang="en-US" dirty="0"/>
          </a:p>
        </p:txBody>
      </p:sp>
      <p:sp>
        <p:nvSpPr>
          <p:cNvPr id="14" name="テキスト プレースホルダー 2">
            <a:extLst>
              <a:ext uri="{FF2B5EF4-FFF2-40B4-BE49-F238E27FC236}">
                <a16:creationId xmlns:a16="http://schemas.microsoft.com/office/drawing/2014/main" id="{A142F527-8628-4EAD-A942-20ED53FCA85F}"/>
              </a:ext>
            </a:extLst>
          </p:cNvPr>
          <p:cNvSpPr>
            <a:spLocks noGrp="1"/>
          </p:cNvSpPr>
          <p:nvPr userDrawn="1">
            <p:ph type="body" sz="quarter" idx="14" hasCustomPrompt="1"/>
          </p:nvPr>
        </p:nvSpPr>
        <p:spPr>
          <a:xfrm>
            <a:off x="4774853" y="4356000"/>
            <a:ext cx="3600000" cy="230832"/>
          </a:xfrm>
          <a:prstGeom prst="rect">
            <a:avLst/>
          </a:prstGeom>
        </p:spPr>
        <p:txBody>
          <a:bodyPr wrap="square" lIns="0" tIns="0" rIns="0" bIns="0">
            <a:spAutoFit/>
          </a:bodyPr>
          <a:lstStyle>
            <a:lvl1pPr marL="0" indent="0">
              <a:lnSpc>
                <a:spcPct val="100000"/>
              </a:lnSpc>
              <a:buNone/>
              <a:defRPr sz="1500"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a:t>氏名</a:t>
            </a:r>
            <a:r>
              <a:rPr kumimoji="1" lang="en-US" altLang="ja-JP" dirty="0"/>
              <a:t>/BIZ UDP</a:t>
            </a:r>
            <a:r>
              <a:rPr kumimoji="1" lang="ja-JP" altLang="en-US" dirty="0"/>
              <a:t>ゴシック</a:t>
            </a:r>
            <a:r>
              <a:rPr kumimoji="1" lang="en-US" altLang="ja-JP" dirty="0"/>
              <a:t>/15pt</a:t>
            </a:r>
            <a:endParaRPr kumimoji="1" lang="ja-JP" altLang="en-US" dirty="0"/>
          </a:p>
        </p:txBody>
      </p:sp>
      <p:sp>
        <p:nvSpPr>
          <p:cNvPr id="6" name="正方形/長方形 5">
            <a:extLst>
              <a:ext uri="{FF2B5EF4-FFF2-40B4-BE49-F238E27FC236}">
                <a16:creationId xmlns:a16="http://schemas.microsoft.com/office/drawing/2014/main" id="{737C73DF-67C4-B8F3-369C-176B13E9599A}"/>
              </a:ext>
            </a:extLst>
          </p:cNvPr>
          <p:cNvSpPr/>
          <p:nvPr userDrawn="1"/>
        </p:nvSpPr>
        <p:spPr>
          <a:xfrm>
            <a:off x="725053" y="2223631"/>
            <a:ext cx="144000" cy="864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a typeface="+mn-ea"/>
            </a:endParaRPr>
          </a:p>
        </p:txBody>
      </p:sp>
    </p:spTree>
    <p:extLst>
      <p:ext uri="{BB962C8B-B14F-4D97-AF65-F5344CB8AC3E}">
        <p14:creationId xmlns:p14="http://schemas.microsoft.com/office/powerpoint/2010/main" val="1056462188"/>
      </p:ext>
    </p:extLst>
  </p:cSld>
  <p:clrMapOvr>
    <a:masterClrMapping/>
  </p:clrMapOvr>
  <p:extLst>
    <p:ext uri="{DCECCB84-F9BA-43D5-87BE-67443E8EF086}">
      <p15:sldGuideLst xmlns:p15="http://schemas.microsoft.com/office/powerpoint/2012/main">
        <p15:guide id="2" orient="horz" pos="58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1">
    <p:spTree>
      <p:nvGrpSpPr>
        <p:cNvPr id="1" name=""/>
        <p:cNvGrpSpPr/>
        <p:nvPr/>
      </p:nvGrpSpPr>
      <p:grpSpPr>
        <a:xfrm>
          <a:off x="0" y="0"/>
          <a:ext cx="0" cy="0"/>
          <a:chOff x="0" y="0"/>
          <a:chExt cx="0" cy="0"/>
        </a:xfrm>
      </p:grpSpPr>
      <p:pic>
        <p:nvPicPr>
          <p:cNvPr id="3" name="図 2" descr="図形 が含まれている画像&#10;&#10;自動的に生成された説明">
            <a:extLst>
              <a:ext uri="{FF2B5EF4-FFF2-40B4-BE49-F238E27FC236}">
                <a16:creationId xmlns:a16="http://schemas.microsoft.com/office/drawing/2014/main" id="{AA6F6701-1A79-1BE1-706A-C65F2EC4D6FF}"/>
              </a:ext>
            </a:extLst>
          </p:cNvPr>
          <p:cNvPicPr>
            <a:picLocks noChangeAspect="1"/>
          </p:cNvPicPr>
          <p:nvPr userDrawn="1"/>
        </p:nvPicPr>
        <p:blipFill>
          <a:blip r:embed="rId2"/>
          <a:stretch>
            <a:fillRect/>
          </a:stretch>
        </p:blipFill>
        <p:spPr>
          <a:xfrm>
            <a:off x="5556" y="1586"/>
            <a:ext cx="10690737" cy="7563600"/>
          </a:xfrm>
          <a:prstGeom prst="rect">
            <a:avLst/>
          </a:prstGeom>
        </p:spPr>
      </p:pic>
      <p:sp>
        <p:nvSpPr>
          <p:cNvPr id="13" name="スライド番号プレースホルダー 12">
            <a:extLst>
              <a:ext uri="{FF2B5EF4-FFF2-40B4-BE49-F238E27FC236}">
                <a16:creationId xmlns:a16="http://schemas.microsoft.com/office/drawing/2014/main" id="{02CED2FB-6D79-069B-F8EE-8E481331DBB3}"/>
              </a:ext>
            </a:extLst>
          </p:cNvPr>
          <p:cNvSpPr>
            <a:spLocks noGrp="1"/>
          </p:cNvSpPr>
          <p:nvPr userDrawn="1">
            <p:ph type="sldNum" sz="quarter" idx="13"/>
          </p:nvPr>
        </p:nvSpPr>
        <p:spPr/>
        <p:txBody>
          <a:bodyPr/>
          <a:lstStyle/>
          <a:p>
            <a:fld id="{9BF854DB-42D3-EE44-9486-1E8138C63EFC}" type="slidenum">
              <a:rPr lang="ja-JP" altLang="en-US" smtClean="0"/>
              <a:pPr/>
              <a:t>‹#›</a:t>
            </a:fld>
            <a:endParaRPr lang="ja-JP" altLang="en-US"/>
          </a:p>
        </p:txBody>
      </p:sp>
      <p:sp>
        <p:nvSpPr>
          <p:cNvPr id="14" name="Content Placeholder 2">
            <a:extLst>
              <a:ext uri="{FF2B5EF4-FFF2-40B4-BE49-F238E27FC236}">
                <a16:creationId xmlns:a16="http://schemas.microsoft.com/office/drawing/2014/main" id="{40117111-BC5D-3E5E-2113-5E262AB793B3}"/>
              </a:ext>
            </a:extLst>
          </p:cNvPr>
          <p:cNvSpPr>
            <a:spLocks noGrp="1"/>
          </p:cNvSpPr>
          <p:nvPr userDrawn="1">
            <p:ph sz="half" idx="1"/>
          </p:nvPr>
        </p:nvSpPr>
        <p:spPr>
          <a:xfrm>
            <a:off x="349200" y="1800000"/>
            <a:ext cx="9972000" cy="4752000"/>
          </a:xfrm>
          <a:prstGeom prst="rect">
            <a:avLst/>
          </a:prstGeom>
        </p:spPr>
        <p:txBody>
          <a:bodyPr/>
          <a:lstStyle>
            <a:lvl1pPr marL="0" indent="0">
              <a:lnSpc>
                <a:spcPts val="1400"/>
              </a:lnSpc>
              <a:spcBef>
                <a:spcPts val="0"/>
              </a:spcBef>
              <a:buFontTx/>
              <a:buNone/>
              <a:defRPr sz="1100" b="0" i="0">
                <a:latin typeface="+mn-ea"/>
                <a:ea typeface="+mn-ea"/>
              </a:defRPr>
            </a:lvl1pPr>
            <a:lvl2pPr marL="504825" indent="0">
              <a:lnSpc>
                <a:spcPts val="1400"/>
              </a:lnSpc>
              <a:buFontTx/>
              <a:buNone/>
              <a:defRPr sz="1100" b="0" i="0">
                <a:latin typeface="Yu Gothic Medium" panose="020B0400000000000000" pitchFamily="34" charset="-128"/>
                <a:ea typeface="Yu Gothic Medium" panose="020B0400000000000000" pitchFamily="34" charset="-128"/>
              </a:defRPr>
            </a:lvl2pPr>
            <a:lvl3pPr marL="1008063" indent="0">
              <a:lnSpc>
                <a:spcPts val="1400"/>
              </a:lnSpc>
              <a:buFontTx/>
              <a:buNone/>
              <a:defRPr sz="1100" b="0" i="0">
                <a:latin typeface="Yu Gothic Medium" panose="020B0400000000000000" pitchFamily="34" charset="-128"/>
                <a:ea typeface="Yu Gothic Medium" panose="020B0400000000000000" pitchFamily="34" charset="-128"/>
              </a:defRPr>
            </a:lvl3pPr>
            <a:lvl4pPr marL="1512888" indent="0">
              <a:lnSpc>
                <a:spcPts val="1400"/>
              </a:lnSpc>
              <a:buFontTx/>
              <a:buNone/>
              <a:defRPr sz="1100" b="0" i="0">
                <a:latin typeface="Yu Gothic Medium" panose="020B0400000000000000" pitchFamily="34" charset="-128"/>
                <a:ea typeface="Yu Gothic Medium" panose="020B0400000000000000" pitchFamily="34" charset="-128"/>
              </a:defRPr>
            </a:lvl4pPr>
            <a:lvl5pPr marL="2016125" indent="0">
              <a:lnSpc>
                <a:spcPts val="1400"/>
              </a:lnSpc>
              <a:buFontTx/>
              <a:buNone/>
              <a:defRPr sz="1100"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7" name="タイトル プレースホルダー 21">
            <a:extLst>
              <a:ext uri="{FF2B5EF4-FFF2-40B4-BE49-F238E27FC236}">
                <a16:creationId xmlns:a16="http://schemas.microsoft.com/office/drawing/2014/main" id="{7417C78E-E432-79DA-F370-0575C3DE9B74}"/>
              </a:ext>
            </a:extLst>
          </p:cNvPr>
          <p:cNvSpPr>
            <a:spLocks noGrp="1"/>
          </p:cNvSpPr>
          <p:nvPr userDrawn="1">
            <p:ph type="title" hasCustomPrompt="1"/>
          </p:nvPr>
        </p:nvSpPr>
        <p:spPr>
          <a:xfrm>
            <a:off x="561311" y="612000"/>
            <a:ext cx="8820000" cy="720000"/>
          </a:xfrm>
          <a:prstGeom prst="rect">
            <a:avLst/>
          </a:prstGeom>
        </p:spPr>
        <p:txBody>
          <a:bodyPr vert="horz" lIns="0" tIns="0" rIns="0" bIns="0" rtlCol="0" anchor="ctr">
            <a:noAutofit/>
          </a:bodyPr>
          <a:lstStyle>
            <a:lvl1pPr>
              <a:defRPr>
                <a:latin typeface="+mj-ea"/>
                <a:ea typeface="+mj-ea"/>
              </a:defRPr>
            </a:lvl1pPr>
          </a:lstStyle>
          <a:p>
            <a:r>
              <a:rPr kumimoji="1" lang="ja-JP" altLang="en-US" dirty="0"/>
              <a:t>タイトル</a:t>
            </a:r>
            <a:r>
              <a:rPr kumimoji="1" lang="en-US" altLang="ja-JP" dirty="0"/>
              <a:t>/BIZ UDP</a:t>
            </a:r>
            <a:r>
              <a:rPr kumimoji="1" lang="ja-JP" altLang="en-US"/>
              <a:t>ゴシック</a:t>
            </a:r>
            <a:r>
              <a:rPr kumimoji="1" lang="en-US" altLang="ja-JP" dirty="0"/>
              <a:t>/18</a:t>
            </a:r>
            <a:r>
              <a:rPr kumimoji="1" lang="ja-JP" altLang="en-US" dirty="0"/>
              <a:t>ｐｔ</a:t>
            </a:r>
          </a:p>
        </p:txBody>
      </p:sp>
      <p:sp>
        <p:nvSpPr>
          <p:cNvPr id="4" name="正方形/長方形 3">
            <a:extLst>
              <a:ext uri="{FF2B5EF4-FFF2-40B4-BE49-F238E27FC236}">
                <a16:creationId xmlns:a16="http://schemas.microsoft.com/office/drawing/2014/main" id="{F91647BD-381A-AF13-BFF3-D5C091ED80CC}"/>
              </a:ext>
            </a:extLst>
          </p:cNvPr>
          <p:cNvSpPr/>
          <p:nvPr userDrawn="1"/>
        </p:nvSpPr>
        <p:spPr>
          <a:xfrm>
            <a:off x="360000" y="759600"/>
            <a:ext cx="72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3389694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本文2">
    <p:spTree>
      <p:nvGrpSpPr>
        <p:cNvPr id="1" name=""/>
        <p:cNvGrpSpPr/>
        <p:nvPr/>
      </p:nvGrpSpPr>
      <p:grpSpPr>
        <a:xfrm>
          <a:off x="0" y="0"/>
          <a:ext cx="0" cy="0"/>
          <a:chOff x="0" y="0"/>
          <a:chExt cx="0" cy="0"/>
        </a:xfrm>
      </p:grpSpPr>
      <p:pic>
        <p:nvPicPr>
          <p:cNvPr id="2" name="図 1" descr="図形 が含まれている画像&#10;&#10;自動的に生成された説明">
            <a:extLst>
              <a:ext uri="{FF2B5EF4-FFF2-40B4-BE49-F238E27FC236}">
                <a16:creationId xmlns:a16="http://schemas.microsoft.com/office/drawing/2014/main" id="{EADAFBDA-F769-85B4-0C64-2722E22AF1A2}"/>
              </a:ext>
            </a:extLst>
          </p:cNvPr>
          <p:cNvPicPr>
            <a:picLocks noChangeAspect="1"/>
          </p:cNvPicPr>
          <p:nvPr userDrawn="1"/>
        </p:nvPicPr>
        <p:blipFill>
          <a:blip r:embed="rId2"/>
          <a:stretch>
            <a:fillRect/>
          </a:stretch>
        </p:blipFill>
        <p:spPr>
          <a:xfrm>
            <a:off x="5556" y="1586"/>
            <a:ext cx="10690737" cy="7563600"/>
          </a:xfrm>
          <a:prstGeom prst="rect">
            <a:avLst/>
          </a:prstGeom>
        </p:spPr>
      </p:pic>
      <p:sp>
        <p:nvSpPr>
          <p:cNvPr id="13" name="スライド番号プレースホルダー 12">
            <a:extLst>
              <a:ext uri="{FF2B5EF4-FFF2-40B4-BE49-F238E27FC236}">
                <a16:creationId xmlns:a16="http://schemas.microsoft.com/office/drawing/2014/main" id="{02CED2FB-6D79-069B-F8EE-8E481331DBB3}"/>
              </a:ext>
            </a:extLst>
          </p:cNvPr>
          <p:cNvSpPr>
            <a:spLocks noGrp="1"/>
          </p:cNvSpPr>
          <p:nvPr>
            <p:ph type="sldNum" sz="quarter" idx="13"/>
          </p:nvPr>
        </p:nvSpPr>
        <p:spPr/>
        <p:txBody>
          <a:bodyPr/>
          <a:lstStyle>
            <a:lvl1pPr>
              <a:defRPr>
                <a:latin typeface="+mn-ea"/>
                <a:ea typeface="+mn-ea"/>
              </a:defRPr>
            </a:lvl1pPr>
          </a:lstStyle>
          <a:p>
            <a:fld id="{9BF854DB-42D3-EE44-9486-1E8138C63EFC}" type="slidenum">
              <a:rPr lang="ja-JP" altLang="en-US" smtClean="0"/>
              <a:pPr/>
              <a:t>‹#›</a:t>
            </a:fld>
            <a:endParaRPr lang="ja-JP" altLang="en-US" dirty="0"/>
          </a:p>
        </p:txBody>
      </p:sp>
      <p:sp>
        <p:nvSpPr>
          <p:cNvPr id="14" name="Content Placeholder 2">
            <a:extLst>
              <a:ext uri="{FF2B5EF4-FFF2-40B4-BE49-F238E27FC236}">
                <a16:creationId xmlns:a16="http://schemas.microsoft.com/office/drawing/2014/main" id="{40117111-BC5D-3E5E-2113-5E262AB793B3}"/>
              </a:ext>
            </a:extLst>
          </p:cNvPr>
          <p:cNvSpPr>
            <a:spLocks noGrp="1"/>
          </p:cNvSpPr>
          <p:nvPr>
            <p:ph sz="half" idx="1"/>
          </p:nvPr>
        </p:nvSpPr>
        <p:spPr>
          <a:xfrm>
            <a:off x="349200" y="1800000"/>
            <a:ext cx="4932000" cy="4752000"/>
          </a:xfrm>
          <a:prstGeom prst="rect">
            <a:avLst/>
          </a:prstGeom>
        </p:spPr>
        <p:txBody>
          <a:bodyPr/>
          <a:lstStyle>
            <a:lvl1pPr marL="0" indent="0">
              <a:lnSpc>
                <a:spcPts val="1400"/>
              </a:lnSpc>
              <a:spcBef>
                <a:spcPts val="0"/>
              </a:spcBef>
              <a:buFontTx/>
              <a:buNone/>
              <a:defRPr sz="1100" b="0" i="0">
                <a:latin typeface="+mn-ea"/>
                <a:ea typeface="+mn-ea"/>
              </a:defRPr>
            </a:lvl1pPr>
            <a:lvl2pPr marL="504825" indent="0">
              <a:lnSpc>
                <a:spcPts val="1400"/>
              </a:lnSpc>
              <a:buFontTx/>
              <a:buNone/>
              <a:defRPr sz="1100" b="0" i="0">
                <a:latin typeface="Yu Gothic Medium" panose="020B0400000000000000" pitchFamily="34" charset="-128"/>
                <a:ea typeface="Yu Gothic Medium" panose="020B0400000000000000" pitchFamily="34" charset="-128"/>
              </a:defRPr>
            </a:lvl2pPr>
            <a:lvl3pPr marL="1008063" indent="0">
              <a:lnSpc>
                <a:spcPts val="1400"/>
              </a:lnSpc>
              <a:buFontTx/>
              <a:buNone/>
              <a:defRPr sz="1100" b="0" i="0">
                <a:latin typeface="Yu Gothic Medium" panose="020B0400000000000000" pitchFamily="34" charset="-128"/>
                <a:ea typeface="Yu Gothic Medium" panose="020B0400000000000000" pitchFamily="34" charset="-128"/>
              </a:defRPr>
            </a:lvl3pPr>
            <a:lvl4pPr marL="1512888" indent="0">
              <a:lnSpc>
                <a:spcPts val="1400"/>
              </a:lnSpc>
              <a:buFontTx/>
              <a:buNone/>
              <a:defRPr sz="1100" b="0" i="0">
                <a:latin typeface="Yu Gothic Medium" panose="020B0400000000000000" pitchFamily="34" charset="-128"/>
                <a:ea typeface="Yu Gothic Medium" panose="020B0400000000000000" pitchFamily="34" charset="-128"/>
              </a:defRPr>
            </a:lvl4pPr>
            <a:lvl5pPr marL="2016125" indent="0">
              <a:lnSpc>
                <a:spcPts val="1400"/>
              </a:lnSpc>
              <a:buFontTx/>
              <a:buNone/>
              <a:defRPr sz="1100"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5" name="Content Placeholder 3">
            <a:extLst>
              <a:ext uri="{FF2B5EF4-FFF2-40B4-BE49-F238E27FC236}">
                <a16:creationId xmlns:a16="http://schemas.microsoft.com/office/drawing/2014/main" id="{BF30B752-BE3E-4F07-AADB-D23BDD3A3574}"/>
              </a:ext>
            </a:extLst>
          </p:cNvPr>
          <p:cNvSpPr>
            <a:spLocks noGrp="1"/>
          </p:cNvSpPr>
          <p:nvPr>
            <p:ph sz="half" idx="2"/>
          </p:nvPr>
        </p:nvSpPr>
        <p:spPr>
          <a:xfrm>
            <a:off x="5400000" y="1800000"/>
            <a:ext cx="4932000" cy="4752000"/>
          </a:xfrm>
          <a:prstGeom prst="rect">
            <a:avLst/>
          </a:prstGeom>
        </p:spPr>
        <p:txBody>
          <a:bodyPr/>
          <a:lstStyle>
            <a:lvl1pPr marL="0" indent="0">
              <a:lnSpc>
                <a:spcPts val="1400"/>
              </a:lnSpc>
              <a:spcBef>
                <a:spcPts val="0"/>
              </a:spcBef>
              <a:buFontTx/>
              <a:buNone/>
              <a:defRPr sz="1100" b="0" i="0">
                <a:latin typeface="+mn-ea"/>
                <a:ea typeface="+mn-ea"/>
              </a:defRPr>
            </a:lvl1pPr>
            <a:lvl2pPr marL="504825" indent="0">
              <a:lnSpc>
                <a:spcPts val="1400"/>
              </a:lnSpc>
              <a:buFontTx/>
              <a:buNone/>
              <a:defRPr sz="1100" b="0" i="0">
                <a:latin typeface="Yu Gothic Medium" panose="020B0400000000000000" pitchFamily="34" charset="-128"/>
                <a:ea typeface="Yu Gothic Medium" panose="020B0400000000000000" pitchFamily="34" charset="-128"/>
              </a:defRPr>
            </a:lvl2pPr>
            <a:lvl3pPr marL="1008063" indent="0">
              <a:lnSpc>
                <a:spcPts val="1400"/>
              </a:lnSpc>
              <a:buFontTx/>
              <a:buNone/>
              <a:defRPr sz="1100" b="0" i="0">
                <a:latin typeface="Yu Gothic Medium" panose="020B0400000000000000" pitchFamily="34" charset="-128"/>
                <a:ea typeface="Yu Gothic Medium" panose="020B0400000000000000" pitchFamily="34" charset="-128"/>
              </a:defRPr>
            </a:lvl3pPr>
            <a:lvl4pPr marL="1512888" indent="0">
              <a:lnSpc>
                <a:spcPts val="1400"/>
              </a:lnSpc>
              <a:buFontTx/>
              <a:buNone/>
              <a:defRPr sz="1100" b="0" i="0">
                <a:latin typeface="Yu Gothic Medium" panose="020B0400000000000000" pitchFamily="34" charset="-128"/>
                <a:ea typeface="Yu Gothic Medium" panose="020B0400000000000000" pitchFamily="34" charset="-128"/>
              </a:defRPr>
            </a:lvl4pPr>
            <a:lvl5pPr marL="2016125" indent="0">
              <a:lnSpc>
                <a:spcPts val="1400"/>
              </a:lnSpc>
              <a:buFontTx/>
              <a:buNone/>
              <a:defRPr sz="1100"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1" name="タイトル プレースホルダー 21">
            <a:extLst>
              <a:ext uri="{FF2B5EF4-FFF2-40B4-BE49-F238E27FC236}">
                <a16:creationId xmlns:a16="http://schemas.microsoft.com/office/drawing/2014/main" id="{7574F620-C30D-9C72-BF12-26F6E95C56BA}"/>
              </a:ext>
            </a:extLst>
          </p:cNvPr>
          <p:cNvSpPr>
            <a:spLocks noGrp="1"/>
          </p:cNvSpPr>
          <p:nvPr userDrawn="1">
            <p:ph type="title" hasCustomPrompt="1"/>
          </p:nvPr>
        </p:nvSpPr>
        <p:spPr>
          <a:xfrm>
            <a:off x="561311" y="612000"/>
            <a:ext cx="8820000" cy="720000"/>
          </a:xfrm>
          <a:prstGeom prst="rect">
            <a:avLst/>
          </a:prstGeom>
        </p:spPr>
        <p:txBody>
          <a:bodyPr vert="horz" lIns="0" tIns="0" rIns="0" bIns="0" rtlCol="0" anchor="ctr">
            <a:noAutofit/>
          </a:bodyPr>
          <a:lstStyle>
            <a:lvl1pPr>
              <a:defRPr>
                <a:latin typeface="+mj-ea"/>
                <a:ea typeface="+mj-ea"/>
              </a:defRPr>
            </a:lvl1pPr>
          </a:lstStyle>
          <a:p>
            <a:r>
              <a:rPr kumimoji="1" lang="ja-JP" altLang="en-US" dirty="0"/>
              <a:t>タイトル</a:t>
            </a:r>
            <a:r>
              <a:rPr kumimoji="1" lang="en-US" altLang="ja-JP" dirty="0"/>
              <a:t>/BIZ UDP</a:t>
            </a:r>
            <a:r>
              <a:rPr kumimoji="1" lang="ja-JP" altLang="en-US"/>
              <a:t>ゴシック</a:t>
            </a:r>
            <a:r>
              <a:rPr kumimoji="1" lang="en-US" altLang="ja-JP" dirty="0"/>
              <a:t>/18</a:t>
            </a:r>
            <a:r>
              <a:rPr kumimoji="1" lang="ja-JP" altLang="en-US" dirty="0"/>
              <a:t>ｐｔ</a:t>
            </a:r>
          </a:p>
        </p:txBody>
      </p:sp>
      <p:sp>
        <p:nvSpPr>
          <p:cNvPr id="3" name="正方形/長方形 2">
            <a:extLst>
              <a:ext uri="{FF2B5EF4-FFF2-40B4-BE49-F238E27FC236}">
                <a16:creationId xmlns:a16="http://schemas.microsoft.com/office/drawing/2014/main" id="{96617CEF-2746-C18A-B39B-43F6AF3B1AC2}"/>
              </a:ext>
            </a:extLst>
          </p:cNvPr>
          <p:cNvSpPr/>
          <p:nvPr userDrawn="1"/>
        </p:nvSpPr>
        <p:spPr>
          <a:xfrm>
            <a:off x="360000" y="759600"/>
            <a:ext cx="72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7291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文3">
    <p:spTree>
      <p:nvGrpSpPr>
        <p:cNvPr id="1" name=""/>
        <p:cNvGrpSpPr/>
        <p:nvPr/>
      </p:nvGrpSpPr>
      <p:grpSpPr>
        <a:xfrm>
          <a:off x="0" y="0"/>
          <a:ext cx="0" cy="0"/>
          <a:chOff x="0" y="0"/>
          <a:chExt cx="0" cy="0"/>
        </a:xfrm>
      </p:grpSpPr>
      <p:pic>
        <p:nvPicPr>
          <p:cNvPr id="2" name="図 1" descr="図形 が含まれている画像&#10;&#10;自動的に生成された説明">
            <a:extLst>
              <a:ext uri="{FF2B5EF4-FFF2-40B4-BE49-F238E27FC236}">
                <a16:creationId xmlns:a16="http://schemas.microsoft.com/office/drawing/2014/main" id="{73B9DD23-2BC3-286C-7DD0-EB5F7A65CDE5}"/>
              </a:ext>
            </a:extLst>
          </p:cNvPr>
          <p:cNvPicPr>
            <a:picLocks noChangeAspect="1"/>
          </p:cNvPicPr>
          <p:nvPr userDrawn="1"/>
        </p:nvPicPr>
        <p:blipFill>
          <a:blip r:embed="rId2"/>
          <a:stretch>
            <a:fillRect/>
          </a:stretch>
        </p:blipFill>
        <p:spPr>
          <a:xfrm>
            <a:off x="5556" y="1586"/>
            <a:ext cx="10690737" cy="7563600"/>
          </a:xfrm>
          <a:prstGeom prst="rect">
            <a:avLst/>
          </a:prstGeom>
        </p:spPr>
      </p:pic>
      <p:sp>
        <p:nvSpPr>
          <p:cNvPr id="3" name="Picture Placeholder 2"/>
          <p:cNvSpPr>
            <a:spLocks noGrp="1"/>
          </p:cNvSpPr>
          <p:nvPr>
            <p:ph type="pic" idx="1"/>
          </p:nvPr>
        </p:nvSpPr>
        <p:spPr>
          <a:xfrm>
            <a:off x="4136400" y="1800000"/>
            <a:ext cx="6192000" cy="4752000"/>
          </a:xfrm>
          <a:prstGeom prst="rect">
            <a:avLst/>
          </a:prstGeom>
        </p:spPr>
        <p:txBody>
          <a:bodyPr rtlCol="0">
            <a:normAutofit/>
          </a:bodyPr>
          <a:lstStyle>
            <a:lvl1pPr marL="0" indent="0">
              <a:spcBef>
                <a:spcPts val="0"/>
              </a:spcBef>
              <a:buNone/>
              <a:defRPr sz="1100" b="0" i="0">
                <a:latin typeface="+mn-ea"/>
                <a:ea typeface="+mn-ea"/>
              </a:defRPr>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pPr lvl="0"/>
            <a:r>
              <a:rPr lang="ja-JP" altLang="en-US" noProof="0"/>
              <a:t>アイコンをクリックして図を追加</a:t>
            </a:r>
            <a:endParaRPr lang="en-US" noProof="0" dirty="0"/>
          </a:p>
        </p:txBody>
      </p:sp>
      <p:sp>
        <p:nvSpPr>
          <p:cNvPr id="10" name="テキスト プレースホルダー 10">
            <a:extLst>
              <a:ext uri="{FF2B5EF4-FFF2-40B4-BE49-F238E27FC236}">
                <a16:creationId xmlns:a16="http://schemas.microsoft.com/office/drawing/2014/main" id="{1BAC0C75-DB0E-654F-213C-7C81C6B037D2}"/>
              </a:ext>
            </a:extLst>
          </p:cNvPr>
          <p:cNvSpPr>
            <a:spLocks noGrp="1"/>
          </p:cNvSpPr>
          <p:nvPr>
            <p:ph type="body" sz="quarter" idx="12"/>
          </p:nvPr>
        </p:nvSpPr>
        <p:spPr>
          <a:xfrm>
            <a:off x="349200" y="1800000"/>
            <a:ext cx="3600000" cy="4752000"/>
          </a:xfrm>
          <a:prstGeom prst="rect">
            <a:avLst/>
          </a:prstGeom>
        </p:spPr>
        <p:txBody>
          <a:bodyPr/>
          <a:lstStyle>
            <a:lvl1pPr marL="0" indent="0">
              <a:lnSpc>
                <a:spcPts val="1400"/>
              </a:lnSpc>
              <a:spcBef>
                <a:spcPts val="0"/>
              </a:spcBef>
              <a:buFontTx/>
              <a:buNone/>
              <a:defRPr sz="1100" b="0" i="0">
                <a:latin typeface="+mn-ea"/>
                <a:ea typeface="+mn-ea"/>
              </a:defRPr>
            </a:lvl1pPr>
            <a:lvl2pPr marL="504825" indent="0">
              <a:lnSpc>
                <a:spcPts val="1400"/>
              </a:lnSpc>
              <a:buFontTx/>
              <a:buNone/>
              <a:defRPr sz="1100" b="0" i="0">
                <a:latin typeface="Yu Gothic Medium" panose="020B0400000000000000" pitchFamily="34" charset="-128"/>
                <a:ea typeface="Yu Gothic Medium" panose="020B0400000000000000" pitchFamily="34" charset="-128"/>
              </a:defRPr>
            </a:lvl2pPr>
          </a:lstStyle>
          <a:p>
            <a:pPr lvl="0"/>
            <a:r>
              <a:rPr kumimoji="1" lang="ja-JP" altLang="en-US"/>
              <a:t>マスター テキストの書式設定</a:t>
            </a:r>
          </a:p>
        </p:txBody>
      </p:sp>
      <p:sp>
        <p:nvSpPr>
          <p:cNvPr id="12" name="スライド番号プレースホルダー 11">
            <a:extLst>
              <a:ext uri="{FF2B5EF4-FFF2-40B4-BE49-F238E27FC236}">
                <a16:creationId xmlns:a16="http://schemas.microsoft.com/office/drawing/2014/main" id="{A067DC4B-3363-5DE1-FF9A-4D74C1F904B4}"/>
              </a:ext>
            </a:extLst>
          </p:cNvPr>
          <p:cNvSpPr>
            <a:spLocks noGrp="1"/>
          </p:cNvSpPr>
          <p:nvPr>
            <p:ph type="sldNum" sz="quarter" idx="13"/>
          </p:nvPr>
        </p:nvSpPr>
        <p:spPr/>
        <p:txBody>
          <a:bodyPr/>
          <a:lstStyle/>
          <a:p>
            <a:fld id="{9BF854DB-42D3-EE44-9486-1E8138C63EFC}" type="slidenum">
              <a:rPr lang="ja-JP" altLang="en-US" smtClean="0"/>
              <a:pPr/>
              <a:t>‹#›</a:t>
            </a:fld>
            <a:endParaRPr lang="ja-JP" altLang="en-US"/>
          </a:p>
        </p:txBody>
      </p:sp>
      <p:sp>
        <p:nvSpPr>
          <p:cNvPr id="15" name="タイトル プレースホルダー 21">
            <a:extLst>
              <a:ext uri="{FF2B5EF4-FFF2-40B4-BE49-F238E27FC236}">
                <a16:creationId xmlns:a16="http://schemas.microsoft.com/office/drawing/2014/main" id="{ABBF96C1-7C9C-E464-E9F3-EB12E5D553A3}"/>
              </a:ext>
            </a:extLst>
          </p:cNvPr>
          <p:cNvSpPr>
            <a:spLocks noGrp="1"/>
          </p:cNvSpPr>
          <p:nvPr userDrawn="1">
            <p:ph type="title" hasCustomPrompt="1"/>
          </p:nvPr>
        </p:nvSpPr>
        <p:spPr>
          <a:xfrm>
            <a:off x="561311" y="612000"/>
            <a:ext cx="8820000" cy="720000"/>
          </a:xfrm>
          <a:prstGeom prst="rect">
            <a:avLst/>
          </a:prstGeom>
        </p:spPr>
        <p:txBody>
          <a:bodyPr vert="horz" lIns="0" tIns="0" rIns="0" bIns="0" rtlCol="0" anchor="ctr">
            <a:noAutofit/>
          </a:bodyPr>
          <a:lstStyle>
            <a:lvl1pPr>
              <a:defRPr>
                <a:latin typeface="+mj-ea"/>
                <a:ea typeface="+mj-ea"/>
              </a:defRPr>
            </a:lvl1pPr>
          </a:lstStyle>
          <a:p>
            <a:r>
              <a:rPr kumimoji="1" lang="ja-JP" altLang="en-US" dirty="0"/>
              <a:t>タイトル</a:t>
            </a:r>
            <a:r>
              <a:rPr kumimoji="1" lang="en-US" altLang="ja-JP" dirty="0"/>
              <a:t>/BIZ UDP</a:t>
            </a:r>
            <a:r>
              <a:rPr kumimoji="1" lang="ja-JP" altLang="en-US"/>
              <a:t>ゴシック</a:t>
            </a:r>
            <a:r>
              <a:rPr kumimoji="1" lang="en-US" altLang="ja-JP" dirty="0"/>
              <a:t>/18</a:t>
            </a:r>
            <a:r>
              <a:rPr kumimoji="1" lang="ja-JP" altLang="en-US" dirty="0"/>
              <a:t>ｐｔ</a:t>
            </a:r>
          </a:p>
        </p:txBody>
      </p:sp>
      <p:sp>
        <p:nvSpPr>
          <p:cNvPr id="4" name="正方形/長方形 3">
            <a:extLst>
              <a:ext uri="{FF2B5EF4-FFF2-40B4-BE49-F238E27FC236}">
                <a16:creationId xmlns:a16="http://schemas.microsoft.com/office/drawing/2014/main" id="{7967875A-7ADC-81E9-5032-46910552E27E}"/>
              </a:ext>
            </a:extLst>
          </p:cNvPr>
          <p:cNvSpPr/>
          <p:nvPr userDrawn="1"/>
        </p:nvSpPr>
        <p:spPr>
          <a:xfrm>
            <a:off x="360000" y="759600"/>
            <a:ext cx="72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3119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白紙">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140EE84-EAF3-597E-90B3-074BD06659A5}"/>
              </a:ext>
            </a:extLst>
          </p:cNvPr>
          <p:cNvSpPr>
            <a:spLocks noGrp="1"/>
          </p:cNvSpPr>
          <p:nvPr>
            <p:ph type="sldNum" sz="quarter" idx="10"/>
          </p:nvPr>
        </p:nvSpPr>
        <p:spPr/>
        <p:txBody>
          <a:bodyPr/>
          <a:lstStyle/>
          <a:p>
            <a:fld id="{9BF854DB-42D3-EE44-9486-1E8138C63EFC}" type="slidenum">
              <a:rPr lang="ja-JP" altLang="en-US" smtClean="0"/>
              <a:pPr/>
              <a:t>‹#›</a:t>
            </a:fld>
            <a:endParaRPr lang="ja-JP" altLang="en-US"/>
          </a:p>
        </p:txBody>
      </p:sp>
    </p:spTree>
    <p:extLst>
      <p:ext uri="{BB962C8B-B14F-4D97-AF65-F5344CB8AC3E}">
        <p14:creationId xmlns:p14="http://schemas.microsoft.com/office/powerpoint/2010/main" val="395639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本文2">
    <p:spTree>
      <p:nvGrpSpPr>
        <p:cNvPr id="1" name=""/>
        <p:cNvGrpSpPr/>
        <p:nvPr/>
      </p:nvGrpSpPr>
      <p:grpSpPr>
        <a:xfrm>
          <a:off x="0" y="0"/>
          <a:ext cx="0" cy="0"/>
          <a:chOff x="0" y="0"/>
          <a:chExt cx="0" cy="0"/>
        </a:xfrm>
      </p:grpSpPr>
      <p:pic>
        <p:nvPicPr>
          <p:cNvPr id="2" name="図 1" descr="図形 が含まれている画像&#10;&#10;自動的に生成された説明">
            <a:extLst>
              <a:ext uri="{FF2B5EF4-FFF2-40B4-BE49-F238E27FC236}">
                <a16:creationId xmlns:a16="http://schemas.microsoft.com/office/drawing/2014/main" id="{EADAFBDA-F769-85B4-0C64-2722E22AF1A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b="10116"/>
          <a:stretch/>
        </p:blipFill>
        <p:spPr>
          <a:xfrm>
            <a:off x="0" y="-424444"/>
            <a:ext cx="10690737" cy="6798489"/>
          </a:xfrm>
          <a:prstGeom prst="rect">
            <a:avLst/>
          </a:prstGeom>
        </p:spPr>
      </p:pic>
      <p:sp>
        <p:nvSpPr>
          <p:cNvPr id="13" name="スライド番号プレースホルダー 12">
            <a:extLst>
              <a:ext uri="{FF2B5EF4-FFF2-40B4-BE49-F238E27FC236}">
                <a16:creationId xmlns:a16="http://schemas.microsoft.com/office/drawing/2014/main" id="{02CED2FB-6D79-069B-F8EE-8E481331DBB3}"/>
              </a:ext>
            </a:extLst>
          </p:cNvPr>
          <p:cNvSpPr>
            <a:spLocks noGrp="1"/>
          </p:cNvSpPr>
          <p:nvPr>
            <p:ph type="sldNum" sz="quarter" idx="13"/>
          </p:nvPr>
        </p:nvSpPr>
        <p:spPr/>
        <p:txBody>
          <a:bodyPr/>
          <a:lstStyle>
            <a:lvl1pPr>
              <a:defRPr>
                <a:latin typeface="+mn-ea"/>
                <a:ea typeface="+mn-ea"/>
              </a:defRPr>
            </a:lvl1pPr>
          </a:lstStyle>
          <a:p>
            <a:fld id="{9BF854DB-42D3-EE44-9486-1E8138C63EFC}" type="slidenum">
              <a:rPr lang="ja-JP" altLang="en-US" smtClean="0"/>
              <a:pPr/>
              <a:t>‹#›</a:t>
            </a:fld>
            <a:endParaRPr lang="ja-JP" altLang="en-US"/>
          </a:p>
        </p:txBody>
      </p:sp>
      <p:sp>
        <p:nvSpPr>
          <p:cNvPr id="14" name="Content Placeholder 2">
            <a:extLst>
              <a:ext uri="{FF2B5EF4-FFF2-40B4-BE49-F238E27FC236}">
                <a16:creationId xmlns:a16="http://schemas.microsoft.com/office/drawing/2014/main" id="{40117111-BC5D-3E5E-2113-5E262AB793B3}"/>
              </a:ext>
            </a:extLst>
          </p:cNvPr>
          <p:cNvSpPr>
            <a:spLocks noGrp="1"/>
          </p:cNvSpPr>
          <p:nvPr>
            <p:ph sz="half" idx="1"/>
          </p:nvPr>
        </p:nvSpPr>
        <p:spPr>
          <a:xfrm>
            <a:off x="349200" y="1373969"/>
            <a:ext cx="4932000" cy="5463249"/>
          </a:xfrm>
          <a:prstGeom prst="rect">
            <a:avLst/>
          </a:prstGeom>
        </p:spPr>
        <p:txBody>
          <a:bodyPr/>
          <a:lstStyle>
            <a:lvl1pPr marL="0" indent="0">
              <a:lnSpc>
                <a:spcPts val="1320"/>
              </a:lnSpc>
              <a:spcBef>
                <a:spcPts val="0"/>
              </a:spcBef>
              <a:buFontTx/>
              <a:buNone/>
              <a:defRPr sz="1037" b="0" i="0">
                <a:latin typeface="+mn-ea"/>
                <a:ea typeface="+mn-ea"/>
              </a:defRPr>
            </a:lvl1pPr>
            <a:lvl2pPr marL="475899" indent="0">
              <a:lnSpc>
                <a:spcPts val="1320"/>
              </a:lnSpc>
              <a:buFontTx/>
              <a:buNone/>
              <a:defRPr sz="1037" b="0" i="0">
                <a:latin typeface="Yu Gothic Medium" panose="020B0400000000000000" pitchFamily="34" charset="-128"/>
                <a:ea typeface="Yu Gothic Medium" panose="020B0400000000000000" pitchFamily="34" charset="-128"/>
              </a:defRPr>
            </a:lvl2pPr>
            <a:lvl3pPr marL="950301" indent="0">
              <a:lnSpc>
                <a:spcPts val="1320"/>
              </a:lnSpc>
              <a:buFontTx/>
              <a:buNone/>
              <a:defRPr sz="1037" b="0" i="0">
                <a:latin typeface="Yu Gothic Medium" panose="020B0400000000000000" pitchFamily="34" charset="-128"/>
                <a:ea typeface="Yu Gothic Medium" panose="020B0400000000000000" pitchFamily="34" charset="-128"/>
              </a:defRPr>
            </a:lvl3pPr>
            <a:lvl4pPr marL="1426200" indent="0">
              <a:lnSpc>
                <a:spcPts val="1320"/>
              </a:lnSpc>
              <a:buFontTx/>
              <a:buNone/>
              <a:defRPr sz="1037" b="0" i="0">
                <a:latin typeface="Yu Gothic Medium" panose="020B0400000000000000" pitchFamily="34" charset="-128"/>
                <a:ea typeface="Yu Gothic Medium" panose="020B0400000000000000" pitchFamily="34" charset="-128"/>
              </a:defRPr>
            </a:lvl4pPr>
            <a:lvl5pPr marL="1900601" indent="0">
              <a:lnSpc>
                <a:spcPts val="1320"/>
              </a:lnSpc>
              <a:buFontTx/>
              <a:buNone/>
              <a:defRPr sz="1037"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5" name="Content Placeholder 3">
            <a:extLst>
              <a:ext uri="{FF2B5EF4-FFF2-40B4-BE49-F238E27FC236}">
                <a16:creationId xmlns:a16="http://schemas.microsoft.com/office/drawing/2014/main" id="{BF30B752-BE3E-4F07-AADB-D23BDD3A3574}"/>
              </a:ext>
            </a:extLst>
          </p:cNvPr>
          <p:cNvSpPr>
            <a:spLocks noGrp="1"/>
          </p:cNvSpPr>
          <p:nvPr>
            <p:ph sz="half" idx="2"/>
          </p:nvPr>
        </p:nvSpPr>
        <p:spPr>
          <a:xfrm>
            <a:off x="5400000" y="1373969"/>
            <a:ext cx="4932000" cy="5463248"/>
          </a:xfrm>
          <a:prstGeom prst="rect">
            <a:avLst/>
          </a:prstGeom>
        </p:spPr>
        <p:txBody>
          <a:bodyPr/>
          <a:lstStyle>
            <a:lvl1pPr marL="0" indent="0">
              <a:lnSpc>
                <a:spcPts val="1320"/>
              </a:lnSpc>
              <a:spcBef>
                <a:spcPts val="0"/>
              </a:spcBef>
              <a:buFontTx/>
              <a:buNone/>
              <a:defRPr sz="1037" b="0" i="0">
                <a:latin typeface="+mn-ea"/>
                <a:ea typeface="+mn-ea"/>
              </a:defRPr>
            </a:lvl1pPr>
            <a:lvl2pPr marL="475899" indent="0">
              <a:lnSpc>
                <a:spcPts val="1320"/>
              </a:lnSpc>
              <a:buFontTx/>
              <a:buNone/>
              <a:defRPr sz="1037" b="0" i="0">
                <a:latin typeface="Yu Gothic Medium" panose="020B0400000000000000" pitchFamily="34" charset="-128"/>
                <a:ea typeface="Yu Gothic Medium" panose="020B0400000000000000" pitchFamily="34" charset="-128"/>
              </a:defRPr>
            </a:lvl2pPr>
            <a:lvl3pPr marL="950301" indent="0">
              <a:lnSpc>
                <a:spcPts val="1320"/>
              </a:lnSpc>
              <a:buFontTx/>
              <a:buNone/>
              <a:defRPr sz="1037" b="0" i="0">
                <a:latin typeface="Yu Gothic Medium" panose="020B0400000000000000" pitchFamily="34" charset="-128"/>
                <a:ea typeface="Yu Gothic Medium" panose="020B0400000000000000" pitchFamily="34" charset="-128"/>
              </a:defRPr>
            </a:lvl3pPr>
            <a:lvl4pPr marL="1426200" indent="0">
              <a:lnSpc>
                <a:spcPts val="1320"/>
              </a:lnSpc>
              <a:buFontTx/>
              <a:buNone/>
              <a:defRPr sz="1037" b="0" i="0">
                <a:latin typeface="Yu Gothic Medium" panose="020B0400000000000000" pitchFamily="34" charset="-128"/>
                <a:ea typeface="Yu Gothic Medium" panose="020B0400000000000000" pitchFamily="34" charset="-128"/>
              </a:defRPr>
            </a:lvl4pPr>
            <a:lvl5pPr marL="1900601" indent="0">
              <a:lnSpc>
                <a:spcPts val="1320"/>
              </a:lnSpc>
              <a:buFontTx/>
              <a:buNone/>
              <a:defRPr sz="1037"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1" name="タイトル プレースホルダー 21">
            <a:extLst>
              <a:ext uri="{FF2B5EF4-FFF2-40B4-BE49-F238E27FC236}">
                <a16:creationId xmlns:a16="http://schemas.microsoft.com/office/drawing/2014/main" id="{7574F620-C30D-9C72-BF12-26F6E95C56BA}"/>
              </a:ext>
            </a:extLst>
          </p:cNvPr>
          <p:cNvSpPr>
            <a:spLocks noGrp="1"/>
          </p:cNvSpPr>
          <p:nvPr userDrawn="1">
            <p:ph type="title" hasCustomPrompt="1"/>
          </p:nvPr>
        </p:nvSpPr>
        <p:spPr>
          <a:xfrm>
            <a:off x="561312" y="185969"/>
            <a:ext cx="8820000" cy="720000"/>
          </a:xfrm>
          <a:prstGeom prst="rect">
            <a:avLst/>
          </a:prstGeom>
        </p:spPr>
        <p:txBody>
          <a:bodyPr vert="horz" lIns="0" tIns="0" rIns="0" bIns="0" rtlCol="0" anchor="ctr">
            <a:noAutofit/>
          </a:bodyPr>
          <a:lstStyle>
            <a:lvl1pPr>
              <a:defRPr>
                <a:latin typeface="+mj-ea"/>
                <a:ea typeface="+mj-ea"/>
              </a:defRPr>
            </a:lvl1pPr>
          </a:lstStyle>
          <a:p>
            <a:r>
              <a:rPr kumimoji="1" lang="ja-JP" altLang="en-US"/>
              <a:t>タイトル</a:t>
            </a:r>
            <a:r>
              <a:rPr kumimoji="1" lang="en-US" altLang="ja-JP"/>
              <a:t>/BIZ UDP</a:t>
            </a:r>
            <a:r>
              <a:rPr kumimoji="1" lang="ja-JP" altLang="en-US"/>
              <a:t>ゴシック</a:t>
            </a:r>
            <a:r>
              <a:rPr kumimoji="1" lang="en-US" altLang="ja-JP"/>
              <a:t>/18</a:t>
            </a:r>
            <a:r>
              <a:rPr kumimoji="1" lang="ja-JP" altLang="en-US"/>
              <a:t>ｐｔ</a:t>
            </a:r>
          </a:p>
        </p:txBody>
      </p:sp>
      <p:sp>
        <p:nvSpPr>
          <p:cNvPr id="3" name="正方形/長方形 2">
            <a:extLst>
              <a:ext uri="{FF2B5EF4-FFF2-40B4-BE49-F238E27FC236}">
                <a16:creationId xmlns:a16="http://schemas.microsoft.com/office/drawing/2014/main" id="{96617CEF-2746-C18A-B39B-43F6AF3B1AC2}"/>
              </a:ext>
            </a:extLst>
          </p:cNvPr>
          <p:cNvSpPr/>
          <p:nvPr userDrawn="1"/>
        </p:nvSpPr>
        <p:spPr>
          <a:xfrm>
            <a:off x="360001" y="333569"/>
            <a:ext cx="71999"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791"/>
          </a:p>
        </p:txBody>
      </p:sp>
    </p:spTree>
    <p:extLst>
      <p:ext uri="{BB962C8B-B14F-4D97-AF65-F5344CB8AC3E}">
        <p14:creationId xmlns:p14="http://schemas.microsoft.com/office/powerpoint/2010/main" val="31172912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スライド番号プレースホルダー 14">
            <a:extLst>
              <a:ext uri="{FF2B5EF4-FFF2-40B4-BE49-F238E27FC236}">
                <a16:creationId xmlns:a16="http://schemas.microsoft.com/office/drawing/2014/main" id="{C7747173-F1BD-41C8-EE7B-B137F7BF11F2}"/>
              </a:ext>
            </a:extLst>
          </p:cNvPr>
          <p:cNvSpPr>
            <a:spLocks noGrp="1"/>
          </p:cNvSpPr>
          <p:nvPr userDrawn="1">
            <p:ph type="sldNum" sz="quarter" idx="4"/>
          </p:nvPr>
        </p:nvSpPr>
        <p:spPr>
          <a:xfrm>
            <a:off x="3542400" y="7005600"/>
            <a:ext cx="3607200" cy="401638"/>
          </a:xfrm>
          <a:prstGeom prst="rect">
            <a:avLst/>
          </a:prstGeom>
        </p:spPr>
        <p:txBody>
          <a:bodyPr vert="horz" lIns="91440" tIns="45720" rIns="91440" bIns="45720" rtlCol="0" anchor="ctr"/>
          <a:lstStyle>
            <a:lvl1pPr algn="ctr">
              <a:defRPr sz="1200" b="0" i="0">
                <a:solidFill>
                  <a:schemeClr val="tx1">
                    <a:tint val="75000"/>
                  </a:schemeClr>
                </a:solidFill>
                <a:latin typeface="+mn-ea"/>
                <a:ea typeface="+mn-ea"/>
              </a:defRPr>
            </a:lvl1pPr>
          </a:lstStyle>
          <a:p>
            <a:fld id="{9BF854DB-42D3-EE44-9486-1E8138C63EFC}" type="slidenum">
              <a:rPr lang="ja-JP" altLang="en-US" smtClean="0"/>
              <a:pPr/>
              <a:t>‹#›</a:t>
            </a:fld>
            <a:endParaRPr lang="ja-JP" altLang="en-US"/>
          </a:p>
        </p:txBody>
      </p:sp>
      <p:sp>
        <p:nvSpPr>
          <p:cNvPr id="22" name="タイトル プレースホルダー 21">
            <a:extLst>
              <a:ext uri="{FF2B5EF4-FFF2-40B4-BE49-F238E27FC236}">
                <a16:creationId xmlns:a16="http://schemas.microsoft.com/office/drawing/2014/main" id="{29005AB4-90F9-48FF-9280-CAA39E8B05F0}"/>
              </a:ext>
            </a:extLst>
          </p:cNvPr>
          <p:cNvSpPr>
            <a:spLocks noGrp="1"/>
          </p:cNvSpPr>
          <p:nvPr userDrawn="1">
            <p:ph type="title"/>
          </p:nvPr>
        </p:nvSpPr>
        <p:spPr>
          <a:xfrm>
            <a:off x="468001" y="612000"/>
            <a:ext cx="8820000" cy="720000"/>
          </a:xfrm>
          <a:prstGeom prst="rect">
            <a:avLst/>
          </a:prstGeom>
        </p:spPr>
        <p:txBody>
          <a:bodyPr vert="horz" lIns="72000" tIns="108000" rIns="0" bIns="72000" rtlCol="0" anchor="ctr">
            <a:noAutofit/>
          </a:bodyPr>
          <a:lstStyle/>
          <a:p>
            <a:r>
              <a:rPr kumimoji="1" lang="ja-JP" altLang="en-US" dirty="0"/>
              <a:t>マスター タイトルの書式設定</a:t>
            </a:r>
          </a:p>
        </p:txBody>
      </p:sp>
    </p:spTree>
    <p:extLst>
      <p:ext uri="{BB962C8B-B14F-4D97-AF65-F5344CB8AC3E}">
        <p14:creationId xmlns:p14="http://schemas.microsoft.com/office/powerpoint/2010/main" val="1275258794"/>
      </p:ext>
    </p:extLst>
  </p:cSld>
  <p:clrMap bg1="lt1" tx1="dk1" bg2="lt2" tx2="dk2" accent1="accent1" accent2="accent2" accent3="accent3" accent4="accent4" accent5="accent5" accent6="accent6" hlink="hlink" folHlink="folHlink"/>
  <p:sldLayoutIdLst>
    <p:sldLayoutId id="2147483736" r:id="rId1"/>
    <p:sldLayoutId id="2147483729" r:id="rId2"/>
    <p:sldLayoutId id="2147483734" r:id="rId3"/>
    <p:sldLayoutId id="2147483730" r:id="rId4"/>
    <p:sldLayoutId id="2147483739" r:id="rId5"/>
  </p:sldLayoutIdLst>
  <p:hf hdr="0" ftr="0" dt="0"/>
  <p:txStyles>
    <p:title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p:titleStyle>
    <p:bodyStyle>
      <a:lvl1pPr marL="250825" indent="-250825" algn="l" defTabSz="1006475" rtl="0" eaLnBrk="1" fontAlgn="base" hangingPunct="1">
        <a:lnSpc>
          <a:spcPct val="90000"/>
        </a:lnSpc>
        <a:spcBef>
          <a:spcPts val="1100"/>
        </a:spcBef>
        <a:spcAft>
          <a:spcPct val="0"/>
        </a:spcAft>
        <a:buFont typeface="Arial" panose="020B0604020202020204" pitchFamily="34" charset="0"/>
        <a:buChar char="•"/>
        <a:defRPr kumimoji="1" sz="3000" kern="1200">
          <a:solidFill>
            <a:schemeClr val="tx1"/>
          </a:solidFill>
          <a:latin typeface="+mn-lt"/>
          <a:ea typeface="+mn-ea"/>
          <a:cs typeface="ＭＳ Ｐゴシック" charset="-128"/>
        </a:defRPr>
      </a:lvl1pPr>
      <a:lvl2pPr marL="755650" indent="-250825" algn="l" defTabSz="1006475" rtl="0" eaLnBrk="1" fontAlgn="base" hangingPunct="1">
        <a:lnSpc>
          <a:spcPct val="90000"/>
        </a:lnSpc>
        <a:spcBef>
          <a:spcPts val="550"/>
        </a:spcBef>
        <a:spcAft>
          <a:spcPct val="0"/>
        </a:spcAft>
        <a:buFont typeface="Arial" panose="020B0604020202020204" pitchFamily="34" charset="0"/>
        <a:buChar char="•"/>
        <a:defRPr kumimoji="1" sz="2600" kern="1200">
          <a:solidFill>
            <a:schemeClr val="tx1"/>
          </a:solidFill>
          <a:latin typeface="+mn-lt"/>
          <a:ea typeface="+mn-ea"/>
          <a:cs typeface="ＭＳ Ｐゴシック" charset="-128"/>
        </a:defRPr>
      </a:lvl2pPr>
      <a:lvl3pPr marL="1258888" indent="-250825" algn="l" defTabSz="1006475" rtl="0" eaLnBrk="1" fontAlgn="base" hangingPunct="1">
        <a:lnSpc>
          <a:spcPct val="90000"/>
        </a:lnSpc>
        <a:spcBef>
          <a:spcPts val="550"/>
        </a:spcBef>
        <a:spcAft>
          <a:spcPct val="0"/>
        </a:spcAft>
        <a:buFont typeface="Arial" panose="020B0604020202020204" pitchFamily="34" charset="0"/>
        <a:buChar char="•"/>
        <a:defRPr kumimoji="1" sz="2200" kern="1200">
          <a:solidFill>
            <a:schemeClr val="tx1"/>
          </a:solidFill>
          <a:latin typeface="+mn-lt"/>
          <a:ea typeface="+mn-ea"/>
          <a:cs typeface="ＭＳ Ｐゴシック" charset="-128"/>
        </a:defRPr>
      </a:lvl3pPr>
      <a:lvl4pPr marL="1763713" indent="-250825" algn="l" defTabSz="1006475" rtl="0" eaLnBrk="1" fontAlgn="base" hangingPunct="1">
        <a:lnSpc>
          <a:spcPct val="90000"/>
        </a:lnSpc>
        <a:spcBef>
          <a:spcPts val="550"/>
        </a:spcBef>
        <a:spcAft>
          <a:spcPct val="0"/>
        </a:spcAft>
        <a:buFont typeface="Arial" panose="020B0604020202020204" pitchFamily="34" charset="0"/>
        <a:buChar char="•"/>
        <a:defRPr kumimoji="1" sz="1900" kern="1200">
          <a:solidFill>
            <a:schemeClr val="tx1"/>
          </a:solidFill>
          <a:latin typeface="+mn-lt"/>
          <a:ea typeface="+mn-ea"/>
          <a:cs typeface="ＭＳ Ｐゴシック" charset="-128"/>
        </a:defRPr>
      </a:lvl4pPr>
      <a:lvl5pPr marL="2266950" indent="-250825" algn="l" defTabSz="1006475" rtl="0" eaLnBrk="1" fontAlgn="base" hangingPunct="1">
        <a:lnSpc>
          <a:spcPct val="90000"/>
        </a:lnSpc>
        <a:spcBef>
          <a:spcPts val="550"/>
        </a:spcBef>
        <a:spcAft>
          <a:spcPct val="0"/>
        </a:spcAft>
        <a:buFont typeface="Arial" panose="020B0604020202020204" pitchFamily="34" charset="0"/>
        <a:buChar char="•"/>
        <a:defRPr kumimoji="1" sz="1900" kern="1200">
          <a:solidFill>
            <a:schemeClr val="tx1"/>
          </a:solidFill>
          <a:latin typeface="+mn-lt"/>
          <a:ea typeface="+mn-ea"/>
          <a:cs typeface="ＭＳ Ｐゴシック" charset="-128"/>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en-US"/>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36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スライド番号プレースホルダー 14">
            <a:extLst>
              <a:ext uri="{FF2B5EF4-FFF2-40B4-BE49-F238E27FC236}">
                <a16:creationId xmlns:a16="http://schemas.microsoft.com/office/drawing/2014/main" id="{C7747173-F1BD-41C8-EE7B-B137F7BF11F2}"/>
              </a:ext>
            </a:extLst>
          </p:cNvPr>
          <p:cNvSpPr>
            <a:spLocks noGrp="1"/>
          </p:cNvSpPr>
          <p:nvPr userDrawn="1">
            <p:ph type="sldNum" sz="quarter" idx="4"/>
          </p:nvPr>
        </p:nvSpPr>
        <p:spPr>
          <a:xfrm>
            <a:off x="3542400" y="7005600"/>
            <a:ext cx="3607200" cy="401638"/>
          </a:xfrm>
          <a:prstGeom prst="rect">
            <a:avLst/>
          </a:prstGeom>
        </p:spPr>
        <p:txBody>
          <a:bodyPr vert="horz" lIns="91440" tIns="45720" rIns="91440" bIns="45720" rtlCol="0" anchor="ctr"/>
          <a:lstStyle>
            <a:lvl1pPr algn="ctr">
              <a:defRPr sz="1131" b="0" i="0">
                <a:solidFill>
                  <a:schemeClr val="tx1">
                    <a:tint val="75000"/>
                  </a:schemeClr>
                </a:solidFill>
                <a:latin typeface="+mn-ea"/>
                <a:ea typeface="+mn-ea"/>
              </a:defRPr>
            </a:lvl1pPr>
          </a:lstStyle>
          <a:p>
            <a:fld id="{9BF854DB-42D3-EE44-9486-1E8138C63EFC}" type="slidenum">
              <a:rPr lang="ja-JP" altLang="en-US" smtClean="0"/>
              <a:pPr/>
              <a:t>‹#›</a:t>
            </a:fld>
            <a:endParaRPr lang="ja-JP" altLang="en-US"/>
          </a:p>
        </p:txBody>
      </p:sp>
      <p:sp>
        <p:nvSpPr>
          <p:cNvPr id="22" name="タイトル プレースホルダー 21">
            <a:extLst>
              <a:ext uri="{FF2B5EF4-FFF2-40B4-BE49-F238E27FC236}">
                <a16:creationId xmlns:a16="http://schemas.microsoft.com/office/drawing/2014/main" id="{29005AB4-90F9-48FF-9280-CAA39E8B05F0}"/>
              </a:ext>
            </a:extLst>
          </p:cNvPr>
          <p:cNvSpPr>
            <a:spLocks noGrp="1"/>
          </p:cNvSpPr>
          <p:nvPr userDrawn="1">
            <p:ph type="title"/>
          </p:nvPr>
        </p:nvSpPr>
        <p:spPr>
          <a:xfrm>
            <a:off x="468002" y="612000"/>
            <a:ext cx="8820000" cy="720000"/>
          </a:xfrm>
          <a:prstGeom prst="rect">
            <a:avLst/>
          </a:prstGeom>
        </p:spPr>
        <p:txBody>
          <a:bodyPr vert="horz" lIns="72000" tIns="108000" rIns="0" bIns="72000" rtlCol="0" anchor="ctr">
            <a:noAutofit/>
          </a:bodyPr>
          <a:lstStyle/>
          <a:p>
            <a:r>
              <a:rPr kumimoji="1" lang="ja-JP" altLang="en-US"/>
              <a:t>マスター タイトルの書式設定</a:t>
            </a:r>
          </a:p>
        </p:txBody>
      </p:sp>
    </p:spTree>
    <p:extLst>
      <p:ext uri="{BB962C8B-B14F-4D97-AF65-F5344CB8AC3E}">
        <p14:creationId xmlns:p14="http://schemas.microsoft.com/office/powerpoint/2010/main" val="1275258794"/>
      </p:ext>
    </p:extLst>
  </p:cSld>
  <p:clrMap bg1="lt1" tx1="dk1" bg2="lt2" tx2="dk2" accent1="accent1" accent2="accent2" accent3="accent3" accent4="accent4" accent5="accent5" accent6="accent6" hlink="hlink" folHlink="folHlink"/>
  <p:sldLayoutIdLst>
    <p:sldLayoutId id="2147483741" r:id="rId1"/>
  </p:sldLayoutIdLst>
  <p:hf hdr="0" ftr="0" dt="0"/>
  <p:txStyles>
    <p:titleStyle>
      <a:lvl1pPr algn="l" defTabSz="948804" rtl="0" eaLnBrk="1" fontAlgn="base" hangingPunct="1">
        <a:lnSpc>
          <a:spcPct val="100000"/>
        </a:lnSpc>
        <a:spcBef>
          <a:spcPct val="0"/>
        </a:spcBef>
        <a:spcAft>
          <a:spcPct val="0"/>
        </a:spcAft>
        <a:defRPr kumimoji="1" sz="1697" b="0" i="0" kern="1200">
          <a:solidFill>
            <a:schemeClr val="tx1"/>
          </a:solidFill>
          <a:latin typeface="+mj-ea"/>
          <a:ea typeface="+mj-ea"/>
          <a:cs typeface="Yu Gothic Medium" panose="020B0400000000000000" pitchFamily="34" charset="-128"/>
        </a:defRPr>
      </a:lvl1pPr>
      <a:lvl2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2pPr>
      <a:lvl3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3pPr>
      <a:lvl4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4pPr>
      <a:lvl5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5pPr>
      <a:lvl6pPr marL="431002"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6pPr>
      <a:lvl7pPr marL="862005"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7pPr>
      <a:lvl8pPr marL="1293007"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8pPr>
      <a:lvl9pPr marL="1724010"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9pPr>
    </p:titleStyle>
    <p:bodyStyle>
      <a:lvl1pPr marL="236453" indent="-236453" algn="l" defTabSz="948804" rtl="0" eaLnBrk="1" fontAlgn="base" hangingPunct="1">
        <a:lnSpc>
          <a:spcPct val="90000"/>
        </a:lnSpc>
        <a:spcBef>
          <a:spcPts val="1037"/>
        </a:spcBef>
        <a:spcAft>
          <a:spcPct val="0"/>
        </a:spcAft>
        <a:buFont typeface="Arial" panose="020B0604020202020204" pitchFamily="34" charset="0"/>
        <a:buChar char="•"/>
        <a:defRPr kumimoji="1" sz="2828" kern="1200">
          <a:solidFill>
            <a:schemeClr val="tx1"/>
          </a:solidFill>
          <a:latin typeface="+mn-lt"/>
          <a:ea typeface="+mn-ea"/>
          <a:cs typeface="ＭＳ Ｐゴシック" charset="-128"/>
        </a:defRPr>
      </a:lvl1pPr>
      <a:lvl2pPr marL="712351" indent="-236453" algn="l" defTabSz="948804" rtl="0" eaLnBrk="1" fontAlgn="base" hangingPunct="1">
        <a:lnSpc>
          <a:spcPct val="90000"/>
        </a:lnSpc>
        <a:spcBef>
          <a:spcPts val="518"/>
        </a:spcBef>
        <a:spcAft>
          <a:spcPct val="0"/>
        </a:spcAft>
        <a:buFont typeface="Arial" panose="020B0604020202020204" pitchFamily="34" charset="0"/>
        <a:buChar char="•"/>
        <a:defRPr kumimoji="1" sz="2451" kern="1200">
          <a:solidFill>
            <a:schemeClr val="tx1"/>
          </a:solidFill>
          <a:latin typeface="+mn-lt"/>
          <a:ea typeface="+mn-ea"/>
          <a:cs typeface="ＭＳ Ｐゴシック" charset="-128"/>
        </a:defRPr>
      </a:lvl2pPr>
      <a:lvl3pPr marL="1186754" indent="-236453" algn="l" defTabSz="948804" rtl="0" eaLnBrk="1" fontAlgn="base" hangingPunct="1">
        <a:lnSpc>
          <a:spcPct val="90000"/>
        </a:lnSpc>
        <a:spcBef>
          <a:spcPts val="518"/>
        </a:spcBef>
        <a:spcAft>
          <a:spcPct val="0"/>
        </a:spcAft>
        <a:buFont typeface="Arial" panose="020B0604020202020204" pitchFamily="34" charset="0"/>
        <a:buChar char="•"/>
        <a:defRPr kumimoji="1" sz="2074" kern="1200">
          <a:solidFill>
            <a:schemeClr val="tx1"/>
          </a:solidFill>
          <a:latin typeface="+mn-lt"/>
          <a:ea typeface="+mn-ea"/>
          <a:cs typeface="ＭＳ Ｐゴシック" charset="-128"/>
        </a:defRPr>
      </a:lvl3pPr>
      <a:lvl4pPr marL="1662652" indent="-236453" algn="l" defTabSz="948804" rtl="0" eaLnBrk="1" fontAlgn="base" hangingPunct="1">
        <a:lnSpc>
          <a:spcPct val="90000"/>
        </a:lnSpc>
        <a:spcBef>
          <a:spcPts val="518"/>
        </a:spcBef>
        <a:spcAft>
          <a:spcPct val="0"/>
        </a:spcAft>
        <a:buFont typeface="Arial" panose="020B0604020202020204" pitchFamily="34" charset="0"/>
        <a:buChar char="•"/>
        <a:defRPr kumimoji="1" sz="1791" kern="1200">
          <a:solidFill>
            <a:schemeClr val="tx1"/>
          </a:solidFill>
          <a:latin typeface="+mn-lt"/>
          <a:ea typeface="+mn-ea"/>
          <a:cs typeface="ＭＳ Ｐゴシック" charset="-128"/>
        </a:defRPr>
      </a:lvl4pPr>
      <a:lvl5pPr marL="2137054" indent="-236453" algn="l" defTabSz="948804" rtl="0" eaLnBrk="1" fontAlgn="base" hangingPunct="1">
        <a:lnSpc>
          <a:spcPct val="90000"/>
        </a:lnSpc>
        <a:spcBef>
          <a:spcPts val="518"/>
        </a:spcBef>
        <a:spcAft>
          <a:spcPct val="0"/>
        </a:spcAft>
        <a:buFont typeface="Arial" panose="020B0604020202020204" pitchFamily="34" charset="0"/>
        <a:buChar char="•"/>
        <a:defRPr kumimoji="1" sz="1791" kern="1200">
          <a:solidFill>
            <a:schemeClr val="tx1"/>
          </a:solidFill>
          <a:latin typeface="+mn-lt"/>
          <a:ea typeface="+mn-ea"/>
          <a:cs typeface="ＭＳ Ｐゴシック" charset="-128"/>
        </a:defRPr>
      </a:lvl5pPr>
      <a:lvl6pPr marL="2613017"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6pPr>
      <a:lvl7pPr marL="3088111"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7pPr>
      <a:lvl8pPr marL="3563205"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8pPr>
      <a:lvl9pPr marL="4038299"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9pPr>
    </p:bodyStyle>
    <p:otherStyle>
      <a:defPPr>
        <a:defRPr lang="en-US"/>
      </a:defPPr>
      <a:lvl1pPr marL="0" algn="l" defTabSz="950188" rtl="0" eaLnBrk="1" latinLnBrk="0" hangingPunct="1">
        <a:defRPr kumimoji="1" sz="1870" kern="1200">
          <a:solidFill>
            <a:schemeClr val="tx1"/>
          </a:solidFill>
          <a:latin typeface="+mn-lt"/>
          <a:ea typeface="+mn-ea"/>
          <a:cs typeface="+mn-cs"/>
        </a:defRPr>
      </a:lvl1pPr>
      <a:lvl2pPr marL="475094" algn="l" defTabSz="950188" rtl="0" eaLnBrk="1" latinLnBrk="0" hangingPunct="1">
        <a:defRPr kumimoji="1" sz="1870" kern="1200">
          <a:solidFill>
            <a:schemeClr val="tx1"/>
          </a:solidFill>
          <a:latin typeface="+mn-lt"/>
          <a:ea typeface="+mn-ea"/>
          <a:cs typeface="+mn-cs"/>
        </a:defRPr>
      </a:lvl2pPr>
      <a:lvl3pPr marL="950188" algn="l" defTabSz="950188" rtl="0" eaLnBrk="1" latinLnBrk="0" hangingPunct="1">
        <a:defRPr kumimoji="1" sz="1870" kern="1200">
          <a:solidFill>
            <a:schemeClr val="tx1"/>
          </a:solidFill>
          <a:latin typeface="+mn-lt"/>
          <a:ea typeface="+mn-ea"/>
          <a:cs typeface="+mn-cs"/>
        </a:defRPr>
      </a:lvl3pPr>
      <a:lvl4pPr marL="1425282" algn="l" defTabSz="950188" rtl="0" eaLnBrk="1" latinLnBrk="0" hangingPunct="1">
        <a:defRPr kumimoji="1" sz="1870" kern="1200">
          <a:solidFill>
            <a:schemeClr val="tx1"/>
          </a:solidFill>
          <a:latin typeface="+mn-lt"/>
          <a:ea typeface="+mn-ea"/>
          <a:cs typeface="+mn-cs"/>
        </a:defRPr>
      </a:lvl4pPr>
      <a:lvl5pPr marL="1900376" algn="l" defTabSz="950188" rtl="0" eaLnBrk="1" latinLnBrk="0" hangingPunct="1">
        <a:defRPr kumimoji="1" sz="1870" kern="1200">
          <a:solidFill>
            <a:schemeClr val="tx1"/>
          </a:solidFill>
          <a:latin typeface="+mn-lt"/>
          <a:ea typeface="+mn-ea"/>
          <a:cs typeface="+mn-cs"/>
        </a:defRPr>
      </a:lvl5pPr>
      <a:lvl6pPr marL="2375470" algn="l" defTabSz="950188" rtl="0" eaLnBrk="1" latinLnBrk="0" hangingPunct="1">
        <a:defRPr kumimoji="1" sz="1870" kern="1200">
          <a:solidFill>
            <a:schemeClr val="tx1"/>
          </a:solidFill>
          <a:latin typeface="+mn-lt"/>
          <a:ea typeface="+mn-ea"/>
          <a:cs typeface="+mn-cs"/>
        </a:defRPr>
      </a:lvl6pPr>
      <a:lvl7pPr marL="2850564" algn="l" defTabSz="950188" rtl="0" eaLnBrk="1" latinLnBrk="0" hangingPunct="1">
        <a:defRPr kumimoji="1" sz="1870" kern="1200">
          <a:solidFill>
            <a:schemeClr val="tx1"/>
          </a:solidFill>
          <a:latin typeface="+mn-lt"/>
          <a:ea typeface="+mn-ea"/>
          <a:cs typeface="+mn-cs"/>
        </a:defRPr>
      </a:lvl7pPr>
      <a:lvl8pPr marL="3325658" algn="l" defTabSz="950188" rtl="0" eaLnBrk="1" latinLnBrk="0" hangingPunct="1">
        <a:defRPr kumimoji="1" sz="1870" kern="1200">
          <a:solidFill>
            <a:schemeClr val="tx1"/>
          </a:solidFill>
          <a:latin typeface="+mn-lt"/>
          <a:ea typeface="+mn-ea"/>
          <a:cs typeface="+mn-cs"/>
        </a:defRPr>
      </a:lvl8pPr>
      <a:lvl9pPr marL="3800751" algn="l" defTabSz="950188" rtl="0" eaLnBrk="1" latinLnBrk="0" hangingPunct="1">
        <a:defRPr kumimoji="1" sz="187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3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スライド番号プレースホルダー 14">
            <a:extLst>
              <a:ext uri="{FF2B5EF4-FFF2-40B4-BE49-F238E27FC236}">
                <a16:creationId xmlns:a16="http://schemas.microsoft.com/office/drawing/2014/main" id="{C7747173-F1BD-41C8-EE7B-B137F7BF11F2}"/>
              </a:ext>
            </a:extLst>
          </p:cNvPr>
          <p:cNvSpPr>
            <a:spLocks noGrp="1"/>
          </p:cNvSpPr>
          <p:nvPr userDrawn="1">
            <p:ph type="sldNum" sz="quarter" idx="4"/>
          </p:nvPr>
        </p:nvSpPr>
        <p:spPr>
          <a:xfrm>
            <a:off x="3542400" y="7005600"/>
            <a:ext cx="3607200" cy="401638"/>
          </a:xfrm>
          <a:prstGeom prst="rect">
            <a:avLst/>
          </a:prstGeom>
        </p:spPr>
        <p:txBody>
          <a:bodyPr vert="horz" lIns="91440" tIns="45720" rIns="91440" bIns="45720" rtlCol="0" anchor="ctr"/>
          <a:lstStyle>
            <a:lvl1pPr algn="ctr">
              <a:defRPr sz="1131" b="0" i="0">
                <a:solidFill>
                  <a:schemeClr val="tx1">
                    <a:tint val="75000"/>
                  </a:schemeClr>
                </a:solidFill>
                <a:latin typeface="+mn-ea"/>
                <a:ea typeface="+mn-ea"/>
              </a:defRPr>
            </a:lvl1pPr>
          </a:lstStyle>
          <a:p>
            <a:fld id="{9BF854DB-42D3-EE44-9486-1E8138C63EFC}" type="slidenum">
              <a:rPr lang="ja-JP" altLang="en-US" smtClean="0"/>
              <a:pPr/>
              <a:t>‹#›</a:t>
            </a:fld>
            <a:endParaRPr lang="ja-JP" altLang="en-US"/>
          </a:p>
        </p:txBody>
      </p:sp>
      <p:sp>
        <p:nvSpPr>
          <p:cNvPr id="22" name="タイトル プレースホルダー 21">
            <a:extLst>
              <a:ext uri="{FF2B5EF4-FFF2-40B4-BE49-F238E27FC236}">
                <a16:creationId xmlns:a16="http://schemas.microsoft.com/office/drawing/2014/main" id="{29005AB4-90F9-48FF-9280-CAA39E8B05F0}"/>
              </a:ext>
            </a:extLst>
          </p:cNvPr>
          <p:cNvSpPr>
            <a:spLocks noGrp="1"/>
          </p:cNvSpPr>
          <p:nvPr userDrawn="1">
            <p:ph type="title"/>
          </p:nvPr>
        </p:nvSpPr>
        <p:spPr>
          <a:xfrm>
            <a:off x="468002" y="612000"/>
            <a:ext cx="8820000" cy="720000"/>
          </a:xfrm>
          <a:prstGeom prst="rect">
            <a:avLst/>
          </a:prstGeom>
        </p:spPr>
        <p:txBody>
          <a:bodyPr vert="horz" lIns="72000" tIns="108000" rIns="0" bIns="72000" rtlCol="0" anchor="ctr">
            <a:noAutofit/>
          </a:bodyPr>
          <a:lstStyle/>
          <a:p>
            <a:r>
              <a:rPr kumimoji="1" lang="ja-JP" altLang="en-US"/>
              <a:t>マスター タイトルの書式設定</a:t>
            </a:r>
          </a:p>
        </p:txBody>
      </p:sp>
    </p:spTree>
    <p:extLst>
      <p:ext uri="{BB962C8B-B14F-4D97-AF65-F5344CB8AC3E}">
        <p14:creationId xmlns:p14="http://schemas.microsoft.com/office/powerpoint/2010/main" val="1275258794"/>
      </p:ext>
    </p:extLst>
  </p:cSld>
  <p:clrMap bg1="lt1" tx1="dk1" bg2="lt2" tx2="dk2" accent1="accent1" accent2="accent2" accent3="accent3" accent4="accent4" accent5="accent5" accent6="accent6" hlink="hlink" folHlink="folHlink"/>
  <p:hf hdr="0" ftr="0" dt="0"/>
  <p:txStyles>
    <p:titleStyle>
      <a:lvl1pPr algn="l" defTabSz="948804" rtl="0" eaLnBrk="1" fontAlgn="base" hangingPunct="1">
        <a:lnSpc>
          <a:spcPct val="100000"/>
        </a:lnSpc>
        <a:spcBef>
          <a:spcPct val="0"/>
        </a:spcBef>
        <a:spcAft>
          <a:spcPct val="0"/>
        </a:spcAft>
        <a:defRPr kumimoji="1" sz="1697" b="0" i="0" kern="1200">
          <a:solidFill>
            <a:schemeClr val="tx1"/>
          </a:solidFill>
          <a:latin typeface="+mj-ea"/>
          <a:ea typeface="+mj-ea"/>
          <a:cs typeface="Yu Gothic Medium" panose="020B0400000000000000" pitchFamily="34" charset="-128"/>
        </a:defRPr>
      </a:lvl1pPr>
      <a:lvl2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2pPr>
      <a:lvl3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3pPr>
      <a:lvl4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4pPr>
      <a:lvl5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5pPr>
      <a:lvl6pPr marL="431002"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6pPr>
      <a:lvl7pPr marL="862005"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7pPr>
      <a:lvl8pPr marL="1293007"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8pPr>
      <a:lvl9pPr marL="1724010"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9pPr>
    </p:titleStyle>
    <p:bodyStyle>
      <a:lvl1pPr marL="236453" indent="-236453" algn="l" defTabSz="948804" rtl="0" eaLnBrk="1" fontAlgn="base" hangingPunct="1">
        <a:lnSpc>
          <a:spcPct val="90000"/>
        </a:lnSpc>
        <a:spcBef>
          <a:spcPts val="1037"/>
        </a:spcBef>
        <a:spcAft>
          <a:spcPct val="0"/>
        </a:spcAft>
        <a:buFont typeface="Arial" panose="020B0604020202020204" pitchFamily="34" charset="0"/>
        <a:buChar char="•"/>
        <a:defRPr kumimoji="1" sz="2828" kern="1200">
          <a:solidFill>
            <a:schemeClr val="tx1"/>
          </a:solidFill>
          <a:latin typeface="+mn-lt"/>
          <a:ea typeface="+mn-ea"/>
          <a:cs typeface="ＭＳ Ｐゴシック" charset="-128"/>
        </a:defRPr>
      </a:lvl1pPr>
      <a:lvl2pPr marL="712351" indent="-236453" algn="l" defTabSz="948804" rtl="0" eaLnBrk="1" fontAlgn="base" hangingPunct="1">
        <a:lnSpc>
          <a:spcPct val="90000"/>
        </a:lnSpc>
        <a:spcBef>
          <a:spcPts val="518"/>
        </a:spcBef>
        <a:spcAft>
          <a:spcPct val="0"/>
        </a:spcAft>
        <a:buFont typeface="Arial" panose="020B0604020202020204" pitchFamily="34" charset="0"/>
        <a:buChar char="•"/>
        <a:defRPr kumimoji="1" sz="2451" kern="1200">
          <a:solidFill>
            <a:schemeClr val="tx1"/>
          </a:solidFill>
          <a:latin typeface="+mn-lt"/>
          <a:ea typeface="+mn-ea"/>
          <a:cs typeface="ＭＳ Ｐゴシック" charset="-128"/>
        </a:defRPr>
      </a:lvl2pPr>
      <a:lvl3pPr marL="1186754" indent="-236453" algn="l" defTabSz="948804" rtl="0" eaLnBrk="1" fontAlgn="base" hangingPunct="1">
        <a:lnSpc>
          <a:spcPct val="90000"/>
        </a:lnSpc>
        <a:spcBef>
          <a:spcPts val="518"/>
        </a:spcBef>
        <a:spcAft>
          <a:spcPct val="0"/>
        </a:spcAft>
        <a:buFont typeface="Arial" panose="020B0604020202020204" pitchFamily="34" charset="0"/>
        <a:buChar char="•"/>
        <a:defRPr kumimoji="1" sz="2074" kern="1200">
          <a:solidFill>
            <a:schemeClr val="tx1"/>
          </a:solidFill>
          <a:latin typeface="+mn-lt"/>
          <a:ea typeface="+mn-ea"/>
          <a:cs typeface="ＭＳ Ｐゴシック" charset="-128"/>
        </a:defRPr>
      </a:lvl3pPr>
      <a:lvl4pPr marL="1662652" indent="-236453" algn="l" defTabSz="948804" rtl="0" eaLnBrk="1" fontAlgn="base" hangingPunct="1">
        <a:lnSpc>
          <a:spcPct val="90000"/>
        </a:lnSpc>
        <a:spcBef>
          <a:spcPts val="518"/>
        </a:spcBef>
        <a:spcAft>
          <a:spcPct val="0"/>
        </a:spcAft>
        <a:buFont typeface="Arial" panose="020B0604020202020204" pitchFamily="34" charset="0"/>
        <a:buChar char="•"/>
        <a:defRPr kumimoji="1" sz="1791" kern="1200">
          <a:solidFill>
            <a:schemeClr val="tx1"/>
          </a:solidFill>
          <a:latin typeface="+mn-lt"/>
          <a:ea typeface="+mn-ea"/>
          <a:cs typeface="ＭＳ Ｐゴシック" charset="-128"/>
        </a:defRPr>
      </a:lvl4pPr>
      <a:lvl5pPr marL="2137054" indent="-236453" algn="l" defTabSz="948804" rtl="0" eaLnBrk="1" fontAlgn="base" hangingPunct="1">
        <a:lnSpc>
          <a:spcPct val="90000"/>
        </a:lnSpc>
        <a:spcBef>
          <a:spcPts val="518"/>
        </a:spcBef>
        <a:spcAft>
          <a:spcPct val="0"/>
        </a:spcAft>
        <a:buFont typeface="Arial" panose="020B0604020202020204" pitchFamily="34" charset="0"/>
        <a:buChar char="•"/>
        <a:defRPr kumimoji="1" sz="1791" kern="1200">
          <a:solidFill>
            <a:schemeClr val="tx1"/>
          </a:solidFill>
          <a:latin typeface="+mn-lt"/>
          <a:ea typeface="+mn-ea"/>
          <a:cs typeface="ＭＳ Ｐゴシック" charset="-128"/>
        </a:defRPr>
      </a:lvl5pPr>
      <a:lvl6pPr marL="2613017"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6pPr>
      <a:lvl7pPr marL="3088111"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7pPr>
      <a:lvl8pPr marL="3563205"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8pPr>
      <a:lvl9pPr marL="4038299"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9pPr>
    </p:bodyStyle>
    <p:otherStyle>
      <a:defPPr>
        <a:defRPr lang="en-US"/>
      </a:defPPr>
      <a:lvl1pPr marL="0" algn="l" defTabSz="950188" rtl="0" eaLnBrk="1" latinLnBrk="0" hangingPunct="1">
        <a:defRPr kumimoji="1" sz="1870" kern="1200">
          <a:solidFill>
            <a:schemeClr val="tx1"/>
          </a:solidFill>
          <a:latin typeface="+mn-lt"/>
          <a:ea typeface="+mn-ea"/>
          <a:cs typeface="+mn-cs"/>
        </a:defRPr>
      </a:lvl1pPr>
      <a:lvl2pPr marL="475094" algn="l" defTabSz="950188" rtl="0" eaLnBrk="1" latinLnBrk="0" hangingPunct="1">
        <a:defRPr kumimoji="1" sz="1870" kern="1200">
          <a:solidFill>
            <a:schemeClr val="tx1"/>
          </a:solidFill>
          <a:latin typeface="+mn-lt"/>
          <a:ea typeface="+mn-ea"/>
          <a:cs typeface="+mn-cs"/>
        </a:defRPr>
      </a:lvl2pPr>
      <a:lvl3pPr marL="950188" algn="l" defTabSz="950188" rtl="0" eaLnBrk="1" latinLnBrk="0" hangingPunct="1">
        <a:defRPr kumimoji="1" sz="1870" kern="1200">
          <a:solidFill>
            <a:schemeClr val="tx1"/>
          </a:solidFill>
          <a:latin typeface="+mn-lt"/>
          <a:ea typeface="+mn-ea"/>
          <a:cs typeface="+mn-cs"/>
        </a:defRPr>
      </a:lvl3pPr>
      <a:lvl4pPr marL="1425282" algn="l" defTabSz="950188" rtl="0" eaLnBrk="1" latinLnBrk="0" hangingPunct="1">
        <a:defRPr kumimoji="1" sz="1870" kern="1200">
          <a:solidFill>
            <a:schemeClr val="tx1"/>
          </a:solidFill>
          <a:latin typeface="+mn-lt"/>
          <a:ea typeface="+mn-ea"/>
          <a:cs typeface="+mn-cs"/>
        </a:defRPr>
      </a:lvl4pPr>
      <a:lvl5pPr marL="1900376" algn="l" defTabSz="950188" rtl="0" eaLnBrk="1" latinLnBrk="0" hangingPunct="1">
        <a:defRPr kumimoji="1" sz="1870" kern="1200">
          <a:solidFill>
            <a:schemeClr val="tx1"/>
          </a:solidFill>
          <a:latin typeface="+mn-lt"/>
          <a:ea typeface="+mn-ea"/>
          <a:cs typeface="+mn-cs"/>
        </a:defRPr>
      </a:lvl5pPr>
      <a:lvl6pPr marL="2375470" algn="l" defTabSz="950188" rtl="0" eaLnBrk="1" latinLnBrk="0" hangingPunct="1">
        <a:defRPr kumimoji="1" sz="1870" kern="1200">
          <a:solidFill>
            <a:schemeClr val="tx1"/>
          </a:solidFill>
          <a:latin typeface="+mn-lt"/>
          <a:ea typeface="+mn-ea"/>
          <a:cs typeface="+mn-cs"/>
        </a:defRPr>
      </a:lvl6pPr>
      <a:lvl7pPr marL="2850564" algn="l" defTabSz="950188" rtl="0" eaLnBrk="1" latinLnBrk="0" hangingPunct="1">
        <a:defRPr kumimoji="1" sz="1870" kern="1200">
          <a:solidFill>
            <a:schemeClr val="tx1"/>
          </a:solidFill>
          <a:latin typeface="+mn-lt"/>
          <a:ea typeface="+mn-ea"/>
          <a:cs typeface="+mn-cs"/>
        </a:defRPr>
      </a:lvl7pPr>
      <a:lvl8pPr marL="3325658" algn="l" defTabSz="950188" rtl="0" eaLnBrk="1" latinLnBrk="0" hangingPunct="1">
        <a:defRPr kumimoji="1" sz="1870" kern="1200">
          <a:solidFill>
            <a:schemeClr val="tx1"/>
          </a:solidFill>
          <a:latin typeface="+mn-lt"/>
          <a:ea typeface="+mn-ea"/>
          <a:cs typeface="+mn-cs"/>
        </a:defRPr>
      </a:lvl8pPr>
      <a:lvl9pPr marL="3800751" algn="l" defTabSz="950188" rtl="0" eaLnBrk="1" latinLnBrk="0" hangingPunct="1">
        <a:defRPr kumimoji="1" sz="187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36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10275A-F8E1-BB95-61A7-FF5E52C474B8}"/>
              </a:ext>
            </a:extLst>
          </p:cNvPr>
          <p:cNvSpPr>
            <a:spLocks noGrp="1"/>
          </p:cNvSpPr>
          <p:nvPr>
            <p:ph type="title"/>
          </p:nvPr>
        </p:nvSpPr>
        <p:spPr/>
        <p:txBody>
          <a:bodyPr/>
          <a:lstStyle/>
          <a:p>
            <a:r>
              <a:rPr kumimoji="1" lang="ja-JP" altLang="en-US" dirty="0"/>
              <a:t>資産管理業務の全体像と</a:t>
            </a:r>
            <a:br>
              <a:rPr kumimoji="1" lang="ja-JP" altLang="en-US" dirty="0"/>
            </a:br>
            <a:r>
              <a:rPr kumimoji="1" lang="ja-JP" altLang="en-US" dirty="0"/>
              <a:t>資産管理各部のつながりについて</a:t>
            </a:r>
          </a:p>
        </p:txBody>
      </p:sp>
      <p:sp>
        <p:nvSpPr>
          <p:cNvPr id="5" name="テキスト プレースホルダー 4">
            <a:extLst>
              <a:ext uri="{FF2B5EF4-FFF2-40B4-BE49-F238E27FC236}">
                <a16:creationId xmlns:a16="http://schemas.microsoft.com/office/drawing/2014/main" id="{C8346C48-AFCF-2B3D-40E5-A4BFB020CAA9}"/>
              </a:ext>
            </a:extLst>
          </p:cNvPr>
          <p:cNvSpPr>
            <a:spLocks noGrp="1"/>
          </p:cNvSpPr>
          <p:nvPr>
            <p:ph type="body" sz="quarter" idx="12"/>
          </p:nvPr>
        </p:nvSpPr>
        <p:spPr>
          <a:xfrm>
            <a:off x="1074641" y="4124816"/>
            <a:ext cx="5760000" cy="230832"/>
          </a:xfrm>
        </p:spPr>
        <p:txBody>
          <a:bodyPr/>
          <a:lstStyle/>
          <a:p>
            <a:r>
              <a:rPr lang="en-US" altLang="ja-JP" dirty="0"/>
              <a:t>2025</a:t>
            </a:r>
            <a:r>
              <a:rPr lang="ja-JP" altLang="en-US" dirty="0"/>
              <a:t>年４月</a:t>
            </a:r>
            <a:r>
              <a:rPr lang="en-US" altLang="ja-JP" dirty="0"/>
              <a:t>24</a:t>
            </a:r>
            <a:r>
              <a:rPr lang="ja-JP" altLang="en-US" dirty="0"/>
              <a:t>日</a:t>
            </a:r>
            <a:endParaRPr kumimoji="1" lang="ja-JP" altLang="en-US" dirty="0"/>
          </a:p>
        </p:txBody>
      </p:sp>
      <p:sp>
        <p:nvSpPr>
          <p:cNvPr id="6" name="テキスト プレースホルダー 5">
            <a:extLst>
              <a:ext uri="{FF2B5EF4-FFF2-40B4-BE49-F238E27FC236}">
                <a16:creationId xmlns:a16="http://schemas.microsoft.com/office/drawing/2014/main" id="{E4E380E0-30B3-5FDE-0DB0-FE410ECB0381}"/>
              </a:ext>
            </a:extLst>
          </p:cNvPr>
          <p:cNvSpPr>
            <a:spLocks noGrp="1"/>
          </p:cNvSpPr>
          <p:nvPr>
            <p:ph type="body" sz="quarter" idx="13"/>
          </p:nvPr>
        </p:nvSpPr>
        <p:spPr>
          <a:xfrm>
            <a:off x="1074641" y="4471416"/>
            <a:ext cx="3600000" cy="230832"/>
          </a:xfrm>
        </p:spPr>
        <p:txBody>
          <a:bodyPr/>
          <a:lstStyle/>
          <a:p>
            <a:r>
              <a:rPr lang="ja-JP" altLang="en-US" dirty="0"/>
              <a:t>業務企画推進部　事務企画グループ</a:t>
            </a:r>
          </a:p>
        </p:txBody>
      </p:sp>
      <p:sp>
        <p:nvSpPr>
          <p:cNvPr id="13" name="テキスト プレースホルダー 12">
            <a:extLst>
              <a:ext uri="{FF2B5EF4-FFF2-40B4-BE49-F238E27FC236}">
                <a16:creationId xmlns:a16="http://schemas.microsoft.com/office/drawing/2014/main" id="{74F24243-1E4F-F6C2-A879-B85CAC3AA529}"/>
              </a:ext>
            </a:extLst>
          </p:cNvPr>
          <p:cNvSpPr>
            <a:spLocks noGrp="1"/>
          </p:cNvSpPr>
          <p:nvPr>
            <p:ph type="body" sz="quarter" idx="10"/>
          </p:nvPr>
        </p:nvSpPr>
        <p:spPr>
          <a:xfrm>
            <a:off x="713979" y="703324"/>
            <a:ext cx="5602220" cy="230832"/>
          </a:xfrm>
        </p:spPr>
        <p:txBody>
          <a:bodyPr/>
          <a:lstStyle/>
          <a:p>
            <a:r>
              <a:rPr lang="en-US" altLang="zh-TW" dirty="0"/>
              <a:t>202</a:t>
            </a:r>
            <a:r>
              <a:rPr lang="en-US" altLang="ja-JP" dirty="0"/>
              <a:t>5</a:t>
            </a:r>
            <a:r>
              <a:rPr lang="zh-TW" altLang="en-US" dirty="0"/>
              <a:t>年度新入社員研修</a:t>
            </a:r>
            <a:endParaRPr lang="ja-JP" altLang="en-US" dirty="0"/>
          </a:p>
        </p:txBody>
      </p:sp>
    </p:spTree>
    <p:extLst>
      <p:ext uri="{BB962C8B-B14F-4D97-AF65-F5344CB8AC3E}">
        <p14:creationId xmlns:p14="http://schemas.microsoft.com/office/powerpoint/2010/main" val="3675281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1</a:t>
            </a:fld>
            <a:endParaRPr lang="ja-JP" altLang="en-US" dirty="0"/>
          </a:p>
        </p:txBody>
      </p:sp>
      <p:sp>
        <p:nvSpPr>
          <p:cNvPr id="5" name="タイトル 4">
            <a:extLst>
              <a:ext uri="{FF2B5EF4-FFF2-40B4-BE49-F238E27FC236}">
                <a16:creationId xmlns:a16="http://schemas.microsoft.com/office/drawing/2014/main" id="{7C6C2618-950B-8141-2752-FBBEF7620045}"/>
              </a:ext>
            </a:extLst>
          </p:cNvPr>
          <p:cNvSpPr>
            <a:spLocks noGrp="1"/>
          </p:cNvSpPr>
          <p:nvPr>
            <p:ph type="title"/>
          </p:nvPr>
        </p:nvSpPr>
        <p:spPr/>
        <p:txBody>
          <a:bodyPr/>
          <a:lstStyle/>
          <a:p>
            <a:r>
              <a:rPr lang="ja-JP" altLang="en-US" sz="2000" dirty="0"/>
              <a:t>講義の目的</a:t>
            </a:r>
            <a:endParaRPr kumimoji="1" lang="ja-JP" altLang="en-US" sz="2000" dirty="0"/>
          </a:p>
        </p:txBody>
      </p:sp>
      <p:sp>
        <p:nvSpPr>
          <p:cNvPr id="3" name="Text Box 1029">
            <a:extLst>
              <a:ext uri="{FF2B5EF4-FFF2-40B4-BE49-F238E27FC236}">
                <a16:creationId xmlns:a16="http://schemas.microsoft.com/office/drawing/2014/main" id="{1070F2A3-E8C1-F52E-4661-0875062ACB0A}"/>
              </a:ext>
            </a:extLst>
          </p:cNvPr>
          <p:cNvSpPr txBox="1">
            <a:spLocks noChangeArrowheads="1"/>
          </p:cNvSpPr>
          <p:nvPr/>
        </p:nvSpPr>
        <p:spPr bwMode="auto">
          <a:xfrm>
            <a:off x="645366" y="1818220"/>
            <a:ext cx="873594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folHlink"/>
              </a:buClr>
              <a:buSzPct val="60000"/>
              <a:buFont typeface="Wingdings" pitchFamily="2" charset="2"/>
              <a:buChar char="n"/>
              <a:defRPr kumimoji="1" sz="2800">
                <a:solidFill>
                  <a:schemeClr val="tx1"/>
                </a:solidFill>
                <a:latin typeface="HGPｺﾞｼｯｸE" pitchFamily="50" charset="-128"/>
                <a:ea typeface="HGPｺﾞｼｯｸE" pitchFamily="50" charset="-128"/>
              </a:defRPr>
            </a:lvl1pPr>
            <a:lvl2pPr marL="742950" indent="-285750" algn="l" eaLnBrk="0" hangingPunct="0">
              <a:spcBef>
                <a:spcPct val="20000"/>
              </a:spcBef>
              <a:buClr>
                <a:schemeClr val="hlink"/>
              </a:buClr>
              <a:buSzPct val="55000"/>
              <a:buFont typeface="Wingdings" pitchFamily="2" charset="2"/>
              <a:buChar char="n"/>
              <a:defRPr kumimoji="1" sz="2400">
                <a:solidFill>
                  <a:schemeClr val="tx1"/>
                </a:solidFill>
                <a:latin typeface="HGPｺﾞｼｯｸE" pitchFamily="50" charset="-128"/>
                <a:ea typeface="HGPｺﾞｼｯｸE" pitchFamily="50" charset="-128"/>
              </a:defRPr>
            </a:lvl2pPr>
            <a:lvl3pPr marL="1143000" indent="-228600" algn="l" eaLnBrk="0" hangingPunct="0">
              <a:spcBef>
                <a:spcPct val="20000"/>
              </a:spcBef>
              <a:buClr>
                <a:schemeClr val="folHlink"/>
              </a:buClr>
              <a:buSzPct val="50000"/>
              <a:buFont typeface="Wingdings" pitchFamily="2" charset="2"/>
              <a:buChar char="n"/>
              <a:defRPr kumimoji="1" sz="2000">
                <a:solidFill>
                  <a:schemeClr val="tx1"/>
                </a:solidFill>
                <a:latin typeface="HGPｺﾞｼｯｸE" pitchFamily="50" charset="-128"/>
                <a:ea typeface="HGPｺﾞｼｯｸE" pitchFamily="50" charset="-128"/>
              </a:defRPr>
            </a:lvl3pPr>
            <a:lvl4pPr marL="1600200" indent="-228600" algn="l" eaLnBrk="0" hangingPunct="0">
              <a:spcBef>
                <a:spcPct val="20000"/>
              </a:spcBef>
              <a:buClr>
                <a:schemeClr val="accent2"/>
              </a:buClr>
              <a:buSzPct val="55000"/>
              <a:buFont typeface="Wingdings" pitchFamily="2" charset="2"/>
              <a:buChar char="n"/>
              <a:defRPr kumimoji="1">
                <a:solidFill>
                  <a:schemeClr val="tx1"/>
                </a:solidFill>
                <a:latin typeface="HGPｺﾞｼｯｸE" pitchFamily="50" charset="-128"/>
                <a:ea typeface="HGPｺﾞｼｯｸE" pitchFamily="50" charset="-128"/>
              </a:defRPr>
            </a:lvl4pPr>
            <a:lvl5pPr marL="2057400" indent="-228600" algn="l" eaLnBrk="0" hangingPunct="0">
              <a:spcBef>
                <a:spcPct val="20000"/>
              </a:spcBef>
              <a:buClr>
                <a:schemeClr val="accent1"/>
              </a:buClr>
              <a:buSzPct val="50000"/>
              <a:buFont typeface="Wingdings" pitchFamily="2" charset="2"/>
              <a:buChar char="n"/>
              <a:defRPr kumimoji="1" sz="1600">
                <a:solidFill>
                  <a:schemeClr val="tx1"/>
                </a:solidFill>
                <a:latin typeface="HGPｺﾞｼｯｸE" pitchFamily="50" charset="-128"/>
                <a:ea typeface="HGPｺﾞｼｯｸE" pitchFamily="50"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1600">
                <a:solidFill>
                  <a:schemeClr val="tx1"/>
                </a:solidFill>
                <a:latin typeface="HGPｺﾞｼｯｸE" pitchFamily="50" charset="-128"/>
                <a:ea typeface="HGPｺﾞｼｯｸE" pitchFamily="50"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1600">
                <a:solidFill>
                  <a:schemeClr val="tx1"/>
                </a:solidFill>
                <a:latin typeface="HGPｺﾞｼｯｸE" pitchFamily="50" charset="-128"/>
                <a:ea typeface="HGPｺﾞｼｯｸE" pitchFamily="50"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1600">
                <a:solidFill>
                  <a:schemeClr val="tx1"/>
                </a:solidFill>
                <a:latin typeface="HGPｺﾞｼｯｸE" pitchFamily="50" charset="-128"/>
                <a:ea typeface="HGPｺﾞｼｯｸE" pitchFamily="50"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1600">
                <a:solidFill>
                  <a:schemeClr val="tx1"/>
                </a:solidFill>
                <a:latin typeface="HGPｺﾞｼｯｸE" pitchFamily="50" charset="-128"/>
                <a:ea typeface="HGPｺﾞｼｯｸE" pitchFamily="50" charset="-128"/>
              </a:defRPr>
            </a:lvl9pPr>
          </a:lstStyle>
          <a:p>
            <a:pPr eaLnBrk="1" hangingPunct="1">
              <a:spcBef>
                <a:spcPct val="50000"/>
              </a:spcBef>
              <a:buClrTx/>
              <a:buSzTx/>
              <a:buFontTx/>
              <a:buNone/>
            </a:pPr>
            <a:r>
              <a:rPr lang="ja-JP" altLang="en-US" sz="3200" dirty="0">
                <a:latin typeface="Arial" charset="0"/>
              </a:rPr>
              <a:t>この講義では</a:t>
            </a:r>
            <a:endParaRPr lang="en-US" altLang="ja-JP" sz="3200" dirty="0">
              <a:latin typeface="Arial" charset="0"/>
            </a:endParaRPr>
          </a:p>
          <a:p>
            <a:pPr eaLnBrk="1" hangingPunct="1">
              <a:spcBef>
                <a:spcPct val="50000"/>
              </a:spcBef>
              <a:buClrTx/>
              <a:buSzTx/>
              <a:buNone/>
            </a:pPr>
            <a:r>
              <a:rPr lang="ja-JP" altLang="en-US" sz="3200" dirty="0"/>
              <a:t>当社が行う資産管理業務等について</a:t>
            </a:r>
            <a:endParaRPr lang="en-US" altLang="ja-JP" sz="3200" dirty="0"/>
          </a:p>
          <a:p>
            <a:pPr eaLnBrk="1" hangingPunct="1">
              <a:spcBef>
                <a:spcPct val="50000"/>
              </a:spcBef>
              <a:buClrTx/>
              <a:buSzTx/>
              <a:buNone/>
            </a:pPr>
            <a:r>
              <a:rPr lang="ja-JP" altLang="en-US" sz="3200" dirty="0"/>
              <a:t>・大まかな流れ（≒全体像）を把握して</a:t>
            </a:r>
            <a:endParaRPr lang="en-US" altLang="ja-JP" sz="3200" dirty="0"/>
          </a:p>
          <a:p>
            <a:pPr eaLnBrk="1" hangingPunct="1">
              <a:spcBef>
                <a:spcPct val="50000"/>
              </a:spcBef>
              <a:buClrTx/>
              <a:buSzTx/>
              <a:buNone/>
            </a:pPr>
            <a:r>
              <a:rPr lang="ja-JP" altLang="en-US" sz="3200" dirty="0"/>
              <a:t>・各部署がどのような業務に携わっていて</a:t>
            </a:r>
            <a:endParaRPr lang="en-US" altLang="ja-JP" sz="3200" dirty="0"/>
          </a:p>
          <a:p>
            <a:pPr eaLnBrk="1" hangingPunct="1">
              <a:spcBef>
                <a:spcPct val="50000"/>
              </a:spcBef>
              <a:buClrTx/>
              <a:buSzTx/>
              <a:buNone/>
            </a:pPr>
            <a:r>
              <a:rPr lang="ja-JP" altLang="en-US" sz="3200" dirty="0"/>
              <a:t>どのように繋がっているかを知る。</a:t>
            </a:r>
            <a:endParaRPr lang="en-US" altLang="ja-JP" sz="3200" dirty="0"/>
          </a:p>
          <a:p>
            <a:pPr eaLnBrk="1" hangingPunct="1">
              <a:spcBef>
                <a:spcPct val="50000"/>
              </a:spcBef>
              <a:buClrTx/>
              <a:buSzTx/>
              <a:buFontTx/>
              <a:buNone/>
            </a:pPr>
            <a:endParaRPr lang="en-US" altLang="ja-JP" sz="3200" dirty="0">
              <a:latin typeface="Arial" charset="0"/>
            </a:endParaRPr>
          </a:p>
          <a:p>
            <a:pPr eaLnBrk="1" hangingPunct="1">
              <a:spcBef>
                <a:spcPct val="50000"/>
              </a:spcBef>
              <a:buClrTx/>
              <a:buSzTx/>
              <a:buFontTx/>
              <a:buNone/>
            </a:pPr>
            <a:endParaRPr lang="ja-JP" altLang="en-US" sz="3200" dirty="0">
              <a:latin typeface="Arial" charset="0"/>
            </a:endParaRPr>
          </a:p>
        </p:txBody>
      </p:sp>
    </p:spTree>
    <p:extLst>
      <p:ext uri="{BB962C8B-B14F-4D97-AF65-F5344CB8AC3E}">
        <p14:creationId xmlns:p14="http://schemas.microsoft.com/office/powerpoint/2010/main" val="86350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2</a:t>
            </a:fld>
            <a:endParaRPr lang="ja-JP" altLang="en-US" dirty="0"/>
          </a:p>
        </p:txBody>
      </p:sp>
      <p:sp>
        <p:nvSpPr>
          <p:cNvPr id="5" name="タイトル 4">
            <a:extLst>
              <a:ext uri="{FF2B5EF4-FFF2-40B4-BE49-F238E27FC236}">
                <a16:creationId xmlns:a16="http://schemas.microsoft.com/office/drawing/2014/main" id="{7C6C2618-950B-8141-2752-FBBEF7620045}"/>
              </a:ext>
            </a:extLst>
          </p:cNvPr>
          <p:cNvSpPr>
            <a:spLocks noGrp="1"/>
          </p:cNvSpPr>
          <p:nvPr>
            <p:ph type="title"/>
          </p:nvPr>
        </p:nvSpPr>
        <p:spPr/>
        <p:txBody>
          <a:bodyPr/>
          <a:lstStyle/>
          <a:p>
            <a:r>
              <a:rPr kumimoji="1" lang="ja-JP" altLang="en-US" sz="2000" dirty="0"/>
              <a:t>１．資産管理業務（お客様との関係）</a:t>
            </a:r>
          </a:p>
        </p:txBody>
      </p:sp>
      <p:sp>
        <p:nvSpPr>
          <p:cNvPr id="6" name="AutoShape 57">
            <a:extLst>
              <a:ext uri="{FF2B5EF4-FFF2-40B4-BE49-F238E27FC236}">
                <a16:creationId xmlns:a16="http://schemas.microsoft.com/office/drawing/2014/main" id="{3E0F3215-938F-8254-2DDD-EA6E91096AF4}"/>
              </a:ext>
            </a:extLst>
          </p:cNvPr>
          <p:cNvSpPr>
            <a:spLocks noChangeArrowheads="1"/>
          </p:cNvSpPr>
          <p:nvPr/>
        </p:nvSpPr>
        <p:spPr bwMode="auto">
          <a:xfrm>
            <a:off x="2694761" y="2895599"/>
            <a:ext cx="7048500" cy="1800225"/>
          </a:xfrm>
          <a:prstGeom prst="roundRect">
            <a:avLst>
              <a:gd name="adj" fmla="val 16667"/>
            </a:avLst>
          </a:prstGeom>
          <a:solidFill>
            <a:srgbClr val="99CCFF"/>
          </a:solidFill>
          <a:ln w="9525">
            <a:solidFill>
              <a:srgbClr val="000000"/>
            </a:solidFill>
            <a:round/>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12" name="Rectangle 55">
            <a:extLst>
              <a:ext uri="{FF2B5EF4-FFF2-40B4-BE49-F238E27FC236}">
                <a16:creationId xmlns:a16="http://schemas.microsoft.com/office/drawing/2014/main" id="{66AEAB87-17A6-FE65-E4A7-1B590A9CE1DC}"/>
              </a:ext>
            </a:extLst>
          </p:cNvPr>
          <p:cNvSpPr>
            <a:spLocks noChangeArrowheads="1"/>
          </p:cNvSpPr>
          <p:nvPr/>
        </p:nvSpPr>
        <p:spPr bwMode="auto">
          <a:xfrm>
            <a:off x="1285061" y="3771899"/>
            <a:ext cx="1143000" cy="304800"/>
          </a:xfrm>
          <a:prstGeom prst="rect">
            <a:avLst/>
          </a:prstGeom>
          <a:solidFill>
            <a:srgbClr val="FFFFFF"/>
          </a:solidFill>
          <a:ln w="9525">
            <a:solidFill>
              <a:srgbClr val="000000"/>
            </a:solidFill>
            <a:miter lim="800000"/>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資産運用</a:t>
            </a:r>
          </a:p>
        </p:txBody>
      </p:sp>
      <p:sp>
        <p:nvSpPr>
          <p:cNvPr id="13" name="Rectangle 56">
            <a:extLst>
              <a:ext uri="{FF2B5EF4-FFF2-40B4-BE49-F238E27FC236}">
                <a16:creationId xmlns:a16="http://schemas.microsoft.com/office/drawing/2014/main" id="{2EFBB928-C560-3BD5-2A6F-ACBBBCDF7E76}"/>
              </a:ext>
            </a:extLst>
          </p:cNvPr>
          <p:cNvSpPr>
            <a:spLocks noChangeArrowheads="1"/>
          </p:cNvSpPr>
          <p:nvPr/>
        </p:nvSpPr>
        <p:spPr bwMode="auto">
          <a:xfrm>
            <a:off x="1285061" y="4152899"/>
            <a:ext cx="1143000" cy="304800"/>
          </a:xfrm>
          <a:prstGeom prst="rect">
            <a:avLst/>
          </a:prstGeom>
          <a:solidFill>
            <a:srgbClr val="FFFFFF"/>
          </a:solidFill>
          <a:ln w="9525">
            <a:solidFill>
              <a:srgbClr val="000000"/>
            </a:solidFill>
            <a:miter lim="800000"/>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年金制度管理</a:t>
            </a:r>
          </a:p>
        </p:txBody>
      </p:sp>
      <p:sp>
        <p:nvSpPr>
          <p:cNvPr id="14" name="AutoShape 58">
            <a:extLst>
              <a:ext uri="{FF2B5EF4-FFF2-40B4-BE49-F238E27FC236}">
                <a16:creationId xmlns:a16="http://schemas.microsoft.com/office/drawing/2014/main" id="{40F8529D-A23A-1CD3-BD84-073D10BBF5AD}"/>
              </a:ext>
            </a:extLst>
          </p:cNvPr>
          <p:cNvSpPr>
            <a:spLocks noChangeArrowheads="1"/>
          </p:cNvSpPr>
          <p:nvPr/>
        </p:nvSpPr>
        <p:spPr bwMode="auto">
          <a:xfrm>
            <a:off x="5018861" y="3220211"/>
            <a:ext cx="4527550" cy="1371600"/>
          </a:xfrm>
          <a:prstGeom prst="roundRect">
            <a:avLst>
              <a:gd name="adj" fmla="val 16667"/>
            </a:avLst>
          </a:prstGeom>
          <a:solidFill>
            <a:srgbClr val="FFCC99"/>
          </a:solidFill>
          <a:ln w="76200" cmpd="tri">
            <a:solidFill>
              <a:srgbClr val="000000"/>
            </a:solidFill>
            <a:round/>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日本マスタートラスト信託銀行</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0" lang="en-US" altLang="ja-JP" sz="12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MTBJ)</a:t>
            </a:r>
          </a:p>
        </p:txBody>
      </p:sp>
      <p:sp>
        <p:nvSpPr>
          <p:cNvPr id="15" name="Rectangle 59">
            <a:extLst>
              <a:ext uri="{FF2B5EF4-FFF2-40B4-BE49-F238E27FC236}">
                <a16:creationId xmlns:a16="http://schemas.microsoft.com/office/drawing/2014/main" id="{1F1C4379-126E-3542-BE51-BD1198D70022}"/>
              </a:ext>
            </a:extLst>
          </p:cNvPr>
          <p:cNvSpPr>
            <a:spLocks noChangeArrowheads="1"/>
          </p:cNvSpPr>
          <p:nvPr/>
        </p:nvSpPr>
        <p:spPr bwMode="auto">
          <a:xfrm>
            <a:off x="2885260" y="3428999"/>
            <a:ext cx="1508125" cy="1028700"/>
          </a:xfrm>
          <a:prstGeom prst="rect">
            <a:avLst/>
          </a:prstGeom>
          <a:solidFill>
            <a:srgbClr val="FFFFFF"/>
          </a:solidFill>
          <a:ln w="9525">
            <a:solidFill>
              <a:srgbClr val="000000"/>
            </a:solidFill>
            <a:miter lim="800000"/>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ja-JP" sz="12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50"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資産管理業務</a:t>
            </a:r>
            <a:endParaRPr kumimoji="0"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企画・営業</a:t>
            </a:r>
          </a:p>
        </p:txBody>
      </p:sp>
      <p:sp>
        <p:nvSpPr>
          <p:cNvPr id="16" name="Rectangle 61">
            <a:extLst>
              <a:ext uri="{FF2B5EF4-FFF2-40B4-BE49-F238E27FC236}">
                <a16:creationId xmlns:a16="http://schemas.microsoft.com/office/drawing/2014/main" id="{9BB7328E-2467-BE22-79C1-D1F80266815D}"/>
              </a:ext>
            </a:extLst>
          </p:cNvPr>
          <p:cNvSpPr>
            <a:spLocks noChangeArrowheads="1"/>
          </p:cNvSpPr>
          <p:nvPr/>
        </p:nvSpPr>
        <p:spPr bwMode="auto">
          <a:xfrm>
            <a:off x="1018361" y="1523999"/>
            <a:ext cx="8801100" cy="685800"/>
          </a:xfrm>
          <a:prstGeom prst="rect">
            <a:avLst/>
          </a:prstGeom>
          <a:solidFill>
            <a:srgbClr val="FFCC99"/>
          </a:solidFill>
          <a:ln w="28575">
            <a:solidFill>
              <a:srgbClr val="000000"/>
            </a:solidFill>
            <a:miter lim="800000"/>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お客様</a:t>
            </a:r>
          </a:p>
        </p:txBody>
      </p:sp>
      <p:sp>
        <p:nvSpPr>
          <p:cNvPr id="17" name="Rectangle 67">
            <a:extLst>
              <a:ext uri="{FF2B5EF4-FFF2-40B4-BE49-F238E27FC236}">
                <a16:creationId xmlns:a16="http://schemas.microsoft.com/office/drawing/2014/main" id="{52FDCC5B-7A26-0597-EDF9-D132BC46CCBF}"/>
              </a:ext>
            </a:extLst>
          </p:cNvPr>
          <p:cNvSpPr>
            <a:spLocks noChangeArrowheads="1"/>
          </p:cNvSpPr>
          <p:nvPr/>
        </p:nvSpPr>
        <p:spPr bwMode="auto">
          <a:xfrm>
            <a:off x="6752758" y="3755897"/>
            <a:ext cx="1143000" cy="542925"/>
          </a:xfrm>
          <a:prstGeom prst="rect">
            <a:avLst/>
          </a:prstGeom>
          <a:solidFill>
            <a:srgbClr val="FFFFFF"/>
          </a:solidFill>
          <a:ln w="9525">
            <a:solidFill>
              <a:srgbClr val="000000"/>
            </a:solidFill>
            <a:miter lim="800000"/>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spcBef>
                <a:spcPct val="0"/>
              </a:spcBef>
            </a:pPr>
            <a:r>
              <a:rPr kumimoji="0" lang="ja-JP" altLang="en-US" sz="1200" b="0" dirty="0">
                <a:solidFill>
                  <a:srgbClr val="000000"/>
                </a:solidFill>
                <a:latin typeface="Meiryo UI" panose="020B0604030504040204" pitchFamily="50" charset="-128"/>
                <a:ea typeface="Meiryo UI" panose="020B0604030504040204" pitchFamily="50" charset="-128"/>
              </a:rPr>
              <a:t>営業サポート</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50" charset="-128"/>
                <a:cs typeface="+mn-cs"/>
              </a:rPr>
              <a:t>　</a:t>
            </a:r>
          </a:p>
        </p:txBody>
      </p:sp>
      <p:sp>
        <p:nvSpPr>
          <p:cNvPr id="18" name="Rectangle 68">
            <a:extLst>
              <a:ext uri="{FF2B5EF4-FFF2-40B4-BE49-F238E27FC236}">
                <a16:creationId xmlns:a16="http://schemas.microsoft.com/office/drawing/2014/main" id="{8AFE90BB-2990-90AF-63BF-23F2F91282AA}"/>
              </a:ext>
            </a:extLst>
          </p:cNvPr>
          <p:cNvSpPr>
            <a:spLocks noChangeArrowheads="1"/>
          </p:cNvSpPr>
          <p:nvPr/>
        </p:nvSpPr>
        <p:spPr bwMode="auto">
          <a:xfrm>
            <a:off x="8039774" y="3771899"/>
            <a:ext cx="1295400" cy="561975"/>
          </a:xfrm>
          <a:prstGeom prst="rect">
            <a:avLst/>
          </a:prstGeom>
          <a:solidFill>
            <a:srgbClr val="FFFFFF"/>
          </a:solidFill>
          <a:ln w="9525">
            <a:solidFill>
              <a:srgbClr val="000000"/>
            </a:solidFill>
            <a:miter lim="800000"/>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spcBef>
                <a:spcPct val="0"/>
              </a:spcBef>
              <a:defRPr/>
            </a:pPr>
            <a:r>
              <a:rPr kumimoji="0" lang="ja-JP" altLang="en-US" sz="1200" b="0" dirty="0">
                <a:solidFill>
                  <a:srgbClr val="000000"/>
                </a:solidFill>
                <a:latin typeface="Meiryo UI" panose="020B0604030504040204" pitchFamily="50" charset="-128"/>
                <a:ea typeface="Meiryo UI" panose="020B0604030504040204" pitchFamily="50" charset="-128"/>
              </a:rPr>
              <a:t>資産管理事務</a:t>
            </a:r>
          </a:p>
        </p:txBody>
      </p:sp>
      <p:sp>
        <p:nvSpPr>
          <p:cNvPr id="19" name="Rectangle 70">
            <a:extLst>
              <a:ext uri="{FF2B5EF4-FFF2-40B4-BE49-F238E27FC236}">
                <a16:creationId xmlns:a16="http://schemas.microsoft.com/office/drawing/2014/main" id="{89D46D50-F03F-84F8-46F1-3FA29000A1D7}"/>
              </a:ext>
            </a:extLst>
          </p:cNvPr>
          <p:cNvSpPr>
            <a:spLocks noChangeArrowheads="1"/>
          </p:cNvSpPr>
          <p:nvPr/>
        </p:nvSpPr>
        <p:spPr bwMode="auto">
          <a:xfrm>
            <a:off x="4333061" y="2285999"/>
            <a:ext cx="2057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信託契約等</a:t>
            </a:r>
            <a:endParaRPr kumimoji="0"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20" name="Rectangle 71">
            <a:extLst>
              <a:ext uri="{FF2B5EF4-FFF2-40B4-BE49-F238E27FC236}">
                <a16:creationId xmlns:a16="http://schemas.microsoft.com/office/drawing/2014/main" id="{36BB5268-A92D-7EB2-1C7E-5678B5CC6415}"/>
              </a:ext>
            </a:extLst>
          </p:cNvPr>
          <p:cNvSpPr>
            <a:spLocks noChangeArrowheads="1"/>
          </p:cNvSpPr>
          <p:nvPr/>
        </p:nvSpPr>
        <p:spPr bwMode="auto">
          <a:xfrm>
            <a:off x="7609661" y="2285999"/>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信託契約等</a:t>
            </a:r>
            <a:endParaRPr kumimoji="0"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21" name="Oval 86">
            <a:extLst>
              <a:ext uri="{FF2B5EF4-FFF2-40B4-BE49-F238E27FC236}">
                <a16:creationId xmlns:a16="http://schemas.microsoft.com/office/drawing/2014/main" id="{47C8034D-0456-C81D-95B6-FEA3A7DEC576}"/>
              </a:ext>
            </a:extLst>
          </p:cNvPr>
          <p:cNvSpPr>
            <a:spLocks noChangeArrowheads="1"/>
          </p:cNvSpPr>
          <p:nvPr/>
        </p:nvSpPr>
        <p:spPr bwMode="auto">
          <a:xfrm>
            <a:off x="8143061" y="1600199"/>
            <a:ext cx="16002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22" name="Oval 65">
            <a:extLst>
              <a:ext uri="{FF2B5EF4-FFF2-40B4-BE49-F238E27FC236}">
                <a16:creationId xmlns:a16="http://schemas.microsoft.com/office/drawing/2014/main" id="{C69F92B1-321F-DD99-78C3-91023F24BA39}"/>
              </a:ext>
            </a:extLst>
          </p:cNvPr>
          <p:cNvSpPr>
            <a:spLocks noChangeArrowheads="1"/>
          </p:cNvSpPr>
          <p:nvPr/>
        </p:nvSpPr>
        <p:spPr bwMode="auto">
          <a:xfrm>
            <a:off x="8371661" y="1676399"/>
            <a:ext cx="1174750" cy="36195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公的年金</a:t>
            </a:r>
          </a:p>
        </p:txBody>
      </p:sp>
      <p:sp>
        <p:nvSpPr>
          <p:cNvPr id="23" name="Oval 101">
            <a:extLst>
              <a:ext uri="{FF2B5EF4-FFF2-40B4-BE49-F238E27FC236}">
                <a16:creationId xmlns:a16="http://schemas.microsoft.com/office/drawing/2014/main" id="{8C195079-0B76-3C7A-585E-4FA470C1858C}"/>
              </a:ext>
            </a:extLst>
          </p:cNvPr>
          <p:cNvSpPr>
            <a:spLocks noChangeArrowheads="1"/>
          </p:cNvSpPr>
          <p:nvPr/>
        </p:nvSpPr>
        <p:spPr bwMode="auto">
          <a:xfrm>
            <a:off x="1437461" y="1600199"/>
            <a:ext cx="16002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24" name="Oval 102">
            <a:extLst>
              <a:ext uri="{FF2B5EF4-FFF2-40B4-BE49-F238E27FC236}">
                <a16:creationId xmlns:a16="http://schemas.microsoft.com/office/drawing/2014/main" id="{0B40FAD5-0811-25D0-35E2-2F6A5E8B0685}"/>
              </a:ext>
            </a:extLst>
          </p:cNvPr>
          <p:cNvSpPr>
            <a:spLocks noChangeArrowheads="1"/>
          </p:cNvSpPr>
          <p:nvPr/>
        </p:nvSpPr>
        <p:spPr bwMode="auto">
          <a:xfrm>
            <a:off x="3113861" y="1600199"/>
            <a:ext cx="16002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25" name="Oval 103">
            <a:extLst>
              <a:ext uri="{FF2B5EF4-FFF2-40B4-BE49-F238E27FC236}">
                <a16:creationId xmlns:a16="http://schemas.microsoft.com/office/drawing/2014/main" id="{22293766-AB39-C88A-2700-A52B4FDF5C36}"/>
              </a:ext>
            </a:extLst>
          </p:cNvPr>
          <p:cNvSpPr>
            <a:spLocks noChangeArrowheads="1"/>
          </p:cNvSpPr>
          <p:nvPr/>
        </p:nvSpPr>
        <p:spPr bwMode="auto">
          <a:xfrm>
            <a:off x="4790261" y="1600199"/>
            <a:ext cx="16002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26" name="Oval 104">
            <a:extLst>
              <a:ext uri="{FF2B5EF4-FFF2-40B4-BE49-F238E27FC236}">
                <a16:creationId xmlns:a16="http://schemas.microsoft.com/office/drawing/2014/main" id="{3E4A0C32-7D42-9AC1-148D-31275578AF86}"/>
              </a:ext>
            </a:extLst>
          </p:cNvPr>
          <p:cNvSpPr>
            <a:spLocks noChangeArrowheads="1"/>
          </p:cNvSpPr>
          <p:nvPr/>
        </p:nvSpPr>
        <p:spPr bwMode="auto">
          <a:xfrm>
            <a:off x="6466661" y="1600199"/>
            <a:ext cx="16002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27" name="Rectangle 66">
            <a:extLst>
              <a:ext uri="{FF2B5EF4-FFF2-40B4-BE49-F238E27FC236}">
                <a16:creationId xmlns:a16="http://schemas.microsoft.com/office/drawing/2014/main" id="{2E4D21E1-6480-CE3A-4601-C5E6D7A1EBFD}"/>
              </a:ext>
            </a:extLst>
          </p:cNvPr>
          <p:cNvSpPr>
            <a:spLocks noChangeArrowheads="1"/>
          </p:cNvSpPr>
          <p:nvPr/>
        </p:nvSpPr>
        <p:spPr bwMode="auto">
          <a:xfrm>
            <a:off x="6695261" y="1619249"/>
            <a:ext cx="15240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ja-JP"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rPr>
              <a:t>       </a:t>
            </a: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その他</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（事業法人等）</a:t>
            </a:r>
          </a:p>
        </p:txBody>
      </p:sp>
      <p:sp>
        <p:nvSpPr>
          <p:cNvPr id="28" name="Rectangle 64">
            <a:extLst>
              <a:ext uri="{FF2B5EF4-FFF2-40B4-BE49-F238E27FC236}">
                <a16:creationId xmlns:a16="http://schemas.microsoft.com/office/drawing/2014/main" id="{6CB49EEF-AC85-EA0C-7DF8-905D7E0D3B93}"/>
              </a:ext>
            </a:extLst>
          </p:cNvPr>
          <p:cNvSpPr>
            <a:spLocks noChangeArrowheads="1"/>
          </p:cNvSpPr>
          <p:nvPr/>
        </p:nvSpPr>
        <p:spPr bwMode="auto">
          <a:xfrm>
            <a:off x="5018861" y="1752599"/>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ja-JP"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50" charset="-128"/>
                <a:cs typeface="+mn-cs"/>
              </a:rPr>
              <a:t> </a:t>
            </a: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投信委託会社</a:t>
            </a:r>
          </a:p>
        </p:txBody>
      </p:sp>
      <p:sp>
        <p:nvSpPr>
          <p:cNvPr id="29" name="Rectangle 63">
            <a:extLst>
              <a:ext uri="{FF2B5EF4-FFF2-40B4-BE49-F238E27FC236}">
                <a16:creationId xmlns:a16="http://schemas.microsoft.com/office/drawing/2014/main" id="{26A68475-0560-A054-2E7C-3D8233D757C7}"/>
              </a:ext>
            </a:extLst>
          </p:cNvPr>
          <p:cNvSpPr>
            <a:spLocks noChangeArrowheads="1"/>
          </p:cNvSpPr>
          <p:nvPr/>
        </p:nvSpPr>
        <p:spPr bwMode="auto">
          <a:xfrm>
            <a:off x="3490099" y="1652587"/>
            <a:ext cx="137318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金融法人・</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共済組合等</a:t>
            </a:r>
          </a:p>
        </p:txBody>
      </p:sp>
      <p:sp>
        <p:nvSpPr>
          <p:cNvPr id="30" name="Rectangle 62">
            <a:extLst>
              <a:ext uri="{FF2B5EF4-FFF2-40B4-BE49-F238E27FC236}">
                <a16:creationId xmlns:a16="http://schemas.microsoft.com/office/drawing/2014/main" id="{92AF4F3A-E41E-2D73-D390-D19B8B415B6D}"/>
              </a:ext>
            </a:extLst>
          </p:cNvPr>
          <p:cNvSpPr>
            <a:spLocks noChangeArrowheads="1"/>
          </p:cNvSpPr>
          <p:nvPr/>
        </p:nvSpPr>
        <p:spPr bwMode="auto">
          <a:xfrm>
            <a:off x="1818461" y="1724024"/>
            <a:ext cx="12398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企業年金</a:t>
            </a:r>
          </a:p>
        </p:txBody>
      </p:sp>
      <p:sp>
        <p:nvSpPr>
          <p:cNvPr id="31" name="Rectangle 60">
            <a:extLst>
              <a:ext uri="{FF2B5EF4-FFF2-40B4-BE49-F238E27FC236}">
                <a16:creationId xmlns:a16="http://schemas.microsoft.com/office/drawing/2014/main" id="{2FF236C5-E3EB-3902-AE06-42A9A8569944}"/>
              </a:ext>
            </a:extLst>
          </p:cNvPr>
          <p:cNvSpPr>
            <a:spLocks noChangeArrowheads="1"/>
          </p:cNvSpPr>
          <p:nvPr/>
        </p:nvSpPr>
        <p:spPr bwMode="auto">
          <a:xfrm>
            <a:off x="4485461" y="2895599"/>
            <a:ext cx="1600200" cy="304800"/>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＜資産管理業務＞</a:t>
            </a:r>
          </a:p>
        </p:txBody>
      </p:sp>
      <p:sp>
        <p:nvSpPr>
          <p:cNvPr id="32" name="Line 106">
            <a:extLst>
              <a:ext uri="{FF2B5EF4-FFF2-40B4-BE49-F238E27FC236}">
                <a16:creationId xmlns:a16="http://schemas.microsoft.com/office/drawing/2014/main" id="{28040E96-8882-DF08-52A7-1FBCE949C8E9}"/>
              </a:ext>
            </a:extLst>
          </p:cNvPr>
          <p:cNvSpPr>
            <a:spLocks noChangeShapeType="1"/>
          </p:cNvSpPr>
          <p:nvPr/>
        </p:nvSpPr>
        <p:spPr bwMode="auto">
          <a:xfrm rot="5388990" flipH="1">
            <a:off x="7000061" y="2743199"/>
            <a:ext cx="1068388" cy="1588"/>
          </a:xfrm>
          <a:prstGeom prst="line">
            <a:avLst/>
          </a:prstGeom>
          <a:noFill/>
          <a:ln w="38100" cmpd="dbl">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33" name="Line 107">
            <a:extLst>
              <a:ext uri="{FF2B5EF4-FFF2-40B4-BE49-F238E27FC236}">
                <a16:creationId xmlns:a16="http://schemas.microsoft.com/office/drawing/2014/main" id="{90960B2E-EDB3-E161-234F-EA019074B319}"/>
              </a:ext>
            </a:extLst>
          </p:cNvPr>
          <p:cNvSpPr>
            <a:spLocks noChangeShapeType="1"/>
          </p:cNvSpPr>
          <p:nvPr/>
        </p:nvSpPr>
        <p:spPr bwMode="auto">
          <a:xfrm rot="5388990">
            <a:off x="3990161" y="2476499"/>
            <a:ext cx="533400" cy="0"/>
          </a:xfrm>
          <a:prstGeom prst="line">
            <a:avLst/>
          </a:prstGeom>
          <a:noFill/>
          <a:ln w="38100" cmpd="dbl">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34" name="Line 108">
            <a:extLst>
              <a:ext uri="{FF2B5EF4-FFF2-40B4-BE49-F238E27FC236}">
                <a16:creationId xmlns:a16="http://schemas.microsoft.com/office/drawing/2014/main" id="{182A876F-E92F-EB5C-4E2C-DA560191E0E2}"/>
              </a:ext>
            </a:extLst>
          </p:cNvPr>
          <p:cNvSpPr>
            <a:spLocks noChangeShapeType="1"/>
          </p:cNvSpPr>
          <p:nvPr/>
        </p:nvSpPr>
        <p:spPr bwMode="auto">
          <a:xfrm rot="5388990">
            <a:off x="2160567" y="3007518"/>
            <a:ext cx="534988"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35" name="Line 109">
            <a:extLst>
              <a:ext uri="{FF2B5EF4-FFF2-40B4-BE49-F238E27FC236}">
                <a16:creationId xmlns:a16="http://schemas.microsoft.com/office/drawing/2014/main" id="{B503789E-C1C8-B52A-8A82-78C71731C964}"/>
              </a:ext>
            </a:extLst>
          </p:cNvPr>
          <p:cNvSpPr>
            <a:spLocks noChangeShapeType="1"/>
          </p:cNvSpPr>
          <p:nvPr/>
        </p:nvSpPr>
        <p:spPr bwMode="auto">
          <a:xfrm rot="5388990" flipH="1">
            <a:off x="6429355" y="3007518"/>
            <a:ext cx="531812" cy="0"/>
          </a:xfrm>
          <a:prstGeom prst="line">
            <a:avLst/>
          </a:prstGeom>
          <a:noFill/>
          <a:ln w="38100" cmpd="dbl">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36" name="Line 111">
            <a:extLst>
              <a:ext uri="{FF2B5EF4-FFF2-40B4-BE49-F238E27FC236}">
                <a16:creationId xmlns:a16="http://schemas.microsoft.com/office/drawing/2014/main" id="{A7BE00CE-9F8F-D799-3B0A-C77C5FECDD30}"/>
              </a:ext>
            </a:extLst>
          </p:cNvPr>
          <p:cNvSpPr>
            <a:spLocks noChangeShapeType="1"/>
          </p:cNvSpPr>
          <p:nvPr/>
        </p:nvSpPr>
        <p:spPr bwMode="auto">
          <a:xfrm>
            <a:off x="2428061" y="2743199"/>
            <a:ext cx="4267200"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3200" b="1" i="0" u="none" strike="noStrike" kern="120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50" charset="-128"/>
              <a:cs typeface="+mn-cs"/>
            </a:endParaRPr>
          </a:p>
        </p:txBody>
      </p:sp>
      <p:sp>
        <p:nvSpPr>
          <p:cNvPr id="38" name="AutoShape 83">
            <a:extLst>
              <a:ext uri="{FF2B5EF4-FFF2-40B4-BE49-F238E27FC236}">
                <a16:creationId xmlns:a16="http://schemas.microsoft.com/office/drawing/2014/main" id="{2FC9808D-C84F-BA46-06B4-D84C56DBEAAB}"/>
              </a:ext>
            </a:extLst>
          </p:cNvPr>
          <p:cNvSpPr>
            <a:spLocks noChangeArrowheads="1"/>
          </p:cNvSpPr>
          <p:nvPr/>
        </p:nvSpPr>
        <p:spPr bwMode="auto">
          <a:xfrm>
            <a:off x="1123136" y="3267074"/>
            <a:ext cx="3638674" cy="1371600"/>
          </a:xfrm>
          <a:prstGeom prst="roundRect">
            <a:avLst>
              <a:gd name="adj" fmla="val 16667"/>
            </a:avLst>
          </a:prstGeom>
          <a:noFill/>
          <a:ln w="38100">
            <a:solidFill>
              <a:schemeClr val="tx1"/>
            </a:solidFill>
            <a:round/>
            <a:headEnd/>
            <a:tailEnd/>
          </a:ln>
          <a:extLst>
            <a:ext uri="{909E8E84-426E-40DD-AFC4-6F175D3DCCD1}">
              <a14:hiddenFill xmlns:a14="http://schemas.microsoft.com/office/drawing/2010/main">
                <a:solidFill>
                  <a:srgbClr val="FFCC99"/>
                </a:solidFill>
              </a14:hiddenFill>
            </a:ext>
          </a:extLst>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三菱</a:t>
            </a:r>
            <a:r>
              <a:rPr kumimoji="0"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UFJ</a:t>
            </a: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信託銀行</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0"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MUTB)</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39" name="Rectangle 84">
            <a:extLst>
              <a:ext uri="{FF2B5EF4-FFF2-40B4-BE49-F238E27FC236}">
                <a16:creationId xmlns:a16="http://schemas.microsoft.com/office/drawing/2014/main" id="{648DF202-E138-B47D-9E2C-F5295039FC18}"/>
              </a:ext>
            </a:extLst>
          </p:cNvPr>
          <p:cNvSpPr>
            <a:spLocks noChangeArrowheads="1"/>
          </p:cNvSpPr>
          <p:nvPr/>
        </p:nvSpPr>
        <p:spPr bwMode="auto">
          <a:xfrm>
            <a:off x="1456511" y="4868036"/>
            <a:ext cx="7924800" cy="1761364"/>
          </a:xfrm>
          <a:prstGeom prst="rect">
            <a:avLst/>
          </a:prstGeom>
          <a:solidFill>
            <a:srgbClr val="FFFFFF"/>
          </a:solidFill>
          <a:ln w="9525">
            <a:noFill/>
            <a:miter lim="800000"/>
            <a:headEnd/>
            <a:tailEnd/>
          </a:ln>
        </p:spPr>
        <p:txBody>
          <a:bodyPr/>
          <a:lstStyle>
            <a:lvl1pPr eaLnBrk="0" hangingPunct="0">
              <a:defRPr kumimoji="1" sz="3200" b="1">
                <a:solidFill>
                  <a:schemeClr val="bg1"/>
                </a:solidFill>
                <a:latin typeface="Times New Roman" pitchFamily="18" charset="0"/>
                <a:ea typeface="ＭＳ Ｐゴシック" pitchFamily="50" charset="-128"/>
              </a:defRPr>
            </a:lvl1pPr>
            <a:lvl2pPr marL="742950" indent="-285750" eaLnBrk="0" hangingPunct="0">
              <a:defRPr kumimoji="1" sz="3200" b="1">
                <a:solidFill>
                  <a:schemeClr val="bg1"/>
                </a:solidFill>
                <a:latin typeface="Times New Roman" pitchFamily="18" charset="0"/>
                <a:ea typeface="ＭＳ Ｐゴシック" pitchFamily="50" charset="-128"/>
              </a:defRPr>
            </a:lvl2pPr>
            <a:lvl3pPr marL="1143000" indent="-228600" eaLnBrk="0" hangingPunct="0">
              <a:defRPr kumimoji="1" sz="3200" b="1">
                <a:solidFill>
                  <a:schemeClr val="bg1"/>
                </a:solidFill>
                <a:latin typeface="Times New Roman" pitchFamily="18" charset="0"/>
                <a:ea typeface="ＭＳ Ｐゴシック" pitchFamily="50" charset="-128"/>
              </a:defRPr>
            </a:lvl3pPr>
            <a:lvl4pPr marL="1600200" indent="-228600" eaLnBrk="0" hangingPunct="0">
              <a:defRPr kumimoji="1" sz="3200" b="1">
                <a:solidFill>
                  <a:schemeClr val="bg1"/>
                </a:solidFill>
                <a:latin typeface="Times New Roman" pitchFamily="18" charset="0"/>
                <a:ea typeface="ＭＳ Ｐゴシック" pitchFamily="50" charset="-128"/>
              </a:defRPr>
            </a:lvl4pPr>
            <a:lvl5pPr marL="2057400" indent="-228600" eaLnBrk="0" hangingPunct="0">
              <a:defRPr kumimoji="1" sz="3200" b="1">
                <a:solidFill>
                  <a:schemeClr val="bg1"/>
                </a:solidFill>
                <a:latin typeface="Times New Roman" pitchFamily="18" charset="0"/>
                <a:ea typeface="ＭＳ Ｐゴシック" pitchFamily="50" charset="-128"/>
              </a:defRPr>
            </a:lvl5pPr>
            <a:lvl6pPr marL="2514600" indent="-228600" eaLnBrk="0" fontAlgn="base" hangingPunct="0">
              <a:spcBef>
                <a:spcPct val="50000"/>
              </a:spcBef>
              <a:spcAft>
                <a:spcPct val="0"/>
              </a:spcAft>
              <a:defRPr kumimoji="1" sz="3200" b="1">
                <a:solidFill>
                  <a:schemeClr val="bg1"/>
                </a:solidFill>
                <a:latin typeface="Times New Roman" pitchFamily="18" charset="0"/>
                <a:ea typeface="ＭＳ Ｐゴシック" pitchFamily="50" charset="-128"/>
              </a:defRPr>
            </a:lvl6pPr>
            <a:lvl7pPr marL="2971800" indent="-228600" eaLnBrk="0" fontAlgn="base" hangingPunct="0">
              <a:spcBef>
                <a:spcPct val="50000"/>
              </a:spcBef>
              <a:spcAft>
                <a:spcPct val="0"/>
              </a:spcAft>
              <a:defRPr kumimoji="1" sz="3200" b="1">
                <a:solidFill>
                  <a:schemeClr val="bg1"/>
                </a:solidFill>
                <a:latin typeface="Times New Roman" pitchFamily="18" charset="0"/>
                <a:ea typeface="ＭＳ Ｐゴシック" pitchFamily="50" charset="-128"/>
              </a:defRPr>
            </a:lvl7pPr>
            <a:lvl8pPr marL="3429000" indent="-228600" eaLnBrk="0" fontAlgn="base" hangingPunct="0">
              <a:spcBef>
                <a:spcPct val="50000"/>
              </a:spcBef>
              <a:spcAft>
                <a:spcPct val="0"/>
              </a:spcAft>
              <a:defRPr kumimoji="1" sz="3200" b="1">
                <a:solidFill>
                  <a:schemeClr val="bg1"/>
                </a:solidFill>
                <a:latin typeface="Times New Roman" pitchFamily="18" charset="0"/>
                <a:ea typeface="ＭＳ Ｐゴシック" pitchFamily="50" charset="-128"/>
              </a:defRPr>
            </a:lvl8pPr>
            <a:lvl9pPr marL="3886200" indent="-228600" eaLnBrk="0" fontAlgn="base" hangingPunct="0">
              <a:spcBef>
                <a:spcPct val="50000"/>
              </a:spcBef>
              <a:spcAft>
                <a:spcPct val="0"/>
              </a:spcAft>
              <a:defRPr kumimoji="1" sz="3200" b="1">
                <a:solidFill>
                  <a:schemeClr val="bg1"/>
                </a:solidFill>
                <a:latin typeface="Times New Roman" pitchFamily="18" charset="0"/>
                <a:ea typeface="ＭＳ Ｐゴシック" pitchFamily="50" charset="-128"/>
              </a:defRPr>
            </a:lvl9pPr>
          </a:lstStyle>
          <a:p>
            <a:pPr algn="l">
              <a:spcBef>
                <a:spcPct val="0"/>
              </a:spcBef>
              <a:defRPr/>
            </a:pPr>
            <a:r>
              <a:rPr kumimoji="0" lang="ja-JP" altLang="en-US" sz="1600" b="0" dirty="0">
                <a:solidFill>
                  <a:schemeClr val="tx1"/>
                </a:solidFill>
              </a:rPr>
              <a:t>◆様々な契約種類・形態による関係</a:t>
            </a:r>
            <a:endParaRPr kumimoji="0" lang="en-US" altLang="ja-JP" sz="1600" b="0" dirty="0">
              <a:solidFill>
                <a:schemeClr val="tx1"/>
              </a:solidFill>
            </a:endParaRPr>
          </a:p>
          <a:p>
            <a:pPr marL="536575" indent="-268288" algn="l">
              <a:spcBef>
                <a:spcPct val="0"/>
              </a:spcBef>
              <a:buFont typeface="Wingdings" panose="05000000000000000000" pitchFamily="2" charset="2"/>
              <a:buChar char="ü"/>
              <a:defRPr/>
            </a:pPr>
            <a:r>
              <a:rPr kumimoji="0" lang="ja-JP" altLang="en-US" sz="1600" b="0" dirty="0">
                <a:solidFill>
                  <a:schemeClr val="tx1"/>
                </a:solidFill>
                <a:latin typeface="+mn-ea"/>
              </a:rPr>
              <a:t>信託契約（共同受託、再信託、単独受託）</a:t>
            </a:r>
            <a:endParaRPr kumimoji="0" lang="en-US" altLang="ja-JP" sz="1600" b="0" dirty="0">
              <a:solidFill>
                <a:schemeClr val="tx1"/>
              </a:solidFill>
              <a:latin typeface="+mn-ea"/>
            </a:endParaRPr>
          </a:p>
          <a:p>
            <a:pPr marL="536575" indent="-268288" algn="l">
              <a:spcBef>
                <a:spcPct val="0"/>
              </a:spcBef>
              <a:buFont typeface="Wingdings" panose="05000000000000000000" pitchFamily="2" charset="2"/>
              <a:buChar char="ü"/>
              <a:defRPr/>
            </a:pPr>
            <a:r>
              <a:rPr kumimoji="0" lang="ja-JP" altLang="en-US" sz="1600" b="0" dirty="0">
                <a:solidFill>
                  <a:schemeClr val="tx1"/>
                </a:solidFill>
                <a:latin typeface="+mn-ea"/>
              </a:rPr>
              <a:t>有価証券管理サービス契約</a:t>
            </a:r>
            <a:endParaRPr kumimoji="0" lang="en-US" altLang="ja-JP" sz="1600" b="0" dirty="0">
              <a:solidFill>
                <a:schemeClr val="tx1"/>
              </a:solidFill>
              <a:latin typeface="+mn-ea"/>
            </a:endParaRPr>
          </a:p>
          <a:p>
            <a:pPr marL="536575" indent="-268288" algn="l">
              <a:spcBef>
                <a:spcPct val="0"/>
              </a:spcBef>
              <a:buFont typeface="Wingdings" panose="05000000000000000000" pitchFamily="2" charset="2"/>
              <a:buChar char="ü"/>
              <a:defRPr/>
            </a:pPr>
            <a:r>
              <a:rPr kumimoji="0" lang="ja-JP" altLang="en-US" sz="1600" b="0" dirty="0">
                <a:solidFill>
                  <a:schemeClr val="tx1"/>
                </a:solidFill>
                <a:latin typeface="+mn-ea"/>
              </a:rPr>
              <a:t>事務受任契約</a:t>
            </a:r>
            <a:endParaRPr kumimoji="0" lang="en-US" altLang="ja-JP" sz="1600" b="0" dirty="0">
              <a:solidFill>
                <a:schemeClr val="tx1"/>
              </a:solidFill>
              <a:latin typeface="+mn-ea"/>
            </a:endParaRPr>
          </a:p>
          <a:p>
            <a:pPr algn="l">
              <a:spcBef>
                <a:spcPct val="0"/>
              </a:spcBef>
              <a:defRPr/>
            </a:pPr>
            <a:r>
              <a:rPr kumimoji="0" lang="ja-JP" altLang="en-US" sz="1600" b="0" dirty="0">
                <a:solidFill>
                  <a:schemeClr val="tx1"/>
                </a:solidFill>
              </a:rPr>
              <a:t>◆当社の資産管理業務</a:t>
            </a:r>
            <a:endParaRPr kumimoji="0" lang="en-US" altLang="ja-JP" sz="1600" b="0" dirty="0">
              <a:solidFill>
                <a:schemeClr val="tx1"/>
              </a:solidFill>
            </a:endParaRPr>
          </a:p>
          <a:p>
            <a:pPr marL="536575" indent="-285750" algn="l">
              <a:spcBef>
                <a:spcPct val="0"/>
              </a:spcBef>
              <a:buFont typeface="Wingdings" panose="05000000000000000000" pitchFamily="2" charset="2"/>
              <a:buChar char="ü"/>
              <a:defRPr/>
            </a:pPr>
            <a:r>
              <a:rPr kumimoji="0" lang="ja-JP" altLang="en-US" sz="1600" b="0" dirty="0">
                <a:solidFill>
                  <a:schemeClr val="tx1"/>
                </a:solidFill>
                <a:latin typeface="+mn-ea"/>
              </a:rPr>
              <a:t>信託　　⇒　投信、非投信（年金、証券その他）</a:t>
            </a:r>
            <a:endParaRPr kumimoji="0" lang="en-US" altLang="ja-JP" sz="1600" b="0" dirty="0">
              <a:solidFill>
                <a:schemeClr val="tx1"/>
              </a:solidFill>
              <a:latin typeface="+mn-ea"/>
            </a:endParaRPr>
          </a:p>
          <a:p>
            <a:pPr marL="536575" indent="-285750" algn="l">
              <a:spcBef>
                <a:spcPct val="0"/>
              </a:spcBef>
              <a:buFont typeface="Wingdings" panose="05000000000000000000" pitchFamily="2" charset="2"/>
              <a:buChar char="ü"/>
              <a:defRPr/>
            </a:pPr>
            <a:r>
              <a:rPr kumimoji="0" lang="ja-JP" altLang="en-US" sz="1600" b="0" dirty="0">
                <a:solidFill>
                  <a:schemeClr val="tx1"/>
                </a:solidFill>
                <a:latin typeface="+mn-ea"/>
              </a:rPr>
              <a:t>非信託　⇒　常任代理、事務アウトソース（投信委託代行、投資一任、市場決済）</a:t>
            </a:r>
            <a:endParaRPr kumimoji="0" lang="en-US" altLang="ja-JP" sz="1200" b="0" dirty="0">
              <a:solidFill>
                <a:schemeClr val="tx1"/>
              </a:solidFill>
            </a:endParaRPr>
          </a:p>
        </p:txBody>
      </p:sp>
      <p:sp>
        <p:nvSpPr>
          <p:cNvPr id="40" name="Rectangle 59">
            <a:extLst>
              <a:ext uri="{FF2B5EF4-FFF2-40B4-BE49-F238E27FC236}">
                <a16:creationId xmlns:a16="http://schemas.microsoft.com/office/drawing/2014/main" id="{B1D27E87-BF2C-224A-0F4C-2EFC069B21CE}"/>
              </a:ext>
            </a:extLst>
          </p:cNvPr>
          <p:cNvSpPr>
            <a:spLocks noChangeArrowheads="1"/>
          </p:cNvSpPr>
          <p:nvPr/>
        </p:nvSpPr>
        <p:spPr bwMode="auto">
          <a:xfrm>
            <a:off x="5143130" y="3755897"/>
            <a:ext cx="1412777" cy="549402"/>
          </a:xfrm>
          <a:prstGeom prst="rect">
            <a:avLst/>
          </a:prstGeom>
          <a:solidFill>
            <a:srgbClr val="FFFFFF"/>
          </a:solidFill>
          <a:ln w="9525">
            <a:solidFill>
              <a:srgbClr val="000000"/>
            </a:solidFill>
            <a:miter lim="800000"/>
            <a:headEnd/>
            <a:tailEnd/>
          </a:ln>
        </p:spPr>
        <p:txBody>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spcBef>
                <a:spcPct val="0"/>
              </a:spcBef>
              <a:defRPr/>
            </a:pPr>
            <a:r>
              <a:rPr kumimoji="0" lang="ja-JP" altLang="en-US" sz="1200" b="0" dirty="0">
                <a:solidFill>
                  <a:srgbClr val="000000"/>
                </a:solidFill>
                <a:latin typeface="Meiryo UI" panose="020B0604030504040204" pitchFamily="50" charset="-128"/>
                <a:ea typeface="Meiryo UI" panose="020B0604030504040204" pitchFamily="50" charset="-128"/>
              </a:rPr>
              <a:t>資産管理企画</a:t>
            </a:r>
          </a:p>
        </p:txBody>
      </p:sp>
    </p:spTree>
    <p:extLst>
      <p:ext uri="{BB962C8B-B14F-4D97-AF65-F5344CB8AC3E}">
        <p14:creationId xmlns:p14="http://schemas.microsoft.com/office/powerpoint/2010/main" val="1427452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図 27">
            <a:extLst>
              <a:ext uri="{FF2B5EF4-FFF2-40B4-BE49-F238E27FC236}">
                <a16:creationId xmlns:a16="http://schemas.microsoft.com/office/drawing/2014/main" id="{D89E80DD-C824-7EF6-FE84-2AFDEEE9FB4B}"/>
              </a:ext>
            </a:extLst>
          </p:cNvPr>
          <p:cNvPicPr>
            <a:picLocks noChangeAspect="1"/>
          </p:cNvPicPr>
          <p:nvPr/>
        </p:nvPicPr>
        <p:blipFill>
          <a:blip r:embed="rId3"/>
          <a:stretch>
            <a:fillRect/>
          </a:stretch>
        </p:blipFill>
        <p:spPr>
          <a:xfrm>
            <a:off x="54030" y="1438274"/>
            <a:ext cx="10242495" cy="4799355"/>
          </a:xfrm>
          <a:prstGeom prst="rect">
            <a:avLst/>
          </a:prstGeom>
        </p:spPr>
      </p:pic>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a:xfrm>
            <a:off x="3542400" y="7005600"/>
            <a:ext cx="3607200" cy="401638"/>
          </a:xfrm>
        </p:spPr>
        <p:txBody>
          <a:bodyPr anchor="ctr">
            <a:normAutofit/>
          </a:bodyPr>
          <a:lstStyle/>
          <a:p>
            <a:pPr>
              <a:spcAft>
                <a:spcPts val="600"/>
              </a:spcAft>
            </a:pPr>
            <a:fld id="{9BF854DB-42D3-EE44-9486-1E8138C63EFC}" type="slidenum">
              <a:rPr lang="ja-JP" altLang="en-US" smtClean="0"/>
              <a:pPr>
                <a:spcAft>
                  <a:spcPts val="600"/>
                </a:spcAft>
              </a:pPr>
              <a:t>3</a:t>
            </a:fld>
            <a:endParaRPr lang="ja-JP" altLang="en-US"/>
          </a:p>
        </p:txBody>
      </p:sp>
      <p:sp>
        <p:nvSpPr>
          <p:cNvPr id="5" name="タイトル 4">
            <a:extLst>
              <a:ext uri="{FF2B5EF4-FFF2-40B4-BE49-F238E27FC236}">
                <a16:creationId xmlns:a16="http://schemas.microsoft.com/office/drawing/2014/main" id="{7C6C2618-950B-8141-2752-FBBEF7620045}"/>
              </a:ext>
            </a:extLst>
          </p:cNvPr>
          <p:cNvSpPr>
            <a:spLocks noGrp="1"/>
          </p:cNvSpPr>
          <p:nvPr>
            <p:ph type="title"/>
          </p:nvPr>
        </p:nvSpPr>
        <p:spPr>
          <a:xfrm>
            <a:off x="561311" y="612000"/>
            <a:ext cx="8820000" cy="720000"/>
          </a:xfrm>
        </p:spPr>
        <p:txBody>
          <a:bodyPr anchor="ctr">
            <a:normAutofit/>
          </a:bodyPr>
          <a:lstStyle/>
          <a:p>
            <a:r>
              <a:rPr kumimoji="1" lang="ja-JP" altLang="en-US" dirty="0"/>
              <a:t>２．組織図</a:t>
            </a:r>
          </a:p>
        </p:txBody>
      </p:sp>
      <p:sp>
        <p:nvSpPr>
          <p:cNvPr id="9" name="角丸四角形 37">
            <a:extLst>
              <a:ext uri="{FF2B5EF4-FFF2-40B4-BE49-F238E27FC236}">
                <a16:creationId xmlns:a16="http://schemas.microsoft.com/office/drawing/2014/main" id="{E244A806-880A-F0B0-9B92-EE3E977B7C06}"/>
              </a:ext>
            </a:extLst>
          </p:cNvPr>
          <p:cNvSpPr/>
          <p:nvPr/>
        </p:nvSpPr>
        <p:spPr>
          <a:xfrm>
            <a:off x="3467100" y="3779837"/>
            <a:ext cx="6500444" cy="2341564"/>
          </a:xfrm>
          <a:prstGeom prst="roundRect">
            <a:avLst/>
          </a:prstGeom>
          <a:noFill/>
          <a:ln w="31750">
            <a:solidFill>
              <a:srgbClr val="00B0F0"/>
            </a:solidFill>
            <a:prstDash val="sysDash"/>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2" name="フローチャート: 代替処理 21">
            <a:extLst>
              <a:ext uri="{FF2B5EF4-FFF2-40B4-BE49-F238E27FC236}">
                <a16:creationId xmlns:a16="http://schemas.microsoft.com/office/drawing/2014/main" id="{5AC1C65C-324C-8028-BE65-F33E8ED614E2}"/>
              </a:ext>
            </a:extLst>
          </p:cNvPr>
          <p:cNvSpPr/>
          <p:nvPr/>
        </p:nvSpPr>
        <p:spPr>
          <a:xfrm>
            <a:off x="2809875" y="3629024"/>
            <a:ext cx="7372350" cy="2718435"/>
          </a:xfrm>
          <a:prstGeom prst="flowChartAlternateProcess">
            <a:avLst/>
          </a:prstGeom>
          <a:noFill/>
          <a:ln w="34925"/>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sz="1100" dirty="0"/>
          </a:p>
        </p:txBody>
      </p:sp>
      <p:sp>
        <p:nvSpPr>
          <p:cNvPr id="24" name="テキスト ボックス 3">
            <a:extLst>
              <a:ext uri="{FF2B5EF4-FFF2-40B4-BE49-F238E27FC236}">
                <a16:creationId xmlns:a16="http://schemas.microsoft.com/office/drawing/2014/main" id="{491FD8E0-7C89-8AE4-FA82-36354E27140D}"/>
              </a:ext>
            </a:extLst>
          </p:cNvPr>
          <p:cNvSpPr txBox="1"/>
          <p:nvPr/>
        </p:nvSpPr>
        <p:spPr>
          <a:xfrm>
            <a:off x="5390108" y="3244805"/>
            <a:ext cx="2817944" cy="459625"/>
          </a:xfrm>
          <a:prstGeom prst="rect">
            <a:avLst/>
          </a:prstGeom>
          <a:solidFill>
            <a:schemeClr val="lt1"/>
          </a:solidFill>
          <a:ln w="25400" cmpd="sng">
            <a:solidFill>
              <a:srgbClr val="FF0000"/>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1800" b="1" dirty="0">
                <a:latin typeface="ＭＳ Ｐゴシック" panose="020B0600070205080204" pitchFamily="50" charset="-128"/>
                <a:ea typeface="ＭＳ Ｐゴシック" panose="020B0600070205080204" pitchFamily="50" charset="-128"/>
              </a:rPr>
              <a:t>資産管理業務を担う部署</a:t>
            </a:r>
          </a:p>
        </p:txBody>
      </p:sp>
      <p:sp>
        <p:nvSpPr>
          <p:cNvPr id="26" name="テキスト ボックス 3">
            <a:extLst>
              <a:ext uri="{FF2B5EF4-FFF2-40B4-BE49-F238E27FC236}">
                <a16:creationId xmlns:a16="http://schemas.microsoft.com/office/drawing/2014/main" id="{B628CF42-2D86-E2BA-1BA1-565853D7F633}"/>
              </a:ext>
            </a:extLst>
          </p:cNvPr>
          <p:cNvSpPr txBox="1"/>
          <p:nvPr/>
        </p:nvSpPr>
        <p:spPr>
          <a:xfrm>
            <a:off x="6717322" y="5801122"/>
            <a:ext cx="1262880" cy="465082"/>
          </a:xfrm>
          <a:prstGeom prst="rect">
            <a:avLst/>
          </a:prstGeom>
          <a:solidFill>
            <a:schemeClr val="lt1"/>
          </a:solidFill>
          <a:ln w="25400" cmpd="sng">
            <a:solidFill>
              <a:srgbClr val="00B0F0"/>
            </a:solidFill>
            <a:prstDash val="sysDash"/>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ja-JP" altLang="en-US" sz="1800" b="1" dirty="0">
                <a:latin typeface="ＭＳ Ｐゴシック" panose="020B0600070205080204" pitchFamily="50" charset="-128"/>
                <a:ea typeface="ＭＳ Ｐゴシック" panose="020B0600070205080204" pitchFamily="50" charset="-128"/>
              </a:rPr>
              <a:t>現業部</a:t>
            </a:r>
            <a:endParaRPr kumimoji="1" lang="ja-JP" altLang="en-US" sz="1800" b="1"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995268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4</a:t>
            </a:fld>
            <a:endParaRPr lang="ja-JP" altLang="en-US" dirty="0"/>
          </a:p>
        </p:txBody>
      </p:sp>
      <p:sp>
        <p:nvSpPr>
          <p:cNvPr id="5" name="タイトル 4">
            <a:extLst>
              <a:ext uri="{FF2B5EF4-FFF2-40B4-BE49-F238E27FC236}">
                <a16:creationId xmlns:a16="http://schemas.microsoft.com/office/drawing/2014/main" id="{7C6C2618-950B-8141-2752-FBBEF7620045}"/>
              </a:ext>
            </a:extLst>
          </p:cNvPr>
          <p:cNvSpPr>
            <a:spLocks noGrp="1"/>
          </p:cNvSpPr>
          <p:nvPr>
            <p:ph type="title"/>
          </p:nvPr>
        </p:nvSpPr>
        <p:spPr/>
        <p:txBody>
          <a:bodyPr/>
          <a:lstStyle/>
          <a:p>
            <a:r>
              <a:rPr kumimoji="1" lang="ja-JP" altLang="en-US" dirty="0"/>
              <a:t>３．各部署の主な業務内容</a:t>
            </a:r>
          </a:p>
        </p:txBody>
      </p:sp>
      <p:sp>
        <p:nvSpPr>
          <p:cNvPr id="13" name="角丸四角形 11">
            <a:extLst>
              <a:ext uri="{FF2B5EF4-FFF2-40B4-BE49-F238E27FC236}">
                <a16:creationId xmlns:a16="http://schemas.microsoft.com/office/drawing/2014/main" id="{BA5698B2-95EE-1CCF-4ACC-2EC266181E78}"/>
              </a:ext>
            </a:extLst>
          </p:cNvPr>
          <p:cNvSpPr>
            <a:spLocks/>
          </p:cNvSpPr>
          <p:nvPr/>
        </p:nvSpPr>
        <p:spPr bwMode="auto">
          <a:xfrm>
            <a:off x="2443189" y="3037947"/>
            <a:ext cx="1433486" cy="1947686"/>
          </a:xfrm>
          <a:prstGeom prst="roundRect">
            <a:avLst/>
          </a:prstGeom>
          <a:solidFill>
            <a:schemeClr val="accent4">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ja-JP" altLang="en-US" sz="1100" b="1" i="0" u="none" strike="noStrike" cap="none" normalizeH="0" baseline="0" dirty="0">
                <a:ln>
                  <a:noFill/>
                </a:ln>
                <a:solidFill>
                  <a:schemeClr val="tx1"/>
                </a:solidFill>
                <a:effectLst/>
              </a:rPr>
              <a:t>業務企画推進部</a:t>
            </a:r>
            <a:endParaRPr kumimoji="1" lang="en-US" altLang="ja-JP" sz="1100" b="1" i="0" u="none" strike="noStrike" cap="none" normalizeH="0" baseline="0" dirty="0">
              <a:ln>
                <a:noFill/>
              </a:ln>
              <a:solidFill>
                <a:schemeClr val="tx1"/>
              </a:solidFill>
              <a:effectLst/>
            </a:endParaRPr>
          </a:p>
          <a:p>
            <a:pPr marL="0" marR="0" indent="0" algn="ctr" defTabSz="914400" rtl="0" eaLnBrk="1" fontAlgn="base" latinLnBrk="0" hangingPunct="1">
              <a:lnSpc>
                <a:spcPct val="100000"/>
              </a:lnSpc>
              <a:spcBef>
                <a:spcPct val="50000"/>
              </a:spcBef>
              <a:spcAft>
                <a:spcPct val="0"/>
              </a:spcAft>
              <a:buClrTx/>
              <a:buSzTx/>
              <a:buFontTx/>
              <a:buNone/>
              <a:tabLst/>
            </a:pPr>
            <a:r>
              <a:rPr lang="ja-JP" altLang="en-US" sz="1100" b="1" dirty="0"/>
              <a:t>（クライアントサービス</a:t>
            </a:r>
            <a:r>
              <a:rPr lang="en-US" altLang="ja-JP" sz="1100" b="1" dirty="0"/>
              <a:t>G</a:t>
            </a:r>
            <a:r>
              <a:rPr lang="ja-JP" altLang="en-US" sz="1100" b="1" dirty="0"/>
              <a:t>）</a:t>
            </a:r>
            <a:endParaRPr kumimoji="1" lang="ja-JP" altLang="en-US" sz="1100" b="1" i="0" u="none" strike="noStrike" cap="none" normalizeH="0" baseline="0" dirty="0">
              <a:ln>
                <a:noFill/>
              </a:ln>
              <a:solidFill>
                <a:schemeClr val="tx1"/>
              </a:solidFill>
              <a:effectLst/>
            </a:endParaRPr>
          </a:p>
        </p:txBody>
      </p:sp>
      <p:sp>
        <p:nvSpPr>
          <p:cNvPr id="14" name="AutoShape 17">
            <a:extLst>
              <a:ext uri="{FF2B5EF4-FFF2-40B4-BE49-F238E27FC236}">
                <a16:creationId xmlns:a16="http://schemas.microsoft.com/office/drawing/2014/main" id="{DA07AA25-437D-DF35-98B0-6A8B7561E565}"/>
              </a:ext>
            </a:extLst>
          </p:cNvPr>
          <p:cNvSpPr>
            <a:spLocks noChangeArrowheads="1"/>
          </p:cNvSpPr>
          <p:nvPr/>
        </p:nvSpPr>
        <p:spPr bwMode="auto">
          <a:xfrm>
            <a:off x="2431672" y="2751137"/>
            <a:ext cx="1416427" cy="218921"/>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顧客窓口</a:t>
            </a:r>
          </a:p>
        </p:txBody>
      </p:sp>
      <p:sp>
        <p:nvSpPr>
          <p:cNvPr id="22" name="角丸四角形 21">
            <a:extLst>
              <a:ext uri="{FF2B5EF4-FFF2-40B4-BE49-F238E27FC236}">
                <a16:creationId xmlns:a16="http://schemas.microsoft.com/office/drawing/2014/main" id="{6B6B2F9A-B911-0BE1-D938-B15ECB7DD36C}"/>
              </a:ext>
            </a:extLst>
          </p:cNvPr>
          <p:cNvSpPr>
            <a:spLocks/>
          </p:cNvSpPr>
          <p:nvPr/>
        </p:nvSpPr>
        <p:spPr bwMode="auto">
          <a:xfrm>
            <a:off x="4503724" y="1462498"/>
            <a:ext cx="1219200" cy="719999"/>
          </a:xfrm>
          <a:prstGeom prst="roundRect">
            <a:avLst/>
          </a:prstGeom>
          <a:solidFill>
            <a:schemeClr val="accent4">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ja-JP" altLang="en-US" sz="1000" b="1" i="0" u="none" strike="noStrike" cap="none" normalizeH="0" baseline="0" dirty="0">
                <a:ln>
                  <a:noFill/>
                </a:ln>
                <a:solidFill>
                  <a:schemeClr val="tx1"/>
                </a:solidFill>
                <a:effectLst/>
              </a:rPr>
              <a:t>業務企画推進部</a:t>
            </a:r>
          </a:p>
        </p:txBody>
      </p:sp>
      <p:sp>
        <p:nvSpPr>
          <p:cNvPr id="3" name="角丸四角形 22">
            <a:extLst>
              <a:ext uri="{FF2B5EF4-FFF2-40B4-BE49-F238E27FC236}">
                <a16:creationId xmlns:a16="http://schemas.microsoft.com/office/drawing/2014/main" id="{70A4DA35-E175-5F14-B0D6-4A39E189180E}"/>
              </a:ext>
            </a:extLst>
          </p:cNvPr>
          <p:cNvSpPr>
            <a:spLocks/>
          </p:cNvSpPr>
          <p:nvPr/>
        </p:nvSpPr>
        <p:spPr bwMode="auto">
          <a:xfrm>
            <a:off x="4496889" y="3903878"/>
            <a:ext cx="1299572" cy="720000"/>
          </a:xfrm>
          <a:prstGeom prst="roundRect">
            <a:avLst/>
          </a:prstGeom>
          <a:solidFill>
            <a:schemeClr val="accent6">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ja-JP" altLang="en-US" sz="800" b="1" i="0" u="none" strike="noStrike" cap="none" normalizeH="0" baseline="0" dirty="0">
                <a:ln>
                  <a:noFill/>
                </a:ln>
                <a:solidFill>
                  <a:schemeClr val="tx1"/>
                </a:solidFill>
                <a:effectLst/>
              </a:rPr>
              <a:t>外国資産管理部、国内資産管理部、市場管理部、デリバティブ管理部、オルタナティブ管理部</a:t>
            </a:r>
          </a:p>
        </p:txBody>
      </p:sp>
      <p:sp>
        <p:nvSpPr>
          <p:cNvPr id="4" name="四角形: 角を丸くする 3">
            <a:extLst>
              <a:ext uri="{FF2B5EF4-FFF2-40B4-BE49-F238E27FC236}">
                <a16:creationId xmlns:a16="http://schemas.microsoft.com/office/drawing/2014/main" id="{91BC1BDA-3A86-E704-38C4-453C6BEFE3E6}"/>
              </a:ext>
            </a:extLst>
          </p:cNvPr>
          <p:cNvSpPr/>
          <p:nvPr/>
        </p:nvSpPr>
        <p:spPr>
          <a:xfrm>
            <a:off x="485111" y="1484510"/>
            <a:ext cx="753139" cy="5521089"/>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3600" dirty="0">
                <a:solidFill>
                  <a:schemeClr val="tx1"/>
                </a:solidFill>
              </a:rPr>
              <a:t>お客様</a:t>
            </a:r>
          </a:p>
        </p:txBody>
      </p:sp>
      <p:sp>
        <p:nvSpPr>
          <p:cNvPr id="6" name="矢印: ストライプ 5">
            <a:extLst>
              <a:ext uri="{FF2B5EF4-FFF2-40B4-BE49-F238E27FC236}">
                <a16:creationId xmlns:a16="http://schemas.microsoft.com/office/drawing/2014/main" id="{7B813C23-7360-0874-E56B-1DC395A6EC2E}"/>
              </a:ext>
            </a:extLst>
          </p:cNvPr>
          <p:cNvSpPr/>
          <p:nvPr/>
        </p:nvSpPr>
        <p:spPr>
          <a:xfrm>
            <a:off x="1303653" y="3419837"/>
            <a:ext cx="1139536" cy="720000"/>
          </a:xfrm>
          <a:prstGeom prst="stripedRight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ご意見</a:t>
            </a:r>
            <a:endParaRPr kumimoji="1" lang="en-US" altLang="ja-JP" sz="1100" dirty="0">
              <a:solidFill>
                <a:schemeClr val="tx1"/>
              </a:solidFill>
            </a:endParaRPr>
          </a:p>
          <a:p>
            <a:pPr algn="ctr"/>
            <a:r>
              <a:rPr kumimoji="1" lang="ja-JP" altLang="en-US" sz="1100" dirty="0">
                <a:solidFill>
                  <a:schemeClr val="tx1"/>
                </a:solidFill>
              </a:rPr>
              <a:t>ご要望</a:t>
            </a:r>
          </a:p>
        </p:txBody>
      </p:sp>
      <p:sp>
        <p:nvSpPr>
          <p:cNvPr id="10" name="矢印: ストライプ 9">
            <a:extLst>
              <a:ext uri="{FF2B5EF4-FFF2-40B4-BE49-F238E27FC236}">
                <a16:creationId xmlns:a16="http://schemas.microsoft.com/office/drawing/2014/main" id="{30649D28-DD31-2FF3-8E14-A480952B75FB}"/>
              </a:ext>
            </a:extLst>
          </p:cNvPr>
          <p:cNvSpPr/>
          <p:nvPr/>
        </p:nvSpPr>
        <p:spPr>
          <a:xfrm flipH="1">
            <a:off x="1303652" y="5282303"/>
            <a:ext cx="2786087" cy="949188"/>
          </a:xfrm>
          <a:prstGeom prst="stripedRightArrow">
            <a:avLst>
              <a:gd name="adj1" fmla="val 50000"/>
              <a:gd name="adj2" fmla="val 5301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ソリューション</a:t>
            </a:r>
          </a:p>
        </p:txBody>
      </p:sp>
      <p:sp>
        <p:nvSpPr>
          <p:cNvPr id="11" name="矢印: ストライプ 10">
            <a:extLst>
              <a:ext uri="{FF2B5EF4-FFF2-40B4-BE49-F238E27FC236}">
                <a16:creationId xmlns:a16="http://schemas.microsoft.com/office/drawing/2014/main" id="{C67D94D7-079D-93C1-258C-2490633CCB1C}"/>
              </a:ext>
            </a:extLst>
          </p:cNvPr>
          <p:cNvSpPr/>
          <p:nvPr/>
        </p:nvSpPr>
        <p:spPr>
          <a:xfrm flipH="1">
            <a:off x="1224704" y="4083043"/>
            <a:ext cx="1155511" cy="720000"/>
          </a:xfrm>
          <a:prstGeom prst="stripedRightArrow">
            <a:avLst>
              <a:gd name="adj1" fmla="val 50000"/>
              <a:gd name="adj2" fmla="val 5301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コンサルティング</a:t>
            </a:r>
          </a:p>
        </p:txBody>
      </p:sp>
      <p:sp>
        <p:nvSpPr>
          <p:cNvPr id="24" name="フローチャート: 代替処理 23">
            <a:extLst>
              <a:ext uri="{FF2B5EF4-FFF2-40B4-BE49-F238E27FC236}">
                <a16:creationId xmlns:a16="http://schemas.microsoft.com/office/drawing/2014/main" id="{A37AD4DF-F757-5D3E-3D96-672E0F7C7DBB}"/>
              </a:ext>
            </a:extLst>
          </p:cNvPr>
          <p:cNvSpPr/>
          <p:nvPr/>
        </p:nvSpPr>
        <p:spPr>
          <a:xfrm>
            <a:off x="5722924" y="1449801"/>
            <a:ext cx="4024286" cy="720000"/>
          </a:xfrm>
          <a:prstGeom prst="flowChartAlternate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rPr>
              <a:t>資産管理業務の統括、事業戦略立案、法制度等調査研究</a:t>
            </a:r>
            <a:endParaRPr lang="en-US" altLang="ja-JP" sz="1100" dirty="0">
              <a:solidFill>
                <a:schemeClr val="tx1"/>
              </a:solidFill>
            </a:endParaRPr>
          </a:p>
          <a:p>
            <a:r>
              <a:rPr kumimoji="1" lang="ja-JP" altLang="en-US" sz="1100" dirty="0">
                <a:solidFill>
                  <a:schemeClr val="tx1"/>
                </a:solidFill>
              </a:rPr>
              <a:t>システム</a:t>
            </a:r>
            <a:r>
              <a:rPr lang="ja-JP" altLang="en-US" sz="1100" dirty="0">
                <a:solidFill>
                  <a:schemeClr val="tx1"/>
                </a:solidFill>
              </a:rPr>
              <a:t>化の調査研究・企画立案</a:t>
            </a:r>
            <a:endParaRPr lang="en-US" altLang="ja-JP" sz="1100" dirty="0">
              <a:solidFill>
                <a:schemeClr val="tx1"/>
              </a:solidFill>
            </a:endParaRPr>
          </a:p>
          <a:p>
            <a:r>
              <a:rPr kumimoji="1" lang="ja-JP" altLang="en-US" sz="1100" dirty="0">
                <a:solidFill>
                  <a:schemeClr val="tx1"/>
                </a:solidFill>
              </a:rPr>
              <a:t>事務指導・マニュアル整備等</a:t>
            </a:r>
          </a:p>
        </p:txBody>
      </p:sp>
      <p:sp>
        <p:nvSpPr>
          <p:cNvPr id="25" name="角丸四角形 21">
            <a:extLst>
              <a:ext uri="{FF2B5EF4-FFF2-40B4-BE49-F238E27FC236}">
                <a16:creationId xmlns:a16="http://schemas.microsoft.com/office/drawing/2014/main" id="{4BA8970A-E77B-1949-B319-D87244724792}"/>
              </a:ext>
            </a:extLst>
          </p:cNvPr>
          <p:cNvSpPr>
            <a:spLocks/>
          </p:cNvSpPr>
          <p:nvPr/>
        </p:nvSpPr>
        <p:spPr bwMode="auto">
          <a:xfrm>
            <a:off x="4536261" y="2245532"/>
            <a:ext cx="1219200" cy="719999"/>
          </a:xfrm>
          <a:prstGeom prst="roundRect">
            <a:avLst/>
          </a:prstGeom>
          <a:solidFill>
            <a:schemeClr val="accent4">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ja-JP" altLang="en-US" sz="1000" b="1" i="0" u="none" strike="noStrike" cap="none" normalizeH="0" baseline="0" dirty="0">
                <a:ln>
                  <a:noFill/>
                </a:ln>
                <a:solidFill>
                  <a:schemeClr val="tx1"/>
                </a:solidFill>
                <a:effectLst/>
              </a:rPr>
              <a:t>証券取引執行部</a:t>
            </a:r>
          </a:p>
        </p:txBody>
      </p:sp>
      <p:sp>
        <p:nvSpPr>
          <p:cNvPr id="26" name="フローチャート: 代替処理 25">
            <a:extLst>
              <a:ext uri="{FF2B5EF4-FFF2-40B4-BE49-F238E27FC236}">
                <a16:creationId xmlns:a16="http://schemas.microsoft.com/office/drawing/2014/main" id="{EADC1BD4-9853-1F40-A594-84B6F134532B}"/>
              </a:ext>
            </a:extLst>
          </p:cNvPr>
          <p:cNvSpPr/>
          <p:nvPr/>
        </p:nvSpPr>
        <p:spPr>
          <a:xfrm>
            <a:off x="5755461" y="2244399"/>
            <a:ext cx="4024286" cy="720000"/>
          </a:xfrm>
          <a:prstGeom prst="flowChartAlternate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rPr>
              <a:t>有価</a:t>
            </a:r>
            <a:r>
              <a:rPr kumimoji="1" lang="ja-JP" altLang="en-US" sz="1100" dirty="0">
                <a:solidFill>
                  <a:schemeClr val="tx1"/>
                </a:solidFill>
              </a:rPr>
              <a:t>証券の貸借執行、トランジションマネジメント業務の推進</a:t>
            </a:r>
            <a:endParaRPr kumimoji="1" lang="en-US" altLang="ja-JP" sz="1100" dirty="0">
              <a:solidFill>
                <a:schemeClr val="tx1"/>
              </a:solidFill>
            </a:endParaRPr>
          </a:p>
          <a:p>
            <a:endParaRPr kumimoji="1" lang="ja-JP" altLang="en-US" sz="1100" dirty="0"/>
          </a:p>
        </p:txBody>
      </p:sp>
      <p:sp>
        <p:nvSpPr>
          <p:cNvPr id="27" name="角丸四角形 21">
            <a:extLst>
              <a:ext uri="{FF2B5EF4-FFF2-40B4-BE49-F238E27FC236}">
                <a16:creationId xmlns:a16="http://schemas.microsoft.com/office/drawing/2014/main" id="{1484F9F1-AB6D-55FB-CCA1-3C464A8152F2}"/>
              </a:ext>
            </a:extLst>
          </p:cNvPr>
          <p:cNvSpPr>
            <a:spLocks/>
          </p:cNvSpPr>
          <p:nvPr/>
        </p:nvSpPr>
        <p:spPr bwMode="auto">
          <a:xfrm>
            <a:off x="4501772" y="3036095"/>
            <a:ext cx="1219200" cy="719999"/>
          </a:xfrm>
          <a:prstGeom prst="roundRect">
            <a:avLst/>
          </a:prstGeom>
          <a:solidFill>
            <a:schemeClr val="accent4">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ja-JP" altLang="en-US" sz="1000" b="1" i="0" u="none" strike="noStrike" cap="none" normalizeH="0" baseline="0" dirty="0">
                <a:ln>
                  <a:noFill/>
                </a:ln>
                <a:solidFill>
                  <a:schemeClr val="tx1"/>
                </a:solidFill>
                <a:effectLst/>
              </a:rPr>
              <a:t>ファンド管理部</a:t>
            </a:r>
          </a:p>
        </p:txBody>
      </p:sp>
      <p:sp>
        <p:nvSpPr>
          <p:cNvPr id="28" name="フローチャート: 代替処理 27">
            <a:extLst>
              <a:ext uri="{FF2B5EF4-FFF2-40B4-BE49-F238E27FC236}">
                <a16:creationId xmlns:a16="http://schemas.microsoft.com/office/drawing/2014/main" id="{5787F2F5-D0D7-D465-5FF5-A63443B42EB2}"/>
              </a:ext>
            </a:extLst>
          </p:cNvPr>
          <p:cNvSpPr/>
          <p:nvPr/>
        </p:nvSpPr>
        <p:spPr>
          <a:xfrm>
            <a:off x="5722924" y="3021105"/>
            <a:ext cx="4024286" cy="720000"/>
          </a:xfrm>
          <a:prstGeom prst="flowChartAlternate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契約管理、元本管理、決算事務、運用幹事業務、</a:t>
            </a:r>
            <a:endParaRPr kumimoji="1" lang="en-US" altLang="ja-JP" sz="1100" dirty="0">
              <a:solidFill>
                <a:schemeClr val="tx1"/>
              </a:solidFill>
            </a:endParaRPr>
          </a:p>
          <a:p>
            <a:r>
              <a:rPr lang="ja-JP" altLang="en-US" sz="1100" dirty="0">
                <a:solidFill>
                  <a:schemeClr val="tx1"/>
                </a:solidFill>
              </a:rPr>
              <a:t>資金決済業務</a:t>
            </a:r>
            <a:endParaRPr kumimoji="1" lang="ja-JP" altLang="en-US" sz="1100" dirty="0">
              <a:solidFill>
                <a:schemeClr val="tx1"/>
              </a:solidFill>
            </a:endParaRPr>
          </a:p>
        </p:txBody>
      </p:sp>
      <p:sp>
        <p:nvSpPr>
          <p:cNvPr id="30" name="フローチャート: 代替処理 29">
            <a:extLst>
              <a:ext uri="{FF2B5EF4-FFF2-40B4-BE49-F238E27FC236}">
                <a16:creationId xmlns:a16="http://schemas.microsoft.com/office/drawing/2014/main" id="{9C9A18CE-88BF-AC1A-1F9C-5885347B0217}"/>
              </a:ext>
            </a:extLst>
          </p:cNvPr>
          <p:cNvSpPr/>
          <p:nvPr/>
        </p:nvSpPr>
        <p:spPr>
          <a:xfrm>
            <a:off x="5755461" y="3876830"/>
            <a:ext cx="4024286" cy="720000"/>
          </a:xfrm>
          <a:prstGeom prst="flowChartAlternate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国内外有価証券及び派生商品等の銘柄情報管理</a:t>
            </a:r>
            <a:endParaRPr kumimoji="1" lang="en-US" altLang="ja-JP" sz="1100" dirty="0">
              <a:solidFill>
                <a:schemeClr val="tx1"/>
              </a:solidFill>
            </a:endParaRPr>
          </a:p>
          <a:p>
            <a:r>
              <a:rPr lang="ja-JP" altLang="en-US" sz="1100" dirty="0">
                <a:solidFill>
                  <a:schemeClr val="tx1"/>
                </a:solidFill>
              </a:rPr>
              <a:t>決済・取引管理、資金繰り、権利管理、</a:t>
            </a:r>
            <a:endParaRPr lang="en-US" altLang="ja-JP" sz="1100" dirty="0">
              <a:solidFill>
                <a:schemeClr val="tx1"/>
              </a:solidFill>
            </a:endParaRPr>
          </a:p>
          <a:p>
            <a:r>
              <a:rPr lang="ja-JP" altLang="en-US" sz="1100" dirty="0">
                <a:solidFill>
                  <a:schemeClr val="tx1"/>
                </a:solidFill>
              </a:rPr>
              <a:t>資金繰り、カストディアン管理</a:t>
            </a:r>
            <a:endParaRPr kumimoji="1" lang="ja-JP" altLang="en-US" sz="1100" dirty="0">
              <a:solidFill>
                <a:schemeClr val="tx1"/>
              </a:solidFill>
            </a:endParaRPr>
          </a:p>
        </p:txBody>
      </p:sp>
      <p:sp>
        <p:nvSpPr>
          <p:cNvPr id="31" name="角丸四角形 21">
            <a:extLst>
              <a:ext uri="{FF2B5EF4-FFF2-40B4-BE49-F238E27FC236}">
                <a16:creationId xmlns:a16="http://schemas.microsoft.com/office/drawing/2014/main" id="{6A816EE1-7EF1-84ED-8C02-5BDCE3FA172D}"/>
              </a:ext>
            </a:extLst>
          </p:cNvPr>
          <p:cNvSpPr>
            <a:spLocks/>
          </p:cNvSpPr>
          <p:nvPr/>
        </p:nvSpPr>
        <p:spPr bwMode="auto">
          <a:xfrm>
            <a:off x="4537889" y="4676850"/>
            <a:ext cx="1219200" cy="719999"/>
          </a:xfrm>
          <a:prstGeom prst="roundRect">
            <a:avLst/>
          </a:prstGeom>
          <a:solidFill>
            <a:schemeClr val="accent4">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ja-JP" altLang="en-US" sz="1000" b="1" dirty="0"/>
              <a:t>投資信託部</a:t>
            </a:r>
            <a:endParaRPr kumimoji="1" lang="ja-JP" altLang="en-US" sz="1000" b="1" i="0" u="none" strike="noStrike" cap="none" normalizeH="0" baseline="0" dirty="0">
              <a:ln>
                <a:noFill/>
              </a:ln>
              <a:solidFill>
                <a:schemeClr val="tx1"/>
              </a:solidFill>
              <a:effectLst/>
            </a:endParaRPr>
          </a:p>
        </p:txBody>
      </p:sp>
      <p:sp>
        <p:nvSpPr>
          <p:cNvPr id="32" name="フローチャート: 代替処理 31">
            <a:extLst>
              <a:ext uri="{FF2B5EF4-FFF2-40B4-BE49-F238E27FC236}">
                <a16:creationId xmlns:a16="http://schemas.microsoft.com/office/drawing/2014/main" id="{8A049B59-016C-92F6-8DA7-B25B47A62675}"/>
              </a:ext>
            </a:extLst>
          </p:cNvPr>
          <p:cNvSpPr/>
          <p:nvPr/>
        </p:nvSpPr>
        <p:spPr>
          <a:xfrm>
            <a:off x="5757089" y="4683650"/>
            <a:ext cx="4024286" cy="720000"/>
          </a:xfrm>
          <a:prstGeom prst="flowChartAlternate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証券投資信託に係る受託事務、有価証券等の管理</a:t>
            </a:r>
          </a:p>
        </p:txBody>
      </p:sp>
      <p:sp>
        <p:nvSpPr>
          <p:cNvPr id="33" name="角丸四角形 21">
            <a:extLst>
              <a:ext uri="{FF2B5EF4-FFF2-40B4-BE49-F238E27FC236}">
                <a16:creationId xmlns:a16="http://schemas.microsoft.com/office/drawing/2014/main" id="{F906AA3A-500B-EAC4-F070-A7F28CFD2CA4}"/>
              </a:ext>
            </a:extLst>
          </p:cNvPr>
          <p:cNvSpPr>
            <a:spLocks/>
          </p:cNvSpPr>
          <p:nvPr/>
        </p:nvSpPr>
        <p:spPr bwMode="auto">
          <a:xfrm>
            <a:off x="4561104" y="5461725"/>
            <a:ext cx="1219200" cy="719999"/>
          </a:xfrm>
          <a:prstGeom prst="roundRect">
            <a:avLst/>
          </a:prstGeom>
          <a:solidFill>
            <a:schemeClr val="accent4">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ja-JP" altLang="en-US" sz="1000" b="1" dirty="0"/>
              <a:t>運用管理部事象決済領域</a:t>
            </a:r>
            <a:endParaRPr kumimoji="1" lang="ja-JP" altLang="en-US" sz="1000" b="1" i="0" u="none" strike="noStrike" cap="none" normalizeH="0" baseline="0" dirty="0">
              <a:ln>
                <a:noFill/>
              </a:ln>
              <a:solidFill>
                <a:schemeClr val="tx1"/>
              </a:solidFill>
              <a:effectLst/>
            </a:endParaRPr>
          </a:p>
        </p:txBody>
      </p:sp>
      <p:sp>
        <p:nvSpPr>
          <p:cNvPr id="34" name="フローチャート: 代替処理 33">
            <a:extLst>
              <a:ext uri="{FF2B5EF4-FFF2-40B4-BE49-F238E27FC236}">
                <a16:creationId xmlns:a16="http://schemas.microsoft.com/office/drawing/2014/main" id="{D779AC9B-2D0D-4F28-D852-C73FF2B92592}"/>
              </a:ext>
            </a:extLst>
          </p:cNvPr>
          <p:cNvSpPr/>
          <p:nvPr/>
        </p:nvSpPr>
        <p:spPr>
          <a:xfrm>
            <a:off x="5780547" y="5452987"/>
            <a:ext cx="4024286" cy="720000"/>
          </a:xfrm>
          <a:prstGeom prst="flowChartAlternate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投信基準価額算出、レポーティング等運用会社アウトソース業務</a:t>
            </a:r>
          </a:p>
        </p:txBody>
      </p:sp>
      <p:sp>
        <p:nvSpPr>
          <p:cNvPr id="21" name="AutoShape 17">
            <a:extLst>
              <a:ext uri="{FF2B5EF4-FFF2-40B4-BE49-F238E27FC236}">
                <a16:creationId xmlns:a16="http://schemas.microsoft.com/office/drawing/2014/main" id="{0EEAA00D-9A91-F50F-BE88-3B0852AF8D61}"/>
              </a:ext>
            </a:extLst>
          </p:cNvPr>
          <p:cNvSpPr>
            <a:spLocks noChangeArrowheads="1"/>
          </p:cNvSpPr>
          <p:nvPr/>
        </p:nvSpPr>
        <p:spPr bwMode="auto">
          <a:xfrm>
            <a:off x="4501772" y="1474738"/>
            <a:ext cx="1379942" cy="184061"/>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資産管理統括</a:t>
            </a:r>
          </a:p>
        </p:txBody>
      </p:sp>
      <p:sp>
        <p:nvSpPr>
          <p:cNvPr id="37" name="角丸四角形 21">
            <a:extLst>
              <a:ext uri="{FF2B5EF4-FFF2-40B4-BE49-F238E27FC236}">
                <a16:creationId xmlns:a16="http://schemas.microsoft.com/office/drawing/2014/main" id="{47FD85AD-A486-425F-8DE6-89BD7C35D4FF}"/>
              </a:ext>
            </a:extLst>
          </p:cNvPr>
          <p:cNvSpPr>
            <a:spLocks/>
          </p:cNvSpPr>
          <p:nvPr/>
        </p:nvSpPr>
        <p:spPr bwMode="auto">
          <a:xfrm>
            <a:off x="4564657" y="6237863"/>
            <a:ext cx="1219200" cy="719999"/>
          </a:xfrm>
          <a:prstGeom prst="roundRect">
            <a:avLst/>
          </a:prstGeom>
          <a:solidFill>
            <a:schemeClr val="accent4">
              <a:lumMod val="40000"/>
              <a:lumOff val="60000"/>
            </a:schemeClr>
          </a:solidFill>
          <a:ln w="381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ja-JP" altLang="en-US" sz="1000" b="1" dirty="0"/>
              <a:t>大阪資産管理部</a:t>
            </a:r>
            <a:endParaRPr kumimoji="1" lang="ja-JP" altLang="en-US" sz="1000" b="1" i="0" u="none" strike="noStrike" cap="none" normalizeH="0" baseline="0" dirty="0">
              <a:ln>
                <a:noFill/>
              </a:ln>
              <a:solidFill>
                <a:schemeClr val="tx1"/>
              </a:solidFill>
              <a:effectLst/>
            </a:endParaRPr>
          </a:p>
        </p:txBody>
      </p:sp>
      <p:sp>
        <p:nvSpPr>
          <p:cNvPr id="38" name="フローチャート: 代替処理 37">
            <a:extLst>
              <a:ext uri="{FF2B5EF4-FFF2-40B4-BE49-F238E27FC236}">
                <a16:creationId xmlns:a16="http://schemas.microsoft.com/office/drawing/2014/main" id="{A50CCC92-6C46-1312-3A48-6079414DC92E}"/>
              </a:ext>
            </a:extLst>
          </p:cNvPr>
          <p:cNvSpPr/>
          <p:nvPr/>
        </p:nvSpPr>
        <p:spPr>
          <a:xfrm>
            <a:off x="5787412" y="6223113"/>
            <a:ext cx="4024286" cy="720000"/>
          </a:xfrm>
          <a:prstGeom prst="flowChartAlternate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危機管理対応（デュアルオペレーション態勢）</a:t>
            </a:r>
            <a:endParaRPr kumimoji="1" lang="en-US" altLang="ja-JP" sz="1100" dirty="0">
              <a:solidFill>
                <a:schemeClr val="tx1"/>
              </a:solidFill>
            </a:endParaRPr>
          </a:p>
          <a:p>
            <a:r>
              <a:rPr lang="ja-JP" altLang="en-US" sz="1100" dirty="0">
                <a:solidFill>
                  <a:schemeClr val="tx1"/>
                </a:solidFill>
              </a:rPr>
              <a:t>国内・外国証券等の決済、投資信託関連業務</a:t>
            </a:r>
            <a:endParaRPr kumimoji="1" lang="ja-JP" altLang="en-US" sz="1100" dirty="0">
              <a:solidFill>
                <a:schemeClr val="tx1"/>
              </a:solidFill>
            </a:endParaRPr>
          </a:p>
        </p:txBody>
      </p:sp>
      <p:sp>
        <p:nvSpPr>
          <p:cNvPr id="39" name="AutoShape 17">
            <a:extLst>
              <a:ext uri="{FF2B5EF4-FFF2-40B4-BE49-F238E27FC236}">
                <a16:creationId xmlns:a16="http://schemas.microsoft.com/office/drawing/2014/main" id="{22907227-57C3-6E59-334F-BFC4F45E9FA3}"/>
              </a:ext>
            </a:extLst>
          </p:cNvPr>
          <p:cNvSpPr>
            <a:spLocks noChangeArrowheads="1"/>
          </p:cNvSpPr>
          <p:nvPr/>
        </p:nvSpPr>
        <p:spPr bwMode="auto">
          <a:xfrm>
            <a:off x="4528611" y="2191612"/>
            <a:ext cx="1401603" cy="203132"/>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運用フロント（非投信）</a:t>
            </a:r>
          </a:p>
        </p:txBody>
      </p:sp>
      <p:sp>
        <p:nvSpPr>
          <p:cNvPr id="40" name="AutoShape 17">
            <a:extLst>
              <a:ext uri="{FF2B5EF4-FFF2-40B4-BE49-F238E27FC236}">
                <a16:creationId xmlns:a16="http://schemas.microsoft.com/office/drawing/2014/main" id="{C5DF07E5-9954-D86D-1071-4795D4ADCE44}"/>
              </a:ext>
            </a:extLst>
          </p:cNvPr>
          <p:cNvSpPr>
            <a:spLocks noChangeArrowheads="1"/>
          </p:cNvSpPr>
          <p:nvPr/>
        </p:nvSpPr>
        <p:spPr bwMode="auto">
          <a:xfrm>
            <a:off x="4503724" y="2989774"/>
            <a:ext cx="1379942" cy="184061"/>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ファンド系（非投信）</a:t>
            </a:r>
          </a:p>
        </p:txBody>
      </p:sp>
      <p:sp>
        <p:nvSpPr>
          <p:cNvPr id="41" name="AutoShape 17">
            <a:extLst>
              <a:ext uri="{FF2B5EF4-FFF2-40B4-BE49-F238E27FC236}">
                <a16:creationId xmlns:a16="http://schemas.microsoft.com/office/drawing/2014/main" id="{27EA1D7C-C757-CC12-867B-7E217BF9AEC4}"/>
              </a:ext>
            </a:extLst>
          </p:cNvPr>
          <p:cNvSpPr>
            <a:spLocks noChangeArrowheads="1"/>
          </p:cNvSpPr>
          <p:nvPr/>
        </p:nvSpPr>
        <p:spPr bwMode="auto">
          <a:xfrm>
            <a:off x="4499250" y="3759750"/>
            <a:ext cx="1379942" cy="184061"/>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商品系</a:t>
            </a:r>
          </a:p>
        </p:txBody>
      </p:sp>
      <p:sp>
        <p:nvSpPr>
          <p:cNvPr id="42" name="AutoShape 17">
            <a:extLst>
              <a:ext uri="{FF2B5EF4-FFF2-40B4-BE49-F238E27FC236}">
                <a16:creationId xmlns:a16="http://schemas.microsoft.com/office/drawing/2014/main" id="{474D3CAB-3C8B-9C43-E668-27A888C442DA}"/>
              </a:ext>
            </a:extLst>
          </p:cNvPr>
          <p:cNvSpPr>
            <a:spLocks noChangeArrowheads="1"/>
          </p:cNvSpPr>
          <p:nvPr/>
        </p:nvSpPr>
        <p:spPr bwMode="auto">
          <a:xfrm>
            <a:off x="4536261" y="4609692"/>
            <a:ext cx="1379942" cy="242807"/>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ファンド系・商品系</a:t>
            </a:r>
          </a:p>
        </p:txBody>
      </p:sp>
      <p:sp>
        <p:nvSpPr>
          <p:cNvPr id="43" name="AutoShape 17">
            <a:extLst>
              <a:ext uri="{FF2B5EF4-FFF2-40B4-BE49-F238E27FC236}">
                <a16:creationId xmlns:a16="http://schemas.microsoft.com/office/drawing/2014/main" id="{C9090248-CECC-92C3-37F3-0B044BBDB08A}"/>
              </a:ext>
            </a:extLst>
          </p:cNvPr>
          <p:cNvSpPr>
            <a:spLocks noChangeArrowheads="1"/>
          </p:cNvSpPr>
          <p:nvPr/>
        </p:nvSpPr>
        <p:spPr bwMode="auto">
          <a:xfrm>
            <a:off x="4550272" y="5403943"/>
            <a:ext cx="1379942" cy="233064"/>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顧客事務代行</a:t>
            </a:r>
          </a:p>
        </p:txBody>
      </p:sp>
      <p:sp>
        <p:nvSpPr>
          <p:cNvPr id="44" name="AutoShape 17">
            <a:extLst>
              <a:ext uri="{FF2B5EF4-FFF2-40B4-BE49-F238E27FC236}">
                <a16:creationId xmlns:a16="http://schemas.microsoft.com/office/drawing/2014/main" id="{F37FBE62-F678-4E3C-AA1B-6AF90AF4FD19}"/>
              </a:ext>
            </a:extLst>
          </p:cNvPr>
          <p:cNvSpPr>
            <a:spLocks noChangeArrowheads="1"/>
          </p:cNvSpPr>
          <p:nvPr/>
        </p:nvSpPr>
        <p:spPr bwMode="auto">
          <a:xfrm>
            <a:off x="4561103" y="6219218"/>
            <a:ext cx="1379942" cy="184061"/>
          </a:xfrm>
          <a:prstGeom prst="roundRect">
            <a:avLst>
              <a:gd name="adj" fmla="val 16667"/>
            </a:avLst>
          </a:prstGeom>
          <a:solidFill>
            <a:srgbClr val="FFCC99"/>
          </a:solidFill>
          <a:ln w="9525">
            <a:solidFill>
              <a:schemeClr val="tx1"/>
            </a:solidFill>
            <a:round/>
            <a:headEnd/>
            <a:tailEnd/>
          </a:ln>
        </p:spPr>
        <p:txBody>
          <a:bodyPr wrap="none" anchor="ct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ctr" eaLnBrk="1" hangingPunct="1"/>
            <a:r>
              <a:rPr lang="ja-JP" altLang="en-US" sz="1200" b="1" dirty="0">
                <a:ea typeface="ＭＳ Ｐゴシック" pitchFamily="50" charset="-128"/>
              </a:rPr>
              <a:t>大阪オフィス</a:t>
            </a:r>
          </a:p>
        </p:txBody>
      </p:sp>
      <p:sp>
        <p:nvSpPr>
          <p:cNvPr id="45" name="矢印: 左右 44">
            <a:extLst>
              <a:ext uri="{FF2B5EF4-FFF2-40B4-BE49-F238E27FC236}">
                <a16:creationId xmlns:a16="http://schemas.microsoft.com/office/drawing/2014/main" id="{FB4D7C11-EA91-EB2C-1842-83CA4A296D85}"/>
              </a:ext>
            </a:extLst>
          </p:cNvPr>
          <p:cNvSpPr/>
          <p:nvPr/>
        </p:nvSpPr>
        <p:spPr>
          <a:xfrm>
            <a:off x="3848099" y="3774807"/>
            <a:ext cx="688162" cy="511668"/>
          </a:xfrm>
          <a:prstGeom prst="leftRight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46" name="フローチャート: 代替処理 45">
            <a:extLst>
              <a:ext uri="{FF2B5EF4-FFF2-40B4-BE49-F238E27FC236}">
                <a16:creationId xmlns:a16="http://schemas.microsoft.com/office/drawing/2014/main" id="{315B628E-72F4-9033-7E4B-466DF948286F}"/>
              </a:ext>
            </a:extLst>
          </p:cNvPr>
          <p:cNvSpPr/>
          <p:nvPr/>
        </p:nvSpPr>
        <p:spPr>
          <a:xfrm>
            <a:off x="4165941" y="1414111"/>
            <a:ext cx="5797209" cy="5591487"/>
          </a:xfrm>
          <a:prstGeom prst="flowChartAlternateProcess">
            <a:avLst/>
          </a:prstGeom>
          <a:noFill/>
          <a:ln w="19050">
            <a:prstDash val="sysDot"/>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sz="1100" dirty="0"/>
          </a:p>
        </p:txBody>
      </p:sp>
    </p:spTree>
    <p:extLst>
      <p:ext uri="{BB962C8B-B14F-4D97-AF65-F5344CB8AC3E}">
        <p14:creationId xmlns:p14="http://schemas.microsoft.com/office/powerpoint/2010/main" val="348655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5</a:t>
            </a:fld>
            <a:endParaRPr lang="ja-JP" altLang="en-US" dirty="0"/>
          </a:p>
        </p:txBody>
      </p:sp>
      <p:sp>
        <p:nvSpPr>
          <p:cNvPr id="5" name="タイトル 4">
            <a:extLst>
              <a:ext uri="{FF2B5EF4-FFF2-40B4-BE49-F238E27FC236}">
                <a16:creationId xmlns:a16="http://schemas.microsoft.com/office/drawing/2014/main" id="{7C6C2618-950B-8141-2752-FBBEF7620045}"/>
              </a:ext>
            </a:extLst>
          </p:cNvPr>
          <p:cNvSpPr>
            <a:spLocks noGrp="1"/>
          </p:cNvSpPr>
          <p:nvPr>
            <p:ph type="title"/>
          </p:nvPr>
        </p:nvSpPr>
        <p:spPr/>
        <p:txBody>
          <a:bodyPr/>
          <a:lstStyle/>
          <a:p>
            <a:r>
              <a:rPr kumimoji="1" lang="ja-JP" altLang="en-US" dirty="0"/>
              <a:t>各部署のつながり（まとめ） 　</a:t>
            </a:r>
          </a:p>
        </p:txBody>
      </p:sp>
      <p:graphicFrame>
        <p:nvGraphicFramePr>
          <p:cNvPr id="31" name="表 30">
            <a:extLst>
              <a:ext uri="{FF2B5EF4-FFF2-40B4-BE49-F238E27FC236}">
                <a16:creationId xmlns:a16="http://schemas.microsoft.com/office/drawing/2014/main" id="{61D1775D-E77E-99D9-63AC-C2E346FE7855}"/>
              </a:ext>
            </a:extLst>
          </p:cNvPr>
          <p:cNvGraphicFramePr>
            <a:graphicFrameLocks noGrp="1"/>
          </p:cNvGraphicFramePr>
          <p:nvPr/>
        </p:nvGraphicFramePr>
        <p:xfrm>
          <a:off x="1248593" y="1451355"/>
          <a:ext cx="8208913" cy="5441092"/>
        </p:xfrm>
        <a:graphic>
          <a:graphicData uri="http://schemas.openxmlformats.org/drawingml/2006/table">
            <a:tbl>
              <a:tblPr firstRow="1" bandRow="1">
                <a:tableStyleId>{2D5ABB26-0587-4C30-8999-92F81FD0307C}</a:tableStyleId>
              </a:tblPr>
              <a:tblGrid>
                <a:gridCol w="1329061">
                  <a:extLst>
                    <a:ext uri="{9D8B030D-6E8A-4147-A177-3AD203B41FA5}">
                      <a16:colId xmlns:a16="http://schemas.microsoft.com/office/drawing/2014/main" val="20000"/>
                    </a:ext>
                  </a:extLst>
                </a:gridCol>
                <a:gridCol w="903188">
                  <a:extLst>
                    <a:ext uri="{9D8B030D-6E8A-4147-A177-3AD203B41FA5}">
                      <a16:colId xmlns:a16="http://schemas.microsoft.com/office/drawing/2014/main" val="20001"/>
                    </a:ext>
                  </a:extLst>
                </a:gridCol>
                <a:gridCol w="3168352">
                  <a:extLst>
                    <a:ext uri="{9D8B030D-6E8A-4147-A177-3AD203B41FA5}">
                      <a16:colId xmlns:a16="http://schemas.microsoft.com/office/drawing/2014/main" val="20002"/>
                    </a:ext>
                  </a:extLst>
                </a:gridCol>
                <a:gridCol w="2808312">
                  <a:extLst>
                    <a:ext uri="{9D8B030D-6E8A-4147-A177-3AD203B41FA5}">
                      <a16:colId xmlns:a16="http://schemas.microsoft.com/office/drawing/2014/main" val="20003"/>
                    </a:ext>
                  </a:extLst>
                </a:gridCol>
              </a:tblGrid>
              <a:tr h="517226">
                <a:tc gridSpan="2">
                  <a:txBody>
                    <a:bodyPr/>
                    <a:lstStyle/>
                    <a:p>
                      <a:r>
                        <a:rPr kumimoji="1" lang="ja-JP" altLang="en-US" dirty="0"/>
                        <a:t>　　　　　　　　　　　</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pPr algn="ctr"/>
                      <a:r>
                        <a:rPr kumimoji="1" lang="ja-JP" altLang="en-US" dirty="0"/>
                        <a:t>非投信</a:t>
                      </a:r>
                      <a:r>
                        <a:rPr kumimoji="1" lang="ja-JP" altLang="en-US" sz="1600" dirty="0"/>
                        <a:t>（証券信託、年金信託等）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dirty="0"/>
                        <a:t>投信（投資信託）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5673">
                <a:tc gridSpan="2">
                  <a:txBody>
                    <a:bodyPr/>
                    <a:lstStyle/>
                    <a:p>
                      <a:r>
                        <a:rPr kumimoji="1" lang="ja-JP" altLang="en-US" sz="1600" dirty="0"/>
                        <a:t>契約管理・信託金受入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5420">
                <a:tc rowSpan="2">
                  <a:txBody>
                    <a:bodyPr/>
                    <a:lstStyle/>
                    <a:p>
                      <a:r>
                        <a:rPr kumimoji="1" lang="ja-JP" altLang="en-US" dirty="0"/>
                        <a:t>約定・決済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a:t>国内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542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a:t>外国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0003"/>
                  </a:ext>
                </a:extLst>
              </a:tr>
              <a:tr h="418757">
                <a:tc rowSpan="2">
                  <a:txBody>
                    <a:bodyPr/>
                    <a:lstStyle/>
                    <a:p>
                      <a:r>
                        <a:rPr kumimoji="1" lang="ja-JP" altLang="en-US" dirty="0"/>
                        <a:t>権利処理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国内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0004"/>
                  </a:ext>
                </a:extLst>
              </a:tr>
              <a:tr h="386517">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外国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0005"/>
                  </a:ext>
                </a:extLst>
              </a:tr>
              <a:tr h="386517">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700" dirty="0"/>
                        <a:t>非伝統資産領域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86517">
                <a:tc gridSpan="2">
                  <a:txBody>
                    <a:bodyPr/>
                    <a:lstStyle/>
                    <a:p>
                      <a:r>
                        <a:rPr kumimoji="1" lang="ja-JP" altLang="en-US" sz="1700" dirty="0"/>
                        <a:t>運用報告（基準価額）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828813"/>
                  </a:ext>
                </a:extLst>
              </a:tr>
              <a:tr h="415423">
                <a:tc gridSpan="2">
                  <a:txBody>
                    <a:bodyPr/>
                    <a:lstStyle/>
                    <a:p>
                      <a:r>
                        <a:rPr kumimoji="1" lang="ja-JP" altLang="en-US" sz="1800" dirty="0"/>
                        <a:t>貸借取引等運用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15423">
                <a:tc gridSpan="2">
                  <a:txBody>
                    <a:bodyPr/>
                    <a:lstStyle/>
                    <a:p>
                      <a:r>
                        <a:rPr kumimoji="1" lang="ja-JP" altLang="en-US" sz="1800" dirty="0"/>
                        <a:t>大阪オフィス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15423">
                <a:tc gridSpan="2">
                  <a:txBody>
                    <a:bodyPr/>
                    <a:lstStyle/>
                    <a:p>
                      <a:r>
                        <a:rPr kumimoji="1" lang="ja-JP" altLang="en-US" sz="1800" dirty="0"/>
                        <a:t>顧客事務代行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ysDashDot"/>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ysDashDot"/>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0009"/>
                  </a:ext>
                </a:extLst>
              </a:tr>
              <a:tr h="415423">
                <a:tc gridSpan="2">
                  <a:txBody>
                    <a:bodyPr/>
                    <a:lstStyle/>
                    <a:p>
                      <a:r>
                        <a:rPr kumimoji="1" lang="ja-JP" altLang="en-US" dirty="0"/>
                        <a:t>顧客窓口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Dot"/>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Dot"/>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Dot"/>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415423">
                <a:tc gridSpan="2">
                  <a:txBody>
                    <a:bodyPr/>
                    <a:lstStyle/>
                    <a:p>
                      <a:r>
                        <a:rPr kumimoji="1" lang="ja-JP" altLang="en-US" sz="1800" dirty="0"/>
                        <a:t>資産管理業務統括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gridSpan="2">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0011"/>
                  </a:ext>
                </a:extLst>
              </a:tr>
            </a:tbl>
          </a:graphicData>
        </a:graphic>
      </p:graphicFrame>
      <p:cxnSp>
        <p:nvCxnSpPr>
          <p:cNvPr id="34" name="直線コネクタ 33">
            <a:extLst>
              <a:ext uri="{FF2B5EF4-FFF2-40B4-BE49-F238E27FC236}">
                <a16:creationId xmlns:a16="http://schemas.microsoft.com/office/drawing/2014/main" id="{D3470B57-64BC-1E1D-7F56-8422C151F0CD}"/>
              </a:ext>
            </a:extLst>
          </p:cNvPr>
          <p:cNvCxnSpPr/>
          <p:nvPr/>
        </p:nvCxnSpPr>
        <p:spPr bwMode="auto">
          <a:xfrm flipH="1" flipV="1">
            <a:off x="1243346" y="1470835"/>
            <a:ext cx="2173272" cy="4490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テキスト ボックス 34">
            <a:extLst>
              <a:ext uri="{FF2B5EF4-FFF2-40B4-BE49-F238E27FC236}">
                <a16:creationId xmlns:a16="http://schemas.microsoft.com/office/drawing/2014/main" id="{FD58A96D-EAB4-2FF7-85DF-E33419A0E93D}"/>
              </a:ext>
            </a:extLst>
          </p:cNvPr>
          <p:cNvSpPr txBox="1"/>
          <p:nvPr/>
        </p:nvSpPr>
        <p:spPr>
          <a:xfrm>
            <a:off x="3778945" y="2823630"/>
            <a:ext cx="2665290" cy="369332"/>
          </a:xfrm>
          <a:prstGeom prst="rect">
            <a:avLst/>
          </a:prstGeom>
          <a:solidFill>
            <a:srgbClr val="99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外国資産管理部</a:t>
            </a:r>
          </a:p>
        </p:txBody>
      </p:sp>
      <p:sp>
        <p:nvSpPr>
          <p:cNvPr id="36" name="テキスト ボックス 35">
            <a:extLst>
              <a:ext uri="{FF2B5EF4-FFF2-40B4-BE49-F238E27FC236}">
                <a16:creationId xmlns:a16="http://schemas.microsoft.com/office/drawing/2014/main" id="{1EE175B6-8CE3-383F-B8E1-A91DF44545E5}"/>
              </a:ext>
            </a:extLst>
          </p:cNvPr>
          <p:cNvSpPr txBox="1"/>
          <p:nvPr/>
        </p:nvSpPr>
        <p:spPr>
          <a:xfrm>
            <a:off x="3778943" y="2001662"/>
            <a:ext cx="2654049" cy="385407"/>
          </a:xfrm>
          <a:prstGeom prst="rect">
            <a:avLst/>
          </a:prstGeom>
          <a:solidFill>
            <a:srgbClr val="FFCCFF"/>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sz="1800" dirty="0"/>
              <a:t>ファンド管理部</a:t>
            </a:r>
            <a:endParaRPr kumimoji="1" lang="ja-JP" altLang="en-US" sz="1800" dirty="0"/>
          </a:p>
        </p:txBody>
      </p:sp>
      <p:sp>
        <p:nvSpPr>
          <p:cNvPr id="37" name="テキスト ボックス 36">
            <a:extLst>
              <a:ext uri="{FF2B5EF4-FFF2-40B4-BE49-F238E27FC236}">
                <a16:creationId xmlns:a16="http://schemas.microsoft.com/office/drawing/2014/main" id="{358C413C-BA3D-7493-FB4A-69F9724AC473}"/>
              </a:ext>
            </a:extLst>
          </p:cNvPr>
          <p:cNvSpPr txBox="1"/>
          <p:nvPr/>
        </p:nvSpPr>
        <p:spPr>
          <a:xfrm>
            <a:off x="6928841" y="1985887"/>
            <a:ext cx="2356631" cy="401182"/>
          </a:xfrm>
          <a:prstGeom prst="rect">
            <a:avLst/>
          </a:prstGeom>
          <a:solidFill>
            <a:srgbClr val="FFCC99"/>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dirty="0"/>
              <a:t>投資信託部</a:t>
            </a:r>
            <a:endParaRPr lang="en-US" altLang="ja-JP" dirty="0"/>
          </a:p>
        </p:txBody>
      </p:sp>
      <p:sp>
        <p:nvSpPr>
          <p:cNvPr id="38" name="テキスト ボックス 37">
            <a:extLst>
              <a:ext uri="{FF2B5EF4-FFF2-40B4-BE49-F238E27FC236}">
                <a16:creationId xmlns:a16="http://schemas.microsoft.com/office/drawing/2014/main" id="{CC486DE4-7CE3-7B34-FA7A-CF965F0001B8}"/>
              </a:ext>
            </a:extLst>
          </p:cNvPr>
          <p:cNvSpPr txBox="1"/>
          <p:nvPr/>
        </p:nvSpPr>
        <p:spPr>
          <a:xfrm>
            <a:off x="3778947" y="4457375"/>
            <a:ext cx="2670702" cy="311143"/>
          </a:xfrm>
          <a:prstGeom prst="rect">
            <a:avLst/>
          </a:prstGeom>
          <a:solidFill>
            <a:srgbClr val="FFCCFF"/>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kumimoji="1" lang="ja-JP" altLang="en-US" sz="1800" dirty="0"/>
              <a:t>ファンド管理部</a:t>
            </a:r>
          </a:p>
        </p:txBody>
      </p:sp>
      <p:sp>
        <p:nvSpPr>
          <p:cNvPr id="39" name="テキスト ボックス 38">
            <a:extLst>
              <a:ext uri="{FF2B5EF4-FFF2-40B4-BE49-F238E27FC236}">
                <a16:creationId xmlns:a16="http://schemas.microsoft.com/office/drawing/2014/main" id="{076F53EA-30B7-9F36-BE6F-9CE2BB851263}"/>
              </a:ext>
            </a:extLst>
          </p:cNvPr>
          <p:cNvSpPr txBox="1"/>
          <p:nvPr/>
        </p:nvSpPr>
        <p:spPr>
          <a:xfrm>
            <a:off x="6928839" y="2460461"/>
            <a:ext cx="2367845" cy="1546835"/>
          </a:xfrm>
          <a:prstGeom prst="rect">
            <a:avLst/>
          </a:prstGeom>
          <a:solidFill>
            <a:srgbClr val="FFC000"/>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sz="1800" dirty="0"/>
              <a:t>投資信託部</a:t>
            </a:r>
            <a:endParaRPr kumimoji="1" lang="en-US" altLang="ja-JP" sz="1800" dirty="0"/>
          </a:p>
          <a:p>
            <a:endParaRPr kumimoji="1" lang="ja-JP" altLang="en-US" dirty="0"/>
          </a:p>
        </p:txBody>
      </p:sp>
      <p:sp>
        <p:nvSpPr>
          <p:cNvPr id="40" name="テキスト ボックス 39">
            <a:extLst>
              <a:ext uri="{FF2B5EF4-FFF2-40B4-BE49-F238E27FC236}">
                <a16:creationId xmlns:a16="http://schemas.microsoft.com/office/drawing/2014/main" id="{7E45623C-C5C5-4160-DA83-191669F5E0A8}"/>
              </a:ext>
            </a:extLst>
          </p:cNvPr>
          <p:cNvSpPr txBox="1"/>
          <p:nvPr/>
        </p:nvSpPr>
        <p:spPr>
          <a:xfrm>
            <a:off x="3778945" y="2422835"/>
            <a:ext cx="2665290" cy="369332"/>
          </a:xfrm>
          <a:prstGeom prst="rect">
            <a:avLst/>
          </a:prstGeom>
          <a:solidFill>
            <a:srgbClr val="FF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国内資産管理部</a:t>
            </a:r>
          </a:p>
        </p:txBody>
      </p:sp>
      <p:sp>
        <p:nvSpPr>
          <p:cNvPr id="41" name="テキスト ボックス 40">
            <a:extLst>
              <a:ext uri="{FF2B5EF4-FFF2-40B4-BE49-F238E27FC236}">
                <a16:creationId xmlns:a16="http://schemas.microsoft.com/office/drawing/2014/main" id="{2CB0D1B1-AFD3-2748-B8F8-320C7F8911F6}"/>
              </a:ext>
            </a:extLst>
          </p:cNvPr>
          <p:cNvSpPr txBox="1"/>
          <p:nvPr/>
        </p:nvSpPr>
        <p:spPr>
          <a:xfrm>
            <a:off x="3778946" y="3652234"/>
            <a:ext cx="3119032" cy="369332"/>
          </a:xfrm>
          <a:prstGeom prst="rect">
            <a:avLst/>
          </a:prstGeom>
          <a:solidFill>
            <a:srgbClr val="99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外国資産管理部、市場管理部</a:t>
            </a:r>
          </a:p>
        </p:txBody>
      </p:sp>
      <p:sp>
        <p:nvSpPr>
          <p:cNvPr id="42" name="テキスト ボックス 41">
            <a:extLst>
              <a:ext uri="{FF2B5EF4-FFF2-40B4-BE49-F238E27FC236}">
                <a16:creationId xmlns:a16="http://schemas.microsoft.com/office/drawing/2014/main" id="{3D58E80D-07DB-BB82-6048-711582700F13}"/>
              </a:ext>
            </a:extLst>
          </p:cNvPr>
          <p:cNvSpPr txBox="1"/>
          <p:nvPr/>
        </p:nvSpPr>
        <p:spPr>
          <a:xfrm>
            <a:off x="6944626" y="4442522"/>
            <a:ext cx="2352058" cy="326304"/>
          </a:xfrm>
          <a:prstGeom prst="rect">
            <a:avLst/>
          </a:prstGeom>
          <a:solidFill>
            <a:srgbClr val="FFCC99"/>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dirty="0"/>
              <a:t>投資信託部</a:t>
            </a:r>
            <a:endParaRPr lang="en-US" altLang="ja-JP" dirty="0"/>
          </a:p>
        </p:txBody>
      </p:sp>
      <p:sp>
        <p:nvSpPr>
          <p:cNvPr id="43" name="正方形/長方形 42">
            <a:extLst>
              <a:ext uri="{FF2B5EF4-FFF2-40B4-BE49-F238E27FC236}">
                <a16:creationId xmlns:a16="http://schemas.microsoft.com/office/drawing/2014/main" id="{DDE7600C-B9B0-1A8E-2BC2-07D853E895F5}"/>
              </a:ext>
            </a:extLst>
          </p:cNvPr>
          <p:cNvSpPr/>
          <p:nvPr/>
        </p:nvSpPr>
        <p:spPr>
          <a:xfrm>
            <a:off x="2785091" y="1453966"/>
            <a:ext cx="646331" cy="369332"/>
          </a:xfrm>
          <a:prstGeom prst="rect">
            <a:avLst/>
          </a:prstGeom>
        </p:spPr>
        <p:txBody>
          <a:bodyPr wrap="none">
            <a:spAutoFit/>
          </a:bodyPr>
          <a:lstStyle/>
          <a:p>
            <a:r>
              <a:rPr lang="ja-JP" altLang="en-US" sz="1800" dirty="0"/>
              <a:t>種類</a:t>
            </a:r>
            <a:endParaRPr lang="en-US" altLang="ja-JP" sz="1800" dirty="0"/>
          </a:p>
        </p:txBody>
      </p:sp>
      <p:sp>
        <p:nvSpPr>
          <p:cNvPr id="44" name="テキスト ボックス 43">
            <a:extLst>
              <a:ext uri="{FF2B5EF4-FFF2-40B4-BE49-F238E27FC236}">
                <a16:creationId xmlns:a16="http://schemas.microsoft.com/office/drawing/2014/main" id="{844F5C52-86DA-8697-915B-A8625834A1B9}"/>
              </a:ext>
            </a:extLst>
          </p:cNvPr>
          <p:cNvSpPr txBox="1"/>
          <p:nvPr/>
        </p:nvSpPr>
        <p:spPr>
          <a:xfrm>
            <a:off x="3792757" y="4805959"/>
            <a:ext cx="5503927" cy="369332"/>
          </a:xfrm>
          <a:prstGeom prst="rect">
            <a:avLst/>
          </a:prstGeom>
          <a:solidFill>
            <a:schemeClr val="accent3">
              <a:lumMod val="85000"/>
            </a:schemeClr>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証券取引執行部</a:t>
            </a:r>
          </a:p>
        </p:txBody>
      </p:sp>
      <p:sp>
        <p:nvSpPr>
          <p:cNvPr id="45" name="テキスト ボックス 44">
            <a:extLst>
              <a:ext uri="{FF2B5EF4-FFF2-40B4-BE49-F238E27FC236}">
                <a16:creationId xmlns:a16="http://schemas.microsoft.com/office/drawing/2014/main" id="{3D240615-A298-ABE3-D71B-039465A88987}"/>
              </a:ext>
            </a:extLst>
          </p:cNvPr>
          <p:cNvSpPr txBox="1"/>
          <p:nvPr/>
        </p:nvSpPr>
        <p:spPr>
          <a:xfrm>
            <a:off x="3763287" y="6103064"/>
            <a:ext cx="5506383" cy="762129"/>
          </a:xfrm>
          <a:prstGeom prst="rect">
            <a:avLst/>
          </a:prstGeom>
          <a:solidFill>
            <a:srgbClr val="FFFF00"/>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kumimoji="1" lang="ja-JP" altLang="en-US" sz="1800" dirty="0"/>
              <a:t>業務企画推進部</a:t>
            </a:r>
            <a:r>
              <a:rPr kumimoji="1" lang="en-US" altLang="ja-JP" sz="1800" dirty="0"/>
              <a:t>/</a:t>
            </a:r>
            <a:r>
              <a:rPr kumimoji="1" lang="en-US" altLang="ja-JP" sz="1200" dirty="0"/>
              <a:t>GPIF</a:t>
            </a:r>
            <a:r>
              <a:rPr kumimoji="1" lang="ja-JP" altLang="en-US" sz="1200" dirty="0"/>
              <a:t>室、</a:t>
            </a:r>
            <a:r>
              <a:rPr lang="ja-JP" altLang="en-US" sz="1200" dirty="0"/>
              <a:t>クライアントサービス室</a:t>
            </a:r>
            <a:endParaRPr kumimoji="1" lang="en-US" altLang="ja-JP" sz="1200" dirty="0"/>
          </a:p>
          <a:p>
            <a:r>
              <a:rPr lang="ja-JP" altLang="en-US" sz="1200" dirty="0"/>
              <a:t>業務企画</a:t>
            </a:r>
            <a:r>
              <a:rPr lang="en-US" altLang="ja-JP" sz="1200" dirty="0"/>
              <a:t>G</a:t>
            </a:r>
            <a:r>
              <a:rPr lang="ja-JP" altLang="en-US" sz="1200" dirty="0"/>
              <a:t>、海外推進</a:t>
            </a:r>
            <a:r>
              <a:rPr lang="en-US" altLang="ja-JP" sz="1200" dirty="0"/>
              <a:t>G</a:t>
            </a:r>
            <a:r>
              <a:rPr lang="ja-JP" altLang="en-US" sz="1200" dirty="0"/>
              <a:t>、事務</a:t>
            </a:r>
            <a:r>
              <a:rPr lang="en-US" altLang="ja-JP" sz="1200" dirty="0"/>
              <a:t>IT</a:t>
            </a:r>
            <a:r>
              <a:rPr lang="ja-JP" altLang="en-US" sz="1200" dirty="0"/>
              <a:t>企画室、</a:t>
            </a:r>
            <a:endParaRPr lang="en-US" altLang="ja-JP" sz="1200" dirty="0"/>
          </a:p>
          <a:p>
            <a:r>
              <a:rPr lang="ja-JP" altLang="en-US" sz="1200" dirty="0"/>
              <a:t>アーキテクチャ戦略室、生保資産管理準備室</a:t>
            </a:r>
            <a:endParaRPr kumimoji="1" lang="ja-JP" altLang="en-US" sz="1200" dirty="0"/>
          </a:p>
        </p:txBody>
      </p:sp>
      <p:sp>
        <p:nvSpPr>
          <p:cNvPr id="46" name="正方形/長方形 45">
            <a:extLst>
              <a:ext uri="{FF2B5EF4-FFF2-40B4-BE49-F238E27FC236}">
                <a16:creationId xmlns:a16="http://schemas.microsoft.com/office/drawing/2014/main" id="{8F19F22E-A095-27E3-0B66-2BCDB901E6DA}"/>
              </a:ext>
            </a:extLst>
          </p:cNvPr>
          <p:cNvSpPr/>
          <p:nvPr/>
        </p:nvSpPr>
        <p:spPr>
          <a:xfrm>
            <a:off x="1333221" y="1670430"/>
            <a:ext cx="646332" cy="369332"/>
          </a:xfrm>
          <a:prstGeom prst="rect">
            <a:avLst/>
          </a:prstGeom>
        </p:spPr>
        <p:txBody>
          <a:bodyPr wrap="none">
            <a:spAutoFit/>
          </a:bodyPr>
          <a:lstStyle/>
          <a:p>
            <a:r>
              <a:rPr lang="ja-JP" altLang="en-US" sz="1800" dirty="0"/>
              <a:t>業務</a:t>
            </a:r>
            <a:endParaRPr lang="en-US" altLang="ja-JP" sz="1800" dirty="0"/>
          </a:p>
        </p:txBody>
      </p:sp>
      <p:sp>
        <p:nvSpPr>
          <p:cNvPr id="47" name="テキスト ボックス 46">
            <a:extLst>
              <a:ext uri="{FF2B5EF4-FFF2-40B4-BE49-F238E27FC236}">
                <a16:creationId xmlns:a16="http://schemas.microsoft.com/office/drawing/2014/main" id="{E064E01B-C5FD-4696-0ECB-1B36ADE039B8}"/>
              </a:ext>
            </a:extLst>
          </p:cNvPr>
          <p:cNvSpPr txBox="1"/>
          <p:nvPr/>
        </p:nvSpPr>
        <p:spPr>
          <a:xfrm>
            <a:off x="3778947" y="5660340"/>
            <a:ext cx="5517737" cy="369332"/>
          </a:xfrm>
          <a:prstGeom prst="rect">
            <a:avLst/>
          </a:prstGeom>
          <a:solidFill>
            <a:srgbClr val="33CCFF"/>
          </a:solidFill>
          <a:ln w="3175">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運用管理部、市場決済領域</a:t>
            </a:r>
          </a:p>
        </p:txBody>
      </p:sp>
      <p:sp>
        <p:nvSpPr>
          <p:cNvPr id="48" name="テキスト ボックス 47">
            <a:extLst>
              <a:ext uri="{FF2B5EF4-FFF2-40B4-BE49-F238E27FC236}">
                <a16:creationId xmlns:a16="http://schemas.microsoft.com/office/drawing/2014/main" id="{D5B8C6EE-DB2A-8EA2-00A5-B8474554B0AF}"/>
              </a:ext>
            </a:extLst>
          </p:cNvPr>
          <p:cNvSpPr txBox="1"/>
          <p:nvPr/>
        </p:nvSpPr>
        <p:spPr>
          <a:xfrm>
            <a:off x="3778945" y="3233508"/>
            <a:ext cx="3119033" cy="369332"/>
          </a:xfrm>
          <a:prstGeom prst="rect">
            <a:avLst/>
          </a:prstGeom>
          <a:solidFill>
            <a:srgbClr val="FF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国内資産管理部</a:t>
            </a:r>
          </a:p>
        </p:txBody>
      </p:sp>
      <p:sp>
        <p:nvSpPr>
          <p:cNvPr id="49" name="テキスト ボックス 48">
            <a:extLst>
              <a:ext uri="{FF2B5EF4-FFF2-40B4-BE49-F238E27FC236}">
                <a16:creationId xmlns:a16="http://schemas.microsoft.com/office/drawing/2014/main" id="{2E581AFE-262E-C1F1-72B6-62D7C92756CC}"/>
              </a:ext>
            </a:extLst>
          </p:cNvPr>
          <p:cNvSpPr txBox="1"/>
          <p:nvPr/>
        </p:nvSpPr>
        <p:spPr>
          <a:xfrm>
            <a:off x="3778947" y="5237584"/>
            <a:ext cx="5517737" cy="369332"/>
          </a:xfrm>
          <a:prstGeom prst="rect">
            <a:avLst/>
          </a:prstGeom>
          <a:solidFill>
            <a:srgbClr val="99CCFF"/>
          </a:solidFill>
          <a:ln w="3175">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大阪資産管理部</a:t>
            </a:r>
          </a:p>
        </p:txBody>
      </p:sp>
      <p:sp>
        <p:nvSpPr>
          <p:cNvPr id="50" name="テキスト ボックス 49">
            <a:extLst>
              <a:ext uri="{FF2B5EF4-FFF2-40B4-BE49-F238E27FC236}">
                <a16:creationId xmlns:a16="http://schemas.microsoft.com/office/drawing/2014/main" id="{5B7E4EF1-43A6-9F52-07BF-5A46E666C456}"/>
              </a:ext>
            </a:extLst>
          </p:cNvPr>
          <p:cNvSpPr txBox="1">
            <a:spLocks/>
          </p:cNvSpPr>
          <p:nvPr/>
        </p:nvSpPr>
        <p:spPr>
          <a:xfrm>
            <a:off x="3775506" y="4056081"/>
            <a:ext cx="5530418" cy="326304"/>
          </a:xfrm>
          <a:prstGeom prst="rect">
            <a:avLst/>
          </a:prstGeom>
          <a:solidFill>
            <a:srgbClr val="99CCFF"/>
          </a:solidFill>
          <a:ln w="3175">
            <a:noFill/>
          </a:ln>
        </p:spPr>
        <p:style>
          <a:lnRef idx="2">
            <a:schemeClr val="dk1"/>
          </a:lnRef>
          <a:fillRef idx="1">
            <a:schemeClr val="lt1"/>
          </a:fillRef>
          <a:effectRef idx="0">
            <a:schemeClr val="dk1"/>
          </a:effectRef>
          <a:fontRef idx="minor">
            <a:schemeClr val="dk1"/>
          </a:fontRef>
        </p:style>
        <p:txBody>
          <a:bodyPr wrap="square" rtlCol="0">
            <a:noAutofit/>
          </a:bodyPr>
          <a:lstStyle/>
          <a:p>
            <a:r>
              <a:rPr kumimoji="1" lang="ja-JP" altLang="en-US" sz="1800" dirty="0"/>
              <a:t>デリバティブ管理部、オルタナティブ管理部</a:t>
            </a:r>
          </a:p>
        </p:txBody>
      </p:sp>
    </p:spTree>
    <p:extLst>
      <p:ext uri="{BB962C8B-B14F-4D97-AF65-F5344CB8AC3E}">
        <p14:creationId xmlns:p14="http://schemas.microsoft.com/office/powerpoint/2010/main" val="410597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outVertical)">
                                      <p:cBhvr>
                                        <p:cTn id="7" dur="500"/>
                                        <p:tgtEl>
                                          <p:spTgt spid="36"/>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barn(outVertical)">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barn(outVertical)">
                                      <p:cBhvr>
                                        <p:cTn id="15" dur="500"/>
                                        <p:tgtEl>
                                          <p:spTgt spid="40"/>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barn(outVertical)">
                                      <p:cBhvr>
                                        <p:cTn id="18" dur="5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barn(outVertical)">
                                      <p:cBhvr>
                                        <p:cTn id="28" dur="500"/>
                                        <p:tgtEl>
                                          <p:spTgt spid="50"/>
                                        </p:tgtEl>
                                      </p:cBhvr>
                                    </p:animEffect>
                                  </p:childTnLst>
                                </p:cTn>
                              </p:par>
                              <p:par>
                                <p:cTn id="29" presetID="16" presetClass="entr" presetSubtype="37"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barn(outVertical)">
                                      <p:cBhvr>
                                        <p:cTn id="31" dur="500"/>
                                        <p:tgtEl>
                                          <p:spTgt spid="48"/>
                                        </p:tgtEl>
                                      </p:cBhvr>
                                    </p:animEffect>
                                  </p:childTnLst>
                                </p:cTn>
                              </p:par>
                              <p:par>
                                <p:cTn id="32" presetID="16" presetClass="entr" presetSubtype="37" fill="hold" grpId="0"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barn(outVertical)">
                                      <p:cBhvr>
                                        <p:cTn id="34" dur="500"/>
                                        <p:tgtEl>
                                          <p:spTgt spid="4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arn(outVertical)">
                                      <p:cBhvr>
                                        <p:cTn id="39" dur="500"/>
                                        <p:tgtEl>
                                          <p:spTgt spid="38"/>
                                        </p:tgtEl>
                                      </p:cBhvr>
                                    </p:animEffect>
                                  </p:childTnLst>
                                </p:cTn>
                              </p:par>
                              <p:par>
                                <p:cTn id="40" presetID="16" presetClass="entr" presetSubtype="37"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barn(outVertical)">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barn(outVertical)">
                                      <p:cBhvr>
                                        <p:cTn id="47" dur="5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barn(outVertical)">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37"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barn(outVertical)">
                                      <p:cBhvr>
                                        <p:cTn id="57" dur="5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37"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barn(outVertical)">
                                      <p:cBhvr>
                                        <p:cTn id="6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4" grpId="0" animBg="1"/>
      <p:bldP spid="45" grpId="0" animBg="1"/>
      <p:bldP spid="47" grpId="0" animBg="1"/>
      <p:bldP spid="48" grpId="0" animBg="1"/>
      <p:bldP spid="49" grpId="0" animBg="1"/>
      <p:bldP spid="5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A43041B-C576-1B70-3834-84298CFDBA0E}"/>
              </a:ext>
            </a:extLst>
          </p:cNvPr>
          <p:cNvSpPr>
            <a:spLocks noGrp="1"/>
          </p:cNvSpPr>
          <p:nvPr>
            <p:ph type="sldNum" sz="quarter" idx="10"/>
          </p:nvPr>
        </p:nvSpPr>
        <p:spPr/>
        <p:txBody>
          <a:bodyPr/>
          <a:lstStyle/>
          <a:p>
            <a:fld id="{9BF854DB-42D3-EE44-9486-1E8138C63EFC}" type="slidenum">
              <a:rPr lang="ja-JP" altLang="en-US" smtClean="0"/>
              <a:pPr/>
              <a:t>6</a:t>
            </a:fld>
            <a:endParaRPr lang="ja-JP" altLang="en-US"/>
          </a:p>
        </p:txBody>
      </p:sp>
      <p:pic>
        <p:nvPicPr>
          <p:cNvPr id="56" name="図 55">
            <a:extLst>
              <a:ext uri="{FF2B5EF4-FFF2-40B4-BE49-F238E27FC236}">
                <a16:creationId xmlns:a16="http://schemas.microsoft.com/office/drawing/2014/main" id="{F10593F5-31E6-98EF-A317-D64D50D0CB53}"/>
              </a:ext>
            </a:extLst>
          </p:cNvPr>
          <p:cNvPicPr>
            <a:picLocks noChangeAspect="1"/>
          </p:cNvPicPr>
          <p:nvPr/>
        </p:nvPicPr>
        <p:blipFill>
          <a:blip r:embed="rId3"/>
          <a:stretch>
            <a:fillRect/>
          </a:stretch>
        </p:blipFill>
        <p:spPr>
          <a:xfrm>
            <a:off x="1145398" y="1628329"/>
            <a:ext cx="8401016" cy="5291787"/>
          </a:xfrm>
          <a:prstGeom prst="rect">
            <a:avLst/>
          </a:prstGeom>
        </p:spPr>
      </p:pic>
      <p:sp>
        <p:nvSpPr>
          <p:cNvPr id="57" name="AutoShape 46">
            <a:extLst>
              <a:ext uri="{FF2B5EF4-FFF2-40B4-BE49-F238E27FC236}">
                <a16:creationId xmlns:a16="http://schemas.microsoft.com/office/drawing/2014/main" id="{FFF90A57-95B3-9567-902E-2A813B17C00C}"/>
              </a:ext>
            </a:extLst>
          </p:cNvPr>
          <p:cNvSpPr>
            <a:spLocks noChangeArrowheads="1"/>
          </p:cNvSpPr>
          <p:nvPr/>
        </p:nvSpPr>
        <p:spPr bwMode="auto">
          <a:xfrm>
            <a:off x="534524" y="1124351"/>
            <a:ext cx="2972220" cy="503978"/>
          </a:xfrm>
          <a:prstGeom prst="roundRect">
            <a:avLst>
              <a:gd name="adj" fmla="val 16667"/>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round/>
                <a:headEnd/>
                <a:tailEnd/>
              </a14:hiddenLine>
            </a:ext>
          </a:extLst>
        </p:spPr>
        <p:txBody>
          <a:bodyPr wrap="none"/>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l" eaLnBrk="1" hangingPunct="1"/>
            <a:r>
              <a:rPr lang="ja-JP" altLang="en-US" sz="2205" b="1" u="sng" dirty="0">
                <a:ea typeface="ＭＳ Ｐゴシック" pitchFamily="50" charset="-128"/>
              </a:rPr>
              <a:t>証券信託・年金信託等</a:t>
            </a:r>
            <a:endParaRPr lang="ja-JP" altLang="en-US" sz="1323" b="1" u="sng" dirty="0">
              <a:ea typeface="ＭＳ Ｐゴシック" pitchFamily="50" charset="-128"/>
            </a:endParaRPr>
          </a:p>
        </p:txBody>
      </p:sp>
      <p:sp>
        <p:nvSpPr>
          <p:cNvPr id="58" name="Rectangle 2">
            <a:extLst>
              <a:ext uri="{FF2B5EF4-FFF2-40B4-BE49-F238E27FC236}">
                <a16:creationId xmlns:a16="http://schemas.microsoft.com/office/drawing/2014/main" id="{36BFC704-242C-389C-F1DD-19FA220DAB04}"/>
              </a:ext>
            </a:extLst>
          </p:cNvPr>
          <p:cNvSpPr txBox="1">
            <a:spLocks noChangeArrowheads="1"/>
          </p:cNvSpPr>
          <p:nvPr/>
        </p:nvSpPr>
        <p:spPr>
          <a:xfrm>
            <a:off x="515924" y="392613"/>
            <a:ext cx="8820000" cy="720000"/>
          </a:xfrm>
          <a:prstGeom prst="rect">
            <a:avLst/>
          </a:prstGeom>
        </p:spPr>
        <p:txBody>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3968" dirty="0"/>
              <a:t>ＭＴＢＪの各部署つながり</a:t>
            </a:r>
            <a:r>
              <a:rPr lang="en-US" altLang="ja-JP" sz="3968" dirty="0"/>
              <a:t>(</a:t>
            </a:r>
            <a:r>
              <a:rPr lang="ja-JP" altLang="en-US" sz="3968" dirty="0"/>
              <a:t>非投信）</a:t>
            </a:r>
          </a:p>
        </p:txBody>
      </p:sp>
      <p:sp>
        <p:nvSpPr>
          <p:cNvPr id="59" name="正方形/長方形 58">
            <a:extLst>
              <a:ext uri="{FF2B5EF4-FFF2-40B4-BE49-F238E27FC236}">
                <a16:creationId xmlns:a16="http://schemas.microsoft.com/office/drawing/2014/main" id="{1404284D-FA63-AF25-06B5-5401ACCEB63F}"/>
              </a:ext>
            </a:extLst>
          </p:cNvPr>
          <p:cNvSpPr/>
          <p:nvPr/>
        </p:nvSpPr>
        <p:spPr>
          <a:xfrm>
            <a:off x="5000066" y="3541947"/>
            <a:ext cx="2483708" cy="4016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オルタナティブ管理部</a:t>
            </a:r>
          </a:p>
        </p:txBody>
      </p:sp>
      <p:sp>
        <p:nvSpPr>
          <p:cNvPr id="60" name="Text Box 52">
            <a:extLst>
              <a:ext uri="{FF2B5EF4-FFF2-40B4-BE49-F238E27FC236}">
                <a16:creationId xmlns:a16="http://schemas.microsoft.com/office/drawing/2014/main" id="{5D65B9D4-A867-BDF6-F17B-81D3DDDAEB54}"/>
              </a:ext>
            </a:extLst>
          </p:cNvPr>
          <p:cNvSpPr txBox="1">
            <a:spLocks noChangeArrowheads="1"/>
          </p:cNvSpPr>
          <p:nvPr/>
        </p:nvSpPr>
        <p:spPr bwMode="auto">
          <a:xfrm>
            <a:off x="9300192" y="2128451"/>
            <a:ext cx="492443" cy="22639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a:spAutoFit/>
          </a:bodyPr>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eaLnBrk="1" hangingPunct="1"/>
            <a:r>
              <a:rPr lang="ja-JP" altLang="en-US" sz="2000" dirty="0"/>
              <a:t>お客様（委託者</a:t>
            </a:r>
            <a:r>
              <a:rPr lang="ja-JP" altLang="en-US" dirty="0"/>
              <a:t>）</a:t>
            </a:r>
          </a:p>
        </p:txBody>
      </p:sp>
    </p:spTree>
    <p:extLst>
      <p:ext uri="{BB962C8B-B14F-4D97-AF65-F5344CB8AC3E}">
        <p14:creationId xmlns:p14="http://schemas.microsoft.com/office/powerpoint/2010/main" val="3024999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8B5D7FB-1570-9C74-8269-A5395A3722CF}"/>
              </a:ext>
            </a:extLst>
          </p:cNvPr>
          <p:cNvSpPr>
            <a:spLocks noGrp="1"/>
          </p:cNvSpPr>
          <p:nvPr>
            <p:ph type="sldNum" sz="quarter" idx="10"/>
          </p:nvPr>
        </p:nvSpPr>
        <p:spPr/>
        <p:txBody>
          <a:bodyPr/>
          <a:lstStyle/>
          <a:p>
            <a:fld id="{9BF854DB-42D3-EE44-9486-1E8138C63EFC}" type="slidenum">
              <a:rPr lang="ja-JP" altLang="en-US" smtClean="0"/>
              <a:pPr/>
              <a:t>7</a:t>
            </a:fld>
            <a:endParaRPr lang="ja-JP" altLang="en-US"/>
          </a:p>
        </p:txBody>
      </p:sp>
      <p:pic>
        <p:nvPicPr>
          <p:cNvPr id="3" name="図 2">
            <a:extLst>
              <a:ext uri="{FF2B5EF4-FFF2-40B4-BE49-F238E27FC236}">
                <a16:creationId xmlns:a16="http://schemas.microsoft.com/office/drawing/2014/main" id="{02E6CE94-8057-8D3F-CBA7-9AA61B5D42FE}"/>
              </a:ext>
            </a:extLst>
          </p:cNvPr>
          <p:cNvPicPr>
            <a:picLocks noChangeAspect="1"/>
          </p:cNvPicPr>
          <p:nvPr/>
        </p:nvPicPr>
        <p:blipFill>
          <a:blip r:embed="rId3"/>
          <a:stretch>
            <a:fillRect/>
          </a:stretch>
        </p:blipFill>
        <p:spPr>
          <a:xfrm>
            <a:off x="1175880" y="1394588"/>
            <a:ext cx="8340051" cy="5462489"/>
          </a:xfrm>
          <a:prstGeom prst="rect">
            <a:avLst/>
          </a:prstGeom>
        </p:spPr>
      </p:pic>
      <p:sp>
        <p:nvSpPr>
          <p:cNvPr id="4" name="Rectangle 2">
            <a:extLst>
              <a:ext uri="{FF2B5EF4-FFF2-40B4-BE49-F238E27FC236}">
                <a16:creationId xmlns:a16="http://schemas.microsoft.com/office/drawing/2014/main" id="{68470480-DC91-D0D4-843A-3E40256945AB}"/>
              </a:ext>
            </a:extLst>
          </p:cNvPr>
          <p:cNvSpPr txBox="1">
            <a:spLocks noChangeArrowheads="1"/>
          </p:cNvSpPr>
          <p:nvPr/>
        </p:nvSpPr>
        <p:spPr>
          <a:xfrm>
            <a:off x="515924" y="392613"/>
            <a:ext cx="8820000" cy="720000"/>
          </a:xfrm>
          <a:prstGeom prst="rect">
            <a:avLst/>
          </a:prstGeom>
        </p:spPr>
        <p:txBody>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3968" dirty="0"/>
              <a:t>ＭＴＢＪの各部署つながり</a:t>
            </a:r>
            <a:r>
              <a:rPr lang="en-US" altLang="ja-JP" sz="3968" dirty="0"/>
              <a:t>(</a:t>
            </a:r>
            <a:r>
              <a:rPr lang="ja-JP" altLang="en-US" sz="3968" dirty="0"/>
              <a:t>投信）</a:t>
            </a:r>
          </a:p>
        </p:txBody>
      </p:sp>
      <p:sp>
        <p:nvSpPr>
          <p:cNvPr id="5" name="正方形/長方形 4">
            <a:extLst>
              <a:ext uri="{FF2B5EF4-FFF2-40B4-BE49-F238E27FC236}">
                <a16:creationId xmlns:a16="http://schemas.microsoft.com/office/drawing/2014/main" id="{FAF5080F-9EBE-80BF-818B-5F6D7DAAE031}"/>
              </a:ext>
            </a:extLst>
          </p:cNvPr>
          <p:cNvSpPr/>
          <p:nvPr/>
        </p:nvSpPr>
        <p:spPr>
          <a:xfrm>
            <a:off x="4765286" y="3579018"/>
            <a:ext cx="2483708" cy="4016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オルタナティブ管理部</a:t>
            </a:r>
          </a:p>
        </p:txBody>
      </p:sp>
    </p:spTree>
    <p:extLst>
      <p:ext uri="{BB962C8B-B14F-4D97-AF65-F5344CB8AC3E}">
        <p14:creationId xmlns:p14="http://schemas.microsoft.com/office/powerpoint/2010/main" val="2522177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88B760B-C911-54E4-716F-D627282B1148}"/>
              </a:ext>
            </a:extLst>
          </p:cNvPr>
          <p:cNvSpPr>
            <a:spLocks noGrp="1"/>
          </p:cNvSpPr>
          <p:nvPr>
            <p:ph type="sldNum" sz="quarter" idx="10"/>
          </p:nvPr>
        </p:nvSpPr>
        <p:spPr/>
        <p:txBody>
          <a:bodyPr/>
          <a:lstStyle/>
          <a:p>
            <a:fld id="{9BF854DB-42D3-EE44-9486-1E8138C63EFC}" type="slidenum">
              <a:rPr lang="ja-JP" altLang="en-US" smtClean="0"/>
              <a:pPr/>
              <a:t>8</a:t>
            </a:fld>
            <a:endParaRPr lang="ja-JP" altLang="en-US"/>
          </a:p>
        </p:txBody>
      </p:sp>
      <p:pic>
        <p:nvPicPr>
          <p:cNvPr id="3" name="図 2">
            <a:extLst>
              <a:ext uri="{FF2B5EF4-FFF2-40B4-BE49-F238E27FC236}">
                <a16:creationId xmlns:a16="http://schemas.microsoft.com/office/drawing/2014/main" id="{CA5211E8-09DC-FFF4-0338-BBAD4248D87E}"/>
              </a:ext>
            </a:extLst>
          </p:cNvPr>
          <p:cNvPicPr>
            <a:picLocks noChangeAspect="1"/>
          </p:cNvPicPr>
          <p:nvPr/>
        </p:nvPicPr>
        <p:blipFill>
          <a:blip r:embed="rId3"/>
          <a:stretch>
            <a:fillRect/>
          </a:stretch>
        </p:blipFill>
        <p:spPr>
          <a:xfrm>
            <a:off x="1191122" y="1792554"/>
            <a:ext cx="8309568" cy="5383235"/>
          </a:xfrm>
          <a:prstGeom prst="rect">
            <a:avLst/>
          </a:prstGeom>
        </p:spPr>
      </p:pic>
      <p:sp>
        <p:nvSpPr>
          <p:cNvPr id="4" name="Rectangle 2">
            <a:extLst>
              <a:ext uri="{FF2B5EF4-FFF2-40B4-BE49-F238E27FC236}">
                <a16:creationId xmlns:a16="http://schemas.microsoft.com/office/drawing/2014/main" id="{1BC8D8D6-B35A-4926-ADA1-47C3FCC47D1D}"/>
              </a:ext>
            </a:extLst>
          </p:cNvPr>
          <p:cNvSpPr txBox="1">
            <a:spLocks noChangeArrowheads="1"/>
          </p:cNvSpPr>
          <p:nvPr/>
        </p:nvSpPr>
        <p:spPr>
          <a:xfrm>
            <a:off x="515924" y="392613"/>
            <a:ext cx="8820000" cy="720000"/>
          </a:xfrm>
          <a:prstGeom prst="rect">
            <a:avLst/>
          </a:prstGeom>
        </p:spPr>
        <p:txBody>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3968" dirty="0"/>
              <a:t>ＭＴＢＪの各部署つながり（非信託）</a:t>
            </a:r>
          </a:p>
        </p:txBody>
      </p:sp>
      <p:sp>
        <p:nvSpPr>
          <p:cNvPr id="5" name="AutoShape 46">
            <a:extLst>
              <a:ext uri="{FF2B5EF4-FFF2-40B4-BE49-F238E27FC236}">
                <a16:creationId xmlns:a16="http://schemas.microsoft.com/office/drawing/2014/main" id="{4D7BC012-7195-2DFA-90EF-9CF096BEE576}"/>
              </a:ext>
            </a:extLst>
          </p:cNvPr>
          <p:cNvSpPr>
            <a:spLocks noChangeArrowheads="1"/>
          </p:cNvSpPr>
          <p:nvPr/>
        </p:nvSpPr>
        <p:spPr bwMode="auto">
          <a:xfrm>
            <a:off x="515924" y="1200594"/>
            <a:ext cx="2972220" cy="503978"/>
          </a:xfrm>
          <a:prstGeom prst="roundRect">
            <a:avLst>
              <a:gd name="adj" fmla="val 16667"/>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round/>
                <a:headEnd/>
                <a:tailEnd/>
              </a14:hiddenLine>
            </a:ext>
          </a:extLst>
        </p:spPr>
        <p:txBody>
          <a:bodyPr wrap="none"/>
          <a:lstStyle>
            <a:lvl1pPr eaLnBrk="0" hangingPunct="0">
              <a:defRPr kumimoji="1" sz="1600">
                <a:solidFill>
                  <a:schemeClr val="tx1"/>
                </a:solidFill>
                <a:latin typeface="Times New Roman" pitchFamily="18" charset="0"/>
                <a:ea typeface="HGPｺﾞｼｯｸE" pitchFamily="50" charset="-128"/>
              </a:defRPr>
            </a:lvl1pPr>
            <a:lvl2pPr marL="742950" indent="-285750" eaLnBrk="0" hangingPunct="0">
              <a:defRPr kumimoji="1" sz="1600">
                <a:solidFill>
                  <a:schemeClr val="tx1"/>
                </a:solidFill>
                <a:latin typeface="Times New Roman" pitchFamily="18" charset="0"/>
                <a:ea typeface="HGPｺﾞｼｯｸE" pitchFamily="50" charset="-128"/>
              </a:defRPr>
            </a:lvl2pPr>
            <a:lvl3pPr marL="1143000" indent="-228600" eaLnBrk="0" hangingPunct="0">
              <a:defRPr kumimoji="1" sz="1600">
                <a:solidFill>
                  <a:schemeClr val="tx1"/>
                </a:solidFill>
                <a:latin typeface="Times New Roman" pitchFamily="18" charset="0"/>
                <a:ea typeface="HGPｺﾞｼｯｸE" pitchFamily="50" charset="-128"/>
              </a:defRPr>
            </a:lvl3pPr>
            <a:lvl4pPr marL="1600200" indent="-228600" eaLnBrk="0" hangingPunct="0">
              <a:defRPr kumimoji="1" sz="1600">
                <a:solidFill>
                  <a:schemeClr val="tx1"/>
                </a:solidFill>
                <a:latin typeface="Times New Roman" pitchFamily="18" charset="0"/>
                <a:ea typeface="HGPｺﾞｼｯｸE" pitchFamily="50" charset="-128"/>
              </a:defRPr>
            </a:lvl4pPr>
            <a:lvl5pPr marL="2057400" indent="-228600" eaLnBrk="0" hangingPunct="0">
              <a:defRPr kumimoji="1" sz="1600">
                <a:solidFill>
                  <a:schemeClr val="tx1"/>
                </a:solidFill>
                <a:latin typeface="Times New Roman" pitchFamily="18" charset="0"/>
                <a:ea typeface="HGPｺﾞｼｯｸE" pitchFamily="50" charset="-128"/>
              </a:defRPr>
            </a:lvl5pPr>
            <a:lvl6pPr marL="25146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6pPr>
            <a:lvl7pPr marL="29718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7pPr>
            <a:lvl8pPr marL="34290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8pPr>
            <a:lvl9pPr marL="3886200" indent="-228600" algn="ctr" eaLnBrk="0" fontAlgn="base" hangingPunct="0">
              <a:spcBef>
                <a:spcPct val="50000"/>
              </a:spcBef>
              <a:spcAft>
                <a:spcPct val="0"/>
              </a:spcAft>
              <a:defRPr kumimoji="1" sz="1600">
                <a:solidFill>
                  <a:schemeClr val="tx1"/>
                </a:solidFill>
                <a:latin typeface="Times New Roman" pitchFamily="18" charset="0"/>
                <a:ea typeface="HGPｺﾞｼｯｸE" pitchFamily="50" charset="-128"/>
              </a:defRPr>
            </a:lvl9pPr>
          </a:lstStyle>
          <a:p>
            <a:pPr algn="l" eaLnBrk="1" hangingPunct="1"/>
            <a:r>
              <a:rPr lang="ja-JP" altLang="en-US" sz="2205" b="1" u="sng" dirty="0">
                <a:ea typeface="ＭＳ Ｐゴシック" pitchFamily="50" charset="-128"/>
              </a:rPr>
              <a:t>有価証券管理サービス</a:t>
            </a:r>
            <a:endParaRPr lang="ja-JP" altLang="en-US" sz="1323" b="1" u="sng" dirty="0">
              <a:ea typeface="ＭＳ Ｐゴシック" pitchFamily="50" charset="-128"/>
            </a:endParaRPr>
          </a:p>
        </p:txBody>
      </p:sp>
    </p:spTree>
    <p:extLst>
      <p:ext uri="{BB962C8B-B14F-4D97-AF65-F5344CB8AC3E}">
        <p14:creationId xmlns:p14="http://schemas.microsoft.com/office/powerpoint/2010/main" val="891847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9</a:t>
            </a:fld>
            <a:endParaRPr lang="ja-JP" altLang="en-US" dirty="0"/>
          </a:p>
        </p:txBody>
      </p:sp>
      <p:sp>
        <p:nvSpPr>
          <p:cNvPr id="5" name="タイトル 4">
            <a:extLst>
              <a:ext uri="{FF2B5EF4-FFF2-40B4-BE49-F238E27FC236}">
                <a16:creationId xmlns:a16="http://schemas.microsoft.com/office/drawing/2014/main" id="{7C6C2618-950B-8141-2752-FBBEF7620045}"/>
              </a:ext>
            </a:extLst>
          </p:cNvPr>
          <p:cNvSpPr>
            <a:spLocks noGrp="1"/>
          </p:cNvSpPr>
          <p:nvPr>
            <p:ph type="title"/>
          </p:nvPr>
        </p:nvSpPr>
        <p:spPr/>
        <p:txBody>
          <a:bodyPr/>
          <a:lstStyle/>
          <a:p>
            <a:r>
              <a:rPr kumimoji="1" lang="ja-JP" altLang="en-US" dirty="0"/>
              <a:t>各部署のつながり（まとめ） 　</a:t>
            </a:r>
          </a:p>
        </p:txBody>
      </p:sp>
      <p:graphicFrame>
        <p:nvGraphicFramePr>
          <p:cNvPr id="31" name="表 30">
            <a:extLst>
              <a:ext uri="{FF2B5EF4-FFF2-40B4-BE49-F238E27FC236}">
                <a16:creationId xmlns:a16="http://schemas.microsoft.com/office/drawing/2014/main" id="{61D1775D-E77E-99D9-63AC-C2E346FE7855}"/>
              </a:ext>
            </a:extLst>
          </p:cNvPr>
          <p:cNvGraphicFramePr>
            <a:graphicFrameLocks noGrp="1"/>
          </p:cNvGraphicFramePr>
          <p:nvPr/>
        </p:nvGraphicFramePr>
        <p:xfrm>
          <a:off x="1248593" y="1451355"/>
          <a:ext cx="8208913" cy="5441092"/>
        </p:xfrm>
        <a:graphic>
          <a:graphicData uri="http://schemas.openxmlformats.org/drawingml/2006/table">
            <a:tbl>
              <a:tblPr firstRow="1" bandRow="1">
                <a:tableStyleId>{2D5ABB26-0587-4C30-8999-92F81FD0307C}</a:tableStyleId>
              </a:tblPr>
              <a:tblGrid>
                <a:gridCol w="1329061">
                  <a:extLst>
                    <a:ext uri="{9D8B030D-6E8A-4147-A177-3AD203B41FA5}">
                      <a16:colId xmlns:a16="http://schemas.microsoft.com/office/drawing/2014/main" val="20000"/>
                    </a:ext>
                  </a:extLst>
                </a:gridCol>
                <a:gridCol w="903188">
                  <a:extLst>
                    <a:ext uri="{9D8B030D-6E8A-4147-A177-3AD203B41FA5}">
                      <a16:colId xmlns:a16="http://schemas.microsoft.com/office/drawing/2014/main" val="20001"/>
                    </a:ext>
                  </a:extLst>
                </a:gridCol>
                <a:gridCol w="3168352">
                  <a:extLst>
                    <a:ext uri="{9D8B030D-6E8A-4147-A177-3AD203B41FA5}">
                      <a16:colId xmlns:a16="http://schemas.microsoft.com/office/drawing/2014/main" val="20002"/>
                    </a:ext>
                  </a:extLst>
                </a:gridCol>
                <a:gridCol w="2808312">
                  <a:extLst>
                    <a:ext uri="{9D8B030D-6E8A-4147-A177-3AD203B41FA5}">
                      <a16:colId xmlns:a16="http://schemas.microsoft.com/office/drawing/2014/main" val="20003"/>
                    </a:ext>
                  </a:extLst>
                </a:gridCol>
              </a:tblGrid>
              <a:tr h="517226">
                <a:tc gridSpan="2">
                  <a:txBody>
                    <a:bodyPr/>
                    <a:lstStyle/>
                    <a:p>
                      <a:r>
                        <a:rPr kumimoji="1" lang="ja-JP" altLang="en-US" dirty="0"/>
                        <a:t>　　　　　　　　　　　</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pPr algn="ctr"/>
                      <a:r>
                        <a:rPr kumimoji="1" lang="ja-JP" altLang="en-US" dirty="0"/>
                        <a:t>非投信</a:t>
                      </a:r>
                      <a:r>
                        <a:rPr kumimoji="1" lang="ja-JP" altLang="en-US" sz="1600" dirty="0"/>
                        <a:t>（証券信託、年金信託等）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dirty="0"/>
                        <a:t>投信（投資信託）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5673">
                <a:tc gridSpan="2">
                  <a:txBody>
                    <a:bodyPr/>
                    <a:lstStyle/>
                    <a:p>
                      <a:r>
                        <a:rPr kumimoji="1" lang="ja-JP" altLang="en-US" sz="1600" dirty="0"/>
                        <a:t>契約管理・信託金受入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5420">
                <a:tc rowSpan="2">
                  <a:txBody>
                    <a:bodyPr/>
                    <a:lstStyle/>
                    <a:p>
                      <a:r>
                        <a:rPr kumimoji="1" lang="ja-JP" altLang="en-US" dirty="0"/>
                        <a:t>約定・決済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a:t>国内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5420">
                <a:tc vMerge="1">
                  <a:txBody>
                    <a:bodyPr/>
                    <a:lstStyle/>
                    <a:p>
                      <a:endParaRPr kumimoji="1" lang="ja-JP"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a:t>外国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0003"/>
                  </a:ext>
                </a:extLst>
              </a:tr>
              <a:tr h="418757">
                <a:tc rowSpan="2">
                  <a:txBody>
                    <a:bodyPr/>
                    <a:lstStyle/>
                    <a:p>
                      <a:r>
                        <a:rPr kumimoji="1" lang="ja-JP" altLang="en-US" dirty="0"/>
                        <a:t>権利処理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国内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0004"/>
                  </a:ext>
                </a:extLst>
              </a:tr>
              <a:tr h="386517">
                <a:tc vMerge="1">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t>外国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0005"/>
                  </a:ext>
                </a:extLst>
              </a:tr>
              <a:tr h="386517">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700" dirty="0"/>
                        <a:t>非伝統資産領域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86517">
                <a:tc gridSpan="2">
                  <a:txBody>
                    <a:bodyPr/>
                    <a:lstStyle/>
                    <a:p>
                      <a:r>
                        <a:rPr kumimoji="1" lang="ja-JP" altLang="en-US" sz="1700" dirty="0"/>
                        <a:t>運用報告（基準価額）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828813"/>
                  </a:ext>
                </a:extLst>
              </a:tr>
              <a:tr h="415423">
                <a:tc gridSpan="2">
                  <a:txBody>
                    <a:bodyPr/>
                    <a:lstStyle/>
                    <a:p>
                      <a:r>
                        <a:rPr kumimoji="1" lang="ja-JP" altLang="en-US" sz="1800" dirty="0"/>
                        <a:t>貸借取引等運用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15423">
                <a:tc gridSpan="2">
                  <a:txBody>
                    <a:bodyPr/>
                    <a:lstStyle/>
                    <a:p>
                      <a:r>
                        <a:rPr kumimoji="1" lang="ja-JP" altLang="en-US" sz="1800" dirty="0"/>
                        <a:t>大阪オフィス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15423">
                <a:tc gridSpan="2">
                  <a:txBody>
                    <a:bodyPr/>
                    <a:lstStyle/>
                    <a:p>
                      <a:r>
                        <a:rPr kumimoji="1" lang="ja-JP" altLang="en-US" sz="1800" dirty="0"/>
                        <a:t>顧客事務代行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ysDashDot"/>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ysDashDot"/>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0009"/>
                  </a:ext>
                </a:extLst>
              </a:tr>
              <a:tr h="415423">
                <a:tc gridSpan="2">
                  <a:txBody>
                    <a:bodyPr/>
                    <a:lstStyle/>
                    <a:p>
                      <a:r>
                        <a:rPr kumimoji="1" lang="ja-JP" altLang="en-US" dirty="0"/>
                        <a:t>顧客窓口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Dot"/>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endParaRPr kumimoji="1" lang="ja-JP" altLang="en-US"/>
                    </a:p>
                  </a:txBody>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Dot"/>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ysDashDot"/>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415423">
                <a:tc gridSpan="2">
                  <a:txBody>
                    <a:bodyPr/>
                    <a:lstStyle/>
                    <a:p>
                      <a:r>
                        <a:rPr kumimoji="1" lang="ja-JP" altLang="en-US" sz="1800" dirty="0"/>
                        <a:t>資産管理業務統括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gridSpan="2">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0011"/>
                  </a:ext>
                </a:extLst>
              </a:tr>
            </a:tbl>
          </a:graphicData>
        </a:graphic>
      </p:graphicFrame>
      <p:cxnSp>
        <p:nvCxnSpPr>
          <p:cNvPr id="34" name="直線コネクタ 33">
            <a:extLst>
              <a:ext uri="{FF2B5EF4-FFF2-40B4-BE49-F238E27FC236}">
                <a16:creationId xmlns:a16="http://schemas.microsoft.com/office/drawing/2014/main" id="{D3470B57-64BC-1E1D-7F56-8422C151F0CD}"/>
              </a:ext>
            </a:extLst>
          </p:cNvPr>
          <p:cNvCxnSpPr/>
          <p:nvPr/>
        </p:nvCxnSpPr>
        <p:spPr bwMode="auto">
          <a:xfrm flipH="1" flipV="1">
            <a:off x="1243346" y="1470835"/>
            <a:ext cx="2173272" cy="4490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テキスト ボックス 34">
            <a:extLst>
              <a:ext uri="{FF2B5EF4-FFF2-40B4-BE49-F238E27FC236}">
                <a16:creationId xmlns:a16="http://schemas.microsoft.com/office/drawing/2014/main" id="{FD58A96D-EAB4-2FF7-85DF-E33419A0E93D}"/>
              </a:ext>
            </a:extLst>
          </p:cNvPr>
          <p:cNvSpPr txBox="1"/>
          <p:nvPr/>
        </p:nvSpPr>
        <p:spPr>
          <a:xfrm>
            <a:off x="3778945" y="2823630"/>
            <a:ext cx="2665290" cy="369332"/>
          </a:xfrm>
          <a:prstGeom prst="rect">
            <a:avLst/>
          </a:prstGeom>
          <a:solidFill>
            <a:srgbClr val="99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外国資産管理部</a:t>
            </a:r>
          </a:p>
        </p:txBody>
      </p:sp>
      <p:sp>
        <p:nvSpPr>
          <p:cNvPr id="36" name="テキスト ボックス 35">
            <a:extLst>
              <a:ext uri="{FF2B5EF4-FFF2-40B4-BE49-F238E27FC236}">
                <a16:creationId xmlns:a16="http://schemas.microsoft.com/office/drawing/2014/main" id="{1EE175B6-8CE3-383F-B8E1-A91DF44545E5}"/>
              </a:ext>
            </a:extLst>
          </p:cNvPr>
          <p:cNvSpPr txBox="1"/>
          <p:nvPr/>
        </p:nvSpPr>
        <p:spPr>
          <a:xfrm>
            <a:off x="3778943" y="2001662"/>
            <a:ext cx="2654049" cy="385407"/>
          </a:xfrm>
          <a:prstGeom prst="rect">
            <a:avLst/>
          </a:prstGeom>
          <a:solidFill>
            <a:srgbClr val="FFCCFF"/>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sz="1800" dirty="0"/>
              <a:t>ファンド管理部</a:t>
            </a:r>
            <a:endParaRPr kumimoji="1" lang="ja-JP" altLang="en-US" sz="1800" dirty="0"/>
          </a:p>
        </p:txBody>
      </p:sp>
      <p:sp>
        <p:nvSpPr>
          <p:cNvPr id="37" name="テキスト ボックス 36">
            <a:extLst>
              <a:ext uri="{FF2B5EF4-FFF2-40B4-BE49-F238E27FC236}">
                <a16:creationId xmlns:a16="http://schemas.microsoft.com/office/drawing/2014/main" id="{358C413C-BA3D-7493-FB4A-69F9724AC473}"/>
              </a:ext>
            </a:extLst>
          </p:cNvPr>
          <p:cNvSpPr txBox="1"/>
          <p:nvPr/>
        </p:nvSpPr>
        <p:spPr>
          <a:xfrm>
            <a:off x="6928841" y="1985887"/>
            <a:ext cx="2356631" cy="401182"/>
          </a:xfrm>
          <a:prstGeom prst="rect">
            <a:avLst/>
          </a:prstGeom>
          <a:solidFill>
            <a:srgbClr val="FFCC99"/>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dirty="0"/>
              <a:t>投資信託部</a:t>
            </a:r>
            <a:endParaRPr lang="en-US" altLang="ja-JP" dirty="0"/>
          </a:p>
        </p:txBody>
      </p:sp>
      <p:sp>
        <p:nvSpPr>
          <p:cNvPr id="38" name="テキスト ボックス 37">
            <a:extLst>
              <a:ext uri="{FF2B5EF4-FFF2-40B4-BE49-F238E27FC236}">
                <a16:creationId xmlns:a16="http://schemas.microsoft.com/office/drawing/2014/main" id="{CC486DE4-7CE3-7B34-FA7A-CF965F0001B8}"/>
              </a:ext>
            </a:extLst>
          </p:cNvPr>
          <p:cNvSpPr txBox="1"/>
          <p:nvPr/>
        </p:nvSpPr>
        <p:spPr>
          <a:xfrm>
            <a:off x="3778947" y="4457375"/>
            <a:ext cx="2670702" cy="311143"/>
          </a:xfrm>
          <a:prstGeom prst="rect">
            <a:avLst/>
          </a:prstGeom>
          <a:solidFill>
            <a:srgbClr val="FFCCFF"/>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kumimoji="1" lang="ja-JP" altLang="en-US" sz="1800" dirty="0"/>
              <a:t>ファンド管理部</a:t>
            </a:r>
          </a:p>
        </p:txBody>
      </p:sp>
      <p:sp>
        <p:nvSpPr>
          <p:cNvPr id="39" name="テキスト ボックス 38">
            <a:extLst>
              <a:ext uri="{FF2B5EF4-FFF2-40B4-BE49-F238E27FC236}">
                <a16:creationId xmlns:a16="http://schemas.microsoft.com/office/drawing/2014/main" id="{076F53EA-30B7-9F36-BE6F-9CE2BB851263}"/>
              </a:ext>
            </a:extLst>
          </p:cNvPr>
          <p:cNvSpPr txBox="1"/>
          <p:nvPr/>
        </p:nvSpPr>
        <p:spPr>
          <a:xfrm>
            <a:off x="6928839" y="2460461"/>
            <a:ext cx="2367845" cy="1546835"/>
          </a:xfrm>
          <a:prstGeom prst="rect">
            <a:avLst/>
          </a:prstGeom>
          <a:solidFill>
            <a:srgbClr val="FFC000"/>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sz="1800" dirty="0"/>
              <a:t>投資信託部</a:t>
            </a:r>
            <a:endParaRPr kumimoji="1" lang="en-US" altLang="ja-JP" sz="1800" dirty="0"/>
          </a:p>
          <a:p>
            <a:endParaRPr kumimoji="1" lang="ja-JP" altLang="en-US" dirty="0"/>
          </a:p>
        </p:txBody>
      </p:sp>
      <p:sp>
        <p:nvSpPr>
          <p:cNvPr id="40" name="テキスト ボックス 39">
            <a:extLst>
              <a:ext uri="{FF2B5EF4-FFF2-40B4-BE49-F238E27FC236}">
                <a16:creationId xmlns:a16="http://schemas.microsoft.com/office/drawing/2014/main" id="{7E45623C-C5C5-4160-DA83-191669F5E0A8}"/>
              </a:ext>
            </a:extLst>
          </p:cNvPr>
          <p:cNvSpPr txBox="1"/>
          <p:nvPr/>
        </p:nvSpPr>
        <p:spPr>
          <a:xfrm>
            <a:off x="3778945" y="2422835"/>
            <a:ext cx="2665290" cy="369332"/>
          </a:xfrm>
          <a:prstGeom prst="rect">
            <a:avLst/>
          </a:prstGeom>
          <a:solidFill>
            <a:srgbClr val="FF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国内資産管理部</a:t>
            </a:r>
          </a:p>
        </p:txBody>
      </p:sp>
      <p:sp>
        <p:nvSpPr>
          <p:cNvPr id="41" name="テキスト ボックス 40">
            <a:extLst>
              <a:ext uri="{FF2B5EF4-FFF2-40B4-BE49-F238E27FC236}">
                <a16:creationId xmlns:a16="http://schemas.microsoft.com/office/drawing/2014/main" id="{2CB0D1B1-AFD3-2748-B8F8-320C7F8911F6}"/>
              </a:ext>
            </a:extLst>
          </p:cNvPr>
          <p:cNvSpPr txBox="1"/>
          <p:nvPr/>
        </p:nvSpPr>
        <p:spPr>
          <a:xfrm>
            <a:off x="3778946" y="3652234"/>
            <a:ext cx="3119032" cy="369332"/>
          </a:xfrm>
          <a:prstGeom prst="rect">
            <a:avLst/>
          </a:prstGeom>
          <a:solidFill>
            <a:srgbClr val="99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外国資産管理部、市場管理部</a:t>
            </a:r>
          </a:p>
        </p:txBody>
      </p:sp>
      <p:sp>
        <p:nvSpPr>
          <p:cNvPr id="42" name="テキスト ボックス 41">
            <a:extLst>
              <a:ext uri="{FF2B5EF4-FFF2-40B4-BE49-F238E27FC236}">
                <a16:creationId xmlns:a16="http://schemas.microsoft.com/office/drawing/2014/main" id="{3D58E80D-07DB-BB82-6048-711582700F13}"/>
              </a:ext>
            </a:extLst>
          </p:cNvPr>
          <p:cNvSpPr txBox="1"/>
          <p:nvPr/>
        </p:nvSpPr>
        <p:spPr>
          <a:xfrm>
            <a:off x="6944626" y="4442522"/>
            <a:ext cx="2352058" cy="326304"/>
          </a:xfrm>
          <a:prstGeom prst="rect">
            <a:avLst/>
          </a:prstGeom>
          <a:solidFill>
            <a:srgbClr val="FFCC99"/>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lang="ja-JP" altLang="en-US" dirty="0"/>
              <a:t>投資信託部</a:t>
            </a:r>
            <a:endParaRPr lang="en-US" altLang="ja-JP" dirty="0"/>
          </a:p>
        </p:txBody>
      </p:sp>
      <p:sp>
        <p:nvSpPr>
          <p:cNvPr id="43" name="正方形/長方形 42">
            <a:extLst>
              <a:ext uri="{FF2B5EF4-FFF2-40B4-BE49-F238E27FC236}">
                <a16:creationId xmlns:a16="http://schemas.microsoft.com/office/drawing/2014/main" id="{DDE7600C-B9B0-1A8E-2BC2-07D853E895F5}"/>
              </a:ext>
            </a:extLst>
          </p:cNvPr>
          <p:cNvSpPr/>
          <p:nvPr/>
        </p:nvSpPr>
        <p:spPr>
          <a:xfrm>
            <a:off x="2785091" y="1453966"/>
            <a:ext cx="646331" cy="369332"/>
          </a:xfrm>
          <a:prstGeom prst="rect">
            <a:avLst/>
          </a:prstGeom>
        </p:spPr>
        <p:txBody>
          <a:bodyPr wrap="none">
            <a:spAutoFit/>
          </a:bodyPr>
          <a:lstStyle/>
          <a:p>
            <a:r>
              <a:rPr lang="ja-JP" altLang="en-US" sz="1800" dirty="0"/>
              <a:t>種類</a:t>
            </a:r>
            <a:endParaRPr lang="en-US" altLang="ja-JP" sz="1800" dirty="0"/>
          </a:p>
        </p:txBody>
      </p:sp>
      <p:sp>
        <p:nvSpPr>
          <p:cNvPr id="44" name="テキスト ボックス 43">
            <a:extLst>
              <a:ext uri="{FF2B5EF4-FFF2-40B4-BE49-F238E27FC236}">
                <a16:creationId xmlns:a16="http://schemas.microsoft.com/office/drawing/2014/main" id="{844F5C52-86DA-8697-915B-A8625834A1B9}"/>
              </a:ext>
            </a:extLst>
          </p:cNvPr>
          <p:cNvSpPr txBox="1"/>
          <p:nvPr/>
        </p:nvSpPr>
        <p:spPr>
          <a:xfrm>
            <a:off x="3792757" y="4805959"/>
            <a:ext cx="5503927" cy="369332"/>
          </a:xfrm>
          <a:prstGeom prst="rect">
            <a:avLst/>
          </a:prstGeom>
          <a:solidFill>
            <a:schemeClr val="accent3">
              <a:lumMod val="85000"/>
            </a:schemeClr>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証券取引執行部</a:t>
            </a:r>
          </a:p>
        </p:txBody>
      </p:sp>
      <p:sp>
        <p:nvSpPr>
          <p:cNvPr id="45" name="テキスト ボックス 44">
            <a:extLst>
              <a:ext uri="{FF2B5EF4-FFF2-40B4-BE49-F238E27FC236}">
                <a16:creationId xmlns:a16="http://schemas.microsoft.com/office/drawing/2014/main" id="{3D240615-A298-ABE3-D71B-039465A88987}"/>
              </a:ext>
            </a:extLst>
          </p:cNvPr>
          <p:cNvSpPr txBox="1"/>
          <p:nvPr/>
        </p:nvSpPr>
        <p:spPr>
          <a:xfrm>
            <a:off x="3763287" y="6103064"/>
            <a:ext cx="5506383" cy="762129"/>
          </a:xfrm>
          <a:prstGeom prst="rect">
            <a:avLst/>
          </a:prstGeom>
          <a:solidFill>
            <a:srgbClr val="FFFF00"/>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nchor="ctr" anchorCtr="0">
            <a:noAutofit/>
          </a:bodyPr>
          <a:lstStyle/>
          <a:p>
            <a:r>
              <a:rPr kumimoji="1" lang="ja-JP" altLang="en-US" sz="1800" dirty="0"/>
              <a:t>業務企画推進部</a:t>
            </a:r>
            <a:r>
              <a:rPr kumimoji="1" lang="en-US" altLang="ja-JP" sz="1800" dirty="0"/>
              <a:t>/</a:t>
            </a:r>
            <a:r>
              <a:rPr kumimoji="1" lang="en-US" altLang="ja-JP" sz="1200" dirty="0"/>
              <a:t>GPIF</a:t>
            </a:r>
            <a:r>
              <a:rPr kumimoji="1" lang="ja-JP" altLang="en-US" sz="1200" dirty="0"/>
              <a:t>室、</a:t>
            </a:r>
            <a:r>
              <a:rPr lang="ja-JP" altLang="en-US" sz="1200" dirty="0"/>
              <a:t>クライアントサービス室</a:t>
            </a:r>
            <a:endParaRPr kumimoji="1" lang="en-US" altLang="ja-JP" sz="1200" dirty="0"/>
          </a:p>
          <a:p>
            <a:r>
              <a:rPr lang="ja-JP" altLang="en-US" sz="1200" dirty="0"/>
              <a:t>業務企画</a:t>
            </a:r>
            <a:r>
              <a:rPr lang="en-US" altLang="ja-JP" sz="1200" dirty="0"/>
              <a:t>G</a:t>
            </a:r>
            <a:r>
              <a:rPr lang="ja-JP" altLang="en-US" sz="1200" dirty="0"/>
              <a:t>、海外推進</a:t>
            </a:r>
            <a:r>
              <a:rPr lang="en-US" altLang="ja-JP" sz="1200" dirty="0"/>
              <a:t>G</a:t>
            </a:r>
            <a:r>
              <a:rPr lang="ja-JP" altLang="en-US" sz="1200" dirty="0"/>
              <a:t>、事務</a:t>
            </a:r>
            <a:r>
              <a:rPr lang="en-US" altLang="ja-JP" sz="1200" dirty="0"/>
              <a:t>IT</a:t>
            </a:r>
            <a:r>
              <a:rPr lang="ja-JP" altLang="en-US" sz="1200" dirty="0"/>
              <a:t>企画室、</a:t>
            </a:r>
            <a:endParaRPr lang="en-US" altLang="ja-JP" sz="1200" dirty="0"/>
          </a:p>
          <a:p>
            <a:r>
              <a:rPr lang="ja-JP" altLang="en-US" sz="1200" dirty="0"/>
              <a:t>アーキテクチャ戦略室、生保資産管理準備室</a:t>
            </a:r>
            <a:endParaRPr kumimoji="1" lang="ja-JP" altLang="en-US" sz="1200" dirty="0"/>
          </a:p>
        </p:txBody>
      </p:sp>
      <p:sp>
        <p:nvSpPr>
          <p:cNvPr id="46" name="正方形/長方形 45">
            <a:extLst>
              <a:ext uri="{FF2B5EF4-FFF2-40B4-BE49-F238E27FC236}">
                <a16:creationId xmlns:a16="http://schemas.microsoft.com/office/drawing/2014/main" id="{8F19F22E-A095-27E3-0B66-2BCDB901E6DA}"/>
              </a:ext>
            </a:extLst>
          </p:cNvPr>
          <p:cNvSpPr/>
          <p:nvPr/>
        </p:nvSpPr>
        <p:spPr>
          <a:xfrm>
            <a:off x="1333221" y="1670430"/>
            <a:ext cx="646332" cy="369332"/>
          </a:xfrm>
          <a:prstGeom prst="rect">
            <a:avLst/>
          </a:prstGeom>
        </p:spPr>
        <p:txBody>
          <a:bodyPr wrap="none">
            <a:spAutoFit/>
          </a:bodyPr>
          <a:lstStyle/>
          <a:p>
            <a:r>
              <a:rPr lang="ja-JP" altLang="en-US" sz="1800" dirty="0"/>
              <a:t>業務</a:t>
            </a:r>
            <a:endParaRPr lang="en-US" altLang="ja-JP" sz="1800" dirty="0"/>
          </a:p>
        </p:txBody>
      </p:sp>
      <p:sp>
        <p:nvSpPr>
          <p:cNvPr id="47" name="テキスト ボックス 46">
            <a:extLst>
              <a:ext uri="{FF2B5EF4-FFF2-40B4-BE49-F238E27FC236}">
                <a16:creationId xmlns:a16="http://schemas.microsoft.com/office/drawing/2014/main" id="{E064E01B-C5FD-4696-0ECB-1B36ADE039B8}"/>
              </a:ext>
            </a:extLst>
          </p:cNvPr>
          <p:cNvSpPr txBox="1"/>
          <p:nvPr/>
        </p:nvSpPr>
        <p:spPr>
          <a:xfrm>
            <a:off x="3778947" y="5660340"/>
            <a:ext cx="5517737" cy="369332"/>
          </a:xfrm>
          <a:prstGeom prst="rect">
            <a:avLst/>
          </a:prstGeom>
          <a:solidFill>
            <a:srgbClr val="33CCFF"/>
          </a:solidFill>
          <a:ln w="3175">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運用管理部、市場決済領域</a:t>
            </a:r>
          </a:p>
        </p:txBody>
      </p:sp>
      <p:sp>
        <p:nvSpPr>
          <p:cNvPr id="48" name="テキスト ボックス 47">
            <a:extLst>
              <a:ext uri="{FF2B5EF4-FFF2-40B4-BE49-F238E27FC236}">
                <a16:creationId xmlns:a16="http://schemas.microsoft.com/office/drawing/2014/main" id="{D5B8C6EE-DB2A-8EA2-00A5-B8474554B0AF}"/>
              </a:ext>
            </a:extLst>
          </p:cNvPr>
          <p:cNvSpPr txBox="1"/>
          <p:nvPr/>
        </p:nvSpPr>
        <p:spPr>
          <a:xfrm>
            <a:off x="3778945" y="3233508"/>
            <a:ext cx="3119033" cy="369332"/>
          </a:xfrm>
          <a:prstGeom prst="rect">
            <a:avLst/>
          </a:prstGeom>
          <a:solidFill>
            <a:srgbClr val="FFFFCC"/>
          </a:solidFill>
          <a:ln w="3175">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国内資産管理部</a:t>
            </a:r>
          </a:p>
        </p:txBody>
      </p:sp>
      <p:sp>
        <p:nvSpPr>
          <p:cNvPr id="49" name="テキスト ボックス 48">
            <a:extLst>
              <a:ext uri="{FF2B5EF4-FFF2-40B4-BE49-F238E27FC236}">
                <a16:creationId xmlns:a16="http://schemas.microsoft.com/office/drawing/2014/main" id="{2E581AFE-262E-C1F1-72B6-62D7C92756CC}"/>
              </a:ext>
            </a:extLst>
          </p:cNvPr>
          <p:cNvSpPr txBox="1"/>
          <p:nvPr/>
        </p:nvSpPr>
        <p:spPr>
          <a:xfrm>
            <a:off x="3778947" y="5237584"/>
            <a:ext cx="5517737" cy="369332"/>
          </a:xfrm>
          <a:prstGeom prst="rect">
            <a:avLst/>
          </a:prstGeom>
          <a:solidFill>
            <a:srgbClr val="99CCFF"/>
          </a:solidFill>
          <a:ln w="3175">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800" dirty="0"/>
              <a:t>大阪資産管理部</a:t>
            </a:r>
          </a:p>
        </p:txBody>
      </p:sp>
      <p:sp>
        <p:nvSpPr>
          <p:cNvPr id="50" name="テキスト ボックス 49">
            <a:extLst>
              <a:ext uri="{FF2B5EF4-FFF2-40B4-BE49-F238E27FC236}">
                <a16:creationId xmlns:a16="http://schemas.microsoft.com/office/drawing/2014/main" id="{5B7E4EF1-43A6-9F52-07BF-5A46E666C456}"/>
              </a:ext>
            </a:extLst>
          </p:cNvPr>
          <p:cNvSpPr txBox="1">
            <a:spLocks/>
          </p:cNvSpPr>
          <p:nvPr/>
        </p:nvSpPr>
        <p:spPr>
          <a:xfrm>
            <a:off x="3775506" y="4056081"/>
            <a:ext cx="5530418" cy="326304"/>
          </a:xfrm>
          <a:prstGeom prst="rect">
            <a:avLst/>
          </a:prstGeom>
          <a:solidFill>
            <a:srgbClr val="99CCFF"/>
          </a:solidFill>
          <a:ln w="3175">
            <a:noFill/>
          </a:ln>
        </p:spPr>
        <p:style>
          <a:lnRef idx="2">
            <a:schemeClr val="dk1"/>
          </a:lnRef>
          <a:fillRef idx="1">
            <a:schemeClr val="lt1"/>
          </a:fillRef>
          <a:effectRef idx="0">
            <a:schemeClr val="dk1"/>
          </a:effectRef>
          <a:fontRef idx="minor">
            <a:schemeClr val="dk1"/>
          </a:fontRef>
        </p:style>
        <p:txBody>
          <a:bodyPr wrap="square" rtlCol="0">
            <a:noAutofit/>
          </a:bodyPr>
          <a:lstStyle/>
          <a:p>
            <a:r>
              <a:rPr kumimoji="1" lang="ja-JP" altLang="en-US" sz="1800" dirty="0"/>
              <a:t>デリバティブ管理部、オルタナティブ管理部</a:t>
            </a:r>
          </a:p>
        </p:txBody>
      </p:sp>
    </p:spTree>
    <p:extLst>
      <p:ext uri="{BB962C8B-B14F-4D97-AF65-F5344CB8AC3E}">
        <p14:creationId xmlns:p14="http://schemas.microsoft.com/office/powerpoint/2010/main" val="2388891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outVertical)">
                                      <p:cBhvr>
                                        <p:cTn id="7" dur="500"/>
                                        <p:tgtEl>
                                          <p:spTgt spid="36"/>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barn(outVertical)">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barn(outVertical)">
                                      <p:cBhvr>
                                        <p:cTn id="15" dur="500"/>
                                        <p:tgtEl>
                                          <p:spTgt spid="40"/>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barn(outVertical)">
                                      <p:cBhvr>
                                        <p:cTn id="18" dur="5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barn(outVertical)">
                                      <p:cBhvr>
                                        <p:cTn id="28" dur="500"/>
                                        <p:tgtEl>
                                          <p:spTgt spid="50"/>
                                        </p:tgtEl>
                                      </p:cBhvr>
                                    </p:animEffect>
                                  </p:childTnLst>
                                </p:cTn>
                              </p:par>
                              <p:par>
                                <p:cTn id="29" presetID="16" presetClass="entr" presetSubtype="37"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barn(outVertical)">
                                      <p:cBhvr>
                                        <p:cTn id="31" dur="500"/>
                                        <p:tgtEl>
                                          <p:spTgt spid="48"/>
                                        </p:tgtEl>
                                      </p:cBhvr>
                                    </p:animEffect>
                                  </p:childTnLst>
                                </p:cTn>
                              </p:par>
                              <p:par>
                                <p:cTn id="32" presetID="16" presetClass="entr" presetSubtype="37" fill="hold" grpId="0"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barn(outVertical)">
                                      <p:cBhvr>
                                        <p:cTn id="34" dur="500"/>
                                        <p:tgtEl>
                                          <p:spTgt spid="4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arn(outVertical)">
                                      <p:cBhvr>
                                        <p:cTn id="39" dur="500"/>
                                        <p:tgtEl>
                                          <p:spTgt spid="38"/>
                                        </p:tgtEl>
                                      </p:cBhvr>
                                    </p:animEffect>
                                  </p:childTnLst>
                                </p:cTn>
                              </p:par>
                              <p:par>
                                <p:cTn id="40" presetID="16" presetClass="entr" presetSubtype="37"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barn(outVertical)">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37"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barn(outVertical)">
                                      <p:cBhvr>
                                        <p:cTn id="47" dur="5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barn(outVertical)">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37"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barn(outVertical)">
                                      <p:cBhvr>
                                        <p:cTn id="57" dur="5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37"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barn(outVertical)">
                                      <p:cBhvr>
                                        <p:cTn id="6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4" grpId="0" animBg="1"/>
      <p:bldP spid="45" grpId="0" animBg="1"/>
      <p:bldP spid="47" grpId="0" animBg="1"/>
      <p:bldP spid="48" grpId="0" animBg="1"/>
      <p:bldP spid="49" grpId="0" animBg="1"/>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10</a:t>
            </a:fld>
            <a:endParaRPr lang="ja-JP" altLang="en-US"/>
          </a:p>
        </p:txBody>
      </p:sp>
      <p:pic>
        <p:nvPicPr>
          <p:cNvPr id="5" name="図 4" descr="図形, 円&#10;&#10;自動的に生成された説明">
            <a:extLst>
              <a:ext uri="{FF2B5EF4-FFF2-40B4-BE49-F238E27FC236}">
                <a16:creationId xmlns:a16="http://schemas.microsoft.com/office/drawing/2014/main" id="{91BA5702-31F3-4085-077E-700BBAC839B7}"/>
              </a:ext>
            </a:extLst>
          </p:cNvPr>
          <p:cNvPicPr>
            <a:picLocks noChangeAspect="1"/>
          </p:cNvPicPr>
          <p:nvPr/>
        </p:nvPicPr>
        <p:blipFill>
          <a:blip r:embed="rId2"/>
          <a:stretch>
            <a:fillRect/>
          </a:stretch>
        </p:blipFill>
        <p:spPr>
          <a:xfrm>
            <a:off x="7091813" y="0"/>
            <a:ext cx="3600000" cy="3600000"/>
          </a:xfrm>
          <a:prstGeom prst="rect">
            <a:avLst/>
          </a:prstGeom>
        </p:spPr>
      </p:pic>
      <p:pic>
        <p:nvPicPr>
          <p:cNvPr id="6" name="図 5">
            <a:extLst>
              <a:ext uri="{FF2B5EF4-FFF2-40B4-BE49-F238E27FC236}">
                <a16:creationId xmlns:a16="http://schemas.microsoft.com/office/drawing/2014/main" id="{CC0FA39B-94BF-7E85-6266-6EDD2B801087}"/>
              </a:ext>
            </a:extLst>
          </p:cNvPr>
          <p:cNvPicPr>
            <a:picLocks noChangeAspect="1"/>
          </p:cNvPicPr>
          <p:nvPr/>
        </p:nvPicPr>
        <p:blipFill rotWithShape="1">
          <a:blip r:embed="rId3"/>
          <a:srcRect l="42436" t="45710" r="42208" b="21530"/>
          <a:stretch/>
        </p:blipFill>
        <p:spPr>
          <a:xfrm>
            <a:off x="2277887" y="1245024"/>
            <a:ext cx="6436225" cy="5429302"/>
          </a:xfrm>
          <a:prstGeom prst="rect">
            <a:avLst/>
          </a:prstGeom>
        </p:spPr>
      </p:pic>
    </p:spTree>
    <p:extLst>
      <p:ext uri="{BB962C8B-B14F-4D97-AF65-F5344CB8AC3E}">
        <p14:creationId xmlns:p14="http://schemas.microsoft.com/office/powerpoint/2010/main" val="2096847733"/>
      </p:ext>
    </p:extLst>
  </p:cSld>
  <p:clrMapOvr>
    <a:masterClrMapping/>
  </p:clrMapOvr>
</p:sld>
</file>

<file path=ppt/theme/theme1.xml><?xml version="1.0" encoding="utf-8"?>
<a:theme xmlns:a="http://schemas.openxmlformats.org/drawingml/2006/main" name="MTBJ2023">
  <a:themeElements>
    <a:clrScheme name="ユーザー定義 1">
      <a:dk1>
        <a:srgbClr val="323232"/>
      </a:dk1>
      <a:lt1>
        <a:srgbClr val="FFFFFF"/>
      </a:lt1>
      <a:dk2>
        <a:srgbClr val="323232"/>
      </a:dk2>
      <a:lt2>
        <a:srgbClr val="FFFFFF"/>
      </a:lt2>
      <a:accent1>
        <a:srgbClr val="FF2600"/>
      </a:accent1>
      <a:accent2>
        <a:srgbClr val="FF2600"/>
      </a:accent2>
      <a:accent3>
        <a:srgbClr val="FF2600"/>
      </a:accent3>
      <a:accent4>
        <a:srgbClr val="406A7A"/>
      </a:accent4>
      <a:accent5>
        <a:srgbClr val="406A7A"/>
      </a:accent5>
      <a:accent6>
        <a:srgbClr val="406A7A"/>
      </a:accent6>
      <a:hlink>
        <a:srgbClr val="406A7A"/>
      </a:hlink>
      <a:folHlink>
        <a:srgbClr val="FF2600"/>
      </a:folHlink>
    </a:clrScheme>
    <a:fontScheme name="MTBJ_pptx">
      <a:majorFont>
        <a:latin typeface="Times New Roman"/>
        <a:ea typeface="BIZ UDPゴシック"/>
        <a:cs typeface=""/>
      </a:majorFont>
      <a:minorFont>
        <a:latin typeface="Arial"/>
        <a:ea typeface="BIZ UDPゴシック"/>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a:noFill/>
        </a:ln>
      </a:spPr>
      <a:bodyPr rtlCol="0" anchor="ctr"/>
      <a:lstStyle>
        <a:defPPr algn="ctr">
          <a:defRPr kumimoji="1" sz="110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1100" dirty="0">
            <a:latin typeface="+mn-ea"/>
            <a:ea typeface="+mn-ea"/>
          </a:defRPr>
        </a:defPPr>
      </a:lstStyle>
    </a:txDef>
  </a:objectDefaults>
  <a:extraClrSchemeLst/>
  <a:extLst>
    <a:ext uri="{05A4C25C-085E-4340-85A3-A5531E510DB2}">
      <thm15:themeFamily xmlns:thm15="http://schemas.microsoft.com/office/thememl/2012/main" name="2024年度新入社員研修_業務の全体像と各部のつながり.potx" id="{05FA8D29-5AB3-4626-84DD-DEE8BC93AEA5}" vid="{9BC03C62-BDDE-4717-A7E6-CB4555359938}"/>
    </a:ext>
  </a:extLst>
</a:theme>
</file>

<file path=ppt/theme/theme2.xml><?xml version="1.0" encoding="utf-8"?>
<a:theme xmlns:a="http://schemas.openxmlformats.org/drawingml/2006/main" name="MTBJ2023">
  <a:themeElements>
    <a:clrScheme name="ユーザー定義 1">
      <a:dk1>
        <a:srgbClr val="323232"/>
      </a:dk1>
      <a:lt1>
        <a:srgbClr val="FFFFFF"/>
      </a:lt1>
      <a:dk2>
        <a:srgbClr val="323232"/>
      </a:dk2>
      <a:lt2>
        <a:srgbClr val="FFFFFF"/>
      </a:lt2>
      <a:accent1>
        <a:srgbClr val="FF2600"/>
      </a:accent1>
      <a:accent2>
        <a:srgbClr val="FF2600"/>
      </a:accent2>
      <a:accent3>
        <a:srgbClr val="FF2600"/>
      </a:accent3>
      <a:accent4>
        <a:srgbClr val="406A7A"/>
      </a:accent4>
      <a:accent5>
        <a:srgbClr val="406A7A"/>
      </a:accent5>
      <a:accent6>
        <a:srgbClr val="406A7A"/>
      </a:accent6>
      <a:hlink>
        <a:srgbClr val="406A7A"/>
      </a:hlink>
      <a:folHlink>
        <a:srgbClr val="FF2600"/>
      </a:folHlink>
    </a:clrScheme>
    <a:fontScheme name="MTBJ_pptx">
      <a:majorFont>
        <a:latin typeface="Times New Roman"/>
        <a:ea typeface="BIZ UDPゴシック"/>
        <a:cs typeface=""/>
      </a:majorFont>
      <a:minorFont>
        <a:latin typeface="Arial"/>
        <a:ea typeface="BIZ UDPゴシック"/>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a:noFill/>
        </a:ln>
      </a:spPr>
      <a:bodyPr rtlCol="0" anchor="ctr"/>
      <a:lstStyle>
        <a:defPPr algn="ctr">
          <a:defRPr kumimoji="1" sz="110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1100" dirty="0">
            <a:latin typeface="+mn-ea"/>
            <a:ea typeface="+mn-ea"/>
          </a:defRPr>
        </a:defPPr>
      </a:lstStyle>
    </a:txDef>
  </a:objectDefaults>
  <a:extraClrSchemeLst/>
  <a:extLst>
    <a:ext uri="{05A4C25C-085E-4340-85A3-A5531E510DB2}">
      <thm15:themeFamily xmlns:thm15="http://schemas.microsoft.com/office/thememl/2012/main" name="プレゼンテーション2" id="{90499C57-A607-405E-9572-558D5BE282F8}" vid="{44FA29B6-BC46-4584-B538-3B419B104464}"/>
    </a:ext>
  </a:extLst>
</a:theme>
</file>

<file path=ppt/theme/theme3.xml><?xml version="1.0" encoding="utf-8"?>
<a:theme xmlns:a="http://schemas.openxmlformats.org/drawingml/2006/main" name="MTBJ2023">
  <a:themeElements>
    <a:clrScheme name="ユーザー定義 1">
      <a:dk1>
        <a:srgbClr val="323232"/>
      </a:dk1>
      <a:lt1>
        <a:srgbClr val="FFFFFF"/>
      </a:lt1>
      <a:dk2>
        <a:srgbClr val="323232"/>
      </a:dk2>
      <a:lt2>
        <a:srgbClr val="FFFFFF"/>
      </a:lt2>
      <a:accent1>
        <a:srgbClr val="FF2600"/>
      </a:accent1>
      <a:accent2>
        <a:srgbClr val="FF2600"/>
      </a:accent2>
      <a:accent3>
        <a:srgbClr val="FF2600"/>
      </a:accent3>
      <a:accent4>
        <a:srgbClr val="406A7A"/>
      </a:accent4>
      <a:accent5>
        <a:srgbClr val="406A7A"/>
      </a:accent5>
      <a:accent6>
        <a:srgbClr val="406A7A"/>
      </a:accent6>
      <a:hlink>
        <a:srgbClr val="406A7A"/>
      </a:hlink>
      <a:folHlink>
        <a:srgbClr val="FF2600"/>
      </a:folHlink>
    </a:clrScheme>
    <a:fontScheme name="MTBJ_pptx">
      <a:majorFont>
        <a:latin typeface="Times New Roman"/>
        <a:ea typeface="BIZ UDPゴシック"/>
        <a:cs typeface=""/>
      </a:majorFont>
      <a:minorFont>
        <a:latin typeface="Arial"/>
        <a:ea typeface="BIZ UDPゴシック"/>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a:noFill/>
        </a:ln>
      </a:spPr>
      <a:bodyPr rtlCol="0" anchor="ctr"/>
      <a:lstStyle>
        <a:defPPr algn="ctr">
          <a:defRPr kumimoji="1" sz="110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1100" dirty="0">
            <a:latin typeface="+mn-ea"/>
            <a:ea typeface="+mn-ea"/>
          </a:defRPr>
        </a:defPPr>
      </a:lstStyle>
    </a:txDef>
  </a:objectDefaults>
  <a:extraClrSchemeLst/>
  <a:extLst>
    <a:ext uri="{05A4C25C-085E-4340-85A3-A5531E510DB2}">
      <thm15:themeFamily xmlns:thm15="http://schemas.microsoft.com/office/thememl/2012/main" name="資料雛型_pptA4版.potx" id="{6B3C9E3A-DFF8-423E-9295-C9C9D7BEBFED}" vid="{0DB9E8C4-9284-4264-AA05-75556BBFFB9E}"/>
    </a:ext>
  </a:extLst>
</a:theme>
</file>

<file path=ppt/theme/theme4.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34EC7365253543AF52C41840CDEDF2" ma:contentTypeVersion="13" ma:contentTypeDescription="Create a new document." ma:contentTypeScope="" ma:versionID="2d2f3a2ac785ac28046e62ce3a0c3d18">
  <xsd:schema xmlns:xsd="http://www.w3.org/2001/XMLSchema" xmlns:xs="http://www.w3.org/2001/XMLSchema" xmlns:p="http://schemas.microsoft.com/office/2006/metadata/properties" xmlns:ns2="8c7e2249-f67c-4027-b212-c28305a022e1" xmlns:ns3="fa9d62c7-0f51-469e-af76-081dc5c2cf6f" targetNamespace="http://schemas.microsoft.com/office/2006/metadata/properties" ma:root="true" ma:fieldsID="5ae715e7de85c95489ae438eaa7e4bec" ns2:_="" ns3:_="">
    <xsd:import namespace="8c7e2249-f67c-4027-b212-c28305a022e1"/>
    <xsd:import namespace="fa9d62c7-0f51-469e-af76-081dc5c2cf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9d62c7-0f51-469e-af76-081dc5c2cf6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81bc249-2723-4833-85eb-5148d2aa8f1e}" ma:internalName="TaxCatchAll" ma:showField="CatchAllData" ma:web="fa9d62c7-0f51-469e-af76-081dc5c2cf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c7e2249-f67c-4027-b212-c28305a022e1">
      <Terms xmlns="http://schemas.microsoft.com/office/infopath/2007/PartnerControls"/>
    </lcf76f155ced4ddcb4097134ff3c332f>
    <TaxCatchAll xmlns="fa9d62c7-0f51-469e-af76-081dc5c2cf6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F6A630-E9CD-4591-9CFD-85DC032CCDFA}"/>
</file>

<file path=customXml/itemProps2.xml><?xml version="1.0" encoding="utf-8"?>
<ds:datastoreItem xmlns:ds="http://schemas.openxmlformats.org/officeDocument/2006/customXml" ds:itemID="{444122AD-8B79-4A82-BA79-6353D21D24A1}">
  <ds:schemaRefs>
    <ds:schemaRef ds:uri="http://purl.org/dc/elements/1.1/"/>
    <ds:schemaRef ds:uri="http://schemas.microsoft.com/office/2006/metadata/properties"/>
    <ds:schemaRef ds:uri="http://purl.org/dc/term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1023FF6-9018-4B6C-8380-B1DCAA4A32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2024年度新入社員研修_業務の全体像と各部のつながり</Template>
  <TotalTime>445</TotalTime>
  <Words>5529</Words>
  <Application>Microsoft Office PowerPoint</Application>
  <PresentationFormat>ユーザー設定</PresentationFormat>
  <Paragraphs>383</Paragraphs>
  <Slides>11</Slides>
  <Notes>10</Notes>
  <HiddenSlides>0</HiddenSlides>
  <MMClips>0</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11</vt:i4>
      </vt:variant>
    </vt:vector>
  </HeadingPairs>
  <TitlesOfParts>
    <vt:vector size="24" baseType="lpstr">
      <vt:lpstr>BIZ UDPゴシック</vt:lpstr>
      <vt:lpstr>HGPｺﾞｼｯｸE</vt:lpstr>
      <vt:lpstr>Meiryo UI</vt:lpstr>
      <vt:lpstr>ＭＳ Ｐゴシック</vt:lpstr>
      <vt:lpstr>Yu Gothic Medium</vt:lpstr>
      <vt:lpstr>Arial</vt:lpstr>
      <vt:lpstr>Calibri</vt:lpstr>
      <vt:lpstr>Calibri Light</vt:lpstr>
      <vt:lpstr>Times New Roman</vt:lpstr>
      <vt:lpstr>Wingdings</vt:lpstr>
      <vt:lpstr>MTBJ2023</vt:lpstr>
      <vt:lpstr>MTBJ2023</vt:lpstr>
      <vt:lpstr>MTBJ2023</vt:lpstr>
      <vt:lpstr>資産管理業務の全体像と 資産管理各部のつながりについて</vt:lpstr>
      <vt:lpstr>講義の目的</vt:lpstr>
      <vt:lpstr>１．資産管理業務（お客様との関係）</vt:lpstr>
      <vt:lpstr>２．組織図</vt:lpstr>
      <vt:lpstr>３．各部署の主な業務内容</vt:lpstr>
      <vt:lpstr>各部署のつながり（まとめ） 　</vt:lpstr>
      <vt:lpstr>PowerPoint プレゼンテーション</vt:lpstr>
      <vt:lpstr>PowerPoint プレゼンテーション</vt:lpstr>
      <vt:lpstr>PowerPoint プレゼンテーション</vt:lpstr>
      <vt:lpstr>各部署のつながり（まとめ） 　</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資産管理業務の全体像と 資産管理各部のつながりについて</dc:title>
  <dc:subject/>
  <dc:creator>kimura takashi1/木村　隆</dc:creator>
  <cp:keywords/>
  <dc:description/>
  <cp:lastModifiedBy>Mizumoto Chie/水本　智恵</cp:lastModifiedBy>
  <cp:revision>19</cp:revision>
  <cp:lastPrinted>2023-08-09T03:34:13Z</cp:lastPrinted>
  <dcterms:created xsi:type="dcterms:W3CDTF">2024-04-19T02:36:56Z</dcterms:created>
  <dcterms:modified xsi:type="dcterms:W3CDTF">2025-09-24T07:31:14Z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0x0101005C34EC7365253543AF52C41840CDEDF2</vt:lpwstr>
  </property>
</Properties>
</file>