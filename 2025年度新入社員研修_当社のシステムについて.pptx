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revisionInfo.xml" ContentType="application/vnd.ms-powerpoint.revisioninfo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21" r:id="rId3"/>
  </p:sldMasterIdLst>
  <p:notesMasterIdLst>
    <p:notesMasterId r:id="rId22"/>
  </p:notesMasterIdLst>
  <p:handoutMasterIdLst>
    <p:handoutMasterId r:id="rId23"/>
  </p:handoutMasterIdLst>
  <p:sldIdLst>
    <p:sldId id="307" r:id="rId4"/>
    <p:sldId id="308" r:id="rId5"/>
    <p:sldId id="309" r:id="rId6"/>
    <p:sldId id="310" r:id="rId7"/>
    <p:sldId id="311" r:id="rId8"/>
    <p:sldId id="312" r:id="rId9"/>
    <p:sldId id="314" r:id="rId10"/>
    <p:sldId id="313" r:id="rId11"/>
    <p:sldId id="315" r:id="rId12"/>
    <p:sldId id="316" r:id="rId13"/>
    <p:sldId id="317" r:id="rId14"/>
    <p:sldId id="319" r:id="rId15"/>
    <p:sldId id="321" r:id="rId16"/>
    <p:sldId id="324" r:id="rId17"/>
    <p:sldId id="322" r:id="rId18"/>
    <p:sldId id="325" r:id="rId19"/>
    <p:sldId id="320" r:id="rId20"/>
    <p:sldId id="323" r:id="rId21"/>
  </p:sldIdLst>
  <p:sldSz cx="10691813" cy="7559675"/>
  <p:notesSz cx="6735763" cy="9866313"/>
  <p:defaultTextStyle>
    <a:defPPr>
      <a:defRPr lang="ja-JP"/>
    </a:defPPr>
    <a:lvl1pPr algn="l" defTabSz="995363" rtl="0" eaLnBrk="0" fontAlgn="base" hangingPunct="0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1pPr>
    <a:lvl2pPr marL="496888" indent="-39688" algn="l" defTabSz="995363" rtl="0" eaLnBrk="0" fontAlgn="base" hangingPunct="0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2pPr>
    <a:lvl3pPr marL="995363" indent="-80963" algn="l" defTabSz="995363" rtl="0" eaLnBrk="0" fontAlgn="base" hangingPunct="0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3pPr>
    <a:lvl4pPr marL="1492250" indent="-120650" algn="l" defTabSz="995363" rtl="0" eaLnBrk="0" fontAlgn="base" hangingPunct="0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4pPr>
    <a:lvl5pPr marL="1990725" indent="-161925" algn="l" defTabSz="995363" rtl="0" eaLnBrk="0" fontAlgn="base" hangingPunct="0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19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4A583"/>
    <a:srgbClr val="99CC00"/>
    <a:srgbClr val="FFFFCC"/>
    <a:srgbClr val="66FFFF"/>
    <a:srgbClr val="F0F4F6"/>
    <a:srgbClr val="516D7D"/>
    <a:srgbClr val="7A9EAF"/>
    <a:srgbClr val="E3EAEE"/>
    <a:srgbClr val="D5E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3D83A-2929-0A6C-DBE1-3EF54D70986F}" v="2" dt="2025-07-16T05:03:17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500" y="90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to Yuri/五島　結理" userId="S::yuri_goto@mastertrust.co.jp::01cde8a1-aa86-43cc-ac93-d0d2dbb4581b" providerId="AD" clId="Web-{6C53D83A-2929-0A6C-DBE1-3EF54D70986F}"/>
    <pc:docChg chg="modSld">
      <pc:chgData name="Goto Yuri/五島　結理" userId="S::yuri_goto@mastertrust.co.jp::01cde8a1-aa86-43cc-ac93-d0d2dbb4581b" providerId="AD" clId="Web-{6C53D83A-2929-0A6C-DBE1-3EF54D70986F}" dt="2025-07-16T05:03:17.922" v="1" actId="1076"/>
      <pc:docMkLst>
        <pc:docMk/>
      </pc:docMkLst>
      <pc:sldChg chg="modSp">
        <pc:chgData name="Goto Yuri/五島　結理" userId="S::yuri_goto@mastertrust.co.jp::01cde8a1-aa86-43cc-ac93-d0d2dbb4581b" providerId="AD" clId="Web-{6C53D83A-2929-0A6C-DBE1-3EF54D70986F}" dt="2025-07-16T05:03:17.922" v="1" actId="1076"/>
        <pc:sldMkLst>
          <pc:docMk/>
          <pc:sldMk cId="802630675" sldId="320"/>
        </pc:sldMkLst>
        <pc:spChg chg="mod">
          <ac:chgData name="Goto Yuri/五島　結理" userId="S::yuri_goto@mastertrust.co.jp::01cde8a1-aa86-43cc-ac93-d0d2dbb4581b" providerId="AD" clId="Web-{6C53D83A-2929-0A6C-DBE1-3EF54D70986F}" dt="2025-07-16T05:03:17.922" v="1" actId="1076"/>
          <ac:spMkLst>
            <pc:docMk/>
            <pc:sldMk cId="802630675" sldId="320"/>
            <ac:spMk id="25" creationId="{BC5D5D72-6507-7587-D579-0D6A1AE5AD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view3D>
      <c:rotX val="15"/>
      <c:hPercent val="27"/>
      <c:rotY val="20"/>
      <c:depthPercent val="15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6.1998860074671515E-2"/>
          <c:y val="0.12909735942524245"/>
          <c:w val="0.93083385661366236"/>
          <c:h val="0.738751584248346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システム投資額!$A$2</c:f>
              <c:strCache>
                <c:ptCount val="1"/>
                <c:pt idx="0">
                  <c:v>システム投資額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2108173307255679E-2"/>
                  <c:y val="-3.2488221154558093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344-4B28-8006-B017EFE21723}"/>
                </c:ext>
              </c:extLst>
            </c:dLbl>
            <c:dLbl>
              <c:idx val="1"/>
              <c:layout>
                <c:manualLayout>
                  <c:x val="5.2758723699265582E-3"/>
                  <c:y val="-2.5466591729189872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44-4B28-8006-B017EFE21723}"/>
                </c:ext>
              </c:extLst>
            </c:dLbl>
            <c:dLbl>
              <c:idx val="2"/>
              <c:layout>
                <c:manualLayout>
                  <c:x val="1.4191602928660403E-2"/>
                  <c:y val="-4.4847209334591201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344-4B28-8006-B017EFE21723}"/>
                </c:ext>
              </c:extLst>
            </c:dLbl>
            <c:dLbl>
              <c:idx val="3"/>
              <c:layout>
                <c:manualLayout>
                  <c:x val="6.4435037960985011E-3"/>
                  <c:y val="-4.0920965490562913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44-4B28-8006-B017EFE21723}"/>
                </c:ext>
              </c:extLst>
            </c:dLbl>
            <c:dLbl>
              <c:idx val="4"/>
              <c:layout>
                <c:manualLayout>
                  <c:x val="1.3905928299731665E-2"/>
                  <c:y val="-3.7309172095559881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344-4B28-8006-B017EFE21723}"/>
                </c:ext>
              </c:extLst>
            </c:dLbl>
            <c:dLbl>
              <c:idx val="5"/>
              <c:layout>
                <c:manualLayout>
                  <c:x val="1.4139246605950836E-2"/>
                  <c:y val="-3.2034138944633576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344-4B28-8006-B017EFE21723}"/>
                </c:ext>
              </c:extLst>
            </c:dLbl>
            <c:dLbl>
              <c:idx val="6"/>
              <c:layout>
                <c:manualLayout>
                  <c:x val="1.6410981912873022E-2"/>
                  <c:y val="-4.1522865005238711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344-4B28-8006-B017EFE21723}"/>
                </c:ext>
              </c:extLst>
            </c:dLbl>
            <c:dLbl>
              <c:idx val="7"/>
              <c:layout>
                <c:manualLayout>
                  <c:x val="1.237048942101983E-2"/>
                  <c:y val="-3.7048556816261201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344-4B28-8006-B017EFE21723}"/>
                </c:ext>
              </c:extLst>
            </c:dLbl>
            <c:dLbl>
              <c:idx val="8"/>
              <c:layout>
                <c:manualLayout>
                  <c:x val="1.383988369072607E-3"/>
                  <c:y val="-4.1709333246224868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344-4B28-8006-B017EFE21723}"/>
                </c:ext>
              </c:extLst>
            </c:dLbl>
            <c:dLbl>
              <c:idx val="9"/>
              <c:layout>
                <c:manualLayout>
                  <c:x val="1.2495845377392309E-3"/>
                  <c:y val="-3.3141026811968441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344-4B28-8006-B017EFE21723}"/>
                </c:ext>
              </c:extLst>
            </c:dLbl>
            <c:dLbl>
              <c:idx val="10"/>
              <c:layout>
                <c:manualLayout>
                  <c:x val="1.4243892590349284E-3"/>
                  <c:y val="-1.9900497512437811E-2"/>
                </c:manualLayout>
              </c:layout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/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344-4B28-8006-B017EFE21723}"/>
                </c:ext>
              </c:extLst>
            </c:dLbl>
            <c:dLbl>
              <c:idx val="11"/>
              <c:numFmt formatCode="#,##0.0_);[Red]\(#,##0.0\)" sourceLinked="0"/>
              <c:spPr/>
              <c:txPr>
                <a:bodyPr/>
                <a:lstStyle/>
                <a:p>
                  <a:pPr>
                    <a:defRPr lang="ja-JP">
                      <a:solidFill>
                        <a:schemeClr val="tx1"/>
                      </a:solidFill>
                    </a:defRPr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9344-4B28-8006-B017EFE21723}"/>
                </c:ext>
              </c:extLst>
            </c:dLbl>
            <c:dLbl>
              <c:idx val="13"/>
              <c:numFmt formatCode="#,##0.0_);[Red]\(#,##0.0\)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lang="ja-JP">
                      <a:solidFill>
                        <a:schemeClr val="tx1"/>
                      </a:solidFill>
                    </a:defRPr>
                  </a:pPr>
                  <a:endParaRPr lang="ja-JP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9344-4B28-8006-B017EFE21723}"/>
                </c:ext>
              </c:extLst>
            </c:dLbl>
            <c:dLbl>
              <c:idx val="14"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lang="ja-JP">
                        <a:solidFill>
                          <a:srgbClr val="FF0000"/>
                        </a:solidFill>
                      </a:defRPr>
                    </a:pPr>
                    <a:fld id="{94DA455D-6E95-433E-9437-314DD196EE8D}" type="VALUE">
                      <a:rPr lang="en-US" altLang="ja-JP">
                        <a:solidFill>
                          <a:schemeClr val="tx1"/>
                        </a:solidFill>
                      </a:rPr>
                      <a:pPr>
                        <a:defRPr lang="ja-JP">
                          <a:solidFill>
                            <a:srgbClr val="FF0000"/>
                          </a:solidFill>
                        </a:defRPr>
                      </a:pPr>
                      <a:t>[値]</a:t>
                    </a:fld>
                    <a:endParaRPr lang="ja-JP" altLang="en-US"/>
                  </a:p>
                </c:rich>
              </c:tx>
              <c:numFmt formatCode="#,##0.0_);[Red]\(#,##0.0\)" sourceLinked="0"/>
              <c:spPr>
                <a:noFill/>
                <a:ln>
                  <a:noFill/>
                </a:ln>
                <a:effectLst/>
              </c:sp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9344-4B28-8006-B017EFE21723}"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ja-JP"/>
                </a:pPr>
                <a:endParaRPr lang="ja-JP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システム投資額!$B$1:$S$1</c:f>
              <c:strCache>
                <c:ptCount val="18"/>
                <c:pt idx="0">
                  <c:v>2007年度</c:v>
                </c:pt>
                <c:pt idx="1">
                  <c:v>2008年度</c:v>
                </c:pt>
                <c:pt idx="2">
                  <c:v>2009年度</c:v>
                </c:pt>
                <c:pt idx="3">
                  <c:v>2010年度</c:v>
                </c:pt>
                <c:pt idx="4">
                  <c:v>2011年度</c:v>
                </c:pt>
                <c:pt idx="5">
                  <c:v>2012年度</c:v>
                </c:pt>
                <c:pt idx="6">
                  <c:v>2013年度</c:v>
                </c:pt>
                <c:pt idx="7">
                  <c:v>2014年度</c:v>
                </c:pt>
                <c:pt idx="8">
                  <c:v>2015年度</c:v>
                </c:pt>
                <c:pt idx="9">
                  <c:v>2016年度</c:v>
                </c:pt>
                <c:pt idx="10">
                  <c:v>2017年度</c:v>
                </c:pt>
                <c:pt idx="11">
                  <c:v>2018年度</c:v>
                </c:pt>
                <c:pt idx="12">
                  <c:v>2019年度</c:v>
                </c:pt>
                <c:pt idx="13">
                  <c:v>2020年度</c:v>
                </c:pt>
                <c:pt idx="14">
                  <c:v>2021年度</c:v>
                </c:pt>
                <c:pt idx="15">
                  <c:v>2022年度</c:v>
                </c:pt>
                <c:pt idx="16">
                  <c:v>2023年度</c:v>
                </c:pt>
                <c:pt idx="17">
                  <c:v>2024年度（見込）</c:v>
                </c:pt>
              </c:strCache>
            </c:strRef>
          </c:cat>
          <c:val>
            <c:numRef>
              <c:f>システム投資額!$B$2:$S$2</c:f>
              <c:numCache>
                <c:formatCode>#,##0_);[Red]\(#,##0\)</c:formatCode>
                <c:ptCount val="18"/>
                <c:pt idx="0">
                  <c:v>6408000000</c:v>
                </c:pt>
                <c:pt idx="1">
                  <c:v>7321000000</c:v>
                </c:pt>
                <c:pt idx="2">
                  <c:v>6761000000</c:v>
                </c:pt>
                <c:pt idx="3">
                  <c:v>7439000000</c:v>
                </c:pt>
                <c:pt idx="4">
                  <c:v>5914000000</c:v>
                </c:pt>
                <c:pt idx="5">
                  <c:v>3952000000</c:v>
                </c:pt>
                <c:pt idx="6">
                  <c:v>4054000000</c:v>
                </c:pt>
                <c:pt idx="7">
                  <c:v>3583000000</c:v>
                </c:pt>
                <c:pt idx="8">
                  <c:v>4620000000</c:v>
                </c:pt>
                <c:pt idx="9">
                  <c:v>5258000000</c:v>
                </c:pt>
                <c:pt idx="10">
                  <c:v>6191000000</c:v>
                </c:pt>
                <c:pt idx="11">
                  <c:v>8044000000</c:v>
                </c:pt>
                <c:pt idx="12">
                  <c:v>7860000000</c:v>
                </c:pt>
                <c:pt idx="13">
                  <c:v>8290000000</c:v>
                </c:pt>
                <c:pt idx="14">
                  <c:v>7830000000</c:v>
                </c:pt>
                <c:pt idx="15">
                  <c:v>7504000000</c:v>
                </c:pt>
                <c:pt idx="16" formatCode="#,##0_ ">
                  <c:v>8000000000</c:v>
                </c:pt>
                <c:pt idx="17" formatCode="#,##0_ ">
                  <c:v>9700000000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344-4B28-8006-B017EFE217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shape val="box"/>
        <c:axId val="115252224"/>
        <c:axId val="115254016"/>
        <c:axId val="0"/>
      </c:bar3DChart>
      <c:catAx>
        <c:axId val="1152522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txPr>
          <a:bodyPr rot="0" vert="horz" anchor="ctr" anchorCtr="1"/>
          <a:lstStyle/>
          <a:p>
            <a:pPr>
              <a:defRPr lang="ja-JP" sz="1079" kern="0" spc="-100" baseline="0"/>
            </a:pPr>
            <a:endParaRPr lang="ja-JP"/>
          </a:p>
        </c:txPr>
        <c:crossAx val="115254016"/>
        <c:crosses val="autoZero"/>
        <c:auto val="1"/>
        <c:lblAlgn val="ctr"/>
        <c:lblOffset val="100"/>
        <c:tickLblSkip val="1"/>
        <c:noMultiLvlLbl val="0"/>
      </c:catAx>
      <c:valAx>
        <c:axId val="115254016"/>
        <c:scaling>
          <c:orientation val="minMax"/>
          <c:max val="8000000000"/>
        </c:scaling>
        <c:delete val="0"/>
        <c:axPos val="l"/>
        <c:majorGridlines/>
        <c:numFmt formatCode="#,##0_);[Red]\(#,##0\)" sourceLinked="1"/>
        <c:majorTickMark val="in"/>
        <c:minorTickMark val="none"/>
        <c:tickLblPos val="nextTo"/>
        <c:txPr>
          <a:bodyPr rot="0" vert="horz"/>
          <a:lstStyle/>
          <a:p>
            <a:pPr>
              <a:defRPr lang="ja-JP"/>
            </a:pPr>
            <a:endParaRPr lang="ja-JP"/>
          </a:p>
        </c:txPr>
        <c:crossAx val="115252224"/>
        <c:crosses val="autoZero"/>
        <c:crossBetween val="between"/>
        <c:dispUnits>
          <c:builtInUnit val="hundredMillions"/>
          <c:dispUnitsLbl>
            <c:layout>
              <c:manualLayout>
                <c:xMode val="edge"/>
                <c:yMode val="edge"/>
                <c:x val="1.1957703767229249E-3"/>
                <c:y val="9.7511665358686411E-2"/>
              </c:manualLayout>
            </c:layout>
            <c:tx>
              <c:rich>
                <a:bodyPr rot="0" vert="horz"/>
                <a:lstStyle/>
                <a:p>
                  <a:pPr algn="ctr">
                    <a:defRPr lang="ja-JP" sz="1619" b="0" i="0" u="none" strike="noStrike" baseline="0">
                      <a:solidFill>
                        <a:srgbClr val="000000"/>
                      </a:solidFill>
                      <a:latin typeface="HGPｺﾞｼｯｸE"/>
                      <a:ea typeface="HGPｺﾞｼｯｸE"/>
                      <a:cs typeface="HGPｺﾞｼｯｸE"/>
                    </a:defRPr>
                  </a:pPr>
                  <a:r>
                    <a:rPr lang="ja-JP" altLang="en-US"/>
                    <a:t>（億円）</a:t>
                  </a:r>
                </a:p>
              </c:rich>
            </c:tx>
          </c:dispUnitsLbl>
        </c:dispUnits>
      </c:valAx>
      <c:spPr>
        <a:noFill/>
        <a:ln w="22840">
          <a:noFill/>
        </a:ln>
      </c:spPr>
    </c:plotArea>
    <c:plotVisOnly val="1"/>
    <c:dispBlanksAs val="gap"/>
    <c:showDLblsOverMax val="0"/>
  </c:chart>
  <c:txPr>
    <a:bodyPr/>
    <a:lstStyle/>
    <a:p>
      <a:pPr>
        <a:defRPr sz="1619"/>
      </a:pPr>
      <a:endParaRPr lang="ja-JP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F37DF40-EC57-FF5E-0864-D0DB93A35F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F965A41-8C8A-67E9-7DEB-84C61CD03D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ACD1E-0B6E-4160-8039-91A49E153C54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D7951C-AE41-F9F2-5B9D-186A8E9E01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FF5C13-0EAC-672E-1915-D254A68E39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72C27-3283-4338-96A2-212E1816F8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11379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07" userDrawn="1">
          <p15:clr>
            <a:srgbClr val="F26B43"/>
          </p15:clr>
        </p15:guide>
        <p15:guide id="2" pos="21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62F03FA-756E-4683-9BEF-662025B53C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9550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D1A473-1916-4F6E-B2E3-0A624811462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9550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DF7E803-16FA-4EF9-B1F7-C4789EDC06BE}" type="datetimeFigureOut">
              <a:rPr lang="ja-JP" altLang="en-US"/>
              <a:pPr>
                <a:defRPr/>
              </a:pPr>
              <a:t>2025/9/24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C4B1364E-53F5-492F-8628-1669423DB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1233488"/>
            <a:ext cx="47069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67F6D212-2816-475B-8DD2-6A201E5BE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A19969-BA1C-4938-8AE6-146FA8D653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9550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E4A35F-C4F4-44DC-8BE1-3E477C47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327DF7C-A60A-4094-97DD-15C0A5FA18C4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9536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ＭＳ Ｐゴシック" charset="-128"/>
      </a:defRPr>
    </a:lvl1pPr>
    <a:lvl2pPr marL="496888" algn="l" defTabSz="99536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ＭＳ Ｐゴシック" charset="-128"/>
      </a:defRPr>
    </a:lvl2pPr>
    <a:lvl3pPr marL="995363" algn="l" defTabSz="99536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ＭＳ Ｐゴシック" charset="-128"/>
      </a:defRPr>
    </a:lvl3pPr>
    <a:lvl4pPr marL="1492250" algn="l" defTabSz="99536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ＭＳ Ｐゴシック" charset="-128"/>
      </a:defRPr>
    </a:lvl4pPr>
    <a:lvl5pPr marL="1990725" algn="l" defTabSz="99536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ＭＳ Ｐゴシック" charset="-128"/>
      </a:defRPr>
    </a:lvl5pPr>
    <a:lvl6pPr marL="2488768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7DF7C-A60A-4094-97DD-15C0A5FA18C4}" type="slidenum">
              <a:rPr lang="ja-JP" altLang="en-US" smtClean="0"/>
              <a:pPr/>
              <a:t>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4553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アプリケーション が含まれている画像&#10;&#10;自動的に生成された説明">
            <a:extLst>
              <a:ext uri="{FF2B5EF4-FFF2-40B4-BE49-F238E27FC236}">
                <a16:creationId xmlns:a16="http://schemas.microsoft.com/office/drawing/2014/main" id="{D2C60FBF-BBAA-2D51-F86D-69540F3598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690737" cy="7563600"/>
          </a:xfrm>
          <a:prstGeom prst="rect">
            <a:avLst/>
          </a:prstGeom>
        </p:spPr>
      </p:pic>
      <p:sp>
        <p:nvSpPr>
          <p:cNvPr id="9" name="タイトル プレースホルダー 31">
            <a:extLst>
              <a:ext uri="{FF2B5EF4-FFF2-40B4-BE49-F238E27FC236}">
                <a16:creationId xmlns:a16="http://schemas.microsoft.com/office/drawing/2014/main" id="{E7D79915-43F7-BFD5-9A9C-A6840FE8F8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074643" y="2198598"/>
            <a:ext cx="7958241" cy="90274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>
              <a:lnSpc>
                <a:spcPts val="3800"/>
              </a:lnSpc>
              <a:buFont typeface="Arial" panose="020B0604020202020204" pitchFamily="34" charset="0"/>
              <a:buNone/>
              <a:defRPr sz="2700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/27pt/</a:t>
            </a:r>
            <a:r>
              <a:rPr kumimoji="1" lang="ja-JP" altLang="en-US"/>
              <a:t>行間</a:t>
            </a:r>
            <a:r>
              <a:rPr kumimoji="1" lang="en-US" altLang="ja-JP"/>
              <a:t>38pt</a:t>
            </a:r>
            <a:r>
              <a:rPr kumimoji="1" lang="ja-JP" altLang="en-US"/>
              <a:t>〇〇〇〇〇〇〇〇〇〇〇〇〇〇〇</a:t>
            </a: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1DC63F3E-2CCB-BB64-EC48-53B9CA1B5A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13979" y="703324"/>
            <a:ext cx="5602220" cy="2308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latin typeface="+mn-ea"/>
                <a:ea typeface="+mn-ea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会社名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/15pt</a:t>
            </a:r>
            <a:endParaRPr kumimoji="1" lang="ja-JP" altLang="en-US"/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C21982E8-0AA5-B139-A638-609E7BE6AA6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74641" y="3369600"/>
            <a:ext cx="5760000" cy="2308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latin typeface="+mn-ea"/>
                <a:ea typeface="+mn-ea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/15pt</a:t>
            </a:r>
            <a:endParaRPr kumimoji="1" lang="ja-JP" altLang="en-US"/>
          </a:p>
        </p:txBody>
      </p:sp>
      <p:sp>
        <p:nvSpPr>
          <p:cNvPr id="12" name="テキスト プレースホルダー 2">
            <a:extLst>
              <a:ext uri="{FF2B5EF4-FFF2-40B4-BE49-F238E27FC236}">
                <a16:creationId xmlns:a16="http://schemas.microsoft.com/office/drawing/2014/main" id="{98F789AA-6DDF-1CB2-212D-496D0A30DBFF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074641" y="4060800"/>
            <a:ext cx="5760000" cy="2308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latin typeface="+mn-ea"/>
                <a:ea typeface="+mn-ea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/15pt</a:t>
            </a:r>
            <a:endParaRPr kumimoji="1" lang="ja-JP" altLang="en-US"/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4636B0AC-C4BF-B3EB-36B9-77DC068456A5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74641" y="4356000"/>
            <a:ext cx="3600000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latin typeface="+mn-ea"/>
                <a:ea typeface="+mn-ea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部署名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/15pt</a:t>
            </a:r>
            <a:endParaRPr kumimoji="1" lang="ja-JP" altLang="en-US"/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A142F527-8628-4EAD-A942-20ED53FCA85F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774853" y="4356000"/>
            <a:ext cx="3600000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latin typeface="+mn-ea"/>
                <a:ea typeface="+mn-ea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氏名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/15pt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7C73DF-67C4-B8F3-369C-176B13E9599A}"/>
              </a:ext>
            </a:extLst>
          </p:cNvPr>
          <p:cNvSpPr/>
          <p:nvPr userDrawn="1"/>
        </p:nvSpPr>
        <p:spPr>
          <a:xfrm>
            <a:off x="725053" y="2223631"/>
            <a:ext cx="144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6462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8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139E3D-1329-9C84-2BB5-3F3BF65BD629}"/>
              </a:ext>
            </a:extLst>
          </p:cNvPr>
          <p:cNvSpPr/>
          <p:nvPr userDrawn="1"/>
        </p:nvSpPr>
        <p:spPr>
          <a:xfrm>
            <a:off x="0" y="0"/>
            <a:ext cx="3563937" cy="7559675"/>
          </a:xfrm>
          <a:prstGeom prst="rect">
            <a:avLst/>
          </a:prstGeom>
          <a:solidFill>
            <a:srgbClr val="516D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02CED2FB-6D79-069B-F8EE-8E481331DBB3}"/>
              </a:ext>
            </a:extLst>
          </p:cNvPr>
          <p:cNvSpPr>
            <a:spLocks noGrp="1"/>
          </p:cNvSpPr>
          <p:nvPr userDrawn="1"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3EF624B-376D-AE0C-3BB0-5BF0326629C7}"/>
              </a:ext>
            </a:extLst>
          </p:cNvPr>
          <p:cNvSpPr/>
          <p:nvPr userDrawn="1"/>
        </p:nvSpPr>
        <p:spPr>
          <a:xfrm>
            <a:off x="4260923" y="3334200"/>
            <a:ext cx="144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10" name="テキスト プレースホルダー 15">
            <a:extLst>
              <a:ext uri="{FF2B5EF4-FFF2-40B4-BE49-F238E27FC236}">
                <a16:creationId xmlns:a16="http://schemas.microsoft.com/office/drawing/2014/main" id="{A432E068-8F5C-2B77-D0FE-D33798E3FA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10512" y="3600000"/>
            <a:ext cx="5077803" cy="3323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+mj-ea"/>
                <a:ea typeface="+mj-ea"/>
              </a:defRPr>
            </a:lvl1pPr>
            <a:lvl2pPr marL="457189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914377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371566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1828754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扉タイトル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/24pt</a:t>
            </a:r>
            <a:endParaRPr kumimoji="1" lang="ja-JP" altLang="en-US"/>
          </a:p>
        </p:txBody>
      </p:sp>
      <p:sp>
        <p:nvSpPr>
          <p:cNvPr id="4" name="テキスト プレースホルダー 15">
            <a:extLst>
              <a:ext uri="{FF2B5EF4-FFF2-40B4-BE49-F238E27FC236}">
                <a16:creationId xmlns:a16="http://schemas.microsoft.com/office/drawing/2014/main" id="{8698DF41-9873-8B5A-1A3A-478CADA602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6799" y="3655399"/>
            <a:ext cx="2391047" cy="2215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189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2pPr>
            <a:lvl3pPr marL="914377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3pPr>
            <a:lvl4pPr marL="1371566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4pPr>
            <a:lvl5pPr marL="1828754" indent="0">
              <a:buNone/>
              <a:defRPr sz="1800" b="1">
                <a:latin typeface="Meiryo" panose="020B0604030504040204" pitchFamily="34" charset="-128"/>
                <a:ea typeface="Meiryo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ショルダータイトル</a:t>
            </a:r>
            <a:r>
              <a:rPr kumimoji="1" lang="en-US" altLang="ja-JP"/>
              <a:t>/16pt</a:t>
            </a:r>
            <a:endParaRPr kumimoji="1" lang="ja-JP" altLang="en-US"/>
          </a:p>
        </p:txBody>
      </p:sp>
      <p:pic>
        <p:nvPicPr>
          <p:cNvPr id="14" name="図 13" descr="図形, 円&#10;&#10;自動的に生成された説明">
            <a:extLst>
              <a:ext uri="{FF2B5EF4-FFF2-40B4-BE49-F238E27FC236}">
                <a16:creationId xmlns:a16="http://schemas.microsoft.com/office/drawing/2014/main" id="{AEB98F93-CF42-9C08-121E-8CBF2AB6EB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1813" y="0"/>
            <a:ext cx="3600000" cy="360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FB4649B-5DD1-C223-F56D-37CC55841A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7725" y="7005014"/>
            <a:ext cx="1866899" cy="20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55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AA6F6701-1A79-1BE1-706A-C65F2EC4D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" y="0"/>
            <a:ext cx="10690737" cy="7563600"/>
          </a:xfrm>
          <a:prstGeom prst="rect">
            <a:avLst/>
          </a:prstGeom>
        </p:spPr>
      </p:pic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02CED2FB-6D79-069B-F8EE-8E481331DBB3}"/>
              </a:ext>
            </a:extLst>
          </p:cNvPr>
          <p:cNvSpPr>
            <a:spLocks noGrp="1"/>
          </p:cNvSpPr>
          <p:nvPr userDrawn="1"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0117111-BC5D-3E5E-2113-5E262AB793B3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349200" y="1800000"/>
            <a:ext cx="9972000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008063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1512888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0161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7" name="タイトル プレースホルダー 21">
            <a:extLst>
              <a:ext uri="{FF2B5EF4-FFF2-40B4-BE49-F238E27FC236}">
                <a16:creationId xmlns:a16="http://schemas.microsoft.com/office/drawing/2014/main" id="{7417C78E-E432-79DA-F370-0575C3DE9B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1311" y="612000"/>
            <a:ext cx="8820000" cy="72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/18</a:t>
            </a:r>
            <a:r>
              <a:rPr kumimoji="1" lang="ja-JP" altLang="en-US"/>
              <a:t>ｐｔ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1647BD-381A-AF13-BFF3-D5C091ED80CC}"/>
              </a:ext>
            </a:extLst>
          </p:cNvPr>
          <p:cNvSpPr/>
          <p:nvPr userDrawn="1"/>
        </p:nvSpPr>
        <p:spPr>
          <a:xfrm>
            <a:off x="360000" y="759600"/>
            <a:ext cx="7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896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EADAFBDA-F769-85B4-0C64-2722E22AF1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" y="0"/>
            <a:ext cx="10690737" cy="7563600"/>
          </a:xfrm>
          <a:prstGeom prst="rect">
            <a:avLst/>
          </a:prstGeom>
        </p:spPr>
      </p:pic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02CED2FB-6D79-069B-F8EE-8E481331DB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0117111-BC5D-3E5E-2113-5E262AB79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200" y="1800000"/>
            <a:ext cx="4932000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008063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1512888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0161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F30B752-BE3E-4F07-AADB-D23BDD3A3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0" y="1800000"/>
            <a:ext cx="4932000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008063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1512888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0161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タイトル プレースホルダー 21">
            <a:extLst>
              <a:ext uri="{FF2B5EF4-FFF2-40B4-BE49-F238E27FC236}">
                <a16:creationId xmlns:a16="http://schemas.microsoft.com/office/drawing/2014/main" id="{7574F620-C30D-9C72-BF12-26F6E95C56B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1311" y="612000"/>
            <a:ext cx="8820000" cy="72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/18</a:t>
            </a:r>
            <a:r>
              <a:rPr kumimoji="1" lang="ja-JP" altLang="en-US"/>
              <a:t>ｐｔ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617CEF-2746-C18A-B39B-43F6AF3B1AC2}"/>
              </a:ext>
            </a:extLst>
          </p:cNvPr>
          <p:cNvSpPr/>
          <p:nvPr userDrawn="1"/>
        </p:nvSpPr>
        <p:spPr>
          <a:xfrm>
            <a:off x="360000" y="759600"/>
            <a:ext cx="7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29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73B9DD23-2BC3-286C-7DD0-EB5F7A65CD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" y="3244"/>
            <a:ext cx="10690737" cy="756360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00" y="1800000"/>
            <a:ext cx="6192000" cy="47520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100" b="0" i="0">
                <a:latin typeface="+mn-ea"/>
                <a:ea typeface="+mn-ea"/>
              </a:defRPr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1BAC0C75-DB0E-654F-213C-7C81C6B037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9200" y="1800000"/>
            <a:ext cx="3600000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A067DC4B-3363-5DE1-FF9A-4D74C1F904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5" name="タイトル プレースホルダー 21">
            <a:extLst>
              <a:ext uri="{FF2B5EF4-FFF2-40B4-BE49-F238E27FC236}">
                <a16:creationId xmlns:a16="http://schemas.microsoft.com/office/drawing/2014/main" id="{ABBF96C1-7C9C-E464-E9F3-EB12E5D553A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1311" y="612000"/>
            <a:ext cx="8820000" cy="72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/BIZ UDP</a:t>
            </a:r>
            <a:r>
              <a:rPr kumimoji="1" lang="ja-JP" altLang="en-US"/>
              <a:t>ゴシック</a:t>
            </a:r>
            <a:r>
              <a:rPr kumimoji="1" lang="en-US" altLang="ja-JP"/>
              <a:t>/18</a:t>
            </a:r>
            <a:r>
              <a:rPr kumimoji="1" lang="ja-JP" altLang="en-US"/>
              <a:t>ｐｔ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967875A-7ADC-81E9-5032-46910552E27E}"/>
              </a:ext>
            </a:extLst>
          </p:cNvPr>
          <p:cNvSpPr/>
          <p:nvPr userDrawn="1"/>
        </p:nvSpPr>
        <p:spPr>
          <a:xfrm>
            <a:off x="360000" y="759600"/>
            <a:ext cx="7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119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図形 が含まれている画像&#10;&#10;自動的に生成された説明">
            <a:extLst>
              <a:ext uri="{FF2B5EF4-FFF2-40B4-BE49-F238E27FC236}">
                <a16:creationId xmlns:a16="http://schemas.microsoft.com/office/drawing/2014/main" id="{A77EA372-537F-78CA-185F-ADFD6DF395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" y="3244"/>
            <a:ext cx="10690737" cy="7563600"/>
          </a:xfrm>
          <a:prstGeom prst="rect">
            <a:avLst/>
          </a:prstGeom>
        </p:spPr>
      </p:pic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02CED2FB-6D79-069B-F8EE-8E481331DB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617CEF-2746-C18A-B39B-43F6AF3B1AC2}"/>
              </a:ext>
            </a:extLst>
          </p:cNvPr>
          <p:cNvSpPr/>
          <p:nvPr userDrawn="1"/>
        </p:nvSpPr>
        <p:spPr>
          <a:xfrm>
            <a:off x="360000" y="759600"/>
            <a:ext cx="7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88F00FA-BEC1-0FCB-6DCE-6A264149DFFD}"/>
              </a:ext>
            </a:extLst>
          </p:cNvPr>
          <p:cNvSpPr txBox="1"/>
          <p:nvPr userDrawn="1"/>
        </p:nvSpPr>
        <p:spPr>
          <a:xfrm>
            <a:off x="550800" y="837100"/>
            <a:ext cx="53452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kumimoji="1" lang="en-US" altLang="ja-JP" sz="1800">
                <a:latin typeface="+mj-ea"/>
                <a:ea typeface="+mj-ea"/>
              </a:rPr>
              <a:t>appendix</a:t>
            </a:r>
            <a:endParaRPr kumimoji="1" lang="ja-JP" altLang="en-US" sz="1800">
              <a:latin typeface="+mj-ea"/>
              <a:ea typeface="+mj-ea"/>
            </a:endParaRPr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82F6FB8F-C511-7287-1B12-6E97B2E0AA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9199" y="1800000"/>
            <a:ext cx="4513553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608EFFC8-094B-3AA0-1902-DE83591BB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117" y="1800000"/>
            <a:ext cx="4513553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5567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02CED2FB-6D79-069B-F8EE-8E481331DB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617CEF-2746-C18A-B39B-43F6AF3B1AC2}"/>
              </a:ext>
            </a:extLst>
          </p:cNvPr>
          <p:cNvSpPr/>
          <p:nvPr userDrawn="1"/>
        </p:nvSpPr>
        <p:spPr>
          <a:xfrm>
            <a:off x="360000" y="759600"/>
            <a:ext cx="7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88F00FA-BEC1-0FCB-6DCE-6A264149DFFD}"/>
              </a:ext>
            </a:extLst>
          </p:cNvPr>
          <p:cNvSpPr txBox="1"/>
          <p:nvPr userDrawn="1"/>
        </p:nvSpPr>
        <p:spPr>
          <a:xfrm>
            <a:off x="550800" y="837100"/>
            <a:ext cx="53452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kumimoji="1" lang="en-US" altLang="ja-JP" sz="1800">
                <a:latin typeface="+mj-ea"/>
                <a:ea typeface="+mj-ea"/>
              </a:rPr>
              <a:t>appendix</a:t>
            </a:r>
            <a:endParaRPr kumimoji="1" lang="ja-JP" altLang="en-US" sz="1800">
              <a:latin typeface="+mj-ea"/>
              <a:ea typeface="+mj-ea"/>
            </a:endParaRPr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82F6FB8F-C511-7287-1B12-6E97B2E0AA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9199" y="1800000"/>
            <a:ext cx="4513553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608EFFC8-094B-3AA0-1902-DE83591BB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117" y="1800000"/>
            <a:ext cx="4513553" cy="475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100" b="0" i="0"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3821C89-D43D-CF23-265C-2822010A7F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725" y="7005014"/>
            <a:ext cx="1866899" cy="20603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8E451EC-12D7-8889-5347-5544373213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4613" y="0"/>
            <a:ext cx="3607200" cy="36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0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C0DEA26-5AA4-E339-1222-1A5168875B9B}"/>
              </a:ext>
            </a:extLst>
          </p:cNvPr>
          <p:cNvSpPr/>
          <p:nvPr userDrawn="1"/>
        </p:nvSpPr>
        <p:spPr>
          <a:xfrm>
            <a:off x="1" y="-1"/>
            <a:ext cx="3563937" cy="7559675"/>
          </a:xfrm>
          <a:prstGeom prst="rect">
            <a:avLst/>
          </a:prstGeom>
          <a:solidFill>
            <a:srgbClr val="516D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05E643-02A1-6AD1-B83D-8DBA7C387EC3}"/>
              </a:ext>
            </a:extLst>
          </p:cNvPr>
          <p:cNvSpPr/>
          <p:nvPr userDrawn="1"/>
        </p:nvSpPr>
        <p:spPr>
          <a:xfrm>
            <a:off x="3563938" y="-2"/>
            <a:ext cx="7127875" cy="7563600"/>
          </a:xfrm>
          <a:prstGeom prst="rect">
            <a:avLst/>
          </a:prstGeom>
          <a:solidFill>
            <a:srgbClr val="516D7D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rgbClr val="7A9EAF"/>
              </a:solidFill>
            </a:endParaRPr>
          </a:p>
        </p:txBody>
      </p:sp>
      <p:sp>
        <p:nvSpPr>
          <p:cNvPr id="10" name="スライド番号プレースホルダー 12">
            <a:extLst>
              <a:ext uri="{FF2B5EF4-FFF2-40B4-BE49-F238E27FC236}">
                <a16:creationId xmlns:a16="http://schemas.microsoft.com/office/drawing/2014/main" id="{EAC4DEFD-6505-35F8-C614-3F0CE9DA713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542400" y="7005600"/>
            <a:ext cx="3607200" cy="401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2ECDCED-B573-DFBE-647B-7D8B6208AE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91813" y="0"/>
            <a:ext cx="3600000" cy="360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227A683-2AAB-1E6C-B488-2AEE95D62E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7725" y="7005014"/>
            <a:ext cx="1866899" cy="20603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48A616C-4883-4FD9-D559-4D8FDCFC5FEB}"/>
              </a:ext>
            </a:extLst>
          </p:cNvPr>
          <p:cNvSpPr txBox="1"/>
          <p:nvPr userDrawn="1"/>
        </p:nvSpPr>
        <p:spPr>
          <a:xfrm>
            <a:off x="2369331" y="2861711"/>
            <a:ext cx="539122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ja-JP" altLang="en-US" sz="4400" b="0" i="0" u="none" strike="noStrike">
                <a:solidFill>
                  <a:schemeClr val="bg2"/>
                </a:solidFill>
                <a:effectLst/>
                <a:latin typeface="Yu Gothic Regular"/>
              </a:rPr>
              <a:t>ありがとうございました</a:t>
            </a:r>
            <a:endParaRPr kumimoji="1" lang="ja-JP" altLang="en-US" sz="440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30F0B660-BFF1-948C-DFF2-DE2FD00DB8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48867" y="4087463"/>
            <a:ext cx="5811688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4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9E3EC38-7F2E-71FB-B469-AA287940E03F}"/>
              </a:ext>
            </a:extLst>
          </p:cNvPr>
          <p:cNvSpPr/>
          <p:nvPr userDrawn="1"/>
        </p:nvSpPr>
        <p:spPr>
          <a:xfrm>
            <a:off x="1948867" y="2768265"/>
            <a:ext cx="144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9887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3294669-6F06-A7C9-CB58-DFD60595519C}"/>
              </a:ext>
            </a:extLst>
          </p:cNvPr>
          <p:cNvSpPr/>
          <p:nvPr userDrawn="1"/>
        </p:nvSpPr>
        <p:spPr>
          <a:xfrm>
            <a:off x="3568487" y="5039784"/>
            <a:ext cx="7123326" cy="2519891"/>
          </a:xfrm>
          <a:prstGeom prst="rect">
            <a:avLst/>
          </a:prstGeom>
          <a:solidFill>
            <a:srgbClr val="516D7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C0DEA26-5AA4-E339-1222-1A5168875B9B}"/>
              </a:ext>
            </a:extLst>
          </p:cNvPr>
          <p:cNvSpPr/>
          <p:nvPr userDrawn="1"/>
        </p:nvSpPr>
        <p:spPr>
          <a:xfrm>
            <a:off x="1" y="-1"/>
            <a:ext cx="3563937" cy="7559675"/>
          </a:xfrm>
          <a:prstGeom prst="rect">
            <a:avLst/>
          </a:prstGeom>
          <a:solidFill>
            <a:srgbClr val="516D7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617F411A-3DD6-375F-29E6-362663944B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91813" y="0"/>
            <a:ext cx="3600000" cy="3600000"/>
          </a:xfrm>
          <a:prstGeom prst="rect">
            <a:avLst/>
          </a:prstGeom>
        </p:spPr>
      </p:pic>
      <p:sp>
        <p:nvSpPr>
          <p:cNvPr id="15" name="スライド番号プレースホルダー 2">
            <a:extLst>
              <a:ext uri="{FF2B5EF4-FFF2-40B4-BE49-F238E27FC236}">
                <a16:creationId xmlns:a16="http://schemas.microsoft.com/office/drawing/2014/main" id="{CF357B3A-ED8D-BC1A-8BC6-2850D0CAA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42400" y="7005600"/>
            <a:ext cx="3607200" cy="401638"/>
          </a:xfrm>
        </p:spPr>
        <p:txBody>
          <a:bodyPr/>
          <a:lstStyle/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5E4C70F1-52A9-0964-EBD8-7B9FEAD7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7725" y="7005014"/>
            <a:ext cx="1866899" cy="20603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05AD5EC-41C6-5285-A73B-3A7D29380057}"/>
              </a:ext>
            </a:extLst>
          </p:cNvPr>
          <p:cNvSpPr txBox="1"/>
          <p:nvPr userDrawn="1"/>
        </p:nvSpPr>
        <p:spPr>
          <a:xfrm>
            <a:off x="2369331" y="2861711"/>
            <a:ext cx="539122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ja-JP" altLang="en-US" sz="4400" b="0" i="0" u="none" strike="noStrike">
                <a:solidFill>
                  <a:schemeClr val="tx1"/>
                </a:solidFill>
                <a:effectLst/>
                <a:latin typeface="Yu Gothic Regular"/>
              </a:rPr>
              <a:t>ありがとうございました</a:t>
            </a:r>
            <a:endParaRPr kumimoji="1" lang="ja-JP" altLang="en-US" sz="44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テキスト プレースホルダー 10">
            <a:extLst>
              <a:ext uri="{FF2B5EF4-FFF2-40B4-BE49-F238E27FC236}">
                <a16:creationId xmlns:a16="http://schemas.microsoft.com/office/drawing/2014/main" id="{1F583264-5E4A-4B8E-2DF3-4D4D87AE25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48867" y="4087463"/>
            <a:ext cx="5811688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FontTx/>
              <a:buNone/>
              <a:defRPr sz="1400" b="0" i="0">
                <a:solidFill>
                  <a:schemeClr val="tx1"/>
                </a:solidFill>
                <a:latin typeface="+mn-ea"/>
                <a:ea typeface="+mn-ea"/>
              </a:defRPr>
            </a:lvl1pPr>
            <a:lvl2pPr marL="504825" indent="0">
              <a:lnSpc>
                <a:spcPts val="1400"/>
              </a:lnSpc>
              <a:buFontTx/>
              <a:buNone/>
              <a:defRPr sz="11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2C0D8A5-5BC5-C16D-0B09-D6500BF95F77}"/>
              </a:ext>
            </a:extLst>
          </p:cNvPr>
          <p:cNvSpPr/>
          <p:nvPr userDrawn="1"/>
        </p:nvSpPr>
        <p:spPr>
          <a:xfrm>
            <a:off x="1948867" y="2768265"/>
            <a:ext cx="144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3790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スライド番号プレースホルダー 14">
            <a:extLst>
              <a:ext uri="{FF2B5EF4-FFF2-40B4-BE49-F238E27FC236}">
                <a16:creationId xmlns:a16="http://schemas.microsoft.com/office/drawing/2014/main" id="{C7747173-F1BD-41C8-EE7B-B137F7BF11F2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542400" y="7005600"/>
            <a:ext cx="3607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9BF854DB-42D3-EE44-9486-1E8138C63EF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タイトル プレースホルダー 21">
            <a:extLst>
              <a:ext uri="{FF2B5EF4-FFF2-40B4-BE49-F238E27FC236}">
                <a16:creationId xmlns:a16="http://schemas.microsoft.com/office/drawing/2014/main" id="{29005AB4-90F9-48FF-9280-CAA39E8B05F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68001" y="612000"/>
            <a:ext cx="8820000" cy="720000"/>
          </a:xfrm>
          <a:prstGeom prst="rect">
            <a:avLst/>
          </a:prstGeom>
        </p:spPr>
        <p:txBody>
          <a:bodyPr vert="horz" lIns="72000" tIns="108000" rIns="0" bIns="7200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7525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3" r:id="rId2"/>
    <p:sldLayoutId id="2147483729" r:id="rId3"/>
    <p:sldLayoutId id="2147483734" r:id="rId4"/>
    <p:sldLayoutId id="2147483730" r:id="rId5"/>
    <p:sldLayoutId id="2147483741" r:id="rId6"/>
    <p:sldLayoutId id="2147483749" r:id="rId7"/>
    <p:sldLayoutId id="2147483747" r:id="rId8"/>
    <p:sldLayoutId id="2147483748" r:id="rId9"/>
  </p:sldLayoutIdLst>
  <p:hf hdr="0" ftr="0" dt="0"/>
  <p:txStyles>
    <p:titleStyle>
      <a:lvl1pPr algn="l" defTabSz="1006475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kumimoji="1" sz="1800" b="0" i="0" kern="1200">
          <a:solidFill>
            <a:schemeClr val="tx1"/>
          </a:solidFill>
          <a:latin typeface="+mj-ea"/>
          <a:ea typeface="+mj-ea"/>
          <a:cs typeface="Yu Gothic Medium" panose="020B0400000000000000" pitchFamily="34" charset="-128"/>
        </a:defRPr>
      </a:lvl1pPr>
      <a:lvl2pPr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2pPr>
      <a:lvl3pPr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3pPr>
      <a:lvl4pPr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4pPr>
      <a:lvl5pPr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5pPr>
      <a:lvl6pPr marL="457200"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6pPr>
      <a:lvl7pPr marL="914400"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7pPr>
      <a:lvl8pPr marL="1371600"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8pPr>
      <a:lvl9pPr marL="1828800" algn="l" defTabSz="100647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800">
          <a:solidFill>
            <a:schemeClr val="tx1"/>
          </a:solidFill>
          <a:latin typeface="Calibri Light" charset="0"/>
          <a:ea typeface="ＭＳ Ｐゴシック" charset="-128"/>
          <a:cs typeface="ＭＳ Ｐゴシック" charset="-128"/>
        </a:defRPr>
      </a:lvl9pPr>
    </p:titleStyle>
    <p:bodyStyle>
      <a:lvl1pPr marL="250825" indent="-250825" algn="l" defTabSz="1006475" rtl="0" eaLnBrk="1" fontAlgn="base" hangingPunct="1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kumimoji="1" sz="3000" kern="1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55650" indent="-250825" algn="l" defTabSz="1006475" rtl="0" eaLnBrk="1" fontAlgn="base" hangingPunct="1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ＭＳ Ｐゴシック" charset="-128"/>
        </a:defRPr>
      </a:lvl2pPr>
      <a:lvl3pPr marL="1258888" indent="-250825" algn="l" defTabSz="1006475" rtl="0" eaLnBrk="1" fontAlgn="base" hangingPunct="1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kumimoji="1" sz="2200" kern="1200">
          <a:solidFill>
            <a:schemeClr val="tx1"/>
          </a:solidFill>
          <a:latin typeface="+mn-lt"/>
          <a:ea typeface="+mn-ea"/>
          <a:cs typeface="ＭＳ Ｐゴシック" charset="-128"/>
        </a:defRPr>
      </a:lvl3pPr>
      <a:lvl4pPr marL="1763713" indent="-250825" algn="l" defTabSz="1006475" rtl="0" eaLnBrk="1" fontAlgn="base" hangingPunct="1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kumimoji="1" sz="1900" kern="1200">
          <a:solidFill>
            <a:schemeClr val="tx1"/>
          </a:solidFill>
          <a:latin typeface="+mn-lt"/>
          <a:ea typeface="+mn-ea"/>
          <a:cs typeface="ＭＳ Ｐゴシック" charset="-128"/>
        </a:defRPr>
      </a:lvl4pPr>
      <a:lvl5pPr marL="2266950" indent="-250825" algn="l" defTabSz="1006475" rtl="0" eaLnBrk="1" fontAlgn="base" hangingPunct="1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kumimoji="1" sz="1900" kern="1200">
          <a:solidFill>
            <a:schemeClr val="tx1"/>
          </a:solidFill>
          <a:latin typeface="+mn-lt"/>
          <a:ea typeface="+mn-ea"/>
          <a:cs typeface="ＭＳ Ｐゴシック" charset="-128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10275A-F8E1-BB95-61A7-FF5E52C47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85" y="2370938"/>
            <a:ext cx="7958241" cy="487313"/>
          </a:xfrm>
        </p:spPr>
        <p:txBody>
          <a:bodyPr/>
          <a:lstStyle/>
          <a:p>
            <a:r>
              <a:rPr kumimoji="1" lang="ja-JP" altLang="en-US" sz="3600"/>
              <a:t>当社のシステムについて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940E11-6DF1-0255-A7D7-81E6A2160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3979" y="703324"/>
            <a:ext cx="5602220" cy="246221"/>
          </a:xfrm>
        </p:spPr>
        <p:txBody>
          <a:bodyPr/>
          <a:lstStyle/>
          <a:p>
            <a:pPr>
              <a:defRPr/>
            </a:pPr>
            <a:r>
              <a:rPr lang="en-US" altLang="ja-JP" sz="1600">
                <a:solidFill>
                  <a:srgbClr val="211614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YuGothic Medium"/>
              </a:rPr>
              <a:t>2025</a:t>
            </a:r>
            <a:r>
              <a:rPr lang="ja-JP" altLang="en-US" sz="1600">
                <a:solidFill>
                  <a:srgbClr val="211614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YuGothic Medium"/>
              </a:rPr>
              <a:t>年度新入社員研修</a:t>
            </a:r>
            <a:endParaRPr lang="ja-JP" altLang="en-US" sz="1600">
              <a:latin typeface="游ゴシック Medium" panose="020B0500000000000000" pitchFamily="50" charset="-128"/>
              <a:ea typeface="游ゴシック Medium" panose="020B0500000000000000" pitchFamily="50" charset="-128"/>
              <a:cs typeface="YuGothic Medium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BD0F88-1168-9BC5-3D3F-2DBBC51B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15688" y="4307977"/>
            <a:ext cx="1780526" cy="230832"/>
          </a:xfrm>
        </p:spPr>
        <p:txBody>
          <a:bodyPr/>
          <a:lstStyle/>
          <a:p>
            <a:r>
              <a:rPr kumimoji="1" lang="en-US" altLang="ja-JP"/>
              <a:t>2025</a:t>
            </a:r>
            <a:r>
              <a:rPr kumimoji="1" lang="ja-JP" altLang="en-US"/>
              <a:t>年</a:t>
            </a:r>
            <a:r>
              <a:rPr kumimoji="1" lang="en-US" altLang="ja-JP"/>
              <a:t>4</a:t>
            </a:r>
            <a:r>
              <a:rPr kumimoji="1" lang="ja-JP" altLang="en-US"/>
              <a:t>月</a:t>
            </a:r>
            <a:r>
              <a:rPr kumimoji="1" lang="en-US" altLang="ja-JP"/>
              <a:t>28</a:t>
            </a:r>
            <a:r>
              <a:rPr kumimoji="1" lang="ja-JP" altLang="en-US"/>
              <a:t>日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65F066B-EE58-C960-50B0-ED78714A10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15687" y="4621948"/>
            <a:ext cx="4800511" cy="388592"/>
          </a:xfrm>
        </p:spPr>
        <p:txBody>
          <a:bodyPr/>
          <a:lstStyle/>
          <a:p>
            <a:r>
              <a:rPr lang="ja-JP" altLang="en-US"/>
              <a:t>業務企画推進部　事務</a:t>
            </a:r>
            <a:r>
              <a:rPr lang="en-US" altLang="ja-JP"/>
              <a:t>IT</a:t>
            </a:r>
            <a:r>
              <a:rPr lang="ja-JP" altLang="en-US"/>
              <a:t>企画室　事務企画グループ</a:t>
            </a:r>
          </a:p>
        </p:txBody>
      </p:sp>
    </p:spTree>
    <p:extLst>
      <p:ext uri="{BB962C8B-B14F-4D97-AF65-F5344CB8AC3E}">
        <p14:creationId xmlns:p14="http://schemas.microsoft.com/office/powerpoint/2010/main" val="367528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67" y="591061"/>
            <a:ext cx="8820000" cy="720000"/>
          </a:xfrm>
        </p:spPr>
        <p:txBody>
          <a:bodyPr/>
          <a:lstStyle/>
          <a:p>
            <a:r>
              <a:rPr kumimoji="1" lang="ja-JP" altLang="en-US" sz="2800"/>
              <a:t>講義の目的</a:t>
            </a: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67" y="1818220"/>
            <a:ext cx="80772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 sz="3200">
                <a:latin typeface="Arial" charset="0"/>
              </a:rPr>
              <a:t>この講義では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 sz="3200">
                <a:latin typeface="Arial" charset="0"/>
              </a:rPr>
              <a:t>当社システムの全体像を見てもらうことで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 sz="3200">
                <a:latin typeface="Arial" charset="0"/>
              </a:rPr>
              <a:t>・システムに関する理解を深め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 sz="3200">
                <a:latin typeface="Arial" charset="0"/>
              </a:rPr>
              <a:t>・業務の流れの理解に繋げること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 sz="3200">
                <a:latin typeface="Arial" charset="0"/>
              </a:rPr>
              <a:t>　　　　　　　　　　　　　を目的としています。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86350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800"/>
              <a:t> 講義の流れ</a:t>
            </a: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993620"/>
            <a:ext cx="807720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１ ．ＭＴＢＪの</a:t>
            </a:r>
            <a:r>
              <a:rPr lang="ja-JP" altLang="en-US">
                <a:solidFill>
                  <a:srgbClr val="FF0000"/>
                </a:solidFill>
                <a:latin typeface="Arial" charset="0"/>
              </a:rPr>
              <a:t>システム全体像</a:t>
            </a:r>
            <a:r>
              <a:rPr lang="ja-JP" altLang="en-US">
                <a:latin typeface="Arial" charset="0"/>
              </a:rPr>
              <a:t>を知る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　　　（システムの種類とデータの流れ）</a:t>
            </a:r>
            <a:endParaRPr lang="en-US" altLang="ja-JP">
              <a:latin typeface="Arial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ja-JP" sz="800">
              <a:latin typeface="Arial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２ ．ＭＴＢＪの</a:t>
            </a:r>
            <a:r>
              <a:rPr lang="ja-JP" altLang="en-US">
                <a:solidFill>
                  <a:srgbClr val="FF0000"/>
                </a:solidFill>
                <a:latin typeface="Arial" charset="0"/>
              </a:rPr>
              <a:t>システム規模を理解</a:t>
            </a:r>
            <a:r>
              <a:rPr lang="ja-JP" altLang="en-US">
                <a:latin typeface="Arial" charset="0"/>
              </a:rPr>
              <a:t>する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　　　（システム数と投資額）</a:t>
            </a:r>
            <a:endParaRPr lang="en-US" altLang="ja-JP">
              <a:latin typeface="Arial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ja-JP" sz="800">
              <a:latin typeface="Arial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３．業務継続体制を知る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58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8D39E9-3729-3518-BB7D-F765CC9E7E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0512" y="3273735"/>
            <a:ext cx="2779333" cy="1012204"/>
          </a:xfrm>
        </p:spPr>
        <p:txBody>
          <a:bodyPr/>
          <a:lstStyle/>
          <a:p>
            <a:r>
              <a:rPr lang="ja-JP" altLang="en-US" sz="2800"/>
              <a:t>・システム分類</a:t>
            </a:r>
          </a:p>
          <a:p>
            <a:r>
              <a:rPr lang="ja-JP" altLang="en-US" sz="2800"/>
              <a:t>・データの流れ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05226" y="2393950"/>
            <a:ext cx="6419850" cy="719138"/>
          </a:xfrm>
        </p:spPr>
        <p:txBody>
          <a:bodyPr/>
          <a:lstStyle/>
          <a:p>
            <a:r>
              <a:rPr kumimoji="1" lang="ja-JP" altLang="en-US" sz="3200" b="1"/>
              <a:t> </a:t>
            </a:r>
            <a:r>
              <a:rPr kumimoji="1" lang="en-US" altLang="ja-JP" sz="3200" b="1"/>
              <a:t>1.</a:t>
            </a:r>
            <a:r>
              <a:rPr kumimoji="1" lang="ja-JP" altLang="en-US" sz="3200" b="1"/>
              <a:t>ＭＴＢＪのシステムの全体像</a:t>
            </a:r>
          </a:p>
        </p:txBody>
      </p:sp>
    </p:spTree>
    <p:extLst>
      <p:ext uri="{BB962C8B-B14F-4D97-AF65-F5344CB8AC3E}">
        <p14:creationId xmlns:p14="http://schemas.microsoft.com/office/powerpoint/2010/main" val="1429917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800"/>
              <a:t>ＭＴＢＪのシステムの分類</a:t>
            </a: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727660"/>
            <a:ext cx="80772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ja-JP">
                <a:latin typeface="Arial" charset="0"/>
              </a:rPr>
              <a:t>MTBJ</a:t>
            </a:r>
            <a:r>
              <a:rPr lang="ja-JP" altLang="en-US">
                <a:latin typeface="Arial" charset="0"/>
              </a:rPr>
              <a:t>のシステムは大別すると</a:t>
            </a:r>
            <a:r>
              <a:rPr lang="en-US" altLang="ja-JP">
                <a:latin typeface="Arial" charset="0"/>
              </a:rPr>
              <a:t>6</a:t>
            </a:r>
            <a:r>
              <a:rPr lang="ja-JP" altLang="en-US">
                <a:latin typeface="Arial" charset="0"/>
              </a:rPr>
              <a:t>種類に分類されます。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>
              <a:latin typeface="Arial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737AA4-F1D8-A135-C99A-810E121EF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89281"/>
            <a:ext cx="4191000" cy="457200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/>
              <a:t>① </a:t>
            </a:r>
            <a:r>
              <a:rPr lang="ja-JP" altLang="en-US" sz="2400"/>
              <a:t>決済系システム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AD91644-DAE8-EA9D-20EE-2715757D9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23042"/>
            <a:ext cx="4191000" cy="4572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 lIns="74295" tIns="8890" rIns="74295" bIns="889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/>
              <a:t>② </a:t>
            </a:r>
            <a:r>
              <a:rPr lang="ja-JP" altLang="en-US" sz="2400"/>
              <a:t>商品管理系システム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3E3D9C7-71B5-68F8-24FA-B592E95B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24791"/>
            <a:ext cx="4191000" cy="4572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74295" tIns="8890" rIns="74295" bIns="889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/>
              <a:t>③ </a:t>
            </a:r>
            <a:r>
              <a:rPr lang="ja-JP" altLang="en-US" sz="2400"/>
              <a:t>ファンド管理系システム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6584602-BEAD-6152-61B0-84CCED1D5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19600"/>
            <a:ext cx="41910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74295" tIns="8890" rIns="74295" bIns="889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/>
              <a:t>④ </a:t>
            </a:r>
            <a:r>
              <a:rPr lang="ja-JP" altLang="en-US" sz="2400"/>
              <a:t>ディスクロ系システム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0A26BE70-4DBA-ED4A-CE5C-E44FC98D5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033827"/>
            <a:ext cx="4191000" cy="4572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lIns="74295" tIns="8890" rIns="74295" bIns="889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/>
              <a:t>⑤ </a:t>
            </a:r>
            <a:r>
              <a:rPr lang="ja-JP" altLang="en-US" sz="2400"/>
              <a:t>開示系システム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3137FC5-9C40-C5EC-33B9-DDE61D383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636353"/>
            <a:ext cx="4191000" cy="457200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</a:extLst>
        </p:spPr>
        <p:txBody>
          <a:bodyPr lIns="74295" tIns="8890" rIns="74295" bIns="889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/>
              <a:t>⑥ </a:t>
            </a:r>
            <a:r>
              <a:rPr lang="ja-JP" altLang="en-US" sz="2400"/>
              <a:t>その他システム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EB8F7382-50CC-9B67-312E-4EF23A851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621293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5113" indent="-265113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822325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230313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383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E60012"/>
              </a:buClr>
              <a:buSzTx/>
              <a:buFont typeface="Wingdings" pitchFamily="2" charset="2"/>
              <a:buNone/>
            </a:pPr>
            <a:r>
              <a:rPr lang="ja-JP" altLang="en-US" sz="1800"/>
              <a:t>取引決済共通、</a:t>
            </a:r>
            <a:r>
              <a:rPr lang="en-US" altLang="ja-JP" sz="1800"/>
              <a:t>W-Bank</a:t>
            </a:r>
            <a:r>
              <a:rPr lang="ja-JP" altLang="en-US" sz="1800"/>
              <a:t>、</a:t>
            </a:r>
            <a:r>
              <a:rPr lang="en-US" altLang="ja-JP" sz="1800"/>
              <a:t>RTGS</a:t>
            </a:r>
            <a:r>
              <a:rPr lang="ja-JP" altLang="en-US" sz="1800"/>
              <a:t>等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2EE6497F-5FBB-D1D6-8BA7-E8153FDDB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260019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5113" indent="-265113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822325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230313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383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E60012"/>
              </a:buClr>
              <a:buSzTx/>
              <a:buFont typeface="Wingdings" pitchFamily="2" charset="2"/>
              <a:buNone/>
            </a:pPr>
            <a:r>
              <a:rPr lang="ja-JP" altLang="en-US" sz="1800">
                <a:latin typeface="Arial" charset="0"/>
              </a:rPr>
              <a:t>株式、新債券、外国証券、金融先物等</a:t>
            </a: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3411AE82-762E-E9D1-3D32-F86022DCE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62891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5113" indent="-265113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822325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230313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383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E60012"/>
              </a:buClr>
              <a:buSzTx/>
              <a:buFont typeface="Wingdings" pitchFamily="2" charset="2"/>
              <a:buNone/>
            </a:pPr>
            <a:r>
              <a:rPr lang="ja-JP" altLang="en-US" sz="1800">
                <a:latin typeface="Arial" charset="0"/>
              </a:rPr>
              <a:t>年金ﾌｧﾝﾄﾞ管理、投信ﾌｧﾝﾄﾞ管理等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00973E57-267C-79C0-E0EA-902BF55B0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577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5113" indent="-265113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822325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230313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383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E60012"/>
              </a:buClr>
              <a:buSzTx/>
              <a:buFont typeface="Wingdings" pitchFamily="2" charset="2"/>
              <a:buNone/>
            </a:pPr>
            <a:r>
              <a:rPr lang="ja-JP" altLang="en-US" sz="1800"/>
              <a:t>受託財産運用支援、</a:t>
            </a:r>
            <a:r>
              <a:rPr lang="en-US" altLang="ja-JP" sz="1800"/>
              <a:t>DQ</a:t>
            </a:r>
            <a:r>
              <a:rPr lang="ja-JP" altLang="en-US" sz="1800"/>
              <a:t>等</a:t>
            </a: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E4A86F68-ED3F-DE7E-347B-83C04660A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090609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5113" indent="-265113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822325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230313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383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E60012"/>
              </a:buClr>
              <a:buSzTx/>
              <a:buFont typeface="Wingdings" pitchFamily="2" charset="2"/>
              <a:buNone/>
            </a:pPr>
            <a:r>
              <a:rPr lang="en-US" altLang="ja-JP" sz="1800"/>
              <a:t>Web</a:t>
            </a:r>
            <a:r>
              <a:rPr lang="ja-JP" altLang="en-US" sz="1800"/>
              <a:t>開示</a:t>
            </a:r>
            <a:r>
              <a:rPr lang="en-US" altLang="ja-JP" sz="1800"/>
              <a:t>(</a:t>
            </a:r>
            <a:r>
              <a:rPr lang="en-US" altLang="ja-JP" sz="1800" err="1"/>
              <a:t>MaiNet</a:t>
            </a:r>
            <a:r>
              <a:rPr lang="en-US" altLang="ja-JP" sz="1800"/>
              <a:t>)</a:t>
            </a:r>
            <a:r>
              <a:rPr lang="ja-JP" altLang="en-US" sz="1800"/>
              <a:t>、</a:t>
            </a:r>
            <a:r>
              <a:rPr lang="en-US" altLang="ja-JP" sz="1800"/>
              <a:t>SYNTAX</a:t>
            </a:r>
            <a:r>
              <a:rPr lang="ja-JP" altLang="en-US" sz="1800"/>
              <a:t>、</a:t>
            </a:r>
            <a:r>
              <a:rPr lang="en-US" altLang="ja-JP" sz="1800"/>
              <a:t>XNET</a:t>
            </a:r>
            <a:r>
              <a:rPr lang="ja-JP" altLang="en-US" sz="1800"/>
              <a:t>等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0AE2BDDC-426F-2CE1-D2FB-633A7CD20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663994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5113" indent="-265113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822325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230313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383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E60012"/>
              </a:buClr>
              <a:buSzTx/>
              <a:buFont typeface="Wingdings" pitchFamily="2" charset="2"/>
              <a:buNone/>
            </a:pPr>
            <a:r>
              <a:rPr lang="ja-JP" altLang="en-US" sz="1800"/>
              <a:t>社内</a:t>
            </a:r>
            <a:r>
              <a:rPr lang="en-US" altLang="ja-JP" sz="1800"/>
              <a:t>OA</a:t>
            </a:r>
            <a:r>
              <a:rPr lang="ja-JP" altLang="en-US" sz="1800"/>
              <a:t>、ネットワーク等</a:t>
            </a:r>
          </a:p>
        </p:txBody>
      </p:sp>
    </p:spTree>
    <p:extLst>
      <p:ext uri="{BB962C8B-B14F-4D97-AF65-F5344CB8AC3E}">
        <p14:creationId xmlns:p14="http://schemas.microsoft.com/office/powerpoint/2010/main" val="77507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nimBg="1" autoUpdateAnimBg="0"/>
      <p:bldP spid="10" grpId="0" animBg="1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800"/>
              <a:t>データの流れ</a:t>
            </a: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993620"/>
            <a:ext cx="807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>
              <a:latin typeface="Arial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D678EB9-F58D-8C22-B379-6BEBB85ADAAE}"/>
              </a:ext>
            </a:extLst>
          </p:cNvPr>
          <p:cNvSpPr/>
          <p:nvPr/>
        </p:nvSpPr>
        <p:spPr bwMode="auto">
          <a:xfrm>
            <a:off x="2178050" y="1746250"/>
            <a:ext cx="5676900" cy="4718050"/>
          </a:xfrm>
          <a:prstGeom prst="rect">
            <a:avLst/>
          </a:prstGeom>
          <a:ln>
            <a:headEnd type="none" w="med" len="med"/>
            <a:tailEnd type="none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HGPｺﾞｼｯｸE" pitchFamily="50" charset="-128"/>
            </a:endParaRPr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992A9798-B969-F442-1A3D-BA9D07C6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756" y="3211169"/>
            <a:ext cx="2038350" cy="319431"/>
          </a:xfrm>
          <a:prstGeom prst="rightArrow">
            <a:avLst>
              <a:gd name="adj1" fmla="val 48574"/>
              <a:gd name="adj2" fmla="val 44522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437130BF-FF54-E75C-008E-AF8A01C66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199" y="5130800"/>
            <a:ext cx="2038350" cy="362743"/>
          </a:xfrm>
          <a:prstGeom prst="rightArrow">
            <a:avLst>
              <a:gd name="adj1" fmla="val 48574"/>
              <a:gd name="adj2" fmla="val 44522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6B2C7459-89FE-26F1-B81D-9ABDFE31C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756" y="2166937"/>
            <a:ext cx="762000" cy="3730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運用方法</a:t>
            </a: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E27591D4-8650-16C3-877D-6831B3C4F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756" y="4216400"/>
            <a:ext cx="7239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コンファメーション</a:t>
            </a:r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07307FCD-0899-0497-0E9E-B4AC2A46E671}"/>
              </a:ext>
            </a:extLst>
          </p:cNvPr>
          <p:cNvSpPr>
            <a:spLocks/>
          </p:cNvSpPr>
          <p:nvPr/>
        </p:nvSpPr>
        <p:spPr bwMode="auto">
          <a:xfrm>
            <a:off x="2316956" y="2166937"/>
            <a:ext cx="3346450" cy="4259263"/>
          </a:xfrm>
          <a:custGeom>
            <a:avLst/>
            <a:gdLst>
              <a:gd name="T0" fmla="*/ 0 w 538"/>
              <a:gd name="T1" fmla="*/ 0 h 570"/>
              <a:gd name="T2" fmla="*/ 0 w 538"/>
              <a:gd name="T3" fmla="*/ 2147483647 h 570"/>
              <a:gd name="T4" fmla="*/ 2147483647 w 538"/>
              <a:gd name="T5" fmla="*/ 2147483647 h 570"/>
              <a:gd name="T6" fmla="*/ 2147483647 w 538"/>
              <a:gd name="T7" fmla="*/ 2147483647 h 570"/>
              <a:gd name="T8" fmla="*/ 2147483647 w 538"/>
              <a:gd name="T9" fmla="*/ 2147483647 h 570"/>
              <a:gd name="T10" fmla="*/ 2147483647 w 538"/>
              <a:gd name="T11" fmla="*/ 0 h 570"/>
              <a:gd name="T12" fmla="*/ 0 w 538"/>
              <a:gd name="T13" fmla="*/ 0 h 57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8" h="570">
                <a:moveTo>
                  <a:pt x="0" y="0"/>
                </a:moveTo>
                <a:lnTo>
                  <a:pt x="0" y="570"/>
                </a:lnTo>
                <a:lnTo>
                  <a:pt x="538" y="570"/>
                </a:lnTo>
                <a:lnTo>
                  <a:pt x="538" y="476"/>
                </a:lnTo>
                <a:lnTo>
                  <a:pt x="134" y="476"/>
                </a:lnTo>
                <a:lnTo>
                  <a:pt x="134" y="0"/>
                </a:lnTo>
                <a:lnTo>
                  <a:pt x="0" y="0"/>
                </a:lnTo>
                <a:close/>
              </a:path>
            </a:pathLst>
          </a:custGeom>
          <a:solidFill>
            <a:srgbClr val="66FFFF"/>
          </a:solidFill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anchor="ctr" anchorCtr="1"/>
          <a:lstStyle/>
          <a:p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93CFF2DC-D648-9EC6-7438-7ED1F4F50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956" y="1473200"/>
            <a:ext cx="788988" cy="319088"/>
          </a:xfrm>
          <a:prstGeom prst="roundRect">
            <a:avLst>
              <a:gd name="adj" fmla="val 16667"/>
            </a:avLst>
          </a:prstGeom>
          <a:solidFill>
            <a:srgbClr val="66FFFF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決済系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</a:t>
            </a:r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626DFE66-742B-BE8A-83FB-236C0BD64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181" y="2724291"/>
            <a:ext cx="415925" cy="331564"/>
          </a:xfrm>
          <a:prstGeom prst="rightArrow">
            <a:avLst>
              <a:gd name="adj1" fmla="val 48574"/>
              <a:gd name="adj2" fmla="val 44522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669AD487-86CA-2538-CC06-BBD05537D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956" y="2082799"/>
            <a:ext cx="3621088" cy="308507"/>
          </a:xfrm>
          <a:prstGeom prst="rightArrow">
            <a:avLst>
              <a:gd name="adj1" fmla="val 55556"/>
              <a:gd name="adj2" fmla="val 159508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A79F83F0-5B8E-36A4-280D-2A719ACED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869" y="2446338"/>
            <a:ext cx="684213" cy="299243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取引決済</a:t>
            </a: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共通</a:t>
            </a:r>
          </a:p>
        </p:txBody>
      </p:sp>
      <p:sp>
        <p:nvSpPr>
          <p:cNvPr id="15" name="AutoShape 18">
            <a:extLst>
              <a:ext uri="{FF2B5EF4-FFF2-40B4-BE49-F238E27FC236}">
                <a16:creationId xmlns:a16="http://schemas.microsoft.com/office/drawing/2014/main" id="{C08A9F01-BDC5-D89E-4D30-0FB2982D7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81" y="3835400"/>
            <a:ext cx="1911351" cy="327024"/>
          </a:xfrm>
          <a:prstGeom prst="rightArrow">
            <a:avLst>
              <a:gd name="adj1" fmla="val 53333"/>
              <a:gd name="adj2" fmla="val 67055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CA359C7B-A213-CC77-DDE0-B2930DB5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769" y="2621756"/>
            <a:ext cx="696913" cy="1780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" name="AutoShape 20">
            <a:extLst>
              <a:ext uri="{FF2B5EF4-FFF2-40B4-BE49-F238E27FC236}">
                <a16:creationId xmlns:a16="http://schemas.microsoft.com/office/drawing/2014/main" id="{EADD4218-95EE-3B48-EA95-92B135097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281" y="1473200"/>
            <a:ext cx="893763" cy="319088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ディスクロ系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</a:t>
            </a: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C4CAF1E1-F0DC-21F9-5A82-481C636F8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156" y="2166937"/>
            <a:ext cx="790575" cy="4259264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ja-JP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9FC1C227-B52B-00C4-F700-8A604E006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156" y="1473200"/>
            <a:ext cx="784225" cy="303213"/>
          </a:xfrm>
          <a:prstGeom prst="roundRect">
            <a:avLst>
              <a:gd name="adj" fmla="val 16667"/>
            </a:avLst>
          </a:prstGeom>
          <a:solidFill>
            <a:srgbClr val="CCCCFF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開示系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</a:t>
            </a:r>
          </a:p>
        </p:txBody>
      </p:sp>
      <p:sp>
        <p:nvSpPr>
          <p:cNvPr id="20" name="AutoShape 27">
            <a:extLst>
              <a:ext uri="{FF2B5EF4-FFF2-40B4-BE49-F238E27FC236}">
                <a16:creationId xmlns:a16="http://schemas.microsoft.com/office/drawing/2014/main" id="{6E6564DA-B2CB-3A72-9E98-4EC3538AB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156" y="2387600"/>
            <a:ext cx="752475" cy="1162050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id="{E03BC947-5F5E-92BB-EDC8-7530CDE38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4407" y="2725918"/>
            <a:ext cx="460191" cy="42657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SYNTAX</a:t>
            </a:r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81E86BF-2979-B14B-9C2F-035129E59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506" y="3611562"/>
            <a:ext cx="752475" cy="1214438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3" name="Text Box 31">
            <a:extLst>
              <a:ext uri="{FF2B5EF4-FFF2-40B4-BE49-F238E27FC236}">
                <a16:creationId xmlns:a16="http://schemas.microsoft.com/office/drawing/2014/main" id="{C00FD46B-71A8-4600-FF00-13B168352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4538" y="3965133"/>
            <a:ext cx="460191" cy="44580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X-NET</a:t>
            </a:r>
          </a:p>
        </p:txBody>
      </p:sp>
      <p:sp>
        <p:nvSpPr>
          <p:cNvPr id="24" name="AutoShape 33">
            <a:extLst>
              <a:ext uri="{FF2B5EF4-FFF2-40B4-BE49-F238E27FC236}">
                <a16:creationId xmlns:a16="http://schemas.microsoft.com/office/drawing/2014/main" id="{3AF81179-D7DA-CCA3-148A-38B8F7B01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506" y="4884738"/>
            <a:ext cx="771525" cy="1383506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5" name="Text Box 34">
            <a:extLst>
              <a:ext uri="{FF2B5EF4-FFF2-40B4-BE49-F238E27FC236}">
                <a16:creationId xmlns:a16="http://schemas.microsoft.com/office/drawing/2014/main" id="{34B6D3A5-80C2-B22A-1D6A-38152B342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556" y="5359400"/>
            <a:ext cx="460426" cy="59913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WEB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開示</a:t>
            </a:r>
          </a:p>
        </p:txBody>
      </p:sp>
      <p:sp>
        <p:nvSpPr>
          <p:cNvPr id="26" name="AutoShape 42">
            <a:extLst>
              <a:ext uri="{FF2B5EF4-FFF2-40B4-BE49-F238E27FC236}">
                <a16:creationId xmlns:a16="http://schemas.microsoft.com/office/drawing/2014/main" id="{B3F575A4-AEF8-4B7C-C5CC-20396F31C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1473200"/>
            <a:ext cx="1035548" cy="31908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商品管理系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</a:t>
            </a:r>
          </a:p>
        </p:txBody>
      </p:sp>
      <p:sp>
        <p:nvSpPr>
          <p:cNvPr id="27" name="AutoShape 45">
            <a:extLst>
              <a:ext uri="{FF2B5EF4-FFF2-40B4-BE49-F238E27FC236}">
                <a16:creationId xmlns:a16="http://schemas.microsoft.com/office/drawing/2014/main" id="{61FC0ACC-8CB5-7121-EDB2-28C906CB3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606" y="2463800"/>
            <a:ext cx="1330325" cy="315913"/>
          </a:xfrm>
          <a:prstGeom prst="rightArrow">
            <a:avLst>
              <a:gd name="adj1" fmla="val 50000"/>
              <a:gd name="adj2" fmla="val 78744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8" name="AutoShape 46">
            <a:extLst>
              <a:ext uri="{FF2B5EF4-FFF2-40B4-BE49-F238E27FC236}">
                <a16:creationId xmlns:a16="http://schemas.microsoft.com/office/drawing/2014/main" id="{DE1CD790-DE87-A911-5A73-190199096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1581" y="5493543"/>
            <a:ext cx="354013" cy="1082675"/>
          </a:xfrm>
          <a:prstGeom prst="downArrow">
            <a:avLst>
              <a:gd name="adj1" fmla="val 50000"/>
              <a:gd name="adj2" fmla="val 33184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grpSp>
        <p:nvGrpSpPr>
          <p:cNvPr id="29" name="Group 47">
            <a:extLst>
              <a:ext uri="{FF2B5EF4-FFF2-40B4-BE49-F238E27FC236}">
                <a16:creationId xmlns:a16="http://schemas.microsoft.com/office/drawing/2014/main" id="{49663597-44E3-E5A5-D418-D3B73732A016}"/>
              </a:ext>
            </a:extLst>
          </p:cNvPr>
          <p:cNvGrpSpPr>
            <a:grpSpLocks/>
          </p:cNvGrpSpPr>
          <p:nvPr/>
        </p:nvGrpSpPr>
        <p:grpSpPr bwMode="auto">
          <a:xfrm>
            <a:off x="3377406" y="5890418"/>
            <a:ext cx="2127250" cy="377825"/>
            <a:chOff x="368" y="605"/>
            <a:chExt cx="255" cy="99"/>
          </a:xfrm>
        </p:grpSpPr>
        <p:sp>
          <p:nvSpPr>
            <p:cNvPr id="30" name="Text Box 48">
              <a:extLst>
                <a:ext uri="{FF2B5EF4-FFF2-40B4-BE49-F238E27FC236}">
                  <a16:creationId xmlns:a16="http://schemas.microsoft.com/office/drawing/2014/main" id="{A45D6176-F85A-5711-C681-E98508AFA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" y="605"/>
              <a:ext cx="111" cy="9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ja-JP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W</a:t>
              </a: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－</a:t>
              </a:r>
              <a:r>
                <a:rPr kumimoji="0" lang="en-US" altLang="ja-JP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BANK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システム</a:t>
              </a:r>
            </a:p>
          </p:txBody>
        </p:sp>
        <p:sp>
          <p:nvSpPr>
            <p:cNvPr id="31" name="Text Box 49">
              <a:extLst>
                <a:ext uri="{FF2B5EF4-FFF2-40B4-BE49-F238E27FC236}">
                  <a16:creationId xmlns:a16="http://schemas.microsoft.com/office/drawing/2014/main" id="{B98FB1B3-39DE-164A-8CC0-5B4B64F30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" y="605"/>
              <a:ext cx="135" cy="99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ja-JP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RTGS</a:t>
              </a: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流動性管理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システム</a:t>
              </a:r>
            </a:p>
          </p:txBody>
        </p:sp>
      </p:grpSp>
      <p:sp>
        <p:nvSpPr>
          <p:cNvPr id="32" name="AutoShape 50">
            <a:extLst>
              <a:ext uri="{FF2B5EF4-FFF2-40B4-BE49-F238E27FC236}">
                <a16:creationId xmlns:a16="http://schemas.microsoft.com/office/drawing/2014/main" id="{4E5A2D54-6C9F-47CA-A8BC-EF32161FA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756" y="5664993"/>
            <a:ext cx="366713" cy="228600"/>
          </a:xfrm>
          <a:prstGeom prst="downArrow">
            <a:avLst>
              <a:gd name="adj1" fmla="val 50000"/>
              <a:gd name="adj2" fmla="val 45000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3" name="AutoShape 52">
            <a:extLst>
              <a:ext uri="{FF2B5EF4-FFF2-40B4-BE49-F238E27FC236}">
                <a16:creationId xmlns:a16="http://schemas.microsoft.com/office/drawing/2014/main" id="{F8E3B731-4859-C64A-3B78-120D8EA53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219" y="3759993"/>
            <a:ext cx="287338" cy="304007"/>
          </a:xfrm>
          <a:prstGeom prst="rightArrow">
            <a:avLst>
              <a:gd name="adj1" fmla="val 50000"/>
              <a:gd name="adj2" fmla="val 54171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5" name="Rectangle 54">
            <a:extLst>
              <a:ext uri="{FF2B5EF4-FFF2-40B4-BE49-F238E27FC236}">
                <a16:creationId xmlns:a16="http://schemas.microsoft.com/office/drawing/2014/main" id="{B98CBD6B-C59E-F823-7ECF-2FEA40872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806" y="2353468"/>
            <a:ext cx="990600" cy="33147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6" name="Text Box 55">
            <a:extLst>
              <a:ext uri="{FF2B5EF4-FFF2-40B4-BE49-F238E27FC236}">
                <a16:creationId xmlns:a16="http://schemas.microsoft.com/office/drawing/2014/main" id="{30B85F89-B5D0-60C0-8E71-87A60997C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128" y="4449751"/>
            <a:ext cx="893956" cy="31784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株式信用</a:t>
            </a:r>
          </a:p>
        </p:txBody>
      </p:sp>
      <p:grpSp>
        <p:nvGrpSpPr>
          <p:cNvPr id="37" name="Group 56">
            <a:extLst>
              <a:ext uri="{FF2B5EF4-FFF2-40B4-BE49-F238E27FC236}">
                <a16:creationId xmlns:a16="http://schemas.microsoft.com/office/drawing/2014/main" id="{634BFF30-4FB9-FC13-7B3A-1D0C04E7F03F}"/>
              </a:ext>
            </a:extLst>
          </p:cNvPr>
          <p:cNvGrpSpPr>
            <a:grpSpLocks/>
          </p:cNvGrpSpPr>
          <p:nvPr/>
        </p:nvGrpSpPr>
        <p:grpSpPr bwMode="auto">
          <a:xfrm>
            <a:off x="3578128" y="2391307"/>
            <a:ext cx="902010" cy="1566536"/>
            <a:chOff x="419" y="178"/>
            <a:chExt cx="112" cy="207"/>
          </a:xfrm>
        </p:grpSpPr>
        <p:sp>
          <p:nvSpPr>
            <p:cNvPr id="41" name="Text Box 58">
              <a:extLst>
                <a:ext uri="{FF2B5EF4-FFF2-40B4-BE49-F238E27FC236}">
                  <a16:creationId xmlns:a16="http://schemas.microsoft.com/office/drawing/2014/main" id="{C9137932-1D72-0B70-E2C8-CB1A05741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" y="178"/>
              <a:ext cx="111" cy="4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外国証券</a:t>
              </a:r>
            </a:p>
          </p:txBody>
        </p:sp>
        <p:sp>
          <p:nvSpPr>
            <p:cNvPr id="42" name="Text Box 59">
              <a:extLst>
                <a:ext uri="{FF2B5EF4-FFF2-40B4-BE49-F238E27FC236}">
                  <a16:creationId xmlns:a16="http://schemas.microsoft.com/office/drawing/2014/main" id="{5E122666-C2D6-392F-CA7A-349E98856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" y="234"/>
              <a:ext cx="111" cy="41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新債券</a:t>
              </a:r>
            </a:p>
          </p:txBody>
        </p:sp>
        <p:sp>
          <p:nvSpPr>
            <p:cNvPr id="43" name="Text Box 60">
              <a:extLst>
                <a:ext uri="{FF2B5EF4-FFF2-40B4-BE49-F238E27FC236}">
                  <a16:creationId xmlns:a16="http://schemas.microsoft.com/office/drawing/2014/main" id="{C4604E89-EAFD-2CA7-5539-E3E89D28E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" y="287"/>
              <a:ext cx="111" cy="4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株式</a:t>
              </a:r>
            </a:p>
          </p:txBody>
        </p:sp>
        <p:sp>
          <p:nvSpPr>
            <p:cNvPr id="44" name="Text Box 61">
              <a:extLst>
                <a:ext uri="{FF2B5EF4-FFF2-40B4-BE49-F238E27FC236}">
                  <a16:creationId xmlns:a16="http://schemas.microsoft.com/office/drawing/2014/main" id="{DF5C86B8-4A76-6830-07C7-6D590FED2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" y="342"/>
              <a:ext cx="112" cy="4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金融先物</a:t>
              </a:r>
            </a:p>
          </p:txBody>
        </p:sp>
      </p:grpSp>
      <p:sp>
        <p:nvSpPr>
          <p:cNvPr id="38" name="Text Box 62">
            <a:extLst>
              <a:ext uri="{FF2B5EF4-FFF2-40B4-BE49-F238E27FC236}">
                <a16:creationId xmlns:a16="http://schemas.microsoft.com/office/drawing/2014/main" id="{DDF0E5C8-8902-70E1-4065-50BF99C79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128" y="5274642"/>
            <a:ext cx="893956" cy="31028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8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デリバティブ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8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管理</a:t>
            </a:r>
          </a:p>
        </p:txBody>
      </p:sp>
      <p:sp>
        <p:nvSpPr>
          <p:cNvPr id="39" name="Text Box 63">
            <a:extLst>
              <a:ext uri="{FF2B5EF4-FFF2-40B4-BE49-F238E27FC236}">
                <a16:creationId xmlns:a16="http://schemas.microsoft.com/office/drawing/2014/main" id="{2AA7F220-A4C1-CE3D-B3DF-A2C661A1F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128" y="4041089"/>
            <a:ext cx="902010" cy="31784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8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市場金融</a:t>
            </a:r>
            <a:endParaRPr kumimoji="0" lang="en-US" altLang="ja-JP" sz="8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8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汎用商品</a:t>
            </a:r>
          </a:p>
        </p:txBody>
      </p:sp>
      <p:sp>
        <p:nvSpPr>
          <p:cNvPr id="40" name="Text Box 64">
            <a:extLst>
              <a:ext uri="{FF2B5EF4-FFF2-40B4-BE49-F238E27FC236}">
                <a16:creationId xmlns:a16="http://schemas.microsoft.com/office/drawing/2014/main" id="{DC81D05B-5148-B76D-D465-8815905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128" y="4858413"/>
            <a:ext cx="893956" cy="32541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8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株式</a:t>
            </a:r>
            <a:endParaRPr kumimoji="0" lang="en-US" altLang="ja-JP" sz="8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8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レンディング</a:t>
            </a:r>
          </a:p>
        </p:txBody>
      </p:sp>
      <p:sp>
        <p:nvSpPr>
          <p:cNvPr id="45" name="AutoShape 66">
            <a:extLst>
              <a:ext uri="{FF2B5EF4-FFF2-40B4-BE49-F238E27FC236}">
                <a16:creationId xmlns:a16="http://schemas.microsoft.com/office/drawing/2014/main" id="{66D2286D-E88B-0992-CC5A-8B602A536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606" y="5280818"/>
            <a:ext cx="2286000" cy="317500"/>
          </a:xfrm>
          <a:prstGeom prst="rightArrow">
            <a:avLst>
              <a:gd name="adj1" fmla="val 55556"/>
              <a:gd name="adj2" fmla="val 86600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6" name="AutoShape 68">
            <a:extLst>
              <a:ext uri="{FF2B5EF4-FFF2-40B4-BE49-F238E27FC236}">
                <a16:creationId xmlns:a16="http://schemas.microsoft.com/office/drawing/2014/main" id="{6041A39A-6330-57CA-1491-8089E2D76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356" y="1473200"/>
            <a:ext cx="990600" cy="319088"/>
          </a:xfrm>
          <a:prstGeom prst="roundRect">
            <a:avLst>
              <a:gd name="adj" fmla="val 16667"/>
            </a:avLst>
          </a:prstGeom>
          <a:solidFill>
            <a:srgbClr val="99CC00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ファンド管理系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9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</a:t>
            </a:r>
          </a:p>
        </p:txBody>
      </p:sp>
      <p:sp>
        <p:nvSpPr>
          <p:cNvPr id="47" name="AutoShape 70">
            <a:extLst>
              <a:ext uri="{FF2B5EF4-FFF2-40B4-BE49-F238E27FC236}">
                <a16:creationId xmlns:a16="http://schemas.microsoft.com/office/drawing/2014/main" id="{6EE6AC10-CFBF-5858-3510-5CF2BAAC8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956" y="4749800"/>
            <a:ext cx="1143000" cy="327025"/>
          </a:xfrm>
          <a:prstGeom prst="rightArrow">
            <a:avLst>
              <a:gd name="adj1" fmla="val 50000"/>
              <a:gd name="adj2" fmla="val 87379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8" name="Text Box 71">
            <a:extLst>
              <a:ext uri="{FF2B5EF4-FFF2-40B4-BE49-F238E27FC236}">
                <a16:creationId xmlns:a16="http://schemas.microsoft.com/office/drawing/2014/main" id="{8CBD925B-CCDB-EB8B-017F-879791C2D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956" y="1854200"/>
            <a:ext cx="5438775" cy="1905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共通リソースシステム</a:t>
            </a:r>
          </a:p>
        </p:txBody>
      </p:sp>
      <p:grpSp>
        <p:nvGrpSpPr>
          <p:cNvPr id="49" name="Group 72">
            <a:extLst>
              <a:ext uri="{FF2B5EF4-FFF2-40B4-BE49-F238E27FC236}">
                <a16:creationId xmlns:a16="http://schemas.microsoft.com/office/drawing/2014/main" id="{6159AE94-8FA8-F033-8195-453FE4461580}"/>
              </a:ext>
            </a:extLst>
          </p:cNvPr>
          <p:cNvGrpSpPr>
            <a:grpSpLocks/>
          </p:cNvGrpSpPr>
          <p:nvPr/>
        </p:nvGrpSpPr>
        <p:grpSpPr bwMode="auto">
          <a:xfrm>
            <a:off x="4831556" y="2844800"/>
            <a:ext cx="882650" cy="2371725"/>
            <a:chOff x="593" y="320"/>
            <a:chExt cx="123" cy="183"/>
          </a:xfrm>
        </p:grpSpPr>
        <p:sp>
          <p:nvSpPr>
            <p:cNvPr id="50" name="Rectangle 73">
              <a:extLst>
                <a:ext uri="{FF2B5EF4-FFF2-40B4-BE49-F238E27FC236}">
                  <a16:creationId xmlns:a16="http://schemas.microsoft.com/office/drawing/2014/main" id="{55A98B99-3C87-3358-8CD9-795B3C328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" y="320"/>
              <a:ext cx="123" cy="183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ja-JP" altLang="en-US" sz="1000"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</p:txBody>
        </p:sp>
        <p:sp>
          <p:nvSpPr>
            <p:cNvPr id="51" name="Text Box 75">
              <a:extLst>
                <a:ext uri="{FF2B5EF4-FFF2-40B4-BE49-F238E27FC236}">
                  <a16:creationId xmlns:a16="http://schemas.microsoft.com/office/drawing/2014/main" id="{6503C009-99EB-E846-EA79-BFA1EBB6F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" y="344"/>
              <a:ext cx="111" cy="5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年金</a:t>
              </a:r>
              <a:endPara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ファンド</a:t>
              </a:r>
              <a:endPara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管理</a:t>
              </a:r>
            </a:p>
          </p:txBody>
        </p:sp>
        <p:sp>
          <p:nvSpPr>
            <p:cNvPr id="52" name="Text Box 76">
              <a:extLst>
                <a:ext uri="{FF2B5EF4-FFF2-40B4-BE49-F238E27FC236}">
                  <a16:creationId xmlns:a16="http://schemas.microsoft.com/office/drawing/2014/main" id="{9CB299FD-0022-4816-C375-44982BF8C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" y="416"/>
              <a:ext cx="111" cy="5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 anchorCtr="1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1600">
                  <a:solidFill>
                    <a:schemeClr val="tx1"/>
                  </a:solidFill>
                  <a:latin typeface="HGPｺﾞｼｯｸE" pitchFamily="50" charset="-128"/>
                  <a:ea typeface="HGPｺﾞｼｯｸE" pitchFamily="50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投信</a:t>
              </a:r>
              <a:endPara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ファンド</a:t>
              </a:r>
              <a:endPara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ja-JP" altLang="en-US" sz="1000" b="1"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管理</a:t>
              </a:r>
            </a:p>
          </p:txBody>
        </p:sp>
      </p:grpSp>
      <p:sp>
        <p:nvSpPr>
          <p:cNvPr id="53" name="AutoShape 18">
            <a:extLst>
              <a:ext uri="{FF2B5EF4-FFF2-40B4-BE49-F238E27FC236}">
                <a16:creationId xmlns:a16="http://schemas.microsoft.com/office/drawing/2014/main" id="{BE94461C-CE9A-195F-ADD8-607B3F913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944" y="2919863"/>
            <a:ext cx="865188" cy="327025"/>
          </a:xfrm>
          <a:prstGeom prst="rightArrow">
            <a:avLst>
              <a:gd name="adj1" fmla="val 53333"/>
              <a:gd name="adj2" fmla="val 64725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4" name="AutoShape 18">
            <a:extLst>
              <a:ext uri="{FF2B5EF4-FFF2-40B4-BE49-F238E27FC236}">
                <a16:creationId xmlns:a16="http://schemas.microsoft.com/office/drawing/2014/main" id="{73668724-A04C-2BD3-092D-AA636895F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944" y="5225098"/>
            <a:ext cx="865188" cy="327025"/>
          </a:xfrm>
          <a:prstGeom prst="rightArrow">
            <a:avLst>
              <a:gd name="adj1" fmla="val 53333"/>
              <a:gd name="adj2" fmla="val 64725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5" name="AutoShape 18">
            <a:extLst>
              <a:ext uri="{FF2B5EF4-FFF2-40B4-BE49-F238E27FC236}">
                <a16:creationId xmlns:a16="http://schemas.microsoft.com/office/drawing/2014/main" id="{D2B15256-E6E6-8E05-7FBE-E101B0A68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81" y="3432175"/>
            <a:ext cx="247650" cy="327818"/>
          </a:xfrm>
          <a:prstGeom prst="rightArrow">
            <a:avLst>
              <a:gd name="adj1" fmla="val 53333"/>
              <a:gd name="adj2" fmla="val 61469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6" name="AutoShape 14">
            <a:extLst>
              <a:ext uri="{FF2B5EF4-FFF2-40B4-BE49-F238E27FC236}">
                <a16:creationId xmlns:a16="http://schemas.microsoft.com/office/drawing/2014/main" id="{910416B1-B19E-A2CA-882E-6BD147B3B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756" y="2724486"/>
            <a:ext cx="762000" cy="331369"/>
          </a:xfrm>
          <a:prstGeom prst="rightArrow">
            <a:avLst>
              <a:gd name="adj1" fmla="val 48574"/>
              <a:gd name="adj2" fmla="val 44522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7" name="AutoShape 14">
            <a:extLst>
              <a:ext uri="{FF2B5EF4-FFF2-40B4-BE49-F238E27FC236}">
                <a16:creationId xmlns:a16="http://schemas.microsoft.com/office/drawing/2014/main" id="{3E3D6598-1416-EEFF-D16C-869759441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756" y="4743450"/>
            <a:ext cx="762000" cy="333375"/>
          </a:xfrm>
          <a:prstGeom prst="rightArrow">
            <a:avLst>
              <a:gd name="adj1" fmla="val 48574"/>
              <a:gd name="adj2" fmla="val 44522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8" name="Text Box 8">
            <a:extLst>
              <a:ext uri="{FF2B5EF4-FFF2-40B4-BE49-F238E27FC236}">
                <a16:creationId xmlns:a16="http://schemas.microsoft.com/office/drawing/2014/main" id="{DA7B3C90-4880-EAEF-E7F9-10C877F0F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56" y="2082800"/>
            <a:ext cx="304800" cy="201629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eaVert" lIns="0" tIns="0" rIns="0" bIns="0" anchor="ctr" anchorCtr="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運用者</a:t>
            </a: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9" name="Text Box 8">
            <a:extLst>
              <a:ext uri="{FF2B5EF4-FFF2-40B4-BE49-F238E27FC236}">
                <a16:creationId xmlns:a16="http://schemas.microsoft.com/office/drawing/2014/main" id="{FC5BA099-F53E-B4FB-AEAC-E7AD027E5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56" y="4167981"/>
            <a:ext cx="304800" cy="201629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lIns="0" tIns="0" rIns="0" bIns="0" anchor="ctr" anchorCtr="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ブローカー</a:t>
            </a: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0" name="Text Box 8">
            <a:extLst>
              <a:ext uri="{FF2B5EF4-FFF2-40B4-BE49-F238E27FC236}">
                <a16:creationId xmlns:a16="http://schemas.microsoft.com/office/drawing/2014/main" id="{79FB6AF8-302E-792A-B487-1722794DA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6336" y="2047710"/>
            <a:ext cx="304800" cy="201629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lIns="0" tIns="0" rIns="0" bIns="0" anchor="ctr" anchorCtr="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運用者</a:t>
            </a: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1" name="Text Box 8">
            <a:extLst>
              <a:ext uri="{FF2B5EF4-FFF2-40B4-BE49-F238E27FC236}">
                <a16:creationId xmlns:a16="http://schemas.microsoft.com/office/drawing/2014/main" id="{7C19D19A-D9C0-CE1D-2015-B7C38EB00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3956" y="4140200"/>
            <a:ext cx="304800" cy="201629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lIns="0" tIns="0" rIns="0" bIns="0" anchor="ctr" anchorCtr="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お客様</a:t>
            </a: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2" name="Text Box 10">
            <a:extLst>
              <a:ext uri="{FF2B5EF4-FFF2-40B4-BE49-F238E27FC236}">
                <a16:creationId xmlns:a16="http://schemas.microsoft.com/office/drawing/2014/main" id="{03A093E3-5069-3D1E-8545-56F8D0E0D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870" y="6654800"/>
            <a:ext cx="2224086" cy="219075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決済機関・カストディ</a:t>
            </a:r>
          </a:p>
        </p:txBody>
      </p:sp>
      <p:sp>
        <p:nvSpPr>
          <p:cNvPr id="63" name="AutoShape 50">
            <a:extLst>
              <a:ext uri="{FF2B5EF4-FFF2-40B4-BE49-F238E27FC236}">
                <a16:creationId xmlns:a16="http://schemas.microsoft.com/office/drawing/2014/main" id="{965538BD-6569-D1C5-39D5-87121E0F8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747" y="6350000"/>
            <a:ext cx="366713" cy="228600"/>
          </a:xfrm>
          <a:prstGeom prst="downArrow">
            <a:avLst>
              <a:gd name="adj1" fmla="val 50000"/>
              <a:gd name="adj2" fmla="val 45000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4" name="AutoShape 52">
            <a:extLst>
              <a:ext uri="{FF2B5EF4-FFF2-40B4-BE49-F238E27FC236}">
                <a16:creationId xmlns:a16="http://schemas.microsoft.com/office/drawing/2014/main" id="{E5AEBE34-7F74-A561-7D1B-A1F389104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811" y="3745741"/>
            <a:ext cx="287338" cy="318260"/>
          </a:xfrm>
          <a:prstGeom prst="rightArrow">
            <a:avLst>
              <a:gd name="adj1" fmla="val 50000"/>
              <a:gd name="adj2" fmla="val 54171"/>
            </a:avLst>
          </a:prstGeom>
          <a:ln w="9525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10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5" name="Text Box 28">
            <a:extLst>
              <a:ext uri="{FF2B5EF4-FFF2-40B4-BE49-F238E27FC236}">
                <a16:creationId xmlns:a16="http://schemas.microsoft.com/office/drawing/2014/main" id="{AB271231-5E0F-F0D3-B686-8650582F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0756" y="3073400"/>
            <a:ext cx="609600" cy="7966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 anchorCtr="1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受託財産</a:t>
            </a:r>
            <a:endParaRPr kumimoji="0" lang="en-US" altLang="ja-JP" sz="1000" b="1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ja-JP" altLang="en-US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運用支援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ja-JP" sz="1000" b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(DWH)</a:t>
            </a:r>
          </a:p>
        </p:txBody>
      </p:sp>
      <p:sp>
        <p:nvSpPr>
          <p:cNvPr id="66" name="フローチャート : 書類 3">
            <a:extLst>
              <a:ext uri="{FF2B5EF4-FFF2-40B4-BE49-F238E27FC236}">
                <a16:creationId xmlns:a16="http://schemas.microsoft.com/office/drawing/2014/main" id="{48D1F1B9-D9D6-05DB-259E-3A993FAAF38A}"/>
              </a:ext>
            </a:extLst>
          </p:cNvPr>
          <p:cNvSpPr/>
          <p:nvPr/>
        </p:nvSpPr>
        <p:spPr bwMode="auto">
          <a:xfrm>
            <a:off x="7955756" y="4264927"/>
            <a:ext cx="609600" cy="496848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HGPｺﾞｼｯｸE" pitchFamily="50" charset="-128"/>
              </a:rPr>
              <a:t>定型レポート</a:t>
            </a:r>
          </a:p>
        </p:txBody>
      </p:sp>
    </p:spTree>
    <p:extLst>
      <p:ext uri="{BB962C8B-B14F-4D97-AF65-F5344CB8AC3E}">
        <p14:creationId xmlns:p14="http://schemas.microsoft.com/office/powerpoint/2010/main" val="162635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800"/>
              <a:t>システム画面サンプル①</a:t>
            </a: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732010"/>
            <a:ext cx="807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取引決済共通システム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455EAB0-4072-B71B-4158-98944EFD0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382" y="2352809"/>
            <a:ext cx="6250727" cy="43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4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800"/>
              <a:t>システム画面サンプル②</a:t>
            </a: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732010"/>
            <a:ext cx="8077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新債券システム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F9C2467-85D8-D770-1AF5-14608E3B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11" y="2466632"/>
            <a:ext cx="7149600" cy="398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1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/>
              <a:t>まとめ</a:t>
            </a:r>
            <a:endParaRPr kumimoji="1" lang="ja-JP" altLang="en-US" sz="2800"/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732009"/>
            <a:ext cx="950642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Tx/>
              <a:buSzTx/>
            </a:pPr>
            <a:r>
              <a:rPr lang="ja-JP" altLang="en-US">
                <a:latin typeface="Arial" charset="0"/>
              </a:rPr>
              <a:t>ＭＴＢＪシステムは相互に連結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⇒システム間のデータの流れを俯瞰的に理解することが重要。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				　</a:t>
            </a:r>
          </a:p>
          <a:p>
            <a:pPr marL="457200" indent="-457200" eaLnBrk="1" hangingPunct="1">
              <a:spcBef>
                <a:spcPct val="50000"/>
              </a:spcBef>
              <a:buClrTx/>
              <a:buSzTx/>
            </a:pPr>
            <a:r>
              <a:rPr lang="ja-JP" altLang="en-US">
                <a:latin typeface="Arial" charset="0"/>
              </a:rPr>
              <a:t>ＭＴＢＪの業務はシステムに相当依存している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⇒</a:t>
            </a:r>
            <a:r>
              <a:rPr lang="ja-JP" altLang="en-US" u="sng">
                <a:solidFill>
                  <a:srgbClr val="FF0000"/>
                </a:solidFill>
                <a:latin typeface="Arial" charset="0"/>
              </a:rPr>
              <a:t>データの流れを理解することが、ＭＴＢＪ全体の業務とその流れを理解することにつながる。</a:t>
            </a:r>
          </a:p>
        </p:txBody>
      </p:sp>
    </p:spTree>
    <p:extLst>
      <p:ext uri="{BB962C8B-B14F-4D97-AF65-F5344CB8AC3E}">
        <p14:creationId xmlns:p14="http://schemas.microsoft.com/office/powerpoint/2010/main" val="45930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8D39E9-3729-3518-BB7D-F765CC9E7E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0512" y="3127607"/>
            <a:ext cx="3367161" cy="1304460"/>
          </a:xfrm>
        </p:spPr>
        <p:txBody>
          <a:bodyPr/>
          <a:lstStyle/>
          <a:p>
            <a:r>
              <a:rPr lang="ja-JP" altLang="en-US" sz="2800"/>
              <a:t>・システム数</a:t>
            </a:r>
          </a:p>
          <a:p>
            <a:r>
              <a:rPr lang="ja-JP" altLang="en-US" sz="2800"/>
              <a:t>・システムへの投資額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24276" y="2402119"/>
            <a:ext cx="6324600" cy="719138"/>
          </a:xfrm>
        </p:spPr>
        <p:txBody>
          <a:bodyPr/>
          <a:lstStyle/>
          <a:p>
            <a:r>
              <a:rPr kumimoji="1" lang="ja-JP" altLang="en-US" sz="3200" b="1"/>
              <a:t> ２</a:t>
            </a:r>
            <a:r>
              <a:rPr kumimoji="1" lang="en-US" altLang="ja-JP" sz="3200" b="1"/>
              <a:t>.</a:t>
            </a:r>
            <a:r>
              <a:rPr kumimoji="1" lang="ja-JP" altLang="en-US" sz="3200" b="1"/>
              <a:t>ＭＴＢＪのシステム規模</a:t>
            </a:r>
          </a:p>
        </p:txBody>
      </p:sp>
    </p:spTree>
    <p:extLst>
      <p:ext uri="{BB962C8B-B14F-4D97-AF65-F5344CB8AC3E}">
        <p14:creationId xmlns:p14="http://schemas.microsoft.com/office/powerpoint/2010/main" val="123916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/>
              <a:t>ＭＴＢＪのシステムの大きさ</a:t>
            </a:r>
            <a:endParaRPr kumimoji="1" lang="ja-JP" altLang="en-US" sz="2800"/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732009"/>
            <a:ext cx="950642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Tx/>
              <a:buSzTx/>
            </a:pPr>
            <a:r>
              <a:rPr lang="ja-JP" altLang="en-US"/>
              <a:t>システム数</a:t>
            </a:r>
            <a:endParaRPr lang="en-US" altLang="ja-JP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　　約６０システム</a:t>
            </a:r>
            <a:endParaRPr lang="en-US" altLang="ja-JP">
              <a:latin typeface="Arial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				　</a:t>
            </a:r>
          </a:p>
          <a:p>
            <a:pPr marL="457200" indent="-457200" eaLnBrk="1" hangingPunct="1">
              <a:spcBef>
                <a:spcPct val="50000"/>
              </a:spcBef>
              <a:buClrTx/>
              <a:buSzTx/>
            </a:pPr>
            <a:r>
              <a:rPr lang="ja-JP" altLang="en-US">
                <a:solidFill>
                  <a:srgbClr val="000000"/>
                </a:solidFill>
                <a:latin typeface="Arial" charset="0"/>
              </a:rPr>
              <a:t>年間システム投資額</a:t>
            </a:r>
            <a:endParaRPr lang="en-US" altLang="ja-JP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latin typeface="Arial" charset="0"/>
              </a:rPr>
              <a:t>　　</a:t>
            </a:r>
            <a:r>
              <a:rPr lang="en-US" altLang="ja-JP">
                <a:solidFill>
                  <a:srgbClr val="000000"/>
                </a:solidFill>
              </a:rPr>
              <a:t>2018</a:t>
            </a:r>
            <a:r>
              <a:rPr lang="ja-JP" altLang="en-US">
                <a:solidFill>
                  <a:srgbClr val="000000"/>
                </a:solidFill>
              </a:rPr>
              <a:t>年度以降、年間約</a:t>
            </a:r>
            <a:r>
              <a:rPr lang="en-US" altLang="ja-JP">
                <a:solidFill>
                  <a:srgbClr val="000000"/>
                </a:solidFill>
              </a:rPr>
              <a:t>70</a:t>
            </a:r>
            <a:r>
              <a:rPr lang="ja-JP" altLang="en-US">
                <a:solidFill>
                  <a:srgbClr val="000000"/>
                </a:solidFill>
              </a:rPr>
              <a:t>～</a:t>
            </a:r>
            <a:r>
              <a:rPr lang="en-US" altLang="ja-JP">
                <a:solidFill>
                  <a:srgbClr val="000000"/>
                </a:solidFill>
              </a:rPr>
              <a:t>90</a:t>
            </a:r>
            <a:r>
              <a:rPr lang="ja-JP" altLang="en-US">
                <a:solidFill>
                  <a:srgbClr val="000000"/>
                </a:solidFill>
              </a:rPr>
              <a:t>億円の規模で投資を継続</a:t>
            </a:r>
            <a:endParaRPr lang="en-US" altLang="ja-JP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ja-JP" altLang="en-US">
                <a:solidFill>
                  <a:srgbClr val="000000"/>
                </a:solidFill>
              </a:rPr>
              <a:t>　　</a:t>
            </a:r>
            <a:r>
              <a:rPr lang="en-US" altLang="ja-JP">
                <a:solidFill>
                  <a:srgbClr val="000000"/>
                </a:solidFill>
              </a:rPr>
              <a:t>2025</a:t>
            </a:r>
            <a:r>
              <a:rPr lang="ja-JP" altLang="en-US">
                <a:solidFill>
                  <a:srgbClr val="000000"/>
                </a:solidFill>
              </a:rPr>
              <a:t>年度は</a:t>
            </a:r>
            <a:r>
              <a:rPr lang="en-US" altLang="ja-JP">
                <a:solidFill>
                  <a:srgbClr val="000000"/>
                </a:solidFill>
              </a:rPr>
              <a:t>108</a:t>
            </a:r>
            <a:r>
              <a:rPr lang="ja-JP" altLang="en-US">
                <a:solidFill>
                  <a:srgbClr val="000000"/>
                </a:solidFill>
              </a:rPr>
              <a:t>億円となる見込み</a:t>
            </a:r>
            <a:endParaRPr lang="en-US" altLang="ja-JP">
              <a:solidFill>
                <a:srgbClr val="000000"/>
              </a:solidFill>
            </a:endParaRPr>
          </a:p>
          <a:p>
            <a:pPr marL="1200150" lvl="1" indent="-457200" eaLnBrk="1" hangingPunct="1">
              <a:spcBef>
                <a:spcPct val="50000"/>
              </a:spcBef>
              <a:buClrTx/>
              <a:buSzTx/>
            </a:pPr>
            <a:endParaRPr lang="en-US" altLang="ja-JP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45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800"/>
              <a:t>システム投資額</a:t>
            </a: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470400"/>
            <a:ext cx="807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buNone/>
            </a:pPr>
            <a:r>
              <a:rPr lang="ja-JP" altLang="en-US" sz="2400"/>
              <a:t>現在のシステム構成に至るまでの各年度のシステム投資額</a:t>
            </a:r>
          </a:p>
        </p:txBody>
      </p:sp>
      <p:graphicFrame>
        <p:nvGraphicFramePr>
          <p:cNvPr id="4" name="オブジェクト 1">
            <a:extLst>
              <a:ext uri="{FF2B5EF4-FFF2-40B4-BE49-F238E27FC236}">
                <a16:creationId xmlns:a16="http://schemas.microsoft.com/office/drawing/2014/main" id="{B55E5E36-0D62-E162-618F-63C1FC8B2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752266"/>
              </p:ext>
            </p:extLst>
          </p:nvPr>
        </p:nvGraphicFramePr>
        <p:xfrm>
          <a:off x="737640" y="2146041"/>
          <a:ext cx="9048560" cy="4602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184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/>
              <a:t>システム投資の必要性</a:t>
            </a:r>
            <a:endParaRPr kumimoji="1" lang="ja-JP" altLang="en-US" sz="2800"/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A216CAB7-BABE-41FA-A56E-66F80A07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0" y="1732009"/>
            <a:ext cx="940378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Tx/>
              <a:buSzTx/>
            </a:pPr>
            <a:r>
              <a:rPr lang="ja-JP" altLang="en-US">
                <a:solidFill>
                  <a:srgbClr val="FF0000"/>
                </a:solidFill>
              </a:rPr>
              <a:t>資産管理業務は、なぜ多額のシステム投資が必要か？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ja-JP" sz="800">
              <a:latin typeface="Arial" charset="0"/>
            </a:endParaRPr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ja-JP" altLang="en-US">
                <a:latin typeface="Arial" charset="0"/>
              </a:rPr>
              <a:t>顧客ニーズの拡がり（新規市場投資、多様化する運用手法、付加価値サービスの拡充、安全性・効率性の向上）や制度変更等にスピーディに対応していく必要あり</a:t>
            </a:r>
            <a:endParaRPr lang="en-US" altLang="ja-JP">
              <a:latin typeface="Arial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ja-JP" altLang="en-US" sz="800">
              <a:latin typeface="Arial" charset="0"/>
            </a:endParaRPr>
          </a:p>
          <a:p>
            <a:pPr marL="457200" indent="-4572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ja-JP" altLang="en-US">
                <a:latin typeface="Arial" charset="0"/>
              </a:rPr>
              <a:t>受託残高増加に比例して増加する</a:t>
            </a:r>
            <a:r>
              <a:rPr lang="ja-JP" altLang="en-US" b="1">
                <a:solidFill>
                  <a:srgbClr val="000000"/>
                </a:solidFill>
                <a:latin typeface="ＭＳ Ｐゴシック" charset="-128"/>
                <a:ea typeface="ＭＳ Ｐゴシック" charset="-128"/>
              </a:rPr>
              <a:t>事務処理を正確かつ効率的に実施するためのインフラ</a:t>
            </a:r>
          </a:p>
        </p:txBody>
      </p:sp>
      <p:sp>
        <p:nvSpPr>
          <p:cNvPr id="4" name="Text Box 1029">
            <a:extLst>
              <a:ext uri="{FF2B5EF4-FFF2-40B4-BE49-F238E27FC236}">
                <a16:creationId xmlns:a16="http://schemas.microsoft.com/office/drawing/2014/main" id="{BC149F6A-E794-EBC1-5939-E12D3F8EA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883" y="5706084"/>
            <a:ext cx="73616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None/>
            </a:pPr>
            <a:r>
              <a:rPr lang="ja-JP" altLang="en-US" sz="3200" b="1">
                <a:solidFill>
                  <a:srgbClr val="FF0000"/>
                </a:solidFill>
                <a:latin typeface="Arial" charset="0"/>
                <a:ea typeface="ＭＳ Ｐゴシック" charset="-128"/>
              </a:rPr>
              <a:t>⇒サービスの競争≒システム機能の競争</a:t>
            </a:r>
          </a:p>
        </p:txBody>
      </p:sp>
    </p:spTree>
    <p:extLst>
      <p:ext uri="{BB962C8B-B14F-4D97-AF65-F5344CB8AC3E}">
        <p14:creationId xmlns:p14="http://schemas.microsoft.com/office/powerpoint/2010/main" val="177281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8D39E9-3729-3518-BB7D-F765CC9E7E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0512" y="3392038"/>
            <a:ext cx="4430851" cy="775597"/>
          </a:xfrm>
        </p:spPr>
        <p:txBody>
          <a:bodyPr/>
          <a:lstStyle/>
          <a:p>
            <a:r>
              <a:rPr lang="ja-JP" altLang="en-US" sz="2800"/>
              <a:t>・システムバックアップ体制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86176" y="2479675"/>
            <a:ext cx="5962650" cy="719138"/>
          </a:xfrm>
        </p:spPr>
        <p:txBody>
          <a:bodyPr/>
          <a:lstStyle/>
          <a:p>
            <a:r>
              <a:rPr kumimoji="1" lang="zh-TW" altLang="en-US" sz="3200" b="1"/>
              <a:t>３</a:t>
            </a:r>
            <a:r>
              <a:rPr kumimoji="1" lang="en-US" altLang="zh-TW" sz="3200" b="1"/>
              <a:t>.</a:t>
            </a:r>
            <a:r>
              <a:rPr kumimoji="1" lang="zh-TW" altLang="en-US" sz="3200" b="1"/>
              <a:t>業務継続体制（危機管理）</a:t>
            </a:r>
            <a:endParaRPr kumimoji="1" lang="ja-JP" altLang="en-US" sz="3200" b="1"/>
          </a:p>
        </p:txBody>
      </p:sp>
    </p:spTree>
    <p:extLst>
      <p:ext uri="{BB962C8B-B14F-4D97-AF65-F5344CB8AC3E}">
        <p14:creationId xmlns:p14="http://schemas.microsoft.com/office/powerpoint/2010/main" val="985254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/>
              <a:t>オフィスとシステムセンター</a:t>
            </a:r>
            <a:endParaRPr kumimoji="1" lang="ja-JP" altLang="en-US" sz="280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F844012-5AAA-5C7C-A0E5-96C8BA747CE5}"/>
              </a:ext>
            </a:extLst>
          </p:cNvPr>
          <p:cNvGrpSpPr/>
          <p:nvPr/>
        </p:nvGrpSpPr>
        <p:grpSpPr>
          <a:xfrm>
            <a:off x="890298" y="1632879"/>
            <a:ext cx="8686139" cy="5439484"/>
            <a:chOff x="239183" y="763168"/>
            <a:chExt cx="8869494" cy="5612734"/>
          </a:xfrm>
        </p:grpSpPr>
        <p:sp>
          <p:nvSpPr>
            <p:cNvPr id="7" name="Text Box 33">
              <a:extLst>
                <a:ext uri="{FF2B5EF4-FFF2-40B4-BE49-F238E27FC236}">
                  <a16:creationId xmlns:a16="http://schemas.microsoft.com/office/drawing/2014/main" id="{589E5A4C-2C3C-42E4-7FBA-7B06AEC9B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016" y="771457"/>
              <a:ext cx="260667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1pPr>
              <a:lvl2pPr marL="742950" indent="-285750" eaLnBrk="0" hangingPunct="0"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2pPr>
              <a:lvl3pPr marL="1143000" indent="-228600" eaLnBrk="0" hangingPunct="0"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3pPr>
              <a:lvl4pPr marL="1600200" indent="-228600" eaLnBrk="0" hangingPunct="0"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4pPr>
              <a:lvl5pPr marL="2057400" indent="-228600" eaLnBrk="0" hangingPunct="0"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bg1"/>
                  </a:solidFill>
                  <a:latin typeface="HGP創英角ｺﾞｼｯｸUB" pitchFamily="50" charset="-128"/>
                  <a:ea typeface="HGP創英角ｺﾞｼｯｸUB" pitchFamily="50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ja-JP" altLang="en-US" sz="1400" b="1">
                  <a:solidFill>
                    <a:srgbClr val="000000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rPr>
                <a:t>江坂オフィス（大阪府吹田市</a:t>
              </a:r>
              <a:r>
                <a:rPr lang="ja-JP" altLang="en-US" sz="1400">
                  <a:solidFill>
                    <a:srgbClr val="000000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rPr>
                <a:t>）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CD8AF859-9DA3-729A-B826-96FA538EE861}"/>
                </a:ext>
              </a:extLst>
            </p:cNvPr>
            <p:cNvGrpSpPr/>
            <p:nvPr/>
          </p:nvGrpSpPr>
          <p:grpSpPr>
            <a:xfrm>
              <a:off x="239183" y="763168"/>
              <a:ext cx="8869494" cy="5612734"/>
              <a:chOff x="239183" y="699450"/>
              <a:chExt cx="8869494" cy="5675584"/>
            </a:xfrm>
          </p:grpSpPr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6D83B46B-3A7B-E143-FF07-171EEE125D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59019" y="5195516"/>
                <a:ext cx="1865710" cy="1179518"/>
              </a:xfrm>
              <a:prstGeom prst="rect">
                <a:avLst/>
              </a:prstGeom>
            </p:spPr>
          </p:pic>
          <p:pic>
            <p:nvPicPr>
              <p:cNvPr id="10" name="Picture 4" descr="C:\Users\A0109017\Desktop\日本地図.png">
                <a:extLst>
                  <a:ext uri="{FF2B5EF4-FFF2-40B4-BE49-F238E27FC236}">
                    <a16:creationId xmlns:a16="http://schemas.microsoft.com/office/drawing/2014/main" id="{375558D1-3F14-0748-AA0C-D86AFA2F82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6925" y="2274972"/>
                <a:ext cx="2857500" cy="31527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AutoShape 23">
                <a:extLst>
                  <a:ext uri="{FF2B5EF4-FFF2-40B4-BE49-F238E27FC236}">
                    <a16:creationId xmlns:a16="http://schemas.microsoft.com/office/drawing/2014/main" id="{8C295E97-4400-B959-DF4D-CD84A3CE1F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7887" y="2220032"/>
                <a:ext cx="608012" cy="517743"/>
              </a:xfrm>
              <a:prstGeom prst="wedgeRectCallout">
                <a:avLst>
                  <a:gd name="adj1" fmla="val -366024"/>
                  <a:gd name="adj2" fmla="val 344653"/>
                </a:avLst>
              </a:prstGeom>
              <a:solidFill>
                <a:srgbClr val="FF99CC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ja-JP" altLang="ja-JP" sz="16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AutoShape 24">
                <a:extLst>
                  <a:ext uri="{FF2B5EF4-FFF2-40B4-BE49-F238E27FC236}">
                    <a16:creationId xmlns:a16="http://schemas.microsoft.com/office/drawing/2014/main" id="{BA152578-142E-419A-F48F-080BC1115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5977" y="4395073"/>
                <a:ext cx="686345" cy="838201"/>
              </a:xfrm>
              <a:prstGeom prst="wedgeRectCallout">
                <a:avLst>
                  <a:gd name="adj1" fmla="val -386474"/>
                  <a:gd name="adj2" fmla="val -57796"/>
                </a:avLst>
              </a:prstGeom>
              <a:solidFill>
                <a:srgbClr val="FF99CC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ja-JP" altLang="ja-JP" sz="16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13" name="Picture 9" descr="C:\TEMP\C.Lotus.Notes.Data\RIMG0621.JPG">
                <a:extLst>
                  <a:ext uri="{FF2B5EF4-FFF2-40B4-BE49-F238E27FC236}">
                    <a16:creationId xmlns:a16="http://schemas.microsoft.com/office/drawing/2014/main" id="{28163513-E1BC-8EF2-C3E5-6C46525868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25948" y="4367489"/>
                <a:ext cx="1331002" cy="1559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AutoShape 26">
                <a:extLst>
                  <a:ext uri="{FF2B5EF4-FFF2-40B4-BE49-F238E27FC236}">
                    <a16:creationId xmlns:a16="http://schemas.microsoft.com/office/drawing/2014/main" id="{C2525409-2A60-7DF2-145A-8B838FDB4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9425" y="1970418"/>
                <a:ext cx="266702" cy="250238"/>
              </a:xfrm>
              <a:prstGeom prst="wedgeRectCallout">
                <a:avLst>
                  <a:gd name="adj1" fmla="val 198589"/>
                  <a:gd name="adj2" fmla="val 850143"/>
                </a:avLst>
              </a:prstGeom>
              <a:solidFill>
                <a:srgbClr val="FF99CC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ja-JP" altLang="ja-JP" sz="16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AutoShape 27">
                <a:extLst>
                  <a:ext uri="{FF2B5EF4-FFF2-40B4-BE49-F238E27FC236}">
                    <a16:creationId xmlns:a16="http://schemas.microsoft.com/office/drawing/2014/main" id="{2F78DEC3-53F7-E94A-14C9-9E27C55C8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183" y="4716061"/>
                <a:ext cx="3093396" cy="1397478"/>
              </a:xfrm>
              <a:prstGeom prst="wedgeRectCallout">
                <a:avLst>
                  <a:gd name="adj1" fmla="val 84874"/>
                  <a:gd name="adj2" fmla="val -61389"/>
                </a:avLst>
              </a:prstGeom>
              <a:solidFill>
                <a:srgbClr val="FFFFFF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182563" indent="-182563" algn="l" eaLnBrk="1" hangingPunct="1">
                  <a:spcBef>
                    <a:spcPts val="400"/>
                  </a:spcBef>
                  <a:buClr>
                    <a:srgbClr val="000099"/>
                  </a:buClr>
                  <a:buFont typeface="Wingdings" pitchFamily="2" charset="2"/>
                  <a:buChar char="ü"/>
                  <a:defRPr/>
                </a:pPr>
                <a: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2013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年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9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月首都圏同時被災によりシステムセンターが利用不能となるケースを想定し、遠隔地（愛知県）にシステムバックアップセンターを設置</a:t>
                </a:r>
                <a:endParaRPr lang="en-US" altLang="zh-TW" sz="110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marL="182563" indent="-182563" algn="l" eaLnBrk="1" hangingPunct="1">
                  <a:spcBef>
                    <a:spcPts val="400"/>
                  </a:spcBef>
                  <a:buClr>
                    <a:srgbClr val="000099"/>
                  </a:buClr>
                  <a:buFont typeface="Wingdings" pitchFamily="2" charset="2"/>
                  <a:buChar char="ü"/>
                  <a:defRPr/>
                </a:pP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同じく遠隔地（京都府）の三菱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UFJ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銀行関西</a:t>
                </a:r>
                <a:b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</a:b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ビジネスセンター（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BC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）</a:t>
                </a:r>
                <a:r>
                  <a:rPr lang="ja-JP" altLang="en-US" sz="8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（</a:t>
                </a:r>
                <a:r>
                  <a:rPr lang="en-US" altLang="ja-JP" sz="8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※</a:t>
                </a:r>
                <a:r>
                  <a:rPr lang="ja-JP" altLang="en-US" sz="8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）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に順次移設、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2022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年完了</a:t>
                </a:r>
                <a:endParaRPr lang="en-US" altLang="ja-JP" sz="110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eaLnBrk="1" hangingPunct="1">
                  <a:spcBef>
                    <a:spcPts val="400"/>
                  </a:spcBef>
                  <a:buClr>
                    <a:srgbClr val="000099"/>
                  </a:buClr>
                  <a:defRPr/>
                </a:pP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　　</a:t>
                </a:r>
                <a:r>
                  <a:rPr lang="en-US" altLang="ja-JP" sz="8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※</a:t>
                </a:r>
                <a:r>
                  <a:rPr lang="ja-JP" altLang="en-US" sz="8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日本ﾃﾞｰﾀｾﾝﾀｰ協会ﾌｧｼﾘﾃｨ基準　最高水準</a:t>
                </a:r>
                <a:r>
                  <a:rPr lang="en-US" altLang="ja-JP" sz="8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Tier-4</a:t>
                </a:r>
                <a:r>
                  <a:rPr lang="ja-JP" altLang="en-US" sz="8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準拠</a:t>
                </a:r>
                <a:endParaRPr lang="zh-TW" altLang="en-US" sz="110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  <a:p>
                <a:pPr eaLnBrk="1" hangingPunct="1">
                  <a:spcBef>
                    <a:spcPct val="50000"/>
                  </a:spcBef>
                  <a:buClr>
                    <a:srgbClr val="000099"/>
                  </a:buClr>
                  <a:buFont typeface="Wingdings" pitchFamily="2" charset="2"/>
                  <a:buChar char="ü"/>
                  <a:defRPr/>
                </a:pPr>
                <a:endParaRPr lang="ja-JP" altLang="en-US" sz="120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7" name="Text Box 28">
                <a:extLst>
                  <a:ext uri="{FF2B5EF4-FFF2-40B4-BE49-F238E27FC236}">
                    <a16:creationId xmlns:a16="http://schemas.microsoft.com/office/drawing/2014/main" id="{274E1224-7637-D373-FF22-FDD132E756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6307" y="699450"/>
                <a:ext cx="2811462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ja-JP" altLang="en-US" sz="1400" b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多摩センター（東京都</a:t>
                </a:r>
                <a:r>
                  <a:rPr lang="ja-JP" altLang="en-US" sz="14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）</a:t>
                </a:r>
              </a:p>
            </p:txBody>
          </p:sp>
          <p:sp>
            <p:nvSpPr>
              <p:cNvPr id="18" name="Text Box 31">
                <a:extLst>
                  <a:ext uri="{FF2B5EF4-FFF2-40B4-BE49-F238E27FC236}">
                    <a16:creationId xmlns:a16="http://schemas.microsoft.com/office/drawing/2014/main" id="{616A3B43-260F-B258-941C-C793B218AC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4790" y="3925144"/>
                <a:ext cx="2421219" cy="321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ja-JP" altLang="en-US" sz="1400" b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港南センター（東京都港区</a:t>
                </a:r>
                <a:r>
                  <a:rPr lang="ja-JP" altLang="en-US" sz="14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）</a:t>
                </a:r>
              </a:p>
            </p:txBody>
          </p:sp>
          <p:sp>
            <p:nvSpPr>
              <p:cNvPr id="19" name="Text Box 32">
                <a:extLst>
                  <a:ext uri="{FF2B5EF4-FFF2-40B4-BE49-F238E27FC236}">
                    <a16:creationId xmlns:a16="http://schemas.microsoft.com/office/drawing/2014/main" id="{34FE9E38-1034-F96A-EB9D-E201AB7372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2122" y="701164"/>
                <a:ext cx="2926555" cy="321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ja-JP" altLang="en-US" sz="1400" b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赤坂メインオフィス（東京都港区）</a:t>
                </a:r>
                <a:endParaRPr lang="ja-JP" altLang="en-US" sz="1400">
                  <a:solidFill>
                    <a:srgbClr val="000000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  <p:sp>
            <p:nvSpPr>
              <p:cNvPr id="20" name="AutoShape 27">
                <a:extLst>
                  <a:ext uri="{FF2B5EF4-FFF2-40B4-BE49-F238E27FC236}">
                    <a16:creationId xmlns:a16="http://schemas.microsoft.com/office/drawing/2014/main" id="{6B999606-D2C3-BE74-CCB0-C3E8D3A57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175" y="3064882"/>
                <a:ext cx="3079750" cy="1474423"/>
              </a:xfrm>
              <a:prstGeom prst="wedgeRectCallout">
                <a:avLst>
                  <a:gd name="adj1" fmla="val 85917"/>
                  <a:gd name="adj2" fmla="val 41628"/>
                </a:avLst>
              </a:prstGeom>
              <a:solidFill>
                <a:srgbClr val="FFFFFF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182563" indent="-182563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algn="l" eaLnBrk="1" hangingPunct="1">
                  <a:spcBef>
                    <a:spcPts val="400"/>
                  </a:spcBef>
                  <a:buClr>
                    <a:srgbClr val="000099"/>
                  </a:buClr>
                  <a:buFont typeface="Wingdings" pitchFamily="2" charset="2"/>
                  <a:buChar char="ü"/>
                </a:pP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2013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年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4</a:t>
                </a:r>
                <a:r>
                  <a:rPr lang="ja-JP" altLang="en-US" sz="1100" err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、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5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月首都圏同時被災により東京の</a:t>
                </a:r>
                <a:b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</a:b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オフィスが利用不能となるケースを想定し、大阪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BCP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拠点を設置</a:t>
                </a:r>
              </a:p>
              <a:p>
                <a:pPr algn="l" eaLnBrk="1" hangingPunct="1">
                  <a:spcBef>
                    <a:spcPts val="400"/>
                  </a:spcBef>
                  <a:buClr>
                    <a:srgbClr val="000099"/>
                  </a:buClr>
                  <a:buFont typeface="Wingdings" pitchFamily="2" charset="2"/>
                  <a:buChar char="ü"/>
                </a:pP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順次取り扱う業務を拡大し、デュアル・オペレー</a:t>
                </a:r>
                <a:b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</a:b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ション体制を強化</a:t>
                </a:r>
              </a:p>
              <a:p>
                <a:pPr eaLnBrk="1" hangingPunct="1">
                  <a:spcBef>
                    <a:spcPts val="400"/>
                  </a:spcBef>
                  <a:buClr>
                    <a:srgbClr val="000099"/>
                  </a:buClr>
                  <a:buFont typeface="Wingdings" pitchFamily="2" charset="2"/>
                  <a:buChar char="ü"/>
                </a:pP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2018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年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4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月大阪資産管理部に格上げ、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2021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年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4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月には資産管理・市場決済両業務を統合</a:t>
                </a:r>
              </a:p>
            </p:txBody>
          </p:sp>
          <p:sp>
            <p:nvSpPr>
              <p:cNvPr id="21" name="テキスト ボックス 1">
                <a:extLst>
                  <a:ext uri="{FF2B5EF4-FFF2-40B4-BE49-F238E27FC236}">
                    <a16:creationId xmlns:a16="http://schemas.microsoft.com/office/drawing/2014/main" id="{45FB0AFC-41E2-EB0D-0A1D-D6B4018765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9577" y="997528"/>
                <a:ext cx="1774825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r>
                  <a:rPr lang="ja-JP" altLang="en-US" sz="10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（システムセンター）</a:t>
                </a:r>
                <a:endParaRPr lang="en-US" altLang="ja-JP" sz="1000">
                  <a:solidFill>
                    <a:srgbClr val="000000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  <a:p>
                <a:pPr eaLnBrk="1" hangingPunct="1"/>
                <a:endParaRPr lang="ja-JP" altLang="en-US" sz="1800">
                  <a:solidFill>
                    <a:srgbClr val="000000"/>
                  </a:solidFill>
                  <a:latin typeface="Arial" pitchFamily="34" charset="0"/>
                  <a:ea typeface="ＭＳ Ｐゴシック" pitchFamily="50" charset="-128"/>
                </a:endParaRPr>
              </a:p>
            </p:txBody>
          </p:sp>
          <p:pic>
            <p:nvPicPr>
              <p:cNvPr id="22" name="Picture 4">
                <a:extLst>
                  <a:ext uri="{FF2B5EF4-FFF2-40B4-BE49-F238E27FC236}">
                    <a16:creationId xmlns:a16="http://schemas.microsoft.com/office/drawing/2014/main" id="{492744BA-4A7E-AB61-7DAA-3140420CC1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0200" y="1110703"/>
                <a:ext cx="1397333" cy="1633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3" name="テキスト ボックス 27">
                <a:extLst>
                  <a:ext uri="{FF2B5EF4-FFF2-40B4-BE49-F238E27FC236}">
                    <a16:creationId xmlns:a16="http://schemas.microsoft.com/office/drawing/2014/main" id="{74854928-9A19-01CA-81EC-358D994CA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1006" y="5237557"/>
                <a:ext cx="2570163" cy="240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r>
                  <a:rPr lang="ja-JP" altLang="en-US" sz="9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（システムバックアップセンター）</a:t>
                </a:r>
                <a:endParaRPr lang="en-US" altLang="ja-JP" sz="900">
                  <a:solidFill>
                    <a:srgbClr val="000000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3E99923-FC29-3148-661C-78D5BB5F97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035" y="999116"/>
                <a:ext cx="2570162" cy="522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r>
                  <a:rPr lang="ja-JP" altLang="en-US" sz="10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（バックアップオフィス）</a:t>
                </a:r>
                <a:endParaRPr lang="en-US" altLang="ja-JP" sz="1000">
                  <a:solidFill>
                    <a:srgbClr val="000000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  <a:p>
                <a:pPr eaLnBrk="1" hangingPunct="1"/>
                <a:endParaRPr lang="ja-JP" altLang="en-US" sz="1800">
                  <a:solidFill>
                    <a:srgbClr val="000000"/>
                  </a:solidFill>
                  <a:latin typeface="Arial" pitchFamily="34" charset="0"/>
                  <a:ea typeface="ＭＳ Ｐゴシック" pitchFamily="50" charset="-128"/>
                </a:endParaRPr>
              </a:p>
            </p:txBody>
          </p:sp>
          <p:sp>
            <p:nvSpPr>
              <p:cNvPr id="25" name="Oval 23">
                <a:extLst>
                  <a:ext uri="{FF2B5EF4-FFF2-40B4-BE49-F238E27FC236}">
                    <a16:creationId xmlns:a16="http://schemas.microsoft.com/office/drawing/2014/main" id="{85CB92A7-3601-C545-BB64-274601F62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2038" y="4166473"/>
                <a:ext cx="152400" cy="152400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endParaRPr lang="ja-JP" altLang="en-US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26" name="Oval 23">
                <a:extLst>
                  <a:ext uri="{FF2B5EF4-FFF2-40B4-BE49-F238E27FC236}">
                    <a16:creationId xmlns:a16="http://schemas.microsoft.com/office/drawing/2014/main" id="{F0CA70BB-F32D-702C-F81F-CF0DF5F6A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3950" y="4247436"/>
                <a:ext cx="152400" cy="152400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endParaRPr lang="ja-JP" altLang="en-US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27" name="Oval 23">
                <a:extLst>
                  <a:ext uri="{FF2B5EF4-FFF2-40B4-BE49-F238E27FC236}">
                    <a16:creationId xmlns:a16="http://schemas.microsoft.com/office/drawing/2014/main" id="{EF0A9596-73EF-445F-E55A-F5342ED63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4588" y="4208541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endParaRPr lang="ja-JP" altLang="en-US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28" name="AutoShape 27">
                <a:extLst>
                  <a:ext uri="{FF2B5EF4-FFF2-40B4-BE49-F238E27FC236}">
                    <a16:creationId xmlns:a16="http://schemas.microsoft.com/office/drawing/2014/main" id="{7CD53495-444C-1BDC-E9C8-B112C9A8C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9476" y="2696899"/>
                <a:ext cx="2008981" cy="608995"/>
              </a:xfrm>
              <a:prstGeom prst="wedgeRectCallout">
                <a:avLst>
                  <a:gd name="adj1" fmla="val -19817"/>
                  <a:gd name="adj2" fmla="val 42380"/>
                </a:avLst>
              </a:prstGeom>
              <a:solidFill>
                <a:srgbClr val="FFFFFF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marL="182563" indent="-182563" algn="l" eaLnBrk="1" hangingPunct="1">
                  <a:spcBef>
                    <a:spcPct val="50000"/>
                  </a:spcBef>
                  <a:buClr>
                    <a:srgbClr val="000099"/>
                  </a:buClr>
                  <a:buFont typeface="Wingdings" pitchFamily="2" charset="2"/>
                  <a:buChar char="ü"/>
                  <a:defRPr/>
                </a:pPr>
                <a: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2019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年</a:t>
                </a:r>
                <a:r>
                  <a:rPr lang="en-US" altLang="ja-JP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2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rPr>
                  <a:t>月、従来の栃木県芳賀センターの機能は、東京都多摩センターに移転</a:t>
                </a:r>
                <a:endParaRPr lang="ja-JP" altLang="en-US" sz="120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29" name="Oval 23">
                <a:extLst>
                  <a:ext uri="{FF2B5EF4-FFF2-40B4-BE49-F238E27FC236}">
                    <a16:creationId xmlns:a16="http://schemas.microsoft.com/office/drawing/2014/main" id="{686386C0-852A-D820-8E4E-53EC0F21D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2776" y="4318873"/>
                <a:ext cx="152400" cy="152400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endParaRPr lang="ja-JP" altLang="en-US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  <p:sp>
            <p:nvSpPr>
              <p:cNvPr id="30" name="Text Box 33">
                <a:extLst>
                  <a:ext uri="{FF2B5EF4-FFF2-40B4-BE49-F238E27FC236}">
                    <a16:creationId xmlns:a16="http://schemas.microsoft.com/office/drawing/2014/main" id="{FA0FC341-25F5-DC4A-5095-8168289BC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1682" y="4982618"/>
                <a:ext cx="2346424" cy="321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ja-JP" altLang="en-US" sz="1400" b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関西</a:t>
                </a:r>
                <a:r>
                  <a:rPr lang="en-US" altLang="ja-JP" sz="1400" b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BC</a:t>
                </a:r>
                <a:r>
                  <a:rPr lang="ja-JP" altLang="en-US" sz="1100" b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（</a:t>
                </a:r>
                <a:r>
                  <a:rPr lang="ja-JP" altLang="en-US" sz="1100" b="1" err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けいはんな</a:t>
                </a:r>
                <a:r>
                  <a:rPr lang="ja-JP" altLang="en-US" sz="1100" b="1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学研都市</a:t>
                </a:r>
                <a:r>
                  <a:rPr lang="ja-JP" altLang="en-US" sz="1100">
                    <a:solidFill>
                      <a:srgbClr val="000000"/>
                    </a:solidFill>
                    <a:latin typeface="Meiryo UI" pitchFamily="50" charset="-128"/>
                    <a:ea typeface="Meiryo UI" pitchFamily="50" charset="-128"/>
                    <a:cs typeface="Meiryo UI" pitchFamily="50" charset="-128"/>
                  </a:rPr>
                  <a:t>）</a:t>
                </a:r>
              </a:p>
            </p:txBody>
          </p:sp>
          <p:sp>
            <p:nvSpPr>
              <p:cNvPr id="31" name="Oval 23">
                <a:extLst>
                  <a:ext uri="{FF2B5EF4-FFF2-40B4-BE49-F238E27FC236}">
                    <a16:creationId xmlns:a16="http://schemas.microsoft.com/office/drawing/2014/main" id="{BA966D0A-DD02-7E9F-B782-C6997EA79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385" y="4386904"/>
                <a:ext cx="152400" cy="152400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1pPr>
                <a:lvl2pPr marL="742950" indent="-28575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2pPr>
                <a:lvl3pPr marL="11430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3pPr>
                <a:lvl4pPr marL="16002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4pPr>
                <a:lvl5pPr marL="2057400" indent="-228600" eaLnBrk="0" hangingPunct="0"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bg1"/>
                    </a:solidFill>
                    <a:latin typeface="HGP創英角ｺﾞｼｯｸUB" pitchFamily="50" charset="-128"/>
                    <a:ea typeface="HGP創英角ｺﾞｼｯｸUB" pitchFamily="50" charset="-128"/>
                  </a:defRPr>
                </a:lvl9pPr>
              </a:lstStyle>
              <a:p>
                <a:pPr eaLnBrk="1" hangingPunct="1"/>
                <a:endParaRPr lang="ja-JP" altLang="en-US">
                  <a:solidFill>
                    <a:srgbClr val="000000"/>
                  </a:solidFill>
                  <a:latin typeface="Arial" pitchFamily="34" charset="0"/>
                </a:endParaRPr>
              </a:p>
            </p:txBody>
          </p:sp>
        </p:grpSp>
      </p:grpSp>
      <p:pic>
        <p:nvPicPr>
          <p:cNvPr id="33" name="図 32">
            <a:extLst>
              <a:ext uri="{FF2B5EF4-FFF2-40B4-BE49-F238E27FC236}">
                <a16:creationId xmlns:a16="http://schemas.microsoft.com/office/drawing/2014/main" id="{70612376-95D8-784D-FDE8-362E5D4FA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4843" y="2420639"/>
            <a:ext cx="1583077" cy="1310720"/>
          </a:xfrm>
          <a:prstGeom prst="rect">
            <a:avLst/>
          </a:prstGeom>
        </p:spPr>
      </p:pic>
      <p:sp>
        <p:nvSpPr>
          <p:cNvPr id="34" name="AutoShape 27">
            <a:extLst>
              <a:ext uri="{FF2B5EF4-FFF2-40B4-BE49-F238E27FC236}">
                <a16:creationId xmlns:a16="http://schemas.microsoft.com/office/drawing/2014/main" id="{DA61F973-F8A6-5F65-E786-77FA2FB0A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276" y="3480721"/>
            <a:ext cx="2371166" cy="1098718"/>
          </a:xfrm>
          <a:prstGeom prst="wedgeRectCallout">
            <a:avLst>
              <a:gd name="adj1" fmla="val -19817"/>
              <a:gd name="adj2" fmla="val 42380"/>
            </a:avLst>
          </a:prstGeom>
          <a:solidFill>
            <a:srgbClr val="FF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182563" indent="-182563" algn="l" eaLnBrk="1" hangingPunct="1">
              <a:spcBef>
                <a:spcPct val="50000"/>
              </a:spcBef>
              <a:buClr>
                <a:srgbClr val="000099"/>
              </a:buClr>
              <a:buFont typeface="Wingdings" pitchFamily="2" charset="2"/>
              <a:buChar char="ü"/>
              <a:defRPr/>
            </a:pPr>
            <a:r>
              <a:rPr lang="en-US" altLang="ja-JP" sz="11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2024</a:t>
            </a:r>
            <a:r>
              <a:rPr lang="ja-JP" altLang="en-US" sz="11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</a:t>
            </a:r>
            <a:r>
              <a:rPr lang="en-US" altLang="ja-JP" sz="11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r>
              <a:rPr lang="ja-JP" altLang="en-US" sz="11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月、浜松町から赤坂へのメインオフィス移転を実施</a:t>
            </a:r>
            <a:endParaRPr lang="en-US" altLang="ja-JP" sz="11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2563" indent="-182563" algn="l" eaLnBrk="1" hangingPunct="1">
              <a:spcBef>
                <a:spcPct val="50000"/>
              </a:spcBef>
              <a:buClr>
                <a:srgbClr val="000099"/>
              </a:buClr>
              <a:buFont typeface="Wingdings" pitchFamily="2" charset="2"/>
              <a:buChar char="ü"/>
              <a:defRPr/>
            </a:pPr>
            <a:r>
              <a:rPr lang="ja-JP" altLang="en-US" sz="11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首都圏の電気、水道、交通などのライフラインが停止しても、約</a:t>
            </a:r>
            <a:r>
              <a:rPr lang="en-US" altLang="ja-JP" sz="11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r>
              <a:rPr lang="ja-JP" altLang="en-US" sz="11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週間業務継続可能</a:t>
            </a:r>
            <a:endParaRPr lang="ja-JP" altLang="en-US" sz="12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9952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/>
              <a:t>各拠点の役割</a:t>
            </a:r>
            <a:endParaRPr kumimoji="1" lang="ja-JP" altLang="en-US" sz="2800"/>
          </a:p>
        </p:txBody>
      </p:sp>
      <p:sp>
        <p:nvSpPr>
          <p:cNvPr id="15" name="Text Box 1029">
            <a:extLst>
              <a:ext uri="{FF2B5EF4-FFF2-40B4-BE49-F238E27FC236}">
                <a16:creationId xmlns:a16="http://schemas.microsoft.com/office/drawing/2014/main" id="{DFD1DA0F-FCC2-7DDD-7797-1BE11E2D3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1470400"/>
            <a:ext cx="8077200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marL="0" indent="0" eaLnBrk="1" hangingPunct="1">
              <a:buClr>
                <a:schemeClr val="tx2"/>
              </a:buClr>
              <a:buSzTx/>
              <a:buNone/>
            </a:pPr>
            <a:r>
              <a:rPr lang="ja-JP" altLang="en-US" sz="2400" b="1">
                <a:latin typeface="ＭＳ Ｐゴシック" charset="-128"/>
                <a:ea typeface="ＭＳ Ｐゴシック" charset="-128"/>
              </a:rPr>
              <a:t>＜オフィス利用想定＞</a:t>
            </a:r>
            <a:endParaRPr lang="en-US" altLang="ja-JP" sz="2400" b="1">
              <a:latin typeface="ＭＳ Ｐゴシック" charset="-128"/>
              <a:ea typeface="ＭＳ Ｐゴシック" charset="-128"/>
            </a:endParaRPr>
          </a:p>
          <a:p>
            <a:pPr marL="0" indent="0" eaLnBrk="1" hangingPunct="1">
              <a:buClr>
                <a:schemeClr val="tx2"/>
              </a:buClr>
              <a:buSzTx/>
              <a:buNone/>
            </a:pPr>
            <a:endParaRPr lang="ja-JP" altLang="en-US" sz="2400" b="1">
              <a:latin typeface="ＭＳ Ｐゴシック" charset="-128"/>
              <a:ea typeface="ＭＳ Ｐゴシック" charset="-128"/>
            </a:endParaRPr>
          </a:p>
        </p:txBody>
      </p:sp>
      <p:graphicFrame>
        <p:nvGraphicFramePr>
          <p:cNvPr id="32" name="表 31">
            <a:extLst>
              <a:ext uri="{FF2B5EF4-FFF2-40B4-BE49-F238E27FC236}">
                <a16:creationId xmlns:a16="http://schemas.microsoft.com/office/drawing/2014/main" id="{CF1694F6-D7C9-3C34-1D2E-440783465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55290"/>
              </p:ext>
            </p:extLst>
          </p:nvPr>
        </p:nvGraphicFramePr>
        <p:xfrm>
          <a:off x="665293" y="1927496"/>
          <a:ext cx="7869235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3847">
                  <a:extLst>
                    <a:ext uri="{9D8B030D-6E8A-4147-A177-3AD203B41FA5}">
                      <a16:colId xmlns:a16="http://schemas.microsoft.com/office/drawing/2014/main" val="208831056"/>
                    </a:ext>
                  </a:extLst>
                </a:gridCol>
                <a:gridCol w="1573847">
                  <a:extLst>
                    <a:ext uri="{9D8B030D-6E8A-4147-A177-3AD203B41FA5}">
                      <a16:colId xmlns:a16="http://schemas.microsoft.com/office/drawing/2014/main" val="1809119825"/>
                    </a:ext>
                  </a:extLst>
                </a:gridCol>
                <a:gridCol w="1573847">
                  <a:extLst>
                    <a:ext uri="{9D8B030D-6E8A-4147-A177-3AD203B41FA5}">
                      <a16:colId xmlns:a16="http://schemas.microsoft.com/office/drawing/2014/main" val="525131846"/>
                    </a:ext>
                  </a:extLst>
                </a:gridCol>
                <a:gridCol w="1573847">
                  <a:extLst>
                    <a:ext uri="{9D8B030D-6E8A-4147-A177-3AD203B41FA5}">
                      <a16:colId xmlns:a16="http://schemas.microsoft.com/office/drawing/2014/main" val="2393893737"/>
                    </a:ext>
                  </a:extLst>
                </a:gridCol>
                <a:gridCol w="1573847">
                  <a:extLst>
                    <a:ext uri="{9D8B030D-6E8A-4147-A177-3AD203B41FA5}">
                      <a16:colId xmlns:a16="http://schemas.microsoft.com/office/drawing/2014/main" val="3999994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オフィス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平常時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赤坂ビル被災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関東被災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関西被災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6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赤坂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業務実施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業務実施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32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東京</a:t>
                      </a:r>
                      <a:r>
                        <a:rPr kumimoji="1" lang="en-US" altLang="ja-JP" sz="14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港南</a:t>
                      </a:r>
                      <a:r>
                        <a:rPr kumimoji="1" lang="en-US" altLang="ja-JP" sz="14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業務実施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87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大阪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業務実施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業務実施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業務実施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829873"/>
                  </a:ext>
                </a:extLst>
              </a:tr>
            </a:tbl>
          </a:graphicData>
        </a:graphic>
      </p:graphicFrame>
      <p:sp>
        <p:nvSpPr>
          <p:cNvPr id="36" name="Text Box 1029">
            <a:extLst>
              <a:ext uri="{FF2B5EF4-FFF2-40B4-BE49-F238E27FC236}">
                <a16:creationId xmlns:a16="http://schemas.microsoft.com/office/drawing/2014/main" id="{17784F59-F6F3-DB6D-9186-864C21EEC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293" y="3410856"/>
            <a:ext cx="8077200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buClr>
                <a:schemeClr val="tx2"/>
              </a:buClr>
              <a:buSzTx/>
              <a:buNone/>
            </a:pPr>
            <a:r>
              <a:rPr lang="ja-JP" altLang="en-US" sz="1800">
                <a:latin typeface="ＭＳ Ｐゴシック" charset="-128"/>
                <a:ea typeface="ＭＳ Ｐゴシック" charset="-128"/>
              </a:rPr>
              <a:t>平常時は東京・大阪のデュアルオフィス態勢。東京</a:t>
            </a:r>
            <a:r>
              <a:rPr lang="en-US" altLang="ja-JP" sz="1800">
                <a:latin typeface="ＭＳ Ｐゴシック" charset="-128"/>
                <a:ea typeface="ＭＳ Ｐゴシック" charset="-128"/>
              </a:rPr>
              <a:t>(</a:t>
            </a:r>
            <a:r>
              <a:rPr lang="ja-JP" altLang="en-US" sz="1800">
                <a:latin typeface="ＭＳ Ｐゴシック" charset="-128"/>
                <a:ea typeface="ＭＳ Ｐゴシック" charset="-128"/>
              </a:rPr>
              <a:t>港南</a:t>
            </a:r>
            <a:r>
              <a:rPr lang="en-US" altLang="ja-JP" sz="1800">
                <a:latin typeface="ＭＳ Ｐゴシック" charset="-128"/>
                <a:ea typeface="ＭＳ Ｐゴシック" charset="-128"/>
              </a:rPr>
              <a:t>)</a:t>
            </a:r>
            <a:r>
              <a:rPr lang="ja-JP" altLang="en-US" sz="1800">
                <a:latin typeface="ＭＳ Ｐゴシック" charset="-128"/>
                <a:ea typeface="ＭＳ Ｐゴシック" charset="-128"/>
              </a:rPr>
              <a:t>は赤坂被災時のバックアップ。何れの拠点が被災しても業務継続を可能とする。</a:t>
            </a:r>
          </a:p>
          <a:p>
            <a:pPr marL="0" indent="0" eaLnBrk="1" hangingPunct="1">
              <a:buClr>
                <a:schemeClr val="tx2"/>
              </a:buClr>
              <a:buSzTx/>
              <a:buNone/>
            </a:pPr>
            <a:endParaRPr lang="en-US" altLang="ja-JP" sz="1800" b="1">
              <a:latin typeface="ＭＳ Ｐゴシック" charset="-128"/>
              <a:ea typeface="ＭＳ Ｐゴシック" charset="-128"/>
            </a:endParaRPr>
          </a:p>
          <a:p>
            <a:pPr marL="0" indent="0" eaLnBrk="1" hangingPunct="1">
              <a:buClr>
                <a:schemeClr val="tx2"/>
              </a:buClr>
              <a:buSzTx/>
              <a:buNone/>
            </a:pPr>
            <a:endParaRPr lang="ja-JP" altLang="en-US" sz="1800" b="1">
              <a:latin typeface="ＭＳ Ｐゴシック" charset="-128"/>
              <a:ea typeface="ＭＳ Ｐゴシック" charset="-128"/>
            </a:endParaRPr>
          </a:p>
        </p:txBody>
      </p:sp>
      <p:sp>
        <p:nvSpPr>
          <p:cNvPr id="37" name="Text Box 1029">
            <a:extLst>
              <a:ext uri="{FF2B5EF4-FFF2-40B4-BE49-F238E27FC236}">
                <a16:creationId xmlns:a16="http://schemas.microsoft.com/office/drawing/2014/main" id="{91C01AC2-C261-8DDA-0FCA-5C88B66CB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11" y="4148819"/>
            <a:ext cx="807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marL="0" indent="0" eaLnBrk="1" hangingPunct="1">
              <a:buClr>
                <a:schemeClr val="tx2"/>
              </a:buClr>
              <a:buSzTx/>
              <a:buNone/>
            </a:pPr>
            <a:r>
              <a:rPr lang="ja-JP" altLang="en-US" sz="2400" b="1">
                <a:latin typeface="ＭＳ Ｐゴシック" charset="-128"/>
                <a:ea typeface="ＭＳ Ｐゴシック" charset="-128"/>
              </a:rPr>
              <a:t>＜システムセンター利用想定＞</a:t>
            </a:r>
          </a:p>
        </p:txBody>
      </p:sp>
      <p:graphicFrame>
        <p:nvGraphicFramePr>
          <p:cNvPr id="38" name="表 37">
            <a:extLst>
              <a:ext uri="{FF2B5EF4-FFF2-40B4-BE49-F238E27FC236}">
                <a16:creationId xmlns:a16="http://schemas.microsoft.com/office/drawing/2014/main" id="{C1E281DF-04A6-489B-4BCD-8A057038B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580657"/>
              </p:ext>
            </p:extLst>
          </p:nvPr>
        </p:nvGraphicFramePr>
        <p:xfrm>
          <a:off x="665293" y="4721984"/>
          <a:ext cx="7869236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62202">
                  <a:extLst>
                    <a:ext uri="{9D8B030D-6E8A-4147-A177-3AD203B41FA5}">
                      <a16:colId xmlns:a16="http://schemas.microsoft.com/office/drawing/2014/main" val="208831056"/>
                    </a:ext>
                  </a:extLst>
                </a:gridCol>
                <a:gridCol w="1835678">
                  <a:extLst>
                    <a:ext uri="{9D8B030D-6E8A-4147-A177-3AD203B41FA5}">
                      <a16:colId xmlns:a16="http://schemas.microsoft.com/office/drawing/2014/main" val="1809119825"/>
                    </a:ext>
                  </a:extLst>
                </a:gridCol>
                <a:gridCol w="1835678">
                  <a:extLst>
                    <a:ext uri="{9D8B030D-6E8A-4147-A177-3AD203B41FA5}">
                      <a16:colId xmlns:a16="http://schemas.microsoft.com/office/drawing/2014/main" val="2393893737"/>
                    </a:ext>
                  </a:extLst>
                </a:gridCol>
                <a:gridCol w="1835678">
                  <a:extLst>
                    <a:ext uri="{9D8B030D-6E8A-4147-A177-3AD203B41FA5}">
                      <a16:colId xmlns:a16="http://schemas.microsoft.com/office/drawing/2014/main" val="3999994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システムセンター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平常時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関東被災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関西被災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6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メイン（関東）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システム稼働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システム稼働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32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バックアップ（関西）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>
                          <a:solidFill>
                            <a:schemeClr val="tx1"/>
                          </a:solidFill>
                        </a:rPr>
                        <a:t>システム稼働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876914"/>
                  </a:ext>
                </a:extLst>
              </a:tr>
            </a:tbl>
          </a:graphicData>
        </a:graphic>
      </p:graphicFrame>
      <p:sp>
        <p:nvSpPr>
          <p:cNvPr id="39" name="Text Box 1029">
            <a:extLst>
              <a:ext uri="{FF2B5EF4-FFF2-40B4-BE49-F238E27FC236}">
                <a16:creationId xmlns:a16="http://schemas.microsoft.com/office/drawing/2014/main" id="{6B90F38A-64B8-8454-9D8B-375544E7F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293" y="5946004"/>
            <a:ext cx="80772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600">
                <a:solidFill>
                  <a:schemeClr val="tx1"/>
                </a:solidFill>
                <a:latin typeface="HGPｺﾞｼｯｸE" pitchFamily="50" charset="-128"/>
                <a:ea typeface="HGPｺﾞｼｯｸE" pitchFamily="50" charset="-128"/>
              </a:defRPr>
            </a:lvl9pPr>
          </a:lstStyle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lang="ja-JP" altLang="en-US" sz="1800">
                <a:latin typeface="ＭＳ Ｐゴシック" charset="-128"/>
                <a:ea typeface="ＭＳ Ｐゴシック" charset="-128"/>
              </a:rPr>
              <a:t>平常時はメインセンター（関東）にて稼働。関東被災時にはバックアップセンター（関西）に切り替えて稼働。何れの拠点が被災してもシステム稼働を可能とする。</a:t>
            </a:r>
            <a:endParaRPr lang="en-US" altLang="ja-JP" sz="1800" b="1">
              <a:latin typeface="ＭＳ Ｐゴシック" charset="-128"/>
              <a:ea typeface="ＭＳ Ｐゴシック" charset="-128"/>
            </a:endParaRPr>
          </a:p>
          <a:p>
            <a:pPr marL="0" indent="0" eaLnBrk="1" hangingPunct="1">
              <a:buClr>
                <a:schemeClr val="tx2"/>
              </a:buClr>
              <a:buSzTx/>
              <a:buNone/>
            </a:pPr>
            <a:endParaRPr lang="ja-JP" altLang="en-US" sz="1800" b="1">
              <a:latin typeface="ＭＳ Ｐゴシック" charset="-128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677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36" grpId="0" autoUpdateAnimBg="0"/>
      <p:bldP spid="37" grpId="0" autoUpdateAnimBg="0"/>
      <p:bldP spid="3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862C4-14CA-B069-F390-CE71D6B478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C6C2618-950B-8141-2752-FBBEF762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</a:rPr>
              <a:t>（ご参考）</a:t>
            </a:r>
            <a:r>
              <a:rPr kumimoji="1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</a:rPr>
              <a:t>MTBJ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</a:rPr>
              <a:t>の決済関連計数</a:t>
            </a:r>
            <a:endParaRPr kumimoji="1" lang="ja-JP" altLang="en-US" sz="280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1307845-1B56-84DA-C8E4-37224AAA3A49}"/>
              </a:ext>
            </a:extLst>
          </p:cNvPr>
          <p:cNvSpPr/>
          <p:nvPr/>
        </p:nvSpPr>
        <p:spPr>
          <a:xfrm>
            <a:off x="671447" y="1411019"/>
            <a:ext cx="9262519" cy="61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377" marR="0" lvl="0" indent="-269377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営業日あたりの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MTBJ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資金決済金額 ： 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26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兆円（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2023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年～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24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年度では最大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43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兆円）、シェアは約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11.8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％　</a:t>
            </a:r>
            <a:endParaRPr kumimoji="1" lang="en-US" altLang="ja-JP" sz="132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69377" marR="0" lvl="0" indent="-269377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営業日あたりの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MTBJ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証券決済金額（国内株式）　：　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0.26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兆円、シェアは約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3.9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％</a:t>
            </a:r>
            <a:endParaRPr kumimoji="1" lang="en-US" altLang="ja-JP" sz="132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69377" marR="0" lvl="0" indent="-269377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営業日あたりの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MTBJ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証券決済金額（日本国債）　：　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14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兆円、シェアは約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9.9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％</a:t>
            </a:r>
          </a:p>
          <a:p>
            <a:pPr marL="269377" marR="0" lvl="0" indent="-269377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為替取引で取り扱う通貨の種類 ： 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40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種類以上（投資先は約</a:t>
            </a:r>
            <a:r>
              <a:rPr kumimoji="1" lang="en-US" altLang="ja-JP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130</a:t>
            </a:r>
            <a:r>
              <a:rPr kumimoji="1" lang="ja-JP" altLang="en-US" sz="132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ヶ国）</a:t>
            </a:r>
            <a:endParaRPr kumimoji="1" lang="en-US" altLang="ja-JP" sz="132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8" name="テキスト ボックス 5">
            <a:extLst>
              <a:ext uri="{FF2B5EF4-FFF2-40B4-BE49-F238E27FC236}">
                <a16:creationId xmlns:a16="http://schemas.microsoft.com/office/drawing/2014/main" id="{E8AC6144-0E59-858A-0531-FCF2F91C5667}"/>
              </a:ext>
            </a:extLst>
          </p:cNvPr>
          <p:cNvSpPr txBox="1"/>
          <p:nvPr/>
        </p:nvSpPr>
        <p:spPr>
          <a:xfrm>
            <a:off x="5465229" y="2454878"/>
            <a:ext cx="4372967" cy="30190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金額は、売買代金の合計（入金、出金ネットせずグロスで算出）</a:t>
            </a:r>
            <a:endParaRPr kumimoji="1" lang="en-US" altLang="ja-JP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全体は</a:t>
            </a:r>
            <a:r>
              <a:rPr kumimoji="1" lang="en-US" altLang="ja-JP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2024</a:t>
            </a: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年</a:t>
            </a:r>
            <a:r>
              <a:rPr kumimoji="1" lang="en-US" altLang="ja-JP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11</a:t>
            </a: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月の実績値、</a:t>
            </a:r>
            <a:r>
              <a:rPr kumimoji="1" lang="en-US" altLang="ja-JP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MTBJ</a:t>
            </a: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は</a:t>
            </a:r>
            <a:r>
              <a:rPr kumimoji="1" lang="en-US" altLang="ja-JP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</a:t>
            </a: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年間の平均値を使用</a:t>
            </a:r>
            <a:endParaRPr kumimoji="1" lang="en-US" altLang="ja-JP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47103E79-375A-B0A7-B9DE-34FCA0337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47" y="2182880"/>
            <a:ext cx="4468737" cy="235224"/>
          </a:xfrm>
          <a:prstGeom prst="rect">
            <a:avLst/>
          </a:prstGeom>
        </p:spPr>
      </p:pic>
      <p:pic>
        <p:nvPicPr>
          <p:cNvPr id="10" name="table">
            <a:extLst>
              <a:ext uri="{FF2B5EF4-FFF2-40B4-BE49-F238E27FC236}">
                <a16:creationId xmlns:a16="http://schemas.microsoft.com/office/drawing/2014/main" id="{16E0AE7A-118E-8FFA-3603-23BACC6B8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229" y="4638910"/>
            <a:ext cx="4468737" cy="235224"/>
          </a:xfrm>
          <a:prstGeom prst="rect">
            <a:avLst/>
          </a:prstGeom>
        </p:spPr>
      </p:pic>
      <p:pic>
        <p:nvPicPr>
          <p:cNvPr id="11" name="table">
            <a:extLst>
              <a:ext uri="{FF2B5EF4-FFF2-40B4-BE49-F238E27FC236}">
                <a16:creationId xmlns:a16="http://schemas.microsoft.com/office/drawing/2014/main" id="{E4EF8E4E-43B0-A554-4AA8-529FDEB0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30" y="2175493"/>
            <a:ext cx="4468737" cy="240614"/>
          </a:xfrm>
          <a:prstGeom prst="rect">
            <a:avLst/>
          </a:prstGeom>
        </p:spPr>
      </p:pic>
      <p:sp>
        <p:nvSpPr>
          <p:cNvPr id="12" name="テキスト ボックス 21">
            <a:extLst>
              <a:ext uri="{FF2B5EF4-FFF2-40B4-BE49-F238E27FC236}">
                <a16:creationId xmlns:a16="http://schemas.microsoft.com/office/drawing/2014/main" id="{6ED0A335-4C78-C983-6391-440BD666A0E7}"/>
              </a:ext>
            </a:extLst>
          </p:cNvPr>
          <p:cNvSpPr txBox="1"/>
          <p:nvPr/>
        </p:nvSpPr>
        <p:spPr>
          <a:xfrm>
            <a:off x="1125479" y="3295819"/>
            <a:ext cx="1502900" cy="30499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1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日の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資金決済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220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兆円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（円決済）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</a:t>
            </a: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</p:txBody>
      </p:sp>
      <p:sp>
        <p:nvSpPr>
          <p:cNvPr id="13" name="左中かっこ 12">
            <a:extLst>
              <a:ext uri="{FF2B5EF4-FFF2-40B4-BE49-F238E27FC236}">
                <a16:creationId xmlns:a16="http://schemas.microsoft.com/office/drawing/2014/main" id="{BE8FDC51-DFBF-7853-7004-8A4CF021D734}"/>
              </a:ext>
            </a:extLst>
          </p:cNvPr>
          <p:cNvSpPr/>
          <p:nvPr/>
        </p:nvSpPr>
        <p:spPr>
          <a:xfrm>
            <a:off x="2762979" y="3295819"/>
            <a:ext cx="381000" cy="3060000"/>
          </a:xfrm>
          <a:prstGeom prst="leftBrace">
            <a:avLst>
              <a:gd name="adj1" fmla="val 75000"/>
              <a:gd name="adj2" fmla="val 50333"/>
            </a:avLst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Arial"/>
              <a:ea typeface="BIZ UDPゴシック"/>
              <a:cs typeface="+mn-cs"/>
            </a:endParaRPr>
          </a:p>
        </p:txBody>
      </p:sp>
      <p:sp>
        <p:nvSpPr>
          <p:cNvPr id="14" name="テキスト ボックス 22">
            <a:extLst>
              <a:ext uri="{FF2B5EF4-FFF2-40B4-BE49-F238E27FC236}">
                <a16:creationId xmlns:a16="http://schemas.microsoft.com/office/drawing/2014/main" id="{BE3511EA-B864-56A9-D982-2560CF4C9E26}"/>
              </a:ext>
            </a:extLst>
          </p:cNvPr>
          <p:cNvSpPr txBox="1"/>
          <p:nvPr/>
        </p:nvSpPr>
        <p:spPr>
          <a:xfrm>
            <a:off x="3220979" y="3339459"/>
            <a:ext cx="1504800" cy="25997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mpd="sng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</p:txBody>
      </p:sp>
      <p:sp>
        <p:nvSpPr>
          <p:cNvPr id="15" name="テキスト ボックス 23">
            <a:extLst>
              <a:ext uri="{FF2B5EF4-FFF2-40B4-BE49-F238E27FC236}">
                <a16:creationId xmlns:a16="http://schemas.microsoft.com/office/drawing/2014/main" id="{5CF570AD-7933-908D-5D5F-108F051EC4B7}"/>
              </a:ext>
            </a:extLst>
          </p:cNvPr>
          <p:cNvSpPr txBox="1"/>
          <p:nvPr/>
        </p:nvSpPr>
        <p:spPr>
          <a:xfrm>
            <a:off x="3220979" y="5946180"/>
            <a:ext cx="1504800" cy="41427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mpd="sng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MTBJ 26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兆円</a:t>
            </a:r>
          </a:p>
        </p:txBody>
      </p:sp>
      <p:sp>
        <p:nvSpPr>
          <p:cNvPr id="16" name="テキスト ボックス 16">
            <a:extLst>
              <a:ext uri="{FF2B5EF4-FFF2-40B4-BE49-F238E27FC236}">
                <a16:creationId xmlns:a16="http://schemas.microsoft.com/office/drawing/2014/main" id="{323F4547-1B8E-8FA1-F92E-9833E80D280A}"/>
              </a:ext>
            </a:extLst>
          </p:cNvPr>
          <p:cNvSpPr txBox="1"/>
          <p:nvPr/>
        </p:nvSpPr>
        <p:spPr>
          <a:xfrm>
            <a:off x="733207" y="2446735"/>
            <a:ext cx="4363735" cy="599041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全体の資金決済金額は、日銀当座預金決済（</a:t>
            </a:r>
            <a:r>
              <a:rPr kumimoji="1" lang="en-US" altLang="ja-JP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</a:t>
            </a: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営業日平均）を使用</a:t>
            </a:r>
            <a:endParaRPr kumimoji="1" lang="en-US" altLang="ja-JP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実際の資金移動に対応する決済指図の金額を「片道ベース」の計数（振替であれば、入金または引落のいずれか）として集計</a:t>
            </a:r>
            <a:endParaRPr kumimoji="1" lang="en-US" altLang="ja-JP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7" name="テキスト ボックス 17">
            <a:extLst>
              <a:ext uri="{FF2B5EF4-FFF2-40B4-BE49-F238E27FC236}">
                <a16:creationId xmlns:a16="http://schemas.microsoft.com/office/drawing/2014/main" id="{C4878A3A-F00A-A48B-8BC7-4C2848949E02}"/>
              </a:ext>
            </a:extLst>
          </p:cNvPr>
          <p:cNvSpPr txBox="1"/>
          <p:nvPr/>
        </p:nvSpPr>
        <p:spPr>
          <a:xfrm>
            <a:off x="714647" y="6566918"/>
            <a:ext cx="3156313" cy="1569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出所） 日本銀行決済機構局 「決済動向（</a:t>
            </a: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2024</a:t>
            </a: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年</a:t>
            </a: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10</a:t>
            </a: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月）」</a:t>
            </a:r>
            <a:endParaRPr kumimoji="1" lang="en-US" altLang="ja-JP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8" name="テキスト ボックス 21">
            <a:extLst>
              <a:ext uri="{FF2B5EF4-FFF2-40B4-BE49-F238E27FC236}">
                <a16:creationId xmlns:a16="http://schemas.microsoft.com/office/drawing/2014/main" id="{7FF06AA0-3DA2-67A5-233B-17B048EF73F7}"/>
              </a:ext>
            </a:extLst>
          </p:cNvPr>
          <p:cNvSpPr txBox="1"/>
          <p:nvPr/>
        </p:nvSpPr>
        <p:spPr>
          <a:xfrm>
            <a:off x="5932163" y="2845255"/>
            <a:ext cx="1502900" cy="1323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1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日の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株式決済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6.66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兆円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</a:t>
            </a: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</p:txBody>
      </p:sp>
      <p:sp>
        <p:nvSpPr>
          <p:cNvPr id="19" name="左中かっこ 18">
            <a:extLst>
              <a:ext uri="{FF2B5EF4-FFF2-40B4-BE49-F238E27FC236}">
                <a16:creationId xmlns:a16="http://schemas.microsoft.com/office/drawing/2014/main" id="{44658571-3B16-CB37-7822-4BEADB44787E}"/>
              </a:ext>
            </a:extLst>
          </p:cNvPr>
          <p:cNvSpPr/>
          <p:nvPr/>
        </p:nvSpPr>
        <p:spPr>
          <a:xfrm>
            <a:off x="7646663" y="2845255"/>
            <a:ext cx="381000" cy="1296000"/>
          </a:xfrm>
          <a:prstGeom prst="leftBrace">
            <a:avLst>
              <a:gd name="adj1" fmla="val 75000"/>
              <a:gd name="adj2" fmla="val 50333"/>
            </a:avLst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Arial"/>
              <a:ea typeface="BIZ UDPゴシック"/>
              <a:cs typeface="+mn-cs"/>
            </a:endParaRPr>
          </a:p>
        </p:txBody>
      </p:sp>
      <p:sp>
        <p:nvSpPr>
          <p:cNvPr id="20" name="テキスト ボックス 22">
            <a:extLst>
              <a:ext uri="{FF2B5EF4-FFF2-40B4-BE49-F238E27FC236}">
                <a16:creationId xmlns:a16="http://schemas.microsoft.com/office/drawing/2014/main" id="{705B1A92-5AC0-EBA5-F6B6-A48AF6FEBB79}"/>
              </a:ext>
            </a:extLst>
          </p:cNvPr>
          <p:cNvSpPr txBox="1"/>
          <p:nvPr/>
        </p:nvSpPr>
        <p:spPr>
          <a:xfrm>
            <a:off x="8027664" y="2888895"/>
            <a:ext cx="1504800" cy="1042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mpd="sng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テキスト ボックス 23">
            <a:extLst>
              <a:ext uri="{FF2B5EF4-FFF2-40B4-BE49-F238E27FC236}">
                <a16:creationId xmlns:a16="http://schemas.microsoft.com/office/drawing/2014/main" id="{0344C3D2-49CC-1756-0433-2DE9BDAF1CE9}"/>
              </a:ext>
            </a:extLst>
          </p:cNvPr>
          <p:cNvSpPr txBox="1"/>
          <p:nvPr/>
        </p:nvSpPr>
        <p:spPr>
          <a:xfrm>
            <a:off x="8027664" y="3931180"/>
            <a:ext cx="1504800" cy="2232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mpd="sng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MTBJ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 </a:t>
            </a: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0.26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兆円</a:t>
            </a:r>
          </a:p>
        </p:txBody>
      </p:sp>
      <p:sp>
        <p:nvSpPr>
          <p:cNvPr id="22" name="テキスト ボックス 22">
            <a:extLst>
              <a:ext uri="{FF2B5EF4-FFF2-40B4-BE49-F238E27FC236}">
                <a16:creationId xmlns:a16="http://schemas.microsoft.com/office/drawing/2014/main" id="{2AE6CAEF-8A3E-C755-99F6-968DA64F30A4}"/>
              </a:ext>
            </a:extLst>
          </p:cNvPr>
          <p:cNvSpPr txBox="1"/>
          <p:nvPr/>
        </p:nvSpPr>
        <p:spPr>
          <a:xfrm>
            <a:off x="5560998" y="4198709"/>
            <a:ext cx="3971463" cy="3416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出所） 日本取引所グループ「</a:t>
            </a: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2024</a:t>
            </a: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年</a:t>
            </a: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11</a:t>
            </a: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月の売買状況について」</a:t>
            </a:r>
            <a:endParaRPr kumimoji="1" lang="en-US" altLang="ja-JP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l" defTabSz="995363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　　　　 日本証券業協会「取引所金融商品市場外売買等　月次相場表」</a:t>
            </a:r>
          </a:p>
        </p:txBody>
      </p:sp>
      <p:sp>
        <p:nvSpPr>
          <p:cNvPr id="23" name="テキスト ボックス 23">
            <a:extLst>
              <a:ext uri="{FF2B5EF4-FFF2-40B4-BE49-F238E27FC236}">
                <a16:creationId xmlns:a16="http://schemas.microsoft.com/office/drawing/2014/main" id="{98E8563B-71B3-D607-706E-1E5B8C388033}"/>
              </a:ext>
            </a:extLst>
          </p:cNvPr>
          <p:cNvSpPr txBox="1"/>
          <p:nvPr/>
        </p:nvSpPr>
        <p:spPr>
          <a:xfrm>
            <a:off x="5932160" y="5363986"/>
            <a:ext cx="1502900" cy="1324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mpd="sng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1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日の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日本国債決済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141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兆円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 　</a:t>
            </a: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BIZ UDPゴシック"/>
              <a:ea typeface="BIZ UDPゴシック"/>
              <a:cs typeface="Tahoma" panose="020B0604030504040204" pitchFamily="34" charset="0"/>
            </a:endParaRPr>
          </a:p>
        </p:txBody>
      </p:sp>
      <p:sp>
        <p:nvSpPr>
          <p:cNvPr id="24" name="左中かっこ 23">
            <a:extLst>
              <a:ext uri="{FF2B5EF4-FFF2-40B4-BE49-F238E27FC236}">
                <a16:creationId xmlns:a16="http://schemas.microsoft.com/office/drawing/2014/main" id="{D6CF4EA2-7C05-877E-FCEB-08538D470DA7}"/>
              </a:ext>
            </a:extLst>
          </p:cNvPr>
          <p:cNvSpPr/>
          <p:nvPr/>
        </p:nvSpPr>
        <p:spPr>
          <a:xfrm>
            <a:off x="7646660" y="5363987"/>
            <a:ext cx="381000" cy="1296000"/>
          </a:xfrm>
          <a:prstGeom prst="leftBrace">
            <a:avLst>
              <a:gd name="adj1" fmla="val 75000"/>
              <a:gd name="adj2" fmla="val 50333"/>
            </a:avLst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Arial"/>
              <a:ea typeface="BIZ UDPゴシック"/>
              <a:cs typeface="+mn-cs"/>
            </a:endParaRPr>
          </a:p>
        </p:txBody>
      </p:sp>
      <p:sp>
        <p:nvSpPr>
          <p:cNvPr id="25" name="テキスト ボックス 22">
            <a:extLst>
              <a:ext uri="{FF2B5EF4-FFF2-40B4-BE49-F238E27FC236}">
                <a16:creationId xmlns:a16="http://schemas.microsoft.com/office/drawing/2014/main" id="{BC5D5D72-6507-7587-D579-0D6A1AE5AD3D}"/>
              </a:ext>
            </a:extLst>
          </p:cNvPr>
          <p:cNvSpPr txBox="1"/>
          <p:nvPr/>
        </p:nvSpPr>
        <p:spPr>
          <a:xfrm>
            <a:off x="8110588" y="5519405"/>
            <a:ext cx="1504800" cy="104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mpd="sng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テキスト ボックス 23">
            <a:extLst>
              <a:ext uri="{FF2B5EF4-FFF2-40B4-BE49-F238E27FC236}">
                <a16:creationId xmlns:a16="http://schemas.microsoft.com/office/drawing/2014/main" id="{846A699C-B440-632B-B68F-33F0E1515ADF}"/>
              </a:ext>
            </a:extLst>
          </p:cNvPr>
          <p:cNvSpPr txBox="1"/>
          <p:nvPr/>
        </p:nvSpPr>
        <p:spPr>
          <a:xfrm>
            <a:off x="8104663" y="6414967"/>
            <a:ext cx="1504800" cy="252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mpd="sng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MTBJ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  </a:t>
            </a: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14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Tahoma" panose="020B0604030504040204" pitchFamily="34" charset="0"/>
              </a:rPr>
              <a:t>兆円</a:t>
            </a:r>
          </a:p>
        </p:txBody>
      </p:sp>
      <p:sp>
        <p:nvSpPr>
          <p:cNvPr id="27" name="テキスト ボックス 27">
            <a:extLst>
              <a:ext uri="{FF2B5EF4-FFF2-40B4-BE49-F238E27FC236}">
                <a16:creationId xmlns:a16="http://schemas.microsoft.com/office/drawing/2014/main" id="{32789926-0516-C22F-E5B4-26CDEC8E1971}"/>
              </a:ext>
            </a:extLst>
          </p:cNvPr>
          <p:cNvSpPr txBox="1"/>
          <p:nvPr/>
        </p:nvSpPr>
        <p:spPr>
          <a:xfrm>
            <a:off x="5465229" y="4935315"/>
            <a:ext cx="4372967" cy="30190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全体の金額は、</a:t>
            </a:r>
            <a:r>
              <a:rPr kumimoji="1" lang="zh-TW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国債振決口座振替決済（額面、</a:t>
            </a:r>
            <a:r>
              <a:rPr kumimoji="1" lang="en-US" altLang="zh-TW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</a:t>
            </a:r>
            <a:r>
              <a:rPr kumimoji="1" lang="zh-TW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営業日平均</a:t>
            </a: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）を使用</a:t>
            </a:r>
            <a:endParaRPr kumimoji="1" lang="en-US" altLang="ja-JP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「片道ベース」の計数で集計</a:t>
            </a:r>
            <a:endParaRPr kumimoji="1" lang="en-US" altLang="ja-JP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8" name="テキスト ボックス 28">
            <a:extLst>
              <a:ext uri="{FF2B5EF4-FFF2-40B4-BE49-F238E27FC236}">
                <a16:creationId xmlns:a16="http://schemas.microsoft.com/office/drawing/2014/main" id="{A4512DB2-FA12-77A5-44C4-AC8CC5FF715D}"/>
              </a:ext>
            </a:extLst>
          </p:cNvPr>
          <p:cNvSpPr txBox="1"/>
          <p:nvPr/>
        </p:nvSpPr>
        <p:spPr>
          <a:xfrm>
            <a:off x="5560998" y="6790709"/>
            <a:ext cx="3156313" cy="1569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ja-JP"/>
            </a:defPPr>
            <a:lvl1pPr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96888" indent="-39688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95363" indent="-80963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492250" indent="-120650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990725" indent="-161925" algn="l" defTabSz="995363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9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pPr marL="0" marR="0" lvl="0" indent="0" algn="l" defTabSz="995363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出所） 日本銀行決済機構局 「決済動向（</a:t>
            </a: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2024</a:t>
            </a: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年</a:t>
            </a: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10</a:t>
            </a:r>
            <a:r>
              <a: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月）」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26E21043-1775-4CD5-086C-66298A708A96}"/>
              </a:ext>
            </a:extLst>
          </p:cNvPr>
          <p:cNvSpPr/>
          <p:nvPr/>
        </p:nvSpPr>
        <p:spPr>
          <a:xfrm>
            <a:off x="5650676" y="388800"/>
            <a:ext cx="4372968" cy="896669"/>
          </a:xfrm>
          <a:prstGeom prst="ellipse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FF0000"/>
                </a:solidFill>
              </a:rPr>
              <a:t>業務を</a:t>
            </a:r>
            <a:r>
              <a:rPr kumimoji="1" lang="ja-JP" altLang="en-US" sz="1400" b="1">
                <a:solidFill>
                  <a:srgbClr val="FF0000"/>
                </a:solidFill>
              </a:rPr>
              <a:t>止めてはいけない！</a:t>
            </a:r>
            <a:endParaRPr kumimoji="1" lang="en-US" altLang="ja-JP" sz="1400" b="1">
              <a:solidFill>
                <a:srgbClr val="FF0000"/>
              </a:solidFill>
            </a:endParaRPr>
          </a:p>
          <a:p>
            <a:pPr algn="ctr"/>
            <a:r>
              <a:rPr lang="ja-JP" altLang="en-US" sz="1400" b="1">
                <a:solidFill>
                  <a:srgbClr val="FF0000"/>
                </a:solidFill>
              </a:rPr>
              <a:t>（</a:t>
            </a:r>
            <a:r>
              <a:rPr lang="en-US" altLang="ja-JP" sz="1400" b="1">
                <a:solidFill>
                  <a:srgbClr val="FF0000"/>
                </a:solidFill>
              </a:rPr>
              <a:t>MTBJ</a:t>
            </a:r>
            <a:r>
              <a:rPr lang="ja-JP" altLang="en-US" sz="1400" b="1">
                <a:solidFill>
                  <a:srgbClr val="FF0000"/>
                </a:solidFill>
              </a:rPr>
              <a:t>が止まれば日本が止まる）</a:t>
            </a:r>
            <a:endParaRPr kumimoji="1" lang="ja-JP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630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00D440A-550A-D8DC-F9C4-206C8D0D1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854DB-42D3-EE44-9486-1E8138C63EFC}" type="slidenum">
              <a:rPr lang="ja-JP" altLang="en-US" smtClean="0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14104454"/>
      </p:ext>
    </p:extLst>
  </p:cSld>
  <p:clrMapOvr>
    <a:masterClrMapping/>
  </p:clrMapOvr>
</p:sld>
</file>

<file path=ppt/theme/theme1.xml><?xml version="1.0" encoding="utf-8"?>
<a:theme xmlns:a="http://schemas.openxmlformats.org/drawingml/2006/main" name="MTBJ2023">
  <a:themeElements>
    <a:clrScheme name="ユーザー定義 1">
      <a:dk1>
        <a:srgbClr val="323232"/>
      </a:dk1>
      <a:lt1>
        <a:srgbClr val="FFFFFF"/>
      </a:lt1>
      <a:dk2>
        <a:srgbClr val="323232"/>
      </a:dk2>
      <a:lt2>
        <a:srgbClr val="FFFFFF"/>
      </a:lt2>
      <a:accent1>
        <a:srgbClr val="FF2600"/>
      </a:accent1>
      <a:accent2>
        <a:srgbClr val="FF2600"/>
      </a:accent2>
      <a:accent3>
        <a:srgbClr val="FF2600"/>
      </a:accent3>
      <a:accent4>
        <a:srgbClr val="406A7A"/>
      </a:accent4>
      <a:accent5>
        <a:srgbClr val="406A7A"/>
      </a:accent5>
      <a:accent6>
        <a:srgbClr val="406A7A"/>
      </a:accent6>
      <a:hlink>
        <a:srgbClr val="406A7A"/>
      </a:hlink>
      <a:folHlink>
        <a:srgbClr val="FF2600"/>
      </a:folHlink>
    </a:clrScheme>
    <a:fontScheme name="MTBJ_pptx">
      <a:majorFont>
        <a:latin typeface="Times New Roman"/>
        <a:ea typeface="BIZ UDPゴシック"/>
        <a:cs typeface=""/>
      </a:majorFont>
      <a:minorFont>
        <a:latin typeface="Arial"/>
        <a:ea typeface="BIZ UDPゴシック"/>
        <a:cs typeface="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 kumimoji="1" sz="110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1100" dirty="0">
            <a:latin typeface="+mn-ea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61064B34-B200-4475-9E95-C1900FF7B930}" vid="{FB1497FD-5C80-428D-9367-00482CC40BE1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34EC7365253543AF52C41840CDEDF2" ma:contentTypeVersion="5" ma:contentTypeDescription="Create a new document." ma:contentTypeScope="" ma:versionID="4478d6725022a931d9003bbdd00a42a7">
  <xsd:schema xmlns:xsd="http://www.w3.org/2001/XMLSchema" xmlns:xs="http://www.w3.org/2001/XMLSchema" xmlns:p="http://schemas.microsoft.com/office/2006/metadata/properties" xmlns:ns2="8c7e2249-f67c-4027-b212-c28305a022e1" targetNamespace="http://schemas.microsoft.com/office/2006/metadata/properties" ma:root="true" ma:fieldsID="382cf1562e3b526ed3a07e6ba4451948" ns2:_="">
    <xsd:import namespace="8c7e2249-f67c-4027-b212-c28305a022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7e2249-f67c-4027-b212-c28305a022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7D559C-4D7A-4837-9BE7-C3A191EBDCED}"/>
</file>

<file path=customXml/itemProps2.xml><?xml version="1.0" encoding="utf-8"?>
<ds:datastoreItem xmlns:ds="http://schemas.openxmlformats.org/officeDocument/2006/customXml" ds:itemID="{71023FF6-9018-4B6C-8380-B1DCAA4A32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3948DA-624D-4E6D-9613-2DD96562EF66}"/>
</file>

<file path=docProps/app.xml><?xml version="1.0" encoding="utf-8"?>
<Properties xmlns="http://schemas.openxmlformats.org/officeDocument/2006/extended-properties" xmlns:vt="http://schemas.openxmlformats.org/officeDocument/2006/docPropsVTypes">
  <Template>MTBJ_kokyaku（A4サイズ右下社名ロゴあり）_ver1.1</Template>
  <TotalTime>0</TotalTime>
  <Words>1256</Words>
  <Application>Microsoft Office PowerPoint</Application>
  <PresentationFormat>ユーザー設定</PresentationFormat>
  <Paragraphs>213</Paragraphs>
  <Slides>18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35" baseType="lpstr">
      <vt:lpstr>BIZ UDPゴシック</vt:lpstr>
      <vt:lpstr>HGPｺﾞｼｯｸE</vt:lpstr>
      <vt:lpstr>HGP創英角ｺﾞｼｯｸUB</vt:lpstr>
      <vt:lpstr>Meiryo UI</vt:lpstr>
      <vt:lpstr>ＭＳ Ｐゴシック</vt:lpstr>
      <vt:lpstr>ＭＳ ゴシック</vt:lpstr>
      <vt:lpstr>Yu Gothic Regular</vt:lpstr>
      <vt:lpstr>Meiryo</vt:lpstr>
      <vt:lpstr>Yu Gothic Medium</vt:lpstr>
      <vt:lpstr>Yu Gothic Medium</vt:lpstr>
      <vt:lpstr>Arial</vt:lpstr>
      <vt:lpstr>Calibri</vt:lpstr>
      <vt:lpstr>Calibri Light</vt:lpstr>
      <vt:lpstr>Tahoma</vt:lpstr>
      <vt:lpstr>Times New Roman</vt:lpstr>
      <vt:lpstr>Wingdings</vt:lpstr>
      <vt:lpstr>MTBJ2023</vt:lpstr>
      <vt:lpstr>当社のシステムについて</vt:lpstr>
      <vt:lpstr>講義の目的</vt:lpstr>
      <vt:lpstr> 講義の流れ</vt:lpstr>
      <vt:lpstr> 1.ＭＴＢＪのシステムの全体像</vt:lpstr>
      <vt:lpstr>ＭＴＢＪのシステムの分類</vt:lpstr>
      <vt:lpstr>データの流れ</vt:lpstr>
      <vt:lpstr>システム画面サンプル①</vt:lpstr>
      <vt:lpstr>システム画面サンプル②</vt:lpstr>
      <vt:lpstr>まとめ</vt:lpstr>
      <vt:lpstr> ２.ＭＴＢＪのシステム規模</vt:lpstr>
      <vt:lpstr>ＭＴＢＪのシステムの大きさ</vt:lpstr>
      <vt:lpstr>システム投資額</vt:lpstr>
      <vt:lpstr>システム投資の必要性</vt:lpstr>
      <vt:lpstr>３.業務継続体制（危機管理）</vt:lpstr>
      <vt:lpstr>オフィスとシステムセンター</vt:lpstr>
      <vt:lpstr>各拠点の役割</vt:lpstr>
      <vt:lpstr>（ご参考）MTBJの決済関連計数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当社のシステムについて</dc:title>
  <dc:subject/>
  <dc:creator>理恵子 児嶋</dc:creator>
  <cp:keywords/>
  <dc:description/>
  <cp:lastModifiedBy>Mizumoto Chie/水本　智恵</cp:lastModifiedBy>
  <cp:revision>1</cp:revision>
  <cp:lastPrinted>2023-08-09T03:34:13Z</cp:lastPrinted>
  <dcterms:created xsi:type="dcterms:W3CDTF">2025-04-02T12:30:17Z</dcterms:created>
  <dcterms:modified xsi:type="dcterms:W3CDTF">2025-09-24T07:39:34Z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0x0101005C34EC7365253543AF52C41840CDEDF2</vt:lpwstr>
  </property>
</Properties>
</file>