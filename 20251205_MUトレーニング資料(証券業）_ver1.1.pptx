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4111" r:id="rId4"/>
  </p:sldMasterIdLst>
  <p:notesMasterIdLst>
    <p:notesMasterId r:id="rId17"/>
  </p:notesMasterIdLst>
  <p:handoutMasterIdLst>
    <p:handoutMasterId r:id="rId18"/>
  </p:handoutMasterIdLst>
  <p:sldIdLst>
    <p:sldId id="652" r:id="rId5"/>
    <p:sldId id="1465" r:id="rId6"/>
    <p:sldId id="1464" r:id="rId7"/>
    <p:sldId id="267" r:id="rId8"/>
    <p:sldId id="268" r:id="rId9"/>
    <p:sldId id="1267" r:id="rId10"/>
    <p:sldId id="1265" r:id="rId11"/>
    <p:sldId id="270" r:id="rId12"/>
    <p:sldId id="271" r:id="rId13"/>
    <p:sldId id="1328" r:id="rId14"/>
    <p:sldId id="272" r:id="rId15"/>
    <p:sldId id="257" r:id="rId16"/>
  </p:sldIdLst>
  <p:sldSz cx="9906000" cy="6858000" type="A4"/>
  <p:notesSz cx="6807200" cy="9939338"/>
  <p:custDataLst>
    <p:tags r:id="rId19"/>
  </p:custDataLst>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kumimoji="1" sz="1400" kern="1200">
        <a:solidFill>
          <a:schemeClr val="tx1"/>
        </a:solidFill>
        <a:latin typeface="HGPｺﾞｼｯｸE" panose="020B0900000000000000" pitchFamily="50" charset="-128"/>
        <a:ea typeface="ＭＳ Ｐゴシック" panose="020B0600070205080204" pitchFamily="50" charset="-128"/>
        <a:cs typeface="+mn-cs"/>
      </a:defRPr>
    </a:lvl1pPr>
    <a:lvl2pPr marL="457200" algn="l" rtl="0" fontAlgn="base">
      <a:spcBef>
        <a:spcPct val="0"/>
      </a:spcBef>
      <a:spcAft>
        <a:spcPct val="0"/>
      </a:spcAft>
      <a:defRPr kumimoji="1" sz="1400" kern="1200">
        <a:solidFill>
          <a:schemeClr val="tx1"/>
        </a:solidFill>
        <a:latin typeface="HGPｺﾞｼｯｸE" panose="020B0900000000000000" pitchFamily="50" charset="-128"/>
        <a:ea typeface="ＭＳ Ｐゴシック" panose="020B0600070205080204" pitchFamily="50" charset="-128"/>
        <a:cs typeface="+mn-cs"/>
      </a:defRPr>
    </a:lvl2pPr>
    <a:lvl3pPr marL="914400" algn="l" rtl="0" fontAlgn="base">
      <a:spcBef>
        <a:spcPct val="0"/>
      </a:spcBef>
      <a:spcAft>
        <a:spcPct val="0"/>
      </a:spcAft>
      <a:defRPr kumimoji="1" sz="1400" kern="1200">
        <a:solidFill>
          <a:schemeClr val="tx1"/>
        </a:solidFill>
        <a:latin typeface="HGPｺﾞｼｯｸE" panose="020B0900000000000000" pitchFamily="50" charset="-128"/>
        <a:ea typeface="ＭＳ Ｐゴシック" panose="020B0600070205080204" pitchFamily="50" charset="-128"/>
        <a:cs typeface="+mn-cs"/>
      </a:defRPr>
    </a:lvl3pPr>
    <a:lvl4pPr marL="1371600" algn="l" rtl="0" fontAlgn="base">
      <a:spcBef>
        <a:spcPct val="0"/>
      </a:spcBef>
      <a:spcAft>
        <a:spcPct val="0"/>
      </a:spcAft>
      <a:defRPr kumimoji="1" sz="1400" kern="1200">
        <a:solidFill>
          <a:schemeClr val="tx1"/>
        </a:solidFill>
        <a:latin typeface="HGPｺﾞｼｯｸE" panose="020B0900000000000000" pitchFamily="50" charset="-128"/>
        <a:ea typeface="ＭＳ Ｐゴシック" panose="020B0600070205080204" pitchFamily="50" charset="-128"/>
        <a:cs typeface="+mn-cs"/>
      </a:defRPr>
    </a:lvl4pPr>
    <a:lvl5pPr marL="1828800" algn="l" rtl="0" fontAlgn="base">
      <a:spcBef>
        <a:spcPct val="0"/>
      </a:spcBef>
      <a:spcAft>
        <a:spcPct val="0"/>
      </a:spcAft>
      <a:defRPr kumimoji="1" sz="1400" kern="1200">
        <a:solidFill>
          <a:schemeClr val="tx1"/>
        </a:solidFill>
        <a:latin typeface="HGPｺﾞｼｯｸE" panose="020B0900000000000000" pitchFamily="50" charset="-128"/>
        <a:ea typeface="ＭＳ Ｐゴシック" panose="020B0600070205080204" pitchFamily="50" charset="-128"/>
        <a:cs typeface="+mn-cs"/>
      </a:defRPr>
    </a:lvl5pPr>
    <a:lvl6pPr marL="2286000" algn="l" defTabSz="914400" rtl="0" eaLnBrk="1" latinLnBrk="0" hangingPunct="1">
      <a:defRPr kumimoji="1" sz="1400" kern="1200">
        <a:solidFill>
          <a:schemeClr val="tx1"/>
        </a:solidFill>
        <a:latin typeface="HGPｺﾞｼｯｸE" panose="020B0900000000000000" pitchFamily="50" charset="-128"/>
        <a:ea typeface="ＭＳ Ｐゴシック" panose="020B0600070205080204" pitchFamily="50" charset="-128"/>
        <a:cs typeface="+mn-cs"/>
      </a:defRPr>
    </a:lvl6pPr>
    <a:lvl7pPr marL="2743200" algn="l" defTabSz="914400" rtl="0" eaLnBrk="1" latinLnBrk="0" hangingPunct="1">
      <a:defRPr kumimoji="1" sz="1400" kern="1200">
        <a:solidFill>
          <a:schemeClr val="tx1"/>
        </a:solidFill>
        <a:latin typeface="HGPｺﾞｼｯｸE" panose="020B0900000000000000" pitchFamily="50" charset="-128"/>
        <a:ea typeface="ＭＳ Ｐゴシック" panose="020B0600070205080204" pitchFamily="50" charset="-128"/>
        <a:cs typeface="+mn-cs"/>
      </a:defRPr>
    </a:lvl7pPr>
    <a:lvl8pPr marL="3200400" algn="l" defTabSz="914400" rtl="0" eaLnBrk="1" latinLnBrk="0" hangingPunct="1">
      <a:defRPr kumimoji="1" sz="1400" kern="1200">
        <a:solidFill>
          <a:schemeClr val="tx1"/>
        </a:solidFill>
        <a:latin typeface="HGPｺﾞｼｯｸE" panose="020B0900000000000000" pitchFamily="50" charset="-128"/>
        <a:ea typeface="ＭＳ Ｐゴシック" panose="020B0600070205080204" pitchFamily="50" charset="-128"/>
        <a:cs typeface="+mn-cs"/>
      </a:defRPr>
    </a:lvl8pPr>
    <a:lvl9pPr marL="3657600" algn="l" defTabSz="914400" rtl="0" eaLnBrk="1" latinLnBrk="0" hangingPunct="1">
      <a:defRPr kumimoji="1" sz="1400" kern="1200">
        <a:solidFill>
          <a:schemeClr val="tx1"/>
        </a:solidFill>
        <a:latin typeface="HGPｺﾞｼｯｸE" panose="020B0900000000000000" pitchFamily="50" charset="-128"/>
        <a:ea typeface="ＭＳ Ｐゴシック" panose="020B0600070205080204" pitchFamily="50" charset="-128"/>
        <a:cs typeface="+mn-cs"/>
      </a:defRPr>
    </a:lvl9pPr>
  </p:defaultTextStyle>
  <p:extLst>
    <p:ext uri="{521415D9-36F7-43E2-AB2F-B90AF26B5E84}">
      <p14:sectionLst xmlns:p14="http://schemas.microsoft.com/office/powerpoint/2010/main">
        <p14:section name="既定のセクション" id="{F343CF3C-163E-4071-B7B2-C5DA1FEB3479}">
          <p14:sldIdLst>
            <p14:sldId id="652"/>
            <p14:sldId id="1465"/>
            <p14:sldId id="1464"/>
            <p14:sldId id="267"/>
            <p14:sldId id="268"/>
            <p14:sldId id="1267"/>
            <p14:sldId id="1265"/>
            <p14:sldId id="270"/>
            <p14:sldId id="271"/>
            <p14:sldId id="1328"/>
            <p14:sldId id="272"/>
            <p14:sldId id="257"/>
          </p14:sldIdLst>
        </p14:section>
      </p14:sectionLst>
    </p:ext>
    <p:ext uri="{EFAFB233-063F-42B5-8137-9DF3F51BA10A}">
      <p15:sldGuideLst xmlns:p15="http://schemas.microsoft.com/office/powerpoint/2012/main">
        <p15:guide id="2" pos="5932" userDrawn="1">
          <p15:clr>
            <a:srgbClr val="A4A3A4"/>
          </p15:clr>
        </p15:guide>
        <p15:guide id="3" orient="horz" pos="2069" userDrawn="1">
          <p15:clr>
            <a:srgbClr val="A4A3A4"/>
          </p15:clr>
        </p15:guide>
        <p15:guide id="4" orient="horz" pos="935" userDrawn="1">
          <p15:clr>
            <a:srgbClr val="A4A3A4"/>
          </p15:clr>
        </p15:guide>
        <p15:guide id="5" pos="391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FFCC"/>
    <a:srgbClr val="F7EBFF"/>
    <a:srgbClr val="FCF7FF"/>
    <a:srgbClr val="F2F2F2"/>
    <a:srgbClr val="FFCC99"/>
    <a:srgbClr val="FF99FF"/>
    <a:srgbClr val="CCFF99"/>
    <a:srgbClr val="FF6600"/>
    <a:srgbClr val="7188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995" autoAdjust="0"/>
  </p:normalViewPr>
  <p:slideViewPr>
    <p:cSldViewPr snapToGrid="0">
      <p:cViewPr varScale="1">
        <p:scale>
          <a:sx n="84" d="100"/>
          <a:sy n="84" d="100"/>
        </p:scale>
        <p:origin x="508" y="76"/>
      </p:cViewPr>
      <p:guideLst>
        <p:guide pos="5932"/>
        <p:guide orient="horz" pos="2069"/>
        <p:guide orient="horz" pos="935"/>
        <p:guide pos="391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667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idx="2"/>
          </p:nvPr>
        </p:nvSpPr>
        <p:spPr bwMode="auto">
          <a:xfrm>
            <a:off x="720725" y="750888"/>
            <a:ext cx="5367338" cy="37147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p:cNvSpPr>
            <a:spLocks noGrp="1" noChangeArrowheads="1"/>
          </p:cNvSpPr>
          <p:nvPr>
            <p:ph type="body" sz="quarter" idx="3"/>
          </p:nvPr>
        </p:nvSpPr>
        <p:spPr bwMode="auto">
          <a:xfrm>
            <a:off x="908050" y="4721225"/>
            <a:ext cx="4991100" cy="4473575"/>
          </a:xfrm>
          <a:prstGeom prst="rect">
            <a:avLst/>
          </a:prstGeom>
          <a:noFill/>
          <a:ln w="12700">
            <a:noFill/>
            <a:miter lim="800000"/>
            <a:headEnd/>
            <a:tailEnd/>
          </a:ln>
        </p:spPr>
        <p:txBody>
          <a:bodyPr vert="horz" wrap="square" lIns="92358" tIns="45369" rIns="92358" bIns="45369" numCol="1" anchor="t" anchorCtr="0" compatLnSpc="1">
            <a:prstTxWarp prst="textNoShape">
              <a:avLst/>
            </a:prstTxWarp>
          </a:bodyPr>
          <a:lstStyle/>
          <a:p>
            <a:pPr lvl="0"/>
            <a:r>
              <a:rPr lang="en-US" altLang="ja-JP" noProof="0"/>
              <a:t>Click to edit Master text styles</a:t>
            </a:r>
          </a:p>
          <a:p>
            <a:pPr lvl="1"/>
            <a:r>
              <a:rPr lang="en-US" altLang="ja-JP" noProof="0"/>
              <a:t>Second level</a:t>
            </a:r>
          </a:p>
          <a:p>
            <a:pPr lvl="2"/>
            <a:r>
              <a:rPr lang="en-US" altLang="ja-JP" noProof="0"/>
              <a:t>Third level</a:t>
            </a:r>
          </a:p>
          <a:p>
            <a:pPr lvl="3"/>
            <a:r>
              <a:rPr lang="en-US" altLang="ja-JP" noProof="0"/>
              <a:t>Fourth level</a:t>
            </a:r>
          </a:p>
          <a:p>
            <a:pPr lvl="4"/>
            <a:r>
              <a:rPr lang="en-US" altLang="ja-JP" noProof="0"/>
              <a:t>Fifth level</a:t>
            </a:r>
          </a:p>
        </p:txBody>
      </p:sp>
    </p:spTree>
    <p:extLst>
      <p:ext uri="{BB962C8B-B14F-4D97-AF65-F5344CB8AC3E}">
        <p14:creationId xmlns:p14="http://schemas.microsoft.com/office/powerpoint/2010/main" val="23312611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8F64A-E31F-4CA9-254E-034D3DBC844D}"/>
            </a:ext>
          </a:extLst>
        </p:cNvPr>
        <p:cNvGrpSpPr/>
        <p:nvPr/>
      </p:nvGrpSpPr>
      <p:grpSpPr>
        <a:xfrm>
          <a:off x="0" y="0"/>
          <a:ext cx="0" cy="0"/>
          <a:chOff x="0" y="0"/>
          <a:chExt cx="0" cy="0"/>
        </a:xfrm>
      </p:grpSpPr>
      <p:sp>
        <p:nvSpPr>
          <p:cNvPr id="76802" name="スライド イメージ プレースホルダ 1">
            <a:extLst>
              <a:ext uri="{FF2B5EF4-FFF2-40B4-BE49-F238E27FC236}">
                <a16:creationId xmlns:a16="http://schemas.microsoft.com/office/drawing/2014/main" id="{648D4571-74BE-AB82-DFF1-0509C514DDFC}"/>
              </a:ext>
            </a:extLst>
          </p:cNvPr>
          <p:cNvSpPr>
            <a:spLocks noGrp="1" noRot="1" noChangeAspect="1" noTextEdit="1"/>
          </p:cNvSpPr>
          <p:nvPr>
            <p:ph type="sldImg"/>
          </p:nvPr>
        </p:nvSpPr>
        <p:spPr>
          <a:ln/>
        </p:spPr>
      </p:sp>
      <p:sp>
        <p:nvSpPr>
          <p:cNvPr id="76803" name="ノート プレースホルダ 2">
            <a:extLst>
              <a:ext uri="{FF2B5EF4-FFF2-40B4-BE49-F238E27FC236}">
                <a16:creationId xmlns:a16="http://schemas.microsoft.com/office/drawing/2014/main" id="{34E7A5E3-7F01-F140-5484-A62931A3C3CC}"/>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ja-JP" altLang="en-US"/>
          </a:p>
        </p:txBody>
      </p:sp>
    </p:spTree>
    <p:extLst>
      <p:ext uri="{BB962C8B-B14F-4D97-AF65-F5344CB8AC3E}">
        <p14:creationId xmlns:p14="http://schemas.microsoft.com/office/powerpoint/2010/main" val="3943994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E0C84-897E-D720-D7B4-17369D4161CE}"/>
            </a:ext>
          </a:extLst>
        </p:cNvPr>
        <p:cNvGrpSpPr/>
        <p:nvPr/>
      </p:nvGrpSpPr>
      <p:grpSpPr>
        <a:xfrm>
          <a:off x="0" y="0"/>
          <a:ext cx="0" cy="0"/>
          <a:chOff x="0" y="0"/>
          <a:chExt cx="0" cy="0"/>
        </a:xfrm>
      </p:grpSpPr>
      <p:sp>
        <p:nvSpPr>
          <p:cNvPr id="76802" name="スライド イメージ プレースホルダ 1">
            <a:extLst>
              <a:ext uri="{FF2B5EF4-FFF2-40B4-BE49-F238E27FC236}">
                <a16:creationId xmlns:a16="http://schemas.microsoft.com/office/drawing/2014/main" id="{1E5F365C-CA55-4EBD-D393-D89F4D6DCA6C}"/>
              </a:ext>
            </a:extLst>
          </p:cNvPr>
          <p:cNvSpPr>
            <a:spLocks noGrp="1" noRot="1" noChangeAspect="1" noTextEdit="1"/>
          </p:cNvSpPr>
          <p:nvPr>
            <p:ph type="sldImg"/>
          </p:nvPr>
        </p:nvSpPr>
        <p:spPr>
          <a:ln/>
        </p:spPr>
      </p:sp>
      <p:sp>
        <p:nvSpPr>
          <p:cNvPr id="76803" name="ノート プレースホルダ 2">
            <a:extLst>
              <a:ext uri="{FF2B5EF4-FFF2-40B4-BE49-F238E27FC236}">
                <a16:creationId xmlns:a16="http://schemas.microsoft.com/office/drawing/2014/main" id="{E615DC42-562A-5600-793A-F2401BB8E5D1}"/>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ja-JP" altLang="en-US"/>
          </a:p>
        </p:txBody>
      </p:sp>
    </p:spTree>
    <p:extLst>
      <p:ext uri="{BB962C8B-B14F-4D97-AF65-F5344CB8AC3E}">
        <p14:creationId xmlns:p14="http://schemas.microsoft.com/office/powerpoint/2010/main" val="3991892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スライド イメージ プレースホルダ 1"/>
          <p:cNvSpPr>
            <a:spLocks noGrp="1" noRot="1" noChangeAspect="1" noTextEdit="1"/>
          </p:cNvSpPr>
          <p:nvPr>
            <p:ph type="sldImg"/>
          </p:nvPr>
        </p:nvSpPr>
        <p:spPr>
          <a:ln/>
        </p:spPr>
      </p:sp>
      <p:sp>
        <p:nvSpPr>
          <p:cNvPr id="77827" name="ノート プレースホルダ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ja-JP" altLang="en-US"/>
          </a:p>
        </p:txBody>
      </p:sp>
    </p:spTree>
    <p:extLst>
      <p:ext uri="{BB962C8B-B14F-4D97-AF65-F5344CB8AC3E}">
        <p14:creationId xmlns:p14="http://schemas.microsoft.com/office/powerpoint/2010/main" val="3369385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9D9B1-0D1F-0196-C7CB-34565280E8CF}"/>
            </a:ext>
          </a:extLst>
        </p:cNvPr>
        <p:cNvGrpSpPr/>
        <p:nvPr/>
      </p:nvGrpSpPr>
      <p:grpSpPr>
        <a:xfrm>
          <a:off x="0" y="0"/>
          <a:ext cx="0" cy="0"/>
          <a:chOff x="0" y="0"/>
          <a:chExt cx="0" cy="0"/>
        </a:xfrm>
      </p:grpSpPr>
      <p:sp>
        <p:nvSpPr>
          <p:cNvPr id="77826" name="スライド イメージ プレースホルダ 1">
            <a:extLst>
              <a:ext uri="{FF2B5EF4-FFF2-40B4-BE49-F238E27FC236}">
                <a16:creationId xmlns:a16="http://schemas.microsoft.com/office/drawing/2014/main" id="{2413DF1E-BC69-4533-490D-19DB9B55E031}"/>
              </a:ext>
            </a:extLst>
          </p:cNvPr>
          <p:cNvSpPr>
            <a:spLocks noGrp="1" noRot="1" noChangeAspect="1" noTextEdit="1"/>
          </p:cNvSpPr>
          <p:nvPr>
            <p:ph type="sldImg"/>
          </p:nvPr>
        </p:nvSpPr>
        <p:spPr>
          <a:ln/>
        </p:spPr>
      </p:sp>
      <p:sp>
        <p:nvSpPr>
          <p:cNvPr id="77827" name="ノート プレースホルダ 2">
            <a:extLst>
              <a:ext uri="{FF2B5EF4-FFF2-40B4-BE49-F238E27FC236}">
                <a16:creationId xmlns:a16="http://schemas.microsoft.com/office/drawing/2014/main" id="{5129D9AA-6123-4DDE-A697-3C45BA95B6F1}"/>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ja-JP" altLang="en-US"/>
          </a:p>
        </p:txBody>
      </p:sp>
    </p:spTree>
    <p:extLst>
      <p:ext uri="{BB962C8B-B14F-4D97-AF65-F5344CB8AC3E}">
        <p14:creationId xmlns:p14="http://schemas.microsoft.com/office/powerpoint/2010/main" val="1182624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6A4F0-6ECA-FACB-9791-D77910CBBD0D}"/>
            </a:ext>
          </a:extLst>
        </p:cNvPr>
        <p:cNvGrpSpPr/>
        <p:nvPr/>
      </p:nvGrpSpPr>
      <p:grpSpPr>
        <a:xfrm>
          <a:off x="0" y="0"/>
          <a:ext cx="0" cy="0"/>
          <a:chOff x="0" y="0"/>
          <a:chExt cx="0" cy="0"/>
        </a:xfrm>
      </p:grpSpPr>
      <p:sp>
        <p:nvSpPr>
          <p:cNvPr id="76802" name="スライド イメージ プレースホルダ 1">
            <a:extLst>
              <a:ext uri="{FF2B5EF4-FFF2-40B4-BE49-F238E27FC236}">
                <a16:creationId xmlns:a16="http://schemas.microsoft.com/office/drawing/2014/main" id="{44CEBD2B-E488-1C52-DCC7-EF584358B232}"/>
              </a:ext>
            </a:extLst>
          </p:cNvPr>
          <p:cNvSpPr>
            <a:spLocks noGrp="1" noRot="1" noChangeAspect="1" noTextEdit="1"/>
          </p:cNvSpPr>
          <p:nvPr>
            <p:ph type="sldImg"/>
          </p:nvPr>
        </p:nvSpPr>
        <p:spPr>
          <a:ln/>
        </p:spPr>
      </p:sp>
      <p:sp>
        <p:nvSpPr>
          <p:cNvPr id="76803" name="ノート プレースホルダ 2">
            <a:extLst>
              <a:ext uri="{FF2B5EF4-FFF2-40B4-BE49-F238E27FC236}">
                <a16:creationId xmlns:a16="http://schemas.microsoft.com/office/drawing/2014/main" id="{FE3FA752-2CF1-FA33-7F53-B46A111EF190}"/>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ja-JP" altLang="en-US"/>
          </a:p>
        </p:txBody>
      </p:sp>
    </p:spTree>
    <p:extLst>
      <p:ext uri="{BB962C8B-B14F-4D97-AF65-F5344CB8AC3E}">
        <p14:creationId xmlns:p14="http://schemas.microsoft.com/office/powerpoint/2010/main" val="246792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795198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82BD-7B35-B7EC-DE36-5AD4F413D3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A64467-C791-A0F6-519B-889B7D778E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A4E3EC-08F1-1F7C-C931-591B08E41954}"/>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674512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2014</a:t>
            </a:r>
            <a:r>
              <a:rPr kumimoji="1" lang="ja-JP" altLang="en-US"/>
              <a:t>年</a:t>
            </a:r>
            <a:r>
              <a:rPr kumimoji="1" lang="en-US" altLang="ja-JP"/>
              <a:t>12</a:t>
            </a:r>
            <a:r>
              <a:rPr kumimoji="1" lang="ja-JP" altLang="en-US"/>
              <a:t>月末で</a:t>
            </a:r>
            <a:r>
              <a:rPr kumimoji="1" lang="en-US" altLang="ja-JP"/>
              <a:t>UPDATE</a:t>
            </a:r>
            <a:endParaRPr kumimoji="1" lang="ja-JP" altLang="en-US"/>
          </a:p>
        </p:txBody>
      </p:sp>
    </p:spTree>
    <p:extLst>
      <p:ext uri="{BB962C8B-B14F-4D97-AF65-F5344CB8AC3E}">
        <p14:creationId xmlns:p14="http://schemas.microsoft.com/office/powerpoint/2010/main" val="4084761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32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2" y="734507"/>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955525"/>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43517122"/>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94308470"/>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スライド" r:id="rId4" imgW="470" imgH="469" progId="TCLayout.ActiveDocument.1">
                  <p:embed/>
                </p:oleObj>
              </mc:Choice>
              <mc:Fallback>
                <p:oleObj name="think-cell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spcBef>
                <a:spcPts val="0"/>
              </a:spcBef>
              <a:spcAft>
                <a:spcPts val="0"/>
              </a:spcAft>
              <a:defRPr lang="en-GB" sz="2400"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spcBef>
                <a:spcPts val="0"/>
              </a:spcBef>
              <a:spcAft>
                <a:spcPts val="0"/>
              </a:spcAft>
              <a:defRPr lang="ja-JP" altLang="en-US" sz="1600"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dirty="0">
                <a:ln>
                  <a:noFill/>
                </a:ln>
                <a:solidFill>
                  <a:schemeClr val="tx1"/>
                </a:solidFill>
                <a:effectLst/>
                <a:latin typeface="+mj-lt"/>
                <a:ea typeface="游明朝" panose="02020400000000000000" pitchFamily="18" charset="-128"/>
              </a:rPr>
              <a:t>   ©</a:t>
            </a: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 2025 Accenture All Rights Reserved</a:t>
            </a:r>
            <a:endParaRPr kumimoji="0" lang="en-US" altLang="ja-JP" sz="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6745273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4"/>
            </p:custDataLst>
            <p:extLst>
              <p:ext uri="{D42A27DB-BD31-4B8C-83A1-F6EECF244321}">
                <p14:modId xmlns:p14="http://schemas.microsoft.com/office/powerpoint/2010/main" val="2782735943"/>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スライド" r:id="rId6" imgW="470" imgH="469" progId="TCLayout.ActiveDocument.1">
                  <p:embed/>
                </p:oleObj>
              </mc:Choice>
              <mc:Fallback>
                <p:oleObj name="think-cellスライド" r:id="rId6" imgW="470" imgH="469" progId="TCLayout.ActiveDocument.1">
                  <p:embed/>
                  <p:pic>
                    <p:nvPicPr>
                      <p:cNvPr id="2" name="オブジェクト 1" hidden="1"/>
                      <p:cNvPicPr/>
                      <p:nvPr/>
                    </p:nvPicPr>
                    <p:blipFill>
                      <a:blip r:embed="rId7"/>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5"/>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2087192796"/>
      </p:ext>
    </p:extLst>
  </p:cSld>
  <p:clrMap bg1="lt1" tx1="dk1" bg2="lt2" tx2="dk2" accent1="accent1" accent2="accent2" accent3="accent3" accent4="accent4" accent5="accent5" accent6="accent6" hlink="hlink" folHlink="folHlink"/>
  <p:sldLayoutIdLst>
    <p:sldLayoutId id="2147484112" r:id="rId1"/>
    <p:sldLayoutId id="2147484113" r:id="rId2"/>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4.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6.sv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5.png"/><Relationship Id="rId5" Type="http://schemas.openxmlformats.org/officeDocument/2006/relationships/image" Target="../media/image3.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2.xml"/><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3.emf"/><Relationship Id="rId10" Type="http://schemas.openxmlformats.org/officeDocument/2006/relationships/image" Target="../media/image9.png"/><Relationship Id="rId4" Type="http://schemas.openxmlformats.org/officeDocument/2006/relationships/oleObject" Target="../embeddings/oleObject5.bin"/><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sv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5.png"/><Relationship Id="rId5" Type="http://schemas.openxmlformats.org/officeDocument/2006/relationships/image" Target="../media/image3.e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3.emf"/><Relationship Id="rId4" Type="http://schemas.openxmlformats.org/officeDocument/2006/relationships/oleObject" Target="../embeddings/oleObject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C96695A2-9CB4-405D-B6E3-F5944AC687C9}"/>
              </a:ext>
            </a:extLst>
          </p:cNvPr>
          <p:cNvGraphicFramePr>
            <a:graphicFrameLocks noChangeAspect="1"/>
          </p:cNvGraphicFramePr>
          <p:nvPr>
            <p:custDataLst>
              <p:tags r:id="rId1"/>
            </p:custDataLst>
            <p:extLst>
              <p:ext uri="{D42A27DB-BD31-4B8C-83A1-F6EECF244321}">
                <p14:modId xmlns:p14="http://schemas.microsoft.com/office/powerpoint/2010/main" val="37802541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6" imgH="416" progId="TCLayout.ActiveDocument.1">
                  <p:embed/>
                </p:oleObj>
              </mc:Choice>
              <mc:Fallback>
                <p:oleObj name="think-cellスライド" r:id="rId3" imgW="416" imgH="416" progId="TCLayout.ActiveDocument.1">
                  <p:embed/>
                  <p:pic>
                    <p:nvPicPr>
                      <p:cNvPr id="7" name="オブジェクト 6" hidden="1">
                        <a:extLst>
                          <a:ext uri="{FF2B5EF4-FFF2-40B4-BE49-F238E27FC236}">
                            <a16:creationId xmlns:a16="http://schemas.microsoft.com/office/drawing/2014/main" id="{C96695A2-9CB4-405D-B6E3-F5944AC687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タイトル 3">
            <a:extLst>
              <a:ext uri="{FF2B5EF4-FFF2-40B4-BE49-F238E27FC236}">
                <a16:creationId xmlns:a16="http://schemas.microsoft.com/office/drawing/2014/main" id="{084601AB-FFAA-4BFA-B86E-707C1BB15843}"/>
              </a:ext>
            </a:extLst>
          </p:cNvPr>
          <p:cNvSpPr>
            <a:spLocks noGrp="1"/>
          </p:cNvSpPr>
          <p:nvPr>
            <p:ph type="ctrTitle"/>
          </p:nvPr>
        </p:nvSpPr>
        <p:spPr>
          <a:xfrm>
            <a:off x="505442" y="2759700"/>
            <a:ext cx="6679806" cy="1125316"/>
          </a:xfrm>
        </p:spPr>
        <p:txBody>
          <a:bodyPr vert="horz"/>
          <a:lstStyle/>
          <a:p>
            <a:r>
              <a:rPr lang="en-US" altLang="ja-JP" dirty="0"/>
              <a:t>MU</a:t>
            </a:r>
            <a:r>
              <a:rPr lang="ja-JP" altLang="en-US" dirty="0"/>
              <a:t>トレーニング資料</a:t>
            </a:r>
            <a:br>
              <a:rPr lang="en-US" altLang="ja-JP" dirty="0"/>
            </a:br>
            <a:r>
              <a:rPr lang="en-US" altLang="ja-JP" dirty="0"/>
              <a:t>~</a:t>
            </a:r>
            <a:r>
              <a:rPr lang="ja-JP" altLang="en-US" dirty="0"/>
              <a:t>証券業界の概要</a:t>
            </a:r>
          </a:p>
        </p:txBody>
      </p:sp>
    </p:spTree>
    <p:extLst>
      <p:ext uri="{BB962C8B-B14F-4D97-AF65-F5344CB8AC3E}">
        <p14:creationId xmlns:p14="http://schemas.microsoft.com/office/powerpoint/2010/main" val="3919339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88A91-3226-4124-22F2-63C9F5DA00E0}"/>
            </a:ext>
          </a:extLst>
        </p:cNvPr>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80E038A0-D02C-CA7F-999F-9BEDDB6306C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6" imgH="416" progId="TCLayout.ActiveDocument.1">
                  <p:embed/>
                </p:oleObj>
              </mc:Choice>
              <mc:Fallback>
                <p:oleObj name="think-cellスライド" r:id="rId3" imgW="416" imgH="416" progId="TCLayout.ActiveDocument.1">
                  <p:embed/>
                  <p:pic>
                    <p:nvPicPr>
                      <p:cNvPr id="5" name="オブジェクト 4" hidden="1">
                        <a:extLst>
                          <a:ext uri="{FF2B5EF4-FFF2-40B4-BE49-F238E27FC236}">
                            <a16:creationId xmlns:a16="http://schemas.microsoft.com/office/drawing/2014/main" id="{80E038A0-D02C-CA7F-999F-9BEDDB6306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17B15A99-56DC-E6C1-B46D-D17E124DF65C}"/>
              </a:ext>
            </a:extLst>
          </p:cNvPr>
          <p:cNvSpPr>
            <a:spLocks noGrp="1"/>
          </p:cNvSpPr>
          <p:nvPr>
            <p:ph type="title"/>
          </p:nvPr>
        </p:nvSpPr>
        <p:spPr/>
        <p:txBody>
          <a:bodyPr vert="horz"/>
          <a:lstStyle/>
          <a:p>
            <a:r>
              <a:rPr kumimoji="1" lang="ja-JP" altLang="en-US" dirty="0"/>
              <a:t>自己紹介</a:t>
            </a:r>
          </a:p>
        </p:txBody>
      </p:sp>
      <p:pic>
        <p:nvPicPr>
          <p:cNvPr id="3074" name="Picture 2" descr="スーツを着ている男はスマイルしている&#10;&#10;自動的に生成された説明">
            <a:extLst>
              <a:ext uri="{FF2B5EF4-FFF2-40B4-BE49-F238E27FC236}">
                <a16:creationId xmlns:a16="http://schemas.microsoft.com/office/drawing/2014/main" id="{72E6FC8F-50BB-F4F3-0BE2-42326C4E71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504" y="1299210"/>
            <a:ext cx="1314450" cy="1638300"/>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プレースホルダー 2">
            <a:extLst>
              <a:ext uri="{FF2B5EF4-FFF2-40B4-BE49-F238E27FC236}">
                <a16:creationId xmlns:a16="http://schemas.microsoft.com/office/drawing/2014/main" id="{D733DDF0-15EC-CC56-55B7-789463A8ECD8}"/>
              </a:ext>
            </a:extLst>
          </p:cNvPr>
          <p:cNvSpPr txBox="1">
            <a:spLocks/>
          </p:cNvSpPr>
          <p:nvPr/>
        </p:nvSpPr>
        <p:spPr>
          <a:xfrm>
            <a:off x="1981777" y="1299210"/>
            <a:ext cx="3687504" cy="1638300"/>
          </a:xfrm>
          <a:prstGeom prst="rect">
            <a:avLst/>
          </a:prstGeom>
          <a:noFill/>
          <a:ln>
            <a:noFill/>
          </a:ln>
        </p:spPr>
        <p:txBody>
          <a:bodyPr vert="horz" lIns="0" tIns="0" rIns="0" bIns="0" rtlCol="0" anchor="ctr">
            <a:noAutofit/>
          </a:bodyPr>
          <a:lstStyle>
            <a:defPPr>
              <a:defRPr lang="en-US"/>
            </a:defPPr>
            <a:lvl1pPr marL="174625" marR="0" indent="0" defTabSz="990546" eaLnBrk="1" latinLnBrk="0" hangingPunct="1">
              <a:lnSpc>
                <a:spcPct val="100000"/>
              </a:lnSpc>
              <a:spcBef>
                <a:spcPts val="0"/>
              </a:spcBef>
              <a:spcAft>
                <a:spcPts val="0"/>
              </a:spcAft>
              <a:buClrTx/>
              <a:buSzTx/>
              <a:buFont typeface="Arial" panose="020B0604020202020204" pitchFamily="34" charset="0"/>
              <a:buNone/>
              <a:tabLst/>
              <a:defRPr sz="1800">
                <a:latin typeface="Meiryo UI" panose="020B0604030504040204" pitchFamily="50" charset="-128"/>
                <a:ea typeface="Meiryo UI" panose="020B0604030504040204" pitchFamily="50" charset="-128"/>
              </a:defRPr>
            </a:lvl1pPr>
            <a:lvl2pPr marL="644525" indent="-285750" eaLnBrk="1" hangingPunct="1">
              <a:lnSpc>
                <a:spcPct val="100000"/>
              </a:lnSpc>
              <a:spcBef>
                <a:spcPts val="600"/>
              </a:spcBef>
              <a:spcAft>
                <a:spcPts val="325"/>
              </a:spcAft>
              <a:buFont typeface="Wingdings" panose="05000000000000000000" pitchFamily="2" charset="2"/>
              <a:buChar char="p"/>
              <a:defRPr sz="1800">
                <a:latin typeface="Meiryo UI" panose="020B0604030504040204" pitchFamily="50" charset="-128"/>
                <a:ea typeface="Meiryo UI" panose="020B0604030504040204" pitchFamily="50" charset="-128"/>
              </a:defRPr>
            </a:lvl2pPr>
            <a:lvl3pPr marL="1004888" indent="-285750" eaLnBrk="1" hangingPunct="1">
              <a:lnSpc>
                <a:spcPct val="100000"/>
              </a:lnSpc>
              <a:spcBef>
                <a:spcPts val="600"/>
              </a:spcBef>
              <a:spcAft>
                <a:spcPts val="325"/>
              </a:spcAft>
              <a:buFont typeface="Arial" panose="020B0604020202020204" pitchFamily="34" charset="0"/>
              <a:buChar char="•"/>
              <a:defRPr sz="1800">
                <a:latin typeface="Meiryo UI" panose="020B0604030504040204" pitchFamily="50" charset="-128"/>
                <a:ea typeface="Meiryo UI" panose="020B0604030504040204" pitchFamily="50" charset="-128"/>
              </a:defRPr>
            </a:lvl3pPr>
            <a:lvl4pPr marL="1363662" indent="-285750" eaLnBrk="1" hangingPunct="1">
              <a:lnSpc>
                <a:spcPct val="100000"/>
              </a:lnSpc>
              <a:spcBef>
                <a:spcPts val="600"/>
              </a:spcBef>
              <a:spcAft>
                <a:spcPts val="325"/>
              </a:spcAft>
              <a:buFont typeface="Meiryo UI" panose="020B0604030504040204" pitchFamily="50" charset="-128"/>
              <a:buChar char="–"/>
              <a:defRPr sz="1800">
                <a:latin typeface="Meiryo UI" panose="020B0604030504040204" pitchFamily="50" charset="-128"/>
                <a:ea typeface="Meiryo UI" panose="020B0604030504040204" pitchFamily="50" charset="-128"/>
              </a:defRPr>
            </a:lvl4pPr>
            <a:lvl5pPr marL="1436687" indent="0" eaLnBrk="1" hangingPunct="1">
              <a:spcBef>
                <a:spcPts val="600"/>
              </a:spcBef>
              <a:spcAft>
                <a:spcPts val="325"/>
              </a:spcAft>
              <a:buFont typeface="Arial" panose="020B0604020202020204" pitchFamily="34" charset="0"/>
              <a:buNone/>
              <a:defRPr sz="1800">
                <a:latin typeface="Meiryo UI" panose="020B0604030504040204" pitchFamily="50" charset="-128"/>
                <a:ea typeface="Meiryo UI" panose="020B0604030504040204" pitchFamily="50" charset="-128"/>
              </a:defRPr>
            </a:lvl5pPr>
            <a:lvl6pPr marL="2723999" indent="-247636" defTabSz="990546">
              <a:spcBef>
                <a:spcPct val="20000"/>
              </a:spcBef>
              <a:buFont typeface="Arial" pitchFamily="34" charset="0"/>
              <a:buChar char="•"/>
              <a:defRPr sz="2167">
                <a:latin typeface="+mn-lt"/>
                <a:ea typeface="+mn-ea"/>
              </a:defRPr>
            </a:lvl6pPr>
            <a:lvl7pPr marL="3219270" indent="-247636" defTabSz="990546">
              <a:spcBef>
                <a:spcPct val="20000"/>
              </a:spcBef>
              <a:buFont typeface="Arial" pitchFamily="34" charset="0"/>
              <a:buChar char="•"/>
              <a:defRPr sz="2167">
                <a:latin typeface="+mn-lt"/>
                <a:ea typeface="+mn-ea"/>
              </a:defRPr>
            </a:lvl7pPr>
            <a:lvl8pPr marL="3714543" indent="-247636" defTabSz="990546">
              <a:spcBef>
                <a:spcPct val="20000"/>
              </a:spcBef>
              <a:buFont typeface="Arial" pitchFamily="34" charset="0"/>
              <a:buChar char="•"/>
              <a:defRPr sz="2167">
                <a:latin typeface="+mn-lt"/>
                <a:ea typeface="+mn-ea"/>
              </a:defRPr>
            </a:lvl8pPr>
            <a:lvl9pPr marL="4209815" indent="-247636" defTabSz="990546">
              <a:spcBef>
                <a:spcPct val="20000"/>
              </a:spcBef>
              <a:buFont typeface="Arial" pitchFamily="34" charset="0"/>
              <a:buChar char="•"/>
              <a:defRPr sz="2167">
                <a:latin typeface="+mn-lt"/>
                <a:ea typeface="+mn-ea"/>
              </a:defRPr>
            </a:lvl9pPr>
          </a:lstStyle>
          <a:p>
            <a:r>
              <a:rPr lang="ja-JP" altLang="en-US" sz="1600" dirty="0"/>
              <a:t>キャピタルマーケットプラクティス</a:t>
            </a:r>
            <a:endParaRPr lang="en-US" altLang="ja-JP" sz="1600" dirty="0"/>
          </a:p>
          <a:p>
            <a:r>
              <a:rPr lang="ja-JP" altLang="en-US" sz="1600" dirty="0"/>
              <a:t>マネージングディレクター</a:t>
            </a:r>
            <a:endParaRPr lang="en-US" altLang="ja-JP" sz="1600" dirty="0"/>
          </a:p>
          <a:p>
            <a:endParaRPr lang="en-US" altLang="ja-JP" dirty="0"/>
          </a:p>
          <a:p>
            <a:r>
              <a:rPr lang="ja-JP" altLang="en-US" b="1" dirty="0"/>
              <a:t>山田　健二（</a:t>
            </a:r>
            <a:r>
              <a:rPr lang="en-US" altLang="ja-JP" b="1" dirty="0" err="1"/>
              <a:t>kenji.yamada</a:t>
            </a:r>
            <a:r>
              <a:rPr lang="ja-JP" altLang="en-US" b="1" dirty="0"/>
              <a:t>）</a:t>
            </a:r>
            <a:endParaRPr lang="en-US" altLang="ja-JP" b="1" dirty="0"/>
          </a:p>
        </p:txBody>
      </p:sp>
      <p:sp>
        <p:nvSpPr>
          <p:cNvPr id="14" name="正方形/長方形 13">
            <a:extLst>
              <a:ext uri="{FF2B5EF4-FFF2-40B4-BE49-F238E27FC236}">
                <a16:creationId xmlns:a16="http://schemas.microsoft.com/office/drawing/2014/main" id="{0A927750-AED1-3DE4-550A-23778481D3C9}"/>
              </a:ext>
            </a:extLst>
          </p:cNvPr>
          <p:cNvSpPr/>
          <p:nvPr/>
        </p:nvSpPr>
        <p:spPr>
          <a:xfrm>
            <a:off x="488504" y="3259984"/>
            <a:ext cx="4233966" cy="338031"/>
          </a:xfrm>
          <a:prstGeom prst="rect">
            <a:avLst/>
          </a:prstGeom>
          <a:solidFill>
            <a:schemeClr val="accent1"/>
          </a:solidFill>
          <a:ln w="6350" cap="flat" cmpd="sng" algn="ctr">
            <a:solidFill>
              <a:srgbClr val="969696"/>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fontAlgn="auto">
              <a:spcBef>
                <a:spcPts val="600"/>
              </a:spcBef>
              <a:spcAft>
                <a:spcPts val="0"/>
              </a:spcAft>
              <a:buClr>
                <a:prstClr val="black"/>
              </a:buClr>
              <a:tabLst>
                <a:tab pos="180975" algn="l"/>
              </a:tabLst>
            </a:pPr>
            <a:r>
              <a:rPr kumimoji="1" lang="en-US" altLang="ja-JP" sz="1600" b="1" kern="0" dirty="0">
                <a:solidFill>
                  <a:schemeClr val="bg1"/>
                </a:solidFill>
                <a:latin typeface="Meiryo UI" panose="020B0604030504040204" pitchFamily="50" charset="-128"/>
                <a:ea typeface="Meiryo UI" panose="020B0604030504040204" pitchFamily="50" charset="-128"/>
              </a:rPr>
              <a:t>	</a:t>
            </a:r>
            <a:r>
              <a:rPr kumimoji="1" lang="ja-JP" altLang="en-US" sz="1600" b="1" kern="0" dirty="0">
                <a:solidFill>
                  <a:schemeClr val="bg1"/>
                </a:solidFill>
                <a:latin typeface="Meiryo UI" panose="020B0604030504040204" pitchFamily="50" charset="-128"/>
                <a:ea typeface="Meiryo UI" panose="020B0604030504040204" pitchFamily="50" charset="-128"/>
              </a:rPr>
              <a:t>略歴</a:t>
            </a:r>
          </a:p>
        </p:txBody>
      </p:sp>
      <p:sp>
        <p:nvSpPr>
          <p:cNvPr id="15" name="正方形/長方形 14">
            <a:extLst>
              <a:ext uri="{FF2B5EF4-FFF2-40B4-BE49-F238E27FC236}">
                <a16:creationId xmlns:a16="http://schemas.microsoft.com/office/drawing/2014/main" id="{23B0D5F3-3AC9-44BC-7449-D23B80CD5AF3}"/>
              </a:ext>
            </a:extLst>
          </p:cNvPr>
          <p:cNvSpPr/>
          <p:nvPr/>
        </p:nvSpPr>
        <p:spPr>
          <a:xfrm>
            <a:off x="488504" y="3799701"/>
            <a:ext cx="4233967" cy="2702413"/>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285750" indent="-285750" fontAlgn="auto">
              <a:spcBef>
                <a:spcPts val="600"/>
              </a:spcBef>
              <a:spcAft>
                <a:spcPts val="0"/>
              </a:spcAft>
              <a:buClr>
                <a:prstClr val="black"/>
              </a:buClr>
              <a:buFont typeface="Wingdings" panose="05000000000000000000" pitchFamily="2" charset="2"/>
              <a:buChar char="n"/>
              <a:tabLst>
                <a:tab pos="180975" algn="l"/>
              </a:tabLst>
            </a:pPr>
            <a:r>
              <a:rPr kumimoji="1" lang="en-US" altLang="ja-JP" kern="0" dirty="0">
                <a:latin typeface="Meiryo UI" panose="020B0604030504040204" pitchFamily="50" charset="-128"/>
                <a:ea typeface="Meiryo UI" panose="020B0604030504040204" pitchFamily="50" charset="-128"/>
              </a:rPr>
              <a:t>1996</a:t>
            </a:r>
            <a:r>
              <a:rPr kumimoji="1" lang="ja-JP" altLang="en-US" kern="0" dirty="0">
                <a:latin typeface="Meiryo UI" panose="020B0604030504040204" pitchFamily="50" charset="-128"/>
                <a:ea typeface="Meiryo UI" panose="020B0604030504040204" pitchFamily="50" charset="-128"/>
              </a:rPr>
              <a:t>年入社</a:t>
            </a:r>
            <a:endParaRPr kumimoji="1" lang="en-US" altLang="ja-JP" kern="0" dirty="0">
              <a:latin typeface="Meiryo UI" panose="020B0604030504040204" pitchFamily="50" charset="-128"/>
              <a:ea typeface="Meiryo UI" panose="020B0604030504040204" pitchFamily="50" charset="-128"/>
            </a:endParaRPr>
          </a:p>
          <a:p>
            <a:pPr marL="285750" indent="-285750" fontAlgn="auto">
              <a:spcBef>
                <a:spcPts val="600"/>
              </a:spcBef>
              <a:spcAft>
                <a:spcPts val="0"/>
              </a:spcAft>
              <a:buClr>
                <a:prstClr val="black"/>
              </a:buClr>
              <a:buFont typeface="Wingdings" panose="05000000000000000000" pitchFamily="2" charset="2"/>
              <a:buChar char="n"/>
              <a:tabLst>
                <a:tab pos="180975" algn="l"/>
              </a:tabLst>
            </a:pPr>
            <a:r>
              <a:rPr kumimoji="1" lang="ja-JP" altLang="en-US" kern="0" dirty="0">
                <a:latin typeface="Meiryo UI" panose="020B0604030504040204" pitchFamily="50" charset="-128"/>
                <a:ea typeface="Meiryo UI" panose="020B0604030504040204" pitchFamily="50" charset="-128"/>
              </a:rPr>
              <a:t>資産運用</a:t>
            </a:r>
            <a:r>
              <a:rPr kumimoji="1" lang="en-US" altLang="ja-JP" kern="0" dirty="0">
                <a:latin typeface="Meiryo UI" panose="020B0604030504040204" pitchFamily="50" charset="-128"/>
                <a:ea typeface="Meiryo UI" panose="020B0604030504040204" pitchFamily="50" charset="-128"/>
              </a:rPr>
              <a:t>/</a:t>
            </a:r>
            <a:r>
              <a:rPr kumimoji="1" lang="ja-JP" altLang="en-US" kern="0" dirty="0">
                <a:latin typeface="Meiryo UI" panose="020B0604030504040204" pitchFamily="50" charset="-128"/>
                <a:ea typeface="Meiryo UI" panose="020B0604030504040204" pitchFamily="50" charset="-128"/>
              </a:rPr>
              <a:t>管理、証券・銀行市場系における業務改革、システム化計画立案、システム導入などのコンサルティング業務に</a:t>
            </a:r>
            <a:r>
              <a:rPr kumimoji="1" lang="en-US" altLang="ja-JP" kern="0" dirty="0">
                <a:latin typeface="Meiryo UI" panose="020B0604030504040204" pitchFamily="50" charset="-128"/>
                <a:ea typeface="Meiryo UI" panose="020B0604030504040204" pitchFamily="50" charset="-128"/>
              </a:rPr>
              <a:t>20</a:t>
            </a:r>
            <a:r>
              <a:rPr kumimoji="1" lang="ja-JP" altLang="en-US" kern="0" dirty="0">
                <a:latin typeface="Meiryo UI" panose="020B0604030504040204" pitchFamily="50" charset="-128"/>
                <a:ea typeface="Meiryo UI" panose="020B0604030504040204" pitchFamily="50" charset="-128"/>
              </a:rPr>
              <a:t>年以上従事。また、海外パッケージ（</a:t>
            </a:r>
            <a:r>
              <a:rPr kumimoji="1" lang="en-US" altLang="ja-JP" kern="0" dirty="0">
                <a:latin typeface="Meiryo UI" panose="020B0604030504040204" pitchFamily="50" charset="-128"/>
                <a:ea typeface="Meiryo UI" panose="020B0604030504040204" pitchFamily="50" charset="-128"/>
              </a:rPr>
              <a:t>Murex/Gloss</a:t>
            </a:r>
            <a:r>
              <a:rPr kumimoji="1" lang="ja-JP" altLang="en-US" kern="0" dirty="0">
                <a:latin typeface="Meiryo UI" panose="020B0604030504040204" pitchFamily="50" charset="-128"/>
                <a:ea typeface="Meiryo UI" panose="020B0604030504040204" pitchFamily="50" charset="-128"/>
              </a:rPr>
              <a:t>など）の導入計画立案、実際のシステム開発・導入支援も多数経験</a:t>
            </a:r>
            <a:endParaRPr kumimoji="1" lang="en-US" altLang="ja-JP" kern="0" dirty="0">
              <a:latin typeface="Meiryo UI" panose="020B0604030504040204" pitchFamily="50" charset="-128"/>
              <a:ea typeface="Meiryo UI" panose="020B0604030504040204" pitchFamily="50" charset="-128"/>
            </a:endParaRPr>
          </a:p>
          <a:p>
            <a:pPr marL="285750" indent="-285750" fontAlgn="auto">
              <a:spcBef>
                <a:spcPts val="600"/>
              </a:spcBef>
              <a:spcAft>
                <a:spcPts val="0"/>
              </a:spcAft>
              <a:buClr>
                <a:prstClr val="black"/>
              </a:buClr>
              <a:buFont typeface="Wingdings" panose="05000000000000000000" pitchFamily="2" charset="2"/>
              <a:buChar char="n"/>
              <a:tabLst>
                <a:tab pos="180975" algn="l"/>
              </a:tabLst>
            </a:pPr>
            <a:r>
              <a:rPr lang="en-US" altLang="ja-JP" kern="0" dirty="0">
                <a:latin typeface="Meiryo UI" panose="020B0604030504040204" pitchFamily="50" charset="-128"/>
                <a:ea typeface="Meiryo UI" panose="020B0604030504040204" pitchFamily="50" charset="-128"/>
              </a:rPr>
              <a:t>2008</a:t>
            </a:r>
            <a:r>
              <a:rPr lang="ja-JP" altLang="en-US" kern="0" dirty="0">
                <a:latin typeface="Meiryo UI" panose="020B0604030504040204" pitchFamily="50" charset="-128"/>
                <a:ea typeface="Meiryo UI" panose="020B0604030504040204" pitchFamily="50" charset="-128"/>
              </a:rPr>
              <a:t>年より</a:t>
            </a:r>
            <a:r>
              <a:rPr lang="en-US" altLang="ja-JP" kern="0" dirty="0">
                <a:latin typeface="Meiryo UI" panose="020B0604030504040204" pitchFamily="50" charset="-128"/>
                <a:ea typeface="Meiryo UI" panose="020B0604030504040204" pitchFamily="50" charset="-128"/>
              </a:rPr>
              <a:t>2</a:t>
            </a:r>
            <a:r>
              <a:rPr lang="ja-JP" altLang="en-US" kern="0" dirty="0">
                <a:latin typeface="Meiryo UI" panose="020B0604030504040204" pitchFamily="50" charset="-128"/>
                <a:ea typeface="Meiryo UI" panose="020B0604030504040204" pitchFamily="50" charset="-128"/>
              </a:rPr>
              <a:t>年間、金融庁検査局への出向経験あり（金融証券検査官として銀行・証券検査業務従事）</a:t>
            </a:r>
          </a:p>
        </p:txBody>
      </p:sp>
      <p:sp>
        <p:nvSpPr>
          <p:cNvPr id="3" name="正方形/長方形 2">
            <a:extLst>
              <a:ext uri="{FF2B5EF4-FFF2-40B4-BE49-F238E27FC236}">
                <a16:creationId xmlns:a16="http://schemas.microsoft.com/office/drawing/2014/main" id="{A1092335-1F2B-DFDD-8941-1499B46DFA60}"/>
              </a:ext>
            </a:extLst>
          </p:cNvPr>
          <p:cNvSpPr/>
          <p:nvPr/>
        </p:nvSpPr>
        <p:spPr>
          <a:xfrm>
            <a:off x="5183530" y="3259984"/>
            <a:ext cx="4232974" cy="338031"/>
          </a:xfrm>
          <a:prstGeom prst="rect">
            <a:avLst/>
          </a:prstGeom>
          <a:solidFill>
            <a:schemeClr val="accent1"/>
          </a:solidFill>
          <a:ln w="6350" cap="flat" cmpd="sng" algn="ctr">
            <a:solidFill>
              <a:srgbClr val="969696"/>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fontAlgn="auto">
              <a:spcBef>
                <a:spcPts val="600"/>
              </a:spcBef>
              <a:spcAft>
                <a:spcPts val="0"/>
              </a:spcAft>
              <a:buClr>
                <a:prstClr val="black"/>
              </a:buClr>
              <a:tabLst>
                <a:tab pos="180975" algn="l"/>
              </a:tabLst>
            </a:pPr>
            <a:r>
              <a:rPr kumimoji="1" lang="en-US" altLang="ja-JP" sz="1600" b="1" kern="0" dirty="0">
                <a:solidFill>
                  <a:schemeClr val="bg1"/>
                </a:solidFill>
                <a:latin typeface="Meiryo UI" panose="020B0604030504040204" pitchFamily="50" charset="-128"/>
                <a:ea typeface="Meiryo UI" panose="020B0604030504040204" pitchFamily="50" charset="-128"/>
              </a:rPr>
              <a:t>	</a:t>
            </a:r>
            <a:r>
              <a:rPr lang="en-US" altLang="ja-JP" sz="1600" b="1" kern="0" dirty="0">
                <a:solidFill>
                  <a:schemeClr val="bg1"/>
                </a:solidFill>
                <a:latin typeface="Meiryo UI" panose="020B0604030504040204" pitchFamily="50" charset="-128"/>
                <a:ea typeface="Meiryo UI" panose="020B0604030504040204" pitchFamily="50" charset="-128"/>
              </a:rPr>
              <a:t>MU</a:t>
            </a:r>
            <a:r>
              <a:rPr lang="ja-JP" altLang="en-US" sz="1600" b="1" kern="0" dirty="0">
                <a:solidFill>
                  <a:schemeClr val="bg1"/>
                </a:solidFill>
                <a:latin typeface="Meiryo UI" panose="020B0604030504040204" pitchFamily="50" charset="-128"/>
                <a:ea typeface="Meiryo UI" panose="020B0604030504040204" pitchFamily="50" charset="-128"/>
              </a:rPr>
              <a:t>との関わり</a:t>
            </a:r>
            <a:endParaRPr kumimoji="1" lang="ja-JP" altLang="en-US" sz="1600" b="1" kern="0" dirty="0">
              <a:solidFill>
                <a:schemeClr val="bg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451D72C2-E9AA-8795-7AD8-67D67F1A9E8C}"/>
              </a:ext>
            </a:extLst>
          </p:cNvPr>
          <p:cNvSpPr/>
          <p:nvPr/>
        </p:nvSpPr>
        <p:spPr>
          <a:xfrm>
            <a:off x="5183531" y="3799701"/>
            <a:ext cx="4233967" cy="2702413"/>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285750" indent="-285750" fontAlgn="auto">
              <a:spcBef>
                <a:spcPts val="600"/>
              </a:spcBef>
              <a:spcAft>
                <a:spcPts val="0"/>
              </a:spcAft>
              <a:buClr>
                <a:prstClr val="black"/>
              </a:buClr>
              <a:buFont typeface="Wingdings" panose="05000000000000000000" pitchFamily="2" charset="2"/>
              <a:buChar char="n"/>
              <a:tabLst>
                <a:tab pos="180975" algn="l"/>
              </a:tabLst>
            </a:pPr>
            <a:r>
              <a:rPr lang="ja-JP" altLang="en-US" kern="0" dirty="0">
                <a:latin typeface="Meiryo UI" panose="020B0604030504040204" pitchFamily="50" charset="-128"/>
                <a:ea typeface="Meiryo UI" panose="020B0604030504040204" pitchFamily="50" charset="-128"/>
              </a:rPr>
              <a:t>最初のつながりは、</a:t>
            </a:r>
            <a:r>
              <a:rPr lang="en-US" altLang="ja-JP" kern="0" dirty="0">
                <a:latin typeface="Meiryo UI" panose="020B0604030504040204" pitchFamily="50" charset="-128"/>
                <a:ea typeface="Meiryo UI" panose="020B0604030504040204" pitchFamily="50" charset="-128"/>
              </a:rPr>
              <a:t>2011</a:t>
            </a:r>
            <a:r>
              <a:rPr lang="ja-JP" altLang="en-US" kern="0" dirty="0">
                <a:latin typeface="Meiryo UI" panose="020B0604030504040204" pitchFamily="50" charset="-128"/>
                <a:ea typeface="Meiryo UI" panose="020B0604030504040204" pitchFamily="50" charset="-128"/>
              </a:rPr>
              <a:t>年の</a:t>
            </a:r>
            <a:r>
              <a:rPr lang="en-US" altLang="ja-JP" kern="0" dirty="0">
                <a:latin typeface="Meiryo UI" panose="020B0604030504040204" pitchFamily="50" charset="-128"/>
                <a:ea typeface="Meiryo UI" panose="020B0604030504040204" pitchFamily="50" charset="-128"/>
              </a:rPr>
              <a:t>MUMSS Murex</a:t>
            </a:r>
            <a:r>
              <a:rPr lang="ja-JP" altLang="en-US" kern="0" dirty="0">
                <a:latin typeface="Meiryo UI" panose="020B0604030504040204" pitchFamily="50" charset="-128"/>
                <a:ea typeface="Meiryo UI" panose="020B0604030504040204" pitchFamily="50" charset="-128"/>
              </a:rPr>
              <a:t>導入案件（震災で途中停止）。それ以降も市場系周りで</a:t>
            </a:r>
            <a:r>
              <a:rPr lang="en-US" altLang="ja-JP" kern="0" dirty="0">
                <a:latin typeface="Meiryo UI" panose="020B0604030504040204" pitchFamily="50" charset="-128"/>
                <a:ea typeface="Meiryo UI" panose="020B0604030504040204" pitchFamily="50" charset="-128"/>
              </a:rPr>
              <a:t>MUMSS/MUBK</a:t>
            </a:r>
            <a:r>
              <a:rPr lang="ja-JP" altLang="en-US" kern="0" dirty="0">
                <a:latin typeface="Meiryo UI" panose="020B0604030504040204" pitchFamily="50" charset="-128"/>
                <a:ea typeface="Meiryo UI" panose="020B0604030504040204" pitchFamily="50" charset="-128"/>
              </a:rPr>
              <a:t>を跨いで様々な案件に従事、海外市場系案件なども経験</a:t>
            </a:r>
            <a:endParaRPr lang="en-US" altLang="ja-JP" kern="0" dirty="0">
              <a:latin typeface="Meiryo UI" panose="020B0604030504040204" pitchFamily="50" charset="-128"/>
              <a:ea typeface="Meiryo UI" panose="020B0604030504040204" pitchFamily="50" charset="-128"/>
            </a:endParaRPr>
          </a:p>
          <a:p>
            <a:pPr marL="285750" indent="-285750" fontAlgn="auto">
              <a:spcBef>
                <a:spcPts val="600"/>
              </a:spcBef>
              <a:spcAft>
                <a:spcPts val="0"/>
              </a:spcAft>
              <a:buClr>
                <a:prstClr val="black"/>
              </a:buClr>
              <a:buFont typeface="Wingdings" panose="05000000000000000000" pitchFamily="2" charset="2"/>
              <a:buChar char="n"/>
              <a:tabLst>
                <a:tab pos="180975" algn="l"/>
              </a:tabLst>
            </a:pPr>
            <a:r>
              <a:rPr lang="ja-JP" altLang="en-US" kern="0" dirty="0">
                <a:latin typeface="Meiryo UI" panose="020B0604030504040204" pitchFamily="50" charset="-128"/>
                <a:ea typeface="Meiryo UI" panose="020B0604030504040204" pitchFamily="50" charset="-128"/>
              </a:rPr>
              <a:t>昨年夏頃からは、日本マスタートラスト信託銀行（</a:t>
            </a:r>
            <a:r>
              <a:rPr lang="en-US" altLang="ja-JP" kern="0" dirty="0">
                <a:latin typeface="Meiryo UI" panose="020B0604030504040204" pitchFamily="50" charset="-128"/>
                <a:ea typeface="Meiryo UI" panose="020B0604030504040204" pitchFamily="50" charset="-128"/>
              </a:rPr>
              <a:t>MTBJ</a:t>
            </a:r>
            <a:r>
              <a:rPr lang="ja-JP" altLang="en-US" kern="0" dirty="0">
                <a:latin typeface="Meiryo UI" panose="020B0604030504040204" pitchFamily="50" charset="-128"/>
                <a:ea typeface="Meiryo UI" panose="020B0604030504040204" pitchFamily="50" charset="-128"/>
              </a:rPr>
              <a:t>）のアカウントオープンに伴い、カストディ有識者として案件を担当。主には、モダナイ企画立案支援やその他業務改革系案件において</a:t>
            </a:r>
            <a:r>
              <a:rPr lang="en-US" altLang="ja-JP" kern="0" dirty="0">
                <a:latin typeface="Meiryo UI" panose="020B0604030504040204" pitchFamily="50" charset="-128"/>
                <a:ea typeface="Meiryo UI" panose="020B0604030504040204" pitchFamily="50" charset="-128"/>
              </a:rPr>
              <a:t>DL</a:t>
            </a:r>
            <a:r>
              <a:rPr lang="ja-JP" altLang="en-US" kern="0" dirty="0">
                <a:latin typeface="Meiryo UI" panose="020B0604030504040204" pitchFamily="50" charset="-128"/>
                <a:ea typeface="Meiryo UI" panose="020B0604030504040204" pitchFamily="50" charset="-128"/>
              </a:rPr>
              <a:t>を担当</a:t>
            </a:r>
          </a:p>
        </p:txBody>
      </p:sp>
    </p:spTree>
    <p:extLst>
      <p:ext uri="{BB962C8B-B14F-4D97-AF65-F5344CB8AC3E}">
        <p14:creationId xmlns:p14="http://schemas.microsoft.com/office/powerpoint/2010/main" val="994403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67ABC-1B7C-DB48-40CC-81EDDE514633}"/>
            </a:ext>
          </a:extLst>
        </p:cNvPr>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13C3EEA5-FA70-2602-67A0-C85F068EED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6" imgH="416" progId="TCLayout.ActiveDocument.1">
                  <p:embed/>
                </p:oleObj>
              </mc:Choice>
              <mc:Fallback>
                <p:oleObj name="think-cellスライド" r:id="rId3" imgW="416" imgH="416" progId="TCLayout.ActiveDocument.1">
                  <p:embed/>
                  <p:pic>
                    <p:nvPicPr>
                      <p:cNvPr id="5" name="オブジェクト 4" hidden="1">
                        <a:extLst>
                          <a:ext uri="{FF2B5EF4-FFF2-40B4-BE49-F238E27FC236}">
                            <a16:creationId xmlns:a16="http://schemas.microsoft.com/office/drawing/2014/main" id="{13C3EEA5-FA70-2602-67A0-C85F068EED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1D9D04A5-D2D0-0FB6-C1C3-F416C9DE756B}"/>
              </a:ext>
            </a:extLst>
          </p:cNvPr>
          <p:cNvSpPr>
            <a:spLocks noGrp="1"/>
          </p:cNvSpPr>
          <p:nvPr>
            <p:ph type="title"/>
          </p:nvPr>
        </p:nvSpPr>
        <p:spPr/>
        <p:txBody>
          <a:bodyPr vert="horz"/>
          <a:lstStyle/>
          <a:p>
            <a:r>
              <a:rPr lang="ja-JP" altLang="en-US"/>
              <a:t>アジェンダ</a:t>
            </a:r>
            <a:endParaRPr kumimoji="1" lang="ja-JP" altLang="en-US"/>
          </a:p>
        </p:txBody>
      </p:sp>
      <p:sp>
        <p:nvSpPr>
          <p:cNvPr id="6" name="テキスト プレースホルダー 2">
            <a:extLst>
              <a:ext uri="{FF2B5EF4-FFF2-40B4-BE49-F238E27FC236}">
                <a16:creationId xmlns:a16="http://schemas.microsoft.com/office/drawing/2014/main" id="{5D66EB59-9FFC-F7F0-3AB2-578FAFC4808C}"/>
              </a:ext>
            </a:extLst>
          </p:cNvPr>
          <p:cNvSpPr txBox="1">
            <a:spLocks/>
          </p:cNvSpPr>
          <p:nvPr/>
        </p:nvSpPr>
        <p:spPr>
          <a:xfrm>
            <a:off x="2317056" y="2971272"/>
            <a:ext cx="5270895" cy="669414"/>
          </a:xfrm>
          <a:prstGeom prst="rect">
            <a:avLst/>
          </a:prstGeom>
          <a:solidFill>
            <a:schemeClr val="bg1"/>
          </a:solidFill>
          <a:ln>
            <a:solidFill>
              <a:schemeClr val="tx1">
                <a:lumMod val="50000"/>
                <a:lumOff val="50000"/>
              </a:schemeClr>
            </a:solidFill>
          </a:ln>
        </p:spPr>
        <p:txBody>
          <a:bodyPr vert="horz" lIns="0" tIns="0" rIns="0" bIns="0" rtlCol="0" anchor="ctr">
            <a:noAutofit/>
          </a:bodyPr>
          <a:lstStyle>
            <a:defPPr>
              <a:defRPr lang="en-US"/>
            </a:defPPr>
            <a:lvl1pPr marL="174625" marR="0" indent="0" defTabSz="990546" eaLnBrk="1" latinLnBrk="0" hangingPunct="1">
              <a:lnSpc>
                <a:spcPct val="100000"/>
              </a:lnSpc>
              <a:spcBef>
                <a:spcPts val="0"/>
              </a:spcBef>
              <a:spcAft>
                <a:spcPts val="0"/>
              </a:spcAft>
              <a:buClrTx/>
              <a:buSzTx/>
              <a:buFont typeface="Arial" panose="020B0604020202020204" pitchFamily="34" charset="0"/>
              <a:buNone/>
              <a:tabLst/>
              <a:defRPr sz="1800">
                <a:latin typeface="Meiryo UI" panose="020B0604030504040204" pitchFamily="50" charset="-128"/>
                <a:ea typeface="Meiryo UI" panose="020B0604030504040204" pitchFamily="50" charset="-128"/>
              </a:defRPr>
            </a:lvl1pPr>
            <a:lvl2pPr marL="644525" indent="-285750" eaLnBrk="1" hangingPunct="1">
              <a:lnSpc>
                <a:spcPct val="100000"/>
              </a:lnSpc>
              <a:spcBef>
                <a:spcPts val="600"/>
              </a:spcBef>
              <a:spcAft>
                <a:spcPts val="325"/>
              </a:spcAft>
              <a:buFont typeface="Wingdings" panose="05000000000000000000" pitchFamily="2" charset="2"/>
              <a:buChar char="p"/>
              <a:defRPr sz="1800">
                <a:latin typeface="Meiryo UI" panose="020B0604030504040204" pitchFamily="50" charset="-128"/>
                <a:ea typeface="Meiryo UI" panose="020B0604030504040204" pitchFamily="50" charset="-128"/>
              </a:defRPr>
            </a:lvl2pPr>
            <a:lvl3pPr marL="1004888" indent="-285750" eaLnBrk="1" hangingPunct="1">
              <a:lnSpc>
                <a:spcPct val="100000"/>
              </a:lnSpc>
              <a:spcBef>
                <a:spcPts val="600"/>
              </a:spcBef>
              <a:spcAft>
                <a:spcPts val="325"/>
              </a:spcAft>
              <a:buFont typeface="Arial" panose="020B0604020202020204" pitchFamily="34" charset="0"/>
              <a:buChar char="•"/>
              <a:defRPr sz="1800">
                <a:latin typeface="Meiryo UI" panose="020B0604030504040204" pitchFamily="50" charset="-128"/>
                <a:ea typeface="Meiryo UI" panose="020B0604030504040204" pitchFamily="50" charset="-128"/>
              </a:defRPr>
            </a:lvl3pPr>
            <a:lvl4pPr marL="1363662" indent="-285750" eaLnBrk="1" hangingPunct="1">
              <a:lnSpc>
                <a:spcPct val="100000"/>
              </a:lnSpc>
              <a:spcBef>
                <a:spcPts val="600"/>
              </a:spcBef>
              <a:spcAft>
                <a:spcPts val="325"/>
              </a:spcAft>
              <a:buFont typeface="Meiryo UI" panose="020B0604030504040204" pitchFamily="50" charset="-128"/>
              <a:buChar char="–"/>
              <a:defRPr sz="1800">
                <a:latin typeface="Meiryo UI" panose="020B0604030504040204" pitchFamily="50" charset="-128"/>
                <a:ea typeface="Meiryo UI" panose="020B0604030504040204" pitchFamily="50" charset="-128"/>
              </a:defRPr>
            </a:lvl4pPr>
            <a:lvl5pPr marL="1436687" indent="0" eaLnBrk="1" hangingPunct="1">
              <a:spcBef>
                <a:spcPts val="600"/>
              </a:spcBef>
              <a:spcAft>
                <a:spcPts val="325"/>
              </a:spcAft>
              <a:buFont typeface="Arial" panose="020B0604020202020204" pitchFamily="34" charset="0"/>
              <a:buNone/>
              <a:defRPr sz="1800">
                <a:latin typeface="Meiryo UI" panose="020B0604030504040204" pitchFamily="50" charset="-128"/>
                <a:ea typeface="Meiryo UI" panose="020B0604030504040204" pitchFamily="50" charset="-128"/>
              </a:defRPr>
            </a:lvl5pPr>
            <a:lvl6pPr marL="2723999" indent="-247636" defTabSz="990546">
              <a:spcBef>
                <a:spcPct val="20000"/>
              </a:spcBef>
              <a:buFont typeface="Arial" pitchFamily="34" charset="0"/>
              <a:buChar char="•"/>
              <a:defRPr sz="2167">
                <a:latin typeface="+mn-lt"/>
                <a:ea typeface="+mn-ea"/>
              </a:defRPr>
            </a:lvl6pPr>
            <a:lvl7pPr marL="3219270" indent="-247636" defTabSz="990546">
              <a:spcBef>
                <a:spcPct val="20000"/>
              </a:spcBef>
              <a:buFont typeface="Arial" pitchFamily="34" charset="0"/>
              <a:buChar char="•"/>
              <a:defRPr sz="2167">
                <a:latin typeface="+mn-lt"/>
                <a:ea typeface="+mn-ea"/>
              </a:defRPr>
            </a:lvl7pPr>
            <a:lvl8pPr marL="3714543" indent="-247636" defTabSz="990546">
              <a:spcBef>
                <a:spcPct val="20000"/>
              </a:spcBef>
              <a:buFont typeface="Arial" pitchFamily="34" charset="0"/>
              <a:buChar char="•"/>
              <a:defRPr sz="2167">
                <a:latin typeface="+mn-lt"/>
                <a:ea typeface="+mn-ea"/>
              </a:defRPr>
            </a:lvl8pPr>
            <a:lvl9pPr marL="4209815" indent="-247636" defTabSz="990546">
              <a:spcBef>
                <a:spcPct val="20000"/>
              </a:spcBef>
              <a:buFont typeface="Arial" pitchFamily="34" charset="0"/>
              <a:buChar char="•"/>
              <a:defRPr sz="2167">
                <a:latin typeface="+mn-lt"/>
                <a:ea typeface="+mn-ea"/>
              </a:defRPr>
            </a:lvl9pPr>
          </a:lstStyle>
          <a:p>
            <a:r>
              <a:rPr lang="en-US" altLang="ja-JP" dirty="0"/>
              <a:t>2.</a:t>
            </a:r>
            <a:r>
              <a:rPr lang="ja-JP" altLang="en-US" dirty="0"/>
              <a:t> 各機能の紹介</a:t>
            </a:r>
          </a:p>
        </p:txBody>
      </p:sp>
      <p:sp>
        <p:nvSpPr>
          <p:cNvPr id="7" name="テキスト プレースホルダー 2">
            <a:extLst>
              <a:ext uri="{FF2B5EF4-FFF2-40B4-BE49-F238E27FC236}">
                <a16:creationId xmlns:a16="http://schemas.microsoft.com/office/drawing/2014/main" id="{732CC4F5-3E11-BAB3-0193-6A89A7B82575}"/>
              </a:ext>
            </a:extLst>
          </p:cNvPr>
          <p:cNvSpPr txBox="1">
            <a:spLocks/>
          </p:cNvSpPr>
          <p:nvPr/>
        </p:nvSpPr>
        <p:spPr>
          <a:xfrm>
            <a:off x="2317056" y="3794829"/>
            <a:ext cx="5270895" cy="669414"/>
          </a:xfrm>
          <a:prstGeom prst="rect">
            <a:avLst/>
          </a:prstGeom>
          <a:solidFill>
            <a:schemeClr val="bg1"/>
          </a:solidFill>
          <a:ln>
            <a:solidFill>
              <a:schemeClr val="tx1">
                <a:lumMod val="50000"/>
                <a:lumOff val="50000"/>
              </a:schemeClr>
            </a:solidFill>
          </a:ln>
        </p:spPr>
        <p:txBody>
          <a:bodyPr vert="horz" lIns="0" tIns="0" rIns="0" bIns="0" rtlCol="0" anchor="ctr">
            <a:noAutofit/>
          </a:bodyPr>
          <a:lstStyle>
            <a:defPPr>
              <a:defRPr lang="en-US"/>
            </a:defPPr>
            <a:lvl1pPr marL="174625" marR="0" indent="0" defTabSz="990546" eaLnBrk="1" latinLnBrk="0" hangingPunct="1">
              <a:lnSpc>
                <a:spcPct val="100000"/>
              </a:lnSpc>
              <a:spcBef>
                <a:spcPts val="0"/>
              </a:spcBef>
              <a:spcAft>
                <a:spcPts val="0"/>
              </a:spcAft>
              <a:buClrTx/>
              <a:buSzTx/>
              <a:buFont typeface="Arial" panose="020B0604020202020204" pitchFamily="34" charset="0"/>
              <a:buNone/>
              <a:tabLst/>
              <a:defRPr sz="1800">
                <a:latin typeface="Meiryo UI" panose="020B0604030504040204" pitchFamily="50" charset="-128"/>
                <a:ea typeface="Meiryo UI" panose="020B0604030504040204" pitchFamily="50" charset="-128"/>
              </a:defRPr>
            </a:lvl1pPr>
            <a:lvl2pPr marL="644525" indent="-285750" eaLnBrk="1" hangingPunct="1">
              <a:lnSpc>
                <a:spcPct val="100000"/>
              </a:lnSpc>
              <a:spcBef>
                <a:spcPts val="600"/>
              </a:spcBef>
              <a:spcAft>
                <a:spcPts val="325"/>
              </a:spcAft>
              <a:buFont typeface="Wingdings" panose="05000000000000000000" pitchFamily="2" charset="2"/>
              <a:buChar char="p"/>
              <a:defRPr sz="1800">
                <a:latin typeface="Meiryo UI" panose="020B0604030504040204" pitchFamily="50" charset="-128"/>
                <a:ea typeface="Meiryo UI" panose="020B0604030504040204" pitchFamily="50" charset="-128"/>
              </a:defRPr>
            </a:lvl2pPr>
            <a:lvl3pPr marL="1004888" indent="-285750" eaLnBrk="1" hangingPunct="1">
              <a:lnSpc>
                <a:spcPct val="100000"/>
              </a:lnSpc>
              <a:spcBef>
                <a:spcPts val="600"/>
              </a:spcBef>
              <a:spcAft>
                <a:spcPts val="325"/>
              </a:spcAft>
              <a:buFont typeface="Arial" panose="020B0604020202020204" pitchFamily="34" charset="0"/>
              <a:buChar char="•"/>
              <a:defRPr sz="1800">
                <a:latin typeface="Meiryo UI" panose="020B0604030504040204" pitchFamily="50" charset="-128"/>
                <a:ea typeface="Meiryo UI" panose="020B0604030504040204" pitchFamily="50" charset="-128"/>
              </a:defRPr>
            </a:lvl3pPr>
            <a:lvl4pPr marL="1363662" indent="-285750" eaLnBrk="1" hangingPunct="1">
              <a:lnSpc>
                <a:spcPct val="100000"/>
              </a:lnSpc>
              <a:spcBef>
                <a:spcPts val="600"/>
              </a:spcBef>
              <a:spcAft>
                <a:spcPts val="325"/>
              </a:spcAft>
              <a:buFont typeface="Meiryo UI" panose="020B0604030504040204" pitchFamily="50" charset="-128"/>
              <a:buChar char="–"/>
              <a:defRPr sz="1800">
                <a:latin typeface="Meiryo UI" panose="020B0604030504040204" pitchFamily="50" charset="-128"/>
                <a:ea typeface="Meiryo UI" panose="020B0604030504040204" pitchFamily="50" charset="-128"/>
              </a:defRPr>
            </a:lvl4pPr>
            <a:lvl5pPr marL="1436687" indent="0" eaLnBrk="1" hangingPunct="1">
              <a:spcBef>
                <a:spcPts val="600"/>
              </a:spcBef>
              <a:spcAft>
                <a:spcPts val="325"/>
              </a:spcAft>
              <a:buFont typeface="Arial" panose="020B0604020202020204" pitchFamily="34" charset="0"/>
              <a:buNone/>
              <a:defRPr sz="1800">
                <a:latin typeface="Meiryo UI" panose="020B0604030504040204" pitchFamily="50" charset="-128"/>
                <a:ea typeface="Meiryo UI" panose="020B0604030504040204" pitchFamily="50" charset="-128"/>
              </a:defRPr>
            </a:lvl5pPr>
            <a:lvl6pPr marL="2723999" indent="-247636" defTabSz="990546">
              <a:spcBef>
                <a:spcPct val="20000"/>
              </a:spcBef>
              <a:buFont typeface="Arial" pitchFamily="34" charset="0"/>
              <a:buChar char="•"/>
              <a:defRPr sz="2167">
                <a:latin typeface="+mn-lt"/>
                <a:ea typeface="+mn-ea"/>
              </a:defRPr>
            </a:lvl6pPr>
            <a:lvl7pPr marL="3219270" indent="-247636" defTabSz="990546">
              <a:spcBef>
                <a:spcPct val="20000"/>
              </a:spcBef>
              <a:buFont typeface="Arial" pitchFamily="34" charset="0"/>
              <a:buChar char="•"/>
              <a:defRPr sz="2167">
                <a:latin typeface="+mn-lt"/>
                <a:ea typeface="+mn-ea"/>
              </a:defRPr>
            </a:lvl7pPr>
            <a:lvl8pPr marL="3714543" indent="-247636" defTabSz="990546">
              <a:spcBef>
                <a:spcPct val="20000"/>
              </a:spcBef>
              <a:buFont typeface="Arial" pitchFamily="34" charset="0"/>
              <a:buChar char="•"/>
              <a:defRPr sz="2167">
                <a:latin typeface="+mn-lt"/>
                <a:ea typeface="+mn-ea"/>
              </a:defRPr>
            </a:lvl8pPr>
            <a:lvl9pPr marL="4209815" indent="-247636" defTabSz="990546">
              <a:spcBef>
                <a:spcPct val="20000"/>
              </a:spcBef>
              <a:buFont typeface="Arial" pitchFamily="34" charset="0"/>
              <a:buChar char="•"/>
              <a:defRPr sz="2167">
                <a:latin typeface="+mn-lt"/>
                <a:ea typeface="+mn-ea"/>
              </a:defRPr>
            </a:lvl9pPr>
          </a:lstStyle>
          <a:p>
            <a:r>
              <a:rPr lang="en-US" altLang="ja-JP" dirty="0"/>
              <a:t>3. </a:t>
            </a:r>
            <a:r>
              <a:rPr lang="ja-JP" altLang="en-US" dirty="0"/>
              <a:t>主な取扱い商品</a:t>
            </a:r>
          </a:p>
        </p:txBody>
      </p:sp>
      <p:sp>
        <p:nvSpPr>
          <p:cNvPr id="3" name="テキスト プレースホルダー 2">
            <a:extLst>
              <a:ext uri="{FF2B5EF4-FFF2-40B4-BE49-F238E27FC236}">
                <a16:creationId xmlns:a16="http://schemas.microsoft.com/office/drawing/2014/main" id="{098B6564-14D7-65A6-F7F5-C4CD23C02CC5}"/>
              </a:ext>
            </a:extLst>
          </p:cNvPr>
          <p:cNvSpPr txBox="1">
            <a:spLocks/>
          </p:cNvSpPr>
          <p:nvPr/>
        </p:nvSpPr>
        <p:spPr>
          <a:xfrm>
            <a:off x="2317056" y="2147715"/>
            <a:ext cx="5270895" cy="669414"/>
          </a:xfrm>
          <a:prstGeom prst="rect">
            <a:avLst/>
          </a:prstGeom>
          <a:solidFill>
            <a:schemeClr val="accent2">
              <a:lumMod val="20000"/>
              <a:lumOff val="80000"/>
            </a:schemeClr>
          </a:solidFill>
          <a:ln>
            <a:solidFill>
              <a:schemeClr val="accent2">
                <a:lumMod val="50000"/>
              </a:schemeClr>
            </a:solidFill>
          </a:ln>
        </p:spPr>
        <p:txBody>
          <a:bodyPr vert="horz" lIns="0" tIns="0" rIns="0" bIns="0" rtlCol="0" anchor="ctr">
            <a:noAutofit/>
          </a:bodyPr>
          <a:lstStyle>
            <a:defPPr>
              <a:defRPr lang="en-US"/>
            </a:defPPr>
            <a:lvl1pPr marL="174625" marR="0" indent="0" defTabSz="990546" eaLnBrk="1" latinLnBrk="0" hangingPunct="1">
              <a:lnSpc>
                <a:spcPct val="100000"/>
              </a:lnSpc>
              <a:spcBef>
                <a:spcPts val="0"/>
              </a:spcBef>
              <a:spcAft>
                <a:spcPts val="0"/>
              </a:spcAft>
              <a:buClrTx/>
              <a:buSzTx/>
              <a:buFont typeface="Arial" panose="020B0604020202020204" pitchFamily="34" charset="0"/>
              <a:buNone/>
              <a:tabLst/>
              <a:defRPr sz="1800">
                <a:latin typeface="Meiryo UI" panose="020B0604030504040204" pitchFamily="50" charset="-128"/>
                <a:ea typeface="Meiryo UI" panose="020B0604030504040204" pitchFamily="50" charset="-128"/>
              </a:defRPr>
            </a:lvl1pPr>
            <a:lvl2pPr marL="644525" indent="-285750" eaLnBrk="1" hangingPunct="1">
              <a:lnSpc>
                <a:spcPct val="100000"/>
              </a:lnSpc>
              <a:spcBef>
                <a:spcPts val="600"/>
              </a:spcBef>
              <a:spcAft>
                <a:spcPts val="325"/>
              </a:spcAft>
              <a:buFont typeface="Wingdings" panose="05000000000000000000" pitchFamily="2" charset="2"/>
              <a:buChar char="p"/>
              <a:defRPr sz="1800">
                <a:latin typeface="Meiryo UI" panose="020B0604030504040204" pitchFamily="50" charset="-128"/>
                <a:ea typeface="Meiryo UI" panose="020B0604030504040204" pitchFamily="50" charset="-128"/>
              </a:defRPr>
            </a:lvl2pPr>
            <a:lvl3pPr marL="1004888" indent="-285750" eaLnBrk="1" hangingPunct="1">
              <a:lnSpc>
                <a:spcPct val="100000"/>
              </a:lnSpc>
              <a:spcBef>
                <a:spcPts val="600"/>
              </a:spcBef>
              <a:spcAft>
                <a:spcPts val="325"/>
              </a:spcAft>
              <a:buFont typeface="Arial" panose="020B0604020202020204" pitchFamily="34" charset="0"/>
              <a:buChar char="•"/>
              <a:defRPr sz="1800">
                <a:latin typeface="Meiryo UI" panose="020B0604030504040204" pitchFamily="50" charset="-128"/>
                <a:ea typeface="Meiryo UI" panose="020B0604030504040204" pitchFamily="50" charset="-128"/>
              </a:defRPr>
            </a:lvl3pPr>
            <a:lvl4pPr marL="1363662" indent="-285750" eaLnBrk="1" hangingPunct="1">
              <a:lnSpc>
                <a:spcPct val="100000"/>
              </a:lnSpc>
              <a:spcBef>
                <a:spcPts val="600"/>
              </a:spcBef>
              <a:spcAft>
                <a:spcPts val="325"/>
              </a:spcAft>
              <a:buFont typeface="Meiryo UI" panose="020B0604030504040204" pitchFamily="50" charset="-128"/>
              <a:buChar char="–"/>
              <a:defRPr sz="1800">
                <a:latin typeface="Meiryo UI" panose="020B0604030504040204" pitchFamily="50" charset="-128"/>
                <a:ea typeface="Meiryo UI" panose="020B0604030504040204" pitchFamily="50" charset="-128"/>
              </a:defRPr>
            </a:lvl4pPr>
            <a:lvl5pPr marL="1436687" indent="0" eaLnBrk="1" hangingPunct="1">
              <a:spcBef>
                <a:spcPts val="600"/>
              </a:spcBef>
              <a:spcAft>
                <a:spcPts val="325"/>
              </a:spcAft>
              <a:buFont typeface="Arial" panose="020B0604020202020204" pitchFamily="34" charset="0"/>
              <a:buNone/>
              <a:defRPr sz="1800">
                <a:latin typeface="Meiryo UI" panose="020B0604030504040204" pitchFamily="50" charset="-128"/>
                <a:ea typeface="Meiryo UI" panose="020B0604030504040204" pitchFamily="50" charset="-128"/>
              </a:defRPr>
            </a:lvl5pPr>
            <a:lvl6pPr marL="2723999" indent="-247636" defTabSz="990546">
              <a:spcBef>
                <a:spcPct val="20000"/>
              </a:spcBef>
              <a:buFont typeface="Arial" pitchFamily="34" charset="0"/>
              <a:buChar char="•"/>
              <a:defRPr sz="2167">
                <a:latin typeface="+mn-lt"/>
                <a:ea typeface="+mn-ea"/>
              </a:defRPr>
            </a:lvl6pPr>
            <a:lvl7pPr marL="3219270" indent="-247636" defTabSz="990546">
              <a:spcBef>
                <a:spcPct val="20000"/>
              </a:spcBef>
              <a:buFont typeface="Arial" pitchFamily="34" charset="0"/>
              <a:buChar char="•"/>
              <a:defRPr sz="2167">
                <a:latin typeface="+mn-lt"/>
                <a:ea typeface="+mn-ea"/>
              </a:defRPr>
            </a:lvl7pPr>
            <a:lvl8pPr marL="3714543" indent="-247636" defTabSz="990546">
              <a:spcBef>
                <a:spcPct val="20000"/>
              </a:spcBef>
              <a:buFont typeface="Arial" pitchFamily="34" charset="0"/>
              <a:buChar char="•"/>
              <a:defRPr sz="2167">
                <a:latin typeface="+mn-lt"/>
                <a:ea typeface="+mn-ea"/>
              </a:defRPr>
            </a:lvl8pPr>
            <a:lvl9pPr marL="4209815" indent="-247636" defTabSz="990546">
              <a:spcBef>
                <a:spcPct val="20000"/>
              </a:spcBef>
              <a:buFont typeface="Arial" pitchFamily="34" charset="0"/>
              <a:buChar char="•"/>
              <a:defRPr sz="2167">
                <a:latin typeface="+mn-lt"/>
                <a:ea typeface="+mn-ea"/>
              </a:defRPr>
            </a:lvl9pPr>
          </a:lstStyle>
          <a:p>
            <a:r>
              <a:rPr lang="en-US" altLang="ja-JP" dirty="0"/>
              <a:t>1. </a:t>
            </a:r>
            <a:r>
              <a:rPr lang="ja-JP" altLang="en-US" dirty="0"/>
              <a:t>業界の全体像</a:t>
            </a:r>
          </a:p>
        </p:txBody>
      </p:sp>
      <p:sp>
        <p:nvSpPr>
          <p:cNvPr id="4" name="テキスト プレースホルダー 2">
            <a:extLst>
              <a:ext uri="{FF2B5EF4-FFF2-40B4-BE49-F238E27FC236}">
                <a16:creationId xmlns:a16="http://schemas.microsoft.com/office/drawing/2014/main" id="{D153A510-8B50-A1B8-6EE1-8F5A37FDAF20}"/>
              </a:ext>
            </a:extLst>
          </p:cNvPr>
          <p:cNvSpPr txBox="1">
            <a:spLocks/>
          </p:cNvSpPr>
          <p:nvPr/>
        </p:nvSpPr>
        <p:spPr>
          <a:xfrm>
            <a:off x="2317056" y="4618387"/>
            <a:ext cx="5270895" cy="669414"/>
          </a:xfrm>
          <a:prstGeom prst="rect">
            <a:avLst/>
          </a:prstGeom>
          <a:solidFill>
            <a:schemeClr val="bg1"/>
          </a:solidFill>
          <a:ln>
            <a:solidFill>
              <a:schemeClr val="tx1">
                <a:lumMod val="50000"/>
                <a:lumOff val="50000"/>
              </a:schemeClr>
            </a:solidFill>
          </a:ln>
        </p:spPr>
        <p:txBody>
          <a:bodyPr vert="horz" lIns="0" tIns="0" rIns="0" bIns="0" rtlCol="0" anchor="ctr">
            <a:noAutofit/>
          </a:bodyPr>
          <a:lstStyle>
            <a:defPPr>
              <a:defRPr lang="en-US"/>
            </a:defPPr>
            <a:lvl1pPr marL="174625" marR="0" indent="0" defTabSz="990546" eaLnBrk="1" latinLnBrk="0" hangingPunct="1">
              <a:lnSpc>
                <a:spcPct val="100000"/>
              </a:lnSpc>
              <a:spcBef>
                <a:spcPts val="0"/>
              </a:spcBef>
              <a:spcAft>
                <a:spcPts val="0"/>
              </a:spcAft>
              <a:buClrTx/>
              <a:buSzTx/>
              <a:buFont typeface="Arial" panose="020B0604020202020204" pitchFamily="34" charset="0"/>
              <a:buNone/>
              <a:tabLst/>
              <a:defRPr sz="1800">
                <a:latin typeface="Meiryo UI" panose="020B0604030504040204" pitchFamily="50" charset="-128"/>
                <a:ea typeface="Meiryo UI" panose="020B0604030504040204" pitchFamily="50" charset="-128"/>
              </a:defRPr>
            </a:lvl1pPr>
            <a:lvl2pPr marL="644525" indent="-285750" eaLnBrk="1" hangingPunct="1">
              <a:lnSpc>
                <a:spcPct val="100000"/>
              </a:lnSpc>
              <a:spcBef>
                <a:spcPts val="600"/>
              </a:spcBef>
              <a:spcAft>
                <a:spcPts val="325"/>
              </a:spcAft>
              <a:buFont typeface="Wingdings" panose="05000000000000000000" pitchFamily="2" charset="2"/>
              <a:buChar char="p"/>
              <a:defRPr sz="1800">
                <a:latin typeface="Meiryo UI" panose="020B0604030504040204" pitchFamily="50" charset="-128"/>
                <a:ea typeface="Meiryo UI" panose="020B0604030504040204" pitchFamily="50" charset="-128"/>
              </a:defRPr>
            </a:lvl2pPr>
            <a:lvl3pPr marL="1004888" indent="-285750" eaLnBrk="1" hangingPunct="1">
              <a:lnSpc>
                <a:spcPct val="100000"/>
              </a:lnSpc>
              <a:spcBef>
                <a:spcPts val="600"/>
              </a:spcBef>
              <a:spcAft>
                <a:spcPts val="325"/>
              </a:spcAft>
              <a:buFont typeface="Arial" panose="020B0604020202020204" pitchFamily="34" charset="0"/>
              <a:buChar char="•"/>
              <a:defRPr sz="1800">
                <a:latin typeface="Meiryo UI" panose="020B0604030504040204" pitchFamily="50" charset="-128"/>
                <a:ea typeface="Meiryo UI" panose="020B0604030504040204" pitchFamily="50" charset="-128"/>
              </a:defRPr>
            </a:lvl3pPr>
            <a:lvl4pPr marL="1363662" indent="-285750" eaLnBrk="1" hangingPunct="1">
              <a:lnSpc>
                <a:spcPct val="100000"/>
              </a:lnSpc>
              <a:spcBef>
                <a:spcPts val="600"/>
              </a:spcBef>
              <a:spcAft>
                <a:spcPts val="325"/>
              </a:spcAft>
              <a:buFont typeface="Meiryo UI" panose="020B0604030504040204" pitchFamily="50" charset="-128"/>
              <a:buChar char="–"/>
              <a:defRPr sz="1800">
                <a:latin typeface="Meiryo UI" panose="020B0604030504040204" pitchFamily="50" charset="-128"/>
                <a:ea typeface="Meiryo UI" panose="020B0604030504040204" pitchFamily="50" charset="-128"/>
              </a:defRPr>
            </a:lvl4pPr>
            <a:lvl5pPr marL="1436687" indent="0" eaLnBrk="1" hangingPunct="1">
              <a:spcBef>
                <a:spcPts val="600"/>
              </a:spcBef>
              <a:spcAft>
                <a:spcPts val="325"/>
              </a:spcAft>
              <a:buFont typeface="Arial" panose="020B0604020202020204" pitchFamily="34" charset="0"/>
              <a:buNone/>
              <a:defRPr sz="1800">
                <a:latin typeface="Meiryo UI" panose="020B0604030504040204" pitchFamily="50" charset="-128"/>
                <a:ea typeface="Meiryo UI" panose="020B0604030504040204" pitchFamily="50" charset="-128"/>
              </a:defRPr>
            </a:lvl5pPr>
            <a:lvl6pPr marL="2723999" indent="-247636" defTabSz="990546">
              <a:spcBef>
                <a:spcPct val="20000"/>
              </a:spcBef>
              <a:buFont typeface="Arial" pitchFamily="34" charset="0"/>
              <a:buChar char="•"/>
              <a:defRPr sz="2167">
                <a:latin typeface="+mn-lt"/>
                <a:ea typeface="+mn-ea"/>
              </a:defRPr>
            </a:lvl6pPr>
            <a:lvl7pPr marL="3219270" indent="-247636" defTabSz="990546">
              <a:spcBef>
                <a:spcPct val="20000"/>
              </a:spcBef>
              <a:buFont typeface="Arial" pitchFamily="34" charset="0"/>
              <a:buChar char="•"/>
              <a:defRPr sz="2167">
                <a:latin typeface="+mn-lt"/>
                <a:ea typeface="+mn-ea"/>
              </a:defRPr>
            </a:lvl7pPr>
            <a:lvl8pPr marL="3714543" indent="-247636" defTabSz="990546">
              <a:spcBef>
                <a:spcPct val="20000"/>
              </a:spcBef>
              <a:buFont typeface="Arial" pitchFamily="34" charset="0"/>
              <a:buChar char="•"/>
              <a:defRPr sz="2167">
                <a:latin typeface="+mn-lt"/>
                <a:ea typeface="+mn-ea"/>
              </a:defRPr>
            </a:lvl8pPr>
            <a:lvl9pPr marL="4209815" indent="-247636" defTabSz="990546">
              <a:spcBef>
                <a:spcPct val="20000"/>
              </a:spcBef>
              <a:buFont typeface="Arial" pitchFamily="34" charset="0"/>
              <a:buChar char="•"/>
              <a:defRPr sz="2167">
                <a:latin typeface="+mn-lt"/>
                <a:ea typeface="+mn-ea"/>
              </a:defRPr>
            </a:lvl9pPr>
          </a:lstStyle>
          <a:p>
            <a:r>
              <a:rPr lang="en-US" altLang="ja-JP" dirty="0"/>
              <a:t>4. </a:t>
            </a:r>
            <a:r>
              <a:rPr lang="ja-JP" altLang="en-US" dirty="0">
                <a:solidFill>
                  <a:srgbClr val="000000"/>
                </a:solidFill>
                <a:latin typeface="游ゴシック" panose="020B0400000000000000" pitchFamily="50" charset="-128"/>
              </a:rPr>
              <a:t>証券業界の主な課題</a:t>
            </a:r>
            <a:endParaRPr lang="ja-JP" altLang="ja-JP" sz="1800" dirty="0">
              <a:solidFill>
                <a:srgbClr val="000000"/>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p:txBody>
      </p:sp>
    </p:spTree>
    <p:extLst>
      <p:ext uri="{BB962C8B-B14F-4D97-AF65-F5344CB8AC3E}">
        <p14:creationId xmlns:p14="http://schemas.microsoft.com/office/powerpoint/2010/main" val="16894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857DD-F7FB-888B-0A94-2444058A2529}"/>
            </a:ext>
          </a:extLst>
        </p:cNvPr>
        <p:cNvGrpSpPr/>
        <p:nvPr/>
      </p:nvGrpSpPr>
      <p:grpSpPr>
        <a:xfrm>
          <a:off x="0" y="0"/>
          <a:ext cx="0" cy="0"/>
          <a:chOff x="0" y="0"/>
          <a:chExt cx="0" cy="0"/>
        </a:xfrm>
      </p:grpSpPr>
      <p:sp>
        <p:nvSpPr>
          <p:cNvPr id="24578" name="正方形/長方形 153">
            <a:extLst>
              <a:ext uri="{FF2B5EF4-FFF2-40B4-BE49-F238E27FC236}">
                <a16:creationId xmlns:a16="http://schemas.microsoft.com/office/drawing/2014/main" id="{9EB9E741-73E0-0126-48B6-6E5B29A47304}"/>
              </a:ext>
            </a:extLst>
          </p:cNvPr>
          <p:cNvSpPr>
            <a:spLocks noChangeArrowheads="1"/>
          </p:cNvSpPr>
          <p:nvPr/>
        </p:nvSpPr>
        <p:spPr bwMode="gray">
          <a:xfrm>
            <a:off x="1883796" y="1700760"/>
            <a:ext cx="6164836" cy="4788779"/>
          </a:xfrm>
          <a:prstGeom prst="rect">
            <a:avLst/>
          </a:prstGeom>
          <a:solidFill>
            <a:schemeClr val="accent4">
              <a:lumMod val="20000"/>
              <a:lumOff val="80000"/>
            </a:schemeClr>
          </a:solidFill>
          <a:ln w="38100" algn="ctr">
            <a:solidFill>
              <a:schemeClr val="accent3"/>
            </a:solidFill>
            <a:miter lim="800000"/>
            <a:headEnd/>
            <a:tailEnd/>
          </a:ln>
        </p:spPr>
        <p:txBody>
          <a:bodyPr wrap="none" lIns="108000" tIns="72000" rIns="36000" bIns="36000"/>
          <a:lstStyle/>
          <a:p>
            <a:pPr eaLnBrk="0" hangingPunct="0">
              <a:spcBef>
                <a:spcPct val="50000"/>
              </a:spcBef>
            </a:pPr>
            <a:r>
              <a:rPr kumimoji="1" lang="ja-JP" altLang="en-US" b="0" dirty="0">
                <a:latin typeface="Meiryo UI" panose="020B0604030504040204" pitchFamily="50" charset="-128"/>
                <a:ea typeface="Meiryo UI" panose="020B0604030504040204" pitchFamily="50" charset="-128"/>
              </a:rPr>
              <a:t>証券市場</a:t>
            </a:r>
            <a:endParaRPr kumimoji="1" lang="en-US" altLang="ja-JP" b="0" dirty="0">
              <a:latin typeface="Meiryo UI" panose="020B0604030504040204" pitchFamily="50" charset="-128"/>
              <a:ea typeface="Meiryo UI" panose="020B0604030504040204" pitchFamily="50" charset="-128"/>
            </a:endParaRPr>
          </a:p>
        </p:txBody>
      </p:sp>
      <p:sp>
        <p:nvSpPr>
          <p:cNvPr id="39" name="正方形/長方形 463">
            <a:extLst>
              <a:ext uri="{FF2B5EF4-FFF2-40B4-BE49-F238E27FC236}">
                <a16:creationId xmlns:a16="http://schemas.microsoft.com/office/drawing/2014/main" id="{008F0CA6-CDB2-BBF6-2377-A39306448D32}"/>
              </a:ext>
            </a:extLst>
          </p:cNvPr>
          <p:cNvSpPr>
            <a:spLocks noChangeArrowheads="1"/>
          </p:cNvSpPr>
          <p:nvPr/>
        </p:nvSpPr>
        <p:spPr bwMode="gray">
          <a:xfrm>
            <a:off x="4338618" y="3131198"/>
            <a:ext cx="1427192" cy="3021519"/>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graphicFrame>
        <p:nvGraphicFramePr>
          <p:cNvPr id="8" name="オブジェクト 7" hidden="1">
            <a:extLst>
              <a:ext uri="{FF2B5EF4-FFF2-40B4-BE49-F238E27FC236}">
                <a16:creationId xmlns:a16="http://schemas.microsoft.com/office/drawing/2014/main" id="{6BBE5745-4173-F40E-0EE6-1CC53A73DE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8" name="オブジェクト 7" hidden="1">
                        <a:extLst>
                          <a:ext uri="{FF2B5EF4-FFF2-40B4-BE49-F238E27FC236}">
                            <a16:creationId xmlns:a16="http://schemas.microsoft.com/office/drawing/2014/main" id="{6BBE5745-4173-F40E-0EE6-1CC53A73DE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82" name="タイトル 1">
            <a:extLst>
              <a:ext uri="{FF2B5EF4-FFF2-40B4-BE49-F238E27FC236}">
                <a16:creationId xmlns:a16="http://schemas.microsoft.com/office/drawing/2014/main" id="{9B92D6AC-2E38-F3DC-53D2-67F218F619A8}"/>
              </a:ext>
            </a:extLst>
          </p:cNvPr>
          <p:cNvSpPr>
            <a:spLocks noGrp="1"/>
          </p:cNvSpPr>
          <p:nvPr>
            <p:ph type="title"/>
          </p:nvPr>
        </p:nvSpPr>
        <p:spPr bwMode="gray"/>
        <p:txBody>
          <a:bodyPr vert="horz" lIns="0" tIns="0" rIns="0" bIns="0" rtlCol="0" anchor="b" anchorCtr="0">
            <a:noAutofit/>
          </a:bodyPr>
          <a:lstStyle/>
          <a:p>
            <a:r>
              <a:rPr lang="ja-JP" altLang="en-US"/>
              <a:t>キャピタルマーケットの全体像</a:t>
            </a:r>
          </a:p>
        </p:txBody>
      </p:sp>
      <p:sp>
        <p:nvSpPr>
          <p:cNvPr id="24583" name="コンテンツ プレースホルダ 2">
            <a:extLst>
              <a:ext uri="{FF2B5EF4-FFF2-40B4-BE49-F238E27FC236}">
                <a16:creationId xmlns:a16="http://schemas.microsoft.com/office/drawing/2014/main" id="{86B421B4-5703-DD2D-E50A-D1E1533B1BFD}"/>
              </a:ext>
            </a:extLst>
          </p:cNvPr>
          <p:cNvSpPr>
            <a:spLocks noGrp="1"/>
          </p:cNvSpPr>
          <p:nvPr>
            <p:ph type="body" idx="12"/>
          </p:nvPr>
        </p:nvSpPr>
        <p:spPr bwMode="gray"/>
        <p:txBody>
          <a:bodyPr/>
          <a:lstStyle/>
          <a:p>
            <a:r>
              <a:rPr lang="ja-JP" altLang="en-US" dirty="0"/>
              <a:t>証券業界は、投資家の資産を運用・管理するバイサイドと、その活動を金融商品・取引・市場インフラで支えるセルサイド、加えてマーケットインフラの三層構造で成り立っている。</a:t>
            </a:r>
            <a:endParaRPr kumimoji="1" lang="en-US" altLang="ja-JP" dirty="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CB94F26D-114E-89ED-DD5C-CAD534292226}"/>
              </a:ext>
            </a:extLst>
          </p:cNvPr>
          <p:cNvSpPr>
            <a:spLocks noGrp="1"/>
          </p:cNvSpPr>
          <p:nvPr>
            <p:ph type="body" sz="quarter" idx="13"/>
          </p:nvPr>
        </p:nvSpPr>
        <p:spPr/>
        <p:txBody>
          <a:bodyPr/>
          <a:lstStyle/>
          <a:p>
            <a:r>
              <a:rPr lang="en-US" altLang="ja-JP" dirty="0"/>
              <a:t>1. </a:t>
            </a:r>
            <a:r>
              <a:rPr lang="ja-JP" altLang="en-US" dirty="0"/>
              <a:t>業界の全体像</a:t>
            </a:r>
          </a:p>
        </p:txBody>
      </p:sp>
      <p:sp>
        <p:nvSpPr>
          <p:cNvPr id="24579" name="正方形/長方形 450">
            <a:extLst>
              <a:ext uri="{FF2B5EF4-FFF2-40B4-BE49-F238E27FC236}">
                <a16:creationId xmlns:a16="http://schemas.microsoft.com/office/drawing/2014/main" id="{C65876C4-2A70-3C4E-7422-6E47BB630BDB}"/>
              </a:ext>
            </a:extLst>
          </p:cNvPr>
          <p:cNvSpPr>
            <a:spLocks noChangeArrowheads="1"/>
          </p:cNvSpPr>
          <p:nvPr/>
        </p:nvSpPr>
        <p:spPr bwMode="gray">
          <a:xfrm>
            <a:off x="1967560" y="2069345"/>
            <a:ext cx="2247390" cy="4309127"/>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バイサイド（</a:t>
            </a:r>
            <a:r>
              <a:rPr lang="en-US" altLang="ja-JP" sz="1200" dirty="0">
                <a:latin typeface="Meiryo UI" panose="020B0604030504040204" pitchFamily="50" charset="-128"/>
                <a:ea typeface="Meiryo UI" panose="020B0604030504040204" pitchFamily="50" charset="-128"/>
              </a:rPr>
              <a:t>”Buy” side</a:t>
            </a:r>
            <a:r>
              <a:rPr lang="ja-JP" altLang="en-US" sz="1200" dirty="0">
                <a:latin typeface="Meiryo UI" panose="020B0604030504040204" pitchFamily="50" charset="-128"/>
                <a:ea typeface="Meiryo UI" panose="020B0604030504040204" pitchFamily="50" charset="-128"/>
              </a:rPr>
              <a:t>）</a:t>
            </a:r>
          </a:p>
        </p:txBody>
      </p:sp>
      <p:sp>
        <p:nvSpPr>
          <p:cNvPr id="24580" name="正方形/長方形 451">
            <a:extLst>
              <a:ext uri="{FF2B5EF4-FFF2-40B4-BE49-F238E27FC236}">
                <a16:creationId xmlns:a16="http://schemas.microsoft.com/office/drawing/2014/main" id="{CA160D2F-1967-6E77-D110-CD6802E3AF21}"/>
              </a:ext>
            </a:extLst>
          </p:cNvPr>
          <p:cNvSpPr>
            <a:spLocks noChangeArrowheads="1"/>
          </p:cNvSpPr>
          <p:nvPr/>
        </p:nvSpPr>
        <p:spPr bwMode="gray">
          <a:xfrm>
            <a:off x="5857039" y="2072200"/>
            <a:ext cx="2107831" cy="4306272"/>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セルサイド（</a:t>
            </a:r>
            <a:r>
              <a:rPr lang="en-US" altLang="ja-JP" sz="1200" dirty="0">
                <a:latin typeface="Meiryo UI" panose="020B0604030504040204" pitchFamily="50" charset="-128"/>
                <a:ea typeface="Meiryo UI" panose="020B0604030504040204" pitchFamily="50" charset="-128"/>
              </a:rPr>
              <a:t>”Sell” side</a:t>
            </a:r>
            <a:r>
              <a:rPr lang="ja-JP" altLang="en-US" sz="1200" dirty="0">
                <a:latin typeface="Meiryo UI" panose="020B0604030504040204" pitchFamily="50" charset="-128"/>
                <a:ea typeface="Meiryo UI" panose="020B0604030504040204" pitchFamily="50" charset="-128"/>
              </a:rPr>
              <a:t>）</a:t>
            </a:r>
          </a:p>
        </p:txBody>
      </p:sp>
      <p:sp>
        <p:nvSpPr>
          <p:cNvPr id="24585" name="正方形/長方形 363">
            <a:extLst>
              <a:ext uri="{FF2B5EF4-FFF2-40B4-BE49-F238E27FC236}">
                <a16:creationId xmlns:a16="http://schemas.microsoft.com/office/drawing/2014/main" id="{C6FDBB1D-2F8A-E9D0-C74D-5881666BEC24}"/>
              </a:ext>
            </a:extLst>
          </p:cNvPr>
          <p:cNvSpPr>
            <a:spLocks noChangeArrowheads="1"/>
          </p:cNvSpPr>
          <p:nvPr/>
        </p:nvSpPr>
        <p:spPr bwMode="gray">
          <a:xfrm>
            <a:off x="289739" y="1700760"/>
            <a:ext cx="1458695" cy="4788779"/>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defRPr/>
            </a:pPr>
            <a:r>
              <a:rPr lang="ja-JP" altLang="en-US">
                <a:latin typeface="Meiryo UI"/>
                <a:ea typeface="Meiryo UI"/>
              </a:rPr>
              <a:t>ホール顧客</a:t>
            </a:r>
            <a:endParaRPr lang="ja-JP" altLang="en-US" b="0" dirty="0">
              <a:latin typeface="Meiryo UI"/>
              <a:ea typeface="Meiryo UI"/>
            </a:endParaRPr>
          </a:p>
        </p:txBody>
      </p:sp>
      <p:cxnSp>
        <p:nvCxnSpPr>
          <p:cNvPr id="134" name="直線矢印コネクタ 132">
            <a:extLst>
              <a:ext uri="{FF2B5EF4-FFF2-40B4-BE49-F238E27FC236}">
                <a16:creationId xmlns:a16="http://schemas.microsoft.com/office/drawing/2014/main" id="{A16ADA62-D9E6-8A95-D8D1-C1D4B638A0A8}"/>
              </a:ext>
            </a:extLst>
          </p:cNvPr>
          <p:cNvCxnSpPr>
            <a:cxnSpLocks noChangeShapeType="1"/>
            <a:stCxn id="131" idx="0"/>
            <a:endCxn id="130" idx="2"/>
          </p:cNvCxnSpPr>
          <p:nvPr/>
        </p:nvCxnSpPr>
        <p:spPr bwMode="gray">
          <a:xfrm flipV="1">
            <a:off x="5052214" y="4939325"/>
            <a:ext cx="0" cy="388705"/>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cxnSp>
        <p:nvCxnSpPr>
          <p:cNvPr id="138" name="直線矢印コネクタ 523">
            <a:extLst>
              <a:ext uri="{FF2B5EF4-FFF2-40B4-BE49-F238E27FC236}">
                <a16:creationId xmlns:a16="http://schemas.microsoft.com/office/drawing/2014/main" id="{DDE16FBB-DB5D-0C03-0C12-750C4B849491}"/>
              </a:ext>
            </a:extLst>
          </p:cNvPr>
          <p:cNvCxnSpPr>
            <a:cxnSpLocks noChangeShapeType="1"/>
            <a:stCxn id="32" idx="2"/>
          </p:cNvCxnSpPr>
          <p:nvPr/>
        </p:nvCxnSpPr>
        <p:spPr bwMode="gray">
          <a:xfrm>
            <a:off x="2983832" y="4162697"/>
            <a:ext cx="0" cy="607931"/>
          </a:xfrm>
          <a:prstGeom prst="straightConnector1">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grpSp>
        <p:nvGrpSpPr>
          <p:cNvPr id="12" name="グループ化 11">
            <a:extLst>
              <a:ext uri="{FF2B5EF4-FFF2-40B4-BE49-F238E27FC236}">
                <a16:creationId xmlns:a16="http://schemas.microsoft.com/office/drawing/2014/main" id="{12F7BDE9-7480-4248-11FE-F300CA09AF11}"/>
              </a:ext>
            </a:extLst>
          </p:cNvPr>
          <p:cNvGrpSpPr/>
          <p:nvPr/>
        </p:nvGrpSpPr>
        <p:grpSpPr>
          <a:xfrm>
            <a:off x="365742" y="2550006"/>
            <a:ext cx="1306688" cy="1265620"/>
            <a:chOff x="607066" y="3590378"/>
            <a:chExt cx="1306688" cy="1265620"/>
          </a:xfrm>
        </p:grpSpPr>
        <p:sp>
          <p:nvSpPr>
            <p:cNvPr id="140" name="正方形/長方形 192">
              <a:extLst>
                <a:ext uri="{FF2B5EF4-FFF2-40B4-BE49-F238E27FC236}">
                  <a16:creationId xmlns:a16="http://schemas.microsoft.com/office/drawing/2014/main" id="{732EE691-B500-EF04-055A-318E10262DEB}"/>
                </a:ext>
              </a:extLst>
            </p:cNvPr>
            <p:cNvSpPr/>
            <p:nvPr/>
          </p:nvSpPr>
          <p:spPr bwMode="gray">
            <a:xfrm flipH="1">
              <a:off x="607066" y="3590378"/>
              <a:ext cx="1306688" cy="126562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機関投資家</a:t>
              </a:r>
              <a:endParaRPr lang="en-US" altLang="ja-JP" sz="1200" dirty="0">
                <a:latin typeface="Meiryo UI" panose="020B0604030504040204" pitchFamily="50" charset="-128"/>
                <a:ea typeface="Meiryo UI" panose="020B0604030504040204" pitchFamily="50" charset="-128"/>
              </a:endParaRPr>
            </a:p>
            <a:p>
              <a:pPr eaLnBrk="0" hangingPunct="0">
                <a:spcBef>
                  <a:spcPts val="0"/>
                </a:spcBef>
              </a:pPr>
              <a:endParaRPr lang="en-US" altLang="ja-JP" sz="12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保険会社</a:t>
              </a:r>
              <a:endParaRPr lang="en-US" altLang="zh-TW"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銀行</a:t>
              </a:r>
              <a:endParaRPr lang="en-US" altLang="zh-TW"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信用金庫</a:t>
              </a:r>
              <a:endParaRPr lang="en-US" altLang="zh-TW"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共済組合</a:t>
              </a:r>
              <a:r>
                <a:rPr lang="ja-JP" altLang="en-US" sz="1000" dirty="0">
                  <a:latin typeface="Meiryo UI" panose="020B0604030504040204" pitchFamily="50" charset="-128"/>
                  <a:ea typeface="Meiryo UI" panose="020B0604030504040204" pitchFamily="50" charset="-128"/>
                </a:rPr>
                <a:t>　など</a:t>
              </a:r>
            </a:p>
          </p:txBody>
        </p:sp>
        <p:grpSp>
          <p:nvGrpSpPr>
            <p:cNvPr id="31" name="グループ化 30">
              <a:extLst>
                <a:ext uri="{FF2B5EF4-FFF2-40B4-BE49-F238E27FC236}">
                  <a16:creationId xmlns:a16="http://schemas.microsoft.com/office/drawing/2014/main" id="{7C4D48D7-0752-FBC9-5C33-4BF678BC1AF7}"/>
                </a:ext>
              </a:extLst>
            </p:cNvPr>
            <p:cNvGrpSpPr/>
            <p:nvPr/>
          </p:nvGrpSpPr>
          <p:grpSpPr>
            <a:xfrm>
              <a:off x="1566098" y="3742023"/>
              <a:ext cx="274283" cy="265895"/>
              <a:chOff x="1566098" y="3742023"/>
              <a:chExt cx="274283" cy="265895"/>
            </a:xfrm>
          </p:grpSpPr>
          <p:sp>
            <p:nvSpPr>
              <p:cNvPr id="123" name="Freeform 53">
                <a:extLst>
                  <a:ext uri="{FF2B5EF4-FFF2-40B4-BE49-F238E27FC236}">
                    <a16:creationId xmlns:a16="http://schemas.microsoft.com/office/drawing/2014/main" id="{E023EA82-A7F1-2248-1D9C-14F72842B744}"/>
                  </a:ext>
                </a:extLst>
              </p:cNvPr>
              <p:cNvSpPr>
                <a:spLocks noEditPoints="1"/>
              </p:cNvSpPr>
              <p:nvPr/>
            </p:nvSpPr>
            <p:spPr bwMode="auto">
              <a:xfrm>
                <a:off x="1566098" y="3742023"/>
                <a:ext cx="170273" cy="265895"/>
              </a:xfrm>
              <a:custGeom>
                <a:avLst/>
                <a:gdLst>
                  <a:gd name="T0" fmla="*/ 203 w 203"/>
                  <a:gd name="T1" fmla="*/ 0 h 317"/>
                  <a:gd name="T2" fmla="*/ 173 w 203"/>
                  <a:gd name="T3" fmla="*/ 50 h 317"/>
                  <a:gd name="T4" fmla="*/ 173 w 203"/>
                  <a:gd name="T5" fmla="*/ 82 h 317"/>
                  <a:gd name="T6" fmla="*/ 191 w 203"/>
                  <a:gd name="T7" fmla="*/ 90 h 317"/>
                  <a:gd name="T8" fmla="*/ 173 w 203"/>
                  <a:gd name="T9" fmla="*/ 90 h 317"/>
                  <a:gd name="T10" fmla="*/ 191 w 203"/>
                  <a:gd name="T11" fmla="*/ 162 h 317"/>
                  <a:gd name="T12" fmla="*/ 173 w 203"/>
                  <a:gd name="T13" fmla="*/ 168 h 317"/>
                  <a:gd name="T14" fmla="*/ 173 w 203"/>
                  <a:gd name="T15" fmla="*/ 201 h 317"/>
                  <a:gd name="T16" fmla="*/ 191 w 203"/>
                  <a:gd name="T17" fmla="*/ 209 h 317"/>
                  <a:gd name="T18" fmla="*/ 173 w 203"/>
                  <a:gd name="T19" fmla="*/ 209 h 317"/>
                  <a:gd name="T20" fmla="*/ 191 w 203"/>
                  <a:gd name="T21" fmla="*/ 281 h 317"/>
                  <a:gd name="T22" fmla="*/ 140 w 203"/>
                  <a:gd name="T23" fmla="*/ 50 h 317"/>
                  <a:gd name="T24" fmla="*/ 140 w 203"/>
                  <a:gd name="T25" fmla="*/ 82 h 317"/>
                  <a:gd name="T26" fmla="*/ 158 w 203"/>
                  <a:gd name="T27" fmla="*/ 90 h 317"/>
                  <a:gd name="T28" fmla="*/ 140 w 203"/>
                  <a:gd name="T29" fmla="*/ 90 h 317"/>
                  <a:gd name="T30" fmla="*/ 158 w 203"/>
                  <a:gd name="T31" fmla="*/ 162 h 317"/>
                  <a:gd name="T32" fmla="*/ 140 w 203"/>
                  <a:gd name="T33" fmla="*/ 168 h 317"/>
                  <a:gd name="T34" fmla="*/ 140 w 203"/>
                  <a:gd name="T35" fmla="*/ 201 h 317"/>
                  <a:gd name="T36" fmla="*/ 158 w 203"/>
                  <a:gd name="T37" fmla="*/ 209 h 317"/>
                  <a:gd name="T38" fmla="*/ 140 w 203"/>
                  <a:gd name="T39" fmla="*/ 209 h 317"/>
                  <a:gd name="T40" fmla="*/ 158 w 203"/>
                  <a:gd name="T41" fmla="*/ 281 h 317"/>
                  <a:gd name="T42" fmla="*/ 107 w 203"/>
                  <a:gd name="T43" fmla="*/ 50 h 317"/>
                  <a:gd name="T44" fmla="*/ 107 w 203"/>
                  <a:gd name="T45" fmla="*/ 82 h 317"/>
                  <a:gd name="T46" fmla="*/ 126 w 203"/>
                  <a:gd name="T47" fmla="*/ 90 h 317"/>
                  <a:gd name="T48" fmla="*/ 107 w 203"/>
                  <a:gd name="T49" fmla="*/ 90 h 317"/>
                  <a:gd name="T50" fmla="*/ 126 w 203"/>
                  <a:gd name="T51" fmla="*/ 162 h 317"/>
                  <a:gd name="T52" fmla="*/ 107 w 203"/>
                  <a:gd name="T53" fmla="*/ 168 h 317"/>
                  <a:gd name="T54" fmla="*/ 107 w 203"/>
                  <a:gd name="T55" fmla="*/ 201 h 317"/>
                  <a:gd name="T56" fmla="*/ 126 w 203"/>
                  <a:gd name="T57" fmla="*/ 209 h 317"/>
                  <a:gd name="T58" fmla="*/ 107 w 203"/>
                  <a:gd name="T59" fmla="*/ 209 h 317"/>
                  <a:gd name="T60" fmla="*/ 126 w 203"/>
                  <a:gd name="T61" fmla="*/ 281 h 317"/>
                  <a:gd name="T62" fmla="*/ 78 w 203"/>
                  <a:gd name="T63" fmla="*/ 50 h 317"/>
                  <a:gd name="T64" fmla="*/ 78 w 203"/>
                  <a:gd name="T65" fmla="*/ 82 h 317"/>
                  <a:gd name="T66" fmla="*/ 96 w 203"/>
                  <a:gd name="T67" fmla="*/ 90 h 317"/>
                  <a:gd name="T68" fmla="*/ 78 w 203"/>
                  <a:gd name="T69" fmla="*/ 90 h 317"/>
                  <a:gd name="T70" fmla="*/ 96 w 203"/>
                  <a:gd name="T71" fmla="*/ 162 h 317"/>
                  <a:gd name="T72" fmla="*/ 78 w 203"/>
                  <a:gd name="T73" fmla="*/ 168 h 317"/>
                  <a:gd name="T74" fmla="*/ 78 w 203"/>
                  <a:gd name="T75" fmla="*/ 201 h 317"/>
                  <a:gd name="T76" fmla="*/ 96 w 203"/>
                  <a:gd name="T77" fmla="*/ 209 h 317"/>
                  <a:gd name="T78" fmla="*/ 78 w 203"/>
                  <a:gd name="T79" fmla="*/ 209 h 317"/>
                  <a:gd name="T80" fmla="*/ 96 w 203"/>
                  <a:gd name="T81" fmla="*/ 281 h 317"/>
                  <a:gd name="T82" fmla="*/ 45 w 203"/>
                  <a:gd name="T83" fmla="*/ 50 h 317"/>
                  <a:gd name="T84" fmla="*/ 45 w 203"/>
                  <a:gd name="T85" fmla="*/ 82 h 317"/>
                  <a:gd name="T86" fmla="*/ 64 w 203"/>
                  <a:gd name="T87" fmla="*/ 90 h 317"/>
                  <a:gd name="T88" fmla="*/ 45 w 203"/>
                  <a:gd name="T89" fmla="*/ 90 h 317"/>
                  <a:gd name="T90" fmla="*/ 64 w 203"/>
                  <a:gd name="T91" fmla="*/ 162 h 317"/>
                  <a:gd name="T92" fmla="*/ 45 w 203"/>
                  <a:gd name="T93" fmla="*/ 168 h 317"/>
                  <a:gd name="T94" fmla="*/ 45 w 203"/>
                  <a:gd name="T95" fmla="*/ 201 h 317"/>
                  <a:gd name="T96" fmla="*/ 64 w 203"/>
                  <a:gd name="T97" fmla="*/ 209 h 317"/>
                  <a:gd name="T98" fmla="*/ 45 w 203"/>
                  <a:gd name="T99" fmla="*/ 209 h 317"/>
                  <a:gd name="T100" fmla="*/ 64 w 203"/>
                  <a:gd name="T101" fmla="*/ 281 h 317"/>
                  <a:gd name="T102" fmla="*/ 13 w 203"/>
                  <a:gd name="T103" fmla="*/ 50 h 317"/>
                  <a:gd name="T104" fmla="*/ 13 w 203"/>
                  <a:gd name="T105" fmla="*/ 82 h 317"/>
                  <a:gd name="T106" fmla="*/ 31 w 203"/>
                  <a:gd name="T107" fmla="*/ 90 h 317"/>
                  <a:gd name="T108" fmla="*/ 13 w 203"/>
                  <a:gd name="T109" fmla="*/ 90 h 317"/>
                  <a:gd name="T110" fmla="*/ 31 w 203"/>
                  <a:gd name="T111" fmla="*/ 162 h 317"/>
                  <a:gd name="T112" fmla="*/ 13 w 203"/>
                  <a:gd name="T113" fmla="*/ 168 h 317"/>
                  <a:gd name="T114" fmla="*/ 13 w 203"/>
                  <a:gd name="T115" fmla="*/ 201 h 317"/>
                  <a:gd name="T116" fmla="*/ 31 w 203"/>
                  <a:gd name="T117" fmla="*/ 209 h 317"/>
                  <a:gd name="T118" fmla="*/ 13 w 203"/>
                  <a:gd name="T119" fmla="*/ 209 h 317"/>
                  <a:gd name="T120" fmla="*/ 31 w 203"/>
                  <a:gd name="T121" fmla="*/ 28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3" h="317">
                    <a:moveTo>
                      <a:pt x="0" y="317"/>
                    </a:moveTo>
                    <a:lnTo>
                      <a:pt x="203" y="317"/>
                    </a:lnTo>
                    <a:lnTo>
                      <a:pt x="203" y="0"/>
                    </a:lnTo>
                    <a:lnTo>
                      <a:pt x="0" y="0"/>
                    </a:lnTo>
                    <a:lnTo>
                      <a:pt x="0" y="317"/>
                    </a:lnTo>
                    <a:close/>
                    <a:moveTo>
                      <a:pt x="173" y="50"/>
                    </a:moveTo>
                    <a:lnTo>
                      <a:pt x="191" y="50"/>
                    </a:lnTo>
                    <a:lnTo>
                      <a:pt x="191" y="82"/>
                    </a:lnTo>
                    <a:lnTo>
                      <a:pt x="173" y="82"/>
                    </a:lnTo>
                    <a:lnTo>
                      <a:pt x="173" y="50"/>
                    </a:lnTo>
                    <a:close/>
                    <a:moveTo>
                      <a:pt x="173" y="90"/>
                    </a:moveTo>
                    <a:lnTo>
                      <a:pt x="191" y="90"/>
                    </a:lnTo>
                    <a:lnTo>
                      <a:pt x="191" y="122"/>
                    </a:lnTo>
                    <a:lnTo>
                      <a:pt x="173" y="122"/>
                    </a:lnTo>
                    <a:lnTo>
                      <a:pt x="173" y="90"/>
                    </a:lnTo>
                    <a:close/>
                    <a:moveTo>
                      <a:pt x="173" y="131"/>
                    </a:moveTo>
                    <a:lnTo>
                      <a:pt x="191" y="131"/>
                    </a:lnTo>
                    <a:lnTo>
                      <a:pt x="191" y="162"/>
                    </a:lnTo>
                    <a:lnTo>
                      <a:pt x="173" y="162"/>
                    </a:lnTo>
                    <a:lnTo>
                      <a:pt x="173" y="131"/>
                    </a:lnTo>
                    <a:close/>
                    <a:moveTo>
                      <a:pt x="173" y="168"/>
                    </a:moveTo>
                    <a:lnTo>
                      <a:pt x="191" y="168"/>
                    </a:lnTo>
                    <a:lnTo>
                      <a:pt x="191" y="201"/>
                    </a:lnTo>
                    <a:lnTo>
                      <a:pt x="173" y="201"/>
                    </a:lnTo>
                    <a:lnTo>
                      <a:pt x="173" y="168"/>
                    </a:lnTo>
                    <a:close/>
                    <a:moveTo>
                      <a:pt x="173" y="209"/>
                    </a:moveTo>
                    <a:lnTo>
                      <a:pt x="191" y="209"/>
                    </a:lnTo>
                    <a:lnTo>
                      <a:pt x="191" y="240"/>
                    </a:lnTo>
                    <a:lnTo>
                      <a:pt x="173" y="240"/>
                    </a:lnTo>
                    <a:lnTo>
                      <a:pt x="173" y="209"/>
                    </a:lnTo>
                    <a:close/>
                    <a:moveTo>
                      <a:pt x="173" y="249"/>
                    </a:moveTo>
                    <a:lnTo>
                      <a:pt x="191" y="249"/>
                    </a:lnTo>
                    <a:lnTo>
                      <a:pt x="191" y="281"/>
                    </a:lnTo>
                    <a:lnTo>
                      <a:pt x="173" y="281"/>
                    </a:lnTo>
                    <a:lnTo>
                      <a:pt x="173" y="249"/>
                    </a:lnTo>
                    <a:close/>
                    <a:moveTo>
                      <a:pt x="140" y="50"/>
                    </a:moveTo>
                    <a:lnTo>
                      <a:pt x="158" y="50"/>
                    </a:lnTo>
                    <a:lnTo>
                      <a:pt x="158" y="82"/>
                    </a:lnTo>
                    <a:lnTo>
                      <a:pt x="140" y="82"/>
                    </a:lnTo>
                    <a:lnTo>
                      <a:pt x="140" y="50"/>
                    </a:lnTo>
                    <a:close/>
                    <a:moveTo>
                      <a:pt x="140" y="90"/>
                    </a:moveTo>
                    <a:lnTo>
                      <a:pt x="158" y="90"/>
                    </a:lnTo>
                    <a:lnTo>
                      <a:pt x="158" y="122"/>
                    </a:lnTo>
                    <a:lnTo>
                      <a:pt x="140" y="122"/>
                    </a:lnTo>
                    <a:lnTo>
                      <a:pt x="140" y="90"/>
                    </a:lnTo>
                    <a:close/>
                    <a:moveTo>
                      <a:pt x="140" y="131"/>
                    </a:moveTo>
                    <a:lnTo>
                      <a:pt x="158" y="131"/>
                    </a:lnTo>
                    <a:lnTo>
                      <a:pt x="158" y="162"/>
                    </a:lnTo>
                    <a:lnTo>
                      <a:pt x="140" y="162"/>
                    </a:lnTo>
                    <a:lnTo>
                      <a:pt x="140" y="131"/>
                    </a:lnTo>
                    <a:close/>
                    <a:moveTo>
                      <a:pt x="140" y="168"/>
                    </a:moveTo>
                    <a:lnTo>
                      <a:pt x="158" y="168"/>
                    </a:lnTo>
                    <a:lnTo>
                      <a:pt x="158" y="201"/>
                    </a:lnTo>
                    <a:lnTo>
                      <a:pt x="140" y="201"/>
                    </a:lnTo>
                    <a:lnTo>
                      <a:pt x="140" y="168"/>
                    </a:lnTo>
                    <a:close/>
                    <a:moveTo>
                      <a:pt x="140" y="209"/>
                    </a:moveTo>
                    <a:lnTo>
                      <a:pt x="158" y="209"/>
                    </a:lnTo>
                    <a:lnTo>
                      <a:pt x="158" y="240"/>
                    </a:lnTo>
                    <a:lnTo>
                      <a:pt x="140" y="240"/>
                    </a:lnTo>
                    <a:lnTo>
                      <a:pt x="140" y="209"/>
                    </a:lnTo>
                    <a:close/>
                    <a:moveTo>
                      <a:pt x="140" y="249"/>
                    </a:moveTo>
                    <a:lnTo>
                      <a:pt x="158" y="249"/>
                    </a:lnTo>
                    <a:lnTo>
                      <a:pt x="158" y="281"/>
                    </a:lnTo>
                    <a:lnTo>
                      <a:pt x="140" y="281"/>
                    </a:lnTo>
                    <a:lnTo>
                      <a:pt x="140" y="249"/>
                    </a:lnTo>
                    <a:close/>
                    <a:moveTo>
                      <a:pt x="107" y="50"/>
                    </a:moveTo>
                    <a:lnTo>
                      <a:pt x="126" y="50"/>
                    </a:lnTo>
                    <a:lnTo>
                      <a:pt x="126" y="82"/>
                    </a:lnTo>
                    <a:lnTo>
                      <a:pt x="107" y="82"/>
                    </a:lnTo>
                    <a:lnTo>
                      <a:pt x="107" y="50"/>
                    </a:lnTo>
                    <a:close/>
                    <a:moveTo>
                      <a:pt x="107" y="90"/>
                    </a:moveTo>
                    <a:lnTo>
                      <a:pt x="126" y="90"/>
                    </a:lnTo>
                    <a:lnTo>
                      <a:pt x="126" y="122"/>
                    </a:lnTo>
                    <a:lnTo>
                      <a:pt x="107" y="122"/>
                    </a:lnTo>
                    <a:lnTo>
                      <a:pt x="107" y="90"/>
                    </a:lnTo>
                    <a:close/>
                    <a:moveTo>
                      <a:pt x="107" y="131"/>
                    </a:moveTo>
                    <a:lnTo>
                      <a:pt x="126" y="131"/>
                    </a:lnTo>
                    <a:lnTo>
                      <a:pt x="126" y="162"/>
                    </a:lnTo>
                    <a:lnTo>
                      <a:pt x="107" y="162"/>
                    </a:lnTo>
                    <a:lnTo>
                      <a:pt x="107" y="131"/>
                    </a:lnTo>
                    <a:close/>
                    <a:moveTo>
                      <a:pt x="107" y="168"/>
                    </a:moveTo>
                    <a:lnTo>
                      <a:pt x="126" y="168"/>
                    </a:lnTo>
                    <a:lnTo>
                      <a:pt x="126" y="201"/>
                    </a:lnTo>
                    <a:lnTo>
                      <a:pt x="107" y="201"/>
                    </a:lnTo>
                    <a:lnTo>
                      <a:pt x="107" y="168"/>
                    </a:lnTo>
                    <a:close/>
                    <a:moveTo>
                      <a:pt x="107" y="209"/>
                    </a:moveTo>
                    <a:lnTo>
                      <a:pt x="126" y="209"/>
                    </a:lnTo>
                    <a:lnTo>
                      <a:pt x="126" y="240"/>
                    </a:lnTo>
                    <a:lnTo>
                      <a:pt x="107" y="240"/>
                    </a:lnTo>
                    <a:lnTo>
                      <a:pt x="107" y="209"/>
                    </a:lnTo>
                    <a:close/>
                    <a:moveTo>
                      <a:pt x="107" y="249"/>
                    </a:moveTo>
                    <a:lnTo>
                      <a:pt x="126" y="249"/>
                    </a:lnTo>
                    <a:lnTo>
                      <a:pt x="126" y="281"/>
                    </a:lnTo>
                    <a:lnTo>
                      <a:pt x="107" y="281"/>
                    </a:lnTo>
                    <a:lnTo>
                      <a:pt x="107" y="249"/>
                    </a:lnTo>
                    <a:close/>
                    <a:moveTo>
                      <a:pt x="78" y="50"/>
                    </a:moveTo>
                    <a:lnTo>
                      <a:pt x="96" y="50"/>
                    </a:lnTo>
                    <a:lnTo>
                      <a:pt x="96" y="82"/>
                    </a:lnTo>
                    <a:lnTo>
                      <a:pt x="78" y="82"/>
                    </a:lnTo>
                    <a:lnTo>
                      <a:pt x="78" y="50"/>
                    </a:lnTo>
                    <a:close/>
                    <a:moveTo>
                      <a:pt x="78" y="90"/>
                    </a:moveTo>
                    <a:lnTo>
                      <a:pt x="96" y="90"/>
                    </a:lnTo>
                    <a:lnTo>
                      <a:pt x="96" y="122"/>
                    </a:lnTo>
                    <a:lnTo>
                      <a:pt x="78" y="122"/>
                    </a:lnTo>
                    <a:lnTo>
                      <a:pt x="78" y="90"/>
                    </a:lnTo>
                    <a:close/>
                    <a:moveTo>
                      <a:pt x="78" y="131"/>
                    </a:moveTo>
                    <a:lnTo>
                      <a:pt x="96" y="131"/>
                    </a:lnTo>
                    <a:lnTo>
                      <a:pt x="96" y="162"/>
                    </a:lnTo>
                    <a:lnTo>
                      <a:pt x="78" y="162"/>
                    </a:lnTo>
                    <a:lnTo>
                      <a:pt x="78" y="131"/>
                    </a:lnTo>
                    <a:close/>
                    <a:moveTo>
                      <a:pt x="78" y="168"/>
                    </a:moveTo>
                    <a:lnTo>
                      <a:pt x="96" y="168"/>
                    </a:lnTo>
                    <a:lnTo>
                      <a:pt x="96" y="201"/>
                    </a:lnTo>
                    <a:lnTo>
                      <a:pt x="78" y="201"/>
                    </a:lnTo>
                    <a:lnTo>
                      <a:pt x="78" y="168"/>
                    </a:lnTo>
                    <a:close/>
                    <a:moveTo>
                      <a:pt x="78" y="209"/>
                    </a:moveTo>
                    <a:lnTo>
                      <a:pt x="96" y="209"/>
                    </a:lnTo>
                    <a:lnTo>
                      <a:pt x="96" y="240"/>
                    </a:lnTo>
                    <a:lnTo>
                      <a:pt x="78" y="240"/>
                    </a:lnTo>
                    <a:lnTo>
                      <a:pt x="78" y="209"/>
                    </a:lnTo>
                    <a:close/>
                    <a:moveTo>
                      <a:pt x="78" y="249"/>
                    </a:moveTo>
                    <a:lnTo>
                      <a:pt x="96" y="249"/>
                    </a:lnTo>
                    <a:lnTo>
                      <a:pt x="96" y="281"/>
                    </a:lnTo>
                    <a:lnTo>
                      <a:pt x="78" y="281"/>
                    </a:lnTo>
                    <a:lnTo>
                      <a:pt x="78" y="249"/>
                    </a:lnTo>
                    <a:close/>
                    <a:moveTo>
                      <a:pt x="45" y="50"/>
                    </a:moveTo>
                    <a:lnTo>
                      <a:pt x="64" y="50"/>
                    </a:lnTo>
                    <a:lnTo>
                      <a:pt x="64" y="82"/>
                    </a:lnTo>
                    <a:lnTo>
                      <a:pt x="45" y="82"/>
                    </a:lnTo>
                    <a:lnTo>
                      <a:pt x="45" y="50"/>
                    </a:lnTo>
                    <a:close/>
                    <a:moveTo>
                      <a:pt x="45" y="90"/>
                    </a:moveTo>
                    <a:lnTo>
                      <a:pt x="64" y="90"/>
                    </a:lnTo>
                    <a:lnTo>
                      <a:pt x="64" y="122"/>
                    </a:lnTo>
                    <a:lnTo>
                      <a:pt x="45" y="122"/>
                    </a:lnTo>
                    <a:lnTo>
                      <a:pt x="45" y="90"/>
                    </a:lnTo>
                    <a:close/>
                    <a:moveTo>
                      <a:pt x="45" y="131"/>
                    </a:moveTo>
                    <a:lnTo>
                      <a:pt x="64" y="131"/>
                    </a:lnTo>
                    <a:lnTo>
                      <a:pt x="64" y="162"/>
                    </a:lnTo>
                    <a:lnTo>
                      <a:pt x="45" y="162"/>
                    </a:lnTo>
                    <a:lnTo>
                      <a:pt x="45" y="131"/>
                    </a:lnTo>
                    <a:close/>
                    <a:moveTo>
                      <a:pt x="45" y="168"/>
                    </a:moveTo>
                    <a:lnTo>
                      <a:pt x="64" y="168"/>
                    </a:lnTo>
                    <a:lnTo>
                      <a:pt x="64" y="201"/>
                    </a:lnTo>
                    <a:lnTo>
                      <a:pt x="45" y="201"/>
                    </a:lnTo>
                    <a:lnTo>
                      <a:pt x="45" y="168"/>
                    </a:lnTo>
                    <a:close/>
                    <a:moveTo>
                      <a:pt x="45" y="209"/>
                    </a:moveTo>
                    <a:lnTo>
                      <a:pt x="64" y="209"/>
                    </a:lnTo>
                    <a:lnTo>
                      <a:pt x="64" y="240"/>
                    </a:lnTo>
                    <a:lnTo>
                      <a:pt x="45" y="240"/>
                    </a:lnTo>
                    <a:lnTo>
                      <a:pt x="45" y="209"/>
                    </a:lnTo>
                    <a:close/>
                    <a:moveTo>
                      <a:pt x="45" y="249"/>
                    </a:moveTo>
                    <a:lnTo>
                      <a:pt x="64" y="249"/>
                    </a:lnTo>
                    <a:lnTo>
                      <a:pt x="64" y="281"/>
                    </a:lnTo>
                    <a:lnTo>
                      <a:pt x="45" y="281"/>
                    </a:lnTo>
                    <a:lnTo>
                      <a:pt x="45" y="249"/>
                    </a:lnTo>
                    <a:close/>
                    <a:moveTo>
                      <a:pt x="13" y="50"/>
                    </a:moveTo>
                    <a:lnTo>
                      <a:pt x="31" y="50"/>
                    </a:lnTo>
                    <a:lnTo>
                      <a:pt x="31" y="82"/>
                    </a:lnTo>
                    <a:lnTo>
                      <a:pt x="13" y="82"/>
                    </a:lnTo>
                    <a:lnTo>
                      <a:pt x="13" y="50"/>
                    </a:lnTo>
                    <a:close/>
                    <a:moveTo>
                      <a:pt x="13" y="90"/>
                    </a:moveTo>
                    <a:lnTo>
                      <a:pt x="31" y="90"/>
                    </a:lnTo>
                    <a:lnTo>
                      <a:pt x="31" y="122"/>
                    </a:lnTo>
                    <a:lnTo>
                      <a:pt x="13" y="122"/>
                    </a:lnTo>
                    <a:lnTo>
                      <a:pt x="13" y="90"/>
                    </a:lnTo>
                    <a:close/>
                    <a:moveTo>
                      <a:pt x="13" y="131"/>
                    </a:moveTo>
                    <a:lnTo>
                      <a:pt x="31" y="131"/>
                    </a:lnTo>
                    <a:lnTo>
                      <a:pt x="31" y="162"/>
                    </a:lnTo>
                    <a:lnTo>
                      <a:pt x="13" y="162"/>
                    </a:lnTo>
                    <a:lnTo>
                      <a:pt x="13" y="131"/>
                    </a:lnTo>
                    <a:close/>
                    <a:moveTo>
                      <a:pt x="13" y="168"/>
                    </a:moveTo>
                    <a:lnTo>
                      <a:pt x="31" y="168"/>
                    </a:lnTo>
                    <a:lnTo>
                      <a:pt x="31" y="201"/>
                    </a:lnTo>
                    <a:lnTo>
                      <a:pt x="13" y="201"/>
                    </a:lnTo>
                    <a:lnTo>
                      <a:pt x="13" y="168"/>
                    </a:lnTo>
                    <a:close/>
                    <a:moveTo>
                      <a:pt x="13" y="209"/>
                    </a:moveTo>
                    <a:lnTo>
                      <a:pt x="31" y="209"/>
                    </a:lnTo>
                    <a:lnTo>
                      <a:pt x="31" y="240"/>
                    </a:lnTo>
                    <a:lnTo>
                      <a:pt x="13" y="240"/>
                    </a:lnTo>
                    <a:lnTo>
                      <a:pt x="13" y="209"/>
                    </a:lnTo>
                    <a:close/>
                    <a:moveTo>
                      <a:pt x="13" y="249"/>
                    </a:moveTo>
                    <a:lnTo>
                      <a:pt x="31" y="249"/>
                    </a:lnTo>
                    <a:lnTo>
                      <a:pt x="31" y="281"/>
                    </a:lnTo>
                    <a:lnTo>
                      <a:pt x="13" y="281"/>
                    </a:lnTo>
                    <a:lnTo>
                      <a:pt x="13" y="249"/>
                    </a:lnTo>
                    <a:close/>
                  </a:path>
                </a:pathLst>
              </a:custGeom>
              <a:solidFill>
                <a:srgbClr val="4947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25" name="Freeform 55">
                <a:extLst>
                  <a:ext uri="{FF2B5EF4-FFF2-40B4-BE49-F238E27FC236}">
                    <a16:creationId xmlns:a16="http://schemas.microsoft.com/office/drawing/2014/main" id="{ED5C35B2-4515-2AD1-9DB4-E9D2E0701974}"/>
                  </a:ext>
                </a:extLst>
              </p:cNvPr>
              <p:cNvSpPr>
                <a:spLocks noEditPoints="1"/>
              </p:cNvSpPr>
              <p:nvPr/>
            </p:nvSpPr>
            <p:spPr bwMode="auto">
              <a:xfrm>
                <a:off x="1748954" y="3866163"/>
                <a:ext cx="91427" cy="141755"/>
              </a:xfrm>
              <a:custGeom>
                <a:avLst/>
                <a:gdLst>
                  <a:gd name="T0" fmla="*/ 0 w 109"/>
                  <a:gd name="T1" fmla="*/ 0 h 169"/>
                  <a:gd name="T2" fmla="*/ 0 w 109"/>
                  <a:gd name="T3" fmla="*/ 169 h 169"/>
                  <a:gd name="T4" fmla="*/ 109 w 109"/>
                  <a:gd name="T5" fmla="*/ 169 h 169"/>
                  <a:gd name="T6" fmla="*/ 109 w 109"/>
                  <a:gd name="T7" fmla="*/ 0 h 169"/>
                  <a:gd name="T8" fmla="*/ 0 w 109"/>
                  <a:gd name="T9" fmla="*/ 0 h 169"/>
                  <a:gd name="T10" fmla="*/ 32 w 109"/>
                  <a:gd name="T11" fmla="*/ 149 h 169"/>
                  <a:gd name="T12" fmla="*/ 14 w 109"/>
                  <a:gd name="T13" fmla="*/ 149 h 169"/>
                  <a:gd name="T14" fmla="*/ 14 w 109"/>
                  <a:gd name="T15" fmla="*/ 117 h 169"/>
                  <a:gd name="T16" fmla="*/ 32 w 109"/>
                  <a:gd name="T17" fmla="*/ 117 h 169"/>
                  <a:gd name="T18" fmla="*/ 32 w 109"/>
                  <a:gd name="T19" fmla="*/ 149 h 169"/>
                  <a:gd name="T20" fmla="*/ 32 w 109"/>
                  <a:gd name="T21" fmla="*/ 108 h 169"/>
                  <a:gd name="T22" fmla="*/ 14 w 109"/>
                  <a:gd name="T23" fmla="*/ 108 h 169"/>
                  <a:gd name="T24" fmla="*/ 14 w 109"/>
                  <a:gd name="T25" fmla="*/ 76 h 169"/>
                  <a:gd name="T26" fmla="*/ 32 w 109"/>
                  <a:gd name="T27" fmla="*/ 76 h 169"/>
                  <a:gd name="T28" fmla="*/ 32 w 109"/>
                  <a:gd name="T29" fmla="*/ 108 h 169"/>
                  <a:gd name="T30" fmla="*/ 32 w 109"/>
                  <a:gd name="T31" fmla="*/ 69 h 169"/>
                  <a:gd name="T32" fmla="*/ 14 w 109"/>
                  <a:gd name="T33" fmla="*/ 69 h 169"/>
                  <a:gd name="T34" fmla="*/ 14 w 109"/>
                  <a:gd name="T35" fmla="*/ 36 h 169"/>
                  <a:gd name="T36" fmla="*/ 32 w 109"/>
                  <a:gd name="T37" fmla="*/ 36 h 169"/>
                  <a:gd name="T38" fmla="*/ 32 w 109"/>
                  <a:gd name="T39" fmla="*/ 69 h 169"/>
                  <a:gd name="T40" fmla="*/ 63 w 109"/>
                  <a:gd name="T41" fmla="*/ 149 h 169"/>
                  <a:gd name="T42" fmla="*/ 45 w 109"/>
                  <a:gd name="T43" fmla="*/ 149 h 169"/>
                  <a:gd name="T44" fmla="*/ 45 w 109"/>
                  <a:gd name="T45" fmla="*/ 117 h 169"/>
                  <a:gd name="T46" fmla="*/ 63 w 109"/>
                  <a:gd name="T47" fmla="*/ 117 h 169"/>
                  <a:gd name="T48" fmla="*/ 63 w 109"/>
                  <a:gd name="T49" fmla="*/ 149 h 169"/>
                  <a:gd name="T50" fmla="*/ 63 w 109"/>
                  <a:gd name="T51" fmla="*/ 108 h 169"/>
                  <a:gd name="T52" fmla="*/ 45 w 109"/>
                  <a:gd name="T53" fmla="*/ 108 h 169"/>
                  <a:gd name="T54" fmla="*/ 45 w 109"/>
                  <a:gd name="T55" fmla="*/ 76 h 169"/>
                  <a:gd name="T56" fmla="*/ 63 w 109"/>
                  <a:gd name="T57" fmla="*/ 76 h 169"/>
                  <a:gd name="T58" fmla="*/ 63 w 109"/>
                  <a:gd name="T59" fmla="*/ 108 h 169"/>
                  <a:gd name="T60" fmla="*/ 63 w 109"/>
                  <a:gd name="T61" fmla="*/ 69 h 169"/>
                  <a:gd name="T62" fmla="*/ 45 w 109"/>
                  <a:gd name="T63" fmla="*/ 69 h 169"/>
                  <a:gd name="T64" fmla="*/ 45 w 109"/>
                  <a:gd name="T65" fmla="*/ 36 h 169"/>
                  <a:gd name="T66" fmla="*/ 63 w 109"/>
                  <a:gd name="T67" fmla="*/ 36 h 169"/>
                  <a:gd name="T68" fmla="*/ 63 w 109"/>
                  <a:gd name="T69" fmla="*/ 69 h 169"/>
                  <a:gd name="T70" fmla="*/ 96 w 109"/>
                  <a:gd name="T71" fmla="*/ 149 h 169"/>
                  <a:gd name="T72" fmla="*/ 78 w 109"/>
                  <a:gd name="T73" fmla="*/ 149 h 169"/>
                  <a:gd name="T74" fmla="*/ 78 w 109"/>
                  <a:gd name="T75" fmla="*/ 117 h 169"/>
                  <a:gd name="T76" fmla="*/ 96 w 109"/>
                  <a:gd name="T77" fmla="*/ 117 h 169"/>
                  <a:gd name="T78" fmla="*/ 96 w 109"/>
                  <a:gd name="T79" fmla="*/ 149 h 169"/>
                  <a:gd name="T80" fmla="*/ 96 w 109"/>
                  <a:gd name="T81" fmla="*/ 108 h 169"/>
                  <a:gd name="T82" fmla="*/ 78 w 109"/>
                  <a:gd name="T83" fmla="*/ 108 h 169"/>
                  <a:gd name="T84" fmla="*/ 78 w 109"/>
                  <a:gd name="T85" fmla="*/ 76 h 169"/>
                  <a:gd name="T86" fmla="*/ 96 w 109"/>
                  <a:gd name="T87" fmla="*/ 76 h 169"/>
                  <a:gd name="T88" fmla="*/ 96 w 109"/>
                  <a:gd name="T89" fmla="*/ 108 h 169"/>
                  <a:gd name="T90" fmla="*/ 96 w 109"/>
                  <a:gd name="T91" fmla="*/ 69 h 169"/>
                  <a:gd name="T92" fmla="*/ 78 w 109"/>
                  <a:gd name="T93" fmla="*/ 69 h 169"/>
                  <a:gd name="T94" fmla="*/ 78 w 109"/>
                  <a:gd name="T95" fmla="*/ 36 h 169"/>
                  <a:gd name="T96" fmla="*/ 96 w 109"/>
                  <a:gd name="T97" fmla="*/ 36 h 169"/>
                  <a:gd name="T98" fmla="*/ 96 w 109"/>
                  <a:gd name="T99" fmla="*/ 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 h="169">
                    <a:moveTo>
                      <a:pt x="0" y="0"/>
                    </a:moveTo>
                    <a:lnTo>
                      <a:pt x="0" y="169"/>
                    </a:lnTo>
                    <a:lnTo>
                      <a:pt x="109" y="169"/>
                    </a:lnTo>
                    <a:lnTo>
                      <a:pt x="109" y="0"/>
                    </a:lnTo>
                    <a:lnTo>
                      <a:pt x="0" y="0"/>
                    </a:lnTo>
                    <a:close/>
                    <a:moveTo>
                      <a:pt x="32" y="149"/>
                    </a:moveTo>
                    <a:lnTo>
                      <a:pt x="14" y="149"/>
                    </a:lnTo>
                    <a:lnTo>
                      <a:pt x="14" y="117"/>
                    </a:lnTo>
                    <a:lnTo>
                      <a:pt x="32" y="117"/>
                    </a:lnTo>
                    <a:lnTo>
                      <a:pt x="32" y="149"/>
                    </a:lnTo>
                    <a:close/>
                    <a:moveTo>
                      <a:pt x="32" y="108"/>
                    </a:moveTo>
                    <a:lnTo>
                      <a:pt x="14" y="108"/>
                    </a:lnTo>
                    <a:lnTo>
                      <a:pt x="14" y="76"/>
                    </a:lnTo>
                    <a:lnTo>
                      <a:pt x="32" y="76"/>
                    </a:lnTo>
                    <a:lnTo>
                      <a:pt x="32" y="108"/>
                    </a:lnTo>
                    <a:close/>
                    <a:moveTo>
                      <a:pt x="32" y="69"/>
                    </a:moveTo>
                    <a:lnTo>
                      <a:pt x="14" y="69"/>
                    </a:lnTo>
                    <a:lnTo>
                      <a:pt x="14" y="36"/>
                    </a:lnTo>
                    <a:lnTo>
                      <a:pt x="32" y="36"/>
                    </a:lnTo>
                    <a:lnTo>
                      <a:pt x="32" y="69"/>
                    </a:lnTo>
                    <a:close/>
                    <a:moveTo>
                      <a:pt x="63" y="149"/>
                    </a:moveTo>
                    <a:lnTo>
                      <a:pt x="45" y="149"/>
                    </a:lnTo>
                    <a:lnTo>
                      <a:pt x="45" y="117"/>
                    </a:lnTo>
                    <a:lnTo>
                      <a:pt x="63" y="117"/>
                    </a:lnTo>
                    <a:lnTo>
                      <a:pt x="63" y="149"/>
                    </a:lnTo>
                    <a:close/>
                    <a:moveTo>
                      <a:pt x="63" y="108"/>
                    </a:moveTo>
                    <a:lnTo>
                      <a:pt x="45" y="108"/>
                    </a:lnTo>
                    <a:lnTo>
                      <a:pt x="45" y="76"/>
                    </a:lnTo>
                    <a:lnTo>
                      <a:pt x="63" y="76"/>
                    </a:lnTo>
                    <a:lnTo>
                      <a:pt x="63" y="108"/>
                    </a:lnTo>
                    <a:close/>
                    <a:moveTo>
                      <a:pt x="63" y="69"/>
                    </a:moveTo>
                    <a:lnTo>
                      <a:pt x="45" y="69"/>
                    </a:lnTo>
                    <a:lnTo>
                      <a:pt x="45" y="36"/>
                    </a:lnTo>
                    <a:lnTo>
                      <a:pt x="63" y="36"/>
                    </a:lnTo>
                    <a:lnTo>
                      <a:pt x="63" y="69"/>
                    </a:lnTo>
                    <a:close/>
                    <a:moveTo>
                      <a:pt x="96" y="149"/>
                    </a:moveTo>
                    <a:lnTo>
                      <a:pt x="78" y="149"/>
                    </a:lnTo>
                    <a:lnTo>
                      <a:pt x="78" y="117"/>
                    </a:lnTo>
                    <a:lnTo>
                      <a:pt x="96" y="117"/>
                    </a:lnTo>
                    <a:lnTo>
                      <a:pt x="96" y="149"/>
                    </a:lnTo>
                    <a:close/>
                    <a:moveTo>
                      <a:pt x="96" y="108"/>
                    </a:moveTo>
                    <a:lnTo>
                      <a:pt x="78" y="108"/>
                    </a:lnTo>
                    <a:lnTo>
                      <a:pt x="78" y="76"/>
                    </a:lnTo>
                    <a:lnTo>
                      <a:pt x="96" y="76"/>
                    </a:lnTo>
                    <a:lnTo>
                      <a:pt x="96" y="108"/>
                    </a:lnTo>
                    <a:close/>
                    <a:moveTo>
                      <a:pt x="96" y="69"/>
                    </a:moveTo>
                    <a:lnTo>
                      <a:pt x="78" y="69"/>
                    </a:lnTo>
                    <a:lnTo>
                      <a:pt x="78" y="36"/>
                    </a:lnTo>
                    <a:lnTo>
                      <a:pt x="96" y="36"/>
                    </a:lnTo>
                    <a:lnTo>
                      <a:pt x="96" y="69"/>
                    </a:lnTo>
                    <a:close/>
                  </a:path>
                </a:pathLst>
              </a:custGeom>
              <a:solidFill>
                <a:srgbClr val="4947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grpSp>
      <p:cxnSp>
        <p:nvCxnSpPr>
          <p:cNvPr id="24602" name="直線矢印コネクタ 516">
            <a:extLst>
              <a:ext uri="{FF2B5EF4-FFF2-40B4-BE49-F238E27FC236}">
                <a16:creationId xmlns:a16="http://schemas.microsoft.com/office/drawing/2014/main" id="{5774150B-E9BD-6F76-24AF-DDD420E14FF2}"/>
              </a:ext>
            </a:extLst>
          </p:cNvPr>
          <p:cNvCxnSpPr>
            <a:cxnSpLocks noChangeShapeType="1"/>
            <a:endCxn id="140" idx="1"/>
          </p:cNvCxnSpPr>
          <p:nvPr/>
        </p:nvCxnSpPr>
        <p:spPr bwMode="gray">
          <a:xfrm flipH="1">
            <a:off x="1672430" y="3182816"/>
            <a:ext cx="412043" cy="0"/>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cxnSp>
        <p:nvCxnSpPr>
          <p:cNvPr id="27" name="コネクタ: カギ線 26">
            <a:extLst>
              <a:ext uri="{FF2B5EF4-FFF2-40B4-BE49-F238E27FC236}">
                <a16:creationId xmlns:a16="http://schemas.microsoft.com/office/drawing/2014/main" id="{F41959EA-2412-FC0C-1705-06876F2E8449}"/>
              </a:ext>
            </a:extLst>
          </p:cNvPr>
          <p:cNvCxnSpPr>
            <a:cxnSpLocks/>
            <a:stCxn id="101" idx="1"/>
            <a:endCxn id="97" idx="0"/>
          </p:cNvCxnSpPr>
          <p:nvPr/>
        </p:nvCxnSpPr>
        <p:spPr>
          <a:xfrm rot="10800000" flipV="1">
            <a:off x="3989219" y="2971985"/>
            <a:ext cx="1999205" cy="1790469"/>
          </a:xfrm>
          <a:prstGeom prst="bentConnector2">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sp>
        <p:nvSpPr>
          <p:cNvPr id="14" name="正方形/長方形 363">
            <a:extLst>
              <a:ext uri="{FF2B5EF4-FFF2-40B4-BE49-F238E27FC236}">
                <a16:creationId xmlns:a16="http://schemas.microsoft.com/office/drawing/2014/main" id="{4CDC281B-B3D3-9D55-91CE-6E15324D9343}"/>
              </a:ext>
            </a:extLst>
          </p:cNvPr>
          <p:cNvSpPr>
            <a:spLocks noChangeArrowheads="1"/>
          </p:cNvSpPr>
          <p:nvPr/>
        </p:nvSpPr>
        <p:spPr bwMode="gray">
          <a:xfrm>
            <a:off x="8096027" y="1700760"/>
            <a:ext cx="1458695" cy="4788779"/>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defRPr/>
            </a:pPr>
            <a:r>
              <a:rPr lang="ja-JP" altLang="en-US">
                <a:latin typeface="Meiryo UI"/>
                <a:ea typeface="Meiryo UI"/>
              </a:rPr>
              <a:t>リテール顧客</a:t>
            </a:r>
            <a:endParaRPr lang="ja-JP" altLang="en-US" b="0" dirty="0">
              <a:latin typeface="Meiryo UI"/>
              <a:ea typeface="Meiryo UI"/>
            </a:endParaRPr>
          </a:p>
        </p:txBody>
      </p:sp>
      <p:grpSp>
        <p:nvGrpSpPr>
          <p:cNvPr id="10" name="グループ化 9">
            <a:extLst>
              <a:ext uri="{FF2B5EF4-FFF2-40B4-BE49-F238E27FC236}">
                <a16:creationId xmlns:a16="http://schemas.microsoft.com/office/drawing/2014/main" id="{4E73D279-14D5-9384-3930-568EC9BDD8A0}"/>
              </a:ext>
            </a:extLst>
          </p:cNvPr>
          <p:cNvGrpSpPr/>
          <p:nvPr/>
        </p:nvGrpSpPr>
        <p:grpSpPr>
          <a:xfrm>
            <a:off x="8172030" y="4119601"/>
            <a:ext cx="1306688" cy="1166942"/>
            <a:chOff x="10027364" y="1621854"/>
            <a:chExt cx="1306688" cy="1166942"/>
          </a:xfrm>
        </p:grpSpPr>
        <p:sp>
          <p:nvSpPr>
            <p:cNvPr id="103" name="正方形/長方形 192">
              <a:extLst>
                <a:ext uri="{FF2B5EF4-FFF2-40B4-BE49-F238E27FC236}">
                  <a16:creationId xmlns:a16="http://schemas.microsoft.com/office/drawing/2014/main" id="{6C400B33-95CA-536D-8B2D-563CCD9B1DA1}"/>
                </a:ext>
              </a:extLst>
            </p:cNvPr>
            <p:cNvSpPr/>
            <p:nvPr/>
          </p:nvSpPr>
          <p:spPr bwMode="gray">
            <a:xfrm flipH="1">
              <a:off x="10027364" y="1621854"/>
              <a:ext cx="1306688" cy="1166942"/>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個人投資家</a:t>
              </a:r>
              <a:endParaRPr lang="en-US" altLang="ja-JP" sz="1200" dirty="0">
                <a:latin typeface="Meiryo UI" panose="020B0604030504040204" pitchFamily="50" charset="-128"/>
                <a:ea typeface="Meiryo UI" panose="020B0604030504040204" pitchFamily="50" charset="-128"/>
              </a:endParaRPr>
            </a:p>
            <a:p>
              <a:pPr eaLnBrk="0" hangingPunct="0">
                <a:spcBef>
                  <a:spcPts val="0"/>
                </a:spcBef>
              </a:pPr>
              <a:endParaRPr lang="en-US" altLang="ja-JP" sz="12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企業オーナー</a:t>
              </a:r>
              <a:endParaRPr lang="en-US" altLang="ja-JP"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地主</a:t>
              </a:r>
              <a:endParaRPr lang="en-US" altLang="ja-JP"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医者</a:t>
              </a:r>
              <a:endParaRPr lang="en-US" altLang="ja-JP"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一般投資家、など</a:t>
              </a:r>
            </a:p>
          </p:txBody>
        </p:sp>
        <p:grpSp>
          <p:nvGrpSpPr>
            <p:cNvPr id="104" name="グループ化 103">
              <a:extLst>
                <a:ext uri="{FF2B5EF4-FFF2-40B4-BE49-F238E27FC236}">
                  <a16:creationId xmlns:a16="http://schemas.microsoft.com/office/drawing/2014/main" id="{FDD65CC9-6D2F-617D-24E7-90127BE04460}"/>
                </a:ext>
              </a:extLst>
            </p:cNvPr>
            <p:cNvGrpSpPr/>
            <p:nvPr/>
          </p:nvGrpSpPr>
          <p:grpSpPr>
            <a:xfrm>
              <a:off x="10852282" y="1708586"/>
              <a:ext cx="423047" cy="317286"/>
              <a:chOff x="1341485" y="2229208"/>
              <a:chExt cx="1208008" cy="828779"/>
            </a:xfrm>
            <a:solidFill>
              <a:schemeClr val="tx1">
                <a:lumMod val="65000"/>
                <a:lumOff val="35000"/>
              </a:schemeClr>
            </a:solidFill>
          </p:grpSpPr>
          <p:pic>
            <p:nvPicPr>
              <p:cNvPr id="105" name="グラフィックス 104" descr="ユーザー">
                <a:extLst>
                  <a:ext uri="{FF2B5EF4-FFF2-40B4-BE49-F238E27FC236}">
                    <a16:creationId xmlns:a16="http://schemas.microsoft.com/office/drawing/2014/main" id="{D75B916D-C136-9E7B-4DA6-B077B126260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01988" y="2229208"/>
                <a:ext cx="687003" cy="687003"/>
              </a:xfrm>
              <a:prstGeom prst="rect">
                <a:avLst/>
              </a:prstGeom>
              <a:effectLst/>
            </p:spPr>
          </p:pic>
          <p:pic>
            <p:nvPicPr>
              <p:cNvPr id="106" name="グラフィックス 105" descr="ユーザー">
                <a:extLst>
                  <a:ext uri="{FF2B5EF4-FFF2-40B4-BE49-F238E27FC236}">
                    <a16:creationId xmlns:a16="http://schemas.microsoft.com/office/drawing/2014/main" id="{675974C5-B803-E00C-830C-3CCE8C95603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41485" y="2370984"/>
                <a:ext cx="687003" cy="687003"/>
              </a:xfrm>
              <a:prstGeom prst="rect">
                <a:avLst/>
              </a:prstGeom>
              <a:effectLst/>
            </p:spPr>
          </p:pic>
          <p:pic>
            <p:nvPicPr>
              <p:cNvPr id="107" name="グラフィックス 106" descr="ユーザー">
                <a:extLst>
                  <a:ext uri="{FF2B5EF4-FFF2-40B4-BE49-F238E27FC236}">
                    <a16:creationId xmlns:a16="http://schemas.microsoft.com/office/drawing/2014/main" id="{EDFC0758-9219-1A15-B18B-CA683091D5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62490" y="2366196"/>
                <a:ext cx="687003" cy="687003"/>
              </a:xfrm>
              <a:prstGeom prst="rect">
                <a:avLst/>
              </a:prstGeom>
              <a:effectLst/>
            </p:spPr>
          </p:pic>
        </p:grpSp>
      </p:grpSp>
      <p:sp>
        <p:nvSpPr>
          <p:cNvPr id="36" name="正方形/長方形 463">
            <a:extLst>
              <a:ext uri="{FF2B5EF4-FFF2-40B4-BE49-F238E27FC236}">
                <a16:creationId xmlns:a16="http://schemas.microsoft.com/office/drawing/2014/main" id="{624B9F5A-158D-33A0-F79E-9CC96A25A67C}"/>
              </a:ext>
            </a:extLst>
          </p:cNvPr>
          <p:cNvSpPr>
            <a:spLocks noChangeArrowheads="1"/>
          </p:cNvSpPr>
          <p:nvPr/>
        </p:nvSpPr>
        <p:spPr bwMode="gray">
          <a:xfrm>
            <a:off x="2080637" y="4762455"/>
            <a:ext cx="2016673" cy="1390262"/>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3CFF2044-900F-2747-3674-9F6EC0D9E973}"/>
              </a:ext>
            </a:extLst>
          </p:cNvPr>
          <p:cNvSpPr/>
          <p:nvPr/>
        </p:nvSpPr>
        <p:spPr>
          <a:xfrm>
            <a:off x="2084919" y="4765309"/>
            <a:ext cx="20149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２</a:t>
            </a:r>
          </a:p>
        </p:txBody>
      </p:sp>
      <p:sp>
        <p:nvSpPr>
          <p:cNvPr id="38" name="テキスト ボックス 37">
            <a:extLst>
              <a:ext uri="{FF2B5EF4-FFF2-40B4-BE49-F238E27FC236}">
                <a16:creationId xmlns:a16="http://schemas.microsoft.com/office/drawing/2014/main" id="{B9FCD936-AE7C-4A1E-9728-711461F580BF}"/>
              </a:ext>
            </a:extLst>
          </p:cNvPr>
          <p:cNvSpPr txBox="1"/>
          <p:nvPr/>
        </p:nvSpPr>
        <p:spPr>
          <a:xfrm>
            <a:off x="2283946" y="4762455"/>
            <a:ext cx="831768" cy="223064"/>
          </a:xfrm>
          <a:prstGeom prst="rect">
            <a:avLst/>
          </a:prstGeom>
          <a:noFill/>
        </p:spPr>
        <p:txBody>
          <a:bodyPr vert="horz" wrap="none" lIns="72000" tIns="72000" rIns="72000" bIns="72000" rtlCol="0" anchor="ctr">
            <a:noAutofit/>
          </a:bodyPr>
          <a:lstStyle/>
          <a:p>
            <a:r>
              <a:rPr kumimoji="1" lang="ja-JP" altLang="en-US" sz="1200" dirty="0">
                <a:latin typeface="Meiryo UI" panose="020B0604030504040204" pitchFamily="50" charset="-128"/>
                <a:ea typeface="Meiryo UI" panose="020B0604030504040204" pitchFamily="50" charset="-128"/>
              </a:rPr>
              <a:t>資産管理銀行</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信託銀行</a:t>
            </a:r>
            <a:endParaRPr kumimoji="1" lang="en-US" altLang="ja-JP" sz="1200" dirty="0">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1D9DA9CE-531E-0BC7-7E31-6922188346E3}"/>
              </a:ext>
            </a:extLst>
          </p:cNvPr>
          <p:cNvSpPr/>
          <p:nvPr/>
        </p:nvSpPr>
        <p:spPr>
          <a:xfrm>
            <a:off x="4338618" y="3136077"/>
            <a:ext cx="20149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３</a:t>
            </a:r>
          </a:p>
        </p:txBody>
      </p:sp>
      <p:sp>
        <p:nvSpPr>
          <p:cNvPr id="41" name="テキスト ボックス 40">
            <a:extLst>
              <a:ext uri="{FF2B5EF4-FFF2-40B4-BE49-F238E27FC236}">
                <a16:creationId xmlns:a16="http://schemas.microsoft.com/office/drawing/2014/main" id="{CA42BE03-C609-C296-917A-2557BE40C051}"/>
              </a:ext>
            </a:extLst>
          </p:cNvPr>
          <p:cNvSpPr txBox="1"/>
          <p:nvPr/>
        </p:nvSpPr>
        <p:spPr>
          <a:xfrm>
            <a:off x="4537645" y="3133223"/>
            <a:ext cx="831768" cy="223064"/>
          </a:xfrm>
          <a:prstGeom prst="rect">
            <a:avLst/>
          </a:prstGeom>
          <a:noFill/>
        </p:spPr>
        <p:txBody>
          <a:bodyPr vert="horz" wrap="none" lIns="72000" tIns="72000" rIns="72000" bIns="72000" rtlCol="0" anchor="ctr">
            <a:noAutofit/>
          </a:bodyPr>
          <a:lstStyle/>
          <a:p>
            <a:r>
              <a:rPr lang="ja-JP" altLang="en-US" sz="1200" dirty="0">
                <a:latin typeface="Meiryo UI" panose="020B0604030504040204" pitchFamily="50" charset="-128"/>
                <a:ea typeface="Meiryo UI" panose="020B0604030504040204" pitchFamily="50" charset="-128"/>
              </a:rPr>
              <a:t>マーケットインフラ</a:t>
            </a:r>
            <a:endParaRPr kumimoji="1" lang="ja-JP" altLang="en-US" sz="1200" dirty="0">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753CCD1D-50D8-F3C3-36EF-C9C52205563F}"/>
              </a:ext>
            </a:extLst>
          </p:cNvPr>
          <p:cNvGrpSpPr/>
          <p:nvPr/>
        </p:nvGrpSpPr>
        <p:grpSpPr>
          <a:xfrm>
            <a:off x="4476880" y="3521490"/>
            <a:ext cx="1150668" cy="514565"/>
            <a:chOff x="4439365" y="3521490"/>
            <a:chExt cx="1150668" cy="514565"/>
          </a:xfrm>
        </p:grpSpPr>
        <p:sp>
          <p:nvSpPr>
            <p:cNvPr id="129" name="正方形/長方形 128">
              <a:extLst>
                <a:ext uri="{FF2B5EF4-FFF2-40B4-BE49-F238E27FC236}">
                  <a16:creationId xmlns:a16="http://schemas.microsoft.com/office/drawing/2014/main" id="{FB0BAAC0-1CBE-D3EC-9648-040F8F79C91E}"/>
                </a:ext>
              </a:extLst>
            </p:cNvPr>
            <p:cNvSpPr/>
            <p:nvPr/>
          </p:nvSpPr>
          <p:spPr bwMode="gray">
            <a:xfrm>
              <a:off x="4439365" y="3521490"/>
              <a:ext cx="1150668"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200">
                  <a:latin typeface="Meiryo UI" panose="020B0604030504040204" pitchFamily="50" charset="-128"/>
                  <a:ea typeface="Meiryo UI" panose="020B0604030504040204" pitchFamily="50" charset="-128"/>
                </a:rPr>
                <a:t>取引所</a:t>
              </a:r>
              <a:endParaRPr lang="en-US" altLang="ja-JP" sz="1200">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8D882F5-E8B2-001D-E619-DC006EAE1D15}"/>
                </a:ext>
              </a:extLst>
            </p:cNvPr>
            <p:cNvSpPr/>
            <p:nvPr/>
          </p:nvSpPr>
          <p:spPr>
            <a:xfrm>
              <a:off x="4439598" y="352149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3-A</a:t>
              </a:r>
              <a:endParaRPr kumimoji="1" lang="ja-JP" altLang="en-US" sz="1200" b="1" kern="0" dirty="0">
                <a:latin typeface="Meiryo UI" panose="020B0604030504040204" pitchFamily="50" charset="-128"/>
                <a:ea typeface="Meiryo UI" panose="020B0604030504040204" pitchFamily="50" charset="-128"/>
              </a:endParaRPr>
            </a:p>
          </p:txBody>
        </p:sp>
      </p:grpSp>
      <p:grpSp>
        <p:nvGrpSpPr>
          <p:cNvPr id="44" name="グループ化 43">
            <a:extLst>
              <a:ext uri="{FF2B5EF4-FFF2-40B4-BE49-F238E27FC236}">
                <a16:creationId xmlns:a16="http://schemas.microsoft.com/office/drawing/2014/main" id="{2200F050-D0C3-55D4-C1E4-9796FCB02450}"/>
              </a:ext>
            </a:extLst>
          </p:cNvPr>
          <p:cNvGrpSpPr/>
          <p:nvPr/>
        </p:nvGrpSpPr>
        <p:grpSpPr>
          <a:xfrm>
            <a:off x="4477483" y="4424760"/>
            <a:ext cx="1149462" cy="514565"/>
            <a:chOff x="6097228" y="3521490"/>
            <a:chExt cx="1149462" cy="514565"/>
          </a:xfrm>
        </p:grpSpPr>
        <p:sp>
          <p:nvSpPr>
            <p:cNvPr id="130" name="正方形/長方形 129">
              <a:extLst>
                <a:ext uri="{FF2B5EF4-FFF2-40B4-BE49-F238E27FC236}">
                  <a16:creationId xmlns:a16="http://schemas.microsoft.com/office/drawing/2014/main" id="{DE83CD1F-A70D-15C9-C379-CB5D3ECBFB24}"/>
                </a:ext>
              </a:extLst>
            </p:cNvPr>
            <p:cNvSpPr/>
            <p:nvPr/>
          </p:nvSpPr>
          <p:spPr bwMode="gray">
            <a:xfrm>
              <a:off x="6097228" y="3521490"/>
              <a:ext cx="1149462"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清算機関</a:t>
              </a:r>
              <a:endParaRPr lang="en-US" altLang="ja-JP" sz="1200" dirty="0">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05B0C39C-C3DF-EF15-FED2-6923FA9667B6}"/>
                </a:ext>
              </a:extLst>
            </p:cNvPr>
            <p:cNvSpPr/>
            <p:nvPr/>
          </p:nvSpPr>
          <p:spPr>
            <a:xfrm>
              <a:off x="6104310" y="352149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3-B</a:t>
              </a:r>
              <a:endParaRPr kumimoji="1" lang="ja-JP" altLang="en-US" sz="1200" b="1" kern="0" dirty="0">
                <a:latin typeface="Meiryo UI" panose="020B0604030504040204" pitchFamily="50" charset="-128"/>
                <a:ea typeface="Meiryo UI" panose="020B0604030504040204" pitchFamily="50" charset="-128"/>
              </a:endParaRPr>
            </a:p>
          </p:txBody>
        </p:sp>
      </p:grpSp>
      <p:grpSp>
        <p:nvGrpSpPr>
          <p:cNvPr id="45" name="グループ化 44">
            <a:extLst>
              <a:ext uri="{FF2B5EF4-FFF2-40B4-BE49-F238E27FC236}">
                <a16:creationId xmlns:a16="http://schemas.microsoft.com/office/drawing/2014/main" id="{64277F1A-5B5B-2DF3-7B76-E793C47BA184}"/>
              </a:ext>
            </a:extLst>
          </p:cNvPr>
          <p:cNvGrpSpPr/>
          <p:nvPr/>
        </p:nvGrpSpPr>
        <p:grpSpPr>
          <a:xfrm>
            <a:off x="4476879" y="5328030"/>
            <a:ext cx="1150670" cy="514565"/>
            <a:chOff x="7753883" y="3521490"/>
            <a:chExt cx="1150670" cy="514565"/>
          </a:xfrm>
        </p:grpSpPr>
        <p:sp>
          <p:nvSpPr>
            <p:cNvPr id="131" name="正方形/長方形 130">
              <a:extLst>
                <a:ext uri="{FF2B5EF4-FFF2-40B4-BE49-F238E27FC236}">
                  <a16:creationId xmlns:a16="http://schemas.microsoft.com/office/drawing/2014/main" id="{F0471115-A5DE-0833-CEC4-812C131D061E}"/>
                </a:ext>
              </a:extLst>
            </p:cNvPr>
            <p:cNvSpPr/>
            <p:nvPr/>
          </p:nvSpPr>
          <p:spPr bwMode="gray">
            <a:xfrm>
              <a:off x="7753883" y="3521490"/>
              <a:ext cx="1150670"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決済機関</a:t>
              </a:r>
              <a:endParaRPr lang="en-US" altLang="ja-JP" sz="1200" dirty="0">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92AA8BCE-D5C5-4114-137D-24E27069DC7E}"/>
                </a:ext>
              </a:extLst>
            </p:cNvPr>
            <p:cNvSpPr/>
            <p:nvPr/>
          </p:nvSpPr>
          <p:spPr>
            <a:xfrm>
              <a:off x="7753883" y="352149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3-C</a:t>
              </a:r>
              <a:endParaRPr kumimoji="1" lang="ja-JP" altLang="en-US" sz="1200" b="1" kern="0" dirty="0">
                <a:latin typeface="Meiryo UI" panose="020B0604030504040204" pitchFamily="50" charset="-128"/>
                <a:ea typeface="Meiryo UI" panose="020B0604030504040204" pitchFamily="50" charset="-128"/>
              </a:endParaRPr>
            </a:p>
          </p:txBody>
        </p:sp>
      </p:grpSp>
      <p:cxnSp>
        <p:nvCxnSpPr>
          <p:cNvPr id="133" name="直線矢印コネクタ 130">
            <a:extLst>
              <a:ext uri="{FF2B5EF4-FFF2-40B4-BE49-F238E27FC236}">
                <a16:creationId xmlns:a16="http://schemas.microsoft.com/office/drawing/2014/main" id="{B51CB777-09D7-DF39-C492-24D2DD3B2119}"/>
              </a:ext>
            </a:extLst>
          </p:cNvPr>
          <p:cNvCxnSpPr>
            <a:cxnSpLocks noChangeShapeType="1"/>
            <a:stCxn id="130" idx="0"/>
            <a:endCxn id="129" idx="2"/>
          </p:cNvCxnSpPr>
          <p:nvPr/>
        </p:nvCxnSpPr>
        <p:spPr bwMode="gray">
          <a:xfrm flipV="1">
            <a:off x="5052214" y="4036055"/>
            <a:ext cx="0" cy="388705"/>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52" name="正方形/長方形 463">
            <a:extLst>
              <a:ext uri="{FF2B5EF4-FFF2-40B4-BE49-F238E27FC236}">
                <a16:creationId xmlns:a16="http://schemas.microsoft.com/office/drawing/2014/main" id="{C0F24418-8865-B432-4BC0-28742543DDD6}"/>
              </a:ext>
            </a:extLst>
          </p:cNvPr>
          <p:cNvSpPr>
            <a:spLocks noChangeArrowheads="1"/>
          </p:cNvSpPr>
          <p:nvPr/>
        </p:nvSpPr>
        <p:spPr bwMode="gray">
          <a:xfrm>
            <a:off x="5994550" y="2491007"/>
            <a:ext cx="1826531" cy="3661710"/>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0EE17338-73F9-D266-186F-7F9FBF76059B}"/>
              </a:ext>
            </a:extLst>
          </p:cNvPr>
          <p:cNvSpPr/>
          <p:nvPr/>
        </p:nvSpPr>
        <p:spPr>
          <a:xfrm>
            <a:off x="5994550" y="2495886"/>
            <a:ext cx="20149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４</a:t>
            </a:r>
          </a:p>
        </p:txBody>
      </p:sp>
      <p:sp>
        <p:nvSpPr>
          <p:cNvPr id="54" name="テキスト ボックス 53">
            <a:extLst>
              <a:ext uri="{FF2B5EF4-FFF2-40B4-BE49-F238E27FC236}">
                <a16:creationId xmlns:a16="http://schemas.microsoft.com/office/drawing/2014/main" id="{E9A016FC-EB42-D83B-4A30-C55F4DECE7ED}"/>
              </a:ext>
            </a:extLst>
          </p:cNvPr>
          <p:cNvSpPr txBox="1"/>
          <p:nvPr/>
        </p:nvSpPr>
        <p:spPr>
          <a:xfrm>
            <a:off x="6185569" y="2493032"/>
            <a:ext cx="831768" cy="223064"/>
          </a:xfrm>
          <a:prstGeom prst="rect">
            <a:avLst/>
          </a:prstGeom>
          <a:noFill/>
        </p:spPr>
        <p:txBody>
          <a:bodyPr vert="horz" wrap="none" lIns="72000" tIns="72000" rIns="72000" bIns="72000" rtlCol="0" anchor="ctr">
            <a:noAutofit/>
          </a:bodyPr>
          <a:lstStyle/>
          <a:p>
            <a:r>
              <a:rPr lang="ja-JP" altLang="en-US" sz="1200" dirty="0">
                <a:latin typeface="Meiryo UI" panose="020B0604030504040204" pitchFamily="50" charset="-128"/>
                <a:ea typeface="Meiryo UI" panose="020B0604030504040204" pitchFamily="50" charset="-128"/>
              </a:rPr>
              <a:t>証券会社</a:t>
            </a:r>
            <a:endParaRPr kumimoji="1" lang="ja-JP" altLang="en-US" sz="1200" dirty="0">
              <a:latin typeface="Meiryo UI" panose="020B0604030504040204" pitchFamily="50" charset="-128"/>
              <a:ea typeface="Meiryo UI" panose="020B0604030504040204" pitchFamily="50" charset="-128"/>
            </a:endParaRPr>
          </a:p>
        </p:txBody>
      </p:sp>
      <p:sp>
        <p:nvSpPr>
          <p:cNvPr id="32" name="正方形/長方形 463">
            <a:extLst>
              <a:ext uri="{FF2B5EF4-FFF2-40B4-BE49-F238E27FC236}">
                <a16:creationId xmlns:a16="http://schemas.microsoft.com/office/drawing/2014/main" id="{9ACAABBF-06B8-2585-25D0-0D828BE1DC04}"/>
              </a:ext>
            </a:extLst>
          </p:cNvPr>
          <p:cNvSpPr>
            <a:spLocks noChangeArrowheads="1"/>
          </p:cNvSpPr>
          <p:nvPr/>
        </p:nvSpPr>
        <p:spPr bwMode="gray">
          <a:xfrm>
            <a:off x="2080637" y="2491007"/>
            <a:ext cx="1806389" cy="1671690"/>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846B7BA3-A2F6-C77D-5687-18654392C2A4}"/>
              </a:ext>
            </a:extLst>
          </p:cNvPr>
          <p:cNvSpPr/>
          <p:nvPr/>
        </p:nvSpPr>
        <p:spPr>
          <a:xfrm>
            <a:off x="2084473" y="2495886"/>
            <a:ext cx="18048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１</a:t>
            </a:r>
          </a:p>
        </p:txBody>
      </p:sp>
      <p:sp>
        <p:nvSpPr>
          <p:cNvPr id="34" name="テキスト ボックス 33">
            <a:extLst>
              <a:ext uri="{FF2B5EF4-FFF2-40B4-BE49-F238E27FC236}">
                <a16:creationId xmlns:a16="http://schemas.microsoft.com/office/drawing/2014/main" id="{37A899B1-77F7-CD61-CB94-31FF1081BA41}"/>
              </a:ext>
            </a:extLst>
          </p:cNvPr>
          <p:cNvSpPr txBox="1"/>
          <p:nvPr/>
        </p:nvSpPr>
        <p:spPr>
          <a:xfrm>
            <a:off x="2262746" y="2493032"/>
            <a:ext cx="745037" cy="223064"/>
          </a:xfrm>
          <a:prstGeom prst="rect">
            <a:avLst/>
          </a:prstGeom>
          <a:noFill/>
        </p:spPr>
        <p:txBody>
          <a:bodyPr vert="horz" wrap="none" lIns="72000" tIns="72000" rIns="72000" bIns="72000" rtlCol="0" anchor="ctr">
            <a:noAutofit/>
          </a:bodyPr>
          <a:lstStyle/>
          <a:p>
            <a:r>
              <a:rPr lang="ja-JP" altLang="en-US" sz="1200" dirty="0">
                <a:latin typeface="Meiryo UI" panose="020B0604030504040204" pitchFamily="50" charset="-128"/>
                <a:ea typeface="Meiryo UI" panose="020B0604030504040204" pitchFamily="50" charset="-128"/>
              </a:rPr>
              <a:t>運用会社</a:t>
            </a: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信託銀行</a:t>
            </a:r>
            <a:r>
              <a:rPr lang="en-US" altLang="ja-JP" sz="1200" dirty="0">
                <a:latin typeface="Meiryo UI" panose="020B0604030504040204" pitchFamily="50" charset="-128"/>
                <a:ea typeface="Meiryo UI" panose="020B0604030504040204" pitchFamily="50" charset="-128"/>
              </a:rPr>
              <a:t>)</a:t>
            </a:r>
            <a:endParaRPr kumimoji="1" lang="ja-JP" altLang="en-US" sz="1200" dirty="0">
              <a:latin typeface="Meiryo UI" panose="020B0604030504040204" pitchFamily="50" charset="-128"/>
              <a:ea typeface="Meiryo UI" panose="020B0604030504040204" pitchFamily="50" charset="-128"/>
            </a:endParaRPr>
          </a:p>
        </p:txBody>
      </p:sp>
      <p:sp>
        <p:nvSpPr>
          <p:cNvPr id="55" name="正方形/長方形 364">
            <a:extLst>
              <a:ext uri="{FF2B5EF4-FFF2-40B4-BE49-F238E27FC236}">
                <a16:creationId xmlns:a16="http://schemas.microsoft.com/office/drawing/2014/main" id="{51B64A70-FB2B-8775-0488-10D6C18757B2}"/>
              </a:ext>
            </a:extLst>
          </p:cNvPr>
          <p:cNvSpPr>
            <a:spLocks noChangeArrowheads="1"/>
          </p:cNvSpPr>
          <p:nvPr/>
        </p:nvSpPr>
        <p:spPr bwMode="gray">
          <a:xfrm>
            <a:off x="2207658" y="3286695"/>
            <a:ext cx="1552346" cy="346114"/>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投資一任</a:t>
            </a:r>
          </a:p>
        </p:txBody>
      </p:sp>
      <p:sp>
        <p:nvSpPr>
          <p:cNvPr id="56" name="正方形/長方形 364">
            <a:extLst>
              <a:ext uri="{FF2B5EF4-FFF2-40B4-BE49-F238E27FC236}">
                <a16:creationId xmlns:a16="http://schemas.microsoft.com/office/drawing/2014/main" id="{57430916-A1A6-A3D8-245C-FB0028DB5F4A}"/>
              </a:ext>
            </a:extLst>
          </p:cNvPr>
          <p:cNvSpPr>
            <a:spLocks noChangeArrowheads="1"/>
          </p:cNvSpPr>
          <p:nvPr/>
        </p:nvSpPr>
        <p:spPr bwMode="gray">
          <a:xfrm>
            <a:off x="2207658" y="2859852"/>
            <a:ext cx="1552346" cy="346114"/>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投資信託</a:t>
            </a:r>
          </a:p>
        </p:txBody>
      </p:sp>
      <p:sp>
        <p:nvSpPr>
          <p:cNvPr id="57" name="正方形/長方形 364">
            <a:extLst>
              <a:ext uri="{FF2B5EF4-FFF2-40B4-BE49-F238E27FC236}">
                <a16:creationId xmlns:a16="http://schemas.microsoft.com/office/drawing/2014/main" id="{CD3776C9-CCB9-C490-65F3-BB3DCB060D33}"/>
              </a:ext>
            </a:extLst>
          </p:cNvPr>
          <p:cNvSpPr>
            <a:spLocks noChangeArrowheads="1"/>
          </p:cNvSpPr>
          <p:nvPr/>
        </p:nvSpPr>
        <p:spPr bwMode="gray">
          <a:xfrm>
            <a:off x="2209165" y="5302111"/>
            <a:ext cx="1733056" cy="540484"/>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受託部門</a:t>
            </a: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r>
              <a:rPr lang="ja-JP" altLang="en-US" sz="1100" dirty="0">
                <a:latin typeface="Meiryo UI" panose="020B0604030504040204" pitchFamily="50" charset="-128"/>
                <a:ea typeface="Meiryo UI" panose="020B0604030504040204" pitchFamily="50" charset="-128"/>
              </a:rPr>
              <a:t>（信託銀行の場合）</a:t>
            </a:r>
            <a:endParaRPr lang="ja-JP" altLang="en-US" dirty="0">
              <a:latin typeface="Meiryo UI" panose="020B0604030504040204" pitchFamily="50" charset="-128"/>
              <a:ea typeface="Meiryo UI" panose="020B0604030504040204" pitchFamily="50" charset="-128"/>
            </a:endParaRPr>
          </a:p>
        </p:txBody>
      </p:sp>
      <p:cxnSp>
        <p:nvCxnSpPr>
          <p:cNvPr id="62" name="直線矢印コネクタ 516">
            <a:extLst>
              <a:ext uri="{FF2B5EF4-FFF2-40B4-BE49-F238E27FC236}">
                <a16:creationId xmlns:a16="http://schemas.microsoft.com/office/drawing/2014/main" id="{3CBD0A63-EA71-DA3B-AB17-458487CBF410}"/>
              </a:ext>
            </a:extLst>
          </p:cNvPr>
          <p:cNvCxnSpPr>
            <a:cxnSpLocks noChangeShapeType="1"/>
          </p:cNvCxnSpPr>
          <p:nvPr/>
        </p:nvCxnSpPr>
        <p:spPr bwMode="gray">
          <a:xfrm flipH="1" flipV="1">
            <a:off x="3903193" y="2791054"/>
            <a:ext cx="2085967" cy="0"/>
          </a:xfrm>
          <a:prstGeom prst="straightConnector1">
            <a:avLst/>
          </a:prstGeom>
          <a:noFill/>
          <a:ln w="28575" algn="ctr">
            <a:solidFill>
              <a:srgbClr val="0000CC"/>
            </a:solidFill>
            <a:round/>
            <a:headEnd type="arrow" w="med" len="med"/>
            <a:tailEnd type="arrow" w="med" len="med"/>
          </a:ln>
          <a:extLst>
            <a:ext uri="{909E8E84-426E-40DD-AFC4-6F175D3DCCD1}">
              <a14:hiddenFill xmlns:a14="http://schemas.microsoft.com/office/drawing/2010/main">
                <a:noFill/>
              </a14:hiddenFill>
            </a:ext>
          </a:extLst>
        </p:spPr>
      </p:cxnSp>
      <p:cxnSp>
        <p:nvCxnSpPr>
          <p:cNvPr id="64" name="直線矢印コネクタ 516">
            <a:extLst>
              <a:ext uri="{FF2B5EF4-FFF2-40B4-BE49-F238E27FC236}">
                <a16:creationId xmlns:a16="http://schemas.microsoft.com/office/drawing/2014/main" id="{484E7EAC-28AB-DD51-6F3A-6C76679C23A3}"/>
              </a:ext>
            </a:extLst>
          </p:cNvPr>
          <p:cNvCxnSpPr>
            <a:cxnSpLocks noChangeShapeType="1"/>
            <a:stCxn id="65" idx="3"/>
            <a:endCxn id="103" idx="3"/>
          </p:cNvCxnSpPr>
          <p:nvPr/>
        </p:nvCxnSpPr>
        <p:spPr bwMode="gray">
          <a:xfrm>
            <a:off x="7691280" y="4703072"/>
            <a:ext cx="480750" cy="0"/>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65" name="正方形/長方形 364">
            <a:extLst>
              <a:ext uri="{FF2B5EF4-FFF2-40B4-BE49-F238E27FC236}">
                <a16:creationId xmlns:a16="http://schemas.microsoft.com/office/drawing/2014/main" id="{093D588D-FFF5-2004-15F9-97B9BB584312}"/>
              </a:ext>
            </a:extLst>
          </p:cNvPr>
          <p:cNvSpPr>
            <a:spLocks noChangeArrowheads="1"/>
          </p:cNvSpPr>
          <p:nvPr/>
        </p:nvSpPr>
        <p:spPr bwMode="gray">
          <a:xfrm>
            <a:off x="6124351" y="4127774"/>
            <a:ext cx="1566929" cy="1150596"/>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リテール営業部門</a:t>
            </a: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endParaRPr lang="ja-JP" altLang="en-US" dirty="0">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52B728A4-06D4-2EE5-F446-05DB37351CF0}"/>
              </a:ext>
            </a:extLst>
          </p:cNvPr>
          <p:cNvSpPr/>
          <p:nvPr/>
        </p:nvSpPr>
        <p:spPr>
          <a:xfrm>
            <a:off x="6124351" y="4131482"/>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4-B</a:t>
            </a:r>
            <a:endParaRPr kumimoji="1" lang="ja-JP" altLang="en-US" sz="1200" b="1" kern="0" dirty="0">
              <a:latin typeface="Meiryo UI" panose="020B0604030504040204" pitchFamily="50" charset="-128"/>
              <a:ea typeface="Meiryo UI" panose="020B0604030504040204" pitchFamily="50" charset="-128"/>
            </a:endParaRPr>
          </a:p>
        </p:txBody>
      </p:sp>
      <p:sp>
        <p:nvSpPr>
          <p:cNvPr id="70" name="正方形/長方形 364">
            <a:extLst>
              <a:ext uri="{FF2B5EF4-FFF2-40B4-BE49-F238E27FC236}">
                <a16:creationId xmlns:a16="http://schemas.microsoft.com/office/drawing/2014/main" id="{91BC1554-FA78-A9A1-3B5D-167CDD75FCE9}"/>
              </a:ext>
            </a:extLst>
          </p:cNvPr>
          <p:cNvSpPr>
            <a:spLocks noChangeArrowheads="1"/>
          </p:cNvSpPr>
          <p:nvPr/>
        </p:nvSpPr>
        <p:spPr bwMode="gray">
          <a:xfrm>
            <a:off x="6235662" y="4661994"/>
            <a:ext cx="1344307" cy="225593"/>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ウェルス</a:t>
            </a:r>
          </a:p>
        </p:txBody>
      </p:sp>
      <p:sp>
        <p:nvSpPr>
          <p:cNvPr id="71" name="正方形/長方形 364">
            <a:extLst>
              <a:ext uri="{FF2B5EF4-FFF2-40B4-BE49-F238E27FC236}">
                <a16:creationId xmlns:a16="http://schemas.microsoft.com/office/drawing/2014/main" id="{35A11242-9E17-D593-8A9F-191F187C623C}"/>
              </a:ext>
            </a:extLst>
          </p:cNvPr>
          <p:cNvSpPr>
            <a:spLocks noChangeArrowheads="1"/>
          </p:cNvSpPr>
          <p:nvPr/>
        </p:nvSpPr>
        <p:spPr bwMode="gray">
          <a:xfrm>
            <a:off x="6235662" y="4967796"/>
            <a:ext cx="1344307" cy="225593"/>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一般投資家</a:t>
            </a:r>
          </a:p>
        </p:txBody>
      </p:sp>
      <p:sp>
        <p:nvSpPr>
          <p:cNvPr id="75" name="正方形/長方形 364">
            <a:extLst>
              <a:ext uri="{FF2B5EF4-FFF2-40B4-BE49-F238E27FC236}">
                <a16:creationId xmlns:a16="http://schemas.microsoft.com/office/drawing/2014/main" id="{0B5F4070-E803-A0B3-ACB3-B2EBF3C96408}"/>
              </a:ext>
            </a:extLst>
          </p:cNvPr>
          <p:cNvSpPr>
            <a:spLocks noChangeArrowheads="1"/>
          </p:cNvSpPr>
          <p:nvPr/>
        </p:nvSpPr>
        <p:spPr bwMode="gray">
          <a:xfrm>
            <a:off x="6124351" y="2835331"/>
            <a:ext cx="1566929" cy="1150596"/>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セールス＆</a:t>
            </a: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r>
              <a:rPr lang="ja-JP" altLang="en-US" dirty="0">
                <a:latin typeface="Meiryo UI" panose="020B0604030504040204" pitchFamily="50" charset="-128"/>
                <a:ea typeface="Meiryo UI" panose="020B0604030504040204" pitchFamily="50" charset="-128"/>
              </a:rPr>
              <a:t>トレーディング</a:t>
            </a: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r>
              <a:rPr lang="ja-JP" altLang="en-US" dirty="0">
                <a:latin typeface="Meiryo UI" panose="020B0604030504040204" pitchFamily="50" charset="-128"/>
                <a:ea typeface="Meiryo UI" panose="020B0604030504040204" pitchFamily="50" charset="-128"/>
              </a:rPr>
              <a:t>部門</a:t>
            </a:r>
            <a:endParaRPr lang="ja-JP" altLang="en-US" sz="1100" dirty="0">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57832414-5EE9-E960-3F31-0148331D400A}"/>
              </a:ext>
            </a:extLst>
          </p:cNvPr>
          <p:cNvSpPr/>
          <p:nvPr/>
        </p:nvSpPr>
        <p:spPr>
          <a:xfrm>
            <a:off x="6124351" y="2835331"/>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4-</a:t>
            </a:r>
            <a:r>
              <a:rPr lang="en-US" altLang="ja-JP" sz="1200" b="1" kern="0" dirty="0">
                <a:latin typeface="Meiryo UI" panose="020B0604030504040204" pitchFamily="50" charset="-128"/>
                <a:ea typeface="Meiryo UI" panose="020B0604030504040204" pitchFamily="50" charset="-128"/>
              </a:rPr>
              <a:t>A</a:t>
            </a:r>
            <a:endParaRPr kumimoji="1" lang="ja-JP" altLang="en-US" sz="1200" b="1" kern="0" dirty="0">
              <a:latin typeface="Meiryo UI" panose="020B0604030504040204" pitchFamily="50" charset="-128"/>
              <a:ea typeface="Meiryo UI" panose="020B0604030504040204" pitchFamily="50" charset="-128"/>
            </a:endParaRPr>
          </a:p>
        </p:txBody>
      </p:sp>
      <p:cxnSp>
        <p:nvCxnSpPr>
          <p:cNvPr id="85" name="直線矢印コネクタ 516">
            <a:extLst>
              <a:ext uri="{FF2B5EF4-FFF2-40B4-BE49-F238E27FC236}">
                <a16:creationId xmlns:a16="http://schemas.microsoft.com/office/drawing/2014/main" id="{77D62CC1-3867-974B-D3FE-91F04FD041A2}"/>
              </a:ext>
            </a:extLst>
          </p:cNvPr>
          <p:cNvCxnSpPr>
            <a:cxnSpLocks noChangeShapeType="1"/>
          </p:cNvCxnSpPr>
          <p:nvPr/>
        </p:nvCxnSpPr>
        <p:spPr bwMode="gray">
          <a:xfrm flipH="1" flipV="1">
            <a:off x="4080247" y="5627016"/>
            <a:ext cx="408207" cy="3322"/>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cxnSp>
        <p:nvCxnSpPr>
          <p:cNvPr id="86" name="直線矢印コネクタ 516">
            <a:extLst>
              <a:ext uri="{FF2B5EF4-FFF2-40B4-BE49-F238E27FC236}">
                <a16:creationId xmlns:a16="http://schemas.microsoft.com/office/drawing/2014/main" id="{0227A6BA-2BC4-847E-19B5-A50837E9EBC1}"/>
              </a:ext>
            </a:extLst>
          </p:cNvPr>
          <p:cNvCxnSpPr>
            <a:cxnSpLocks noChangeShapeType="1"/>
          </p:cNvCxnSpPr>
          <p:nvPr/>
        </p:nvCxnSpPr>
        <p:spPr bwMode="gray">
          <a:xfrm flipH="1">
            <a:off x="5627524" y="5620148"/>
            <a:ext cx="490019" cy="0"/>
          </a:xfrm>
          <a:prstGeom prst="straightConnector1">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sp>
        <p:nvSpPr>
          <p:cNvPr id="97" name="正方形/長方形 96">
            <a:extLst>
              <a:ext uri="{FF2B5EF4-FFF2-40B4-BE49-F238E27FC236}">
                <a16:creationId xmlns:a16="http://schemas.microsoft.com/office/drawing/2014/main" id="{772A2229-BD59-B1AB-8F9E-5C491BB8AA86}"/>
              </a:ext>
            </a:extLst>
          </p:cNvPr>
          <p:cNvSpPr/>
          <p:nvPr/>
        </p:nvSpPr>
        <p:spPr>
          <a:xfrm>
            <a:off x="3898904" y="4762455"/>
            <a:ext cx="180628" cy="139174"/>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B03DAF3F-B7D0-C291-1C42-20E502038222}"/>
              </a:ext>
            </a:extLst>
          </p:cNvPr>
          <p:cNvSpPr/>
          <p:nvPr/>
        </p:nvSpPr>
        <p:spPr>
          <a:xfrm>
            <a:off x="5988423" y="2902399"/>
            <a:ext cx="180628" cy="139174"/>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cxnSp>
        <p:nvCxnSpPr>
          <p:cNvPr id="108" name="直線矢印コネクタ 516">
            <a:extLst>
              <a:ext uri="{FF2B5EF4-FFF2-40B4-BE49-F238E27FC236}">
                <a16:creationId xmlns:a16="http://schemas.microsoft.com/office/drawing/2014/main" id="{C0A67F9F-577E-2D7F-652C-9543E57CEFC6}"/>
              </a:ext>
            </a:extLst>
          </p:cNvPr>
          <p:cNvCxnSpPr>
            <a:cxnSpLocks noChangeShapeType="1"/>
            <a:stCxn id="129" idx="3"/>
          </p:cNvCxnSpPr>
          <p:nvPr/>
        </p:nvCxnSpPr>
        <p:spPr bwMode="gray">
          <a:xfrm flipV="1">
            <a:off x="5627548" y="3736255"/>
            <a:ext cx="360000" cy="0"/>
          </a:xfrm>
          <a:prstGeom prst="straightConnector1">
            <a:avLst/>
          </a:prstGeom>
          <a:noFill/>
          <a:ln w="28575" algn="ctr">
            <a:solidFill>
              <a:srgbClr val="0000CC"/>
            </a:solidFill>
            <a:round/>
            <a:headEnd type="arrow" w="med" len="med"/>
            <a:tailEnd type="arrow" w="med" len="med"/>
          </a:ln>
          <a:extLst>
            <a:ext uri="{909E8E84-426E-40DD-AFC4-6F175D3DCCD1}">
              <a14:hiddenFill xmlns:a14="http://schemas.microsoft.com/office/drawing/2010/main">
                <a:noFill/>
              </a14:hiddenFill>
            </a:ext>
          </a:extLst>
        </p:spPr>
      </p:cxnSp>
      <p:sp>
        <p:nvSpPr>
          <p:cNvPr id="116" name="正方形/長方形 115">
            <a:extLst>
              <a:ext uri="{FF2B5EF4-FFF2-40B4-BE49-F238E27FC236}">
                <a16:creationId xmlns:a16="http://schemas.microsoft.com/office/drawing/2014/main" id="{986CDF2B-E87B-610D-37A1-5F7A0845C918}"/>
              </a:ext>
            </a:extLst>
          </p:cNvPr>
          <p:cNvSpPr/>
          <p:nvPr/>
        </p:nvSpPr>
        <p:spPr>
          <a:xfrm>
            <a:off x="2207658" y="2859852"/>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1-A</a:t>
            </a:r>
            <a:endParaRPr kumimoji="1" lang="ja-JP" altLang="en-US" sz="1200" b="1" kern="0" dirty="0">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2CAA4E1A-85B0-4F36-28A2-E9611BA2FF33}"/>
              </a:ext>
            </a:extLst>
          </p:cNvPr>
          <p:cNvSpPr/>
          <p:nvPr/>
        </p:nvSpPr>
        <p:spPr>
          <a:xfrm>
            <a:off x="2207658" y="3286695"/>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1-B</a:t>
            </a:r>
          </a:p>
        </p:txBody>
      </p:sp>
      <p:sp>
        <p:nvSpPr>
          <p:cNvPr id="5" name="正方形/長方形 364">
            <a:extLst>
              <a:ext uri="{FF2B5EF4-FFF2-40B4-BE49-F238E27FC236}">
                <a16:creationId xmlns:a16="http://schemas.microsoft.com/office/drawing/2014/main" id="{643A1417-6884-667B-6165-88A2D2439DE6}"/>
              </a:ext>
            </a:extLst>
          </p:cNvPr>
          <p:cNvSpPr>
            <a:spLocks noChangeArrowheads="1"/>
          </p:cNvSpPr>
          <p:nvPr/>
        </p:nvSpPr>
        <p:spPr bwMode="gray">
          <a:xfrm>
            <a:off x="2207658" y="3713538"/>
            <a:ext cx="1552346" cy="346114"/>
          </a:xfrm>
          <a:prstGeom prst="rect">
            <a:avLst/>
          </a:prstGeom>
          <a:solidFill>
            <a:schemeClr val="bg1"/>
          </a:solidFill>
          <a:ln w="9525" algn="ctr">
            <a:solidFill>
              <a:schemeClr val="bg2">
                <a:lumMod val="50000"/>
              </a:schemeClr>
            </a:solidFill>
            <a:prstDash val="dash"/>
            <a:miter lim="800000"/>
            <a:headEnd/>
            <a:tailEnd/>
          </a:ln>
          <a:effectLst/>
        </p:spPr>
        <p:txBody>
          <a:bodyPr vert="horz" lIns="36000" tIns="36000" rIns="36000" bIns="36000" anchor="ctr"/>
          <a:lstStyle/>
          <a:p>
            <a:pPr algn="ctr" eaLnBrk="0" hangingPunct="0">
              <a:spcBef>
                <a:spcPts val="0"/>
              </a:spcBef>
            </a:pPr>
            <a:r>
              <a:rPr lang="ja-JP" altLang="en-US">
                <a:latin typeface="Meiryo UI" panose="020B0604030504040204" pitchFamily="50" charset="-128"/>
                <a:ea typeface="Meiryo UI" panose="020B0604030504040204" pitchFamily="50" charset="-128"/>
              </a:rPr>
              <a:t>自己勘定取引</a:t>
            </a:r>
            <a:endParaRPr lang="en-US" altLang="ja-JP" dirty="0">
              <a:latin typeface="Meiryo UI" panose="020B0604030504040204" pitchFamily="50" charset="-128"/>
              <a:ea typeface="Meiryo UI" panose="020B0604030504040204" pitchFamily="50" charset="-128"/>
            </a:endParaRPr>
          </a:p>
        </p:txBody>
      </p:sp>
      <p:sp>
        <p:nvSpPr>
          <p:cNvPr id="6" name="楕円 5">
            <a:extLst>
              <a:ext uri="{FF2B5EF4-FFF2-40B4-BE49-F238E27FC236}">
                <a16:creationId xmlns:a16="http://schemas.microsoft.com/office/drawing/2014/main" id="{975AA32A-F001-1F35-3E22-2CAD3E27BC8D}"/>
              </a:ext>
            </a:extLst>
          </p:cNvPr>
          <p:cNvSpPr/>
          <p:nvPr/>
        </p:nvSpPr>
        <p:spPr>
          <a:xfrm>
            <a:off x="2879609" y="4317470"/>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b</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7" name="楕円 6">
            <a:extLst>
              <a:ext uri="{FF2B5EF4-FFF2-40B4-BE49-F238E27FC236}">
                <a16:creationId xmlns:a16="http://schemas.microsoft.com/office/drawing/2014/main" id="{6510F7DA-C8FF-090A-CA78-354964C7A339}"/>
              </a:ext>
            </a:extLst>
          </p:cNvPr>
          <p:cNvSpPr/>
          <p:nvPr/>
        </p:nvSpPr>
        <p:spPr>
          <a:xfrm>
            <a:off x="4838176" y="2515828"/>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c</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9" name="楕円 8">
            <a:extLst>
              <a:ext uri="{FF2B5EF4-FFF2-40B4-BE49-F238E27FC236}">
                <a16:creationId xmlns:a16="http://schemas.microsoft.com/office/drawing/2014/main" id="{F0727F0E-B82A-24F6-5488-6C3921D7FCCA}"/>
              </a:ext>
            </a:extLst>
          </p:cNvPr>
          <p:cNvSpPr/>
          <p:nvPr/>
        </p:nvSpPr>
        <p:spPr>
          <a:xfrm>
            <a:off x="3880722" y="4315282"/>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e</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11" name="楕円 10">
            <a:extLst>
              <a:ext uri="{FF2B5EF4-FFF2-40B4-BE49-F238E27FC236}">
                <a16:creationId xmlns:a16="http://schemas.microsoft.com/office/drawing/2014/main" id="{206E3107-94B7-C007-7A74-8B745F711A61}"/>
              </a:ext>
            </a:extLst>
          </p:cNvPr>
          <p:cNvSpPr/>
          <p:nvPr/>
        </p:nvSpPr>
        <p:spPr>
          <a:xfrm>
            <a:off x="4146856" y="5351207"/>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f</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13" name="楕円 12">
            <a:extLst>
              <a:ext uri="{FF2B5EF4-FFF2-40B4-BE49-F238E27FC236}">
                <a16:creationId xmlns:a16="http://schemas.microsoft.com/office/drawing/2014/main" id="{7AF0B2CF-93F4-ADCD-7155-C37F8CAB6D74}"/>
              </a:ext>
            </a:extLst>
          </p:cNvPr>
          <p:cNvSpPr/>
          <p:nvPr/>
        </p:nvSpPr>
        <p:spPr>
          <a:xfrm>
            <a:off x="4944214" y="4057562"/>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g</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15" name="楕円 14">
            <a:extLst>
              <a:ext uri="{FF2B5EF4-FFF2-40B4-BE49-F238E27FC236}">
                <a16:creationId xmlns:a16="http://schemas.microsoft.com/office/drawing/2014/main" id="{B126EC15-F479-ABDC-7707-BCE2B5BD76EF}"/>
              </a:ext>
            </a:extLst>
          </p:cNvPr>
          <p:cNvSpPr/>
          <p:nvPr/>
        </p:nvSpPr>
        <p:spPr>
          <a:xfrm>
            <a:off x="4944214" y="4973610"/>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200" b="1" kern="0" dirty="0">
                <a:solidFill>
                  <a:schemeClr val="bg1"/>
                </a:solidFill>
                <a:latin typeface="Meiryo UI" panose="020B0604030504040204" pitchFamily="50" charset="-128"/>
                <a:ea typeface="Meiryo UI" panose="020B0604030504040204" pitchFamily="50" charset="-128"/>
              </a:rPr>
              <a:t>h</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16" name="楕円 15">
            <a:extLst>
              <a:ext uri="{FF2B5EF4-FFF2-40B4-BE49-F238E27FC236}">
                <a16:creationId xmlns:a16="http://schemas.microsoft.com/office/drawing/2014/main" id="{BB63CE2F-CAC3-F7A3-CDAA-52FCE80B86B9}"/>
              </a:ext>
            </a:extLst>
          </p:cNvPr>
          <p:cNvSpPr/>
          <p:nvPr/>
        </p:nvSpPr>
        <p:spPr>
          <a:xfrm>
            <a:off x="5706305" y="3453877"/>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200" b="1" kern="0" dirty="0">
                <a:solidFill>
                  <a:schemeClr val="bg1"/>
                </a:solidFill>
                <a:latin typeface="Meiryo UI" panose="020B0604030504040204" pitchFamily="50" charset="-128"/>
                <a:ea typeface="Meiryo UI" panose="020B0604030504040204" pitchFamily="50" charset="-128"/>
              </a:rPr>
              <a:t>d</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FAA15AA9-8FD0-21C2-63AE-778A594D549F}"/>
              </a:ext>
            </a:extLst>
          </p:cNvPr>
          <p:cNvSpPr/>
          <p:nvPr/>
        </p:nvSpPr>
        <p:spPr>
          <a:xfrm>
            <a:off x="5783017" y="5351207"/>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200" b="1" kern="0" dirty="0">
                <a:solidFill>
                  <a:schemeClr val="bg1"/>
                </a:solidFill>
                <a:latin typeface="Meiryo UI" panose="020B0604030504040204" pitchFamily="50" charset="-128"/>
                <a:ea typeface="Meiryo UI" panose="020B0604030504040204" pitchFamily="50" charset="-128"/>
              </a:rPr>
              <a:t>j</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18" name="楕円 17">
            <a:extLst>
              <a:ext uri="{FF2B5EF4-FFF2-40B4-BE49-F238E27FC236}">
                <a16:creationId xmlns:a16="http://schemas.microsoft.com/office/drawing/2014/main" id="{C8BF27E6-4FD0-2F95-1CAA-F28AF13A56ED}"/>
              </a:ext>
            </a:extLst>
          </p:cNvPr>
          <p:cNvSpPr/>
          <p:nvPr/>
        </p:nvSpPr>
        <p:spPr>
          <a:xfrm>
            <a:off x="7854847" y="4455733"/>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err="1">
                <a:solidFill>
                  <a:schemeClr val="bg1"/>
                </a:solidFill>
                <a:latin typeface="Meiryo UI" panose="020B0604030504040204" pitchFamily="50" charset="-128"/>
                <a:ea typeface="Meiryo UI" panose="020B0604030504040204" pitchFamily="50" charset="-128"/>
              </a:rPr>
              <a:t>i</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23" name="楕円 22">
            <a:extLst>
              <a:ext uri="{FF2B5EF4-FFF2-40B4-BE49-F238E27FC236}">
                <a16:creationId xmlns:a16="http://schemas.microsoft.com/office/drawing/2014/main" id="{8238B8D2-FF9A-5FB5-E0B2-FF752B75D2F4}"/>
              </a:ext>
            </a:extLst>
          </p:cNvPr>
          <p:cNvSpPr/>
          <p:nvPr/>
        </p:nvSpPr>
        <p:spPr>
          <a:xfrm>
            <a:off x="1764407" y="2896668"/>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a</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4" name="正方形/長方形 364">
            <a:extLst>
              <a:ext uri="{FF2B5EF4-FFF2-40B4-BE49-F238E27FC236}">
                <a16:creationId xmlns:a16="http://schemas.microsoft.com/office/drawing/2014/main" id="{690585F6-8BF4-57F1-ADC2-41B6130C7797}"/>
              </a:ext>
            </a:extLst>
          </p:cNvPr>
          <p:cNvSpPr>
            <a:spLocks noChangeArrowheads="1"/>
          </p:cNvSpPr>
          <p:nvPr/>
        </p:nvSpPr>
        <p:spPr bwMode="gray">
          <a:xfrm>
            <a:off x="6124351" y="5436562"/>
            <a:ext cx="1566929" cy="492982"/>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a:spcBef>
                <a:spcPts val="0"/>
              </a:spcBef>
            </a:pPr>
            <a:r>
              <a:rPr lang="ja-JP" altLang="en-US" sz="1200">
                <a:latin typeface="Meiryo UI"/>
                <a:ea typeface="Meiryo UI"/>
              </a:rPr>
              <a:t>バックオフィス部門</a:t>
            </a:r>
            <a:endParaRPr lang="ja-JP" altLang="en-US"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08428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9D967-35B8-32B1-DD4C-72EBD90DD66D}"/>
            </a:ext>
          </a:extLst>
        </p:cNvPr>
        <p:cNvGrpSpPr/>
        <p:nvPr/>
      </p:nvGrpSpPr>
      <p:grpSpPr>
        <a:xfrm>
          <a:off x="0" y="0"/>
          <a:ext cx="0" cy="0"/>
          <a:chOff x="0" y="0"/>
          <a:chExt cx="0" cy="0"/>
        </a:xfrm>
      </p:grpSpPr>
      <p:sp>
        <p:nvSpPr>
          <p:cNvPr id="24578" name="正方形/長方形 153">
            <a:extLst>
              <a:ext uri="{FF2B5EF4-FFF2-40B4-BE49-F238E27FC236}">
                <a16:creationId xmlns:a16="http://schemas.microsoft.com/office/drawing/2014/main" id="{5D8F2F57-DFC5-B05F-180B-72159ADC3667}"/>
              </a:ext>
            </a:extLst>
          </p:cNvPr>
          <p:cNvSpPr>
            <a:spLocks noChangeArrowheads="1"/>
          </p:cNvSpPr>
          <p:nvPr/>
        </p:nvSpPr>
        <p:spPr bwMode="gray">
          <a:xfrm>
            <a:off x="1883796" y="1700760"/>
            <a:ext cx="6164836" cy="4788779"/>
          </a:xfrm>
          <a:prstGeom prst="rect">
            <a:avLst/>
          </a:prstGeom>
          <a:solidFill>
            <a:schemeClr val="accent4">
              <a:lumMod val="20000"/>
              <a:lumOff val="80000"/>
            </a:schemeClr>
          </a:solidFill>
          <a:ln w="38100" algn="ctr">
            <a:solidFill>
              <a:schemeClr val="accent3"/>
            </a:solidFill>
            <a:miter lim="800000"/>
            <a:headEnd/>
            <a:tailEnd/>
          </a:ln>
        </p:spPr>
        <p:txBody>
          <a:bodyPr wrap="none" lIns="108000" tIns="72000" rIns="36000" bIns="36000"/>
          <a:lstStyle/>
          <a:p>
            <a:pPr eaLnBrk="0" hangingPunct="0">
              <a:spcBef>
                <a:spcPct val="50000"/>
              </a:spcBef>
            </a:pPr>
            <a:r>
              <a:rPr kumimoji="1" lang="ja-JP" altLang="en-US" b="0" dirty="0">
                <a:latin typeface="Meiryo UI" panose="020B0604030504040204" pitchFamily="50" charset="-128"/>
                <a:ea typeface="Meiryo UI" panose="020B0604030504040204" pitchFamily="50" charset="-128"/>
              </a:rPr>
              <a:t>証券市場</a:t>
            </a:r>
            <a:endParaRPr kumimoji="1" lang="en-US" altLang="ja-JP" b="0" dirty="0">
              <a:latin typeface="Meiryo UI" panose="020B0604030504040204" pitchFamily="50" charset="-128"/>
              <a:ea typeface="Meiryo UI" panose="020B0604030504040204" pitchFamily="50" charset="-128"/>
            </a:endParaRPr>
          </a:p>
        </p:txBody>
      </p:sp>
      <p:sp>
        <p:nvSpPr>
          <p:cNvPr id="39" name="正方形/長方形 463">
            <a:extLst>
              <a:ext uri="{FF2B5EF4-FFF2-40B4-BE49-F238E27FC236}">
                <a16:creationId xmlns:a16="http://schemas.microsoft.com/office/drawing/2014/main" id="{22D88948-6B39-F397-35FD-7610543229F0}"/>
              </a:ext>
            </a:extLst>
          </p:cNvPr>
          <p:cNvSpPr>
            <a:spLocks noChangeArrowheads="1"/>
          </p:cNvSpPr>
          <p:nvPr/>
        </p:nvSpPr>
        <p:spPr bwMode="gray">
          <a:xfrm>
            <a:off x="4338618" y="3131198"/>
            <a:ext cx="1427192" cy="3021519"/>
          </a:xfrm>
          <a:prstGeom prst="rect">
            <a:avLst/>
          </a:prstGeom>
          <a:solidFill>
            <a:schemeClr val="bg1">
              <a:lumMod val="95000"/>
            </a:schemeClr>
          </a:solidFill>
          <a:ln w="19050" algn="ctr">
            <a:solidFill>
              <a:schemeClr val="bg1">
                <a:lumMod val="50000"/>
              </a:schemeClr>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graphicFrame>
        <p:nvGraphicFramePr>
          <p:cNvPr id="8" name="オブジェクト 7" hidden="1">
            <a:extLst>
              <a:ext uri="{FF2B5EF4-FFF2-40B4-BE49-F238E27FC236}">
                <a16:creationId xmlns:a16="http://schemas.microsoft.com/office/drawing/2014/main" id="{743EE61F-A6AC-D448-F9A4-703E2C1DE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8" name="オブジェクト 7" hidden="1">
                        <a:extLst>
                          <a:ext uri="{FF2B5EF4-FFF2-40B4-BE49-F238E27FC236}">
                            <a16:creationId xmlns:a16="http://schemas.microsoft.com/office/drawing/2014/main" id="{743EE61F-A6AC-D448-F9A4-703E2C1DE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82" name="タイトル 1">
            <a:extLst>
              <a:ext uri="{FF2B5EF4-FFF2-40B4-BE49-F238E27FC236}">
                <a16:creationId xmlns:a16="http://schemas.microsoft.com/office/drawing/2014/main" id="{A48676B0-341B-DF02-52AB-469E430499A8}"/>
              </a:ext>
            </a:extLst>
          </p:cNvPr>
          <p:cNvSpPr>
            <a:spLocks noGrp="1"/>
          </p:cNvSpPr>
          <p:nvPr>
            <p:ph type="title"/>
          </p:nvPr>
        </p:nvSpPr>
        <p:spPr bwMode="gray"/>
        <p:txBody>
          <a:bodyPr vert="horz" lIns="0" tIns="0" rIns="0" bIns="0" rtlCol="0" anchor="b" anchorCtr="0">
            <a:noAutofit/>
          </a:bodyPr>
          <a:lstStyle/>
          <a:p>
            <a:r>
              <a:rPr lang="en-US" altLang="ja-JP" dirty="0"/>
              <a:t>MUFG</a:t>
            </a:r>
            <a:r>
              <a:rPr lang="ja-JP" altLang="en-US" dirty="0"/>
              <a:t>系列会社の全体像</a:t>
            </a:r>
          </a:p>
        </p:txBody>
      </p:sp>
      <p:sp>
        <p:nvSpPr>
          <p:cNvPr id="24583" name="コンテンツ プレースホルダ 2">
            <a:extLst>
              <a:ext uri="{FF2B5EF4-FFF2-40B4-BE49-F238E27FC236}">
                <a16:creationId xmlns:a16="http://schemas.microsoft.com/office/drawing/2014/main" id="{E0A466F0-9D4D-397C-FB8C-9CD713FED48A}"/>
              </a:ext>
            </a:extLst>
          </p:cNvPr>
          <p:cNvSpPr>
            <a:spLocks noGrp="1"/>
          </p:cNvSpPr>
          <p:nvPr>
            <p:ph type="body" idx="12"/>
          </p:nvPr>
        </p:nvSpPr>
        <p:spPr bwMode="gray"/>
        <p:txBody>
          <a:bodyPr vert="horz" lIns="0" tIns="0" rIns="0" bIns="0" rtlCol="0" anchor="t">
            <a:noAutofit/>
          </a:bodyPr>
          <a:lstStyle/>
          <a:p>
            <a:r>
              <a:rPr lang="ja-JP" altLang="en-US" dirty="0"/>
              <a:t>三菱グループは、運用・管理から市場アクセスまで、バイサイドとセルサイド双方の機能をフルラインで備えた数少ない金融グループである。</a:t>
            </a:r>
            <a:endParaRPr lang="en-US" altLang="ja-JP" dirty="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2C0A10A6-7F99-D2F4-DCB3-56C76DADADE2}"/>
              </a:ext>
            </a:extLst>
          </p:cNvPr>
          <p:cNvSpPr>
            <a:spLocks noGrp="1"/>
          </p:cNvSpPr>
          <p:nvPr>
            <p:ph type="body" sz="quarter" idx="13"/>
          </p:nvPr>
        </p:nvSpPr>
        <p:spPr/>
        <p:txBody>
          <a:bodyPr/>
          <a:lstStyle/>
          <a:p>
            <a:r>
              <a:rPr lang="en-US" altLang="ja-JP" dirty="0"/>
              <a:t>1. </a:t>
            </a:r>
            <a:r>
              <a:rPr lang="ja-JP" altLang="en-US" dirty="0"/>
              <a:t>業界の全体像</a:t>
            </a:r>
          </a:p>
        </p:txBody>
      </p:sp>
      <p:sp>
        <p:nvSpPr>
          <p:cNvPr id="24579" name="正方形/長方形 450">
            <a:extLst>
              <a:ext uri="{FF2B5EF4-FFF2-40B4-BE49-F238E27FC236}">
                <a16:creationId xmlns:a16="http://schemas.microsoft.com/office/drawing/2014/main" id="{06FBC211-B56A-F6CE-FF67-07AE72B8776D}"/>
              </a:ext>
            </a:extLst>
          </p:cNvPr>
          <p:cNvSpPr>
            <a:spLocks noChangeArrowheads="1"/>
          </p:cNvSpPr>
          <p:nvPr/>
        </p:nvSpPr>
        <p:spPr bwMode="gray">
          <a:xfrm>
            <a:off x="1967560" y="2069345"/>
            <a:ext cx="2247390" cy="4309127"/>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バイサイド（</a:t>
            </a:r>
            <a:r>
              <a:rPr lang="en-US" altLang="ja-JP" sz="1200" dirty="0">
                <a:latin typeface="Meiryo UI" panose="020B0604030504040204" pitchFamily="50" charset="-128"/>
                <a:ea typeface="Meiryo UI" panose="020B0604030504040204" pitchFamily="50" charset="-128"/>
              </a:rPr>
              <a:t>”Buy” side</a:t>
            </a:r>
            <a:r>
              <a:rPr lang="ja-JP" altLang="en-US" sz="1200" dirty="0">
                <a:latin typeface="Meiryo UI" panose="020B0604030504040204" pitchFamily="50" charset="-128"/>
                <a:ea typeface="Meiryo UI" panose="020B0604030504040204" pitchFamily="50" charset="-128"/>
              </a:rPr>
              <a:t>）</a:t>
            </a:r>
          </a:p>
        </p:txBody>
      </p:sp>
      <p:sp>
        <p:nvSpPr>
          <p:cNvPr id="24580" name="正方形/長方形 451">
            <a:extLst>
              <a:ext uri="{FF2B5EF4-FFF2-40B4-BE49-F238E27FC236}">
                <a16:creationId xmlns:a16="http://schemas.microsoft.com/office/drawing/2014/main" id="{8EB91A42-01F8-F123-A2FE-DC516C269C10}"/>
              </a:ext>
            </a:extLst>
          </p:cNvPr>
          <p:cNvSpPr>
            <a:spLocks noChangeArrowheads="1"/>
          </p:cNvSpPr>
          <p:nvPr/>
        </p:nvSpPr>
        <p:spPr bwMode="gray">
          <a:xfrm>
            <a:off x="5857039" y="2072200"/>
            <a:ext cx="2107831" cy="4306272"/>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セルサイド（</a:t>
            </a:r>
            <a:r>
              <a:rPr lang="en-US" altLang="ja-JP" sz="1200" dirty="0">
                <a:latin typeface="Meiryo UI" panose="020B0604030504040204" pitchFamily="50" charset="-128"/>
                <a:ea typeface="Meiryo UI" panose="020B0604030504040204" pitchFamily="50" charset="-128"/>
              </a:rPr>
              <a:t>”Sell” side</a:t>
            </a:r>
            <a:r>
              <a:rPr lang="ja-JP" altLang="en-US" sz="1200" dirty="0">
                <a:latin typeface="Meiryo UI" panose="020B0604030504040204" pitchFamily="50" charset="-128"/>
                <a:ea typeface="Meiryo UI" panose="020B0604030504040204" pitchFamily="50" charset="-128"/>
              </a:rPr>
              <a:t>）</a:t>
            </a:r>
          </a:p>
        </p:txBody>
      </p:sp>
      <p:sp>
        <p:nvSpPr>
          <p:cNvPr id="24585" name="正方形/長方形 363">
            <a:extLst>
              <a:ext uri="{FF2B5EF4-FFF2-40B4-BE49-F238E27FC236}">
                <a16:creationId xmlns:a16="http://schemas.microsoft.com/office/drawing/2014/main" id="{C5A7FB10-2A07-745E-67A0-9299A8A36B22}"/>
              </a:ext>
            </a:extLst>
          </p:cNvPr>
          <p:cNvSpPr>
            <a:spLocks noChangeArrowheads="1"/>
          </p:cNvSpPr>
          <p:nvPr/>
        </p:nvSpPr>
        <p:spPr bwMode="gray">
          <a:xfrm>
            <a:off x="289739" y="1700760"/>
            <a:ext cx="1458695" cy="4788779"/>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defRPr/>
            </a:pPr>
            <a:r>
              <a:rPr kumimoji="1" lang="ja-JP" altLang="en-US" b="0" dirty="0">
                <a:latin typeface="Meiryo UI" panose="020B0604030504040204" pitchFamily="50" charset="-128"/>
                <a:ea typeface="Meiryo UI" panose="020B0604030504040204" pitchFamily="50" charset="-128"/>
              </a:rPr>
              <a:t>顧客</a:t>
            </a:r>
            <a:endParaRPr kumimoji="1" lang="en-US" altLang="ja-JP" b="0" dirty="0">
              <a:latin typeface="Meiryo UI" panose="020B0604030504040204" pitchFamily="50" charset="-128"/>
              <a:ea typeface="Meiryo UI" panose="020B0604030504040204" pitchFamily="50" charset="-128"/>
            </a:endParaRPr>
          </a:p>
        </p:txBody>
      </p:sp>
      <p:cxnSp>
        <p:nvCxnSpPr>
          <p:cNvPr id="134" name="直線矢印コネクタ 132">
            <a:extLst>
              <a:ext uri="{FF2B5EF4-FFF2-40B4-BE49-F238E27FC236}">
                <a16:creationId xmlns:a16="http://schemas.microsoft.com/office/drawing/2014/main" id="{8E26CA28-D028-767F-C6E7-8C5F5E2474B8}"/>
              </a:ext>
            </a:extLst>
          </p:cNvPr>
          <p:cNvCxnSpPr>
            <a:cxnSpLocks noChangeShapeType="1"/>
            <a:stCxn id="131" idx="0"/>
            <a:endCxn id="130" idx="2"/>
          </p:cNvCxnSpPr>
          <p:nvPr/>
        </p:nvCxnSpPr>
        <p:spPr bwMode="gray">
          <a:xfrm flipV="1">
            <a:off x="5052214" y="4939325"/>
            <a:ext cx="0" cy="388705"/>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grpSp>
        <p:nvGrpSpPr>
          <p:cNvPr id="12" name="グループ化 11">
            <a:extLst>
              <a:ext uri="{FF2B5EF4-FFF2-40B4-BE49-F238E27FC236}">
                <a16:creationId xmlns:a16="http://schemas.microsoft.com/office/drawing/2014/main" id="{8011D2A4-2BC8-B2C0-D7D0-F2FEB1EA0AC7}"/>
              </a:ext>
            </a:extLst>
          </p:cNvPr>
          <p:cNvGrpSpPr/>
          <p:nvPr/>
        </p:nvGrpSpPr>
        <p:grpSpPr>
          <a:xfrm>
            <a:off x="365742" y="2550006"/>
            <a:ext cx="1306688" cy="1265620"/>
            <a:chOff x="607066" y="3590378"/>
            <a:chExt cx="1306688" cy="1265620"/>
          </a:xfrm>
        </p:grpSpPr>
        <p:sp>
          <p:nvSpPr>
            <p:cNvPr id="140" name="正方形/長方形 192">
              <a:extLst>
                <a:ext uri="{FF2B5EF4-FFF2-40B4-BE49-F238E27FC236}">
                  <a16:creationId xmlns:a16="http://schemas.microsoft.com/office/drawing/2014/main" id="{0D28E4D2-2BDA-A7D6-6D49-08F69BE1351E}"/>
                </a:ext>
              </a:extLst>
            </p:cNvPr>
            <p:cNvSpPr/>
            <p:nvPr/>
          </p:nvSpPr>
          <p:spPr bwMode="gray">
            <a:xfrm flipH="1">
              <a:off x="607066" y="3590378"/>
              <a:ext cx="1306688" cy="126562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機関投資家</a:t>
              </a:r>
              <a:endParaRPr lang="en-US" altLang="ja-JP" sz="1200" dirty="0">
                <a:latin typeface="Meiryo UI" panose="020B0604030504040204" pitchFamily="50" charset="-128"/>
                <a:ea typeface="Meiryo UI" panose="020B0604030504040204" pitchFamily="50" charset="-128"/>
              </a:endParaRPr>
            </a:p>
            <a:p>
              <a:pPr eaLnBrk="0" hangingPunct="0">
                <a:spcBef>
                  <a:spcPts val="0"/>
                </a:spcBef>
              </a:pPr>
              <a:endParaRPr lang="en-US" altLang="ja-JP" sz="12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保険会社</a:t>
              </a:r>
              <a:endParaRPr lang="en-US" altLang="zh-TW"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銀行</a:t>
              </a:r>
              <a:endParaRPr lang="en-US" altLang="zh-TW"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信用金庫</a:t>
              </a:r>
              <a:endParaRPr lang="en-US" altLang="zh-TW"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zh-TW" altLang="en-US" sz="1000" dirty="0">
                  <a:latin typeface="Meiryo UI" panose="020B0604030504040204" pitchFamily="50" charset="-128"/>
                  <a:ea typeface="Meiryo UI" panose="020B0604030504040204" pitchFamily="50" charset="-128"/>
                </a:rPr>
                <a:t>共済組合</a:t>
              </a:r>
              <a:r>
                <a:rPr lang="ja-JP" altLang="en-US" sz="1000" dirty="0">
                  <a:latin typeface="Meiryo UI" panose="020B0604030504040204" pitchFamily="50" charset="-128"/>
                  <a:ea typeface="Meiryo UI" panose="020B0604030504040204" pitchFamily="50" charset="-128"/>
                </a:rPr>
                <a:t>　など</a:t>
              </a:r>
            </a:p>
          </p:txBody>
        </p:sp>
        <p:grpSp>
          <p:nvGrpSpPr>
            <p:cNvPr id="31" name="グループ化 30">
              <a:extLst>
                <a:ext uri="{FF2B5EF4-FFF2-40B4-BE49-F238E27FC236}">
                  <a16:creationId xmlns:a16="http://schemas.microsoft.com/office/drawing/2014/main" id="{F60137C2-623E-BCF4-7265-341D717D4961}"/>
                </a:ext>
              </a:extLst>
            </p:cNvPr>
            <p:cNvGrpSpPr/>
            <p:nvPr/>
          </p:nvGrpSpPr>
          <p:grpSpPr>
            <a:xfrm>
              <a:off x="1566098" y="3742023"/>
              <a:ext cx="274283" cy="265895"/>
              <a:chOff x="1566098" y="3742023"/>
              <a:chExt cx="274283" cy="265895"/>
            </a:xfrm>
          </p:grpSpPr>
          <p:sp>
            <p:nvSpPr>
              <p:cNvPr id="123" name="Freeform 53">
                <a:extLst>
                  <a:ext uri="{FF2B5EF4-FFF2-40B4-BE49-F238E27FC236}">
                    <a16:creationId xmlns:a16="http://schemas.microsoft.com/office/drawing/2014/main" id="{FA8B4206-94CD-F521-F9BC-8A595F277D77}"/>
                  </a:ext>
                </a:extLst>
              </p:cNvPr>
              <p:cNvSpPr>
                <a:spLocks noEditPoints="1"/>
              </p:cNvSpPr>
              <p:nvPr/>
            </p:nvSpPr>
            <p:spPr bwMode="auto">
              <a:xfrm>
                <a:off x="1566098" y="3742023"/>
                <a:ext cx="170273" cy="265895"/>
              </a:xfrm>
              <a:custGeom>
                <a:avLst/>
                <a:gdLst>
                  <a:gd name="T0" fmla="*/ 203 w 203"/>
                  <a:gd name="T1" fmla="*/ 0 h 317"/>
                  <a:gd name="T2" fmla="*/ 173 w 203"/>
                  <a:gd name="T3" fmla="*/ 50 h 317"/>
                  <a:gd name="T4" fmla="*/ 173 w 203"/>
                  <a:gd name="T5" fmla="*/ 82 h 317"/>
                  <a:gd name="T6" fmla="*/ 191 w 203"/>
                  <a:gd name="T7" fmla="*/ 90 h 317"/>
                  <a:gd name="T8" fmla="*/ 173 w 203"/>
                  <a:gd name="T9" fmla="*/ 90 h 317"/>
                  <a:gd name="T10" fmla="*/ 191 w 203"/>
                  <a:gd name="T11" fmla="*/ 162 h 317"/>
                  <a:gd name="T12" fmla="*/ 173 w 203"/>
                  <a:gd name="T13" fmla="*/ 168 h 317"/>
                  <a:gd name="T14" fmla="*/ 173 w 203"/>
                  <a:gd name="T15" fmla="*/ 201 h 317"/>
                  <a:gd name="T16" fmla="*/ 191 w 203"/>
                  <a:gd name="T17" fmla="*/ 209 h 317"/>
                  <a:gd name="T18" fmla="*/ 173 w 203"/>
                  <a:gd name="T19" fmla="*/ 209 h 317"/>
                  <a:gd name="T20" fmla="*/ 191 w 203"/>
                  <a:gd name="T21" fmla="*/ 281 h 317"/>
                  <a:gd name="T22" fmla="*/ 140 w 203"/>
                  <a:gd name="T23" fmla="*/ 50 h 317"/>
                  <a:gd name="T24" fmla="*/ 140 w 203"/>
                  <a:gd name="T25" fmla="*/ 82 h 317"/>
                  <a:gd name="T26" fmla="*/ 158 w 203"/>
                  <a:gd name="T27" fmla="*/ 90 h 317"/>
                  <a:gd name="T28" fmla="*/ 140 w 203"/>
                  <a:gd name="T29" fmla="*/ 90 h 317"/>
                  <a:gd name="T30" fmla="*/ 158 w 203"/>
                  <a:gd name="T31" fmla="*/ 162 h 317"/>
                  <a:gd name="T32" fmla="*/ 140 w 203"/>
                  <a:gd name="T33" fmla="*/ 168 h 317"/>
                  <a:gd name="T34" fmla="*/ 140 w 203"/>
                  <a:gd name="T35" fmla="*/ 201 h 317"/>
                  <a:gd name="T36" fmla="*/ 158 w 203"/>
                  <a:gd name="T37" fmla="*/ 209 h 317"/>
                  <a:gd name="T38" fmla="*/ 140 w 203"/>
                  <a:gd name="T39" fmla="*/ 209 h 317"/>
                  <a:gd name="T40" fmla="*/ 158 w 203"/>
                  <a:gd name="T41" fmla="*/ 281 h 317"/>
                  <a:gd name="T42" fmla="*/ 107 w 203"/>
                  <a:gd name="T43" fmla="*/ 50 h 317"/>
                  <a:gd name="T44" fmla="*/ 107 w 203"/>
                  <a:gd name="T45" fmla="*/ 82 h 317"/>
                  <a:gd name="T46" fmla="*/ 126 w 203"/>
                  <a:gd name="T47" fmla="*/ 90 h 317"/>
                  <a:gd name="T48" fmla="*/ 107 w 203"/>
                  <a:gd name="T49" fmla="*/ 90 h 317"/>
                  <a:gd name="T50" fmla="*/ 126 w 203"/>
                  <a:gd name="T51" fmla="*/ 162 h 317"/>
                  <a:gd name="T52" fmla="*/ 107 w 203"/>
                  <a:gd name="T53" fmla="*/ 168 h 317"/>
                  <a:gd name="T54" fmla="*/ 107 w 203"/>
                  <a:gd name="T55" fmla="*/ 201 h 317"/>
                  <a:gd name="T56" fmla="*/ 126 w 203"/>
                  <a:gd name="T57" fmla="*/ 209 h 317"/>
                  <a:gd name="T58" fmla="*/ 107 w 203"/>
                  <a:gd name="T59" fmla="*/ 209 h 317"/>
                  <a:gd name="T60" fmla="*/ 126 w 203"/>
                  <a:gd name="T61" fmla="*/ 281 h 317"/>
                  <a:gd name="T62" fmla="*/ 78 w 203"/>
                  <a:gd name="T63" fmla="*/ 50 h 317"/>
                  <a:gd name="T64" fmla="*/ 78 w 203"/>
                  <a:gd name="T65" fmla="*/ 82 h 317"/>
                  <a:gd name="T66" fmla="*/ 96 w 203"/>
                  <a:gd name="T67" fmla="*/ 90 h 317"/>
                  <a:gd name="T68" fmla="*/ 78 w 203"/>
                  <a:gd name="T69" fmla="*/ 90 h 317"/>
                  <a:gd name="T70" fmla="*/ 96 w 203"/>
                  <a:gd name="T71" fmla="*/ 162 h 317"/>
                  <a:gd name="T72" fmla="*/ 78 w 203"/>
                  <a:gd name="T73" fmla="*/ 168 h 317"/>
                  <a:gd name="T74" fmla="*/ 78 w 203"/>
                  <a:gd name="T75" fmla="*/ 201 h 317"/>
                  <a:gd name="T76" fmla="*/ 96 w 203"/>
                  <a:gd name="T77" fmla="*/ 209 h 317"/>
                  <a:gd name="T78" fmla="*/ 78 w 203"/>
                  <a:gd name="T79" fmla="*/ 209 h 317"/>
                  <a:gd name="T80" fmla="*/ 96 w 203"/>
                  <a:gd name="T81" fmla="*/ 281 h 317"/>
                  <a:gd name="T82" fmla="*/ 45 w 203"/>
                  <a:gd name="T83" fmla="*/ 50 h 317"/>
                  <a:gd name="T84" fmla="*/ 45 w 203"/>
                  <a:gd name="T85" fmla="*/ 82 h 317"/>
                  <a:gd name="T86" fmla="*/ 64 w 203"/>
                  <a:gd name="T87" fmla="*/ 90 h 317"/>
                  <a:gd name="T88" fmla="*/ 45 w 203"/>
                  <a:gd name="T89" fmla="*/ 90 h 317"/>
                  <a:gd name="T90" fmla="*/ 64 w 203"/>
                  <a:gd name="T91" fmla="*/ 162 h 317"/>
                  <a:gd name="T92" fmla="*/ 45 w 203"/>
                  <a:gd name="T93" fmla="*/ 168 h 317"/>
                  <a:gd name="T94" fmla="*/ 45 w 203"/>
                  <a:gd name="T95" fmla="*/ 201 h 317"/>
                  <a:gd name="T96" fmla="*/ 64 w 203"/>
                  <a:gd name="T97" fmla="*/ 209 h 317"/>
                  <a:gd name="T98" fmla="*/ 45 w 203"/>
                  <a:gd name="T99" fmla="*/ 209 h 317"/>
                  <a:gd name="T100" fmla="*/ 64 w 203"/>
                  <a:gd name="T101" fmla="*/ 281 h 317"/>
                  <a:gd name="T102" fmla="*/ 13 w 203"/>
                  <a:gd name="T103" fmla="*/ 50 h 317"/>
                  <a:gd name="T104" fmla="*/ 13 w 203"/>
                  <a:gd name="T105" fmla="*/ 82 h 317"/>
                  <a:gd name="T106" fmla="*/ 31 w 203"/>
                  <a:gd name="T107" fmla="*/ 90 h 317"/>
                  <a:gd name="T108" fmla="*/ 13 w 203"/>
                  <a:gd name="T109" fmla="*/ 90 h 317"/>
                  <a:gd name="T110" fmla="*/ 31 w 203"/>
                  <a:gd name="T111" fmla="*/ 162 h 317"/>
                  <a:gd name="T112" fmla="*/ 13 w 203"/>
                  <a:gd name="T113" fmla="*/ 168 h 317"/>
                  <a:gd name="T114" fmla="*/ 13 w 203"/>
                  <a:gd name="T115" fmla="*/ 201 h 317"/>
                  <a:gd name="T116" fmla="*/ 31 w 203"/>
                  <a:gd name="T117" fmla="*/ 209 h 317"/>
                  <a:gd name="T118" fmla="*/ 13 w 203"/>
                  <a:gd name="T119" fmla="*/ 209 h 317"/>
                  <a:gd name="T120" fmla="*/ 31 w 203"/>
                  <a:gd name="T121" fmla="*/ 28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3" h="317">
                    <a:moveTo>
                      <a:pt x="0" y="317"/>
                    </a:moveTo>
                    <a:lnTo>
                      <a:pt x="203" y="317"/>
                    </a:lnTo>
                    <a:lnTo>
                      <a:pt x="203" y="0"/>
                    </a:lnTo>
                    <a:lnTo>
                      <a:pt x="0" y="0"/>
                    </a:lnTo>
                    <a:lnTo>
                      <a:pt x="0" y="317"/>
                    </a:lnTo>
                    <a:close/>
                    <a:moveTo>
                      <a:pt x="173" y="50"/>
                    </a:moveTo>
                    <a:lnTo>
                      <a:pt x="191" y="50"/>
                    </a:lnTo>
                    <a:lnTo>
                      <a:pt x="191" y="82"/>
                    </a:lnTo>
                    <a:lnTo>
                      <a:pt x="173" y="82"/>
                    </a:lnTo>
                    <a:lnTo>
                      <a:pt x="173" y="50"/>
                    </a:lnTo>
                    <a:close/>
                    <a:moveTo>
                      <a:pt x="173" y="90"/>
                    </a:moveTo>
                    <a:lnTo>
                      <a:pt x="191" y="90"/>
                    </a:lnTo>
                    <a:lnTo>
                      <a:pt x="191" y="122"/>
                    </a:lnTo>
                    <a:lnTo>
                      <a:pt x="173" y="122"/>
                    </a:lnTo>
                    <a:lnTo>
                      <a:pt x="173" y="90"/>
                    </a:lnTo>
                    <a:close/>
                    <a:moveTo>
                      <a:pt x="173" y="131"/>
                    </a:moveTo>
                    <a:lnTo>
                      <a:pt x="191" y="131"/>
                    </a:lnTo>
                    <a:lnTo>
                      <a:pt x="191" y="162"/>
                    </a:lnTo>
                    <a:lnTo>
                      <a:pt x="173" y="162"/>
                    </a:lnTo>
                    <a:lnTo>
                      <a:pt x="173" y="131"/>
                    </a:lnTo>
                    <a:close/>
                    <a:moveTo>
                      <a:pt x="173" y="168"/>
                    </a:moveTo>
                    <a:lnTo>
                      <a:pt x="191" y="168"/>
                    </a:lnTo>
                    <a:lnTo>
                      <a:pt x="191" y="201"/>
                    </a:lnTo>
                    <a:lnTo>
                      <a:pt x="173" y="201"/>
                    </a:lnTo>
                    <a:lnTo>
                      <a:pt x="173" y="168"/>
                    </a:lnTo>
                    <a:close/>
                    <a:moveTo>
                      <a:pt x="173" y="209"/>
                    </a:moveTo>
                    <a:lnTo>
                      <a:pt x="191" y="209"/>
                    </a:lnTo>
                    <a:lnTo>
                      <a:pt x="191" y="240"/>
                    </a:lnTo>
                    <a:lnTo>
                      <a:pt x="173" y="240"/>
                    </a:lnTo>
                    <a:lnTo>
                      <a:pt x="173" y="209"/>
                    </a:lnTo>
                    <a:close/>
                    <a:moveTo>
                      <a:pt x="173" y="249"/>
                    </a:moveTo>
                    <a:lnTo>
                      <a:pt x="191" y="249"/>
                    </a:lnTo>
                    <a:lnTo>
                      <a:pt x="191" y="281"/>
                    </a:lnTo>
                    <a:lnTo>
                      <a:pt x="173" y="281"/>
                    </a:lnTo>
                    <a:lnTo>
                      <a:pt x="173" y="249"/>
                    </a:lnTo>
                    <a:close/>
                    <a:moveTo>
                      <a:pt x="140" y="50"/>
                    </a:moveTo>
                    <a:lnTo>
                      <a:pt x="158" y="50"/>
                    </a:lnTo>
                    <a:lnTo>
                      <a:pt x="158" y="82"/>
                    </a:lnTo>
                    <a:lnTo>
                      <a:pt x="140" y="82"/>
                    </a:lnTo>
                    <a:lnTo>
                      <a:pt x="140" y="50"/>
                    </a:lnTo>
                    <a:close/>
                    <a:moveTo>
                      <a:pt x="140" y="90"/>
                    </a:moveTo>
                    <a:lnTo>
                      <a:pt x="158" y="90"/>
                    </a:lnTo>
                    <a:lnTo>
                      <a:pt x="158" y="122"/>
                    </a:lnTo>
                    <a:lnTo>
                      <a:pt x="140" y="122"/>
                    </a:lnTo>
                    <a:lnTo>
                      <a:pt x="140" y="90"/>
                    </a:lnTo>
                    <a:close/>
                    <a:moveTo>
                      <a:pt x="140" y="131"/>
                    </a:moveTo>
                    <a:lnTo>
                      <a:pt x="158" y="131"/>
                    </a:lnTo>
                    <a:lnTo>
                      <a:pt x="158" y="162"/>
                    </a:lnTo>
                    <a:lnTo>
                      <a:pt x="140" y="162"/>
                    </a:lnTo>
                    <a:lnTo>
                      <a:pt x="140" y="131"/>
                    </a:lnTo>
                    <a:close/>
                    <a:moveTo>
                      <a:pt x="140" y="168"/>
                    </a:moveTo>
                    <a:lnTo>
                      <a:pt x="158" y="168"/>
                    </a:lnTo>
                    <a:lnTo>
                      <a:pt x="158" y="201"/>
                    </a:lnTo>
                    <a:lnTo>
                      <a:pt x="140" y="201"/>
                    </a:lnTo>
                    <a:lnTo>
                      <a:pt x="140" y="168"/>
                    </a:lnTo>
                    <a:close/>
                    <a:moveTo>
                      <a:pt x="140" y="209"/>
                    </a:moveTo>
                    <a:lnTo>
                      <a:pt x="158" y="209"/>
                    </a:lnTo>
                    <a:lnTo>
                      <a:pt x="158" y="240"/>
                    </a:lnTo>
                    <a:lnTo>
                      <a:pt x="140" y="240"/>
                    </a:lnTo>
                    <a:lnTo>
                      <a:pt x="140" y="209"/>
                    </a:lnTo>
                    <a:close/>
                    <a:moveTo>
                      <a:pt x="140" y="249"/>
                    </a:moveTo>
                    <a:lnTo>
                      <a:pt x="158" y="249"/>
                    </a:lnTo>
                    <a:lnTo>
                      <a:pt x="158" y="281"/>
                    </a:lnTo>
                    <a:lnTo>
                      <a:pt x="140" y="281"/>
                    </a:lnTo>
                    <a:lnTo>
                      <a:pt x="140" y="249"/>
                    </a:lnTo>
                    <a:close/>
                    <a:moveTo>
                      <a:pt x="107" y="50"/>
                    </a:moveTo>
                    <a:lnTo>
                      <a:pt x="126" y="50"/>
                    </a:lnTo>
                    <a:lnTo>
                      <a:pt x="126" y="82"/>
                    </a:lnTo>
                    <a:lnTo>
                      <a:pt x="107" y="82"/>
                    </a:lnTo>
                    <a:lnTo>
                      <a:pt x="107" y="50"/>
                    </a:lnTo>
                    <a:close/>
                    <a:moveTo>
                      <a:pt x="107" y="90"/>
                    </a:moveTo>
                    <a:lnTo>
                      <a:pt x="126" y="90"/>
                    </a:lnTo>
                    <a:lnTo>
                      <a:pt x="126" y="122"/>
                    </a:lnTo>
                    <a:lnTo>
                      <a:pt x="107" y="122"/>
                    </a:lnTo>
                    <a:lnTo>
                      <a:pt x="107" y="90"/>
                    </a:lnTo>
                    <a:close/>
                    <a:moveTo>
                      <a:pt x="107" y="131"/>
                    </a:moveTo>
                    <a:lnTo>
                      <a:pt x="126" y="131"/>
                    </a:lnTo>
                    <a:lnTo>
                      <a:pt x="126" y="162"/>
                    </a:lnTo>
                    <a:lnTo>
                      <a:pt x="107" y="162"/>
                    </a:lnTo>
                    <a:lnTo>
                      <a:pt x="107" y="131"/>
                    </a:lnTo>
                    <a:close/>
                    <a:moveTo>
                      <a:pt x="107" y="168"/>
                    </a:moveTo>
                    <a:lnTo>
                      <a:pt x="126" y="168"/>
                    </a:lnTo>
                    <a:lnTo>
                      <a:pt x="126" y="201"/>
                    </a:lnTo>
                    <a:lnTo>
                      <a:pt x="107" y="201"/>
                    </a:lnTo>
                    <a:lnTo>
                      <a:pt x="107" y="168"/>
                    </a:lnTo>
                    <a:close/>
                    <a:moveTo>
                      <a:pt x="107" y="209"/>
                    </a:moveTo>
                    <a:lnTo>
                      <a:pt x="126" y="209"/>
                    </a:lnTo>
                    <a:lnTo>
                      <a:pt x="126" y="240"/>
                    </a:lnTo>
                    <a:lnTo>
                      <a:pt x="107" y="240"/>
                    </a:lnTo>
                    <a:lnTo>
                      <a:pt x="107" y="209"/>
                    </a:lnTo>
                    <a:close/>
                    <a:moveTo>
                      <a:pt x="107" y="249"/>
                    </a:moveTo>
                    <a:lnTo>
                      <a:pt x="126" y="249"/>
                    </a:lnTo>
                    <a:lnTo>
                      <a:pt x="126" y="281"/>
                    </a:lnTo>
                    <a:lnTo>
                      <a:pt x="107" y="281"/>
                    </a:lnTo>
                    <a:lnTo>
                      <a:pt x="107" y="249"/>
                    </a:lnTo>
                    <a:close/>
                    <a:moveTo>
                      <a:pt x="78" y="50"/>
                    </a:moveTo>
                    <a:lnTo>
                      <a:pt x="96" y="50"/>
                    </a:lnTo>
                    <a:lnTo>
                      <a:pt x="96" y="82"/>
                    </a:lnTo>
                    <a:lnTo>
                      <a:pt x="78" y="82"/>
                    </a:lnTo>
                    <a:lnTo>
                      <a:pt x="78" y="50"/>
                    </a:lnTo>
                    <a:close/>
                    <a:moveTo>
                      <a:pt x="78" y="90"/>
                    </a:moveTo>
                    <a:lnTo>
                      <a:pt x="96" y="90"/>
                    </a:lnTo>
                    <a:lnTo>
                      <a:pt x="96" y="122"/>
                    </a:lnTo>
                    <a:lnTo>
                      <a:pt x="78" y="122"/>
                    </a:lnTo>
                    <a:lnTo>
                      <a:pt x="78" y="90"/>
                    </a:lnTo>
                    <a:close/>
                    <a:moveTo>
                      <a:pt x="78" y="131"/>
                    </a:moveTo>
                    <a:lnTo>
                      <a:pt x="96" y="131"/>
                    </a:lnTo>
                    <a:lnTo>
                      <a:pt x="96" y="162"/>
                    </a:lnTo>
                    <a:lnTo>
                      <a:pt x="78" y="162"/>
                    </a:lnTo>
                    <a:lnTo>
                      <a:pt x="78" y="131"/>
                    </a:lnTo>
                    <a:close/>
                    <a:moveTo>
                      <a:pt x="78" y="168"/>
                    </a:moveTo>
                    <a:lnTo>
                      <a:pt x="96" y="168"/>
                    </a:lnTo>
                    <a:lnTo>
                      <a:pt x="96" y="201"/>
                    </a:lnTo>
                    <a:lnTo>
                      <a:pt x="78" y="201"/>
                    </a:lnTo>
                    <a:lnTo>
                      <a:pt x="78" y="168"/>
                    </a:lnTo>
                    <a:close/>
                    <a:moveTo>
                      <a:pt x="78" y="209"/>
                    </a:moveTo>
                    <a:lnTo>
                      <a:pt x="96" y="209"/>
                    </a:lnTo>
                    <a:lnTo>
                      <a:pt x="96" y="240"/>
                    </a:lnTo>
                    <a:lnTo>
                      <a:pt x="78" y="240"/>
                    </a:lnTo>
                    <a:lnTo>
                      <a:pt x="78" y="209"/>
                    </a:lnTo>
                    <a:close/>
                    <a:moveTo>
                      <a:pt x="78" y="249"/>
                    </a:moveTo>
                    <a:lnTo>
                      <a:pt x="96" y="249"/>
                    </a:lnTo>
                    <a:lnTo>
                      <a:pt x="96" y="281"/>
                    </a:lnTo>
                    <a:lnTo>
                      <a:pt x="78" y="281"/>
                    </a:lnTo>
                    <a:lnTo>
                      <a:pt x="78" y="249"/>
                    </a:lnTo>
                    <a:close/>
                    <a:moveTo>
                      <a:pt x="45" y="50"/>
                    </a:moveTo>
                    <a:lnTo>
                      <a:pt x="64" y="50"/>
                    </a:lnTo>
                    <a:lnTo>
                      <a:pt x="64" y="82"/>
                    </a:lnTo>
                    <a:lnTo>
                      <a:pt x="45" y="82"/>
                    </a:lnTo>
                    <a:lnTo>
                      <a:pt x="45" y="50"/>
                    </a:lnTo>
                    <a:close/>
                    <a:moveTo>
                      <a:pt x="45" y="90"/>
                    </a:moveTo>
                    <a:lnTo>
                      <a:pt x="64" y="90"/>
                    </a:lnTo>
                    <a:lnTo>
                      <a:pt x="64" y="122"/>
                    </a:lnTo>
                    <a:lnTo>
                      <a:pt x="45" y="122"/>
                    </a:lnTo>
                    <a:lnTo>
                      <a:pt x="45" y="90"/>
                    </a:lnTo>
                    <a:close/>
                    <a:moveTo>
                      <a:pt x="45" y="131"/>
                    </a:moveTo>
                    <a:lnTo>
                      <a:pt x="64" y="131"/>
                    </a:lnTo>
                    <a:lnTo>
                      <a:pt x="64" y="162"/>
                    </a:lnTo>
                    <a:lnTo>
                      <a:pt x="45" y="162"/>
                    </a:lnTo>
                    <a:lnTo>
                      <a:pt x="45" y="131"/>
                    </a:lnTo>
                    <a:close/>
                    <a:moveTo>
                      <a:pt x="45" y="168"/>
                    </a:moveTo>
                    <a:lnTo>
                      <a:pt x="64" y="168"/>
                    </a:lnTo>
                    <a:lnTo>
                      <a:pt x="64" y="201"/>
                    </a:lnTo>
                    <a:lnTo>
                      <a:pt x="45" y="201"/>
                    </a:lnTo>
                    <a:lnTo>
                      <a:pt x="45" y="168"/>
                    </a:lnTo>
                    <a:close/>
                    <a:moveTo>
                      <a:pt x="45" y="209"/>
                    </a:moveTo>
                    <a:lnTo>
                      <a:pt x="64" y="209"/>
                    </a:lnTo>
                    <a:lnTo>
                      <a:pt x="64" y="240"/>
                    </a:lnTo>
                    <a:lnTo>
                      <a:pt x="45" y="240"/>
                    </a:lnTo>
                    <a:lnTo>
                      <a:pt x="45" y="209"/>
                    </a:lnTo>
                    <a:close/>
                    <a:moveTo>
                      <a:pt x="45" y="249"/>
                    </a:moveTo>
                    <a:lnTo>
                      <a:pt x="64" y="249"/>
                    </a:lnTo>
                    <a:lnTo>
                      <a:pt x="64" y="281"/>
                    </a:lnTo>
                    <a:lnTo>
                      <a:pt x="45" y="281"/>
                    </a:lnTo>
                    <a:lnTo>
                      <a:pt x="45" y="249"/>
                    </a:lnTo>
                    <a:close/>
                    <a:moveTo>
                      <a:pt x="13" y="50"/>
                    </a:moveTo>
                    <a:lnTo>
                      <a:pt x="31" y="50"/>
                    </a:lnTo>
                    <a:lnTo>
                      <a:pt x="31" y="82"/>
                    </a:lnTo>
                    <a:lnTo>
                      <a:pt x="13" y="82"/>
                    </a:lnTo>
                    <a:lnTo>
                      <a:pt x="13" y="50"/>
                    </a:lnTo>
                    <a:close/>
                    <a:moveTo>
                      <a:pt x="13" y="90"/>
                    </a:moveTo>
                    <a:lnTo>
                      <a:pt x="31" y="90"/>
                    </a:lnTo>
                    <a:lnTo>
                      <a:pt x="31" y="122"/>
                    </a:lnTo>
                    <a:lnTo>
                      <a:pt x="13" y="122"/>
                    </a:lnTo>
                    <a:lnTo>
                      <a:pt x="13" y="90"/>
                    </a:lnTo>
                    <a:close/>
                    <a:moveTo>
                      <a:pt x="13" y="131"/>
                    </a:moveTo>
                    <a:lnTo>
                      <a:pt x="31" y="131"/>
                    </a:lnTo>
                    <a:lnTo>
                      <a:pt x="31" y="162"/>
                    </a:lnTo>
                    <a:lnTo>
                      <a:pt x="13" y="162"/>
                    </a:lnTo>
                    <a:lnTo>
                      <a:pt x="13" y="131"/>
                    </a:lnTo>
                    <a:close/>
                    <a:moveTo>
                      <a:pt x="13" y="168"/>
                    </a:moveTo>
                    <a:lnTo>
                      <a:pt x="31" y="168"/>
                    </a:lnTo>
                    <a:lnTo>
                      <a:pt x="31" y="201"/>
                    </a:lnTo>
                    <a:lnTo>
                      <a:pt x="13" y="201"/>
                    </a:lnTo>
                    <a:lnTo>
                      <a:pt x="13" y="168"/>
                    </a:lnTo>
                    <a:close/>
                    <a:moveTo>
                      <a:pt x="13" y="209"/>
                    </a:moveTo>
                    <a:lnTo>
                      <a:pt x="31" y="209"/>
                    </a:lnTo>
                    <a:lnTo>
                      <a:pt x="31" y="240"/>
                    </a:lnTo>
                    <a:lnTo>
                      <a:pt x="13" y="240"/>
                    </a:lnTo>
                    <a:lnTo>
                      <a:pt x="13" y="209"/>
                    </a:lnTo>
                    <a:close/>
                    <a:moveTo>
                      <a:pt x="13" y="249"/>
                    </a:moveTo>
                    <a:lnTo>
                      <a:pt x="31" y="249"/>
                    </a:lnTo>
                    <a:lnTo>
                      <a:pt x="31" y="281"/>
                    </a:lnTo>
                    <a:lnTo>
                      <a:pt x="13" y="281"/>
                    </a:lnTo>
                    <a:lnTo>
                      <a:pt x="13" y="249"/>
                    </a:lnTo>
                    <a:close/>
                  </a:path>
                </a:pathLst>
              </a:custGeom>
              <a:solidFill>
                <a:srgbClr val="4947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25" name="Freeform 55">
                <a:extLst>
                  <a:ext uri="{FF2B5EF4-FFF2-40B4-BE49-F238E27FC236}">
                    <a16:creationId xmlns:a16="http://schemas.microsoft.com/office/drawing/2014/main" id="{A9E1F1E9-E977-5268-E392-776070BBC968}"/>
                  </a:ext>
                </a:extLst>
              </p:cNvPr>
              <p:cNvSpPr>
                <a:spLocks noEditPoints="1"/>
              </p:cNvSpPr>
              <p:nvPr/>
            </p:nvSpPr>
            <p:spPr bwMode="auto">
              <a:xfrm>
                <a:off x="1748954" y="3866163"/>
                <a:ext cx="91427" cy="141755"/>
              </a:xfrm>
              <a:custGeom>
                <a:avLst/>
                <a:gdLst>
                  <a:gd name="T0" fmla="*/ 0 w 109"/>
                  <a:gd name="T1" fmla="*/ 0 h 169"/>
                  <a:gd name="T2" fmla="*/ 0 w 109"/>
                  <a:gd name="T3" fmla="*/ 169 h 169"/>
                  <a:gd name="T4" fmla="*/ 109 w 109"/>
                  <a:gd name="T5" fmla="*/ 169 h 169"/>
                  <a:gd name="T6" fmla="*/ 109 w 109"/>
                  <a:gd name="T7" fmla="*/ 0 h 169"/>
                  <a:gd name="T8" fmla="*/ 0 w 109"/>
                  <a:gd name="T9" fmla="*/ 0 h 169"/>
                  <a:gd name="T10" fmla="*/ 32 w 109"/>
                  <a:gd name="T11" fmla="*/ 149 h 169"/>
                  <a:gd name="T12" fmla="*/ 14 w 109"/>
                  <a:gd name="T13" fmla="*/ 149 h 169"/>
                  <a:gd name="T14" fmla="*/ 14 w 109"/>
                  <a:gd name="T15" fmla="*/ 117 h 169"/>
                  <a:gd name="T16" fmla="*/ 32 w 109"/>
                  <a:gd name="T17" fmla="*/ 117 h 169"/>
                  <a:gd name="T18" fmla="*/ 32 w 109"/>
                  <a:gd name="T19" fmla="*/ 149 h 169"/>
                  <a:gd name="T20" fmla="*/ 32 w 109"/>
                  <a:gd name="T21" fmla="*/ 108 h 169"/>
                  <a:gd name="T22" fmla="*/ 14 w 109"/>
                  <a:gd name="T23" fmla="*/ 108 h 169"/>
                  <a:gd name="T24" fmla="*/ 14 w 109"/>
                  <a:gd name="T25" fmla="*/ 76 h 169"/>
                  <a:gd name="T26" fmla="*/ 32 w 109"/>
                  <a:gd name="T27" fmla="*/ 76 h 169"/>
                  <a:gd name="T28" fmla="*/ 32 w 109"/>
                  <a:gd name="T29" fmla="*/ 108 h 169"/>
                  <a:gd name="T30" fmla="*/ 32 w 109"/>
                  <a:gd name="T31" fmla="*/ 69 h 169"/>
                  <a:gd name="T32" fmla="*/ 14 w 109"/>
                  <a:gd name="T33" fmla="*/ 69 h 169"/>
                  <a:gd name="T34" fmla="*/ 14 w 109"/>
                  <a:gd name="T35" fmla="*/ 36 h 169"/>
                  <a:gd name="T36" fmla="*/ 32 w 109"/>
                  <a:gd name="T37" fmla="*/ 36 h 169"/>
                  <a:gd name="T38" fmla="*/ 32 w 109"/>
                  <a:gd name="T39" fmla="*/ 69 h 169"/>
                  <a:gd name="T40" fmla="*/ 63 w 109"/>
                  <a:gd name="T41" fmla="*/ 149 h 169"/>
                  <a:gd name="T42" fmla="*/ 45 w 109"/>
                  <a:gd name="T43" fmla="*/ 149 h 169"/>
                  <a:gd name="T44" fmla="*/ 45 w 109"/>
                  <a:gd name="T45" fmla="*/ 117 h 169"/>
                  <a:gd name="T46" fmla="*/ 63 w 109"/>
                  <a:gd name="T47" fmla="*/ 117 h 169"/>
                  <a:gd name="T48" fmla="*/ 63 w 109"/>
                  <a:gd name="T49" fmla="*/ 149 h 169"/>
                  <a:gd name="T50" fmla="*/ 63 w 109"/>
                  <a:gd name="T51" fmla="*/ 108 h 169"/>
                  <a:gd name="T52" fmla="*/ 45 w 109"/>
                  <a:gd name="T53" fmla="*/ 108 h 169"/>
                  <a:gd name="T54" fmla="*/ 45 w 109"/>
                  <a:gd name="T55" fmla="*/ 76 h 169"/>
                  <a:gd name="T56" fmla="*/ 63 w 109"/>
                  <a:gd name="T57" fmla="*/ 76 h 169"/>
                  <a:gd name="T58" fmla="*/ 63 w 109"/>
                  <a:gd name="T59" fmla="*/ 108 h 169"/>
                  <a:gd name="T60" fmla="*/ 63 w 109"/>
                  <a:gd name="T61" fmla="*/ 69 h 169"/>
                  <a:gd name="T62" fmla="*/ 45 w 109"/>
                  <a:gd name="T63" fmla="*/ 69 h 169"/>
                  <a:gd name="T64" fmla="*/ 45 w 109"/>
                  <a:gd name="T65" fmla="*/ 36 h 169"/>
                  <a:gd name="T66" fmla="*/ 63 w 109"/>
                  <a:gd name="T67" fmla="*/ 36 h 169"/>
                  <a:gd name="T68" fmla="*/ 63 w 109"/>
                  <a:gd name="T69" fmla="*/ 69 h 169"/>
                  <a:gd name="T70" fmla="*/ 96 w 109"/>
                  <a:gd name="T71" fmla="*/ 149 h 169"/>
                  <a:gd name="T72" fmla="*/ 78 w 109"/>
                  <a:gd name="T73" fmla="*/ 149 h 169"/>
                  <a:gd name="T74" fmla="*/ 78 w 109"/>
                  <a:gd name="T75" fmla="*/ 117 h 169"/>
                  <a:gd name="T76" fmla="*/ 96 w 109"/>
                  <a:gd name="T77" fmla="*/ 117 h 169"/>
                  <a:gd name="T78" fmla="*/ 96 w 109"/>
                  <a:gd name="T79" fmla="*/ 149 h 169"/>
                  <a:gd name="T80" fmla="*/ 96 w 109"/>
                  <a:gd name="T81" fmla="*/ 108 h 169"/>
                  <a:gd name="T82" fmla="*/ 78 w 109"/>
                  <a:gd name="T83" fmla="*/ 108 h 169"/>
                  <a:gd name="T84" fmla="*/ 78 w 109"/>
                  <a:gd name="T85" fmla="*/ 76 h 169"/>
                  <a:gd name="T86" fmla="*/ 96 w 109"/>
                  <a:gd name="T87" fmla="*/ 76 h 169"/>
                  <a:gd name="T88" fmla="*/ 96 w 109"/>
                  <a:gd name="T89" fmla="*/ 108 h 169"/>
                  <a:gd name="T90" fmla="*/ 96 w 109"/>
                  <a:gd name="T91" fmla="*/ 69 h 169"/>
                  <a:gd name="T92" fmla="*/ 78 w 109"/>
                  <a:gd name="T93" fmla="*/ 69 h 169"/>
                  <a:gd name="T94" fmla="*/ 78 w 109"/>
                  <a:gd name="T95" fmla="*/ 36 h 169"/>
                  <a:gd name="T96" fmla="*/ 96 w 109"/>
                  <a:gd name="T97" fmla="*/ 36 h 169"/>
                  <a:gd name="T98" fmla="*/ 96 w 109"/>
                  <a:gd name="T99" fmla="*/ 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 h="169">
                    <a:moveTo>
                      <a:pt x="0" y="0"/>
                    </a:moveTo>
                    <a:lnTo>
                      <a:pt x="0" y="169"/>
                    </a:lnTo>
                    <a:lnTo>
                      <a:pt x="109" y="169"/>
                    </a:lnTo>
                    <a:lnTo>
                      <a:pt x="109" y="0"/>
                    </a:lnTo>
                    <a:lnTo>
                      <a:pt x="0" y="0"/>
                    </a:lnTo>
                    <a:close/>
                    <a:moveTo>
                      <a:pt x="32" y="149"/>
                    </a:moveTo>
                    <a:lnTo>
                      <a:pt x="14" y="149"/>
                    </a:lnTo>
                    <a:lnTo>
                      <a:pt x="14" y="117"/>
                    </a:lnTo>
                    <a:lnTo>
                      <a:pt x="32" y="117"/>
                    </a:lnTo>
                    <a:lnTo>
                      <a:pt x="32" y="149"/>
                    </a:lnTo>
                    <a:close/>
                    <a:moveTo>
                      <a:pt x="32" y="108"/>
                    </a:moveTo>
                    <a:lnTo>
                      <a:pt x="14" y="108"/>
                    </a:lnTo>
                    <a:lnTo>
                      <a:pt x="14" y="76"/>
                    </a:lnTo>
                    <a:lnTo>
                      <a:pt x="32" y="76"/>
                    </a:lnTo>
                    <a:lnTo>
                      <a:pt x="32" y="108"/>
                    </a:lnTo>
                    <a:close/>
                    <a:moveTo>
                      <a:pt x="32" y="69"/>
                    </a:moveTo>
                    <a:lnTo>
                      <a:pt x="14" y="69"/>
                    </a:lnTo>
                    <a:lnTo>
                      <a:pt x="14" y="36"/>
                    </a:lnTo>
                    <a:lnTo>
                      <a:pt x="32" y="36"/>
                    </a:lnTo>
                    <a:lnTo>
                      <a:pt x="32" y="69"/>
                    </a:lnTo>
                    <a:close/>
                    <a:moveTo>
                      <a:pt x="63" y="149"/>
                    </a:moveTo>
                    <a:lnTo>
                      <a:pt x="45" y="149"/>
                    </a:lnTo>
                    <a:lnTo>
                      <a:pt x="45" y="117"/>
                    </a:lnTo>
                    <a:lnTo>
                      <a:pt x="63" y="117"/>
                    </a:lnTo>
                    <a:lnTo>
                      <a:pt x="63" y="149"/>
                    </a:lnTo>
                    <a:close/>
                    <a:moveTo>
                      <a:pt x="63" y="108"/>
                    </a:moveTo>
                    <a:lnTo>
                      <a:pt x="45" y="108"/>
                    </a:lnTo>
                    <a:lnTo>
                      <a:pt x="45" y="76"/>
                    </a:lnTo>
                    <a:lnTo>
                      <a:pt x="63" y="76"/>
                    </a:lnTo>
                    <a:lnTo>
                      <a:pt x="63" y="108"/>
                    </a:lnTo>
                    <a:close/>
                    <a:moveTo>
                      <a:pt x="63" y="69"/>
                    </a:moveTo>
                    <a:lnTo>
                      <a:pt x="45" y="69"/>
                    </a:lnTo>
                    <a:lnTo>
                      <a:pt x="45" y="36"/>
                    </a:lnTo>
                    <a:lnTo>
                      <a:pt x="63" y="36"/>
                    </a:lnTo>
                    <a:lnTo>
                      <a:pt x="63" y="69"/>
                    </a:lnTo>
                    <a:close/>
                    <a:moveTo>
                      <a:pt x="96" y="149"/>
                    </a:moveTo>
                    <a:lnTo>
                      <a:pt x="78" y="149"/>
                    </a:lnTo>
                    <a:lnTo>
                      <a:pt x="78" y="117"/>
                    </a:lnTo>
                    <a:lnTo>
                      <a:pt x="96" y="117"/>
                    </a:lnTo>
                    <a:lnTo>
                      <a:pt x="96" y="149"/>
                    </a:lnTo>
                    <a:close/>
                    <a:moveTo>
                      <a:pt x="96" y="108"/>
                    </a:moveTo>
                    <a:lnTo>
                      <a:pt x="78" y="108"/>
                    </a:lnTo>
                    <a:lnTo>
                      <a:pt x="78" y="76"/>
                    </a:lnTo>
                    <a:lnTo>
                      <a:pt x="96" y="76"/>
                    </a:lnTo>
                    <a:lnTo>
                      <a:pt x="96" y="108"/>
                    </a:lnTo>
                    <a:close/>
                    <a:moveTo>
                      <a:pt x="96" y="69"/>
                    </a:moveTo>
                    <a:lnTo>
                      <a:pt x="78" y="69"/>
                    </a:lnTo>
                    <a:lnTo>
                      <a:pt x="78" y="36"/>
                    </a:lnTo>
                    <a:lnTo>
                      <a:pt x="96" y="36"/>
                    </a:lnTo>
                    <a:lnTo>
                      <a:pt x="96" y="69"/>
                    </a:lnTo>
                    <a:close/>
                  </a:path>
                </a:pathLst>
              </a:custGeom>
              <a:solidFill>
                <a:srgbClr val="4947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grpSp>
      <p:cxnSp>
        <p:nvCxnSpPr>
          <p:cNvPr id="24602" name="直線矢印コネクタ 516">
            <a:extLst>
              <a:ext uri="{FF2B5EF4-FFF2-40B4-BE49-F238E27FC236}">
                <a16:creationId xmlns:a16="http://schemas.microsoft.com/office/drawing/2014/main" id="{A6AF22F4-E0BB-5AE1-BFE4-0F632F582812}"/>
              </a:ext>
            </a:extLst>
          </p:cNvPr>
          <p:cNvCxnSpPr>
            <a:cxnSpLocks noChangeShapeType="1"/>
            <a:stCxn id="32" idx="1"/>
          </p:cNvCxnSpPr>
          <p:nvPr/>
        </p:nvCxnSpPr>
        <p:spPr bwMode="gray">
          <a:xfrm flipH="1">
            <a:off x="1682821" y="2859337"/>
            <a:ext cx="397816" cy="0"/>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14" name="正方形/長方形 363">
            <a:extLst>
              <a:ext uri="{FF2B5EF4-FFF2-40B4-BE49-F238E27FC236}">
                <a16:creationId xmlns:a16="http://schemas.microsoft.com/office/drawing/2014/main" id="{DD459C78-16DE-688E-A3D2-EF0C16719720}"/>
              </a:ext>
            </a:extLst>
          </p:cNvPr>
          <p:cNvSpPr>
            <a:spLocks noChangeArrowheads="1"/>
          </p:cNvSpPr>
          <p:nvPr/>
        </p:nvSpPr>
        <p:spPr bwMode="gray">
          <a:xfrm>
            <a:off x="8096027" y="1700760"/>
            <a:ext cx="1458695" cy="4788779"/>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defRPr/>
            </a:pPr>
            <a:r>
              <a:rPr kumimoji="1" lang="ja-JP" altLang="en-US" b="0" dirty="0">
                <a:latin typeface="Meiryo UI" panose="020B0604030504040204" pitchFamily="50" charset="-128"/>
                <a:ea typeface="Meiryo UI" panose="020B0604030504040204" pitchFamily="50" charset="-128"/>
              </a:rPr>
              <a:t>顧客</a:t>
            </a:r>
            <a:endParaRPr kumimoji="1" lang="en-US" altLang="ja-JP" b="0" dirty="0">
              <a:latin typeface="Meiryo UI" panose="020B0604030504040204" pitchFamily="50" charset="-128"/>
              <a:ea typeface="Meiryo UI" panose="020B0604030504040204" pitchFamily="50" charset="-128"/>
            </a:endParaRPr>
          </a:p>
        </p:txBody>
      </p:sp>
      <p:sp>
        <p:nvSpPr>
          <p:cNvPr id="36" name="正方形/長方形 463">
            <a:extLst>
              <a:ext uri="{FF2B5EF4-FFF2-40B4-BE49-F238E27FC236}">
                <a16:creationId xmlns:a16="http://schemas.microsoft.com/office/drawing/2014/main" id="{A8602719-DF5D-4260-E53D-87C0568DB066}"/>
              </a:ext>
            </a:extLst>
          </p:cNvPr>
          <p:cNvSpPr>
            <a:spLocks noChangeArrowheads="1"/>
          </p:cNvSpPr>
          <p:nvPr/>
        </p:nvSpPr>
        <p:spPr bwMode="gray">
          <a:xfrm>
            <a:off x="2080637" y="5282951"/>
            <a:ext cx="2016673" cy="684369"/>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3A052D77-CE5F-A3EA-8CEA-7BFF6236CDFD}"/>
              </a:ext>
            </a:extLst>
          </p:cNvPr>
          <p:cNvSpPr/>
          <p:nvPr/>
        </p:nvSpPr>
        <p:spPr>
          <a:xfrm>
            <a:off x="2084919" y="5285805"/>
            <a:ext cx="20149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２</a:t>
            </a:r>
          </a:p>
        </p:txBody>
      </p:sp>
      <p:sp>
        <p:nvSpPr>
          <p:cNvPr id="38" name="テキスト ボックス 37">
            <a:extLst>
              <a:ext uri="{FF2B5EF4-FFF2-40B4-BE49-F238E27FC236}">
                <a16:creationId xmlns:a16="http://schemas.microsoft.com/office/drawing/2014/main" id="{8917B4C5-8D13-5727-D2DC-63CB9CE0E839}"/>
              </a:ext>
            </a:extLst>
          </p:cNvPr>
          <p:cNvSpPr txBox="1"/>
          <p:nvPr/>
        </p:nvSpPr>
        <p:spPr>
          <a:xfrm>
            <a:off x="2283946" y="5370041"/>
            <a:ext cx="831768" cy="223064"/>
          </a:xfrm>
          <a:prstGeom prst="rect">
            <a:avLst/>
          </a:prstGeom>
          <a:noFill/>
        </p:spPr>
        <p:txBody>
          <a:bodyPr vert="horz" wrap="none" lIns="72000" tIns="72000" rIns="72000" bIns="72000" rtlCol="0" anchor="ctr">
            <a:noAutofit/>
          </a:bodyPr>
          <a:lstStyle/>
          <a:p>
            <a:r>
              <a:rPr kumimoji="1" lang="ja-JP" altLang="en-US" sz="1200" dirty="0">
                <a:latin typeface="Meiryo UI" panose="020B0604030504040204" pitchFamily="50" charset="-128"/>
                <a:ea typeface="Meiryo UI" panose="020B0604030504040204" pitchFamily="50" charset="-128"/>
              </a:rPr>
              <a:t>日本マスタートラスト信託</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銀行</a:t>
            </a:r>
            <a:r>
              <a:rPr kumimoji="1" lang="en-US" altLang="ja-JP" sz="1200" dirty="0">
                <a:latin typeface="Meiryo UI" panose="020B0604030504040204" pitchFamily="50" charset="-128"/>
                <a:ea typeface="Meiryo UI" panose="020B0604030504040204" pitchFamily="50" charset="-128"/>
              </a:rPr>
              <a:t>(MTBJ)</a:t>
            </a:r>
          </a:p>
        </p:txBody>
      </p:sp>
      <p:sp>
        <p:nvSpPr>
          <p:cNvPr id="40" name="正方形/長方形 39">
            <a:extLst>
              <a:ext uri="{FF2B5EF4-FFF2-40B4-BE49-F238E27FC236}">
                <a16:creationId xmlns:a16="http://schemas.microsoft.com/office/drawing/2014/main" id="{BC54E79D-8407-1779-A1E1-2CF42011E93D}"/>
              </a:ext>
            </a:extLst>
          </p:cNvPr>
          <p:cNvSpPr/>
          <p:nvPr/>
        </p:nvSpPr>
        <p:spPr>
          <a:xfrm>
            <a:off x="4338618" y="3136077"/>
            <a:ext cx="201494" cy="201494"/>
          </a:xfrm>
          <a:prstGeom prst="rect">
            <a:avLst/>
          </a:prstGeom>
          <a:solidFill>
            <a:schemeClr val="bg1">
              <a:lumMod val="50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３</a:t>
            </a:r>
          </a:p>
        </p:txBody>
      </p:sp>
      <p:sp>
        <p:nvSpPr>
          <p:cNvPr id="41" name="テキスト ボックス 40">
            <a:extLst>
              <a:ext uri="{FF2B5EF4-FFF2-40B4-BE49-F238E27FC236}">
                <a16:creationId xmlns:a16="http://schemas.microsoft.com/office/drawing/2014/main" id="{78F0B541-6D26-2414-BC75-AC491C4628D9}"/>
              </a:ext>
            </a:extLst>
          </p:cNvPr>
          <p:cNvSpPr txBox="1"/>
          <p:nvPr/>
        </p:nvSpPr>
        <p:spPr>
          <a:xfrm>
            <a:off x="4537645" y="3133223"/>
            <a:ext cx="831768" cy="223064"/>
          </a:xfrm>
          <a:prstGeom prst="rect">
            <a:avLst/>
          </a:prstGeom>
          <a:noFill/>
        </p:spPr>
        <p:txBody>
          <a:bodyPr vert="horz" wrap="none" lIns="72000" tIns="72000" rIns="72000" bIns="72000" rtlCol="0" anchor="ctr">
            <a:noAutofit/>
          </a:bodyPr>
          <a:lstStyle/>
          <a:p>
            <a:r>
              <a:rPr lang="ja-JP" altLang="en-US" sz="1200" dirty="0">
                <a:latin typeface="Meiryo UI" panose="020B0604030504040204" pitchFamily="50" charset="-128"/>
                <a:ea typeface="Meiryo UI" panose="020B0604030504040204" pitchFamily="50" charset="-128"/>
              </a:rPr>
              <a:t>マーケットインフラ</a:t>
            </a:r>
            <a:endParaRPr kumimoji="1" lang="ja-JP" altLang="en-US" sz="1200" dirty="0">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29D16F4A-870C-CB2A-F431-FE12110F3AB9}"/>
              </a:ext>
            </a:extLst>
          </p:cNvPr>
          <p:cNvGrpSpPr/>
          <p:nvPr/>
        </p:nvGrpSpPr>
        <p:grpSpPr>
          <a:xfrm>
            <a:off x="4476880" y="3521490"/>
            <a:ext cx="1150668" cy="514565"/>
            <a:chOff x="4439365" y="3521490"/>
            <a:chExt cx="1150668" cy="514565"/>
          </a:xfrm>
        </p:grpSpPr>
        <p:sp>
          <p:nvSpPr>
            <p:cNvPr id="129" name="正方形/長方形 128">
              <a:extLst>
                <a:ext uri="{FF2B5EF4-FFF2-40B4-BE49-F238E27FC236}">
                  <a16:creationId xmlns:a16="http://schemas.microsoft.com/office/drawing/2014/main" id="{0312A8BA-2A81-E005-EDBB-EBB5537D8712}"/>
                </a:ext>
              </a:extLst>
            </p:cNvPr>
            <p:cNvSpPr/>
            <p:nvPr/>
          </p:nvSpPr>
          <p:spPr bwMode="gray">
            <a:xfrm>
              <a:off x="4439365" y="3521490"/>
              <a:ext cx="1150668"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取引所</a:t>
              </a:r>
              <a:endParaRPr lang="en-US" altLang="ja-JP" sz="12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JPX</a:t>
              </a:r>
              <a:r>
                <a:rPr lang="ja-JP" altLang="en-US" sz="1100" dirty="0">
                  <a:latin typeface="Meiryo UI" panose="020B0604030504040204" pitchFamily="50" charset="-128"/>
                  <a:ea typeface="Meiryo UI" panose="020B0604030504040204" pitchFamily="50" charset="-128"/>
                </a:rPr>
                <a:t>）</a:t>
              </a:r>
              <a:endParaRPr lang="en-US" altLang="ja-JP" sz="1100" dirty="0">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F8645702-9D97-CE09-C327-BC97DF6492F1}"/>
                </a:ext>
              </a:extLst>
            </p:cNvPr>
            <p:cNvSpPr/>
            <p:nvPr/>
          </p:nvSpPr>
          <p:spPr>
            <a:xfrm>
              <a:off x="4439598" y="3521490"/>
              <a:ext cx="288000" cy="180000"/>
            </a:xfrm>
            <a:prstGeom prst="rect">
              <a:avLst/>
            </a:prstGeom>
            <a:solidFill>
              <a:schemeClr val="bg1">
                <a:lumMod val="75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3-A</a:t>
              </a:r>
              <a:endParaRPr kumimoji="1" lang="ja-JP" altLang="en-US" sz="1200" b="1" kern="0" dirty="0">
                <a:latin typeface="Meiryo UI" panose="020B0604030504040204" pitchFamily="50" charset="-128"/>
                <a:ea typeface="Meiryo UI" panose="020B0604030504040204" pitchFamily="50" charset="-128"/>
              </a:endParaRPr>
            </a:p>
          </p:txBody>
        </p:sp>
      </p:grpSp>
      <p:grpSp>
        <p:nvGrpSpPr>
          <p:cNvPr id="44" name="グループ化 43">
            <a:extLst>
              <a:ext uri="{FF2B5EF4-FFF2-40B4-BE49-F238E27FC236}">
                <a16:creationId xmlns:a16="http://schemas.microsoft.com/office/drawing/2014/main" id="{BC0F4C90-2507-6C99-C8BD-FF31BD0564AD}"/>
              </a:ext>
            </a:extLst>
          </p:cNvPr>
          <p:cNvGrpSpPr/>
          <p:nvPr/>
        </p:nvGrpSpPr>
        <p:grpSpPr>
          <a:xfrm>
            <a:off x="4477483" y="4424760"/>
            <a:ext cx="1149462" cy="514565"/>
            <a:chOff x="6097228" y="3521490"/>
            <a:chExt cx="1149462" cy="514565"/>
          </a:xfrm>
        </p:grpSpPr>
        <p:sp>
          <p:nvSpPr>
            <p:cNvPr id="130" name="正方形/長方形 129">
              <a:extLst>
                <a:ext uri="{FF2B5EF4-FFF2-40B4-BE49-F238E27FC236}">
                  <a16:creationId xmlns:a16="http://schemas.microsoft.com/office/drawing/2014/main" id="{082996E3-AE9A-B759-C697-1FA21E640CAF}"/>
                </a:ext>
              </a:extLst>
            </p:cNvPr>
            <p:cNvSpPr/>
            <p:nvPr/>
          </p:nvSpPr>
          <p:spPr bwMode="gray">
            <a:xfrm>
              <a:off x="6097228" y="3521490"/>
              <a:ext cx="1149462"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清算機関</a:t>
              </a:r>
              <a:endParaRPr lang="en-US" altLang="ja-JP" sz="12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JSCC</a:t>
              </a:r>
              <a:r>
                <a:rPr lang="ja-JP" altLang="en-US" sz="1100" dirty="0">
                  <a:latin typeface="Meiryo UI" panose="020B0604030504040204" pitchFamily="50" charset="-128"/>
                  <a:ea typeface="Meiryo UI" panose="020B0604030504040204" pitchFamily="50" charset="-128"/>
                </a:rPr>
                <a:t>）</a:t>
              </a:r>
              <a:endParaRPr lang="en-US" altLang="ja-JP" sz="1100" dirty="0">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16521329-C2AC-91D5-4ADD-F61D8A458282}"/>
                </a:ext>
              </a:extLst>
            </p:cNvPr>
            <p:cNvSpPr/>
            <p:nvPr/>
          </p:nvSpPr>
          <p:spPr>
            <a:xfrm>
              <a:off x="6104310" y="3521490"/>
              <a:ext cx="288000" cy="180000"/>
            </a:xfrm>
            <a:prstGeom prst="rect">
              <a:avLst/>
            </a:prstGeom>
            <a:solidFill>
              <a:schemeClr val="bg1">
                <a:lumMod val="75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3-B</a:t>
              </a:r>
              <a:endParaRPr kumimoji="1" lang="ja-JP" altLang="en-US" sz="1200" b="1" kern="0" dirty="0">
                <a:latin typeface="Meiryo UI" panose="020B0604030504040204" pitchFamily="50" charset="-128"/>
                <a:ea typeface="Meiryo UI" panose="020B0604030504040204" pitchFamily="50" charset="-128"/>
              </a:endParaRPr>
            </a:p>
          </p:txBody>
        </p:sp>
      </p:grpSp>
      <p:grpSp>
        <p:nvGrpSpPr>
          <p:cNvPr id="45" name="グループ化 44">
            <a:extLst>
              <a:ext uri="{FF2B5EF4-FFF2-40B4-BE49-F238E27FC236}">
                <a16:creationId xmlns:a16="http://schemas.microsoft.com/office/drawing/2014/main" id="{A446D2BF-1A66-B459-1160-E421034F2091}"/>
              </a:ext>
            </a:extLst>
          </p:cNvPr>
          <p:cNvGrpSpPr/>
          <p:nvPr/>
        </p:nvGrpSpPr>
        <p:grpSpPr>
          <a:xfrm>
            <a:off x="4476879" y="5328030"/>
            <a:ext cx="1150670" cy="703080"/>
            <a:chOff x="7753883" y="3521490"/>
            <a:chExt cx="1150670" cy="703080"/>
          </a:xfrm>
        </p:grpSpPr>
        <p:sp>
          <p:nvSpPr>
            <p:cNvPr id="131" name="正方形/長方形 130">
              <a:extLst>
                <a:ext uri="{FF2B5EF4-FFF2-40B4-BE49-F238E27FC236}">
                  <a16:creationId xmlns:a16="http://schemas.microsoft.com/office/drawing/2014/main" id="{D7C0AC51-78D6-60C0-3C50-52F4A34C85B4}"/>
                </a:ext>
              </a:extLst>
            </p:cNvPr>
            <p:cNvSpPr/>
            <p:nvPr/>
          </p:nvSpPr>
          <p:spPr bwMode="gray">
            <a:xfrm>
              <a:off x="7753883" y="3521490"/>
              <a:ext cx="1150670" cy="703080"/>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決済機関</a:t>
              </a:r>
              <a:endParaRPr lang="en-US" altLang="ja-JP" sz="12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JASDEC,</a:t>
              </a:r>
            </a:p>
            <a:p>
              <a:pPr algn="ctr" eaLnBrk="0" hangingPunct="0">
                <a:spcBef>
                  <a:spcPts val="0"/>
                </a:spcBef>
              </a:pPr>
              <a:r>
                <a:rPr lang="en-US" altLang="ja-JP" sz="1100" dirty="0">
                  <a:latin typeface="Meiryo UI" panose="020B0604030504040204" pitchFamily="50" charset="-128"/>
                  <a:ea typeface="Meiryo UI" panose="020B0604030504040204" pitchFamily="50" charset="-128"/>
                </a:rPr>
                <a:t>BOJ-Net</a:t>
              </a:r>
              <a:r>
                <a:rPr lang="ja-JP" altLang="en-US" sz="1100" dirty="0">
                  <a:latin typeface="Meiryo UI" panose="020B0604030504040204" pitchFamily="50" charset="-128"/>
                  <a:ea typeface="Meiryo UI" panose="020B0604030504040204" pitchFamily="50" charset="-128"/>
                </a:rPr>
                <a:t>）</a:t>
              </a:r>
              <a:endParaRPr lang="en-US" altLang="ja-JP" sz="1100" dirty="0">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F4B46685-D41C-4955-A198-BF5CE9D02A12}"/>
                </a:ext>
              </a:extLst>
            </p:cNvPr>
            <p:cNvSpPr/>
            <p:nvPr/>
          </p:nvSpPr>
          <p:spPr>
            <a:xfrm>
              <a:off x="7753883" y="3521490"/>
              <a:ext cx="288000" cy="180000"/>
            </a:xfrm>
            <a:prstGeom prst="rect">
              <a:avLst/>
            </a:prstGeom>
            <a:solidFill>
              <a:schemeClr val="bg1">
                <a:lumMod val="75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3-C</a:t>
              </a:r>
              <a:endParaRPr kumimoji="1" lang="ja-JP" altLang="en-US" sz="1200" b="1" kern="0" dirty="0">
                <a:latin typeface="Meiryo UI" panose="020B0604030504040204" pitchFamily="50" charset="-128"/>
                <a:ea typeface="Meiryo UI" panose="020B0604030504040204" pitchFamily="50" charset="-128"/>
              </a:endParaRPr>
            </a:p>
          </p:txBody>
        </p:sp>
      </p:grpSp>
      <p:cxnSp>
        <p:nvCxnSpPr>
          <p:cNvPr id="133" name="直線矢印コネクタ 130">
            <a:extLst>
              <a:ext uri="{FF2B5EF4-FFF2-40B4-BE49-F238E27FC236}">
                <a16:creationId xmlns:a16="http://schemas.microsoft.com/office/drawing/2014/main" id="{ECF9EAEA-51BB-8494-4F1A-D41B9149ADD5}"/>
              </a:ext>
            </a:extLst>
          </p:cNvPr>
          <p:cNvCxnSpPr>
            <a:cxnSpLocks noChangeShapeType="1"/>
            <a:stCxn id="130" idx="0"/>
            <a:endCxn id="129" idx="2"/>
          </p:cNvCxnSpPr>
          <p:nvPr/>
        </p:nvCxnSpPr>
        <p:spPr bwMode="gray">
          <a:xfrm flipV="1">
            <a:off x="5052214" y="4036055"/>
            <a:ext cx="0" cy="388705"/>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52" name="正方形/長方形 463">
            <a:extLst>
              <a:ext uri="{FF2B5EF4-FFF2-40B4-BE49-F238E27FC236}">
                <a16:creationId xmlns:a16="http://schemas.microsoft.com/office/drawing/2014/main" id="{A170BF08-08C1-8348-E62F-74981BD4DF22}"/>
              </a:ext>
            </a:extLst>
          </p:cNvPr>
          <p:cNvSpPr>
            <a:spLocks noChangeArrowheads="1"/>
          </p:cNvSpPr>
          <p:nvPr/>
        </p:nvSpPr>
        <p:spPr bwMode="gray">
          <a:xfrm>
            <a:off x="5994550" y="2491007"/>
            <a:ext cx="1826531" cy="3661710"/>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21CEC28E-718A-40A6-2BC8-C311DCB6E848}"/>
              </a:ext>
            </a:extLst>
          </p:cNvPr>
          <p:cNvSpPr/>
          <p:nvPr/>
        </p:nvSpPr>
        <p:spPr>
          <a:xfrm>
            <a:off x="5994550" y="2495886"/>
            <a:ext cx="20149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４</a:t>
            </a:r>
          </a:p>
        </p:txBody>
      </p:sp>
      <p:sp>
        <p:nvSpPr>
          <p:cNvPr id="54" name="テキスト ボックス 53">
            <a:extLst>
              <a:ext uri="{FF2B5EF4-FFF2-40B4-BE49-F238E27FC236}">
                <a16:creationId xmlns:a16="http://schemas.microsoft.com/office/drawing/2014/main" id="{B9ECC8AC-D8EF-F9A9-43E0-CE9C2CE5CE8E}"/>
              </a:ext>
            </a:extLst>
          </p:cNvPr>
          <p:cNvSpPr txBox="1"/>
          <p:nvPr/>
        </p:nvSpPr>
        <p:spPr>
          <a:xfrm>
            <a:off x="6185569" y="2571413"/>
            <a:ext cx="831768" cy="223064"/>
          </a:xfrm>
          <a:prstGeom prst="rect">
            <a:avLst/>
          </a:prstGeom>
          <a:noFill/>
        </p:spPr>
        <p:txBody>
          <a:bodyPr vert="horz" wrap="none" lIns="72000" tIns="72000" rIns="72000" bIns="72000" rtlCol="0" anchor="ctr">
            <a:noAutofit/>
          </a:bodyPr>
          <a:lstStyle/>
          <a:p>
            <a:r>
              <a:rPr kumimoji="1" lang="ja-JP" altLang="en-US" sz="1200" dirty="0">
                <a:latin typeface="Meiryo UI" panose="020B0604030504040204" pitchFamily="50" charset="-128"/>
                <a:ea typeface="Meiryo UI" panose="020B0604030504040204" pitchFamily="50" charset="-128"/>
              </a:rPr>
              <a:t>三菱</a:t>
            </a:r>
            <a:r>
              <a:rPr kumimoji="1" lang="en-US" altLang="ja-JP" sz="1200" dirty="0">
                <a:latin typeface="Meiryo UI" panose="020B0604030504040204" pitchFamily="50" charset="-128"/>
                <a:ea typeface="Meiryo UI" panose="020B0604030504040204" pitchFamily="50" charset="-128"/>
              </a:rPr>
              <a:t>UFJ</a:t>
            </a:r>
            <a:r>
              <a:rPr kumimoji="1" lang="ja-JP" altLang="en-US" sz="1200" dirty="0">
                <a:latin typeface="Meiryo UI" panose="020B0604030504040204" pitchFamily="50" charset="-128"/>
                <a:ea typeface="Meiryo UI" panose="020B0604030504040204" pitchFamily="50" charset="-128"/>
              </a:rPr>
              <a:t>モルガン・</a:t>
            </a:r>
            <a:endParaRPr kumimoji="1"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スタンレー証券</a:t>
            </a:r>
            <a:r>
              <a:rPr lang="en-US" altLang="ja-JP" sz="1200" dirty="0">
                <a:latin typeface="Meiryo UI" panose="020B0604030504040204" pitchFamily="50" charset="-128"/>
                <a:ea typeface="Meiryo UI" panose="020B0604030504040204" pitchFamily="50" charset="-128"/>
              </a:rPr>
              <a:t>(MUMSS)</a:t>
            </a:r>
            <a:endParaRPr kumimoji="1" lang="ja-JP" altLang="en-US" sz="1200" dirty="0">
              <a:latin typeface="Meiryo UI" panose="020B0604030504040204" pitchFamily="50" charset="-128"/>
              <a:ea typeface="Meiryo UI" panose="020B0604030504040204" pitchFamily="50" charset="-128"/>
            </a:endParaRPr>
          </a:p>
        </p:txBody>
      </p:sp>
      <p:cxnSp>
        <p:nvCxnSpPr>
          <p:cNvPr id="62" name="直線矢印コネクタ 516">
            <a:extLst>
              <a:ext uri="{FF2B5EF4-FFF2-40B4-BE49-F238E27FC236}">
                <a16:creationId xmlns:a16="http://schemas.microsoft.com/office/drawing/2014/main" id="{3C8F10F7-0676-71E3-05F1-B4686B91317B}"/>
              </a:ext>
            </a:extLst>
          </p:cNvPr>
          <p:cNvCxnSpPr>
            <a:cxnSpLocks noChangeShapeType="1"/>
          </p:cNvCxnSpPr>
          <p:nvPr/>
        </p:nvCxnSpPr>
        <p:spPr bwMode="gray">
          <a:xfrm flipH="1" flipV="1">
            <a:off x="3903193" y="2791054"/>
            <a:ext cx="2085967" cy="0"/>
          </a:xfrm>
          <a:prstGeom prst="straightConnector1">
            <a:avLst/>
          </a:prstGeom>
          <a:noFill/>
          <a:ln w="28575" algn="ctr">
            <a:solidFill>
              <a:srgbClr val="0000CC"/>
            </a:solidFill>
            <a:round/>
            <a:headEnd type="arrow" w="med" len="med"/>
            <a:tailEnd type="arrow" w="med" len="med"/>
          </a:ln>
          <a:extLst>
            <a:ext uri="{909E8E84-426E-40DD-AFC4-6F175D3DCCD1}">
              <a14:hiddenFill xmlns:a14="http://schemas.microsoft.com/office/drawing/2010/main">
                <a:noFill/>
              </a14:hiddenFill>
            </a:ext>
          </a:extLst>
        </p:spPr>
      </p:cxnSp>
      <p:sp>
        <p:nvSpPr>
          <p:cNvPr id="75" name="正方形/長方形 364">
            <a:extLst>
              <a:ext uri="{FF2B5EF4-FFF2-40B4-BE49-F238E27FC236}">
                <a16:creationId xmlns:a16="http://schemas.microsoft.com/office/drawing/2014/main" id="{379CB50B-F681-E263-DB95-EF493A7F6A54}"/>
              </a:ext>
            </a:extLst>
          </p:cNvPr>
          <p:cNvSpPr>
            <a:spLocks noChangeArrowheads="1"/>
          </p:cNvSpPr>
          <p:nvPr/>
        </p:nvSpPr>
        <p:spPr bwMode="gray">
          <a:xfrm>
            <a:off x="6124351" y="3100422"/>
            <a:ext cx="1566929" cy="1150596"/>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セールス＆</a:t>
            </a:r>
            <a:endParaRPr lang="en-US" altLang="ja-JP" sz="12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200" dirty="0">
                <a:latin typeface="Meiryo UI" panose="020B0604030504040204" pitchFamily="50" charset="-128"/>
                <a:ea typeface="Meiryo UI" panose="020B0604030504040204" pitchFamily="50" charset="-128"/>
              </a:rPr>
              <a:t>トレーディング</a:t>
            </a:r>
            <a:endParaRPr lang="en-US" altLang="ja-JP" sz="12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200" dirty="0">
                <a:latin typeface="Meiryo UI" panose="020B0604030504040204" pitchFamily="50" charset="-128"/>
                <a:ea typeface="Meiryo UI" panose="020B0604030504040204" pitchFamily="50" charset="-128"/>
              </a:rPr>
              <a:t>部門</a:t>
            </a:r>
            <a:endParaRPr lang="ja-JP" altLang="en-US" sz="1050" dirty="0">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8E77C15B-851E-6732-BB0D-A2A4F8367395}"/>
              </a:ext>
            </a:extLst>
          </p:cNvPr>
          <p:cNvSpPr/>
          <p:nvPr/>
        </p:nvSpPr>
        <p:spPr>
          <a:xfrm>
            <a:off x="6124351" y="3100422"/>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4-</a:t>
            </a:r>
            <a:r>
              <a:rPr lang="en-US" altLang="ja-JP" sz="1200" b="1" kern="0" dirty="0">
                <a:latin typeface="Meiryo UI" panose="020B0604030504040204" pitchFamily="50" charset="-128"/>
                <a:ea typeface="Meiryo UI" panose="020B0604030504040204" pitchFamily="50" charset="-128"/>
              </a:rPr>
              <a:t>A</a:t>
            </a:r>
            <a:endParaRPr kumimoji="1" lang="ja-JP" altLang="en-US" sz="1200" b="1" kern="0" dirty="0">
              <a:latin typeface="Meiryo UI" panose="020B0604030504040204" pitchFamily="50" charset="-128"/>
              <a:ea typeface="Meiryo UI" panose="020B0604030504040204" pitchFamily="50" charset="-128"/>
            </a:endParaRPr>
          </a:p>
        </p:txBody>
      </p:sp>
      <p:cxnSp>
        <p:nvCxnSpPr>
          <p:cNvPr id="85" name="直線矢印コネクタ 516">
            <a:extLst>
              <a:ext uri="{FF2B5EF4-FFF2-40B4-BE49-F238E27FC236}">
                <a16:creationId xmlns:a16="http://schemas.microsoft.com/office/drawing/2014/main" id="{ACD760B9-297D-3C35-8C36-188E669785CB}"/>
              </a:ext>
            </a:extLst>
          </p:cNvPr>
          <p:cNvCxnSpPr>
            <a:cxnSpLocks noChangeShapeType="1"/>
          </p:cNvCxnSpPr>
          <p:nvPr/>
        </p:nvCxnSpPr>
        <p:spPr bwMode="gray">
          <a:xfrm flipH="1" flipV="1">
            <a:off x="4080247" y="5627016"/>
            <a:ext cx="408207" cy="3322"/>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97" name="正方形/長方形 96">
            <a:extLst>
              <a:ext uri="{FF2B5EF4-FFF2-40B4-BE49-F238E27FC236}">
                <a16:creationId xmlns:a16="http://schemas.microsoft.com/office/drawing/2014/main" id="{2B5C57AE-8C6E-D906-4A98-23F7EC707756}"/>
              </a:ext>
            </a:extLst>
          </p:cNvPr>
          <p:cNvSpPr/>
          <p:nvPr/>
        </p:nvSpPr>
        <p:spPr>
          <a:xfrm>
            <a:off x="3898904" y="4762455"/>
            <a:ext cx="180628" cy="139174"/>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720234CB-E23D-A584-A8CD-AFF77D0180FB}"/>
              </a:ext>
            </a:extLst>
          </p:cNvPr>
          <p:cNvSpPr/>
          <p:nvPr/>
        </p:nvSpPr>
        <p:spPr>
          <a:xfrm>
            <a:off x="5988423" y="2902399"/>
            <a:ext cx="180628" cy="139174"/>
          </a:xfrm>
          <a:prstGeom prst="rect">
            <a:avLst/>
          </a:prstGeom>
          <a:no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200" kern="0" dirty="0" err="1">
              <a:solidFill>
                <a:prstClr val="black"/>
              </a:solidFill>
              <a:latin typeface="Meiryo UI" panose="020B0604030504040204" pitchFamily="50" charset="-128"/>
              <a:ea typeface="Meiryo UI" panose="020B0604030504040204" pitchFamily="50" charset="-128"/>
            </a:endParaRPr>
          </a:p>
        </p:txBody>
      </p:sp>
      <p:cxnSp>
        <p:nvCxnSpPr>
          <p:cNvPr id="108" name="直線矢印コネクタ 516">
            <a:extLst>
              <a:ext uri="{FF2B5EF4-FFF2-40B4-BE49-F238E27FC236}">
                <a16:creationId xmlns:a16="http://schemas.microsoft.com/office/drawing/2014/main" id="{0B213BE1-9993-D7E0-1AD2-BB5FBA7B302C}"/>
              </a:ext>
            </a:extLst>
          </p:cNvPr>
          <p:cNvCxnSpPr>
            <a:cxnSpLocks noChangeShapeType="1"/>
            <a:stCxn id="129" idx="3"/>
          </p:cNvCxnSpPr>
          <p:nvPr/>
        </p:nvCxnSpPr>
        <p:spPr bwMode="gray">
          <a:xfrm flipV="1">
            <a:off x="5627548" y="3736255"/>
            <a:ext cx="360000" cy="0"/>
          </a:xfrm>
          <a:prstGeom prst="straightConnector1">
            <a:avLst/>
          </a:prstGeom>
          <a:noFill/>
          <a:ln w="28575" algn="ctr">
            <a:solidFill>
              <a:srgbClr val="0000CC"/>
            </a:solidFill>
            <a:round/>
            <a:headEnd type="arrow" w="med" len="med"/>
            <a:tailEnd type="arrow" w="med" len="med"/>
          </a:ln>
          <a:extLst>
            <a:ext uri="{909E8E84-426E-40DD-AFC4-6F175D3DCCD1}">
              <a14:hiddenFill xmlns:a14="http://schemas.microsoft.com/office/drawing/2010/main">
                <a:noFill/>
              </a14:hiddenFill>
            </a:ext>
          </a:extLst>
        </p:spPr>
      </p:cxnSp>
      <p:grpSp>
        <p:nvGrpSpPr>
          <p:cNvPr id="22" name="グループ化 21">
            <a:extLst>
              <a:ext uri="{FF2B5EF4-FFF2-40B4-BE49-F238E27FC236}">
                <a16:creationId xmlns:a16="http://schemas.microsoft.com/office/drawing/2014/main" id="{57A3D307-F796-6EBA-099F-966915DB691E}"/>
              </a:ext>
            </a:extLst>
          </p:cNvPr>
          <p:cNvGrpSpPr/>
          <p:nvPr/>
        </p:nvGrpSpPr>
        <p:grpSpPr>
          <a:xfrm>
            <a:off x="2230121" y="3675720"/>
            <a:ext cx="1806389" cy="756000"/>
            <a:chOff x="2152985" y="3018642"/>
            <a:chExt cx="1806389" cy="756000"/>
          </a:xfrm>
        </p:grpSpPr>
        <p:sp>
          <p:nvSpPr>
            <p:cNvPr id="23" name="正方形/長方形 463">
              <a:extLst>
                <a:ext uri="{FF2B5EF4-FFF2-40B4-BE49-F238E27FC236}">
                  <a16:creationId xmlns:a16="http://schemas.microsoft.com/office/drawing/2014/main" id="{7BCC5693-24F0-5998-4404-B376BD99F3FF}"/>
                </a:ext>
              </a:extLst>
            </p:cNvPr>
            <p:cNvSpPr>
              <a:spLocks noChangeArrowheads="1"/>
            </p:cNvSpPr>
            <p:nvPr/>
          </p:nvSpPr>
          <p:spPr bwMode="gray">
            <a:xfrm>
              <a:off x="2152985" y="3018642"/>
              <a:ext cx="1806389" cy="756000"/>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24" name="正方形/長方形 364">
              <a:extLst>
                <a:ext uri="{FF2B5EF4-FFF2-40B4-BE49-F238E27FC236}">
                  <a16:creationId xmlns:a16="http://schemas.microsoft.com/office/drawing/2014/main" id="{B722F133-AF0C-EEF2-832B-619E09AB8502}"/>
                </a:ext>
              </a:extLst>
            </p:cNvPr>
            <p:cNvSpPr>
              <a:spLocks noChangeArrowheads="1"/>
            </p:cNvSpPr>
            <p:nvPr/>
          </p:nvSpPr>
          <p:spPr bwMode="gray">
            <a:xfrm>
              <a:off x="2273698" y="3487432"/>
              <a:ext cx="1552346" cy="223145"/>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自己勘定取引</a:t>
              </a:r>
            </a:p>
          </p:txBody>
        </p:sp>
        <p:sp>
          <p:nvSpPr>
            <p:cNvPr id="26" name="テキスト ボックス 25">
              <a:extLst>
                <a:ext uri="{FF2B5EF4-FFF2-40B4-BE49-F238E27FC236}">
                  <a16:creationId xmlns:a16="http://schemas.microsoft.com/office/drawing/2014/main" id="{25F49C98-C4A7-791C-DF5D-E0E93A56C62D}"/>
                </a:ext>
              </a:extLst>
            </p:cNvPr>
            <p:cNvSpPr txBox="1"/>
            <p:nvPr/>
          </p:nvSpPr>
          <p:spPr>
            <a:xfrm>
              <a:off x="2184130" y="3118959"/>
              <a:ext cx="745037" cy="223064"/>
            </a:xfrm>
            <a:prstGeom prst="rect">
              <a:avLst/>
            </a:prstGeom>
            <a:noFill/>
          </p:spPr>
          <p:txBody>
            <a:bodyPr vert="horz" wrap="none" lIns="72000" tIns="72000" rIns="72000" bIns="72000" rtlCol="0" anchor="t">
              <a:noAutofit/>
            </a:bodyPr>
            <a:lstStyle/>
            <a:p>
              <a:r>
                <a:rPr kumimoji="1" lang="ja-JP" altLang="en-US" sz="1100" dirty="0">
                  <a:latin typeface="Meiryo UI" panose="020B0604030504040204" pitchFamily="50" charset="-128"/>
                  <a:ea typeface="Meiryo UI" panose="020B0604030504040204" pitchFamily="50" charset="-128"/>
                </a:rPr>
                <a:t>三菱</a:t>
              </a:r>
              <a:r>
                <a:rPr kumimoji="1" lang="en-US" altLang="ja-JP" sz="1100" dirty="0">
                  <a:latin typeface="Meiryo UI" panose="020B0604030504040204" pitchFamily="50" charset="-128"/>
                  <a:ea typeface="Meiryo UI" panose="020B0604030504040204" pitchFamily="50" charset="-128"/>
                </a:rPr>
                <a:t>UFJ</a:t>
              </a:r>
              <a:r>
                <a:rPr kumimoji="1" lang="ja-JP" altLang="en-US" sz="1100" dirty="0">
                  <a:latin typeface="Meiryo UI" panose="020B0604030504040204" pitchFamily="50" charset="-128"/>
                  <a:ea typeface="Meiryo UI" panose="020B0604030504040204" pitchFamily="50" charset="-128"/>
                </a:rPr>
                <a:t>銀行</a:t>
              </a:r>
              <a:r>
                <a:rPr kumimoji="1" lang="en-US" altLang="ja-JP"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MUBK)</a:t>
              </a:r>
              <a:endParaRPr kumimoji="1" lang="ja-JP" altLang="en-US" sz="1100" dirty="0">
                <a:latin typeface="Meiryo UI" panose="020B0604030504040204" pitchFamily="50" charset="-128"/>
                <a:ea typeface="Meiryo UI" panose="020B0604030504040204" pitchFamily="50" charset="-128"/>
              </a:endParaRPr>
            </a:p>
          </p:txBody>
        </p:sp>
      </p:grpSp>
      <p:grpSp>
        <p:nvGrpSpPr>
          <p:cNvPr id="17" name="グループ化 16">
            <a:extLst>
              <a:ext uri="{FF2B5EF4-FFF2-40B4-BE49-F238E27FC236}">
                <a16:creationId xmlns:a16="http://schemas.microsoft.com/office/drawing/2014/main" id="{C49E4569-AAE1-67E0-5EC6-3FDAC38D3F60}"/>
              </a:ext>
            </a:extLst>
          </p:cNvPr>
          <p:cNvGrpSpPr/>
          <p:nvPr/>
        </p:nvGrpSpPr>
        <p:grpSpPr>
          <a:xfrm>
            <a:off x="2155379" y="3017980"/>
            <a:ext cx="1806389" cy="816686"/>
            <a:chOff x="2152985" y="3044770"/>
            <a:chExt cx="1806389" cy="816686"/>
          </a:xfrm>
        </p:grpSpPr>
        <p:sp>
          <p:nvSpPr>
            <p:cNvPr id="6" name="正方形/長方形 463">
              <a:extLst>
                <a:ext uri="{FF2B5EF4-FFF2-40B4-BE49-F238E27FC236}">
                  <a16:creationId xmlns:a16="http://schemas.microsoft.com/office/drawing/2014/main" id="{40D608D9-238F-5A34-2BF3-221417394030}"/>
                </a:ext>
              </a:extLst>
            </p:cNvPr>
            <p:cNvSpPr>
              <a:spLocks noChangeArrowheads="1"/>
            </p:cNvSpPr>
            <p:nvPr/>
          </p:nvSpPr>
          <p:spPr bwMode="gray">
            <a:xfrm>
              <a:off x="2152985" y="3044770"/>
              <a:ext cx="1806389" cy="816686"/>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55" name="正方形/長方形 364">
              <a:extLst>
                <a:ext uri="{FF2B5EF4-FFF2-40B4-BE49-F238E27FC236}">
                  <a16:creationId xmlns:a16="http://schemas.microsoft.com/office/drawing/2014/main" id="{8E25C467-2E38-9F61-6D96-425444900FA6}"/>
                </a:ext>
              </a:extLst>
            </p:cNvPr>
            <p:cNvSpPr>
              <a:spLocks noChangeArrowheads="1"/>
            </p:cNvSpPr>
            <p:nvPr/>
          </p:nvSpPr>
          <p:spPr bwMode="gray">
            <a:xfrm>
              <a:off x="2273698" y="3557101"/>
              <a:ext cx="1552346" cy="238172"/>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eaLnBrk="0" hangingPunct="0">
                <a:spcBef>
                  <a:spcPts val="0"/>
                </a:spcBef>
              </a:pPr>
              <a:r>
                <a:rPr lang="ja-JP" altLang="en-US" sz="1200" dirty="0">
                  <a:latin typeface="Meiryo UI" panose="020B0604030504040204" pitchFamily="50" charset="-128"/>
                  <a:ea typeface="Meiryo UI" panose="020B0604030504040204" pitchFamily="50" charset="-128"/>
                </a:rPr>
                <a:t>      投資一任</a:t>
              </a:r>
            </a:p>
          </p:txBody>
        </p:sp>
        <p:sp>
          <p:nvSpPr>
            <p:cNvPr id="117" name="正方形/長方形 116">
              <a:extLst>
                <a:ext uri="{FF2B5EF4-FFF2-40B4-BE49-F238E27FC236}">
                  <a16:creationId xmlns:a16="http://schemas.microsoft.com/office/drawing/2014/main" id="{C49D7511-38D1-038B-D164-57ED7C47F542}"/>
                </a:ext>
              </a:extLst>
            </p:cNvPr>
            <p:cNvSpPr/>
            <p:nvPr/>
          </p:nvSpPr>
          <p:spPr>
            <a:xfrm>
              <a:off x="2273698" y="3557101"/>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1-B</a:t>
              </a:r>
            </a:p>
          </p:txBody>
        </p:sp>
        <p:sp>
          <p:nvSpPr>
            <p:cNvPr id="7" name="テキスト ボックス 6">
              <a:extLst>
                <a:ext uri="{FF2B5EF4-FFF2-40B4-BE49-F238E27FC236}">
                  <a16:creationId xmlns:a16="http://schemas.microsoft.com/office/drawing/2014/main" id="{CAF4B8B6-CD5E-28EA-2CFE-F5A8BEC3586E}"/>
                </a:ext>
              </a:extLst>
            </p:cNvPr>
            <p:cNvSpPr txBox="1"/>
            <p:nvPr/>
          </p:nvSpPr>
          <p:spPr>
            <a:xfrm>
              <a:off x="2184130" y="3195827"/>
              <a:ext cx="745037" cy="223064"/>
            </a:xfrm>
            <a:prstGeom prst="rect">
              <a:avLst/>
            </a:prstGeom>
            <a:noFill/>
          </p:spPr>
          <p:txBody>
            <a:bodyPr vert="horz" wrap="none" lIns="72000" tIns="72000" rIns="72000" bIns="72000" rtlCol="0" anchor="t">
              <a:noAutofit/>
            </a:bodyPr>
            <a:lstStyle/>
            <a:p>
              <a:r>
                <a:rPr kumimoji="1" lang="ja-JP" altLang="en-US" sz="1100" dirty="0">
                  <a:latin typeface="Meiryo UI" panose="020B0604030504040204" pitchFamily="50" charset="-128"/>
                  <a:ea typeface="Meiryo UI" panose="020B0604030504040204" pitchFamily="50" charset="-128"/>
                </a:rPr>
                <a:t>三菱</a:t>
              </a:r>
              <a:r>
                <a:rPr kumimoji="1" lang="en-US" altLang="ja-JP" sz="1100" dirty="0">
                  <a:latin typeface="Meiryo UI" panose="020B0604030504040204" pitchFamily="50" charset="-128"/>
                  <a:ea typeface="Meiryo UI" panose="020B0604030504040204" pitchFamily="50" charset="-128"/>
                </a:rPr>
                <a:t>UFJ</a:t>
              </a:r>
              <a:r>
                <a:rPr kumimoji="1" lang="ja-JP" altLang="en-US" sz="1100" dirty="0">
                  <a:latin typeface="Meiryo UI" panose="020B0604030504040204" pitchFamily="50" charset="-128"/>
                  <a:ea typeface="Meiryo UI" panose="020B0604030504040204" pitchFamily="50" charset="-128"/>
                </a:rPr>
                <a:t>信託銀行</a:t>
              </a:r>
              <a:r>
                <a:rPr kumimoji="1" lang="en-US" altLang="ja-JP"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MUTB)</a:t>
              </a:r>
              <a:endParaRPr kumimoji="1" lang="ja-JP" altLang="en-US" sz="1100" dirty="0">
                <a:latin typeface="Meiryo UI" panose="020B0604030504040204" pitchFamily="50" charset="-128"/>
                <a:ea typeface="Meiryo UI" panose="020B0604030504040204" pitchFamily="50" charset="-128"/>
              </a:endParaRPr>
            </a:p>
          </p:txBody>
        </p:sp>
      </p:grpSp>
      <p:sp>
        <p:nvSpPr>
          <p:cNvPr id="32" name="正方形/長方形 463">
            <a:extLst>
              <a:ext uri="{FF2B5EF4-FFF2-40B4-BE49-F238E27FC236}">
                <a16:creationId xmlns:a16="http://schemas.microsoft.com/office/drawing/2014/main" id="{0A4A627A-5645-24AA-A0E9-1D2F18F020AA}"/>
              </a:ext>
            </a:extLst>
          </p:cNvPr>
          <p:cNvSpPr>
            <a:spLocks noChangeArrowheads="1"/>
          </p:cNvSpPr>
          <p:nvPr/>
        </p:nvSpPr>
        <p:spPr bwMode="gray">
          <a:xfrm>
            <a:off x="2080637" y="2491008"/>
            <a:ext cx="1806389" cy="736658"/>
          </a:xfrm>
          <a:prstGeom prst="rect">
            <a:avLst/>
          </a:prstGeom>
          <a:solidFill>
            <a:schemeClr val="bg1">
              <a:lumMod val="95000"/>
            </a:schemeClr>
          </a:solidFill>
          <a:ln w="19050" algn="ctr">
            <a:solidFill>
              <a:schemeClr val="bg1">
                <a:lumMod val="50000"/>
              </a:schemeClr>
            </a:solidFill>
            <a:miter lim="800000"/>
            <a:headEnd/>
            <a:tailEnd/>
          </a:ln>
          <a:effectLst/>
        </p:spPr>
        <p:txBody>
          <a:bodyPr vert="horz" wrap="square" lIns="72000" tIns="72000" rIns="36000" bIns="36000" anchor="t">
            <a:noAutofit/>
          </a:bodyPr>
          <a:lstStyle/>
          <a:p>
            <a:pPr eaLnBrk="0" hangingPunct="0">
              <a:spcBef>
                <a:spcPts val="0"/>
              </a:spcBef>
            </a:pPr>
            <a:endParaRPr lang="ja-JP" altLang="en-US" sz="1200" dirty="0">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5BE9CA16-7F52-BEE0-B412-AD3072F57167}"/>
              </a:ext>
            </a:extLst>
          </p:cNvPr>
          <p:cNvSpPr/>
          <p:nvPr/>
        </p:nvSpPr>
        <p:spPr>
          <a:xfrm>
            <a:off x="2084473" y="2495886"/>
            <a:ext cx="180484" cy="201494"/>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１</a:t>
            </a:r>
          </a:p>
        </p:txBody>
      </p:sp>
      <p:sp>
        <p:nvSpPr>
          <p:cNvPr id="34" name="テキスト ボックス 33">
            <a:extLst>
              <a:ext uri="{FF2B5EF4-FFF2-40B4-BE49-F238E27FC236}">
                <a16:creationId xmlns:a16="http://schemas.microsoft.com/office/drawing/2014/main" id="{0314FD47-FDCE-E65A-2D9C-8A574C157E2F}"/>
              </a:ext>
            </a:extLst>
          </p:cNvPr>
          <p:cNvSpPr txBox="1"/>
          <p:nvPr/>
        </p:nvSpPr>
        <p:spPr>
          <a:xfrm>
            <a:off x="2232266" y="2440661"/>
            <a:ext cx="745037" cy="223064"/>
          </a:xfrm>
          <a:prstGeom prst="rect">
            <a:avLst/>
          </a:prstGeom>
          <a:noFill/>
        </p:spPr>
        <p:txBody>
          <a:bodyPr vert="horz" wrap="none" lIns="72000" tIns="72000" rIns="72000" bIns="72000" rtlCol="0" anchor="t">
            <a:noAutofit/>
          </a:bodyPr>
          <a:lstStyle/>
          <a:p>
            <a:r>
              <a:rPr kumimoji="1" lang="ja-JP" altLang="en-US" sz="1100" dirty="0">
                <a:latin typeface="Meiryo UI" panose="020B0604030504040204" pitchFamily="50" charset="-128"/>
                <a:ea typeface="Meiryo UI" panose="020B0604030504040204" pitchFamily="50" charset="-128"/>
              </a:rPr>
              <a:t>三菱</a:t>
            </a:r>
            <a:r>
              <a:rPr kumimoji="1" lang="en-US" altLang="ja-JP" sz="1100" dirty="0">
                <a:latin typeface="Meiryo UI" panose="020B0604030504040204" pitchFamily="50" charset="-128"/>
                <a:ea typeface="Meiryo UI" panose="020B0604030504040204" pitchFamily="50" charset="-128"/>
              </a:rPr>
              <a:t>UFJ</a:t>
            </a:r>
            <a:r>
              <a:rPr kumimoji="1" lang="ja-JP" altLang="en-US" sz="1100" dirty="0">
                <a:latin typeface="Meiryo UI" panose="020B0604030504040204" pitchFamily="50" charset="-128"/>
                <a:ea typeface="Meiryo UI" panose="020B0604030504040204" pitchFamily="50" charset="-128"/>
              </a:rPr>
              <a:t>アセットマネジメント</a:t>
            </a:r>
            <a:endParaRPr kumimoji="1" lang="en-US" altLang="ja-JP" sz="1100" dirty="0">
              <a:latin typeface="Meiryo UI" panose="020B0604030504040204" pitchFamily="50" charset="-128"/>
              <a:ea typeface="Meiryo UI" panose="020B0604030504040204" pitchFamily="50" charset="-128"/>
            </a:endParaRPr>
          </a:p>
          <a:p>
            <a:r>
              <a:rPr lang="en-US" altLang="ja-JP" sz="1100" dirty="0">
                <a:latin typeface="Meiryo UI" panose="020B0604030504040204" pitchFamily="50" charset="-128"/>
                <a:ea typeface="Meiryo UI" panose="020B0604030504040204" pitchFamily="50" charset="-128"/>
              </a:rPr>
              <a:t>(MUAM)</a:t>
            </a:r>
            <a:endParaRPr kumimoji="1" lang="ja-JP" altLang="en-US" sz="1100" dirty="0">
              <a:latin typeface="Meiryo UI" panose="020B0604030504040204" pitchFamily="50" charset="-128"/>
              <a:ea typeface="Meiryo UI" panose="020B0604030504040204" pitchFamily="50" charset="-128"/>
            </a:endParaRPr>
          </a:p>
        </p:txBody>
      </p:sp>
      <p:sp>
        <p:nvSpPr>
          <p:cNvPr id="56" name="正方形/長方形 364">
            <a:extLst>
              <a:ext uri="{FF2B5EF4-FFF2-40B4-BE49-F238E27FC236}">
                <a16:creationId xmlns:a16="http://schemas.microsoft.com/office/drawing/2014/main" id="{73BDB472-8F6D-4770-3056-D0094955FFB9}"/>
              </a:ext>
            </a:extLst>
          </p:cNvPr>
          <p:cNvSpPr>
            <a:spLocks noChangeArrowheads="1"/>
          </p:cNvSpPr>
          <p:nvPr/>
        </p:nvSpPr>
        <p:spPr bwMode="gray">
          <a:xfrm>
            <a:off x="2207658" y="2941859"/>
            <a:ext cx="1552346" cy="241593"/>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eaLnBrk="0" hangingPunct="0">
              <a:spcBef>
                <a:spcPts val="0"/>
              </a:spcBef>
            </a:pPr>
            <a:r>
              <a:rPr lang="ja-JP" altLang="en-US" sz="1200" dirty="0">
                <a:latin typeface="Meiryo UI" panose="020B0604030504040204" pitchFamily="50" charset="-128"/>
                <a:ea typeface="Meiryo UI" panose="020B0604030504040204" pitchFamily="50" charset="-128"/>
              </a:rPr>
              <a:t>      投資信託</a:t>
            </a:r>
          </a:p>
        </p:txBody>
      </p:sp>
      <p:cxnSp>
        <p:nvCxnSpPr>
          <p:cNvPr id="138" name="直線矢印コネクタ 523">
            <a:extLst>
              <a:ext uri="{FF2B5EF4-FFF2-40B4-BE49-F238E27FC236}">
                <a16:creationId xmlns:a16="http://schemas.microsoft.com/office/drawing/2014/main" id="{D215143B-C142-C878-2B3D-737FB5CB091D}"/>
              </a:ext>
            </a:extLst>
          </p:cNvPr>
          <p:cNvCxnSpPr>
            <a:cxnSpLocks noChangeShapeType="1"/>
            <a:stCxn id="23" idx="2"/>
          </p:cNvCxnSpPr>
          <p:nvPr/>
        </p:nvCxnSpPr>
        <p:spPr bwMode="gray">
          <a:xfrm flipH="1">
            <a:off x="3115714" y="4431720"/>
            <a:ext cx="0" cy="827254"/>
          </a:xfrm>
          <a:prstGeom prst="straightConnector1">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cxnSp>
        <p:nvCxnSpPr>
          <p:cNvPr id="27" name="コネクタ: カギ線 26">
            <a:extLst>
              <a:ext uri="{FF2B5EF4-FFF2-40B4-BE49-F238E27FC236}">
                <a16:creationId xmlns:a16="http://schemas.microsoft.com/office/drawing/2014/main" id="{A7B199FB-A2BE-9657-9AC2-C23B09B4BE21}"/>
              </a:ext>
            </a:extLst>
          </p:cNvPr>
          <p:cNvCxnSpPr>
            <a:cxnSpLocks/>
            <a:stCxn id="101" idx="1"/>
          </p:cNvCxnSpPr>
          <p:nvPr/>
        </p:nvCxnSpPr>
        <p:spPr>
          <a:xfrm rot="10800000" flipV="1">
            <a:off x="3992913" y="2971986"/>
            <a:ext cx="1995510" cy="2294854"/>
          </a:xfrm>
          <a:prstGeom prst="bentConnector2">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sp>
        <p:nvSpPr>
          <p:cNvPr id="49" name="楕円 48">
            <a:extLst>
              <a:ext uri="{FF2B5EF4-FFF2-40B4-BE49-F238E27FC236}">
                <a16:creationId xmlns:a16="http://schemas.microsoft.com/office/drawing/2014/main" id="{80095AAE-563B-A01D-20DF-5B6801F58F38}"/>
              </a:ext>
            </a:extLst>
          </p:cNvPr>
          <p:cNvSpPr/>
          <p:nvPr/>
        </p:nvSpPr>
        <p:spPr>
          <a:xfrm>
            <a:off x="3028025" y="4707230"/>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b</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50" name="楕円 49">
            <a:extLst>
              <a:ext uri="{FF2B5EF4-FFF2-40B4-BE49-F238E27FC236}">
                <a16:creationId xmlns:a16="http://schemas.microsoft.com/office/drawing/2014/main" id="{039EEF62-A7AC-6F98-DEDA-389B42634348}"/>
              </a:ext>
            </a:extLst>
          </p:cNvPr>
          <p:cNvSpPr/>
          <p:nvPr/>
        </p:nvSpPr>
        <p:spPr>
          <a:xfrm>
            <a:off x="4838176" y="2515828"/>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c</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51" name="楕円 50">
            <a:extLst>
              <a:ext uri="{FF2B5EF4-FFF2-40B4-BE49-F238E27FC236}">
                <a16:creationId xmlns:a16="http://schemas.microsoft.com/office/drawing/2014/main" id="{BFFD5E1A-3CC9-0CAF-6A70-5E4E9279585D}"/>
              </a:ext>
            </a:extLst>
          </p:cNvPr>
          <p:cNvSpPr/>
          <p:nvPr/>
        </p:nvSpPr>
        <p:spPr>
          <a:xfrm>
            <a:off x="3887026" y="4705042"/>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e</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58" name="楕円 57">
            <a:extLst>
              <a:ext uri="{FF2B5EF4-FFF2-40B4-BE49-F238E27FC236}">
                <a16:creationId xmlns:a16="http://schemas.microsoft.com/office/drawing/2014/main" id="{40086648-4CF9-89FE-9C29-EC0A4FEFCAAC}"/>
              </a:ext>
            </a:extLst>
          </p:cNvPr>
          <p:cNvSpPr/>
          <p:nvPr/>
        </p:nvSpPr>
        <p:spPr>
          <a:xfrm>
            <a:off x="4146856" y="5351207"/>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f</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59" name="楕円 58">
            <a:extLst>
              <a:ext uri="{FF2B5EF4-FFF2-40B4-BE49-F238E27FC236}">
                <a16:creationId xmlns:a16="http://schemas.microsoft.com/office/drawing/2014/main" id="{48BD188A-36AC-5F4A-7160-EE8DF76BE312}"/>
              </a:ext>
            </a:extLst>
          </p:cNvPr>
          <p:cNvSpPr/>
          <p:nvPr/>
        </p:nvSpPr>
        <p:spPr>
          <a:xfrm>
            <a:off x="4944214" y="4057562"/>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g</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60" name="楕円 59">
            <a:extLst>
              <a:ext uri="{FF2B5EF4-FFF2-40B4-BE49-F238E27FC236}">
                <a16:creationId xmlns:a16="http://schemas.microsoft.com/office/drawing/2014/main" id="{F395D307-8350-97DB-C54F-8200681AA771}"/>
              </a:ext>
            </a:extLst>
          </p:cNvPr>
          <p:cNvSpPr/>
          <p:nvPr/>
        </p:nvSpPr>
        <p:spPr>
          <a:xfrm>
            <a:off x="4944214" y="4973610"/>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200" b="1" kern="0" dirty="0">
                <a:solidFill>
                  <a:schemeClr val="bg1"/>
                </a:solidFill>
                <a:latin typeface="Meiryo UI" panose="020B0604030504040204" pitchFamily="50" charset="-128"/>
                <a:ea typeface="Meiryo UI" panose="020B0604030504040204" pitchFamily="50" charset="-128"/>
              </a:rPr>
              <a:t>h</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61" name="楕円 60">
            <a:extLst>
              <a:ext uri="{FF2B5EF4-FFF2-40B4-BE49-F238E27FC236}">
                <a16:creationId xmlns:a16="http://schemas.microsoft.com/office/drawing/2014/main" id="{A4F941BE-5777-73C0-48A8-0DCFBF585B49}"/>
              </a:ext>
            </a:extLst>
          </p:cNvPr>
          <p:cNvSpPr/>
          <p:nvPr/>
        </p:nvSpPr>
        <p:spPr>
          <a:xfrm>
            <a:off x="5706305" y="3453877"/>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200" b="1" kern="0" dirty="0">
                <a:solidFill>
                  <a:schemeClr val="bg1"/>
                </a:solidFill>
                <a:latin typeface="Meiryo UI" panose="020B0604030504040204" pitchFamily="50" charset="-128"/>
                <a:ea typeface="Meiryo UI" panose="020B0604030504040204" pitchFamily="50" charset="-128"/>
              </a:rPr>
              <a:t>d</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67" name="楕円 66">
            <a:extLst>
              <a:ext uri="{FF2B5EF4-FFF2-40B4-BE49-F238E27FC236}">
                <a16:creationId xmlns:a16="http://schemas.microsoft.com/office/drawing/2014/main" id="{B9842051-D8E5-8DE9-CD43-764C18B83AA9}"/>
              </a:ext>
            </a:extLst>
          </p:cNvPr>
          <p:cNvSpPr/>
          <p:nvPr/>
        </p:nvSpPr>
        <p:spPr>
          <a:xfrm>
            <a:off x="1764407" y="2591863"/>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a:solidFill>
                  <a:schemeClr val="bg1"/>
                </a:solidFill>
                <a:latin typeface="Meiryo UI" panose="020B0604030504040204" pitchFamily="50" charset="-128"/>
                <a:ea typeface="Meiryo UI" panose="020B0604030504040204" pitchFamily="50" charset="-128"/>
              </a:rPr>
              <a:t>a</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grpSp>
        <p:nvGrpSpPr>
          <p:cNvPr id="2" name="グループ化 1">
            <a:extLst>
              <a:ext uri="{FF2B5EF4-FFF2-40B4-BE49-F238E27FC236}">
                <a16:creationId xmlns:a16="http://schemas.microsoft.com/office/drawing/2014/main" id="{E23DF6BD-FB0E-1F8B-878C-BF34C81FE2F5}"/>
              </a:ext>
            </a:extLst>
          </p:cNvPr>
          <p:cNvGrpSpPr/>
          <p:nvPr/>
        </p:nvGrpSpPr>
        <p:grpSpPr>
          <a:xfrm>
            <a:off x="8172030" y="4313994"/>
            <a:ext cx="1306688" cy="1166942"/>
            <a:chOff x="10027364" y="1621854"/>
            <a:chExt cx="1306688" cy="1166942"/>
          </a:xfrm>
        </p:grpSpPr>
        <p:sp>
          <p:nvSpPr>
            <p:cNvPr id="5" name="正方形/長方形 192">
              <a:extLst>
                <a:ext uri="{FF2B5EF4-FFF2-40B4-BE49-F238E27FC236}">
                  <a16:creationId xmlns:a16="http://schemas.microsoft.com/office/drawing/2014/main" id="{6BEA0470-1ED4-4813-EB2A-06CEA345D059}"/>
                </a:ext>
              </a:extLst>
            </p:cNvPr>
            <p:cNvSpPr/>
            <p:nvPr/>
          </p:nvSpPr>
          <p:spPr bwMode="gray">
            <a:xfrm flipH="1">
              <a:off x="10027364" y="1621854"/>
              <a:ext cx="1306688" cy="1166942"/>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eaLnBrk="0" hangingPunct="0">
                <a:spcBef>
                  <a:spcPts val="0"/>
                </a:spcBef>
              </a:pPr>
              <a:r>
                <a:rPr lang="ja-JP" altLang="en-US" sz="1200" dirty="0">
                  <a:latin typeface="Meiryo UI" panose="020B0604030504040204" pitchFamily="50" charset="-128"/>
                  <a:ea typeface="Meiryo UI" panose="020B0604030504040204" pitchFamily="50" charset="-128"/>
                </a:rPr>
                <a:t>個人投資家</a:t>
              </a:r>
              <a:endParaRPr lang="en-US" altLang="ja-JP" sz="1200" dirty="0">
                <a:latin typeface="Meiryo UI" panose="020B0604030504040204" pitchFamily="50" charset="-128"/>
                <a:ea typeface="Meiryo UI" panose="020B0604030504040204" pitchFamily="50" charset="-128"/>
              </a:endParaRPr>
            </a:p>
            <a:p>
              <a:pPr eaLnBrk="0" hangingPunct="0">
                <a:spcBef>
                  <a:spcPts val="0"/>
                </a:spcBef>
              </a:pPr>
              <a:endParaRPr lang="en-US" altLang="ja-JP" sz="12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企業オーナー</a:t>
              </a:r>
              <a:endParaRPr lang="en-US" altLang="ja-JP"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地主</a:t>
              </a:r>
              <a:endParaRPr lang="en-US" altLang="ja-JP"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医者</a:t>
              </a:r>
              <a:endParaRPr lang="en-US" altLang="ja-JP" sz="1000" dirty="0">
                <a:latin typeface="Meiryo UI" panose="020B0604030504040204" pitchFamily="50" charset="-128"/>
                <a:ea typeface="Meiryo UI" panose="020B0604030504040204" pitchFamily="50" charset="-128"/>
              </a:endParaRPr>
            </a:p>
            <a:p>
              <a:pPr marL="266700" indent="-171450" eaLnBrk="0" hangingPunct="0">
                <a:spcBef>
                  <a:spcPts val="0"/>
                </a:spcBef>
                <a:buFont typeface="Wingdings" panose="05000000000000000000" pitchFamily="2" charset="2"/>
                <a:buChar char="ü"/>
              </a:pPr>
              <a:r>
                <a:rPr lang="ja-JP" altLang="en-US" sz="1000" dirty="0">
                  <a:latin typeface="Meiryo UI" panose="020B0604030504040204" pitchFamily="50" charset="-128"/>
                  <a:ea typeface="Meiryo UI" panose="020B0604030504040204" pitchFamily="50" charset="-128"/>
                </a:rPr>
                <a:t>一般投資家、など</a:t>
              </a:r>
            </a:p>
          </p:txBody>
        </p:sp>
        <p:grpSp>
          <p:nvGrpSpPr>
            <p:cNvPr id="9" name="グループ化 8">
              <a:extLst>
                <a:ext uri="{FF2B5EF4-FFF2-40B4-BE49-F238E27FC236}">
                  <a16:creationId xmlns:a16="http://schemas.microsoft.com/office/drawing/2014/main" id="{651090D1-9ABE-4441-672E-1C06F8C82B97}"/>
                </a:ext>
              </a:extLst>
            </p:cNvPr>
            <p:cNvGrpSpPr/>
            <p:nvPr/>
          </p:nvGrpSpPr>
          <p:grpSpPr>
            <a:xfrm>
              <a:off x="10852282" y="1708586"/>
              <a:ext cx="423047" cy="317286"/>
              <a:chOff x="1341485" y="2229208"/>
              <a:chExt cx="1208008" cy="828779"/>
            </a:xfrm>
            <a:solidFill>
              <a:schemeClr val="tx1">
                <a:lumMod val="65000"/>
                <a:lumOff val="35000"/>
              </a:schemeClr>
            </a:solidFill>
          </p:grpSpPr>
          <p:pic>
            <p:nvPicPr>
              <p:cNvPr id="11" name="グラフィックス 10" descr="ユーザー">
                <a:extLst>
                  <a:ext uri="{FF2B5EF4-FFF2-40B4-BE49-F238E27FC236}">
                    <a16:creationId xmlns:a16="http://schemas.microsoft.com/office/drawing/2014/main" id="{CCEE082F-29C8-4D7E-64CD-7E360EEC7C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01988" y="2229208"/>
                <a:ext cx="687003" cy="687003"/>
              </a:xfrm>
              <a:prstGeom prst="rect">
                <a:avLst/>
              </a:prstGeom>
              <a:effectLst/>
            </p:spPr>
          </p:pic>
          <p:pic>
            <p:nvPicPr>
              <p:cNvPr id="13" name="グラフィックス 12" descr="ユーザー">
                <a:extLst>
                  <a:ext uri="{FF2B5EF4-FFF2-40B4-BE49-F238E27FC236}">
                    <a16:creationId xmlns:a16="http://schemas.microsoft.com/office/drawing/2014/main" id="{7D01D0FA-0F2F-78B4-8D06-480D0FB514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41485" y="2370984"/>
                <a:ext cx="687003" cy="687003"/>
              </a:xfrm>
              <a:prstGeom prst="rect">
                <a:avLst/>
              </a:prstGeom>
              <a:effectLst/>
            </p:spPr>
          </p:pic>
          <p:pic>
            <p:nvPicPr>
              <p:cNvPr id="15" name="グラフィックス 14" descr="ユーザー">
                <a:extLst>
                  <a:ext uri="{FF2B5EF4-FFF2-40B4-BE49-F238E27FC236}">
                    <a16:creationId xmlns:a16="http://schemas.microsoft.com/office/drawing/2014/main" id="{1FEA8DDE-94C8-0039-DF60-FCAE7EE1D3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62490" y="2366196"/>
                <a:ext cx="687003" cy="687003"/>
              </a:xfrm>
              <a:prstGeom prst="rect">
                <a:avLst/>
              </a:prstGeom>
              <a:effectLst/>
            </p:spPr>
          </p:pic>
        </p:grpSp>
      </p:grpSp>
      <p:cxnSp>
        <p:nvCxnSpPr>
          <p:cNvPr id="16" name="直線矢印コネクタ 516">
            <a:extLst>
              <a:ext uri="{FF2B5EF4-FFF2-40B4-BE49-F238E27FC236}">
                <a16:creationId xmlns:a16="http://schemas.microsoft.com/office/drawing/2014/main" id="{49968A1F-F2F2-518F-CCCA-1A3A2DD4B777}"/>
              </a:ext>
            </a:extLst>
          </p:cNvPr>
          <p:cNvCxnSpPr>
            <a:cxnSpLocks noChangeShapeType="1"/>
            <a:stCxn id="25" idx="3"/>
            <a:endCxn id="5" idx="3"/>
          </p:cNvCxnSpPr>
          <p:nvPr/>
        </p:nvCxnSpPr>
        <p:spPr bwMode="gray">
          <a:xfrm>
            <a:off x="7691280" y="4897465"/>
            <a:ext cx="480750" cy="0"/>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25" name="正方形/長方形 364">
            <a:extLst>
              <a:ext uri="{FF2B5EF4-FFF2-40B4-BE49-F238E27FC236}">
                <a16:creationId xmlns:a16="http://schemas.microsoft.com/office/drawing/2014/main" id="{3C52E5E1-0F91-593D-D628-BADB4B0A60F8}"/>
              </a:ext>
            </a:extLst>
          </p:cNvPr>
          <p:cNvSpPr>
            <a:spLocks noChangeArrowheads="1"/>
          </p:cNvSpPr>
          <p:nvPr/>
        </p:nvSpPr>
        <p:spPr bwMode="gray">
          <a:xfrm>
            <a:off x="6124351" y="4322167"/>
            <a:ext cx="1566929" cy="1150596"/>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リテール営業部門</a:t>
            </a: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endParaRPr lang="en-US" altLang="ja-JP" dirty="0">
              <a:latin typeface="Meiryo UI" panose="020B0604030504040204" pitchFamily="50" charset="-128"/>
              <a:ea typeface="Meiryo UI" panose="020B0604030504040204" pitchFamily="50" charset="-128"/>
            </a:endParaRPr>
          </a:p>
          <a:p>
            <a:pPr algn="ctr" eaLnBrk="0" hangingPunct="0">
              <a:spcBef>
                <a:spcPts val="0"/>
              </a:spcBef>
            </a:pPr>
            <a:endParaRPr lang="ja-JP" altLang="en-US" dirty="0">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A8B302CD-27BF-1B21-8318-7062EB2912CE}"/>
              </a:ext>
            </a:extLst>
          </p:cNvPr>
          <p:cNvSpPr/>
          <p:nvPr/>
        </p:nvSpPr>
        <p:spPr>
          <a:xfrm>
            <a:off x="6124351" y="4325875"/>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4-B</a:t>
            </a:r>
            <a:endParaRPr kumimoji="1" lang="ja-JP" altLang="en-US" sz="1200" b="1" kern="0" dirty="0">
              <a:latin typeface="Meiryo UI" panose="020B0604030504040204" pitchFamily="50" charset="-128"/>
              <a:ea typeface="Meiryo UI" panose="020B0604030504040204" pitchFamily="50" charset="-128"/>
            </a:endParaRPr>
          </a:p>
        </p:txBody>
      </p:sp>
      <p:sp>
        <p:nvSpPr>
          <p:cNvPr id="29" name="正方形/長方形 364">
            <a:extLst>
              <a:ext uri="{FF2B5EF4-FFF2-40B4-BE49-F238E27FC236}">
                <a16:creationId xmlns:a16="http://schemas.microsoft.com/office/drawing/2014/main" id="{FC1ED151-34FA-B3EB-50F3-6E1CAD3A8734}"/>
              </a:ext>
            </a:extLst>
          </p:cNvPr>
          <p:cNvSpPr>
            <a:spLocks noChangeArrowheads="1"/>
          </p:cNvSpPr>
          <p:nvPr/>
        </p:nvSpPr>
        <p:spPr bwMode="gray">
          <a:xfrm>
            <a:off x="6235662" y="4856387"/>
            <a:ext cx="1344307" cy="225593"/>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ウェルス</a:t>
            </a:r>
          </a:p>
        </p:txBody>
      </p:sp>
      <p:sp>
        <p:nvSpPr>
          <p:cNvPr id="30" name="正方形/長方形 364">
            <a:extLst>
              <a:ext uri="{FF2B5EF4-FFF2-40B4-BE49-F238E27FC236}">
                <a16:creationId xmlns:a16="http://schemas.microsoft.com/office/drawing/2014/main" id="{80AF2D76-9103-3213-BFA9-781B21BBDAE2}"/>
              </a:ext>
            </a:extLst>
          </p:cNvPr>
          <p:cNvSpPr>
            <a:spLocks noChangeArrowheads="1"/>
          </p:cNvSpPr>
          <p:nvPr/>
        </p:nvSpPr>
        <p:spPr bwMode="gray">
          <a:xfrm>
            <a:off x="6235662" y="5162189"/>
            <a:ext cx="1344307" cy="225593"/>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eaLnBrk="0" hangingPunct="0">
              <a:spcBef>
                <a:spcPts val="0"/>
              </a:spcBef>
            </a:pPr>
            <a:r>
              <a:rPr lang="ja-JP" altLang="en-US" dirty="0">
                <a:latin typeface="Meiryo UI" panose="020B0604030504040204" pitchFamily="50" charset="-128"/>
                <a:ea typeface="Meiryo UI" panose="020B0604030504040204" pitchFamily="50" charset="-128"/>
              </a:rPr>
              <a:t>一般投資家</a:t>
            </a:r>
          </a:p>
        </p:txBody>
      </p:sp>
      <p:cxnSp>
        <p:nvCxnSpPr>
          <p:cNvPr id="35" name="直線矢印コネクタ 516">
            <a:extLst>
              <a:ext uri="{FF2B5EF4-FFF2-40B4-BE49-F238E27FC236}">
                <a16:creationId xmlns:a16="http://schemas.microsoft.com/office/drawing/2014/main" id="{1A7F9A9E-A2D4-2BCF-EC9D-15208FB8126F}"/>
              </a:ext>
            </a:extLst>
          </p:cNvPr>
          <p:cNvCxnSpPr>
            <a:cxnSpLocks noChangeShapeType="1"/>
          </p:cNvCxnSpPr>
          <p:nvPr/>
        </p:nvCxnSpPr>
        <p:spPr bwMode="gray">
          <a:xfrm flipH="1">
            <a:off x="5627524" y="5730721"/>
            <a:ext cx="490019" cy="0"/>
          </a:xfrm>
          <a:prstGeom prst="straightConnector1">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sp>
        <p:nvSpPr>
          <p:cNvPr id="42" name="楕円 41">
            <a:extLst>
              <a:ext uri="{FF2B5EF4-FFF2-40B4-BE49-F238E27FC236}">
                <a16:creationId xmlns:a16="http://schemas.microsoft.com/office/drawing/2014/main" id="{B378ADFE-B81F-BAA2-F132-865291C3CC34}"/>
              </a:ext>
            </a:extLst>
          </p:cNvPr>
          <p:cNvSpPr/>
          <p:nvPr/>
        </p:nvSpPr>
        <p:spPr>
          <a:xfrm>
            <a:off x="5783017" y="5461780"/>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200" b="1" kern="0" dirty="0">
                <a:solidFill>
                  <a:schemeClr val="bg1"/>
                </a:solidFill>
                <a:latin typeface="Meiryo UI" panose="020B0604030504040204" pitchFamily="50" charset="-128"/>
                <a:ea typeface="Meiryo UI" panose="020B0604030504040204" pitchFamily="50" charset="-128"/>
              </a:rPr>
              <a:t>j</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46" name="楕円 45">
            <a:extLst>
              <a:ext uri="{FF2B5EF4-FFF2-40B4-BE49-F238E27FC236}">
                <a16:creationId xmlns:a16="http://schemas.microsoft.com/office/drawing/2014/main" id="{773B3DA6-C83E-C1EA-461A-9B8543B2BFB2}"/>
              </a:ext>
            </a:extLst>
          </p:cNvPr>
          <p:cNvSpPr/>
          <p:nvPr/>
        </p:nvSpPr>
        <p:spPr>
          <a:xfrm>
            <a:off x="7854847" y="4650126"/>
            <a:ext cx="216000" cy="216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dirty="0" err="1">
                <a:solidFill>
                  <a:schemeClr val="bg1"/>
                </a:solidFill>
                <a:latin typeface="Meiryo UI" panose="020B0604030504040204" pitchFamily="50" charset="-128"/>
                <a:ea typeface="Meiryo UI" panose="020B0604030504040204" pitchFamily="50" charset="-128"/>
              </a:rPr>
              <a:t>i</a:t>
            </a:r>
            <a:endParaRPr kumimoji="1" lang="ja-JP" altLang="en-US" sz="1200" b="1" kern="0" dirty="0" err="1">
              <a:solidFill>
                <a:schemeClr val="bg1"/>
              </a:solidFill>
              <a:latin typeface="Meiryo UI" panose="020B0604030504040204" pitchFamily="50" charset="-128"/>
              <a:ea typeface="Meiryo UI" panose="020B0604030504040204" pitchFamily="50" charset="-128"/>
            </a:endParaRPr>
          </a:p>
        </p:txBody>
      </p:sp>
      <p:sp>
        <p:nvSpPr>
          <p:cNvPr id="47" name="正方形/長方形 364">
            <a:extLst>
              <a:ext uri="{FF2B5EF4-FFF2-40B4-BE49-F238E27FC236}">
                <a16:creationId xmlns:a16="http://schemas.microsoft.com/office/drawing/2014/main" id="{7D3CCB41-695D-D790-393B-3A0BD2AE968D}"/>
              </a:ext>
            </a:extLst>
          </p:cNvPr>
          <p:cNvSpPr>
            <a:spLocks noChangeArrowheads="1"/>
          </p:cNvSpPr>
          <p:nvPr/>
        </p:nvSpPr>
        <p:spPr bwMode="gray">
          <a:xfrm>
            <a:off x="6124351" y="5536527"/>
            <a:ext cx="1566929" cy="492982"/>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a:spcBef>
                <a:spcPts val="0"/>
              </a:spcBef>
            </a:pPr>
            <a:r>
              <a:rPr lang="ja-JP" altLang="en-US" sz="1200">
                <a:latin typeface="Meiryo UI"/>
                <a:ea typeface="Meiryo UI"/>
              </a:rPr>
              <a:t>バックオフィス部門</a:t>
            </a:r>
            <a:endParaRPr lang="ja-JP" altLang="en-US" sz="1200" dirty="0">
              <a:latin typeface="Meiryo UI" panose="020B0604030504040204" pitchFamily="50" charset="-128"/>
              <a:ea typeface="Meiryo UI" panose="020B0604030504040204" pitchFamily="50" charset="-128"/>
            </a:endParaRPr>
          </a:p>
        </p:txBody>
      </p:sp>
      <p:sp>
        <p:nvSpPr>
          <p:cNvPr id="68" name="正方形/長方形 463">
            <a:extLst>
              <a:ext uri="{FF2B5EF4-FFF2-40B4-BE49-F238E27FC236}">
                <a16:creationId xmlns:a16="http://schemas.microsoft.com/office/drawing/2014/main" id="{FA0AB8DD-CE17-B8D7-943E-51816E48C737}"/>
              </a:ext>
            </a:extLst>
          </p:cNvPr>
          <p:cNvSpPr>
            <a:spLocks noChangeArrowheads="1"/>
          </p:cNvSpPr>
          <p:nvPr/>
        </p:nvSpPr>
        <p:spPr bwMode="gray">
          <a:xfrm>
            <a:off x="7856628" y="1431644"/>
            <a:ext cx="308086" cy="182719"/>
          </a:xfrm>
          <a:prstGeom prst="rect">
            <a:avLst/>
          </a:prstGeom>
          <a:solidFill>
            <a:schemeClr val="bg1">
              <a:lumMod val="95000"/>
            </a:schemeClr>
          </a:solidFill>
          <a:ln w="19050" algn="ctr">
            <a:solidFill>
              <a:schemeClr val="bg1">
                <a:lumMod val="50000"/>
              </a:schemeClr>
            </a:solidFill>
            <a:miter lim="800000"/>
            <a:headEnd/>
            <a:tailEnd/>
          </a:ln>
          <a:effectLst/>
        </p:spPr>
        <p:txBody>
          <a:bodyPr vert="horz" wrap="none" lIns="72000" tIns="72000" rIns="36000" bIns="36000" anchor="ctr">
            <a:noAutofit/>
          </a:bodyPr>
          <a:lstStyle/>
          <a:p>
            <a:pPr eaLnBrk="0" hangingPunct="0">
              <a:spcBef>
                <a:spcPts val="0"/>
              </a:spcBef>
            </a:pPr>
            <a:r>
              <a:rPr lang="ja-JP" altLang="en-US" sz="1200" dirty="0">
                <a:latin typeface="Meiryo UI" panose="020B0604030504040204" pitchFamily="50" charset="-128"/>
                <a:ea typeface="Meiryo UI" panose="020B0604030504040204" pitchFamily="50" charset="-128"/>
              </a:rPr>
              <a:t>　　　</a:t>
            </a:r>
            <a:r>
              <a:rPr lang="en-US" altLang="ja-JP" sz="1050" dirty="0">
                <a:latin typeface="Meiryo UI" panose="020B0604030504040204" pitchFamily="50" charset="-128"/>
                <a:ea typeface="Meiryo UI" panose="020B0604030504040204" pitchFamily="50" charset="-128"/>
              </a:rPr>
              <a:t>…ACN</a:t>
            </a:r>
            <a:r>
              <a:rPr lang="ja-JP" altLang="en-US" sz="1050" dirty="0">
                <a:latin typeface="Meiryo UI" panose="020B0604030504040204" pitchFamily="50" charset="-128"/>
                <a:ea typeface="Meiryo UI" panose="020B0604030504040204" pitchFamily="50" charset="-128"/>
              </a:rPr>
              <a:t>にて現状案件なし</a:t>
            </a:r>
          </a:p>
        </p:txBody>
      </p:sp>
      <p:pic>
        <p:nvPicPr>
          <p:cNvPr id="74" name="図 73">
            <a:extLst>
              <a:ext uri="{FF2B5EF4-FFF2-40B4-BE49-F238E27FC236}">
                <a16:creationId xmlns:a16="http://schemas.microsoft.com/office/drawing/2014/main" id="{A8A9F681-EE2D-36F7-79C4-42F13A519612}"/>
              </a:ext>
            </a:extLst>
          </p:cNvPr>
          <p:cNvPicPr>
            <a:picLocks noChangeAspect="1"/>
          </p:cNvPicPr>
          <p:nvPr/>
        </p:nvPicPr>
        <p:blipFill>
          <a:blip r:embed="rId8"/>
          <a:stretch>
            <a:fillRect/>
          </a:stretch>
        </p:blipFill>
        <p:spPr>
          <a:xfrm>
            <a:off x="2896328" y="2697441"/>
            <a:ext cx="920304" cy="283592"/>
          </a:xfrm>
          <a:prstGeom prst="rect">
            <a:avLst/>
          </a:prstGeom>
        </p:spPr>
      </p:pic>
      <p:pic>
        <p:nvPicPr>
          <p:cNvPr id="78" name="図 77">
            <a:extLst>
              <a:ext uri="{FF2B5EF4-FFF2-40B4-BE49-F238E27FC236}">
                <a16:creationId xmlns:a16="http://schemas.microsoft.com/office/drawing/2014/main" id="{8A5EA440-D2A0-D345-06FF-F758F965A4F1}"/>
              </a:ext>
            </a:extLst>
          </p:cNvPr>
          <p:cNvPicPr>
            <a:picLocks noChangeAspect="1"/>
          </p:cNvPicPr>
          <p:nvPr/>
        </p:nvPicPr>
        <p:blipFill>
          <a:blip r:embed="rId9"/>
          <a:stretch>
            <a:fillRect/>
          </a:stretch>
        </p:blipFill>
        <p:spPr>
          <a:xfrm>
            <a:off x="3252133" y="3410377"/>
            <a:ext cx="654606" cy="275312"/>
          </a:xfrm>
          <a:prstGeom prst="rect">
            <a:avLst/>
          </a:prstGeom>
        </p:spPr>
      </p:pic>
      <p:sp>
        <p:nvSpPr>
          <p:cNvPr id="116" name="正方形/長方形 115">
            <a:extLst>
              <a:ext uri="{FF2B5EF4-FFF2-40B4-BE49-F238E27FC236}">
                <a16:creationId xmlns:a16="http://schemas.microsoft.com/office/drawing/2014/main" id="{8402FB96-2791-A06F-487A-E921A2C3D3BB}"/>
              </a:ext>
            </a:extLst>
          </p:cNvPr>
          <p:cNvSpPr/>
          <p:nvPr/>
        </p:nvSpPr>
        <p:spPr>
          <a:xfrm>
            <a:off x="2207658" y="2941859"/>
            <a:ext cx="288000" cy="180000"/>
          </a:xfrm>
          <a:prstGeom prst="rect">
            <a:avLst/>
          </a:prstGeom>
          <a:solidFill>
            <a:schemeClr val="bg1">
              <a:lumMod val="75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1-A</a:t>
            </a:r>
            <a:endParaRPr kumimoji="1" lang="ja-JP" altLang="en-US" sz="1200" b="1" kern="0" dirty="0">
              <a:latin typeface="Meiryo UI" panose="020B0604030504040204" pitchFamily="50" charset="-128"/>
              <a:ea typeface="Meiryo UI" panose="020B0604030504040204" pitchFamily="50" charset="-128"/>
            </a:endParaRPr>
          </a:p>
        </p:txBody>
      </p:sp>
      <p:pic>
        <p:nvPicPr>
          <p:cNvPr id="80" name="図 79">
            <a:extLst>
              <a:ext uri="{FF2B5EF4-FFF2-40B4-BE49-F238E27FC236}">
                <a16:creationId xmlns:a16="http://schemas.microsoft.com/office/drawing/2014/main" id="{9C412B8C-E1B2-C765-8F03-0E4D8AEDFBCF}"/>
              </a:ext>
            </a:extLst>
          </p:cNvPr>
          <p:cNvPicPr>
            <a:picLocks noChangeAspect="1"/>
          </p:cNvPicPr>
          <p:nvPr/>
        </p:nvPicPr>
        <p:blipFill>
          <a:blip r:embed="rId10"/>
          <a:stretch>
            <a:fillRect/>
          </a:stretch>
        </p:blipFill>
        <p:spPr>
          <a:xfrm>
            <a:off x="3125692" y="3980075"/>
            <a:ext cx="832826" cy="205718"/>
          </a:xfrm>
          <a:prstGeom prst="rect">
            <a:avLst/>
          </a:prstGeom>
        </p:spPr>
      </p:pic>
      <p:pic>
        <p:nvPicPr>
          <p:cNvPr id="2050" name="Picture 2" descr="日本マスタートラスト信託銀行 新卒採用サイト2026">
            <a:extLst>
              <a:ext uri="{FF2B5EF4-FFF2-40B4-BE49-F238E27FC236}">
                <a16:creationId xmlns:a16="http://schemas.microsoft.com/office/drawing/2014/main" id="{B2DDCD4E-EAF5-9A41-526C-2034D4C1856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588" t="7437" r="1654" b="13668"/>
          <a:stretch>
            <a:fillRect/>
          </a:stretch>
        </p:blipFill>
        <p:spPr bwMode="auto">
          <a:xfrm>
            <a:off x="2687431" y="5699592"/>
            <a:ext cx="1338098" cy="202664"/>
          </a:xfrm>
          <a:prstGeom prst="rect">
            <a:avLst/>
          </a:prstGeom>
          <a:noFill/>
          <a:extLst>
            <a:ext uri="{909E8E84-426E-40DD-AFC4-6F175D3DCCD1}">
              <a14:hiddenFill xmlns:a14="http://schemas.microsoft.com/office/drawing/2010/main">
                <a:solidFill>
                  <a:srgbClr val="FFFFFF"/>
                </a:solidFill>
              </a14:hiddenFill>
            </a:ext>
          </a:extLst>
        </p:spPr>
      </p:pic>
      <p:pic>
        <p:nvPicPr>
          <p:cNvPr id="82" name="図 81">
            <a:extLst>
              <a:ext uri="{FF2B5EF4-FFF2-40B4-BE49-F238E27FC236}">
                <a16:creationId xmlns:a16="http://schemas.microsoft.com/office/drawing/2014/main" id="{D48D07B1-AEE7-AB40-11A9-8CD50D266DCE}"/>
              </a:ext>
            </a:extLst>
          </p:cNvPr>
          <p:cNvPicPr>
            <a:picLocks noChangeAspect="1"/>
          </p:cNvPicPr>
          <p:nvPr/>
        </p:nvPicPr>
        <p:blipFill>
          <a:blip r:embed="rId12"/>
          <a:stretch>
            <a:fillRect/>
          </a:stretch>
        </p:blipFill>
        <p:spPr>
          <a:xfrm>
            <a:off x="6791286" y="2858014"/>
            <a:ext cx="976645" cy="223061"/>
          </a:xfrm>
          <a:prstGeom prst="rect">
            <a:avLst/>
          </a:prstGeom>
        </p:spPr>
      </p:pic>
    </p:spTree>
    <p:extLst>
      <p:ext uri="{BB962C8B-B14F-4D97-AF65-F5344CB8AC3E}">
        <p14:creationId xmlns:p14="http://schemas.microsoft.com/office/powerpoint/2010/main" val="2662034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1FF91A01-9B7B-48BD-AAA5-CA226AB1EAC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4" name="オブジェクト 3" hidden="1">
                        <a:extLst>
                          <a:ext uri="{FF2B5EF4-FFF2-40B4-BE49-F238E27FC236}">
                            <a16:creationId xmlns:a16="http://schemas.microsoft.com/office/drawing/2014/main" id="{1FF91A01-9B7B-48BD-AAA5-CA226AB1EAC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5608" name="タイトル 1"/>
          <p:cNvSpPr>
            <a:spLocks noGrp="1"/>
          </p:cNvSpPr>
          <p:nvPr>
            <p:ph type="title"/>
          </p:nvPr>
        </p:nvSpPr>
        <p:spPr bwMode="gray"/>
        <p:txBody>
          <a:bodyPr vert="horz" lIns="0" tIns="0" rIns="0" bIns="0" rtlCol="0" anchor="b" anchorCtr="0">
            <a:noAutofit/>
          </a:bodyPr>
          <a:lstStyle/>
          <a:p>
            <a:r>
              <a:rPr lang="ja-JP" altLang="en-US" dirty="0"/>
              <a:t>“バイサイド”の主な業務内容</a:t>
            </a:r>
          </a:p>
        </p:txBody>
      </p:sp>
      <p:sp>
        <p:nvSpPr>
          <p:cNvPr id="25609" name="コンテンツ プレースホルダ 2"/>
          <p:cNvSpPr>
            <a:spLocks noGrp="1"/>
          </p:cNvSpPr>
          <p:nvPr>
            <p:ph type="body" idx="12"/>
          </p:nvPr>
        </p:nvSpPr>
        <p:spPr bwMode="gray"/>
        <p:txBody>
          <a:bodyPr/>
          <a:lstStyle/>
          <a:p>
            <a:r>
              <a:rPr lang="ja-JP" altLang="en-US" dirty="0"/>
              <a:t>運用会社は投資家の資金を運用し、リターン創出のための投資判断を行う。一方、資産管理銀行はその資産を“守り・整え・可視化する”役割を担い、取引管理からレポーティングまで投資を支える基盤を提供する。</a:t>
            </a:r>
            <a:endParaRPr lang="en-US" altLang="ja-JP" dirty="0">
              <a:latin typeface="Meiryo UI" panose="020B0604030504040204" pitchFamily="50" charset="-128"/>
              <a:ea typeface="Meiryo UI" panose="020B0604030504040204" pitchFamily="50" charset="-128"/>
            </a:endParaRPr>
          </a:p>
        </p:txBody>
      </p:sp>
      <p:sp>
        <p:nvSpPr>
          <p:cNvPr id="2" name="テキスト プレースホルダー 1">
            <a:extLst>
              <a:ext uri="{FF2B5EF4-FFF2-40B4-BE49-F238E27FC236}">
                <a16:creationId xmlns:a16="http://schemas.microsoft.com/office/drawing/2014/main" id="{1CD32D3E-8BE7-4327-BEAE-95B79D36ABBA}"/>
              </a:ext>
            </a:extLst>
          </p:cNvPr>
          <p:cNvSpPr>
            <a:spLocks noGrp="1"/>
          </p:cNvSpPr>
          <p:nvPr>
            <p:ph type="body" sz="quarter" idx="13"/>
          </p:nvPr>
        </p:nvSpPr>
        <p:spPr/>
        <p:txBody>
          <a:bodyPr/>
          <a:lstStyle/>
          <a:p>
            <a:r>
              <a:rPr lang="en-US" altLang="ja-JP" dirty="0"/>
              <a:t>2. </a:t>
            </a:r>
            <a:r>
              <a:rPr lang="ja-JP" altLang="en-US" dirty="0"/>
              <a:t>各機能の紹介</a:t>
            </a:r>
          </a:p>
        </p:txBody>
      </p:sp>
      <p:sp>
        <p:nvSpPr>
          <p:cNvPr id="23" name="正方形/長方形 22">
            <a:extLst>
              <a:ext uri="{FF2B5EF4-FFF2-40B4-BE49-F238E27FC236}">
                <a16:creationId xmlns:a16="http://schemas.microsoft.com/office/drawing/2014/main" id="{4B372CCA-A2E7-3B0A-E915-F933EC64974B}"/>
              </a:ext>
            </a:extLst>
          </p:cNvPr>
          <p:cNvSpPr/>
          <p:nvPr/>
        </p:nvSpPr>
        <p:spPr>
          <a:xfrm>
            <a:off x="4248402" y="585465"/>
            <a:ext cx="263720" cy="263720"/>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solidFill>
                  <a:srgbClr val="FFFFFF"/>
                </a:solidFill>
                <a:latin typeface="Meiryo UI" panose="020B0604030504040204" pitchFamily="50" charset="-128"/>
                <a:ea typeface="Meiryo UI" panose="020B0604030504040204" pitchFamily="50" charset="-128"/>
              </a:rPr>
              <a:t>1</a:t>
            </a:r>
            <a:endParaRPr kumimoji="1" lang="ja-JP" altLang="en-US" sz="1200" b="1" kern="0" dirty="0">
              <a:solidFill>
                <a:srgbClr val="FFFFFF"/>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91F9F27B-0827-D293-366A-DAB898AB0AAE}"/>
              </a:ext>
            </a:extLst>
          </p:cNvPr>
          <p:cNvSpPr/>
          <p:nvPr/>
        </p:nvSpPr>
        <p:spPr>
          <a:xfrm>
            <a:off x="4548146" y="585465"/>
            <a:ext cx="263720" cy="263720"/>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200" b="1" kern="0" dirty="0">
                <a:solidFill>
                  <a:srgbClr val="FFFFFF"/>
                </a:solidFill>
                <a:latin typeface="Meiryo UI" panose="020B0604030504040204" pitchFamily="50" charset="-128"/>
                <a:ea typeface="Meiryo UI" panose="020B0604030504040204" pitchFamily="50" charset="-128"/>
              </a:rPr>
              <a:t>２</a:t>
            </a:r>
          </a:p>
        </p:txBody>
      </p:sp>
      <p:sp>
        <p:nvSpPr>
          <p:cNvPr id="19" name="正方形/長方形 18"/>
          <p:cNvSpPr/>
          <p:nvPr/>
        </p:nvSpPr>
        <p:spPr bwMode="gray">
          <a:xfrm>
            <a:off x="850494" y="5024866"/>
            <a:ext cx="2686871" cy="32400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algn="ctr" eaLnBrk="0" hangingPunct="0">
              <a:spcBef>
                <a:spcPts val="0"/>
              </a:spcBef>
            </a:pPr>
            <a:r>
              <a:rPr lang="ja-JP" altLang="en-US" dirty="0">
                <a:latin typeface="Meiryo UI" panose="020B0604030504040204" pitchFamily="50" charset="-128"/>
                <a:ea typeface="Meiryo UI" panose="020B0604030504040204" pitchFamily="50" charset="-128"/>
              </a:rPr>
              <a:t>資産管理銀行</a:t>
            </a:r>
            <a:endParaRPr lang="en-US" altLang="ja-JP" dirty="0">
              <a:latin typeface="Meiryo UI" panose="020B0604030504040204" pitchFamily="50" charset="-128"/>
              <a:ea typeface="Meiryo UI" panose="020B0604030504040204" pitchFamily="50" charset="-128"/>
            </a:endParaRPr>
          </a:p>
        </p:txBody>
      </p:sp>
      <p:sp>
        <p:nvSpPr>
          <p:cNvPr id="20" name="正方形/長方形 19"/>
          <p:cNvSpPr/>
          <p:nvPr/>
        </p:nvSpPr>
        <p:spPr bwMode="gray">
          <a:xfrm>
            <a:off x="850494" y="1829520"/>
            <a:ext cx="2686871" cy="32400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algn="ctr" eaLnBrk="0" hangingPunct="0">
              <a:spcBef>
                <a:spcPts val="0"/>
              </a:spcBef>
            </a:pPr>
            <a:r>
              <a:rPr lang="ja-JP" altLang="en-US" dirty="0">
                <a:latin typeface="Meiryo UI" panose="020B0604030504040204" pitchFamily="50" charset="-128"/>
                <a:ea typeface="Meiryo UI" panose="020B0604030504040204" pitchFamily="50" charset="-128"/>
              </a:rPr>
              <a:t>運用会社</a:t>
            </a:r>
            <a:endParaRPr lang="en-US" altLang="ja-JP" dirty="0">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1D99323D-74CC-4EC3-8D61-1D5B57C6E597}"/>
              </a:ext>
            </a:extLst>
          </p:cNvPr>
          <p:cNvGrpSpPr/>
          <p:nvPr/>
        </p:nvGrpSpPr>
        <p:grpSpPr>
          <a:xfrm>
            <a:off x="3634006" y="2819957"/>
            <a:ext cx="5711606" cy="1182404"/>
            <a:chOff x="3634005" y="3660410"/>
            <a:chExt cx="5711606" cy="900000"/>
          </a:xfrm>
        </p:grpSpPr>
        <p:sp>
          <p:nvSpPr>
            <p:cNvPr id="51" name="角丸四角形 50"/>
            <p:cNvSpPr/>
            <p:nvPr/>
          </p:nvSpPr>
          <p:spPr bwMode="gray">
            <a:xfrm>
              <a:off x="3634005" y="3660415"/>
              <a:ext cx="1030955" cy="899995"/>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投資一任</a:t>
              </a:r>
            </a:p>
          </p:txBody>
        </p:sp>
        <p:sp>
          <p:nvSpPr>
            <p:cNvPr id="41" name="角丸四角形 50">
              <a:extLst>
                <a:ext uri="{FF2B5EF4-FFF2-40B4-BE49-F238E27FC236}">
                  <a16:creationId xmlns:a16="http://schemas.microsoft.com/office/drawing/2014/main" id="{8474771A-738E-4725-AF9E-2D13617F26F7}"/>
                </a:ext>
              </a:extLst>
            </p:cNvPr>
            <p:cNvSpPr/>
            <p:nvPr/>
          </p:nvSpPr>
          <p:spPr bwMode="gray">
            <a:xfrm>
              <a:off x="4761601" y="3660410"/>
              <a:ext cx="4584010" cy="899995"/>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顧客が運用判断を委託することで、専門的な知見を活用し、効率的な資産形成の実現を目指す</a:t>
              </a:r>
              <a:endParaRPr lang="en-US" altLang="ja-JP" sz="1100" dirty="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主に機関投資家から運用方針を受託し、顧客のポートフォリオに応じたカスタマイズ運用を提供</a:t>
              </a:r>
              <a:endParaRPr lang="en-US" altLang="ja-JP" sz="1100" dirty="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顧客のリスク許容度や投資目標に基づき、試算配分を設計し、運用指図やリスク管理、定期的なレポーティングを実施</a:t>
              </a:r>
            </a:p>
          </p:txBody>
        </p:sp>
      </p:grpSp>
      <p:grpSp>
        <p:nvGrpSpPr>
          <p:cNvPr id="8" name="グループ化 7">
            <a:extLst>
              <a:ext uri="{FF2B5EF4-FFF2-40B4-BE49-F238E27FC236}">
                <a16:creationId xmlns:a16="http://schemas.microsoft.com/office/drawing/2014/main" id="{42C43C81-F5C3-459A-84EF-07BF36E1F8F1}"/>
              </a:ext>
            </a:extLst>
          </p:cNvPr>
          <p:cNvGrpSpPr/>
          <p:nvPr/>
        </p:nvGrpSpPr>
        <p:grpSpPr>
          <a:xfrm>
            <a:off x="3634006" y="4048130"/>
            <a:ext cx="5711606" cy="835600"/>
            <a:chOff x="3634005" y="4606914"/>
            <a:chExt cx="5711606" cy="900000"/>
          </a:xfrm>
        </p:grpSpPr>
        <p:sp>
          <p:nvSpPr>
            <p:cNvPr id="52" name="角丸四角形 51"/>
            <p:cNvSpPr/>
            <p:nvPr/>
          </p:nvSpPr>
          <p:spPr bwMode="gray">
            <a:xfrm>
              <a:off x="3634005" y="4606921"/>
              <a:ext cx="1030955" cy="899993"/>
            </a:xfrm>
            <a:prstGeom prst="rect">
              <a:avLst/>
            </a:prstGeom>
            <a:solidFill>
              <a:schemeClr val="accent1">
                <a:lumMod val="40000"/>
                <a:lumOff val="60000"/>
              </a:schemeClr>
            </a:solidFill>
            <a:ln w="6350" algn="ctr">
              <a:solidFill>
                <a:schemeClr val="accent1">
                  <a:lumMod val="40000"/>
                  <a:lumOff val="60000"/>
                </a:schemeClr>
              </a:solidFill>
              <a:miter lim="800000"/>
              <a:headEnd/>
              <a:tailEnd/>
            </a:ln>
            <a:effectLst/>
          </p:spPr>
          <p:txBody>
            <a:bodyPr wrap="none" lIns="36000" tIns="36000" rIns="36000" bIns="36000" anchor="ctr"/>
            <a:lstStyle/>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自己勘定取引</a:t>
              </a:r>
              <a:endParaRPr kumimoji="1" lang="en-US" altLang="ja-JP" sz="1200" b="0" dirty="0">
                <a:solidFill>
                  <a:schemeClr val="bg1"/>
                </a:solidFill>
                <a:latin typeface="Meiryo UI" panose="020B0604030504040204" pitchFamily="50" charset="-128"/>
                <a:ea typeface="Meiryo UI" panose="020B0604030504040204" pitchFamily="50" charset="-128"/>
              </a:endParaRPr>
            </a:p>
          </p:txBody>
        </p:sp>
        <p:sp>
          <p:nvSpPr>
            <p:cNvPr id="42" name="角丸四角形 51">
              <a:extLst>
                <a:ext uri="{FF2B5EF4-FFF2-40B4-BE49-F238E27FC236}">
                  <a16:creationId xmlns:a16="http://schemas.microsoft.com/office/drawing/2014/main" id="{687BDECA-E555-4167-90C9-96F7C3206A80}"/>
                </a:ext>
              </a:extLst>
            </p:cNvPr>
            <p:cNvSpPr/>
            <p:nvPr/>
          </p:nvSpPr>
          <p:spPr bwMode="gray">
            <a:xfrm>
              <a:off x="4761601" y="4606914"/>
              <a:ext cx="4584010" cy="899993"/>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銀行が自社資金を用いて債券、株式、為替などの取引を行うことで、収益確保やリスクヘッジを目指す</a:t>
              </a:r>
              <a:endParaRPr lang="en-US" altLang="ja-JP" sz="1100" dirty="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マーケットメイクの役割も果たしており、流動性供給を通じて市場の安定性を支える機能も担う</a:t>
              </a:r>
            </a:p>
          </p:txBody>
        </p:sp>
      </p:grpSp>
      <p:grpSp>
        <p:nvGrpSpPr>
          <p:cNvPr id="9" name="グループ化 8">
            <a:extLst>
              <a:ext uri="{FF2B5EF4-FFF2-40B4-BE49-F238E27FC236}">
                <a16:creationId xmlns:a16="http://schemas.microsoft.com/office/drawing/2014/main" id="{C4A1344C-B704-4776-B7BE-5E9D77FC30C9}"/>
              </a:ext>
            </a:extLst>
          </p:cNvPr>
          <p:cNvGrpSpPr/>
          <p:nvPr/>
        </p:nvGrpSpPr>
        <p:grpSpPr>
          <a:xfrm>
            <a:off x="3634006" y="1818650"/>
            <a:ext cx="5711606" cy="955537"/>
            <a:chOff x="3634005" y="5553420"/>
            <a:chExt cx="5711606" cy="900000"/>
          </a:xfrm>
        </p:grpSpPr>
        <p:sp>
          <p:nvSpPr>
            <p:cNvPr id="53" name="角丸四角形 52"/>
            <p:cNvSpPr/>
            <p:nvPr/>
          </p:nvSpPr>
          <p:spPr bwMode="gray">
            <a:xfrm>
              <a:off x="3634005" y="5553420"/>
              <a:ext cx="1030955" cy="900000"/>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投資信託</a:t>
              </a:r>
            </a:p>
          </p:txBody>
        </p:sp>
        <p:sp>
          <p:nvSpPr>
            <p:cNvPr id="43" name="角丸四角形 52">
              <a:extLst>
                <a:ext uri="{FF2B5EF4-FFF2-40B4-BE49-F238E27FC236}">
                  <a16:creationId xmlns:a16="http://schemas.microsoft.com/office/drawing/2014/main" id="{8083D63A-3F9F-4752-A327-5519FEC2CFA2}"/>
                </a:ext>
              </a:extLst>
            </p:cNvPr>
            <p:cNvSpPr/>
            <p:nvPr/>
          </p:nvSpPr>
          <p:spPr bwMode="gray">
            <a:xfrm>
              <a:off x="4761601" y="5553420"/>
              <a:ext cx="4584010" cy="900000"/>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複数の投資家から資金を集めて一つのファンドとして運用し、その成果を基準価額として投資家に還元</a:t>
              </a:r>
              <a:endParaRPr lang="en-US" altLang="ja-JP" sz="1100" dirty="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運用にあたっては、試算配分戦略、リスク管理、パフォーマンス評価が必要であり、ファンドマネージャーは市場環境や経済指標を分析しながら、長期的なリターンを追求する</a:t>
              </a:r>
            </a:p>
          </p:txBody>
        </p:sp>
      </p:grpSp>
      <p:grpSp>
        <p:nvGrpSpPr>
          <p:cNvPr id="5" name="グループ化 4">
            <a:extLst>
              <a:ext uri="{FF2B5EF4-FFF2-40B4-BE49-F238E27FC236}">
                <a16:creationId xmlns:a16="http://schemas.microsoft.com/office/drawing/2014/main" id="{02D8C3CD-BD32-4B43-9F24-AF209F4089D9}"/>
              </a:ext>
            </a:extLst>
          </p:cNvPr>
          <p:cNvGrpSpPr/>
          <p:nvPr/>
        </p:nvGrpSpPr>
        <p:grpSpPr>
          <a:xfrm>
            <a:off x="3634006" y="5024865"/>
            <a:ext cx="5711606" cy="835593"/>
            <a:chOff x="3634005" y="1900895"/>
            <a:chExt cx="5711606" cy="828000"/>
          </a:xfrm>
        </p:grpSpPr>
        <p:sp>
          <p:nvSpPr>
            <p:cNvPr id="12" name="角丸四角形 11"/>
            <p:cNvSpPr/>
            <p:nvPr/>
          </p:nvSpPr>
          <p:spPr bwMode="gray">
            <a:xfrm>
              <a:off x="3634005" y="1900895"/>
              <a:ext cx="1030955" cy="828000"/>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受託</a:t>
              </a:r>
              <a:endParaRPr lang="en-US" altLang="ja-JP" sz="1200" dirty="0">
                <a:solidFill>
                  <a:schemeClr val="bg1"/>
                </a:solidFill>
                <a:latin typeface="Meiryo UI" panose="020B0604030504040204" pitchFamily="50" charset="-128"/>
                <a:ea typeface="Meiryo UI" panose="020B0604030504040204" pitchFamily="50" charset="-128"/>
              </a:endParaRPr>
            </a:p>
          </p:txBody>
        </p:sp>
        <p:sp>
          <p:nvSpPr>
            <p:cNvPr id="46" name="角丸四角形 11">
              <a:extLst>
                <a:ext uri="{FF2B5EF4-FFF2-40B4-BE49-F238E27FC236}">
                  <a16:creationId xmlns:a16="http://schemas.microsoft.com/office/drawing/2014/main" id="{61BC02A1-99D0-40C6-9B5E-0026F6027F33}"/>
                </a:ext>
              </a:extLst>
            </p:cNvPr>
            <p:cNvSpPr/>
            <p:nvPr/>
          </p:nvSpPr>
          <p:spPr bwMode="gray">
            <a:xfrm>
              <a:off x="4761601" y="1900895"/>
              <a:ext cx="4584010" cy="828000"/>
            </a:xfrm>
            <a:prstGeom prst="rect">
              <a:avLst/>
            </a:prstGeom>
            <a:noFill/>
            <a:ln w="6350" algn="ctr">
              <a:noFill/>
              <a:miter lim="800000"/>
              <a:headEnd/>
              <a:tailEnd/>
            </a:ln>
            <a:effectLst/>
          </p:spPr>
          <p:txBody>
            <a:bodyPr lIns="36000" tIns="36000" rIns="36000" bIns="36000" anchor="ctr"/>
            <a:lstStyle/>
            <a:p>
              <a:pPr marL="92075"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運用会社や機関投資家から預かった有価証券や資産を保管・管理</a:t>
              </a:r>
              <a:endParaRPr lang="en-US" altLang="ja-JP" sz="1100" dirty="0">
                <a:latin typeface="Meiryo UI" panose="020B0604030504040204" pitchFamily="50" charset="-128"/>
                <a:ea typeface="Meiryo UI" panose="020B0604030504040204" pitchFamily="50" charset="-128"/>
              </a:endParaRPr>
            </a:p>
            <a:p>
              <a:pPr marL="92075"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運用会社や投資家の指図に基づき、決済の代理、配当金の代理受領、議決権行使指図受領書の代理受領、ディスクローズ情報の提供、その他オプションサービス等、有価証券に関するサービスを提供</a:t>
              </a:r>
              <a:endParaRPr lang="en-US" altLang="ja-JP" sz="1100" dirty="0">
                <a:latin typeface="Meiryo UI" panose="020B0604030504040204" pitchFamily="50" charset="-128"/>
                <a:ea typeface="Meiryo UI" panose="020B0604030504040204" pitchFamily="50" charset="-128"/>
              </a:endParaRPr>
            </a:p>
          </p:txBody>
        </p:sp>
      </p:grpSp>
      <p:sp>
        <p:nvSpPr>
          <p:cNvPr id="39" name="正方形/長方形 38">
            <a:extLst>
              <a:ext uri="{FF2B5EF4-FFF2-40B4-BE49-F238E27FC236}">
                <a16:creationId xmlns:a16="http://schemas.microsoft.com/office/drawing/2014/main" id="{79AF74F1-5220-4AF8-9A12-9E529CE59506}"/>
              </a:ext>
            </a:extLst>
          </p:cNvPr>
          <p:cNvSpPr/>
          <p:nvPr/>
        </p:nvSpPr>
        <p:spPr bwMode="gray">
          <a:xfrm>
            <a:off x="560389" y="5385653"/>
            <a:ext cx="2976976" cy="1376762"/>
          </a:xfrm>
          <a:prstGeom prst="rect">
            <a:avLst/>
          </a:prstGeom>
          <a:noFill/>
          <a:ln w="28575" algn="ctr">
            <a:noFill/>
            <a:prstDash val="solid"/>
            <a:miter lim="800000"/>
            <a:headEnd/>
            <a:tailEnd/>
          </a:ln>
          <a:effectLst/>
        </p:spPr>
        <p:txBody>
          <a:bodyPr vert="horz" wrap="square" lIns="144000" tIns="36000" rIns="36000" bIns="36000" anchor="t"/>
          <a:lstStyle/>
          <a:p>
            <a:pPr>
              <a:spcBef>
                <a:spcPts val="0"/>
              </a:spcBef>
            </a:pPr>
            <a:r>
              <a:rPr lang="ja-JP" altLang="en-US" dirty="0">
                <a:latin typeface="Meiryo UI" panose="020B0604030504040204" pitchFamily="50" charset="-128"/>
                <a:ea typeface="Meiryo UI" panose="020B0604030504040204" pitchFamily="50" charset="-128"/>
              </a:rPr>
              <a:t>資産管理（カストディ）業務の専門機関として、機関投資家や運用会社が保有する有価証券の安全な管理を担う</a:t>
            </a:r>
            <a:endParaRPr lang="en-US" altLang="ja-JP" dirty="0">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B044A1F4-AB56-4D2E-9F71-E4F81171739C}"/>
              </a:ext>
            </a:extLst>
          </p:cNvPr>
          <p:cNvSpPr/>
          <p:nvPr/>
        </p:nvSpPr>
        <p:spPr bwMode="gray">
          <a:xfrm>
            <a:off x="560389" y="2303522"/>
            <a:ext cx="2592361" cy="2317894"/>
          </a:xfrm>
          <a:prstGeom prst="rect">
            <a:avLst/>
          </a:prstGeom>
          <a:noFill/>
          <a:ln w="28575" algn="ctr">
            <a:noFill/>
            <a:prstDash val="solid"/>
            <a:miter lim="800000"/>
            <a:headEnd/>
            <a:tailEnd/>
          </a:ln>
          <a:effectLst/>
        </p:spPr>
        <p:txBody>
          <a:bodyPr vert="horz" wrap="square" lIns="144000" tIns="36000" rIns="36000" bIns="36000" anchor="t"/>
          <a:lstStyle/>
          <a:p>
            <a:pPr>
              <a:spcBef>
                <a:spcPts val="0"/>
              </a:spcBef>
            </a:pPr>
            <a:endParaRPr lang="en-US" altLang="ja-JP" dirty="0">
              <a:latin typeface="Meiryo UI" panose="020B0604030504040204" pitchFamily="50" charset="-128"/>
              <a:ea typeface="Meiryo UI" panose="020B0604030504040204" pitchFamily="50" charset="-128"/>
            </a:endParaRPr>
          </a:p>
        </p:txBody>
      </p:sp>
      <p:cxnSp>
        <p:nvCxnSpPr>
          <p:cNvPr id="33" name="直線コネクタ 49">
            <a:extLst>
              <a:ext uri="{FF2B5EF4-FFF2-40B4-BE49-F238E27FC236}">
                <a16:creationId xmlns:a16="http://schemas.microsoft.com/office/drawing/2014/main" id="{8CA3F138-ABF8-45A9-B7BE-21766249DACF}"/>
              </a:ext>
            </a:extLst>
          </p:cNvPr>
          <p:cNvCxnSpPr>
            <a:cxnSpLocks noChangeShapeType="1"/>
          </p:cNvCxnSpPr>
          <p:nvPr/>
        </p:nvCxnSpPr>
        <p:spPr bwMode="gray">
          <a:xfrm>
            <a:off x="560389" y="4954300"/>
            <a:ext cx="8785221" cy="0"/>
          </a:xfrm>
          <a:prstGeom prst="line">
            <a:avLst/>
          </a:prstGeom>
          <a:noFill/>
          <a:ln w="6350" algn="ctr">
            <a:solidFill>
              <a:schemeClr val="tx1">
                <a:lumMod val="75000"/>
                <a:lumOff val="25000"/>
              </a:schemeClr>
            </a:solidFill>
            <a:prstDash val="solid"/>
            <a:round/>
            <a:headEnd/>
            <a:tailEnd/>
          </a:ln>
          <a:extLst>
            <a:ext uri="{909E8E84-426E-40DD-AFC4-6F175D3DCCD1}">
              <a14:hiddenFill xmlns:a14="http://schemas.microsoft.com/office/drawing/2010/main">
                <a:noFill/>
              </a14:hiddenFill>
            </a:ext>
          </a:extLst>
        </p:spPr>
      </p:cxnSp>
      <p:cxnSp>
        <p:nvCxnSpPr>
          <p:cNvPr id="36" name="直線コネクタ 49">
            <a:extLst>
              <a:ext uri="{FF2B5EF4-FFF2-40B4-BE49-F238E27FC236}">
                <a16:creationId xmlns:a16="http://schemas.microsoft.com/office/drawing/2014/main" id="{592397BB-C3C5-4D97-B859-0EC442912037}"/>
              </a:ext>
            </a:extLst>
          </p:cNvPr>
          <p:cNvCxnSpPr>
            <a:cxnSpLocks noChangeShapeType="1"/>
          </p:cNvCxnSpPr>
          <p:nvPr/>
        </p:nvCxnSpPr>
        <p:spPr bwMode="gray">
          <a:xfrm>
            <a:off x="4761602" y="4025246"/>
            <a:ext cx="4582800" cy="0"/>
          </a:xfrm>
          <a:prstGeom prst="line">
            <a:avLst/>
          </a:prstGeom>
          <a:noFill/>
          <a:ln w="6350" algn="ctr">
            <a:solidFill>
              <a:schemeClr val="tx1">
                <a:lumMod val="75000"/>
                <a:lumOff val="25000"/>
              </a:schemeClr>
            </a:solidFill>
            <a:prstDash val="dash"/>
            <a:round/>
            <a:headEnd/>
            <a:tailEnd/>
          </a:ln>
          <a:extLst>
            <a:ext uri="{909E8E84-426E-40DD-AFC4-6F175D3DCCD1}">
              <a14:hiddenFill xmlns:a14="http://schemas.microsoft.com/office/drawing/2010/main">
                <a:noFill/>
              </a14:hiddenFill>
            </a:ext>
          </a:extLst>
        </p:spPr>
      </p:cxnSp>
      <p:sp>
        <p:nvSpPr>
          <p:cNvPr id="25" name="正方形/長方形 24">
            <a:extLst>
              <a:ext uri="{FF2B5EF4-FFF2-40B4-BE49-F238E27FC236}">
                <a16:creationId xmlns:a16="http://schemas.microsoft.com/office/drawing/2014/main" id="{1ABEA591-4E0C-9A61-3107-288D2B5E76D7}"/>
              </a:ext>
            </a:extLst>
          </p:cNvPr>
          <p:cNvSpPr/>
          <p:nvPr/>
        </p:nvSpPr>
        <p:spPr>
          <a:xfrm>
            <a:off x="560389" y="1829519"/>
            <a:ext cx="290105" cy="320463"/>
          </a:xfrm>
          <a:prstGeom prst="rect">
            <a:avLst/>
          </a:prstGeom>
          <a:solidFill>
            <a:schemeClr val="accent2">
              <a:lumMod val="75000"/>
            </a:schemeClr>
          </a:solidFill>
          <a:ln w="12700" cap="flat" cmpd="sng" algn="ctr">
            <a:solidFill>
              <a:schemeClr val="accent2">
                <a:lumMod val="75000"/>
              </a:schemeClr>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lang="ja-JP" altLang="en-US" sz="1200" b="1" kern="0" dirty="0">
                <a:solidFill>
                  <a:srgbClr val="FFFFFF"/>
                </a:solidFill>
                <a:latin typeface="Meiryo UI" panose="020B0604030504040204" pitchFamily="50" charset="-128"/>
                <a:ea typeface="Meiryo UI" panose="020B0604030504040204" pitchFamily="50" charset="-128"/>
              </a:rPr>
              <a:t>１</a:t>
            </a:r>
          </a:p>
        </p:txBody>
      </p:sp>
      <p:sp>
        <p:nvSpPr>
          <p:cNvPr id="27" name="正方形/長方形 26">
            <a:extLst>
              <a:ext uri="{FF2B5EF4-FFF2-40B4-BE49-F238E27FC236}">
                <a16:creationId xmlns:a16="http://schemas.microsoft.com/office/drawing/2014/main" id="{E276889B-4238-BF07-DBD2-099D0A526E91}"/>
              </a:ext>
            </a:extLst>
          </p:cNvPr>
          <p:cNvSpPr/>
          <p:nvPr/>
        </p:nvSpPr>
        <p:spPr>
          <a:xfrm>
            <a:off x="560389" y="5024865"/>
            <a:ext cx="290105" cy="320463"/>
          </a:xfrm>
          <a:prstGeom prst="rect">
            <a:avLst/>
          </a:prstGeom>
          <a:solidFill>
            <a:schemeClr val="accent2">
              <a:lumMod val="75000"/>
            </a:schemeClr>
          </a:solidFill>
          <a:ln w="12700" cap="flat" cmpd="sng" algn="ctr">
            <a:solidFill>
              <a:schemeClr val="accent2">
                <a:lumMod val="75000"/>
              </a:schemeClr>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lang="ja-JP" altLang="en-US" sz="1200" b="1" kern="0" dirty="0">
                <a:solidFill>
                  <a:srgbClr val="FFFFFF"/>
                </a:solidFill>
                <a:latin typeface="Meiryo UI" panose="020B0604030504040204" pitchFamily="50" charset="-128"/>
                <a:ea typeface="Meiryo UI" panose="020B0604030504040204" pitchFamily="50" charset="-128"/>
              </a:rPr>
              <a:t>２</a:t>
            </a:r>
          </a:p>
        </p:txBody>
      </p:sp>
      <p:sp>
        <p:nvSpPr>
          <p:cNvPr id="11" name="正方形/長方形 10">
            <a:extLst>
              <a:ext uri="{FF2B5EF4-FFF2-40B4-BE49-F238E27FC236}">
                <a16:creationId xmlns:a16="http://schemas.microsoft.com/office/drawing/2014/main" id="{8B6B767A-015B-5303-E444-5CD436B5C218}"/>
              </a:ext>
            </a:extLst>
          </p:cNvPr>
          <p:cNvSpPr/>
          <p:nvPr/>
        </p:nvSpPr>
        <p:spPr>
          <a:xfrm>
            <a:off x="3634006" y="2819957"/>
            <a:ext cx="396000" cy="201494"/>
          </a:xfrm>
          <a:prstGeom prst="rect">
            <a:avLst/>
          </a:prstGeom>
          <a:solidFill>
            <a:schemeClr val="accent2">
              <a:lumMod val="40000"/>
              <a:lumOff val="60000"/>
            </a:schemeClr>
          </a:solidFill>
          <a:ln w="9525"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1-B</a:t>
            </a:r>
            <a:endParaRPr kumimoji="1" lang="ja-JP" altLang="en-US" sz="1200" b="1" kern="0" dirty="0">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A737E5F7-A0A8-B421-F9B8-2B9CA07CA4CC}"/>
              </a:ext>
            </a:extLst>
          </p:cNvPr>
          <p:cNvSpPr/>
          <p:nvPr/>
        </p:nvSpPr>
        <p:spPr bwMode="gray">
          <a:xfrm>
            <a:off x="560389" y="2186769"/>
            <a:ext cx="2976976" cy="2725361"/>
          </a:xfrm>
          <a:prstGeom prst="rect">
            <a:avLst/>
          </a:prstGeom>
          <a:noFill/>
          <a:ln w="28575" algn="ctr">
            <a:noFill/>
            <a:prstDash val="solid"/>
            <a:miter lim="800000"/>
            <a:headEnd/>
            <a:tailEnd/>
          </a:ln>
          <a:effectLst/>
        </p:spPr>
        <p:txBody>
          <a:bodyPr vert="horz" wrap="square" lIns="144000" tIns="36000" rIns="36000" bIns="36000" anchor="t"/>
          <a:lstStyle/>
          <a:p>
            <a:pPr>
              <a:spcBef>
                <a:spcPts val="0"/>
              </a:spcBef>
            </a:pPr>
            <a:r>
              <a:rPr lang="ja-JP" altLang="en-US" dirty="0">
                <a:latin typeface="Meiryo UI" panose="020B0604030504040204" pitchFamily="50" charset="-128"/>
                <a:ea typeface="Meiryo UI" panose="020B0604030504040204" pitchFamily="50" charset="-128"/>
              </a:rPr>
              <a:t>機関投資家や個人投資家から預かった資金を効率的に運用する役割を果たす</a:t>
            </a:r>
            <a:endParaRPr lang="en-US" altLang="ja-JP" dirty="0">
              <a:latin typeface="Meiryo UI" panose="020B0604030504040204" pitchFamily="50" charset="-128"/>
              <a:ea typeface="Meiryo UI" panose="020B0604030504040204" pitchFamily="50" charset="-128"/>
            </a:endParaRPr>
          </a:p>
          <a:p>
            <a:pPr>
              <a:spcBef>
                <a:spcPts val="0"/>
              </a:spcBef>
            </a:pPr>
            <a:endParaRPr lang="en-US" altLang="ja-JP" dirty="0">
              <a:latin typeface="Meiryo UI" panose="020B0604030504040204" pitchFamily="50" charset="-128"/>
              <a:ea typeface="Meiryo UI" panose="020B0604030504040204" pitchFamily="50" charset="-128"/>
            </a:endParaRPr>
          </a:p>
          <a:p>
            <a:pPr>
              <a:spcBef>
                <a:spcPts val="0"/>
              </a:spcBef>
            </a:pPr>
            <a:r>
              <a:rPr lang="ja-JP" altLang="en-US" dirty="0">
                <a:latin typeface="Meiryo UI" panose="020B0604030504040204" pitchFamily="50" charset="-128"/>
                <a:ea typeface="Meiryo UI" panose="020B0604030504040204" pitchFamily="50" charset="-128"/>
              </a:rPr>
              <a:t>株式、債券、</a:t>
            </a:r>
            <a:r>
              <a:rPr lang="en-US" altLang="ja-JP" dirty="0">
                <a:latin typeface="Meiryo UI" panose="020B0604030504040204" pitchFamily="50" charset="-128"/>
                <a:ea typeface="Meiryo UI" panose="020B0604030504040204" pitchFamily="50" charset="-128"/>
              </a:rPr>
              <a:t>REIT</a:t>
            </a:r>
            <a:r>
              <a:rPr lang="ja-JP" altLang="en-US" dirty="0">
                <a:latin typeface="Meiryo UI" panose="020B0604030504040204" pitchFamily="50" charset="-128"/>
                <a:ea typeface="Meiryo UI" panose="020B0604030504040204" pitchFamily="50" charset="-128"/>
              </a:rPr>
              <a:t>など多様な資産クラスに分散投資することで、顧客の資産価値を最大化することを目的としている</a:t>
            </a:r>
            <a:endParaRPr lang="en-US" altLang="ja-JP" dirty="0">
              <a:latin typeface="Meiryo UI" panose="020B0604030504040204" pitchFamily="50" charset="-128"/>
              <a:ea typeface="Meiryo UI" panose="020B0604030504040204" pitchFamily="50" charset="-128"/>
            </a:endParaRPr>
          </a:p>
        </p:txBody>
      </p:sp>
      <p:cxnSp>
        <p:nvCxnSpPr>
          <p:cNvPr id="17" name="直線コネクタ 49">
            <a:extLst>
              <a:ext uri="{FF2B5EF4-FFF2-40B4-BE49-F238E27FC236}">
                <a16:creationId xmlns:a16="http://schemas.microsoft.com/office/drawing/2014/main" id="{F1BE33A6-BA7A-C032-A9D7-EAFDB90EF9C6}"/>
              </a:ext>
            </a:extLst>
          </p:cNvPr>
          <p:cNvCxnSpPr>
            <a:cxnSpLocks noChangeShapeType="1"/>
          </p:cNvCxnSpPr>
          <p:nvPr/>
        </p:nvCxnSpPr>
        <p:spPr bwMode="gray">
          <a:xfrm>
            <a:off x="4761602" y="2797072"/>
            <a:ext cx="4582800" cy="0"/>
          </a:xfrm>
          <a:prstGeom prst="line">
            <a:avLst/>
          </a:prstGeom>
          <a:noFill/>
          <a:ln w="6350" algn="ctr">
            <a:solidFill>
              <a:schemeClr val="tx1">
                <a:lumMod val="75000"/>
                <a:lumOff val="25000"/>
              </a:schemeClr>
            </a:solidFill>
            <a:prstDash val="dash"/>
            <a:round/>
            <a:headEnd/>
            <a:tailEnd/>
          </a:ln>
          <a:extLst>
            <a:ext uri="{909E8E84-426E-40DD-AFC4-6F175D3DCCD1}">
              <a14:hiddenFill xmlns:a14="http://schemas.microsoft.com/office/drawing/2010/main">
                <a:noFill/>
              </a14:hiddenFill>
            </a:ext>
          </a:extLst>
        </p:spPr>
      </p:cxnSp>
      <p:sp>
        <p:nvSpPr>
          <p:cNvPr id="21" name="正方形/長方形 20">
            <a:extLst>
              <a:ext uri="{FF2B5EF4-FFF2-40B4-BE49-F238E27FC236}">
                <a16:creationId xmlns:a16="http://schemas.microsoft.com/office/drawing/2014/main" id="{A320AE0F-B2CE-5802-5A5C-ED8C0C8C0FFB}"/>
              </a:ext>
            </a:extLst>
          </p:cNvPr>
          <p:cNvSpPr/>
          <p:nvPr/>
        </p:nvSpPr>
        <p:spPr>
          <a:xfrm>
            <a:off x="3634006" y="1818650"/>
            <a:ext cx="396000" cy="201494"/>
          </a:xfrm>
          <a:prstGeom prst="rect">
            <a:avLst/>
          </a:prstGeom>
          <a:solidFill>
            <a:schemeClr val="accent2">
              <a:lumMod val="40000"/>
              <a:lumOff val="60000"/>
            </a:schemeClr>
          </a:solidFill>
          <a:ln w="9525"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1-A</a:t>
            </a:r>
            <a:endParaRPr kumimoji="1" lang="ja-JP" altLang="en-US" sz="1200" b="1" kern="0" dirty="0">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C3788A05-E938-DABC-D372-02102A845F28}"/>
              </a:ext>
            </a:extLst>
          </p:cNvPr>
          <p:cNvGrpSpPr/>
          <p:nvPr/>
        </p:nvGrpSpPr>
        <p:grpSpPr>
          <a:xfrm>
            <a:off x="3634006" y="5926822"/>
            <a:ext cx="5711606" cy="835593"/>
            <a:chOff x="3634005" y="1900895"/>
            <a:chExt cx="5711606" cy="828000"/>
          </a:xfrm>
        </p:grpSpPr>
        <p:sp>
          <p:nvSpPr>
            <p:cNvPr id="31" name="角丸四角形 11">
              <a:extLst>
                <a:ext uri="{FF2B5EF4-FFF2-40B4-BE49-F238E27FC236}">
                  <a16:creationId xmlns:a16="http://schemas.microsoft.com/office/drawing/2014/main" id="{C7B8EA34-6243-D064-FD75-2FE1FC94BD0E}"/>
                </a:ext>
              </a:extLst>
            </p:cNvPr>
            <p:cNvSpPr/>
            <p:nvPr/>
          </p:nvSpPr>
          <p:spPr bwMode="gray">
            <a:xfrm>
              <a:off x="3634005" y="1900895"/>
              <a:ext cx="1030955" cy="828000"/>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lang="ja-JP" altLang="en-US" sz="1200">
                  <a:solidFill>
                    <a:schemeClr val="bg1"/>
                  </a:solidFill>
                  <a:latin typeface="Meiryo UI"/>
                  <a:ea typeface="Meiryo UI"/>
                </a:rPr>
                <a:t>受任</a:t>
              </a:r>
              <a:endParaRPr lang="ja-JP" altLang="en-US" sz="1200" dirty="0">
                <a:solidFill>
                  <a:schemeClr val="bg1"/>
                </a:solidFill>
                <a:latin typeface="Meiryo UI"/>
                <a:ea typeface="Meiryo UI"/>
              </a:endParaRPr>
            </a:p>
          </p:txBody>
        </p:sp>
        <p:sp>
          <p:nvSpPr>
            <p:cNvPr id="34" name="角丸四角形 11">
              <a:extLst>
                <a:ext uri="{FF2B5EF4-FFF2-40B4-BE49-F238E27FC236}">
                  <a16:creationId xmlns:a16="http://schemas.microsoft.com/office/drawing/2014/main" id="{2920CDD5-9C20-E547-F499-A96001E2ECBC}"/>
                </a:ext>
              </a:extLst>
            </p:cNvPr>
            <p:cNvSpPr/>
            <p:nvPr/>
          </p:nvSpPr>
          <p:spPr bwMode="gray">
            <a:xfrm>
              <a:off x="4761601" y="1900895"/>
              <a:ext cx="4584010" cy="828000"/>
            </a:xfrm>
            <a:prstGeom prst="rect">
              <a:avLst/>
            </a:prstGeom>
            <a:noFill/>
            <a:ln w="6350" algn="ctr">
              <a:noFill/>
              <a:miter lim="800000"/>
              <a:headEnd/>
              <a:tailEnd/>
            </a:ln>
            <a:effectLst/>
          </p:spPr>
          <p:txBody>
            <a:bodyPr lIns="36000" tIns="36000" rIns="36000" bIns="36000" anchor="ctr"/>
            <a:lstStyle/>
            <a:p>
              <a:pPr marL="92075"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運用会社や投資家などのバックオフィス業務を代行</a:t>
              </a:r>
              <a:endParaRPr lang="en-US" altLang="ja-JP" sz="1100" dirty="0">
                <a:latin typeface="Meiryo UI" panose="020B0604030504040204" pitchFamily="50" charset="-128"/>
                <a:ea typeface="Meiryo UI" panose="020B0604030504040204" pitchFamily="50" charset="-128"/>
              </a:endParaRPr>
            </a:p>
            <a:p>
              <a:pPr marL="92075"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投信委託会社向けには、基準価額算出業務をはじめ、ポストトレードプロセスから各種レポーティングに至るまで支援</a:t>
              </a:r>
              <a:endParaRPr lang="en-US" altLang="ja-JP" sz="1100" dirty="0">
                <a:latin typeface="Meiryo UI" panose="020B0604030504040204" pitchFamily="50" charset="-128"/>
                <a:ea typeface="Meiryo UI" panose="020B0604030504040204" pitchFamily="50" charset="-128"/>
              </a:endParaRPr>
            </a:p>
            <a:p>
              <a:pPr marL="92075" indent="-92075">
                <a:spcBef>
                  <a:spcPts val="300"/>
                </a:spcBef>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他には、アカウンティングや規制対応向けレポートの作成などを支援</a:t>
              </a:r>
              <a:endParaRPr lang="en-US" altLang="ja-JP" sz="1100" dirty="0">
                <a:latin typeface="Meiryo UI" panose="020B0604030504040204" pitchFamily="50" charset="-128"/>
                <a:ea typeface="Meiryo UI" panose="020B0604030504040204" pitchFamily="50" charset="-128"/>
              </a:endParaRPr>
            </a:p>
          </p:txBody>
        </p:sp>
      </p:grpSp>
      <p:cxnSp>
        <p:nvCxnSpPr>
          <p:cNvPr id="35" name="直線コネクタ 49">
            <a:extLst>
              <a:ext uri="{FF2B5EF4-FFF2-40B4-BE49-F238E27FC236}">
                <a16:creationId xmlns:a16="http://schemas.microsoft.com/office/drawing/2014/main" id="{7D38F229-6534-0B3D-4F63-4E9A99C160F5}"/>
              </a:ext>
            </a:extLst>
          </p:cNvPr>
          <p:cNvCxnSpPr>
            <a:cxnSpLocks noChangeShapeType="1"/>
          </p:cNvCxnSpPr>
          <p:nvPr/>
        </p:nvCxnSpPr>
        <p:spPr bwMode="gray">
          <a:xfrm>
            <a:off x="4761602" y="5893640"/>
            <a:ext cx="4582800" cy="0"/>
          </a:xfrm>
          <a:prstGeom prst="line">
            <a:avLst/>
          </a:prstGeom>
          <a:noFill/>
          <a:ln w="6350" algn="ctr">
            <a:solidFill>
              <a:schemeClr val="tx1">
                <a:lumMod val="75000"/>
                <a:lumOff val="25000"/>
              </a:schemeClr>
            </a:solidFill>
            <a:prstDash val="dash"/>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11991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A17A245A-18CD-4F34-B828-4764CB6F4E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6" imgH="416" progId="TCLayout.ActiveDocument.1">
                  <p:embed/>
                </p:oleObj>
              </mc:Choice>
              <mc:Fallback>
                <p:oleObj name="think-cellスライド" r:id="rId3" imgW="416" imgH="416" progId="TCLayout.ActiveDocument.1">
                  <p:embed/>
                  <p:pic>
                    <p:nvPicPr>
                      <p:cNvPr id="8" name="オブジェクト 7" hidden="1">
                        <a:extLst>
                          <a:ext uri="{FF2B5EF4-FFF2-40B4-BE49-F238E27FC236}">
                            <a16:creationId xmlns:a16="http://schemas.microsoft.com/office/drawing/2014/main" id="{A17A245A-18CD-4F34-B828-4764CB6F4E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698" name="タイトル 1"/>
          <p:cNvSpPr>
            <a:spLocks noGrp="1"/>
          </p:cNvSpPr>
          <p:nvPr>
            <p:ph type="title"/>
          </p:nvPr>
        </p:nvSpPr>
        <p:spPr bwMode="gray"/>
        <p:txBody>
          <a:bodyPr vert="horz" lIns="0" tIns="0" rIns="0" bIns="0" rtlCol="0" anchor="b" anchorCtr="0">
            <a:noAutofit/>
          </a:bodyPr>
          <a:lstStyle/>
          <a:p>
            <a:r>
              <a:rPr lang="ja-JP" altLang="en-US" dirty="0"/>
              <a:t>マーケットインフラの概要（売買から決済までの流れ）</a:t>
            </a:r>
          </a:p>
        </p:txBody>
      </p:sp>
      <p:sp>
        <p:nvSpPr>
          <p:cNvPr id="29699" name="コンテンツ プレースホルダー 2"/>
          <p:cNvSpPr>
            <a:spLocks noGrp="1"/>
          </p:cNvSpPr>
          <p:nvPr>
            <p:ph type="body" idx="12"/>
          </p:nvPr>
        </p:nvSpPr>
        <p:spPr bwMode="gray"/>
        <p:txBody>
          <a:bodyPr/>
          <a:lstStyle/>
          <a:p>
            <a:pPr marL="0" indent="0"/>
            <a:r>
              <a:rPr kumimoji="1" lang="ja-JP" altLang="en-US">
                <a:latin typeface="Meiryo UI" panose="020B0604030504040204" pitchFamily="50" charset="-128"/>
                <a:ea typeface="Meiryo UI" panose="020B0604030504040204" pitchFamily="50" charset="-128"/>
              </a:rPr>
              <a:t>取引所、清算機関、決済機関等のマーケットを支えるインフラが存在。</a:t>
            </a:r>
          </a:p>
        </p:txBody>
      </p:sp>
      <p:sp>
        <p:nvSpPr>
          <p:cNvPr id="2" name="テキスト プレースホルダー 1">
            <a:extLst>
              <a:ext uri="{FF2B5EF4-FFF2-40B4-BE49-F238E27FC236}">
                <a16:creationId xmlns:a16="http://schemas.microsoft.com/office/drawing/2014/main" id="{067209E3-CBFA-4662-8915-6356C3FF466C}"/>
              </a:ext>
            </a:extLst>
          </p:cNvPr>
          <p:cNvSpPr>
            <a:spLocks noGrp="1"/>
          </p:cNvSpPr>
          <p:nvPr>
            <p:ph type="body" sz="quarter" idx="13"/>
          </p:nvPr>
        </p:nvSpPr>
        <p:spPr/>
        <p:txBody>
          <a:bodyPr/>
          <a:lstStyle/>
          <a:p>
            <a:r>
              <a:rPr lang="en-US" altLang="ja-JP" dirty="0"/>
              <a:t>2. </a:t>
            </a:r>
            <a:r>
              <a:rPr lang="ja-JP" altLang="en-US" dirty="0"/>
              <a:t>各機能の紹介</a:t>
            </a:r>
          </a:p>
        </p:txBody>
      </p:sp>
      <p:sp>
        <p:nvSpPr>
          <p:cNvPr id="29715" name="正方形/長方形 22"/>
          <p:cNvSpPr>
            <a:spLocks noChangeArrowheads="1"/>
          </p:cNvSpPr>
          <p:nvPr/>
        </p:nvSpPr>
        <p:spPr bwMode="gray">
          <a:xfrm>
            <a:off x="1916156" y="1286658"/>
            <a:ext cx="3972974" cy="323850"/>
          </a:xfrm>
          <a:prstGeom prst="rect">
            <a:avLst/>
          </a:prstGeom>
          <a:noFill/>
          <a:ln>
            <a:noFill/>
          </a:ln>
        </p:spPr>
        <p:txBody>
          <a:bodyPr lIns="36000" tIns="36000" rIns="36000" bIns="36000" anchor="ctr"/>
          <a:lstStyle/>
          <a:p>
            <a:pPr algn="ctr" eaLnBrk="1" hangingPunct="1">
              <a:spcBef>
                <a:spcPct val="0"/>
              </a:spcBef>
            </a:pPr>
            <a:r>
              <a:rPr kumimoji="1" lang="ja-JP" altLang="en-US" b="0">
                <a:solidFill>
                  <a:srgbClr val="000000"/>
                </a:solidFill>
                <a:latin typeface="Meiryo UI" panose="020B0604030504040204" pitchFamily="50" charset="-128"/>
                <a:ea typeface="Meiryo UI" panose="020B0604030504040204" pitchFamily="50" charset="-128"/>
              </a:rPr>
              <a:t>役割</a:t>
            </a:r>
          </a:p>
        </p:txBody>
      </p:sp>
      <p:cxnSp>
        <p:nvCxnSpPr>
          <p:cNvPr id="29716" name="直線コネクタ 23"/>
          <p:cNvCxnSpPr>
            <a:cxnSpLocks noChangeShapeType="1"/>
          </p:cNvCxnSpPr>
          <p:nvPr/>
        </p:nvCxnSpPr>
        <p:spPr bwMode="gray">
          <a:xfrm>
            <a:off x="1916156" y="1614363"/>
            <a:ext cx="3972974" cy="0"/>
          </a:xfrm>
          <a:prstGeom prst="line">
            <a:avLst/>
          </a:prstGeom>
          <a:noFill/>
          <a:ln w="6350" algn="ctr">
            <a:solidFill>
              <a:schemeClr val="tx1"/>
            </a:solidFill>
            <a:round/>
            <a:headEnd/>
            <a:tailEnd/>
          </a:ln>
          <a:extLst>
            <a:ext uri="{909E8E84-426E-40DD-AFC4-6F175D3DCCD1}">
              <a14:hiddenFill xmlns:a14="http://schemas.microsoft.com/office/drawing/2010/main">
                <a:noFill/>
              </a14:hiddenFill>
            </a:ext>
          </a:extLst>
        </p:spPr>
      </p:cxnSp>
      <p:sp>
        <p:nvSpPr>
          <p:cNvPr id="4" name="矢印: 五方向 3"/>
          <p:cNvSpPr/>
          <p:nvPr/>
        </p:nvSpPr>
        <p:spPr bwMode="gray">
          <a:xfrm rot="5400000">
            <a:off x="482157" y="1746065"/>
            <a:ext cx="1452641" cy="1271336"/>
          </a:xfrm>
          <a:prstGeom prst="homePlate">
            <a:avLst>
              <a:gd name="adj" fmla="val 13397"/>
            </a:avLst>
          </a:prstGeom>
          <a:solidFill>
            <a:schemeClr val="bg1"/>
          </a:solidFill>
          <a:ln w="6350" algn="ctr">
            <a:solidFill>
              <a:schemeClr val="bg2">
                <a:lumMod val="50000"/>
              </a:schemeClr>
            </a:solidFill>
            <a:miter lim="800000"/>
            <a:headEnd/>
            <a:tailEnd/>
          </a:ln>
          <a:effectLst/>
        </p:spPr>
        <p:txBody>
          <a:bodyPr vert="vert270" wrap="none" lIns="36000" tIns="36000" rIns="36000" bIns="36000" anchor="ctr"/>
          <a:lstStyle/>
          <a:p>
            <a:pPr algn="ctr" eaLnBrk="0" hangingPunct="0">
              <a:spcBef>
                <a:spcPts val="0"/>
              </a:spcBef>
            </a:pPr>
            <a:r>
              <a:rPr lang="ja-JP" altLang="en-US" sz="1200">
                <a:latin typeface="Meiryo UI" panose="020B0604030504040204" pitchFamily="50" charset="-128"/>
                <a:ea typeface="Meiryo UI" panose="020B0604030504040204" pitchFamily="50" charset="-128"/>
              </a:rPr>
              <a:t>取引所</a:t>
            </a:r>
            <a:endParaRPr lang="en-US" altLang="ja-JP" sz="1200">
              <a:latin typeface="Meiryo UI" panose="020B0604030504040204" pitchFamily="50" charset="-128"/>
              <a:ea typeface="Meiryo UI" panose="020B0604030504040204" pitchFamily="50" charset="-128"/>
            </a:endParaRPr>
          </a:p>
          <a:p>
            <a:pPr algn="ctr" eaLnBrk="0" hangingPunct="0">
              <a:spcBef>
                <a:spcPts val="0"/>
              </a:spcBef>
            </a:pPr>
            <a:r>
              <a:rPr lang="ja-JP" altLang="en-US" sz="1200">
                <a:latin typeface="Meiryo UI" panose="020B0604030504040204" pitchFamily="50" charset="-128"/>
                <a:ea typeface="Meiryo UI" panose="020B0604030504040204" pitchFamily="50" charset="-128"/>
              </a:rPr>
              <a:t>（売買）</a:t>
            </a:r>
          </a:p>
        </p:txBody>
      </p:sp>
      <p:sp>
        <p:nvSpPr>
          <p:cNvPr id="5" name="矢印: 五方向 4"/>
          <p:cNvSpPr/>
          <p:nvPr/>
        </p:nvSpPr>
        <p:spPr bwMode="gray">
          <a:xfrm rot="5400000">
            <a:off x="481872" y="3310884"/>
            <a:ext cx="1452641" cy="1273494"/>
          </a:xfrm>
          <a:prstGeom prst="homePlate">
            <a:avLst>
              <a:gd name="adj" fmla="val 13397"/>
            </a:avLst>
          </a:prstGeom>
          <a:solidFill>
            <a:schemeClr val="bg1"/>
          </a:solidFill>
          <a:ln w="6350" algn="ctr">
            <a:solidFill>
              <a:schemeClr val="bg2">
                <a:lumMod val="50000"/>
              </a:schemeClr>
            </a:solidFill>
            <a:miter lim="800000"/>
            <a:headEnd/>
            <a:tailEnd/>
          </a:ln>
          <a:effectLst/>
        </p:spPr>
        <p:txBody>
          <a:bodyPr vert="vert270" wrap="none" lIns="36000" tIns="36000" rIns="36000" bIns="36000" anchor="ctr"/>
          <a:lstStyle/>
          <a:p>
            <a:pPr algn="ctr" eaLnBrk="0" hangingPunct="0">
              <a:spcBef>
                <a:spcPts val="0"/>
              </a:spcBef>
            </a:pPr>
            <a:r>
              <a:rPr lang="ja-JP" altLang="en-US" sz="1200">
                <a:latin typeface="Meiryo UI" panose="020B0604030504040204" pitchFamily="50" charset="-128"/>
                <a:ea typeface="Meiryo UI" panose="020B0604030504040204" pitchFamily="50" charset="-128"/>
              </a:rPr>
              <a:t>清算機関</a:t>
            </a:r>
          </a:p>
        </p:txBody>
      </p:sp>
      <p:sp>
        <p:nvSpPr>
          <p:cNvPr id="6" name="矢印: 五方向 5"/>
          <p:cNvSpPr/>
          <p:nvPr/>
        </p:nvSpPr>
        <p:spPr bwMode="gray">
          <a:xfrm rot="5400000">
            <a:off x="481872" y="4874321"/>
            <a:ext cx="1452641" cy="1273494"/>
          </a:xfrm>
          <a:prstGeom prst="homePlate">
            <a:avLst>
              <a:gd name="adj" fmla="val 13397"/>
            </a:avLst>
          </a:prstGeom>
          <a:solidFill>
            <a:schemeClr val="bg1"/>
          </a:solidFill>
          <a:ln w="6350" algn="ctr">
            <a:solidFill>
              <a:schemeClr val="bg2">
                <a:lumMod val="50000"/>
              </a:schemeClr>
            </a:solidFill>
            <a:miter lim="800000"/>
            <a:headEnd/>
            <a:tailEnd/>
          </a:ln>
          <a:effectLst/>
        </p:spPr>
        <p:txBody>
          <a:bodyPr vert="vert270" wrap="none" lIns="36000" tIns="36000" rIns="36000" bIns="36000" anchor="ctr"/>
          <a:lstStyle/>
          <a:p>
            <a:pPr algn="ctr" eaLnBrk="0" hangingPunct="0">
              <a:spcBef>
                <a:spcPts val="0"/>
              </a:spcBef>
            </a:pPr>
            <a:r>
              <a:rPr lang="ja-JP" altLang="en-US" sz="1200">
                <a:latin typeface="Meiryo UI" panose="020B0604030504040204" pitchFamily="50" charset="-128"/>
                <a:ea typeface="Meiryo UI" panose="020B0604030504040204" pitchFamily="50" charset="-128"/>
              </a:rPr>
              <a:t>決済機関</a:t>
            </a:r>
          </a:p>
        </p:txBody>
      </p:sp>
      <p:sp>
        <p:nvSpPr>
          <p:cNvPr id="29704" name="正方形/長方形 8"/>
          <p:cNvSpPr>
            <a:spLocks noChangeArrowheads="1"/>
          </p:cNvSpPr>
          <p:nvPr/>
        </p:nvSpPr>
        <p:spPr bwMode="gray">
          <a:xfrm>
            <a:off x="1916156" y="1655410"/>
            <a:ext cx="3972974" cy="1450180"/>
          </a:xfrm>
          <a:prstGeom prst="rect">
            <a:avLst/>
          </a:prstGeom>
          <a:solidFill>
            <a:schemeClr val="bg1"/>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36000" tIns="36000" rIns="36000" bIns="36000" anchor="ctr"/>
          <a:lstStyle/>
          <a:p>
            <a:pPr marL="180975" indent="-180975" algn="l" eaLnBrk="1" hangingPunct="1">
              <a:spcBef>
                <a:spcPts val="300"/>
              </a:spcBef>
              <a:buFont typeface="Arial" panose="020B0604020202020204" pitchFamily="34" charset="0"/>
              <a:buChar char="•"/>
            </a:pPr>
            <a:r>
              <a:rPr lang="ja-JP" altLang="en-US" b="0">
                <a:solidFill>
                  <a:srgbClr val="000000"/>
                </a:solidFill>
                <a:latin typeface="Meiryo UI" panose="020B0604030504040204" pitchFamily="50" charset="-128"/>
                <a:ea typeface="Meiryo UI" panose="020B0604030504040204" pitchFamily="50" charset="-128"/>
              </a:rPr>
              <a:t>各種金融商品を</a:t>
            </a:r>
            <a:r>
              <a:rPr lang="ja-JP" altLang="en-US" b="1">
                <a:solidFill>
                  <a:schemeClr val="accent2">
                    <a:lumMod val="75000"/>
                  </a:schemeClr>
                </a:solidFill>
                <a:latin typeface="Meiryo UI" panose="020B0604030504040204" pitchFamily="50" charset="-128"/>
                <a:ea typeface="Meiryo UI" panose="020B0604030504040204" pitchFamily="50" charset="-128"/>
              </a:rPr>
              <a:t>取引するプラットフォーム</a:t>
            </a:r>
            <a:r>
              <a:rPr lang="ja-JP" altLang="en-US" b="0">
                <a:solidFill>
                  <a:srgbClr val="000000"/>
                </a:solidFill>
                <a:latin typeface="Meiryo UI" panose="020B0604030504040204" pitchFamily="50" charset="-128"/>
                <a:ea typeface="Meiryo UI" panose="020B0604030504040204" pitchFamily="50" charset="-128"/>
              </a:rPr>
              <a:t>を提供</a:t>
            </a:r>
            <a:r>
              <a:rPr lang="en-US" altLang="ja-JP" b="0">
                <a:solidFill>
                  <a:srgbClr val="000000"/>
                </a:solidFill>
                <a:latin typeface="Meiryo UI" panose="020B0604030504040204" pitchFamily="50" charset="-128"/>
                <a:ea typeface="Meiryo UI" panose="020B0604030504040204" pitchFamily="50" charset="-128"/>
              </a:rPr>
              <a:t>(</a:t>
            </a:r>
            <a:r>
              <a:rPr lang="ja-JP" altLang="en-US" b="0">
                <a:solidFill>
                  <a:srgbClr val="000000"/>
                </a:solidFill>
                <a:latin typeface="Meiryo UI" panose="020B0604030504040204" pitchFamily="50" charset="-128"/>
                <a:ea typeface="Meiryo UI" panose="020B0604030504040204" pitchFamily="50" charset="-128"/>
              </a:rPr>
              <a:t>証券会社や運用会社の売買をマッチングさせる</a:t>
            </a:r>
            <a:r>
              <a:rPr lang="en-US" altLang="ja-JP" b="0">
                <a:solidFill>
                  <a:srgbClr val="000000"/>
                </a:solidFill>
                <a:latin typeface="Meiryo UI" panose="020B0604030504040204" pitchFamily="50" charset="-128"/>
                <a:ea typeface="Meiryo UI" panose="020B0604030504040204" pitchFamily="50" charset="-128"/>
              </a:rPr>
              <a:t>(</a:t>
            </a:r>
            <a:r>
              <a:rPr lang="ja-JP" altLang="en-US" b="0">
                <a:solidFill>
                  <a:srgbClr val="000000"/>
                </a:solidFill>
                <a:latin typeface="Meiryo UI" panose="020B0604030504040204" pitchFamily="50" charset="-128"/>
                <a:ea typeface="Meiryo UI" panose="020B0604030504040204" pitchFamily="50" charset="-128"/>
              </a:rPr>
              <a:t>約定</a:t>
            </a:r>
            <a:r>
              <a:rPr lang="en-US" altLang="ja-JP" b="0">
                <a:solidFill>
                  <a:srgbClr val="000000"/>
                </a:solidFill>
                <a:latin typeface="Meiryo UI" panose="020B0604030504040204" pitchFamily="50" charset="-128"/>
                <a:ea typeface="Meiryo UI" panose="020B0604030504040204" pitchFamily="50" charset="-128"/>
              </a:rPr>
              <a:t>))</a:t>
            </a:r>
          </a:p>
          <a:p>
            <a:pPr marL="180975" indent="-180975" algn="l" eaLnBrk="1" hangingPunct="1">
              <a:spcBef>
                <a:spcPts val="300"/>
              </a:spcBef>
              <a:buFont typeface="Arial" panose="020B0604020202020204" pitchFamily="34" charset="0"/>
              <a:buChar char="•"/>
            </a:pPr>
            <a:r>
              <a:rPr lang="ja-JP" altLang="en-US" b="0">
                <a:solidFill>
                  <a:srgbClr val="000000"/>
                </a:solidFill>
                <a:latin typeface="Meiryo UI" panose="020B0604030504040204" pitchFamily="50" charset="-128"/>
                <a:ea typeface="Meiryo UI" panose="020B0604030504040204" pitchFamily="50" charset="-128"/>
              </a:rPr>
              <a:t>投資家は取引所で直接取引はできず、</a:t>
            </a:r>
            <a:r>
              <a:rPr lang="ja-JP" altLang="en-US" b="1">
                <a:solidFill>
                  <a:schemeClr val="accent2">
                    <a:lumMod val="75000"/>
                  </a:schemeClr>
                </a:solidFill>
                <a:latin typeface="Meiryo UI" panose="020B0604030504040204" pitchFamily="50" charset="-128"/>
                <a:ea typeface="Meiryo UI" panose="020B0604030504040204" pitchFamily="50" charset="-128"/>
              </a:rPr>
              <a:t>証券会社経由で取引</a:t>
            </a:r>
            <a:r>
              <a:rPr lang="ja-JP" altLang="en-US" b="0">
                <a:solidFill>
                  <a:srgbClr val="000000"/>
                </a:solidFill>
                <a:latin typeface="Meiryo UI" panose="020B0604030504040204" pitchFamily="50" charset="-128"/>
                <a:ea typeface="Meiryo UI" panose="020B0604030504040204" pitchFamily="50" charset="-128"/>
              </a:rPr>
              <a:t>を行う</a:t>
            </a:r>
            <a:endParaRPr lang="en-US" altLang="ja-JP" b="0">
              <a:solidFill>
                <a:srgbClr val="000000"/>
              </a:solidFill>
              <a:latin typeface="Meiryo UI" panose="020B0604030504040204" pitchFamily="50" charset="-128"/>
              <a:ea typeface="Meiryo UI" panose="020B0604030504040204" pitchFamily="50" charset="-128"/>
            </a:endParaRPr>
          </a:p>
        </p:txBody>
      </p:sp>
      <p:sp>
        <p:nvSpPr>
          <p:cNvPr id="29705" name="正方形/長方形 9"/>
          <p:cNvSpPr>
            <a:spLocks noChangeArrowheads="1"/>
          </p:cNvSpPr>
          <p:nvPr/>
        </p:nvSpPr>
        <p:spPr bwMode="gray">
          <a:xfrm>
            <a:off x="1916156" y="3221308"/>
            <a:ext cx="3972974" cy="1452641"/>
          </a:xfrm>
          <a:prstGeom prst="rect">
            <a:avLst/>
          </a:prstGeom>
          <a:solidFill>
            <a:schemeClr val="bg1"/>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36000" tIns="36000" rIns="36000" bIns="36000" anchor="ctr"/>
          <a:lstStyle/>
          <a:p>
            <a:pPr marL="180975" indent="-180975">
              <a:spcBef>
                <a:spcPts val="300"/>
              </a:spcBef>
              <a:buFont typeface="Arial" panose="020B0604020202020204" pitchFamily="34" charset="0"/>
              <a:buChar char="•"/>
            </a:pPr>
            <a:r>
              <a:rPr lang="ja-JP" altLang="en-US">
                <a:solidFill>
                  <a:srgbClr val="000000"/>
                </a:solidFill>
                <a:latin typeface="Meiryo UI" panose="020B0604030504040204" pitchFamily="50" charset="-128"/>
                <a:ea typeface="Meiryo UI" panose="020B0604030504040204" pitchFamily="50" charset="-128"/>
              </a:rPr>
              <a:t>投資家が株式や商品先物を売買して生じた損益のやりとりなど、</a:t>
            </a:r>
            <a:r>
              <a:rPr lang="ja-JP" altLang="en-US" b="1">
                <a:solidFill>
                  <a:schemeClr val="accent2">
                    <a:lumMod val="75000"/>
                  </a:schemeClr>
                </a:solidFill>
                <a:latin typeface="Meiryo UI" panose="020B0604030504040204" pitchFamily="50" charset="-128"/>
                <a:ea typeface="Meiryo UI" panose="020B0604030504040204" pitchFamily="50" charset="-128"/>
              </a:rPr>
              <a:t>取引決済が当事者間で不可能になった場合の保証業務</a:t>
            </a:r>
            <a:r>
              <a:rPr lang="ja-JP" altLang="en-US">
                <a:solidFill>
                  <a:srgbClr val="000000"/>
                </a:solidFill>
                <a:latin typeface="Meiryo UI" panose="020B0604030504040204" pitchFamily="50" charset="-128"/>
                <a:ea typeface="Meiryo UI" panose="020B0604030504040204" pitchFamily="50" charset="-128"/>
              </a:rPr>
              <a:t>を担う</a:t>
            </a:r>
            <a:r>
              <a:rPr lang="en-US" altLang="ja-JP">
                <a:solidFill>
                  <a:srgbClr val="000000"/>
                </a:solidFill>
                <a:latin typeface="Meiryo UI" panose="020B0604030504040204" pitchFamily="50" charset="-128"/>
                <a:ea typeface="Meiryo UI" panose="020B0604030504040204" pitchFamily="50" charset="-128"/>
              </a:rPr>
              <a:t>(</a:t>
            </a:r>
            <a:r>
              <a:rPr lang="ja-JP" altLang="en-US">
                <a:solidFill>
                  <a:srgbClr val="000000"/>
                </a:solidFill>
                <a:latin typeface="Meiryo UI" panose="020B0604030504040204" pitchFamily="50" charset="-128"/>
                <a:ea typeface="Meiryo UI" panose="020B0604030504040204" pitchFamily="50" charset="-128"/>
              </a:rPr>
              <a:t>債務の引き受け</a:t>
            </a:r>
            <a:r>
              <a:rPr lang="en-US" altLang="ja-JP">
                <a:solidFill>
                  <a:srgbClr val="000000"/>
                </a:solidFill>
                <a:latin typeface="Meiryo UI" panose="020B0604030504040204" pitchFamily="50" charset="-128"/>
                <a:ea typeface="Meiryo UI" panose="020B0604030504040204" pitchFamily="50" charset="-128"/>
              </a:rPr>
              <a:t>)</a:t>
            </a:r>
          </a:p>
          <a:p>
            <a:pPr marL="180975" indent="-180975">
              <a:spcBef>
                <a:spcPts val="300"/>
              </a:spcBef>
              <a:buFont typeface="Arial" panose="020B0604020202020204" pitchFamily="34" charset="0"/>
              <a:buChar char="•"/>
            </a:pPr>
            <a:r>
              <a:rPr lang="ja-JP" altLang="en-US">
                <a:solidFill>
                  <a:srgbClr val="000000"/>
                </a:solidFill>
                <a:latin typeface="Meiryo UI" panose="020B0604030504040204" pitchFamily="50" charset="-128"/>
                <a:ea typeface="Meiryo UI" panose="020B0604030504040204" pitchFamily="50" charset="-128"/>
              </a:rPr>
              <a:t>取引所等で成立した取引を</a:t>
            </a:r>
            <a:r>
              <a:rPr lang="ja-JP" altLang="en-US" b="1">
                <a:solidFill>
                  <a:schemeClr val="accent2">
                    <a:lumMod val="75000"/>
                  </a:schemeClr>
                </a:solidFill>
                <a:latin typeface="Meiryo UI" panose="020B0604030504040204" pitchFamily="50" charset="-128"/>
                <a:ea typeface="Meiryo UI" panose="020B0604030504040204" pitchFamily="50" charset="-128"/>
              </a:rPr>
              <a:t>ネッティング</a:t>
            </a:r>
            <a:r>
              <a:rPr lang="en-US" altLang="ja-JP" b="1">
                <a:solidFill>
                  <a:schemeClr val="accent2">
                    <a:lumMod val="75000"/>
                  </a:schemeClr>
                </a:solidFill>
                <a:latin typeface="Meiryo UI" panose="020B0604030504040204" pitchFamily="50" charset="-128"/>
                <a:ea typeface="Meiryo UI" panose="020B0604030504040204" pitchFamily="50" charset="-128"/>
              </a:rPr>
              <a:t>(</a:t>
            </a:r>
            <a:r>
              <a:rPr lang="ja-JP" altLang="en-US" b="1">
                <a:solidFill>
                  <a:schemeClr val="accent2">
                    <a:lumMod val="75000"/>
                  </a:schemeClr>
                </a:solidFill>
                <a:latin typeface="Meiryo UI" panose="020B0604030504040204" pitchFamily="50" charset="-128"/>
                <a:ea typeface="Meiryo UI" panose="020B0604030504040204" pitchFamily="50" charset="-128"/>
              </a:rPr>
              <a:t>差額決済</a:t>
            </a:r>
            <a:r>
              <a:rPr lang="en-US" altLang="ja-JP" b="1">
                <a:solidFill>
                  <a:schemeClr val="accent2">
                    <a:lumMod val="75000"/>
                  </a:schemeClr>
                </a:solidFill>
                <a:latin typeface="Meiryo UI" panose="020B0604030504040204" pitchFamily="50" charset="-128"/>
                <a:ea typeface="Meiryo UI" panose="020B0604030504040204" pitchFamily="50" charset="-128"/>
              </a:rPr>
              <a:t>)</a:t>
            </a:r>
            <a:r>
              <a:rPr lang="ja-JP" altLang="en-US">
                <a:solidFill>
                  <a:srgbClr val="000000"/>
                </a:solidFill>
                <a:latin typeface="Meiryo UI" panose="020B0604030504040204" pitchFamily="50" charset="-128"/>
                <a:ea typeface="Meiryo UI" panose="020B0604030504040204" pitchFamily="50" charset="-128"/>
              </a:rPr>
              <a:t>することで、効率的に債務を圧縮した上で、</a:t>
            </a:r>
            <a:r>
              <a:rPr lang="ja-JP" altLang="en-US" b="1">
                <a:solidFill>
                  <a:schemeClr val="accent2">
                    <a:lumMod val="75000"/>
                  </a:schemeClr>
                </a:solidFill>
                <a:latin typeface="Meiryo UI" panose="020B0604030504040204" pitchFamily="50" charset="-128"/>
                <a:ea typeface="Meiryo UI" panose="020B0604030504040204" pitchFamily="50" charset="-128"/>
              </a:rPr>
              <a:t>決済機関に決済を指図</a:t>
            </a:r>
            <a:endParaRPr lang="en-US" altLang="ja-JP" b="1">
              <a:solidFill>
                <a:schemeClr val="accent2">
                  <a:lumMod val="75000"/>
                </a:schemeClr>
              </a:solidFill>
              <a:latin typeface="Meiryo UI" panose="020B0604030504040204" pitchFamily="50" charset="-128"/>
              <a:ea typeface="Meiryo UI" panose="020B0604030504040204" pitchFamily="50" charset="-128"/>
            </a:endParaRPr>
          </a:p>
        </p:txBody>
      </p:sp>
      <p:sp>
        <p:nvSpPr>
          <p:cNvPr id="29706" name="正方形/長方形 10"/>
          <p:cNvSpPr>
            <a:spLocks noChangeArrowheads="1"/>
          </p:cNvSpPr>
          <p:nvPr/>
        </p:nvSpPr>
        <p:spPr bwMode="gray">
          <a:xfrm>
            <a:off x="1916156" y="4784745"/>
            <a:ext cx="3972974" cy="1452641"/>
          </a:xfrm>
          <a:prstGeom prst="rect">
            <a:avLst/>
          </a:prstGeom>
          <a:solidFill>
            <a:schemeClr val="bg1"/>
          </a:solidFill>
          <a:ln>
            <a:noFill/>
          </a:ln>
          <a:extLst>
            <a:ext uri="{91240B29-F687-4F45-9708-019B960494DF}">
              <a14:hiddenLine xmlns:a14="http://schemas.microsoft.com/office/drawing/2010/main" w="38100" algn="ctr">
                <a:solidFill>
                  <a:srgbClr val="000000"/>
                </a:solidFill>
                <a:miter lim="800000"/>
                <a:headEnd/>
                <a:tailEnd/>
              </a14:hiddenLine>
            </a:ext>
          </a:extLst>
        </p:spPr>
        <p:txBody>
          <a:bodyPr lIns="36000" tIns="36000" rIns="36000" bIns="36000" anchor="ctr"/>
          <a:lstStyle/>
          <a:p>
            <a:pPr marL="180975" indent="-180975">
              <a:spcBef>
                <a:spcPts val="300"/>
              </a:spcBef>
              <a:buFont typeface="Arial" panose="020B0604020202020204" pitchFamily="34" charset="0"/>
              <a:buChar char="•"/>
            </a:pPr>
            <a:r>
              <a:rPr lang="ja-JP" altLang="en-US">
                <a:solidFill>
                  <a:srgbClr val="000000"/>
                </a:solidFill>
                <a:latin typeface="Meiryo UI" panose="020B0604030504040204" pitchFamily="50" charset="-128"/>
                <a:ea typeface="Meiryo UI" panose="020B0604030504040204" pitchFamily="50" charset="-128"/>
              </a:rPr>
              <a:t>清算機関からの指示に基づいて、</a:t>
            </a:r>
            <a:r>
              <a:rPr lang="ja-JP" altLang="en-US" b="1">
                <a:solidFill>
                  <a:schemeClr val="accent2">
                    <a:lumMod val="75000"/>
                  </a:schemeClr>
                </a:solidFill>
                <a:latin typeface="Meiryo UI" panose="020B0604030504040204" pitchFamily="50" charset="-128"/>
                <a:ea typeface="Meiryo UI" panose="020B0604030504040204" pitchFamily="50" charset="-128"/>
              </a:rPr>
              <a:t>証券会社間の株式等の証券の受渡し</a:t>
            </a:r>
            <a:r>
              <a:rPr lang="ja-JP" altLang="en-US">
                <a:solidFill>
                  <a:srgbClr val="000000"/>
                </a:solidFill>
                <a:latin typeface="Meiryo UI" panose="020B0604030504040204" pitchFamily="50" charset="-128"/>
                <a:ea typeface="Meiryo UI" panose="020B0604030504040204" pitchFamily="50" charset="-128"/>
              </a:rPr>
              <a:t>を実施</a:t>
            </a:r>
            <a:r>
              <a:rPr lang="en-US" altLang="ja-JP">
                <a:solidFill>
                  <a:srgbClr val="000000"/>
                </a:solidFill>
                <a:latin typeface="Meiryo UI" panose="020B0604030504040204" pitchFamily="50" charset="-128"/>
                <a:ea typeface="Meiryo UI" panose="020B0604030504040204" pitchFamily="50" charset="-128"/>
              </a:rPr>
              <a:t>(</a:t>
            </a:r>
            <a:r>
              <a:rPr lang="ja-JP" altLang="en-US">
                <a:solidFill>
                  <a:srgbClr val="000000"/>
                </a:solidFill>
                <a:latin typeface="Meiryo UI" panose="020B0604030504040204" pitchFamily="50" charset="-128"/>
                <a:ea typeface="Meiryo UI" panose="020B0604030504040204" pitchFamily="50" charset="-128"/>
              </a:rPr>
              <a:t>証券決済</a:t>
            </a:r>
            <a:r>
              <a:rPr lang="en-US" altLang="ja-JP">
                <a:solidFill>
                  <a:srgbClr val="000000"/>
                </a:solidFill>
                <a:latin typeface="Meiryo UI" panose="020B0604030504040204" pitchFamily="50" charset="-128"/>
                <a:ea typeface="Meiryo UI" panose="020B0604030504040204" pitchFamily="50" charset="-128"/>
              </a:rPr>
              <a:t>)</a:t>
            </a:r>
          </a:p>
          <a:p>
            <a:pPr marL="180975" indent="-180975">
              <a:spcBef>
                <a:spcPts val="300"/>
              </a:spcBef>
              <a:buFont typeface="Arial" panose="020B0604020202020204" pitchFamily="34" charset="0"/>
              <a:buChar char="•"/>
            </a:pPr>
            <a:r>
              <a:rPr lang="ja-JP" altLang="en-US">
                <a:solidFill>
                  <a:srgbClr val="000000"/>
                </a:solidFill>
                <a:latin typeface="Meiryo UI" panose="020B0604030504040204" pitchFamily="50" charset="-128"/>
                <a:ea typeface="Meiryo UI" panose="020B0604030504040204" pitchFamily="50" charset="-128"/>
              </a:rPr>
              <a:t>清算機関からの指示に基づいて、</a:t>
            </a:r>
            <a:r>
              <a:rPr lang="ja-JP" altLang="en-US" b="1">
                <a:solidFill>
                  <a:schemeClr val="accent2">
                    <a:lumMod val="75000"/>
                  </a:schemeClr>
                </a:solidFill>
                <a:latin typeface="Meiryo UI" panose="020B0604030504040204" pitchFamily="50" charset="-128"/>
                <a:ea typeface="Meiryo UI" panose="020B0604030504040204" pitchFamily="50" charset="-128"/>
              </a:rPr>
              <a:t>証券会社間の資金の受渡し</a:t>
            </a:r>
            <a:r>
              <a:rPr lang="ja-JP" altLang="en-US">
                <a:solidFill>
                  <a:srgbClr val="000000"/>
                </a:solidFill>
                <a:latin typeface="Meiryo UI" panose="020B0604030504040204" pitchFamily="50" charset="-128"/>
                <a:ea typeface="Meiryo UI" panose="020B0604030504040204" pitchFamily="50" charset="-128"/>
              </a:rPr>
              <a:t>を実施</a:t>
            </a:r>
            <a:r>
              <a:rPr lang="en-US" altLang="ja-JP">
                <a:solidFill>
                  <a:srgbClr val="000000"/>
                </a:solidFill>
                <a:latin typeface="Meiryo UI" panose="020B0604030504040204" pitchFamily="50" charset="-128"/>
                <a:ea typeface="Meiryo UI" panose="020B0604030504040204" pitchFamily="50" charset="-128"/>
              </a:rPr>
              <a:t>(</a:t>
            </a:r>
            <a:r>
              <a:rPr lang="ja-JP" altLang="en-US">
                <a:solidFill>
                  <a:srgbClr val="000000"/>
                </a:solidFill>
                <a:latin typeface="Meiryo UI" panose="020B0604030504040204" pitchFamily="50" charset="-128"/>
                <a:ea typeface="Meiryo UI" panose="020B0604030504040204" pitchFamily="50" charset="-128"/>
              </a:rPr>
              <a:t>資金決済</a:t>
            </a:r>
            <a:r>
              <a:rPr lang="en-US" altLang="ja-JP">
                <a:solidFill>
                  <a:srgbClr val="000000"/>
                </a:solidFill>
                <a:latin typeface="Meiryo UI" panose="020B0604030504040204" pitchFamily="50" charset="-128"/>
                <a:ea typeface="Meiryo UI" panose="020B0604030504040204" pitchFamily="50" charset="-128"/>
              </a:rPr>
              <a:t>)</a:t>
            </a:r>
          </a:p>
        </p:txBody>
      </p:sp>
      <p:grpSp>
        <p:nvGrpSpPr>
          <p:cNvPr id="14" name="グループ化 13">
            <a:extLst>
              <a:ext uri="{FF2B5EF4-FFF2-40B4-BE49-F238E27FC236}">
                <a16:creationId xmlns:a16="http://schemas.microsoft.com/office/drawing/2014/main" id="{F53B0A3A-6A69-4A19-988F-968A79507446}"/>
              </a:ext>
            </a:extLst>
          </p:cNvPr>
          <p:cNvGrpSpPr/>
          <p:nvPr/>
        </p:nvGrpSpPr>
        <p:grpSpPr>
          <a:xfrm>
            <a:off x="1940146" y="3181209"/>
            <a:ext cx="3972974" cy="1603536"/>
            <a:chOff x="2036763" y="2528888"/>
            <a:chExt cx="7848600" cy="1603536"/>
          </a:xfrm>
        </p:grpSpPr>
        <p:cxnSp>
          <p:nvCxnSpPr>
            <p:cNvPr id="29719" name="直線コネクタ 45"/>
            <p:cNvCxnSpPr>
              <a:cxnSpLocks noChangeShapeType="1"/>
            </p:cNvCxnSpPr>
            <p:nvPr/>
          </p:nvCxnSpPr>
          <p:spPr bwMode="gray">
            <a:xfrm>
              <a:off x="2036763" y="2528888"/>
              <a:ext cx="7848600"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9720" name="直線コネクタ 45"/>
            <p:cNvCxnSpPr>
              <a:cxnSpLocks noChangeShapeType="1"/>
            </p:cNvCxnSpPr>
            <p:nvPr/>
          </p:nvCxnSpPr>
          <p:spPr bwMode="gray">
            <a:xfrm>
              <a:off x="2036763" y="4132424"/>
              <a:ext cx="7848600"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grpSp>
      <p:sp>
        <p:nvSpPr>
          <p:cNvPr id="45" name="正方形/長方形 44">
            <a:extLst>
              <a:ext uri="{FF2B5EF4-FFF2-40B4-BE49-F238E27FC236}">
                <a16:creationId xmlns:a16="http://schemas.microsoft.com/office/drawing/2014/main" id="{EF8C91ED-E7F9-4DC0-8235-F9D0CFFFC424}"/>
              </a:ext>
            </a:extLst>
          </p:cNvPr>
          <p:cNvSpPr/>
          <p:nvPr/>
        </p:nvSpPr>
        <p:spPr bwMode="gray">
          <a:xfrm>
            <a:off x="6105161" y="2233055"/>
            <a:ext cx="3400894" cy="289556"/>
          </a:xfrm>
          <a:prstGeom prst="rect">
            <a:avLst/>
          </a:prstGeom>
          <a:solidFill>
            <a:schemeClr val="bg1"/>
          </a:solidFill>
          <a:ln w="25400" algn="ctr">
            <a:solidFill>
              <a:schemeClr val="accent1">
                <a:lumMod val="40000"/>
                <a:lumOff val="60000"/>
              </a:schemeClr>
            </a:solidFill>
            <a:miter lim="800000"/>
            <a:headEnd/>
            <a:tailEnd/>
          </a:ln>
          <a:effectLst/>
        </p:spPr>
        <p:txBody>
          <a:bodyPr lIns="36000" tIns="36000" rIns="36000" bIns="36000" anchor="ctr"/>
          <a:lstStyle/>
          <a:p>
            <a:pPr algn="ctr" eaLnBrk="0" fontAlgn="auto" hangingPunct="0">
              <a:spcBef>
                <a:spcPts val="0"/>
              </a:spcBef>
              <a:spcAft>
                <a:spcPts val="0"/>
              </a:spcAft>
            </a:pPr>
            <a:r>
              <a:rPr kumimoji="0" lang="ja-JP" altLang="en-US" sz="1100" b="1" kern="0" dirty="0">
                <a:solidFill>
                  <a:srgbClr val="000000"/>
                </a:solidFill>
                <a:latin typeface="Meiryo UI" panose="020B0604030504040204" pitchFamily="50" charset="-128"/>
                <a:ea typeface="Meiryo UI" panose="020B0604030504040204" pitchFamily="50" charset="-128"/>
              </a:rPr>
              <a:t>日本取引所グループ</a:t>
            </a:r>
            <a:r>
              <a:rPr kumimoji="0" lang="en-US" altLang="ja-JP" sz="1100" b="1" kern="0" dirty="0">
                <a:solidFill>
                  <a:srgbClr val="000000"/>
                </a:solidFill>
                <a:latin typeface="Meiryo UI" panose="020B0604030504040204" pitchFamily="50" charset="-128"/>
                <a:ea typeface="Meiryo UI" panose="020B0604030504040204" pitchFamily="50" charset="-128"/>
              </a:rPr>
              <a:t>(JPX)</a:t>
            </a:r>
          </a:p>
        </p:txBody>
      </p:sp>
      <p:sp>
        <p:nvSpPr>
          <p:cNvPr id="55" name="正方形/長方形 54">
            <a:extLst>
              <a:ext uri="{FF2B5EF4-FFF2-40B4-BE49-F238E27FC236}">
                <a16:creationId xmlns:a16="http://schemas.microsoft.com/office/drawing/2014/main" id="{6F18DE30-7F3D-4D64-A349-F6E80BB74317}"/>
              </a:ext>
            </a:extLst>
          </p:cNvPr>
          <p:cNvSpPr/>
          <p:nvPr/>
        </p:nvSpPr>
        <p:spPr bwMode="gray">
          <a:xfrm>
            <a:off x="6275436" y="1542697"/>
            <a:ext cx="1029743" cy="307092"/>
          </a:xfrm>
          <a:prstGeom prst="rect">
            <a:avLst/>
          </a:prstGeom>
          <a:solidFill>
            <a:schemeClr val="bg1"/>
          </a:solidFill>
          <a:ln w="9525" algn="ctr">
            <a:solidFill>
              <a:schemeClr val="bg2">
                <a:lumMod val="50000"/>
              </a:schemeClr>
            </a:solidFill>
            <a:miter lim="800000"/>
            <a:headEnd/>
            <a:tailEnd/>
          </a:ln>
          <a:effectLst/>
        </p:spPr>
        <p:txBody>
          <a:bodyPr lIns="36000" tIns="36000" rIns="36000" bIns="36000" anchor="ctr"/>
          <a:lstStyle/>
          <a:p>
            <a:pPr algn="ctr" eaLnBrk="0" fontAlgn="auto" hangingPunct="0">
              <a:spcBef>
                <a:spcPts val="0"/>
              </a:spcBef>
              <a:spcAft>
                <a:spcPts val="0"/>
              </a:spcAft>
            </a:pPr>
            <a:r>
              <a:rPr kumimoji="0" lang="ja-JP" altLang="en-US" sz="1100" kern="0">
                <a:solidFill>
                  <a:srgbClr val="000000"/>
                </a:solidFill>
                <a:latin typeface="Meiryo UI" panose="020B0604030504040204" pitchFamily="50" charset="-128"/>
                <a:ea typeface="Meiryo UI" panose="020B0604030504040204" pitchFamily="50" charset="-128"/>
              </a:rPr>
              <a:t>証券会社 </a:t>
            </a:r>
            <a:r>
              <a:rPr kumimoji="0" lang="en-US" altLang="ja-JP" sz="1100" kern="0">
                <a:solidFill>
                  <a:srgbClr val="000000"/>
                </a:solidFill>
                <a:latin typeface="Meiryo UI" panose="020B0604030504040204" pitchFamily="50" charset="-128"/>
                <a:ea typeface="Meiryo UI" panose="020B0604030504040204" pitchFamily="50" charset="-128"/>
              </a:rPr>
              <a:t>A</a:t>
            </a:r>
          </a:p>
        </p:txBody>
      </p:sp>
      <p:sp>
        <p:nvSpPr>
          <p:cNvPr id="61" name="正方形/長方形 60">
            <a:extLst>
              <a:ext uri="{FF2B5EF4-FFF2-40B4-BE49-F238E27FC236}">
                <a16:creationId xmlns:a16="http://schemas.microsoft.com/office/drawing/2014/main" id="{F93E9F81-8BA9-477E-ACCF-4E038B2BCB82}"/>
              </a:ext>
            </a:extLst>
          </p:cNvPr>
          <p:cNvSpPr/>
          <p:nvPr/>
        </p:nvSpPr>
        <p:spPr bwMode="gray">
          <a:xfrm>
            <a:off x="7983483" y="1542697"/>
            <a:ext cx="1029743" cy="307092"/>
          </a:xfrm>
          <a:prstGeom prst="rect">
            <a:avLst/>
          </a:prstGeom>
          <a:solidFill>
            <a:schemeClr val="bg1"/>
          </a:solidFill>
          <a:ln w="9525" algn="ctr">
            <a:solidFill>
              <a:schemeClr val="bg2">
                <a:lumMod val="50000"/>
              </a:schemeClr>
            </a:solidFill>
            <a:miter lim="800000"/>
            <a:headEnd/>
            <a:tailEnd/>
          </a:ln>
          <a:effectLst/>
        </p:spPr>
        <p:txBody>
          <a:bodyPr lIns="36000" tIns="36000" rIns="36000" bIns="36000" anchor="ctr"/>
          <a:lstStyle/>
          <a:p>
            <a:pPr algn="ctr" eaLnBrk="0" fontAlgn="auto" hangingPunct="0">
              <a:spcBef>
                <a:spcPts val="0"/>
              </a:spcBef>
              <a:spcAft>
                <a:spcPts val="0"/>
              </a:spcAft>
            </a:pPr>
            <a:r>
              <a:rPr kumimoji="0" lang="ja-JP" altLang="en-US" sz="1100" kern="0">
                <a:solidFill>
                  <a:srgbClr val="000000"/>
                </a:solidFill>
                <a:latin typeface="Meiryo UI" panose="020B0604030504040204" pitchFamily="50" charset="-128"/>
                <a:ea typeface="Meiryo UI" panose="020B0604030504040204" pitchFamily="50" charset="-128"/>
              </a:rPr>
              <a:t>証券会社 </a:t>
            </a:r>
            <a:r>
              <a:rPr kumimoji="0" lang="en-US" altLang="ja-JP" sz="1100" kern="0">
                <a:solidFill>
                  <a:srgbClr val="000000"/>
                </a:solidFill>
                <a:latin typeface="Meiryo UI" panose="020B0604030504040204" pitchFamily="50" charset="-128"/>
                <a:ea typeface="Meiryo UI" panose="020B0604030504040204" pitchFamily="50" charset="-128"/>
              </a:rPr>
              <a:t>B</a:t>
            </a:r>
          </a:p>
        </p:txBody>
      </p:sp>
      <p:cxnSp>
        <p:nvCxnSpPr>
          <p:cNvPr id="62" name="直線矢印コネクタ 522">
            <a:extLst>
              <a:ext uri="{FF2B5EF4-FFF2-40B4-BE49-F238E27FC236}">
                <a16:creationId xmlns:a16="http://schemas.microsoft.com/office/drawing/2014/main" id="{BF99ACEB-5F70-4B36-A1D5-014890DCDEB8}"/>
              </a:ext>
            </a:extLst>
          </p:cNvPr>
          <p:cNvCxnSpPr>
            <a:cxnSpLocks noChangeShapeType="1"/>
            <a:endCxn id="55" idx="2"/>
          </p:cNvCxnSpPr>
          <p:nvPr/>
        </p:nvCxnSpPr>
        <p:spPr bwMode="gray">
          <a:xfrm flipV="1">
            <a:off x="6790307" y="1849789"/>
            <a:ext cx="1" cy="405506"/>
          </a:xfrm>
          <a:prstGeom prst="straightConnector1">
            <a:avLst/>
          </a:prstGeom>
          <a:noFill/>
          <a:ln w="285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cxnSp>
        <p:nvCxnSpPr>
          <p:cNvPr id="64" name="直線矢印コネクタ 522">
            <a:extLst>
              <a:ext uri="{FF2B5EF4-FFF2-40B4-BE49-F238E27FC236}">
                <a16:creationId xmlns:a16="http://schemas.microsoft.com/office/drawing/2014/main" id="{3FC8B591-AF28-4B01-B78D-03086EFB0E7C}"/>
              </a:ext>
            </a:extLst>
          </p:cNvPr>
          <p:cNvCxnSpPr>
            <a:cxnSpLocks noChangeShapeType="1"/>
            <a:endCxn id="61" idx="2"/>
          </p:cNvCxnSpPr>
          <p:nvPr/>
        </p:nvCxnSpPr>
        <p:spPr bwMode="gray">
          <a:xfrm flipV="1">
            <a:off x="8498354" y="1849789"/>
            <a:ext cx="1" cy="405506"/>
          </a:xfrm>
          <a:prstGeom prst="straightConnector1">
            <a:avLst/>
          </a:prstGeom>
          <a:noFill/>
          <a:ln w="285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sp>
        <p:nvSpPr>
          <p:cNvPr id="88" name="正方形/長方形 87">
            <a:extLst>
              <a:ext uri="{FF2B5EF4-FFF2-40B4-BE49-F238E27FC236}">
                <a16:creationId xmlns:a16="http://schemas.microsoft.com/office/drawing/2014/main" id="{E85D9C74-A680-4ED9-908E-966EE8427B43}"/>
              </a:ext>
            </a:extLst>
          </p:cNvPr>
          <p:cNvSpPr/>
          <p:nvPr/>
        </p:nvSpPr>
        <p:spPr bwMode="gray">
          <a:xfrm>
            <a:off x="6857690" y="1882063"/>
            <a:ext cx="1008000" cy="309087"/>
          </a:xfrm>
          <a:prstGeom prst="rect">
            <a:avLst/>
          </a:prstGeom>
          <a:noFill/>
          <a:ln w="9525" algn="ctr">
            <a:noFill/>
            <a:miter lim="800000"/>
            <a:headEnd/>
            <a:tailEnd/>
          </a:ln>
          <a:effectLst/>
        </p:spPr>
        <p:txBody>
          <a:bodyPr wrap="none" lIns="36000" tIns="36000" rIns="36000" bIns="36000" anchor="ctr"/>
          <a:lstStyle/>
          <a:p>
            <a:pPr eaLnBrk="0" fontAlgn="auto" hangingPunct="0">
              <a:spcBef>
                <a:spcPts val="0"/>
              </a:spcBef>
              <a:spcAft>
                <a:spcPts val="0"/>
              </a:spcAft>
              <a:defRPr/>
            </a:pPr>
            <a:r>
              <a:rPr kumimoji="0" lang="en-US" altLang="ja-JP" sz="1000" kern="0">
                <a:solidFill>
                  <a:srgbClr val="000000"/>
                </a:solidFill>
                <a:latin typeface="Meiryo UI" panose="020B0604030504040204" pitchFamily="50" charset="-128"/>
                <a:ea typeface="Meiryo UI" panose="020B0604030504040204" pitchFamily="50" charset="-128"/>
              </a:rPr>
              <a:t>2,000</a:t>
            </a:r>
            <a:r>
              <a:rPr kumimoji="0" lang="ja-JP" altLang="en-US" sz="1000" kern="0">
                <a:solidFill>
                  <a:srgbClr val="000000"/>
                </a:solidFill>
                <a:latin typeface="Meiryo UI" panose="020B0604030504040204" pitchFamily="50" charset="-128"/>
                <a:ea typeface="Meiryo UI" panose="020B0604030504040204" pitchFamily="50" charset="-128"/>
              </a:rPr>
              <a:t>株売り注文</a:t>
            </a:r>
            <a:endParaRPr kumimoji="0" lang="en-US" altLang="ja-JP" sz="1000" kern="0">
              <a:solidFill>
                <a:srgbClr val="000000"/>
              </a:solidFill>
              <a:latin typeface="Meiryo UI" panose="020B0604030504040204" pitchFamily="50" charset="-128"/>
              <a:ea typeface="Meiryo UI" panose="020B0604030504040204" pitchFamily="50" charset="-128"/>
            </a:endParaRPr>
          </a:p>
          <a:p>
            <a:pPr eaLnBrk="0" fontAlgn="auto" hangingPunct="0">
              <a:spcBef>
                <a:spcPts val="0"/>
              </a:spcBef>
              <a:spcAft>
                <a:spcPts val="0"/>
              </a:spcAft>
              <a:defRPr/>
            </a:pPr>
            <a:r>
              <a:rPr kumimoji="0" lang="en-US" altLang="ja-JP" sz="1000" kern="0">
                <a:solidFill>
                  <a:srgbClr val="000000"/>
                </a:solidFill>
                <a:latin typeface="Meiryo UI" panose="020B0604030504040204" pitchFamily="50" charset="-128"/>
                <a:ea typeface="Meiryo UI" panose="020B0604030504040204" pitchFamily="50" charset="-128"/>
              </a:rPr>
              <a:t>1,000</a:t>
            </a:r>
            <a:r>
              <a:rPr kumimoji="0" lang="ja-JP" altLang="en-US" sz="1000" kern="0">
                <a:solidFill>
                  <a:srgbClr val="000000"/>
                </a:solidFill>
                <a:latin typeface="Meiryo UI" panose="020B0604030504040204" pitchFamily="50" charset="-128"/>
                <a:ea typeface="Meiryo UI" panose="020B0604030504040204" pitchFamily="50" charset="-128"/>
              </a:rPr>
              <a:t>株買い注文</a:t>
            </a:r>
            <a:endParaRPr kumimoji="0" lang="en-US" altLang="ja-JP" sz="1000" kern="0">
              <a:solidFill>
                <a:srgbClr val="000000"/>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8750025-070B-41DD-8911-CE7C7F7C0EEB}"/>
              </a:ext>
            </a:extLst>
          </p:cNvPr>
          <p:cNvSpPr/>
          <p:nvPr/>
        </p:nvSpPr>
        <p:spPr bwMode="gray">
          <a:xfrm>
            <a:off x="8578651" y="1867417"/>
            <a:ext cx="1008000" cy="309087"/>
          </a:xfrm>
          <a:prstGeom prst="rect">
            <a:avLst/>
          </a:prstGeom>
          <a:noFill/>
          <a:ln w="9525" algn="ctr">
            <a:noFill/>
            <a:miter lim="800000"/>
            <a:headEnd/>
            <a:tailEnd/>
          </a:ln>
          <a:effectLst/>
        </p:spPr>
        <p:txBody>
          <a:bodyPr wrap="none" lIns="36000" tIns="36000" rIns="36000" bIns="36000" anchor="ctr"/>
          <a:lstStyle/>
          <a:p>
            <a:pPr eaLnBrk="0" fontAlgn="auto" hangingPunct="0">
              <a:spcBef>
                <a:spcPts val="0"/>
              </a:spcBef>
              <a:spcAft>
                <a:spcPts val="0"/>
              </a:spcAft>
              <a:defRPr/>
            </a:pPr>
            <a:r>
              <a:rPr kumimoji="0" lang="en-US" altLang="ja-JP" sz="1000" kern="0">
                <a:solidFill>
                  <a:srgbClr val="000000"/>
                </a:solidFill>
                <a:latin typeface="Meiryo UI" panose="020B0604030504040204" pitchFamily="50" charset="-128"/>
                <a:ea typeface="Meiryo UI" panose="020B0604030504040204" pitchFamily="50" charset="-128"/>
              </a:rPr>
              <a:t>2,000</a:t>
            </a:r>
            <a:r>
              <a:rPr kumimoji="0" lang="ja-JP" altLang="en-US" sz="1000" kern="0">
                <a:solidFill>
                  <a:srgbClr val="000000"/>
                </a:solidFill>
                <a:latin typeface="Meiryo UI" panose="020B0604030504040204" pitchFamily="50" charset="-128"/>
                <a:ea typeface="Meiryo UI" panose="020B0604030504040204" pitchFamily="50" charset="-128"/>
              </a:rPr>
              <a:t>株売り注文</a:t>
            </a:r>
            <a:endParaRPr kumimoji="0" lang="en-US" altLang="ja-JP" sz="1000" kern="0">
              <a:solidFill>
                <a:srgbClr val="000000"/>
              </a:solidFill>
              <a:latin typeface="Meiryo UI" panose="020B0604030504040204" pitchFamily="50" charset="-128"/>
              <a:ea typeface="Meiryo UI" panose="020B0604030504040204" pitchFamily="50" charset="-128"/>
            </a:endParaRPr>
          </a:p>
          <a:p>
            <a:pPr eaLnBrk="0" fontAlgn="auto" hangingPunct="0">
              <a:spcBef>
                <a:spcPts val="0"/>
              </a:spcBef>
              <a:spcAft>
                <a:spcPts val="0"/>
              </a:spcAft>
              <a:defRPr/>
            </a:pPr>
            <a:r>
              <a:rPr kumimoji="0" lang="en-US" altLang="ja-JP" sz="1000" kern="0">
                <a:solidFill>
                  <a:srgbClr val="000000"/>
                </a:solidFill>
                <a:latin typeface="Meiryo UI" panose="020B0604030504040204" pitchFamily="50" charset="-128"/>
                <a:ea typeface="Meiryo UI" panose="020B0604030504040204" pitchFamily="50" charset="-128"/>
              </a:rPr>
              <a:t>3,000</a:t>
            </a:r>
            <a:r>
              <a:rPr kumimoji="0" lang="ja-JP" altLang="en-US" sz="1000" kern="0">
                <a:solidFill>
                  <a:srgbClr val="000000"/>
                </a:solidFill>
                <a:latin typeface="Meiryo UI" panose="020B0604030504040204" pitchFamily="50" charset="-128"/>
                <a:ea typeface="Meiryo UI" panose="020B0604030504040204" pitchFamily="50" charset="-128"/>
              </a:rPr>
              <a:t>株買い注文</a:t>
            </a:r>
            <a:endParaRPr kumimoji="0" lang="en-US" altLang="ja-JP" sz="1000" kern="0">
              <a:solidFill>
                <a:srgbClr val="000000"/>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BE09EAA5-DE0D-4E99-9AFF-41504A4900BF}"/>
              </a:ext>
            </a:extLst>
          </p:cNvPr>
          <p:cNvSpPr/>
          <p:nvPr/>
        </p:nvSpPr>
        <p:spPr bwMode="gray">
          <a:xfrm>
            <a:off x="6105161" y="4784745"/>
            <a:ext cx="1656000" cy="1778641"/>
          </a:xfrm>
          <a:prstGeom prst="rect">
            <a:avLst/>
          </a:prstGeom>
          <a:solidFill>
            <a:schemeClr val="bg1"/>
          </a:solidFill>
          <a:ln w="25400" algn="ctr">
            <a:solidFill>
              <a:schemeClr val="accent1">
                <a:lumMod val="40000"/>
                <a:lumOff val="60000"/>
              </a:schemeClr>
            </a:solidFill>
            <a:miter lim="800000"/>
            <a:headEnd/>
            <a:tailEnd/>
          </a:ln>
          <a:effectLst/>
        </p:spPr>
        <p:txBody>
          <a:bodyPr vert="horz" lIns="72000" tIns="72000" rIns="36000" bIns="36000" anchor="t"/>
          <a:lstStyle/>
          <a:p>
            <a:pPr eaLnBrk="0" hangingPunct="0">
              <a:spcBef>
                <a:spcPts val="0"/>
              </a:spcBef>
            </a:pPr>
            <a:r>
              <a:rPr lang="ja-JP" altLang="en-US" sz="1100" b="1" dirty="0">
                <a:latin typeface="Meiryo UI" panose="020B0604030504040204" pitchFamily="50" charset="-128"/>
                <a:ea typeface="Meiryo UI" panose="020B0604030504040204" pitchFamily="50" charset="-128"/>
              </a:rPr>
              <a:t>証券保管振替機構</a:t>
            </a:r>
            <a:endParaRPr lang="en-US" altLang="ja-JP" sz="1100" b="1" dirty="0">
              <a:latin typeface="Meiryo UI" panose="020B0604030504040204" pitchFamily="50" charset="-128"/>
              <a:ea typeface="Meiryo UI" panose="020B0604030504040204" pitchFamily="50" charset="-128"/>
            </a:endParaRPr>
          </a:p>
          <a:p>
            <a:pPr eaLnBrk="0" hangingPunct="0">
              <a:spcBef>
                <a:spcPts val="0"/>
              </a:spcBef>
            </a:pPr>
            <a:r>
              <a:rPr lang="en-US" altLang="ja-JP" sz="1100" b="1" dirty="0">
                <a:latin typeface="Meiryo UI" panose="020B0604030504040204" pitchFamily="50" charset="-128"/>
                <a:ea typeface="Meiryo UI" panose="020B0604030504040204" pitchFamily="50" charset="-128"/>
              </a:rPr>
              <a:t>(JASDEC)</a:t>
            </a:r>
          </a:p>
        </p:txBody>
      </p:sp>
      <p:sp>
        <p:nvSpPr>
          <p:cNvPr id="67" name="正方形/長方形 66">
            <a:extLst>
              <a:ext uri="{FF2B5EF4-FFF2-40B4-BE49-F238E27FC236}">
                <a16:creationId xmlns:a16="http://schemas.microsoft.com/office/drawing/2014/main" id="{2B119712-E999-487D-9BF7-4A47F20A3604}"/>
              </a:ext>
            </a:extLst>
          </p:cNvPr>
          <p:cNvSpPr/>
          <p:nvPr/>
        </p:nvSpPr>
        <p:spPr bwMode="gray">
          <a:xfrm>
            <a:off x="6515403" y="5737131"/>
            <a:ext cx="946008" cy="266835"/>
          </a:xfrm>
          <a:prstGeom prst="rect">
            <a:avLst/>
          </a:prstGeom>
          <a:solidFill>
            <a:schemeClr val="bg1"/>
          </a:solidFill>
          <a:ln w="6350" algn="ctr">
            <a:solidFill>
              <a:schemeClr val="bg2">
                <a:lumMod val="50000"/>
              </a:schemeClr>
            </a:solidFill>
            <a:miter lim="800000"/>
            <a:headEnd/>
            <a:tailEnd/>
          </a:ln>
          <a:effectLst/>
        </p:spPr>
        <p:txBody>
          <a:bodyPr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100" kern="0">
                <a:solidFill>
                  <a:srgbClr val="000000"/>
                </a:solidFill>
                <a:latin typeface="Meiryo UI" panose="020B0604030504040204" pitchFamily="50" charset="-128"/>
                <a:ea typeface="Meiryo UI" panose="020B0604030504040204" pitchFamily="50" charset="-128"/>
              </a:rPr>
              <a:t>JSCC</a:t>
            </a:r>
            <a:r>
              <a:rPr kumimoji="0" lang="ja-JP" altLang="en-US" sz="1100" kern="0">
                <a:solidFill>
                  <a:srgbClr val="000000"/>
                </a:solidFill>
                <a:latin typeface="Meiryo UI" panose="020B0604030504040204" pitchFamily="50" charset="-128"/>
                <a:ea typeface="Meiryo UI" panose="020B0604030504040204" pitchFamily="50" charset="-128"/>
              </a:rPr>
              <a:t>口座</a:t>
            </a: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F7AD7DA0-95EA-41EC-A451-700C23DAB09A}"/>
              </a:ext>
            </a:extLst>
          </p:cNvPr>
          <p:cNvSpPr/>
          <p:nvPr/>
        </p:nvSpPr>
        <p:spPr bwMode="gray">
          <a:xfrm>
            <a:off x="6515403" y="5234869"/>
            <a:ext cx="946008" cy="266835"/>
          </a:xfrm>
          <a:prstGeom prst="rect">
            <a:avLst/>
          </a:prstGeom>
          <a:solidFill>
            <a:schemeClr val="bg1"/>
          </a:solidFill>
          <a:ln w="6350" algn="ctr">
            <a:solidFill>
              <a:schemeClr val="bg2">
                <a:lumMod val="50000"/>
              </a:schemeClr>
            </a:solidFill>
            <a:miter lim="800000"/>
            <a:headEnd/>
            <a:tailEnd/>
          </a:ln>
          <a:effectLst/>
        </p:spPr>
        <p:txBody>
          <a:bodyPr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100" kern="0">
                <a:solidFill>
                  <a:srgbClr val="000000"/>
                </a:solidFill>
                <a:latin typeface="Meiryo UI" panose="020B0604030504040204" pitchFamily="50" charset="-128"/>
                <a:ea typeface="Meiryo UI" panose="020B0604030504040204" pitchFamily="50" charset="-128"/>
              </a:rPr>
              <a:t>A</a:t>
            </a:r>
            <a:r>
              <a:rPr kumimoji="0" lang="ja-JP" altLang="en-US" sz="1100" kern="0">
                <a:solidFill>
                  <a:srgbClr val="000000"/>
                </a:solidFill>
                <a:latin typeface="Meiryo UI" panose="020B0604030504040204" pitchFamily="50" charset="-128"/>
                <a:ea typeface="Meiryo UI" panose="020B0604030504040204" pitchFamily="50" charset="-128"/>
              </a:rPr>
              <a:t>社口座</a:t>
            </a: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338E44CF-0E73-4A68-B0BD-8C7DC72121C1}"/>
              </a:ext>
            </a:extLst>
          </p:cNvPr>
          <p:cNvSpPr/>
          <p:nvPr/>
        </p:nvSpPr>
        <p:spPr bwMode="gray">
          <a:xfrm>
            <a:off x="6515403" y="6239393"/>
            <a:ext cx="946008" cy="266835"/>
          </a:xfrm>
          <a:prstGeom prst="rect">
            <a:avLst/>
          </a:prstGeom>
          <a:solidFill>
            <a:schemeClr val="bg1"/>
          </a:solidFill>
          <a:ln w="6350" algn="ctr">
            <a:solidFill>
              <a:schemeClr val="bg2">
                <a:lumMod val="50000"/>
              </a:schemeClr>
            </a:solidFill>
            <a:miter lim="800000"/>
            <a:headEnd/>
            <a:tailEnd/>
          </a:ln>
          <a:effectLst/>
        </p:spPr>
        <p:txBody>
          <a:bodyPr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100" kern="0">
                <a:solidFill>
                  <a:srgbClr val="000000"/>
                </a:solidFill>
                <a:latin typeface="Meiryo UI" panose="020B0604030504040204" pitchFamily="50" charset="-128"/>
                <a:ea typeface="Meiryo UI" panose="020B0604030504040204" pitchFamily="50" charset="-128"/>
              </a:rPr>
              <a:t>B</a:t>
            </a:r>
            <a:r>
              <a:rPr kumimoji="0" lang="ja-JP" altLang="en-US" sz="1100" kern="0">
                <a:solidFill>
                  <a:srgbClr val="000000"/>
                </a:solidFill>
                <a:latin typeface="Meiryo UI" panose="020B0604030504040204" pitchFamily="50" charset="-128"/>
                <a:ea typeface="Meiryo UI" panose="020B0604030504040204" pitchFamily="50" charset="-128"/>
              </a:rPr>
              <a:t>社口座</a:t>
            </a: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cxnSp>
        <p:nvCxnSpPr>
          <p:cNvPr id="70" name="直線矢印コネクタ 522">
            <a:extLst>
              <a:ext uri="{FF2B5EF4-FFF2-40B4-BE49-F238E27FC236}">
                <a16:creationId xmlns:a16="http://schemas.microsoft.com/office/drawing/2014/main" id="{44583DE7-2608-4772-BD7B-BA8124B3F4C7}"/>
              </a:ext>
            </a:extLst>
          </p:cNvPr>
          <p:cNvCxnSpPr>
            <a:cxnSpLocks noChangeShapeType="1"/>
            <a:stCxn id="67" idx="0"/>
            <a:endCxn id="68" idx="2"/>
          </p:cNvCxnSpPr>
          <p:nvPr/>
        </p:nvCxnSpPr>
        <p:spPr bwMode="gray">
          <a:xfrm flipV="1">
            <a:off x="6988407" y="5501704"/>
            <a:ext cx="0" cy="235427"/>
          </a:xfrm>
          <a:prstGeom prst="straightConnector1">
            <a:avLst/>
          </a:prstGeom>
          <a:noFill/>
          <a:ln w="158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cxnSp>
        <p:nvCxnSpPr>
          <p:cNvPr id="76" name="直線矢印コネクタ 522">
            <a:extLst>
              <a:ext uri="{FF2B5EF4-FFF2-40B4-BE49-F238E27FC236}">
                <a16:creationId xmlns:a16="http://schemas.microsoft.com/office/drawing/2014/main" id="{9974006C-0F79-481D-A18A-523EFCA23B5A}"/>
              </a:ext>
            </a:extLst>
          </p:cNvPr>
          <p:cNvCxnSpPr>
            <a:cxnSpLocks noChangeShapeType="1"/>
            <a:stCxn id="69" idx="0"/>
            <a:endCxn id="67" idx="2"/>
          </p:cNvCxnSpPr>
          <p:nvPr/>
        </p:nvCxnSpPr>
        <p:spPr bwMode="gray">
          <a:xfrm flipV="1">
            <a:off x="6988407" y="6003965"/>
            <a:ext cx="0" cy="235428"/>
          </a:xfrm>
          <a:prstGeom prst="straightConnector1">
            <a:avLst/>
          </a:prstGeom>
          <a:noFill/>
          <a:ln w="158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grpSp>
        <p:nvGrpSpPr>
          <p:cNvPr id="33" name="グループ化 32">
            <a:extLst>
              <a:ext uri="{FF2B5EF4-FFF2-40B4-BE49-F238E27FC236}">
                <a16:creationId xmlns:a16="http://schemas.microsoft.com/office/drawing/2014/main" id="{07DAC609-C7F8-48CB-ABC7-240C09348A76}"/>
              </a:ext>
            </a:extLst>
          </p:cNvPr>
          <p:cNvGrpSpPr/>
          <p:nvPr/>
        </p:nvGrpSpPr>
        <p:grpSpPr>
          <a:xfrm>
            <a:off x="7077301" y="5528381"/>
            <a:ext cx="468045" cy="180000"/>
            <a:chOff x="7094389" y="6443675"/>
            <a:chExt cx="572464" cy="163953"/>
          </a:xfrm>
        </p:grpSpPr>
        <p:sp>
          <p:nvSpPr>
            <p:cNvPr id="79" name="正方形/長方形 78">
              <a:extLst>
                <a:ext uri="{FF2B5EF4-FFF2-40B4-BE49-F238E27FC236}">
                  <a16:creationId xmlns:a16="http://schemas.microsoft.com/office/drawing/2014/main" id="{69328CB3-8320-44C1-BA5E-DA530E6FD4C0}"/>
                </a:ext>
              </a:extLst>
            </p:cNvPr>
            <p:cNvSpPr/>
            <p:nvPr/>
          </p:nvSpPr>
          <p:spPr bwMode="gray">
            <a:xfrm>
              <a:off x="7094389" y="6443675"/>
              <a:ext cx="541892" cy="132988"/>
            </a:xfrm>
            <a:prstGeom prst="rect">
              <a:avLst/>
            </a:prstGeom>
            <a:solidFill>
              <a:schemeClr val="bg1"/>
            </a:solidFill>
            <a:ln w="6350" algn="ctr">
              <a:solidFill>
                <a:schemeClr val="accent4">
                  <a:lumMod val="50000"/>
                </a:schemeClr>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3DD90456-A742-4B29-87AD-BB7A0758EF30}"/>
                </a:ext>
              </a:extLst>
            </p:cNvPr>
            <p:cNvSpPr/>
            <p:nvPr/>
          </p:nvSpPr>
          <p:spPr bwMode="gray">
            <a:xfrm>
              <a:off x="7124961" y="6474640"/>
              <a:ext cx="541892" cy="132988"/>
            </a:xfrm>
            <a:prstGeom prst="rect">
              <a:avLst/>
            </a:prstGeom>
            <a:solidFill>
              <a:schemeClr val="bg1"/>
            </a:solidFill>
            <a:ln w="6350" algn="ctr">
              <a:solidFill>
                <a:schemeClr val="accent4">
                  <a:lumMod val="50000"/>
                </a:schemeClr>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1,000</a:t>
              </a: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株</a:t>
              </a:r>
              <a:endPar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85" name="グループ化 84">
            <a:extLst>
              <a:ext uri="{FF2B5EF4-FFF2-40B4-BE49-F238E27FC236}">
                <a16:creationId xmlns:a16="http://schemas.microsoft.com/office/drawing/2014/main" id="{D172DE0A-2E48-46D3-9556-B728B6F87B41}"/>
              </a:ext>
            </a:extLst>
          </p:cNvPr>
          <p:cNvGrpSpPr/>
          <p:nvPr/>
        </p:nvGrpSpPr>
        <p:grpSpPr>
          <a:xfrm>
            <a:off x="7077301" y="6036308"/>
            <a:ext cx="468045" cy="180000"/>
            <a:chOff x="7094389" y="6443675"/>
            <a:chExt cx="572464" cy="163953"/>
          </a:xfrm>
        </p:grpSpPr>
        <p:sp>
          <p:nvSpPr>
            <p:cNvPr id="86" name="正方形/長方形 85">
              <a:extLst>
                <a:ext uri="{FF2B5EF4-FFF2-40B4-BE49-F238E27FC236}">
                  <a16:creationId xmlns:a16="http://schemas.microsoft.com/office/drawing/2014/main" id="{77FF10AD-D5A2-4E90-9E11-043D89FF224C}"/>
                </a:ext>
              </a:extLst>
            </p:cNvPr>
            <p:cNvSpPr/>
            <p:nvPr/>
          </p:nvSpPr>
          <p:spPr bwMode="gray">
            <a:xfrm>
              <a:off x="7094389" y="6443675"/>
              <a:ext cx="541892" cy="132988"/>
            </a:xfrm>
            <a:prstGeom prst="rect">
              <a:avLst/>
            </a:prstGeom>
            <a:solidFill>
              <a:schemeClr val="bg1"/>
            </a:solidFill>
            <a:ln w="6350" algn="ctr">
              <a:solidFill>
                <a:schemeClr val="accent4">
                  <a:lumMod val="50000"/>
                </a:schemeClr>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CA22C8DB-0416-4B8D-8D4A-8C7CB575FB5B}"/>
                </a:ext>
              </a:extLst>
            </p:cNvPr>
            <p:cNvSpPr/>
            <p:nvPr/>
          </p:nvSpPr>
          <p:spPr bwMode="gray">
            <a:xfrm>
              <a:off x="7124961" y="6474640"/>
              <a:ext cx="541892" cy="132988"/>
            </a:xfrm>
            <a:prstGeom prst="rect">
              <a:avLst/>
            </a:prstGeom>
            <a:solidFill>
              <a:schemeClr val="bg1"/>
            </a:solidFill>
            <a:ln w="6350" algn="ctr">
              <a:solidFill>
                <a:schemeClr val="accent4">
                  <a:lumMod val="50000"/>
                </a:schemeClr>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1,000</a:t>
              </a: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株</a:t>
              </a:r>
              <a:endPar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sp>
        <p:nvSpPr>
          <p:cNvPr id="90" name="正方形/長方形 89">
            <a:extLst>
              <a:ext uri="{FF2B5EF4-FFF2-40B4-BE49-F238E27FC236}">
                <a16:creationId xmlns:a16="http://schemas.microsoft.com/office/drawing/2014/main" id="{766DD499-AE42-446E-ADA3-8B8F8AF4510D}"/>
              </a:ext>
            </a:extLst>
          </p:cNvPr>
          <p:cNvSpPr/>
          <p:nvPr/>
        </p:nvSpPr>
        <p:spPr bwMode="gray">
          <a:xfrm>
            <a:off x="7850055" y="4784745"/>
            <a:ext cx="1656000" cy="1778641"/>
          </a:xfrm>
          <a:prstGeom prst="rect">
            <a:avLst/>
          </a:prstGeom>
          <a:solidFill>
            <a:schemeClr val="bg1"/>
          </a:solidFill>
          <a:ln w="25400" algn="ctr">
            <a:solidFill>
              <a:schemeClr val="accent1">
                <a:lumMod val="40000"/>
                <a:lumOff val="60000"/>
              </a:schemeClr>
            </a:solidFill>
            <a:miter lim="800000"/>
            <a:headEnd/>
            <a:tailEnd/>
          </a:ln>
          <a:effectLst/>
        </p:spPr>
        <p:txBody>
          <a:bodyPr vert="horz" lIns="72000" tIns="72000" rIns="36000" bIns="36000" anchor="t"/>
          <a:lstStyle/>
          <a:p>
            <a:pPr eaLnBrk="0" hangingPunct="0">
              <a:spcBef>
                <a:spcPts val="0"/>
              </a:spcBef>
            </a:pPr>
            <a:r>
              <a:rPr lang="ja-JP" altLang="en-US" sz="1100" b="1" dirty="0">
                <a:latin typeface="Meiryo UI" panose="020B0604030504040204" pitchFamily="50" charset="-128"/>
                <a:ea typeface="Meiryo UI" panose="020B0604030504040204" pitchFamily="50" charset="-128"/>
              </a:rPr>
              <a:t>銀行</a:t>
            </a:r>
            <a:r>
              <a:rPr lang="en-US" altLang="ja-JP" sz="1100" b="1" dirty="0">
                <a:latin typeface="Meiryo UI" panose="020B0604030504040204" pitchFamily="50" charset="-128"/>
                <a:ea typeface="Meiryo UI" panose="020B0604030504040204" pitchFamily="50" charset="-128"/>
              </a:rPr>
              <a:t>(</a:t>
            </a:r>
            <a:r>
              <a:rPr lang="ja-JP" altLang="en-US" sz="1100" b="1" dirty="0">
                <a:latin typeface="Meiryo UI" panose="020B0604030504040204" pitchFamily="50" charset="-128"/>
                <a:ea typeface="Meiryo UI" panose="020B0604030504040204" pitchFamily="50" charset="-128"/>
              </a:rPr>
              <a:t>日本銀行含む</a:t>
            </a:r>
            <a:r>
              <a:rPr lang="en-US" altLang="ja-JP" sz="1100" b="1" dirty="0">
                <a:latin typeface="Meiryo UI" panose="020B0604030504040204" pitchFamily="50" charset="-128"/>
                <a:ea typeface="Meiryo UI" panose="020B0604030504040204" pitchFamily="50" charset="-128"/>
              </a:rPr>
              <a:t>)</a:t>
            </a:r>
          </a:p>
          <a:p>
            <a:pPr eaLnBrk="0" hangingPunct="0">
              <a:spcBef>
                <a:spcPts val="0"/>
              </a:spcBef>
            </a:pPr>
            <a:r>
              <a:rPr lang="en-US" altLang="ja-JP" sz="1100" b="1" dirty="0">
                <a:latin typeface="Meiryo UI" panose="020B0604030504040204" pitchFamily="50" charset="-128"/>
                <a:ea typeface="Meiryo UI" panose="020B0604030504040204" pitchFamily="50" charset="-128"/>
              </a:rPr>
              <a:t>(BOJ-Net)</a:t>
            </a:r>
          </a:p>
        </p:txBody>
      </p:sp>
      <p:sp>
        <p:nvSpPr>
          <p:cNvPr id="104" name="正方形/長方形 103">
            <a:extLst>
              <a:ext uri="{FF2B5EF4-FFF2-40B4-BE49-F238E27FC236}">
                <a16:creationId xmlns:a16="http://schemas.microsoft.com/office/drawing/2014/main" id="{0B43322F-4104-4589-AD45-DDCC9AAF13F2}"/>
              </a:ext>
            </a:extLst>
          </p:cNvPr>
          <p:cNvSpPr/>
          <p:nvPr/>
        </p:nvSpPr>
        <p:spPr bwMode="gray">
          <a:xfrm>
            <a:off x="8189088" y="5737131"/>
            <a:ext cx="946008" cy="266835"/>
          </a:xfrm>
          <a:prstGeom prst="rect">
            <a:avLst/>
          </a:prstGeom>
          <a:solidFill>
            <a:schemeClr val="bg1"/>
          </a:solidFill>
          <a:ln w="6350" algn="ctr">
            <a:solidFill>
              <a:schemeClr val="bg2">
                <a:lumMod val="50000"/>
              </a:schemeClr>
            </a:solidFill>
            <a:miter lim="800000"/>
            <a:headEnd/>
            <a:tailEnd/>
          </a:ln>
          <a:effectLst/>
        </p:spPr>
        <p:txBody>
          <a:bodyPr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100" kern="0">
                <a:solidFill>
                  <a:srgbClr val="000000"/>
                </a:solidFill>
                <a:latin typeface="Meiryo UI" panose="020B0604030504040204" pitchFamily="50" charset="-128"/>
                <a:ea typeface="Meiryo UI" panose="020B0604030504040204" pitchFamily="50" charset="-128"/>
              </a:rPr>
              <a:t>JSCC</a:t>
            </a:r>
            <a:r>
              <a:rPr kumimoji="0" lang="ja-JP" altLang="en-US" sz="1100" kern="0">
                <a:solidFill>
                  <a:srgbClr val="000000"/>
                </a:solidFill>
                <a:latin typeface="Meiryo UI" panose="020B0604030504040204" pitchFamily="50" charset="-128"/>
                <a:ea typeface="Meiryo UI" panose="020B0604030504040204" pitchFamily="50" charset="-128"/>
              </a:rPr>
              <a:t>口座</a:t>
            </a: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0F93DD65-1699-469D-A9B7-61525CAC7F04}"/>
              </a:ext>
            </a:extLst>
          </p:cNvPr>
          <p:cNvSpPr/>
          <p:nvPr/>
        </p:nvSpPr>
        <p:spPr bwMode="gray">
          <a:xfrm>
            <a:off x="8189088" y="5234869"/>
            <a:ext cx="946008" cy="266835"/>
          </a:xfrm>
          <a:prstGeom prst="rect">
            <a:avLst/>
          </a:prstGeom>
          <a:solidFill>
            <a:schemeClr val="bg1"/>
          </a:solidFill>
          <a:ln w="6350" algn="ctr">
            <a:solidFill>
              <a:schemeClr val="bg2">
                <a:lumMod val="50000"/>
              </a:schemeClr>
            </a:solidFill>
            <a:miter lim="800000"/>
            <a:headEnd/>
            <a:tailEnd/>
          </a:ln>
          <a:effectLst/>
        </p:spPr>
        <p:txBody>
          <a:bodyPr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100" kern="0">
                <a:solidFill>
                  <a:srgbClr val="000000"/>
                </a:solidFill>
                <a:latin typeface="Meiryo UI" panose="020B0604030504040204" pitchFamily="50" charset="-128"/>
                <a:ea typeface="Meiryo UI" panose="020B0604030504040204" pitchFamily="50" charset="-128"/>
              </a:rPr>
              <a:t>B</a:t>
            </a:r>
            <a:r>
              <a:rPr kumimoji="0" lang="ja-JP" altLang="en-US" sz="1100" kern="0">
                <a:solidFill>
                  <a:srgbClr val="000000"/>
                </a:solidFill>
                <a:latin typeface="Meiryo UI" panose="020B0604030504040204" pitchFamily="50" charset="-128"/>
                <a:ea typeface="Meiryo UI" panose="020B0604030504040204" pitchFamily="50" charset="-128"/>
              </a:rPr>
              <a:t>社口座</a:t>
            </a: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30A6FA95-51D6-4701-B6CC-2A465BC40BFC}"/>
              </a:ext>
            </a:extLst>
          </p:cNvPr>
          <p:cNvSpPr/>
          <p:nvPr/>
        </p:nvSpPr>
        <p:spPr bwMode="gray">
          <a:xfrm>
            <a:off x="8189088" y="6239393"/>
            <a:ext cx="946008" cy="266835"/>
          </a:xfrm>
          <a:prstGeom prst="rect">
            <a:avLst/>
          </a:prstGeom>
          <a:solidFill>
            <a:schemeClr val="bg1"/>
          </a:solidFill>
          <a:ln w="6350" algn="ctr">
            <a:solidFill>
              <a:schemeClr val="bg2">
                <a:lumMod val="50000"/>
              </a:schemeClr>
            </a:solidFill>
            <a:miter lim="800000"/>
            <a:headEnd/>
            <a:tailEnd/>
          </a:ln>
          <a:effectLst/>
        </p:spPr>
        <p:txBody>
          <a:bodyPr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100" kern="0">
                <a:solidFill>
                  <a:srgbClr val="000000"/>
                </a:solidFill>
                <a:latin typeface="Meiryo UI" panose="020B0604030504040204" pitchFamily="50" charset="-128"/>
                <a:ea typeface="Meiryo UI" panose="020B0604030504040204" pitchFamily="50" charset="-128"/>
              </a:rPr>
              <a:t>A</a:t>
            </a:r>
            <a:r>
              <a:rPr kumimoji="0" lang="ja-JP" altLang="en-US" sz="1100" kern="0">
                <a:solidFill>
                  <a:srgbClr val="000000"/>
                </a:solidFill>
                <a:latin typeface="Meiryo UI" panose="020B0604030504040204" pitchFamily="50" charset="-128"/>
                <a:ea typeface="Meiryo UI" panose="020B0604030504040204" pitchFamily="50" charset="-128"/>
              </a:rPr>
              <a:t>社口座</a:t>
            </a: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cxnSp>
        <p:nvCxnSpPr>
          <p:cNvPr id="107" name="直線矢印コネクタ 522">
            <a:extLst>
              <a:ext uri="{FF2B5EF4-FFF2-40B4-BE49-F238E27FC236}">
                <a16:creationId xmlns:a16="http://schemas.microsoft.com/office/drawing/2014/main" id="{3A0205CD-82B1-489B-837C-989131BA94D6}"/>
              </a:ext>
            </a:extLst>
          </p:cNvPr>
          <p:cNvCxnSpPr>
            <a:cxnSpLocks noChangeShapeType="1"/>
            <a:stCxn id="104" idx="0"/>
            <a:endCxn id="105" idx="2"/>
          </p:cNvCxnSpPr>
          <p:nvPr/>
        </p:nvCxnSpPr>
        <p:spPr bwMode="gray">
          <a:xfrm flipV="1">
            <a:off x="8662092" y="5501704"/>
            <a:ext cx="0" cy="235427"/>
          </a:xfrm>
          <a:prstGeom prst="straightConnector1">
            <a:avLst/>
          </a:prstGeom>
          <a:noFill/>
          <a:ln w="158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cxnSp>
        <p:nvCxnSpPr>
          <p:cNvPr id="108" name="直線矢印コネクタ 522">
            <a:extLst>
              <a:ext uri="{FF2B5EF4-FFF2-40B4-BE49-F238E27FC236}">
                <a16:creationId xmlns:a16="http://schemas.microsoft.com/office/drawing/2014/main" id="{C8FC61A3-5710-4984-B79D-81CB85A8CF61}"/>
              </a:ext>
            </a:extLst>
          </p:cNvPr>
          <p:cNvCxnSpPr>
            <a:cxnSpLocks noChangeShapeType="1"/>
            <a:stCxn id="106" idx="0"/>
            <a:endCxn id="104" idx="2"/>
          </p:cNvCxnSpPr>
          <p:nvPr/>
        </p:nvCxnSpPr>
        <p:spPr bwMode="gray">
          <a:xfrm flipV="1">
            <a:off x="8662092" y="6003965"/>
            <a:ext cx="0" cy="235428"/>
          </a:xfrm>
          <a:prstGeom prst="straightConnector1">
            <a:avLst/>
          </a:prstGeom>
          <a:noFill/>
          <a:ln w="158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grpSp>
        <p:nvGrpSpPr>
          <p:cNvPr id="109" name="グループ化 108">
            <a:extLst>
              <a:ext uri="{FF2B5EF4-FFF2-40B4-BE49-F238E27FC236}">
                <a16:creationId xmlns:a16="http://schemas.microsoft.com/office/drawing/2014/main" id="{B31FA2CE-35C1-4D2E-9996-D54449734473}"/>
              </a:ext>
            </a:extLst>
          </p:cNvPr>
          <p:cNvGrpSpPr/>
          <p:nvPr/>
        </p:nvGrpSpPr>
        <p:grpSpPr>
          <a:xfrm>
            <a:off x="8750987" y="5528381"/>
            <a:ext cx="384108" cy="180000"/>
            <a:chOff x="7094389" y="6443675"/>
            <a:chExt cx="572462" cy="163953"/>
          </a:xfrm>
        </p:grpSpPr>
        <p:sp>
          <p:nvSpPr>
            <p:cNvPr id="110" name="正方形/長方形 109">
              <a:extLst>
                <a:ext uri="{FF2B5EF4-FFF2-40B4-BE49-F238E27FC236}">
                  <a16:creationId xmlns:a16="http://schemas.microsoft.com/office/drawing/2014/main" id="{3D59E49F-648A-4949-915F-D0E45F2574FD}"/>
                </a:ext>
              </a:extLst>
            </p:cNvPr>
            <p:cNvSpPr/>
            <p:nvPr/>
          </p:nvSpPr>
          <p:spPr bwMode="gray">
            <a:xfrm>
              <a:off x="7094389" y="6443675"/>
              <a:ext cx="541892" cy="132988"/>
            </a:xfrm>
            <a:prstGeom prst="rect">
              <a:avLst/>
            </a:prstGeom>
            <a:solidFill>
              <a:schemeClr val="bg1"/>
            </a:solidFill>
            <a:ln w="6350" algn="ctr">
              <a:solidFill>
                <a:schemeClr val="accent1"/>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11" name="正方形/長方形 110">
              <a:extLst>
                <a:ext uri="{FF2B5EF4-FFF2-40B4-BE49-F238E27FC236}">
                  <a16:creationId xmlns:a16="http://schemas.microsoft.com/office/drawing/2014/main" id="{141F236A-C242-4E38-81D6-81A5352D1BFA}"/>
                </a:ext>
              </a:extLst>
            </p:cNvPr>
            <p:cNvSpPr/>
            <p:nvPr/>
          </p:nvSpPr>
          <p:spPr bwMode="gray">
            <a:xfrm>
              <a:off x="7124960" y="6474640"/>
              <a:ext cx="541891" cy="132988"/>
            </a:xfrm>
            <a:prstGeom prst="rect">
              <a:avLst/>
            </a:prstGeom>
            <a:solidFill>
              <a:schemeClr val="bg1"/>
            </a:solidFill>
            <a:ln w="6350" algn="ctr">
              <a:solidFill>
                <a:schemeClr val="accent1"/>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900" kern="0">
                  <a:solidFill>
                    <a:srgbClr val="000000"/>
                  </a:solidFill>
                  <a:latin typeface="Meiryo UI" panose="020B0604030504040204" pitchFamily="50" charset="-128"/>
                  <a:ea typeface="Meiryo UI" panose="020B0604030504040204" pitchFamily="50" charset="-128"/>
                </a:rPr>
                <a:t>現金</a:t>
              </a:r>
              <a:endPar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grpSp>
        <p:nvGrpSpPr>
          <p:cNvPr id="112" name="グループ化 111">
            <a:extLst>
              <a:ext uri="{FF2B5EF4-FFF2-40B4-BE49-F238E27FC236}">
                <a16:creationId xmlns:a16="http://schemas.microsoft.com/office/drawing/2014/main" id="{BDAD1364-2764-487F-B08B-13CE02D98578}"/>
              </a:ext>
            </a:extLst>
          </p:cNvPr>
          <p:cNvGrpSpPr/>
          <p:nvPr/>
        </p:nvGrpSpPr>
        <p:grpSpPr>
          <a:xfrm>
            <a:off x="8750986" y="6036308"/>
            <a:ext cx="384109" cy="180000"/>
            <a:chOff x="7094389" y="6443675"/>
            <a:chExt cx="572464" cy="163953"/>
          </a:xfrm>
        </p:grpSpPr>
        <p:sp>
          <p:nvSpPr>
            <p:cNvPr id="113" name="正方形/長方形 112">
              <a:extLst>
                <a:ext uri="{FF2B5EF4-FFF2-40B4-BE49-F238E27FC236}">
                  <a16:creationId xmlns:a16="http://schemas.microsoft.com/office/drawing/2014/main" id="{3C288CC7-21C8-4FD6-BC85-086EDD0B2349}"/>
                </a:ext>
              </a:extLst>
            </p:cNvPr>
            <p:cNvSpPr/>
            <p:nvPr/>
          </p:nvSpPr>
          <p:spPr bwMode="gray">
            <a:xfrm>
              <a:off x="7094389" y="6443675"/>
              <a:ext cx="541892" cy="132988"/>
            </a:xfrm>
            <a:prstGeom prst="rect">
              <a:avLst/>
            </a:prstGeom>
            <a:solidFill>
              <a:schemeClr val="bg1"/>
            </a:solidFill>
            <a:ln w="6350" algn="ctr">
              <a:solidFill>
                <a:schemeClr val="accent1"/>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altLang="ja-JP"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DEB17AE1-38D2-4103-AD31-7774A2C4F6C0}"/>
                </a:ext>
              </a:extLst>
            </p:cNvPr>
            <p:cNvSpPr/>
            <p:nvPr/>
          </p:nvSpPr>
          <p:spPr bwMode="gray">
            <a:xfrm>
              <a:off x="7124961" y="6474640"/>
              <a:ext cx="541892" cy="132988"/>
            </a:xfrm>
            <a:prstGeom prst="rect">
              <a:avLst/>
            </a:prstGeom>
            <a:solidFill>
              <a:schemeClr val="bg1"/>
            </a:solidFill>
            <a:ln w="6350" algn="ctr">
              <a:solidFill>
                <a:schemeClr val="accent1"/>
              </a:solid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900" kern="0">
                  <a:solidFill>
                    <a:srgbClr val="000000"/>
                  </a:solidFill>
                  <a:latin typeface="Meiryo UI" panose="020B0604030504040204" pitchFamily="50" charset="-128"/>
                  <a:ea typeface="Meiryo UI" panose="020B0604030504040204" pitchFamily="50" charset="-128"/>
                </a:rPr>
                <a:t>現金</a:t>
              </a:r>
              <a:endPar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cxnSp>
        <p:nvCxnSpPr>
          <p:cNvPr id="116" name="コネクタ: カギ線 115">
            <a:extLst>
              <a:ext uri="{FF2B5EF4-FFF2-40B4-BE49-F238E27FC236}">
                <a16:creationId xmlns:a16="http://schemas.microsoft.com/office/drawing/2014/main" id="{8AC12CD5-6118-420A-A3B1-6FE7B6DE2D41}"/>
              </a:ext>
            </a:extLst>
          </p:cNvPr>
          <p:cNvCxnSpPr>
            <a:cxnSpLocks/>
            <a:stCxn id="121" idx="2"/>
            <a:endCxn id="66" idx="0"/>
          </p:cNvCxnSpPr>
          <p:nvPr/>
        </p:nvCxnSpPr>
        <p:spPr>
          <a:xfrm rot="5400000">
            <a:off x="7181549" y="4160686"/>
            <a:ext cx="375672" cy="872447"/>
          </a:xfrm>
          <a:prstGeom prst="bentConnector3">
            <a:avLst>
              <a:gd name="adj1" fmla="val 50000"/>
            </a:avLst>
          </a:prstGeom>
          <a:noFill/>
          <a:ln w="28575" algn="ctr">
            <a:solidFill>
              <a:schemeClr val="accent1">
                <a:lumMod val="40000"/>
                <a:lumOff val="60000"/>
              </a:schemeClr>
            </a:solidFill>
            <a:round/>
            <a:headEnd type="none" w="med" len="med"/>
            <a:tailEnd type="arrow" w="med" len="med"/>
          </a:ln>
          <a:extLst>
            <a:ext uri="{909E8E84-426E-40DD-AFC4-6F175D3DCCD1}">
              <a14:hiddenFill xmlns:a14="http://schemas.microsoft.com/office/drawing/2010/main">
                <a:noFill/>
              </a14:hiddenFill>
            </a:ext>
          </a:extLst>
        </p:spPr>
      </p:cxnSp>
      <p:sp>
        <p:nvSpPr>
          <p:cNvPr id="120" name="正方形/長方形 119">
            <a:extLst>
              <a:ext uri="{FF2B5EF4-FFF2-40B4-BE49-F238E27FC236}">
                <a16:creationId xmlns:a16="http://schemas.microsoft.com/office/drawing/2014/main" id="{EBD9E0C0-EF09-421D-A6A9-2D2823D9451D}"/>
              </a:ext>
            </a:extLst>
          </p:cNvPr>
          <p:cNvSpPr/>
          <p:nvPr/>
        </p:nvSpPr>
        <p:spPr bwMode="gray">
          <a:xfrm>
            <a:off x="7961688" y="4432039"/>
            <a:ext cx="328108" cy="156740"/>
          </a:xfrm>
          <a:prstGeom prst="rect">
            <a:avLst/>
          </a:prstGeom>
          <a:noFill/>
          <a:ln w="9525" algn="ctr">
            <a:noFill/>
            <a:miter lim="800000"/>
            <a:headEnd/>
            <a:tailEnd/>
          </a:ln>
          <a:effectLst/>
        </p:spPr>
        <p:txBody>
          <a:bodyPr wrap="none" lIns="36000" tIns="36000" rIns="36000" bIns="3600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000000"/>
                </a:solidFill>
                <a:latin typeface="Meiryo UI" panose="020B0604030504040204" pitchFamily="50" charset="-128"/>
                <a:ea typeface="Meiryo UI" panose="020B0604030504040204" pitchFamily="50" charset="-128"/>
              </a:rPr>
              <a:t>決済指示</a:t>
            </a:r>
            <a:endParaRPr lang="en-US" altLang="ja-JP" sz="700">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DC8CD083-42EA-4492-99D2-40A73CAB64A1}"/>
              </a:ext>
            </a:extLst>
          </p:cNvPr>
          <p:cNvSpPr/>
          <p:nvPr/>
        </p:nvSpPr>
        <p:spPr bwMode="gray">
          <a:xfrm>
            <a:off x="6105161" y="2819783"/>
            <a:ext cx="3400893" cy="1589290"/>
          </a:xfrm>
          <a:prstGeom prst="rect">
            <a:avLst/>
          </a:prstGeom>
          <a:solidFill>
            <a:schemeClr val="bg1"/>
          </a:solidFill>
          <a:ln w="25400" algn="ctr">
            <a:solidFill>
              <a:schemeClr val="accent1">
                <a:lumMod val="40000"/>
                <a:lumOff val="60000"/>
              </a:schemeClr>
            </a:solidFill>
            <a:miter lim="800000"/>
            <a:headEnd/>
            <a:tailEnd/>
          </a:ln>
          <a:effectLst/>
        </p:spPr>
        <p:txBody>
          <a:bodyPr vert="horz" lIns="72000" tIns="72000" rIns="36000" bIns="36000" anchor="t"/>
          <a:lstStyle/>
          <a:p>
            <a:pPr eaLnBrk="0" hangingPunct="0">
              <a:spcBef>
                <a:spcPts val="0"/>
              </a:spcBef>
            </a:pPr>
            <a:r>
              <a:rPr lang="ja-JP" altLang="en-US" sz="1100" b="1" dirty="0">
                <a:latin typeface="Meiryo UI" panose="020B0604030504040204" pitchFamily="50" charset="-128"/>
                <a:ea typeface="Meiryo UI" panose="020B0604030504040204" pitchFamily="50" charset="-128"/>
              </a:rPr>
              <a:t>日本証券クリアリング機構</a:t>
            </a:r>
            <a:r>
              <a:rPr lang="en-US" altLang="ja-JP" sz="1100" b="1" dirty="0">
                <a:latin typeface="Meiryo UI" panose="020B0604030504040204" pitchFamily="50" charset="-128"/>
                <a:ea typeface="Meiryo UI" panose="020B0604030504040204" pitchFamily="50" charset="-128"/>
              </a:rPr>
              <a:t>(JSCC)</a:t>
            </a:r>
          </a:p>
        </p:txBody>
      </p:sp>
      <p:cxnSp>
        <p:nvCxnSpPr>
          <p:cNvPr id="123" name="コネクタ: カギ線 122">
            <a:extLst>
              <a:ext uri="{FF2B5EF4-FFF2-40B4-BE49-F238E27FC236}">
                <a16:creationId xmlns:a16="http://schemas.microsoft.com/office/drawing/2014/main" id="{D359BB31-56C4-4A79-8561-651C41178D14}"/>
              </a:ext>
            </a:extLst>
          </p:cNvPr>
          <p:cNvCxnSpPr>
            <a:cxnSpLocks/>
            <a:stCxn id="121" idx="2"/>
            <a:endCxn id="90" idx="0"/>
          </p:cNvCxnSpPr>
          <p:nvPr/>
        </p:nvCxnSpPr>
        <p:spPr>
          <a:xfrm rot="16200000" flipH="1">
            <a:off x="8053995" y="4160685"/>
            <a:ext cx="375672" cy="872447"/>
          </a:xfrm>
          <a:prstGeom prst="bentConnector3">
            <a:avLst>
              <a:gd name="adj1" fmla="val 50000"/>
            </a:avLst>
          </a:prstGeom>
          <a:noFill/>
          <a:ln w="28575" algn="ctr">
            <a:solidFill>
              <a:schemeClr val="accent1">
                <a:lumMod val="40000"/>
                <a:lumOff val="60000"/>
              </a:schemeClr>
            </a:solidFill>
            <a:round/>
            <a:headEnd type="none" w="med" len="med"/>
            <a:tailEnd type="arrow" w="med" len="med"/>
          </a:ln>
          <a:extLst>
            <a:ext uri="{909E8E84-426E-40DD-AFC4-6F175D3DCCD1}">
              <a14:hiddenFill xmlns:a14="http://schemas.microsoft.com/office/drawing/2010/main">
                <a:noFill/>
              </a14:hiddenFill>
            </a:ext>
          </a:extLst>
        </p:spPr>
      </p:cxnSp>
      <p:cxnSp>
        <p:nvCxnSpPr>
          <p:cNvPr id="129" name="直線矢印コネクタ 522">
            <a:extLst>
              <a:ext uri="{FF2B5EF4-FFF2-40B4-BE49-F238E27FC236}">
                <a16:creationId xmlns:a16="http://schemas.microsoft.com/office/drawing/2014/main" id="{BB2DE73B-7AA3-4D6A-8EE3-613C445D08FB}"/>
              </a:ext>
            </a:extLst>
          </p:cNvPr>
          <p:cNvCxnSpPr>
            <a:cxnSpLocks noChangeShapeType="1"/>
            <a:stCxn id="121" idx="0"/>
            <a:endCxn id="45" idx="2"/>
          </p:cNvCxnSpPr>
          <p:nvPr/>
        </p:nvCxnSpPr>
        <p:spPr bwMode="gray">
          <a:xfrm flipV="1">
            <a:off x="7805608" y="2522611"/>
            <a:ext cx="0" cy="297172"/>
          </a:xfrm>
          <a:prstGeom prst="straightConnector1">
            <a:avLst/>
          </a:prstGeom>
          <a:noFill/>
          <a:ln w="28575" algn="ctr">
            <a:solidFill>
              <a:schemeClr val="accent1">
                <a:lumMod val="40000"/>
                <a:lumOff val="60000"/>
              </a:schemeClr>
            </a:solidFill>
            <a:round/>
            <a:headEnd type="arrow" w="med" len="med"/>
            <a:tailEnd type="none" w="med" len="med"/>
          </a:ln>
          <a:extLst>
            <a:ext uri="{909E8E84-426E-40DD-AFC4-6F175D3DCCD1}">
              <a14:hiddenFill xmlns:a14="http://schemas.microsoft.com/office/drawing/2010/main">
                <a:noFill/>
              </a14:hiddenFill>
            </a:ext>
          </a:extLst>
        </p:spPr>
      </p:cxnSp>
      <p:sp>
        <p:nvSpPr>
          <p:cNvPr id="161" name="正方形/長方形 160">
            <a:extLst>
              <a:ext uri="{FF2B5EF4-FFF2-40B4-BE49-F238E27FC236}">
                <a16:creationId xmlns:a16="http://schemas.microsoft.com/office/drawing/2014/main" id="{88F31747-5448-4C5B-A44F-C8227E905E46}"/>
              </a:ext>
            </a:extLst>
          </p:cNvPr>
          <p:cNvSpPr/>
          <p:nvPr/>
        </p:nvSpPr>
        <p:spPr bwMode="gray">
          <a:xfrm>
            <a:off x="6321198" y="3189549"/>
            <a:ext cx="3095306" cy="1046523"/>
          </a:xfrm>
          <a:prstGeom prst="rect">
            <a:avLst/>
          </a:prstGeom>
          <a:solidFill>
            <a:schemeClr val="bg1"/>
          </a:solidFill>
          <a:ln w="9525" algn="ctr">
            <a:solidFill>
              <a:schemeClr val="bg2">
                <a:lumMod val="50000"/>
              </a:schemeClr>
            </a:solidFill>
            <a:miter lim="800000"/>
            <a:headEnd/>
            <a:tailEnd/>
          </a:ln>
          <a:effectLst/>
        </p:spPr>
        <p:txBody>
          <a:bodyPr lIns="36000" tIns="36000" rIns="36000" bIns="36000" anchor="t"/>
          <a:lstStyle/>
          <a:p>
            <a:pPr eaLnBrk="0" fontAlgn="auto" hangingPunct="0">
              <a:spcBef>
                <a:spcPts val="0"/>
              </a:spcBef>
              <a:spcAft>
                <a:spcPts val="0"/>
              </a:spcAft>
            </a:pPr>
            <a:r>
              <a:rPr kumimoji="0" lang="ja-JP" altLang="en-US" sz="1100" u="sng" kern="0">
                <a:solidFill>
                  <a:srgbClr val="000000"/>
                </a:solidFill>
                <a:latin typeface="Meiryo UI" panose="020B0604030504040204" pitchFamily="50" charset="-128"/>
                <a:ea typeface="Meiryo UI" panose="020B0604030504040204" pitchFamily="50" charset="-128"/>
              </a:rPr>
              <a:t>ネッティング</a:t>
            </a:r>
            <a:endParaRPr kumimoji="0" lang="en-US" altLang="ja-JP" sz="1100" u="sng" kern="0">
              <a:solidFill>
                <a:srgbClr val="000000"/>
              </a:solidFill>
              <a:latin typeface="Meiryo UI" panose="020B0604030504040204" pitchFamily="50" charset="-128"/>
              <a:ea typeface="Meiryo UI" panose="020B0604030504040204" pitchFamily="50" charset="-128"/>
            </a:endParaRPr>
          </a:p>
          <a:p>
            <a:pPr marL="92075" eaLnBrk="0" fontAlgn="auto" hangingPunct="0">
              <a:spcBef>
                <a:spcPts val="600"/>
              </a:spcBef>
              <a:spcAft>
                <a:spcPts val="0"/>
              </a:spcAft>
            </a:pPr>
            <a:r>
              <a:rPr kumimoji="0" lang="ja-JP" altLang="en-US" sz="1000" kern="0">
                <a:solidFill>
                  <a:srgbClr val="000000"/>
                </a:solidFill>
                <a:latin typeface="Meiryo UI" panose="020B0604030504040204" pitchFamily="50" charset="-128"/>
                <a:ea typeface="Meiryo UI" panose="020B0604030504040204" pitchFamily="50" charset="-128"/>
              </a:rPr>
              <a:t>証券会社</a:t>
            </a:r>
            <a:r>
              <a:rPr kumimoji="0" lang="en-US" altLang="ja-JP" sz="1000" kern="0">
                <a:solidFill>
                  <a:srgbClr val="000000"/>
                </a:solidFill>
                <a:latin typeface="Meiryo UI" panose="020B0604030504040204" pitchFamily="50" charset="-128"/>
                <a:ea typeface="Meiryo UI" panose="020B0604030504040204" pitchFamily="50" charset="-128"/>
              </a:rPr>
              <a:t>A</a:t>
            </a:r>
          </a:p>
          <a:p>
            <a:pPr marL="182563" eaLnBrk="0" fontAlgn="auto" hangingPunct="0">
              <a:spcBef>
                <a:spcPts val="0"/>
              </a:spcBef>
              <a:spcAft>
                <a:spcPts val="0"/>
              </a:spcAft>
            </a:pPr>
            <a:r>
              <a:rPr kumimoji="0" lang="ja-JP" altLang="en-US" sz="1000" kern="0">
                <a:solidFill>
                  <a:srgbClr val="000000"/>
                </a:solidFill>
                <a:latin typeface="Meiryo UI" panose="020B0604030504040204" pitchFamily="50" charset="-128"/>
                <a:ea typeface="Meiryo UI" panose="020B0604030504040204" pitchFamily="50" charset="-128"/>
              </a:rPr>
              <a:t>売り</a:t>
            </a:r>
            <a:r>
              <a:rPr kumimoji="0" lang="en-US" altLang="ja-JP" sz="1000" kern="0">
                <a:solidFill>
                  <a:srgbClr val="000000"/>
                </a:solidFill>
                <a:latin typeface="Meiryo UI" panose="020B0604030504040204" pitchFamily="50" charset="-128"/>
                <a:ea typeface="Meiryo UI" panose="020B0604030504040204" pitchFamily="50" charset="-128"/>
              </a:rPr>
              <a:t>2,000-</a:t>
            </a:r>
            <a:r>
              <a:rPr kumimoji="0" lang="ja-JP" altLang="en-US" sz="1000" kern="0">
                <a:solidFill>
                  <a:srgbClr val="000000"/>
                </a:solidFill>
                <a:latin typeface="Meiryo UI" panose="020B0604030504040204" pitchFamily="50" charset="-128"/>
                <a:ea typeface="Meiryo UI" panose="020B0604030504040204" pitchFamily="50" charset="-128"/>
              </a:rPr>
              <a:t>買い</a:t>
            </a:r>
            <a:r>
              <a:rPr kumimoji="0" lang="en-US" altLang="ja-JP" sz="1000" kern="0">
                <a:solidFill>
                  <a:srgbClr val="000000"/>
                </a:solidFill>
                <a:latin typeface="Meiryo UI" panose="020B0604030504040204" pitchFamily="50" charset="-128"/>
                <a:ea typeface="Meiryo UI" panose="020B0604030504040204" pitchFamily="50" charset="-128"/>
              </a:rPr>
              <a:t>1,000</a:t>
            </a:r>
            <a:r>
              <a:rPr kumimoji="0" lang="ja-JP" altLang="en-US" sz="1000" kern="0">
                <a:solidFill>
                  <a:srgbClr val="000000"/>
                </a:solidFill>
                <a:latin typeface="Meiryo UI" panose="020B0604030504040204" pitchFamily="50" charset="-128"/>
                <a:ea typeface="Meiryo UI" panose="020B0604030504040204" pitchFamily="50" charset="-128"/>
              </a:rPr>
              <a:t>　⇒　売り</a:t>
            </a:r>
            <a:r>
              <a:rPr kumimoji="0" lang="en-US" altLang="ja-JP" sz="1000" kern="0">
                <a:solidFill>
                  <a:srgbClr val="000000"/>
                </a:solidFill>
                <a:latin typeface="Meiryo UI" panose="020B0604030504040204" pitchFamily="50" charset="-128"/>
                <a:ea typeface="Meiryo UI" panose="020B0604030504040204" pitchFamily="50" charset="-128"/>
              </a:rPr>
              <a:t>1,000</a:t>
            </a:r>
            <a:r>
              <a:rPr kumimoji="0" lang="ja-JP" altLang="en-US" sz="1000" kern="0">
                <a:solidFill>
                  <a:srgbClr val="000000"/>
                </a:solidFill>
                <a:latin typeface="Meiryo UI" panose="020B0604030504040204" pitchFamily="50" charset="-128"/>
                <a:ea typeface="Meiryo UI" panose="020B0604030504040204" pitchFamily="50" charset="-128"/>
              </a:rPr>
              <a:t>として処理</a:t>
            </a:r>
            <a:endParaRPr kumimoji="0" lang="en-US" altLang="ja-JP" sz="1000" kern="0">
              <a:solidFill>
                <a:srgbClr val="000000"/>
              </a:solidFill>
              <a:latin typeface="Meiryo UI" panose="020B0604030504040204" pitchFamily="50" charset="-128"/>
              <a:ea typeface="Meiryo UI" panose="020B0604030504040204" pitchFamily="50" charset="-128"/>
            </a:endParaRPr>
          </a:p>
          <a:p>
            <a:pPr marL="92075" eaLnBrk="0" fontAlgn="auto" hangingPunct="0">
              <a:spcBef>
                <a:spcPts val="600"/>
              </a:spcBef>
              <a:spcAft>
                <a:spcPts val="0"/>
              </a:spcAft>
            </a:pPr>
            <a:r>
              <a:rPr kumimoji="0" lang="ja-JP" altLang="en-US" sz="1000" kern="0">
                <a:solidFill>
                  <a:srgbClr val="000000"/>
                </a:solidFill>
                <a:latin typeface="Meiryo UI" panose="020B0604030504040204" pitchFamily="50" charset="-128"/>
                <a:ea typeface="Meiryo UI" panose="020B0604030504040204" pitchFamily="50" charset="-128"/>
              </a:rPr>
              <a:t>証券会社</a:t>
            </a:r>
            <a:r>
              <a:rPr kumimoji="0" lang="en-US" altLang="ja-JP" sz="1000" kern="0">
                <a:solidFill>
                  <a:srgbClr val="000000"/>
                </a:solidFill>
                <a:latin typeface="Meiryo UI" panose="020B0604030504040204" pitchFamily="50" charset="-128"/>
                <a:ea typeface="Meiryo UI" panose="020B0604030504040204" pitchFamily="50" charset="-128"/>
              </a:rPr>
              <a:t>B</a:t>
            </a:r>
          </a:p>
          <a:p>
            <a:pPr marL="182563" eaLnBrk="0" fontAlgn="auto" hangingPunct="0">
              <a:spcBef>
                <a:spcPts val="0"/>
              </a:spcBef>
              <a:spcAft>
                <a:spcPts val="0"/>
              </a:spcAft>
            </a:pPr>
            <a:r>
              <a:rPr kumimoji="0" lang="ja-JP" altLang="en-US" sz="1000" kern="0">
                <a:solidFill>
                  <a:srgbClr val="000000"/>
                </a:solidFill>
                <a:latin typeface="Meiryo UI" panose="020B0604030504040204" pitchFamily="50" charset="-128"/>
                <a:ea typeface="Meiryo UI" panose="020B0604030504040204" pitchFamily="50" charset="-128"/>
              </a:rPr>
              <a:t>売り</a:t>
            </a:r>
            <a:r>
              <a:rPr kumimoji="0" lang="en-US" altLang="ja-JP" sz="1000" kern="0">
                <a:solidFill>
                  <a:srgbClr val="000000"/>
                </a:solidFill>
                <a:latin typeface="Meiryo UI" panose="020B0604030504040204" pitchFamily="50" charset="-128"/>
                <a:ea typeface="Meiryo UI" panose="020B0604030504040204" pitchFamily="50" charset="-128"/>
              </a:rPr>
              <a:t>2,000-</a:t>
            </a:r>
            <a:r>
              <a:rPr kumimoji="0" lang="ja-JP" altLang="en-US" sz="1000" kern="0">
                <a:solidFill>
                  <a:srgbClr val="000000"/>
                </a:solidFill>
                <a:latin typeface="Meiryo UI" panose="020B0604030504040204" pitchFamily="50" charset="-128"/>
                <a:ea typeface="Meiryo UI" panose="020B0604030504040204" pitchFamily="50" charset="-128"/>
              </a:rPr>
              <a:t>買い</a:t>
            </a:r>
            <a:r>
              <a:rPr kumimoji="0" lang="en-US" altLang="ja-JP" sz="1000" kern="0">
                <a:solidFill>
                  <a:srgbClr val="000000"/>
                </a:solidFill>
                <a:latin typeface="Meiryo UI" panose="020B0604030504040204" pitchFamily="50" charset="-128"/>
                <a:ea typeface="Meiryo UI" panose="020B0604030504040204" pitchFamily="50" charset="-128"/>
              </a:rPr>
              <a:t>3,000</a:t>
            </a:r>
            <a:r>
              <a:rPr kumimoji="0" lang="ja-JP" altLang="en-US" sz="1000" kern="0">
                <a:solidFill>
                  <a:srgbClr val="000000"/>
                </a:solidFill>
                <a:latin typeface="Meiryo UI" panose="020B0604030504040204" pitchFamily="50" charset="-128"/>
                <a:ea typeface="Meiryo UI" panose="020B0604030504040204" pitchFamily="50" charset="-128"/>
              </a:rPr>
              <a:t>　⇒　買い</a:t>
            </a:r>
            <a:r>
              <a:rPr kumimoji="0" lang="en-US" altLang="ja-JP" sz="1000" kern="0">
                <a:solidFill>
                  <a:srgbClr val="000000"/>
                </a:solidFill>
                <a:latin typeface="Meiryo UI" panose="020B0604030504040204" pitchFamily="50" charset="-128"/>
                <a:ea typeface="Meiryo UI" panose="020B0604030504040204" pitchFamily="50" charset="-128"/>
              </a:rPr>
              <a:t>1,000</a:t>
            </a:r>
            <a:r>
              <a:rPr kumimoji="0" lang="ja-JP" altLang="en-US" sz="1000" kern="0">
                <a:solidFill>
                  <a:srgbClr val="000000"/>
                </a:solidFill>
                <a:latin typeface="Meiryo UI" panose="020B0604030504040204" pitchFamily="50" charset="-128"/>
                <a:ea typeface="Meiryo UI" panose="020B0604030504040204" pitchFamily="50" charset="-128"/>
              </a:rPr>
              <a:t>として処理</a:t>
            </a:r>
            <a:endParaRPr kumimoji="0" lang="en-US" altLang="ja-JP" sz="1000" kern="0">
              <a:solidFill>
                <a:srgbClr val="000000"/>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5366BB1E-876F-0BC7-E1F0-DC65FDBAB0E6}"/>
              </a:ext>
            </a:extLst>
          </p:cNvPr>
          <p:cNvSpPr/>
          <p:nvPr/>
        </p:nvSpPr>
        <p:spPr>
          <a:xfrm>
            <a:off x="7097970" y="585169"/>
            <a:ext cx="263720" cy="263720"/>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lang="en-US" altLang="ja-JP" sz="1200" b="1" kern="0" dirty="0">
                <a:solidFill>
                  <a:srgbClr val="FFFFFF"/>
                </a:solidFill>
                <a:latin typeface="Meiryo UI" panose="020B0604030504040204" pitchFamily="50" charset="-128"/>
                <a:ea typeface="Meiryo UI" panose="020B0604030504040204" pitchFamily="50" charset="-128"/>
              </a:rPr>
              <a:t>3</a:t>
            </a:r>
            <a:endParaRPr kumimoji="1" lang="ja-JP" altLang="en-US" sz="1200" b="1" kern="0" dirty="0">
              <a:solidFill>
                <a:srgbClr val="FFFFFF"/>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0B22D861-AB51-C242-393B-47884CBA8D8F}"/>
              </a:ext>
            </a:extLst>
          </p:cNvPr>
          <p:cNvSpPr/>
          <p:nvPr/>
        </p:nvSpPr>
        <p:spPr>
          <a:xfrm>
            <a:off x="9218055" y="2233055"/>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3-A</a:t>
            </a:r>
            <a:endParaRPr kumimoji="1" lang="ja-JP" altLang="en-US" sz="1200" b="1" kern="0" dirty="0">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C8993FB4-80DD-2A92-DD79-3CF457A63C52}"/>
              </a:ext>
            </a:extLst>
          </p:cNvPr>
          <p:cNvSpPr/>
          <p:nvPr/>
        </p:nvSpPr>
        <p:spPr>
          <a:xfrm>
            <a:off x="9206544" y="2819783"/>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3-B</a:t>
            </a:r>
            <a:endParaRPr kumimoji="1" lang="ja-JP" altLang="en-US" sz="1200" b="1" kern="0" dirty="0">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FCC45760-52BB-BCED-4237-DB3993CD08A0}"/>
              </a:ext>
            </a:extLst>
          </p:cNvPr>
          <p:cNvSpPr/>
          <p:nvPr/>
        </p:nvSpPr>
        <p:spPr>
          <a:xfrm>
            <a:off x="9206544" y="4784745"/>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3-C</a:t>
            </a:r>
            <a:endParaRPr kumimoji="1" lang="ja-JP" altLang="en-US" sz="1200" b="1" kern="0" dirty="0">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1356C530-1FD4-7FCD-5B5F-12A75354264C}"/>
              </a:ext>
            </a:extLst>
          </p:cNvPr>
          <p:cNvSpPr/>
          <p:nvPr/>
        </p:nvSpPr>
        <p:spPr>
          <a:xfrm>
            <a:off x="7461411" y="4784745"/>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3-C</a:t>
            </a:r>
            <a:endParaRPr kumimoji="1" lang="ja-JP" altLang="en-US" sz="1200" b="1" kern="0" dirty="0">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64B4A534-744D-EA1F-F988-0FAA337312C5}"/>
              </a:ext>
            </a:extLst>
          </p:cNvPr>
          <p:cNvSpPr/>
          <p:nvPr/>
        </p:nvSpPr>
        <p:spPr>
          <a:xfrm>
            <a:off x="581896" y="165541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3-A</a:t>
            </a:r>
            <a:endParaRPr kumimoji="1" lang="ja-JP" altLang="en-US" sz="1200" b="1" kern="0"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B44BE92E-91D4-8E51-D398-32EAFC2BDE9C}"/>
              </a:ext>
            </a:extLst>
          </p:cNvPr>
          <p:cNvSpPr/>
          <p:nvPr/>
        </p:nvSpPr>
        <p:spPr>
          <a:xfrm>
            <a:off x="581896" y="3225102"/>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3-B</a:t>
            </a:r>
            <a:endParaRPr kumimoji="1" lang="ja-JP" altLang="en-US" sz="1200" b="1" kern="0" dirty="0">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DD03523D-3189-6F7A-DE40-47DB719C059D}"/>
              </a:ext>
            </a:extLst>
          </p:cNvPr>
          <p:cNvSpPr/>
          <p:nvPr/>
        </p:nvSpPr>
        <p:spPr>
          <a:xfrm>
            <a:off x="581896" y="4784745"/>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3-C</a:t>
            </a:r>
            <a:endParaRPr kumimoji="1" lang="ja-JP" altLang="en-US" sz="1200" b="1" kern="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72141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949D-8C1E-1910-54A2-461B98094A45}"/>
            </a:ext>
          </a:extLst>
        </p:cNvPr>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26596A26-3014-A994-E60B-C08EC700EA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4" name="オブジェクト 3" hidden="1">
                        <a:extLst>
                          <a:ext uri="{FF2B5EF4-FFF2-40B4-BE49-F238E27FC236}">
                            <a16:creationId xmlns:a16="http://schemas.microsoft.com/office/drawing/2014/main" id="{26596A26-3014-A994-E60B-C08EC700EA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5608" name="タイトル 1">
            <a:extLst>
              <a:ext uri="{FF2B5EF4-FFF2-40B4-BE49-F238E27FC236}">
                <a16:creationId xmlns:a16="http://schemas.microsoft.com/office/drawing/2014/main" id="{4204EAF8-01A1-AC77-973E-273C8FACD155}"/>
              </a:ext>
            </a:extLst>
          </p:cNvPr>
          <p:cNvSpPr>
            <a:spLocks noGrp="1"/>
          </p:cNvSpPr>
          <p:nvPr>
            <p:ph type="title"/>
          </p:nvPr>
        </p:nvSpPr>
        <p:spPr bwMode="gray"/>
        <p:txBody>
          <a:bodyPr vert="horz" lIns="0" tIns="0" rIns="0" bIns="0" rtlCol="0" anchor="b" anchorCtr="0">
            <a:noAutofit/>
          </a:bodyPr>
          <a:lstStyle/>
          <a:p>
            <a:r>
              <a:rPr lang="ja-JP" altLang="en-US" dirty="0"/>
              <a:t>“セルサイド”（証券会社）の主な業務内容</a:t>
            </a:r>
          </a:p>
        </p:txBody>
      </p:sp>
      <p:sp>
        <p:nvSpPr>
          <p:cNvPr id="25609" name="コンテンツ プレースホルダ 2">
            <a:extLst>
              <a:ext uri="{FF2B5EF4-FFF2-40B4-BE49-F238E27FC236}">
                <a16:creationId xmlns:a16="http://schemas.microsoft.com/office/drawing/2014/main" id="{846182A5-300C-4480-A193-379C4CDABD9C}"/>
              </a:ext>
            </a:extLst>
          </p:cNvPr>
          <p:cNvSpPr>
            <a:spLocks noGrp="1"/>
          </p:cNvSpPr>
          <p:nvPr>
            <p:ph type="body" idx="12"/>
          </p:nvPr>
        </p:nvSpPr>
        <p:spPr bwMode="gray"/>
        <p:txBody>
          <a:bodyPr/>
          <a:lstStyle/>
          <a:p>
            <a:r>
              <a:rPr kumimoji="1" lang="ja-JP" altLang="en-US">
                <a:latin typeface="Meiryo UI" panose="020B0604030504040204" pitchFamily="50" charset="-128"/>
                <a:ea typeface="Meiryo UI" panose="020B0604030504040204" pitchFamily="50" charset="-128"/>
              </a:rPr>
              <a:t>国内営業部門は</a:t>
            </a:r>
            <a:r>
              <a:rPr lang="ja-JP" altLang="en-US">
                <a:latin typeface="Meiryo UI" panose="020B0604030504040204" pitchFamily="50" charset="-128"/>
                <a:ea typeface="Meiryo UI" panose="020B0604030504040204" pitchFamily="50" charset="-128"/>
              </a:rPr>
              <a:t>リテール顧客に金融商品の提案・販売を実施</a:t>
            </a:r>
            <a:r>
              <a:rPr lang="ja-JP" altLang="en-US"/>
              <a:t>、</a:t>
            </a:r>
            <a:r>
              <a:rPr lang="ja-JP" altLang="en-US" sz="1800">
                <a:latin typeface="Meiryo UI" panose="020B0604030504040204" pitchFamily="50" charset="-128"/>
                <a:ea typeface="Meiryo UI" panose="020B0604030504040204" pitchFamily="50" charset="-128"/>
              </a:rPr>
              <a:t>セールス＆トレーディング部門</a:t>
            </a:r>
            <a:r>
              <a:rPr lang="ja-JP" altLang="en-US" sz="1800"/>
              <a:t>は</a:t>
            </a:r>
            <a:r>
              <a:rPr lang="ja-JP" altLang="en-US">
                <a:latin typeface="Meiryo UI" panose="020B0604030504040204" pitchFamily="50" charset="-128"/>
                <a:ea typeface="Meiryo UI" panose="020B0604030504040204" pitchFamily="50" charset="-128"/>
              </a:rPr>
              <a:t>機関投資家などの大口投資家に投資運用の提案・販売を実施する。投資銀行部門は事業法人や機関投資家向けに資金調達の提案・実行および</a:t>
            </a:r>
            <a:r>
              <a:rPr lang="en-US" altLang="ja-JP">
                <a:latin typeface="Meiryo UI" panose="020B0604030504040204" pitchFamily="50" charset="-128"/>
                <a:ea typeface="Meiryo UI" panose="020B0604030504040204" pitchFamily="50" charset="-128"/>
              </a:rPr>
              <a:t>M&amp;A</a:t>
            </a:r>
            <a:r>
              <a:rPr lang="ja-JP" altLang="en-US">
                <a:latin typeface="Meiryo UI" panose="020B0604030504040204" pitchFamily="50" charset="-128"/>
                <a:ea typeface="Meiryo UI" panose="020B0604030504040204" pitchFamily="50" charset="-128"/>
              </a:rPr>
              <a:t>などのコンサルティングを実施</a:t>
            </a:r>
            <a:r>
              <a:rPr lang="ja-JP" altLang="en-US"/>
              <a:t>する。</a:t>
            </a:r>
            <a:endParaRPr lang="en-US" altLang="ja-JP">
              <a:latin typeface="Meiryo UI" panose="020B0604030504040204" pitchFamily="50" charset="-128"/>
              <a:ea typeface="Meiryo UI" panose="020B0604030504040204" pitchFamily="50" charset="-128"/>
            </a:endParaRPr>
          </a:p>
        </p:txBody>
      </p:sp>
      <p:sp>
        <p:nvSpPr>
          <p:cNvPr id="2" name="テキスト プレースホルダー 1">
            <a:extLst>
              <a:ext uri="{FF2B5EF4-FFF2-40B4-BE49-F238E27FC236}">
                <a16:creationId xmlns:a16="http://schemas.microsoft.com/office/drawing/2014/main" id="{5364BC61-9E68-4273-1693-17BDE2FAD821}"/>
              </a:ext>
            </a:extLst>
          </p:cNvPr>
          <p:cNvSpPr>
            <a:spLocks noGrp="1"/>
          </p:cNvSpPr>
          <p:nvPr>
            <p:ph type="body" sz="quarter" idx="13"/>
          </p:nvPr>
        </p:nvSpPr>
        <p:spPr/>
        <p:txBody>
          <a:bodyPr/>
          <a:lstStyle/>
          <a:p>
            <a:r>
              <a:rPr lang="en-US" altLang="ja-JP" dirty="0"/>
              <a:t>2. </a:t>
            </a:r>
            <a:r>
              <a:rPr lang="ja-JP" altLang="en-US" dirty="0"/>
              <a:t>各機能の紹介</a:t>
            </a:r>
          </a:p>
        </p:txBody>
      </p:sp>
      <p:sp>
        <p:nvSpPr>
          <p:cNvPr id="19" name="正方形/長方形 18">
            <a:extLst>
              <a:ext uri="{FF2B5EF4-FFF2-40B4-BE49-F238E27FC236}">
                <a16:creationId xmlns:a16="http://schemas.microsoft.com/office/drawing/2014/main" id="{64FC6FBF-24CA-4FF2-14E9-A87A864DCA10}"/>
              </a:ext>
            </a:extLst>
          </p:cNvPr>
          <p:cNvSpPr/>
          <p:nvPr/>
        </p:nvSpPr>
        <p:spPr bwMode="gray">
          <a:xfrm>
            <a:off x="947134" y="4717502"/>
            <a:ext cx="2592361" cy="32400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algn="ctr" eaLnBrk="0" hangingPunct="0">
              <a:spcBef>
                <a:spcPts val="0"/>
              </a:spcBef>
            </a:pPr>
            <a:r>
              <a:rPr lang="ja-JP" altLang="en-US" sz="1200">
                <a:latin typeface="Meiryo UI" panose="020B0604030504040204" pitchFamily="50" charset="-128"/>
                <a:ea typeface="Meiryo UI" panose="020B0604030504040204" pitchFamily="50" charset="-128"/>
              </a:rPr>
              <a:t>投資銀行部門</a:t>
            </a:r>
            <a:endParaRPr lang="en-US" altLang="ja-JP" sz="1200">
              <a:latin typeface="Meiryo UI" panose="020B0604030504040204" pitchFamily="50" charset="-128"/>
              <a:ea typeface="Meiryo UI" panose="020B0604030504040204" pitchFamily="50" charset="-128"/>
            </a:endParaRPr>
          </a:p>
        </p:txBody>
      </p:sp>
      <p:grpSp>
        <p:nvGrpSpPr>
          <p:cNvPr id="3" name="グループ化 2">
            <a:extLst>
              <a:ext uri="{FF2B5EF4-FFF2-40B4-BE49-F238E27FC236}">
                <a16:creationId xmlns:a16="http://schemas.microsoft.com/office/drawing/2014/main" id="{8B67BEDA-0076-01C6-EF06-1173BA127AD3}"/>
              </a:ext>
            </a:extLst>
          </p:cNvPr>
          <p:cNvGrpSpPr/>
          <p:nvPr/>
        </p:nvGrpSpPr>
        <p:grpSpPr>
          <a:xfrm>
            <a:off x="3634005" y="5621107"/>
            <a:ext cx="5711606" cy="864000"/>
            <a:chOff x="3634005" y="2774088"/>
            <a:chExt cx="5711606" cy="828001"/>
          </a:xfrm>
        </p:grpSpPr>
        <p:sp>
          <p:nvSpPr>
            <p:cNvPr id="49" name="角丸四角形 48">
              <a:extLst>
                <a:ext uri="{FF2B5EF4-FFF2-40B4-BE49-F238E27FC236}">
                  <a16:creationId xmlns:a16="http://schemas.microsoft.com/office/drawing/2014/main" id="{01C6E2C4-E625-9D65-6A72-DA12C70520BB}"/>
                </a:ext>
              </a:extLst>
            </p:cNvPr>
            <p:cNvSpPr/>
            <p:nvPr/>
          </p:nvSpPr>
          <p:spPr bwMode="gray">
            <a:xfrm>
              <a:off x="3634005" y="2774089"/>
              <a:ext cx="1030955" cy="828000"/>
            </a:xfrm>
            <a:prstGeom prst="rect">
              <a:avLst/>
            </a:prstGeom>
            <a:solidFill>
              <a:schemeClr val="bg1">
                <a:lumMod val="50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株式・債券の</a:t>
              </a:r>
              <a:endParaRPr kumimoji="1" lang="en-US" altLang="ja-JP" sz="1200" b="0" dirty="0">
                <a:solidFill>
                  <a:schemeClr val="bg1"/>
                </a:solidFill>
                <a:latin typeface="Meiryo UI" panose="020B0604030504040204" pitchFamily="50" charset="-128"/>
                <a:ea typeface="Meiryo UI" panose="020B0604030504040204" pitchFamily="50" charset="-128"/>
              </a:endParaRPr>
            </a:p>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引受</a:t>
              </a:r>
              <a:endParaRPr kumimoji="1" lang="en-US" altLang="ja-JP" sz="1200" b="0" dirty="0">
                <a:solidFill>
                  <a:schemeClr val="bg1"/>
                </a:solidFill>
                <a:latin typeface="Meiryo UI" panose="020B0604030504040204" pitchFamily="50" charset="-128"/>
                <a:ea typeface="Meiryo UI" panose="020B0604030504040204" pitchFamily="50" charset="-128"/>
              </a:endParaRPr>
            </a:p>
          </p:txBody>
        </p:sp>
        <p:sp>
          <p:nvSpPr>
            <p:cNvPr id="44" name="角丸四角形 48">
              <a:extLst>
                <a:ext uri="{FF2B5EF4-FFF2-40B4-BE49-F238E27FC236}">
                  <a16:creationId xmlns:a16="http://schemas.microsoft.com/office/drawing/2014/main" id="{3DBBC0CD-277C-D86E-5570-9806E3B3A3E2}"/>
                </a:ext>
              </a:extLst>
            </p:cNvPr>
            <p:cNvSpPr/>
            <p:nvPr/>
          </p:nvSpPr>
          <p:spPr bwMode="gray">
            <a:xfrm>
              <a:off x="4761601" y="2774088"/>
              <a:ext cx="4584010" cy="828000"/>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証券市場からの資金調達のために株式や社債を発行を支援する</a:t>
              </a:r>
              <a:endParaRPr lang="en-US" altLang="ja-JP" sz="120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発行した株式や社債を買い取り</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引受</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、投資家に販売する</a:t>
              </a:r>
              <a:endParaRPr lang="en-US" altLang="ja-JP" sz="120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実行部門は株担当の</a:t>
              </a:r>
              <a:r>
                <a:rPr lang="en-US" altLang="ja-JP" sz="1200">
                  <a:latin typeface="Meiryo UI" panose="020B0604030504040204" pitchFamily="50" charset="-128"/>
                  <a:ea typeface="Meiryo UI" panose="020B0604030504040204" pitchFamily="50" charset="-128"/>
                </a:rPr>
                <a:t>ECM(</a:t>
              </a:r>
              <a:r>
                <a:rPr lang="ja-JP" altLang="en-US" sz="1200">
                  <a:latin typeface="Meiryo UI" panose="020B0604030504040204" pitchFamily="50" charset="-128"/>
                  <a:ea typeface="Meiryo UI" panose="020B0604030504040204" pitchFamily="50" charset="-128"/>
                </a:rPr>
                <a:t>エクイティ・キャピタル・マーケット</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、債券担当の</a:t>
              </a:r>
              <a:r>
                <a:rPr lang="en-US" altLang="ja-JP" sz="1200">
                  <a:latin typeface="Meiryo UI" panose="020B0604030504040204" pitchFamily="50" charset="-128"/>
                  <a:ea typeface="Meiryo UI" panose="020B0604030504040204" pitchFamily="50" charset="-128"/>
                </a:rPr>
                <a:t>DCM(</a:t>
              </a:r>
              <a:r>
                <a:rPr lang="ja-JP" altLang="en-US" sz="1200">
                  <a:latin typeface="Meiryo UI" panose="020B0604030504040204" pitchFamily="50" charset="-128"/>
                  <a:ea typeface="Meiryo UI" panose="020B0604030504040204" pitchFamily="50" charset="-128"/>
                </a:rPr>
                <a:t>デット・キャピタル・マーケット</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と別れていることが多い</a:t>
              </a:r>
            </a:p>
          </p:txBody>
        </p:sp>
      </p:grpSp>
      <p:grpSp>
        <p:nvGrpSpPr>
          <p:cNvPr id="5" name="グループ化 4">
            <a:extLst>
              <a:ext uri="{FF2B5EF4-FFF2-40B4-BE49-F238E27FC236}">
                <a16:creationId xmlns:a16="http://schemas.microsoft.com/office/drawing/2014/main" id="{F02C07CD-7A06-AD06-2E26-788096BF62F2}"/>
              </a:ext>
            </a:extLst>
          </p:cNvPr>
          <p:cNvGrpSpPr/>
          <p:nvPr/>
        </p:nvGrpSpPr>
        <p:grpSpPr>
          <a:xfrm>
            <a:off x="3634005" y="4687247"/>
            <a:ext cx="5711606" cy="864000"/>
            <a:chOff x="3634005" y="1900895"/>
            <a:chExt cx="5711606" cy="828000"/>
          </a:xfrm>
        </p:grpSpPr>
        <p:sp>
          <p:nvSpPr>
            <p:cNvPr id="12" name="角丸四角形 11">
              <a:extLst>
                <a:ext uri="{FF2B5EF4-FFF2-40B4-BE49-F238E27FC236}">
                  <a16:creationId xmlns:a16="http://schemas.microsoft.com/office/drawing/2014/main" id="{A5AB07D8-1274-1C97-84CF-B57A4EA5830A}"/>
                </a:ext>
              </a:extLst>
            </p:cNvPr>
            <p:cNvSpPr/>
            <p:nvPr/>
          </p:nvSpPr>
          <p:spPr bwMode="gray">
            <a:xfrm>
              <a:off x="3634005" y="1900895"/>
              <a:ext cx="1030955" cy="828000"/>
            </a:xfrm>
            <a:prstGeom prst="rect">
              <a:avLst/>
            </a:prstGeom>
            <a:solidFill>
              <a:schemeClr val="bg1">
                <a:lumMod val="50000"/>
              </a:schemeClr>
            </a:solidFill>
            <a:ln w="6350" algn="ctr">
              <a:noFill/>
              <a:miter lim="800000"/>
              <a:headEnd/>
              <a:tailEnd/>
            </a:ln>
            <a:effectLst/>
          </p:spPr>
          <p:txBody>
            <a:bodyPr wrap="none" lIns="36000" tIns="36000" rIns="36000" bIns="36000" anchor="ctr"/>
            <a:lstStyle/>
            <a:p>
              <a:pPr algn="ctr">
                <a:spcBef>
                  <a:spcPts val="0"/>
                </a:spcBef>
                <a:defRPr/>
              </a:pPr>
              <a:r>
                <a:rPr kumimoji="1" lang="en-US" altLang="ja-JP" sz="1200" b="0" dirty="0">
                  <a:solidFill>
                    <a:schemeClr val="bg1"/>
                  </a:solidFill>
                  <a:latin typeface="Meiryo UI" panose="020B0604030504040204" pitchFamily="50" charset="-128"/>
                  <a:ea typeface="Meiryo UI" panose="020B0604030504040204" pitchFamily="50" charset="-128"/>
                </a:rPr>
                <a:t>M&amp;A</a:t>
              </a:r>
              <a:r>
                <a:rPr kumimoji="1" lang="ja-JP" altLang="ja-JP" sz="1200" b="0" dirty="0">
                  <a:solidFill>
                    <a:schemeClr val="bg1"/>
                  </a:solidFill>
                  <a:latin typeface="Meiryo UI" panose="020B0604030504040204" pitchFamily="50" charset="-128"/>
                  <a:ea typeface="Meiryo UI" panose="020B0604030504040204" pitchFamily="50" charset="-128"/>
                </a:rPr>
                <a:t>等</a:t>
              </a:r>
              <a:endParaRPr kumimoji="1" lang="en-US" altLang="ja-JP" sz="1200" b="0" dirty="0">
                <a:solidFill>
                  <a:schemeClr val="bg1"/>
                </a:solidFill>
                <a:latin typeface="Meiryo UI" panose="020B0604030504040204" pitchFamily="50" charset="-128"/>
                <a:ea typeface="Meiryo UI" panose="020B0604030504040204" pitchFamily="50" charset="-128"/>
              </a:endParaRPr>
            </a:p>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アドバイザリー</a:t>
              </a:r>
              <a:endParaRPr lang="en-US" altLang="ja-JP" sz="1200" dirty="0">
                <a:solidFill>
                  <a:schemeClr val="bg1"/>
                </a:solidFill>
                <a:latin typeface="Meiryo UI" panose="020B0604030504040204" pitchFamily="50" charset="-128"/>
                <a:ea typeface="Meiryo UI" panose="020B0604030504040204" pitchFamily="50" charset="-128"/>
              </a:endParaRPr>
            </a:p>
          </p:txBody>
        </p:sp>
        <p:sp>
          <p:nvSpPr>
            <p:cNvPr id="46" name="角丸四角形 11">
              <a:extLst>
                <a:ext uri="{FF2B5EF4-FFF2-40B4-BE49-F238E27FC236}">
                  <a16:creationId xmlns:a16="http://schemas.microsoft.com/office/drawing/2014/main" id="{CD463EE5-C4EB-1DEC-BD03-19D711AAD11C}"/>
                </a:ext>
              </a:extLst>
            </p:cNvPr>
            <p:cNvSpPr/>
            <p:nvPr/>
          </p:nvSpPr>
          <p:spPr bwMode="gray">
            <a:xfrm>
              <a:off x="4761601" y="1900895"/>
              <a:ext cx="4584010" cy="828000"/>
            </a:xfrm>
            <a:prstGeom prst="rect">
              <a:avLst/>
            </a:prstGeom>
            <a:noFill/>
            <a:ln w="6350" algn="ctr">
              <a:noFill/>
              <a:miter lim="800000"/>
              <a:headEnd/>
              <a:tailEnd/>
            </a:ln>
            <a:effectLst/>
          </p:spPr>
          <p:txBody>
            <a:bodyPr lIns="36000" tIns="36000" rIns="36000" bIns="36000" anchor="ctr"/>
            <a:lstStyle/>
            <a:p>
              <a:pPr marL="92075"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株式取得による買収、事業譲渡、合併などによる</a:t>
              </a:r>
              <a:r>
                <a:rPr lang="en-US" altLang="ja-JP" sz="1200">
                  <a:latin typeface="Meiryo UI" panose="020B0604030504040204" pitchFamily="50" charset="-128"/>
                  <a:ea typeface="Meiryo UI" panose="020B0604030504040204" pitchFamily="50" charset="-128"/>
                </a:rPr>
                <a:t>M&amp;A</a:t>
              </a:r>
              <a:r>
                <a:rPr lang="ja-JP" altLang="en-US" sz="1200">
                  <a:latin typeface="Meiryo UI" panose="020B0604030504040204" pitchFamily="50" charset="-128"/>
                  <a:ea typeface="Meiryo UI" panose="020B0604030504040204" pitchFamily="50" charset="-128"/>
                </a:rPr>
                <a:t>、業務提携のコンサルティングを実施</a:t>
              </a:r>
              <a:endParaRPr lang="en-US" altLang="ja-JP" sz="1200">
                <a:latin typeface="Meiryo UI" panose="020B0604030504040204" pitchFamily="50" charset="-128"/>
                <a:ea typeface="Meiryo UI" panose="020B0604030504040204" pitchFamily="50" charset="-128"/>
              </a:endParaRPr>
            </a:p>
          </p:txBody>
        </p:sp>
      </p:grpSp>
      <p:sp>
        <p:nvSpPr>
          <p:cNvPr id="39" name="正方形/長方形 38">
            <a:extLst>
              <a:ext uri="{FF2B5EF4-FFF2-40B4-BE49-F238E27FC236}">
                <a16:creationId xmlns:a16="http://schemas.microsoft.com/office/drawing/2014/main" id="{AC4A335C-A606-A0DA-1CDF-3B7F5DB22336}"/>
              </a:ext>
            </a:extLst>
          </p:cNvPr>
          <p:cNvSpPr/>
          <p:nvPr/>
        </p:nvSpPr>
        <p:spPr bwMode="gray">
          <a:xfrm>
            <a:off x="947134" y="5078289"/>
            <a:ext cx="2592361" cy="1329155"/>
          </a:xfrm>
          <a:prstGeom prst="rect">
            <a:avLst/>
          </a:prstGeom>
          <a:noFill/>
          <a:ln w="28575" algn="ctr">
            <a:noFill/>
            <a:prstDash val="solid"/>
            <a:miter lim="800000"/>
            <a:headEnd/>
            <a:tailEnd/>
          </a:ln>
          <a:effectLst/>
        </p:spPr>
        <p:txBody>
          <a:bodyPr vert="horz" wrap="square" lIns="144000" tIns="36000" rIns="36000" bIns="36000" anchor="t"/>
          <a:lstStyle/>
          <a:p>
            <a:pPr>
              <a:spcBef>
                <a:spcPts val="0"/>
              </a:spcBef>
            </a:pPr>
            <a:r>
              <a:rPr lang="ja-JP" altLang="en-US">
                <a:latin typeface="Meiryo UI" panose="020B0604030504040204" pitchFamily="50" charset="-128"/>
                <a:ea typeface="Meiryo UI" panose="020B0604030504040204" pitchFamily="50" charset="-128"/>
              </a:rPr>
              <a:t>事業法人や機関投資家向けに資金調達の提案・実行および</a:t>
            </a:r>
            <a:r>
              <a:rPr lang="en-US" altLang="ja-JP">
                <a:latin typeface="Meiryo UI" panose="020B0604030504040204" pitchFamily="50" charset="-128"/>
                <a:ea typeface="Meiryo UI" panose="020B0604030504040204" pitchFamily="50" charset="-128"/>
              </a:rPr>
              <a:t>M&amp;A</a:t>
            </a:r>
            <a:r>
              <a:rPr lang="ja-JP" altLang="en-US">
                <a:latin typeface="Meiryo UI" panose="020B0604030504040204" pitchFamily="50" charset="-128"/>
                <a:ea typeface="Meiryo UI" panose="020B0604030504040204" pitchFamily="50" charset="-128"/>
              </a:rPr>
              <a:t>などのコンサルティングを実施</a:t>
            </a:r>
            <a:endParaRPr lang="en-US" altLang="ja-JP">
              <a:latin typeface="Meiryo UI" panose="020B0604030504040204" pitchFamily="50" charset="-128"/>
              <a:ea typeface="Meiryo UI" panose="020B0604030504040204" pitchFamily="50" charset="-128"/>
            </a:endParaRPr>
          </a:p>
        </p:txBody>
      </p:sp>
      <p:cxnSp>
        <p:nvCxnSpPr>
          <p:cNvPr id="33" name="直線コネクタ 49">
            <a:extLst>
              <a:ext uri="{FF2B5EF4-FFF2-40B4-BE49-F238E27FC236}">
                <a16:creationId xmlns:a16="http://schemas.microsoft.com/office/drawing/2014/main" id="{E29FD1B9-AE9E-98FC-F429-CF41905CB7C1}"/>
              </a:ext>
            </a:extLst>
          </p:cNvPr>
          <p:cNvCxnSpPr>
            <a:cxnSpLocks noChangeShapeType="1"/>
          </p:cNvCxnSpPr>
          <p:nvPr/>
        </p:nvCxnSpPr>
        <p:spPr bwMode="gray">
          <a:xfrm>
            <a:off x="560388" y="4646936"/>
            <a:ext cx="8785221" cy="0"/>
          </a:xfrm>
          <a:prstGeom prst="line">
            <a:avLst/>
          </a:prstGeom>
          <a:noFill/>
          <a:ln w="6350" algn="ctr">
            <a:solidFill>
              <a:schemeClr val="tx1">
                <a:lumMod val="75000"/>
                <a:lumOff val="25000"/>
              </a:schemeClr>
            </a:solidFill>
            <a:prstDash val="solid"/>
            <a:round/>
            <a:headEnd/>
            <a:tailEnd/>
          </a:ln>
          <a:extLst>
            <a:ext uri="{909E8E84-426E-40DD-AFC4-6F175D3DCCD1}">
              <a14:hiddenFill xmlns:a14="http://schemas.microsoft.com/office/drawing/2010/main">
                <a:noFill/>
              </a14:hiddenFill>
            </a:ext>
          </a:extLst>
        </p:spPr>
      </p:cxnSp>
      <p:cxnSp>
        <p:nvCxnSpPr>
          <p:cNvPr id="32" name="直線コネクタ 49">
            <a:extLst>
              <a:ext uri="{FF2B5EF4-FFF2-40B4-BE49-F238E27FC236}">
                <a16:creationId xmlns:a16="http://schemas.microsoft.com/office/drawing/2014/main" id="{978C0F97-CBE0-0370-2FBA-FE6EFFDCB4DF}"/>
              </a:ext>
            </a:extLst>
          </p:cNvPr>
          <p:cNvCxnSpPr>
            <a:cxnSpLocks noChangeShapeType="1"/>
          </p:cNvCxnSpPr>
          <p:nvPr/>
        </p:nvCxnSpPr>
        <p:spPr bwMode="gray">
          <a:xfrm>
            <a:off x="4761600" y="5586177"/>
            <a:ext cx="4582800" cy="0"/>
          </a:xfrm>
          <a:prstGeom prst="line">
            <a:avLst/>
          </a:prstGeom>
          <a:noFill/>
          <a:ln w="6350" algn="ctr">
            <a:solidFill>
              <a:schemeClr val="tx1">
                <a:lumMod val="75000"/>
                <a:lumOff val="25000"/>
              </a:schemeClr>
            </a:solidFill>
            <a:prstDash val="dash"/>
            <a:round/>
            <a:headEnd/>
            <a:tailEnd/>
          </a:ln>
          <a:extLst>
            <a:ext uri="{909E8E84-426E-40DD-AFC4-6F175D3DCCD1}">
              <a14:hiddenFill xmlns:a14="http://schemas.microsoft.com/office/drawing/2010/main">
                <a:noFill/>
              </a14:hiddenFill>
            </a:ext>
          </a:extLst>
        </p:spPr>
      </p:cxnSp>
      <p:sp>
        <p:nvSpPr>
          <p:cNvPr id="57" name="テキスト ボックス 52">
            <a:extLst>
              <a:ext uri="{FF2B5EF4-FFF2-40B4-BE49-F238E27FC236}">
                <a16:creationId xmlns:a16="http://schemas.microsoft.com/office/drawing/2014/main" id="{152124E2-A33E-D12D-7213-CDF534BF0B82}"/>
              </a:ext>
            </a:extLst>
          </p:cNvPr>
          <p:cNvSpPr txBox="1">
            <a:spLocks noChangeArrowheads="1"/>
          </p:cNvSpPr>
          <p:nvPr/>
        </p:nvSpPr>
        <p:spPr bwMode="gray">
          <a:xfrm>
            <a:off x="565121" y="4717502"/>
            <a:ext cx="340789" cy="1754526"/>
          </a:xfrm>
          <a:prstGeom prst="rect">
            <a:avLst/>
          </a:prstGeom>
          <a:solidFill>
            <a:schemeClr val="bg1">
              <a:lumMod val="65000"/>
            </a:schemeClr>
          </a:solidFill>
          <a:ln w="12700" algn="ctr">
            <a:noFill/>
            <a:prstDash val="solid"/>
            <a:miter lim="800000"/>
            <a:headEnd/>
            <a:tailEnd/>
          </a:ln>
          <a:effectLst/>
        </p:spPr>
        <p:txBody>
          <a:bodyPr vert="eaVert" wrap="none" lIns="36000" tIns="36000" rIns="36000" bIns="36000" anchor="ctr"/>
          <a:lstStyle>
            <a:defPPr>
              <a:defRPr lang="en-US"/>
            </a:defPPr>
            <a:lvl1pPr>
              <a:spcBef>
                <a:spcPts val="0"/>
              </a:spcBef>
              <a:defRPr b="0">
                <a:solidFill>
                  <a:schemeClr val="bg1"/>
                </a:solidFill>
                <a:latin typeface="Meiryo UI" panose="020B0604030504040204" pitchFamily="50" charset="-128"/>
                <a:ea typeface="Meiryo UI" panose="020B0604030504040204" pitchFamily="50" charset="-128"/>
              </a:defRPr>
            </a:lvl1pPr>
            <a:lvl2pPr marL="742950" indent="-285750" eaLnBrk="0" hangingPunct="0">
              <a:defRPr sz="1200" b="1">
                <a:solidFill>
                  <a:schemeClr val="tx1"/>
                </a:solidFill>
                <a:latin typeface="HGPｺﾞｼｯｸE" pitchFamily="50" charset="-128"/>
                <a:ea typeface="ＭＳ Ｐゴシック" pitchFamily="50" charset="-128"/>
              </a:defRPr>
            </a:lvl2pPr>
            <a:lvl3pPr marL="1143000" indent="-228600" eaLnBrk="0" hangingPunct="0">
              <a:defRPr sz="1200" b="1">
                <a:solidFill>
                  <a:schemeClr val="tx1"/>
                </a:solidFill>
                <a:latin typeface="HGPｺﾞｼｯｸE" pitchFamily="50" charset="-128"/>
                <a:ea typeface="ＭＳ Ｐゴシック" pitchFamily="50" charset="-128"/>
              </a:defRPr>
            </a:lvl3pPr>
            <a:lvl4pPr marL="1600200" indent="-228600" eaLnBrk="0" hangingPunct="0">
              <a:defRPr sz="1200" b="1">
                <a:solidFill>
                  <a:schemeClr val="tx1"/>
                </a:solidFill>
                <a:latin typeface="HGPｺﾞｼｯｸE" pitchFamily="50" charset="-128"/>
                <a:ea typeface="ＭＳ Ｐゴシック" pitchFamily="50" charset="-128"/>
              </a:defRPr>
            </a:lvl4pPr>
            <a:lvl5pPr marL="2057400" indent="-228600" eaLnBrk="0" hangingPunct="0">
              <a:defRPr sz="1200" b="1">
                <a:solidFill>
                  <a:schemeClr val="tx1"/>
                </a:solidFill>
                <a:latin typeface="HGPｺﾞｼｯｸE" pitchFamily="50" charset="-128"/>
                <a:ea typeface="ＭＳ Ｐゴシック" pitchFamily="50"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9pPr>
          </a:lstStyle>
          <a:p>
            <a:pPr algn="ctr"/>
            <a:r>
              <a:rPr lang="ja-JP" altLang="en-US" dirty="0"/>
              <a:t>発行市場側の業務</a:t>
            </a:r>
            <a:endParaRPr lang="en-US" altLang="ja-JP" dirty="0"/>
          </a:p>
        </p:txBody>
      </p:sp>
      <p:sp>
        <p:nvSpPr>
          <p:cNvPr id="58" name="テキスト ボックス 52">
            <a:extLst>
              <a:ext uri="{FF2B5EF4-FFF2-40B4-BE49-F238E27FC236}">
                <a16:creationId xmlns:a16="http://schemas.microsoft.com/office/drawing/2014/main" id="{746BF225-B3B6-014E-6816-098E217760D5}"/>
              </a:ext>
            </a:extLst>
          </p:cNvPr>
          <p:cNvSpPr txBox="1">
            <a:spLocks noChangeArrowheads="1"/>
          </p:cNvSpPr>
          <p:nvPr/>
        </p:nvSpPr>
        <p:spPr bwMode="gray">
          <a:xfrm>
            <a:off x="560389" y="1931466"/>
            <a:ext cx="340789" cy="2677181"/>
          </a:xfrm>
          <a:prstGeom prst="rect">
            <a:avLst/>
          </a:prstGeom>
          <a:solidFill>
            <a:schemeClr val="accent2"/>
          </a:solidFill>
          <a:ln w="12700" algn="ctr">
            <a:noFill/>
            <a:prstDash val="solid"/>
            <a:miter lim="800000"/>
            <a:headEnd/>
            <a:tailEnd/>
          </a:ln>
          <a:effectLst/>
        </p:spPr>
        <p:txBody>
          <a:bodyPr vert="eaVert" wrap="none" lIns="36000" tIns="36000" rIns="36000" bIns="36000" anchor="ctr"/>
          <a:lstStyle>
            <a:defPPr>
              <a:defRPr lang="en-US"/>
            </a:defPPr>
            <a:lvl1pPr>
              <a:spcBef>
                <a:spcPts val="0"/>
              </a:spcBef>
              <a:defRPr b="0">
                <a:solidFill>
                  <a:schemeClr val="bg1"/>
                </a:solidFill>
                <a:latin typeface="Meiryo UI" panose="020B0604030504040204" pitchFamily="50" charset="-128"/>
                <a:ea typeface="Meiryo UI" panose="020B0604030504040204" pitchFamily="50" charset="-128"/>
              </a:defRPr>
            </a:lvl1pPr>
            <a:lvl2pPr marL="742950" indent="-285750" eaLnBrk="0" hangingPunct="0">
              <a:defRPr sz="1200" b="1">
                <a:solidFill>
                  <a:schemeClr val="tx1"/>
                </a:solidFill>
                <a:latin typeface="HGPｺﾞｼｯｸE" pitchFamily="50" charset="-128"/>
                <a:ea typeface="ＭＳ Ｐゴシック" pitchFamily="50" charset="-128"/>
              </a:defRPr>
            </a:lvl2pPr>
            <a:lvl3pPr marL="1143000" indent="-228600" eaLnBrk="0" hangingPunct="0">
              <a:defRPr sz="1200" b="1">
                <a:solidFill>
                  <a:schemeClr val="tx1"/>
                </a:solidFill>
                <a:latin typeface="HGPｺﾞｼｯｸE" pitchFamily="50" charset="-128"/>
                <a:ea typeface="ＭＳ Ｐゴシック" pitchFamily="50" charset="-128"/>
              </a:defRPr>
            </a:lvl3pPr>
            <a:lvl4pPr marL="1600200" indent="-228600" eaLnBrk="0" hangingPunct="0">
              <a:defRPr sz="1200" b="1">
                <a:solidFill>
                  <a:schemeClr val="tx1"/>
                </a:solidFill>
                <a:latin typeface="HGPｺﾞｼｯｸE" pitchFamily="50" charset="-128"/>
                <a:ea typeface="ＭＳ Ｐゴシック" pitchFamily="50" charset="-128"/>
              </a:defRPr>
            </a:lvl4pPr>
            <a:lvl5pPr marL="2057400" indent="-228600" eaLnBrk="0" hangingPunct="0">
              <a:defRPr sz="1200" b="1">
                <a:solidFill>
                  <a:schemeClr val="tx1"/>
                </a:solidFill>
                <a:latin typeface="HGPｺﾞｼｯｸE" pitchFamily="50" charset="-128"/>
                <a:ea typeface="ＭＳ Ｐゴシック" pitchFamily="50"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pitchFamily="50" charset="-128"/>
              </a:defRPr>
            </a:lvl9pPr>
          </a:lstStyle>
          <a:p>
            <a:pPr algn="ctr"/>
            <a:r>
              <a:rPr lang="ja-JP" altLang="en-US"/>
              <a:t>流通市場側の業務</a:t>
            </a:r>
            <a:endParaRPr lang="en-US" altLang="ja-JP"/>
          </a:p>
        </p:txBody>
      </p:sp>
      <p:sp>
        <p:nvSpPr>
          <p:cNvPr id="13" name="正方形/長方形 12">
            <a:extLst>
              <a:ext uri="{FF2B5EF4-FFF2-40B4-BE49-F238E27FC236}">
                <a16:creationId xmlns:a16="http://schemas.microsoft.com/office/drawing/2014/main" id="{9C81E3BF-6383-0313-0999-53EA65631F83}"/>
              </a:ext>
            </a:extLst>
          </p:cNvPr>
          <p:cNvSpPr/>
          <p:nvPr/>
        </p:nvSpPr>
        <p:spPr>
          <a:xfrm>
            <a:off x="6061166" y="586389"/>
            <a:ext cx="263720" cy="263720"/>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solidFill>
                  <a:srgbClr val="FFFFFF"/>
                </a:solidFill>
                <a:latin typeface="Meiryo UI" panose="020B0604030504040204" pitchFamily="50" charset="-128"/>
                <a:ea typeface="Meiryo UI" panose="020B0604030504040204" pitchFamily="50" charset="-128"/>
              </a:rPr>
              <a:t>4</a:t>
            </a:r>
            <a:endParaRPr kumimoji="1" lang="ja-JP" altLang="en-US" sz="1200" b="1" kern="0" dirty="0">
              <a:solidFill>
                <a:srgbClr val="FFFFFF"/>
              </a:solidFill>
              <a:latin typeface="Meiryo UI" panose="020B0604030504040204" pitchFamily="50" charset="-128"/>
              <a:ea typeface="Meiryo UI" panose="020B0604030504040204" pitchFamily="50" charset="-128"/>
            </a:endParaRPr>
          </a:p>
        </p:txBody>
      </p:sp>
      <p:grpSp>
        <p:nvGrpSpPr>
          <p:cNvPr id="10" name="グループ化 9">
            <a:extLst>
              <a:ext uri="{FF2B5EF4-FFF2-40B4-BE49-F238E27FC236}">
                <a16:creationId xmlns:a16="http://schemas.microsoft.com/office/drawing/2014/main" id="{87A6DD88-AACB-77B2-4BA0-A88E31FCA9DA}"/>
              </a:ext>
            </a:extLst>
          </p:cNvPr>
          <p:cNvGrpSpPr/>
          <p:nvPr/>
        </p:nvGrpSpPr>
        <p:grpSpPr>
          <a:xfrm>
            <a:off x="947134" y="3760056"/>
            <a:ext cx="8398477" cy="899999"/>
            <a:chOff x="947134" y="1920597"/>
            <a:chExt cx="8398477" cy="899999"/>
          </a:xfrm>
        </p:grpSpPr>
        <p:sp>
          <p:nvSpPr>
            <p:cNvPr id="20" name="正方形/長方形 19">
              <a:extLst>
                <a:ext uri="{FF2B5EF4-FFF2-40B4-BE49-F238E27FC236}">
                  <a16:creationId xmlns:a16="http://schemas.microsoft.com/office/drawing/2014/main" id="{5E9EAB66-644E-FAF1-3705-D7CA12439107}"/>
                </a:ext>
              </a:extLst>
            </p:cNvPr>
            <p:cNvSpPr/>
            <p:nvPr/>
          </p:nvSpPr>
          <p:spPr bwMode="gray">
            <a:xfrm>
              <a:off x="947134" y="1931466"/>
              <a:ext cx="2592361" cy="32400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リテール営業部門</a:t>
              </a:r>
              <a:endParaRPr lang="en-US" altLang="ja-JP" sz="12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1DEAC9BD-396B-40A5-8AA3-308F8A69F540}"/>
                </a:ext>
              </a:extLst>
            </p:cNvPr>
            <p:cNvGrpSpPr/>
            <p:nvPr/>
          </p:nvGrpSpPr>
          <p:grpSpPr>
            <a:xfrm>
              <a:off x="3634005" y="1920597"/>
              <a:ext cx="5711606" cy="864000"/>
              <a:chOff x="3634005" y="5553420"/>
              <a:chExt cx="5711606" cy="900000"/>
            </a:xfrm>
          </p:grpSpPr>
          <p:sp>
            <p:nvSpPr>
              <p:cNvPr id="53" name="角丸四角形 52">
                <a:extLst>
                  <a:ext uri="{FF2B5EF4-FFF2-40B4-BE49-F238E27FC236}">
                    <a16:creationId xmlns:a16="http://schemas.microsoft.com/office/drawing/2014/main" id="{CBF39666-DA3E-DB9E-0C15-40D459C0F5D9}"/>
                  </a:ext>
                </a:extLst>
              </p:cNvPr>
              <p:cNvSpPr/>
              <p:nvPr/>
            </p:nvSpPr>
            <p:spPr bwMode="gray">
              <a:xfrm>
                <a:off x="3634005" y="5553420"/>
                <a:ext cx="1030955" cy="900000"/>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a:solidFill>
                      <a:schemeClr val="bg1"/>
                    </a:solidFill>
                    <a:latin typeface="Meiryo UI" panose="020B0604030504040204" pitchFamily="50" charset="-128"/>
                    <a:ea typeface="Meiryo UI" panose="020B0604030504040204" pitchFamily="50" charset="-128"/>
                  </a:rPr>
                  <a:t>ブローカレッジ</a:t>
                </a:r>
              </a:p>
            </p:txBody>
          </p:sp>
          <p:sp>
            <p:nvSpPr>
              <p:cNvPr id="43" name="角丸四角形 52">
                <a:extLst>
                  <a:ext uri="{FF2B5EF4-FFF2-40B4-BE49-F238E27FC236}">
                    <a16:creationId xmlns:a16="http://schemas.microsoft.com/office/drawing/2014/main" id="{66EB632B-C732-F1C9-9BC1-765617E3F5BB}"/>
                  </a:ext>
                </a:extLst>
              </p:cNvPr>
              <p:cNvSpPr/>
              <p:nvPr/>
            </p:nvSpPr>
            <p:spPr bwMode="gray">
              <a:xfrm>
                <a:off x="4761601" y="5553420"/>
                <a:ext cx="4584010" cy="900000"/>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顧客の取引執行の注文を取引所等に取り次ぐ</a:t>
                </a:r>
                <a:endParaRPr lang="en-US" altLang="ja-JP" sz="120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証券会社自身は取り次ぎを行っているため、金融商品売買に伴うリスクを取らず、仲介の手数料</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コミッション</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を得る</a:t>
                </a:r>
              </a:p>
            </p:txBody>
          </p:sp>
        </p:grpSp>
        <p:sp>
          <p:nvSpPr>
            <p:cNvPr id="40" name="正方形/長方形 39">
              <a:extLst>
                <a:ext uri="{FF2B5EF4-FFF2-40B4-BE49-F238E27FC236}">
                  <a16:creationId xmlns:a16="http://schemas.microsoft.com/office/drawing/2014/main" id="{9555FEE5-7D26-3CBC-9A69-5380DF762105}"/>
                </a:ext>
              </a:extLst>
            </p:cNvPr>
            <p:cNvSpPr/>
            <p:nvPr/>
          </p:nvSpPr>
          <p:spPr bwMode="gray">
            <a:xfrm>
              <a:off x="947134" y="2292253"/>
              <a:ext cx="2592361" cy="528343"/>
            </a:xfrm>
            <a:prstGeom prst="rect">
              <a:avLst/>
            </a:prstGeom>
            <a:noFill/>
            <a:ln w="28575" algn="ctr">
              <a:noFill/>
              <a:prstDash val="solid"/>
              <a:miter lim="800000"/>
              <a:headEnd/>
              <a:tailEnd/>
            </a:ln>
            <a:effectLst/>
          </p:spPr>
          <p:txBody>
            <a:bodyPr vert="horz" wrap="square" lIns="144000" tIns="36000" rIns="36000" bIns="36000" anchor="t"/>
            <a:lstStyle/>
            <a:p>
              <a:pPr>
                <a:spcBef>
                  <a:spcPts val="0"/>
                </a:spcBef>
              </a:pPr>
              <a:r>
                <a:rPr lang="ja-JP" altLang="en-US" dirty="0">
                  <a:latin typeface="Meiryo UI" panose="020B0604030504040204" pitchFamily="50" charset="-128"/>
                  <a:ea typeface="Meiryo UI" panose="020B0604030504040204" pitchFamily="50" charset="-128"/>
                </a:rPr>
                <a:t>リテール顧客に金融商品の提案・販売を実施</a:t>
              </a:r>
              <a:endParaRPr lang="en-US" altLang="ja-JP" dirty="0">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BC149F9C-4A1C-8CDF-68B8-39953830A4F9}"/>
                </a:ext>
              </a:extLst>
            </p:cNvPr>
            <p:cNvSpPr/>
            <p:nvPr/>
          </p:nvSpPr>
          <p:spPr>
            <a:xfrm>
              <a:off x="947134" y="1931466"/>
              <a:ext cx="396000" cy="201494"/>
            </a:xfrm>
            <a:prstGeom prst="rect">
              <a:avLst/>
            </a:prstGeom>
            <a:solidFill>
              <a:schemeClr val="accent2">
                <a:lumMod val="40000"/>
                <a:lumOff val="60000"/>
              </a:schemeClr>
            </a:solidFill>
            <a:ln w="9525"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lang="en-US" altLang="ja-JP" sz="1200" b="1" kern="0" dirty="0">
                  <a:latin typeface="Meiryo UI" panose="020B0604030504040204" pitchFamily="50" charset="-128"/>
                  <a:ea typeface="Meiryo UI" panose="020B0604030504040204" pitchFamily="50" charset="-128"/>
                </a:rPr>
                <a:t>4-B</a:t>
              </a:r>
              <a:endParaRPr kumimoji="1" lang="ja-JP" altLang="en-US" sz="1200" b="1" kern="0" dirty="0">
                <a:latin typeface="Meiryo UI" panose="020B0604030504040204" pitchFamily="50" charset="-128"/>
                <a:ea typeface="Meiryo UI" panose="020B0604030504040204" pitchFamily="50" charset="-128"/>
              </a:endParaRPr>
            </a:p>
          </p:txBody>
        </p:sp>
      </p:grpSp>
      <p:sp>
        <p:nvSpPr>
          <p:cNvPr id="18" name="正方形/長方形 17">
            <a:extLst>
              <a:ext uri="{FF2B5EF4-FFF2-40B4-BE49-F238E27FC236}">
                <a16:creationId xmlns:a16="http://schemas.microsoft.com/office/drawing/2014/main" id="{3DFEF2E7-A4B6-1433-F2F7-0524421A6E51}"/>
              </a:ext>
            </a:extLst>
          </p:cNvPr>
          <p:cNvSpPr/>
          <p:nvPr/>
        </p:nvSpPr>
        <p:spPr bwMode="gray">
          <a:xfrm>
            <a:off x="947134" y="1935469"/>
            <a:ext cx="2592361" cy="324000"/>
          </a:xfrm>
          <a:prstGeom prst="rect">
            <a:avLst/>
          </a:prstGeom>
          <a:solidFill>
            <a:schemeClr val="bg1"/>
          </a:solidFill>
          <a:ln w="6350" algn="ctr">
            <a:solidFill>
              <a:schemeClr val="bg2">
                <a:lumMod val="50000"/>
              </a:schemeClr>
            </a:solidFill>
            <a:miter lim="800000"/>
            <a:headEnd/>
            <a:tailEnd/>
          </a:ln>
          <a:effectLst/>
        </p:spPr>
        <p:txBody>
          <a:bodyPr vert="horz" lIns="72000" tIns="72000" rIns="36000" bIns="36000" anchor="t"/>
          <a:lstStyle/>
          <a:p>
            <a:pPr algn="ctr" eaLnBrk="0" hangingPunct="0">
              <a:spcBef>
                <a:spcPts val="0"/>
              </a:spcBef>
            </a:pPr>
            <a:r>
              <a:rPr lang="ja-JP" altLang="en-US" sz="1200" dirty="0">
                <a:latin typeface="Meiryo UI" panose="020B0604030504040204" pitchFamily="50" charset="-128"/>
                <a:ea typeface="Meiryo UI" panose="020B0604030504040204" pitchFamily="50" charset="-128"/>
              </a:rPr>
              <a:t>セールス＆トレーディング部門</a:t>
            </a:r>
            <a:endParaRPr lang="en-US" altLang="ja-JP" sz="1200" dirty="0">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A7078F7A-28B8-FFF3-50EF-E51234C2D5F0}"/>
              </a:ext>
            </a:extLst>
          </p:cNvPr>
          <p:cNvGrpSpPr/>
          <p:nvPr/>
        </p:nvGrpSpPr>
        <p:grpSpPr>
          <a:xfrm>
            <a:off x="3634005" y="1911982"/>
            <a:ext cx="5711606" cy="864000"/>
            <a:chOff x="3634005" y="3660410"/>
            <a:chExt cx="5711606" cy="900000"/>
          </a:xfrm>
        </p:grpSpPr>
        <p:sp>
          <p:nvSpPr>
            <p:cNvPr id="51" name="角丸四角形 50">
              <a:extLst>
                <a:ext uri="{FF2B5EF4-FFF2-40B4-BE49-F238E27FC236}">
                  <a16:creationId xmlns:a16="http://schemas.microsoft.com/office/drawing/2014/main" id="{D1C21977-2EF7-BBBE-5690-127930B61ED3}"/>
                </a:ext>
              </a:extLst>
            </p:cNvPr>
            <p:cNvSpPr/>
            <p:nvPr/>
          </p:nvSpPr>
          <p:spPr bwMode="gray">
            <a:xfrm>
              <a:off x="3634005" y="3660415"/>
              <a:ext cx="1030955" cy="899995"/>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a:solidFill>
                    <a:schemeClr val="bg1"/>
                  </a:solidFill>
                  <a:latin typeface="Meiryo UI" panose="020B0604030504040204" pitchFamily="50" charset="-128"/>
                  <a:ea typeface="Meiryo UI" panose="020B0604030504040204" pitchFamily="50" charset="-128"/>
                </a:rPr>
                <a:t>ブローカレッジ</a:t>
              </a:r>
            </a:p>
          </p:txBody>
        </p:sp>
        <p:sp>
          <p:nvSpPr>
            <p:cNvPr id="41" name="角丸四角形 50">
              <a:extLst>
                <a:ext uri="{FF2B5EF4-FFF2-40B4-BE49-F238E27FC236}">
                  <a16:creationId xmlns:a16="http://schemas.microsoft.com/office/drawing/2014/main" id="{3F32EC60-CDF5-55F5-FA52-9B102C96A4CC}"/>
                </a:ext>
              </a:extLst>
            </p:cNvPr>
            <p:cNvSpPr/>
            <p:nvPr/>
          </p:nvSpPr>
          <p:spPr bwMode="gray">
            <a:xfrm>
              <a:off x="4761601" y="3660410"/>
              <a:ext cx="4584010" cy="899995"/>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顧客の取引執行の注文を取引所等に取り次ぐ</a:t>
              </a:r>
              <a:endParaRPr lang="en-US" altLang="ja-JP" sz="120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証券会社自身は取り次ぎを行っているため、金融商品売買に伴うリスクを取らず、仲介の手数料</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コミッション</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を得る</a:t>
              </a:r>
            </a:p>
          </p:txBody>
        </p:sp>
      </p:grpSp>
      <p:grpSp>
        <p:nvGrpSpPr>
          <p:cNvPr id="8" name="グループ化 7">
            <a:extLst>
              <a:ext uri="{FF2B5EF4-FFF2-40B4-BE49-F238E27FC236}">
                <a16:creationId xmlns:a16="http://schemas.microsoft.com/office/drawing/2014/main" id="{60B4A7AC-1F3B-3A5D-83FE-FC50DD02B4B1}"/>
              </a:ext>
            </a:extLst>
          </p:cNvPr>
          <p:cNvGrpSpPr/>
          <p:nvPr/>
        </p:nvGrpSpPr>
        <p:grpSpPr>
          <a:xfrm>
            <a:off x="3634005" y="2845842"/>
            <a:ext cx="5711606" cy="864000"/>
            <a:chOff x="3634005" y="4606914"/>
            <a:chExt cx="5711606" cy="900000"/>
          </a:xfrm>
        </p:grpSpPr>
        <p:sp>
          <p:nvSpPr>
            <p:cNvPr id="52" name="角丸四角形 51">
              <a:extLst>
                <a:ext uri="{FF2B5EF4-FFF2-40B4-BE49-F238E27FC236}">
                  <a16:creationId xmlns:a16="http://schemas.microsoft.com/office/drawing/2014/main" id="{0EA32622-5605-A50F-B307-F597828904AE}"/>
                </a:ext>
              </a:extLst>
            </p:cNvPr>
            <p:cNvSpPr/>
            <p:nvPr/>
          </p:nvSpPr>
          <p:spPr bwMode="gray">
            <a:xfrm>
              <a:off x="3634005" y="4606921"/>
              <a:ext cx="1030955" cy="899993"/>
            </a:xfrm>
            <a:prstGeom prst="rect">
              <a:avLst/>
            </a:prstGeom>
            <a:solidFill>
              <a:schemeClr val="accent1">
                <a:lumMod val="75000"/>
              </a:schemeClr>
            </a:solidFill>
            <a:ln w="6350" algn="ctr">
              <a:noFill/>
              <a:miter lim="800000"/>
              <a:headEnd/>
              <a:tailEnd/>
            </a:ln>
            <a:effectLst/>
          </p:spPr>
          <p:txBody>
            <a:bodyPr wrap="none" lIns="36000" tIns="36000" rIns="36000" bIns="36000" anchor="ctr"/>
            <a:lstStyle/>
            <a:p>
              <a:pPr algn="ctr">
                <a:spcBef>
                  <a:spcPts val="0"/>
                </a:spcBef>
                <a:defRPr/>
              </a:pPr>
              <a:r>
                <a:rPr kumimoji="1" lang="ja-JP" altLang="en-US" sz="1200" b="0" dirty="0">
                  <a:solidFill>
                    <a:schemeClr val="bg1"/>
                  </a:solidFill>
                  <a:latin typeface="Meiryo UI" panose="020B0604030504040204" pitchFamily="50" charset="-128"/>
                  <a:ea typeface="Meiryo UI" panose="020B0604030504040204" pitchFamily="50" charset="-128"/>
                </a:rPr>
                <a:t>トレーディング</a:t>
              </a:r>
              <a:endParaRPr kumimoji="1" lang="en-US" altLang="ja-JP" sz="1200" b="0" dirty="0">
                <a:solidFill>
                  <a:schemeClr val="bg1"/>
                </a:solidFill>
                <a:latin typeface="Meiryo UI" panose="020B0604030504040204" pitchFamily="50" charset="-128"/>
                <a:ea typeface="Meiryo UI" panose="020B0604030504040204" pitchFamily="50" charset="-128"/>
              </a:endParaRPr>
            </a:p>
          </p:txBody>
        </p:sp>
        <p:sp>
          <p:nvSpPr>
            <p:cNvPr id="42" name="角丸四角形 51">
              <a:extLst>
                <a:ext uri="{FF2B5EF4-FFF2-40B4-BE49-F238E27FC236}">
                  <a16:creationId xmlns:a16="http://schemas.microsoft.com/office/drawing/2014/main" id="{DA5D7B1C-AB49-FCBC-58F9-2BF6137CF7ED}"/>
                </a:ext>
              </a:extLst>
            </p:cNvPr>
            <p:cNvSpPr/>
            <p:nvPr/>
          </p:nvSpPr>
          <p:spPr bwMode="gray">
            <a:xfrm>
              <a:off x="4761601" y="4606914"/>
              <a:ext cx="4584010" cy="899993"/>
            </a:xfrm>
            <a:prstGeom prst="rect">
              <a:avLst/>
            </a:prstGeom>
            <a:noFill/>
            <a:ln w="6350" algn="ctr">
              <a:noFill/>
              <a:miter lim="800000"/>
              <a:headEnd/>
              <a:tailEnd/>
            </a:ln>
            <a:effectLst/>
          </p:spPr>
          <p:txBody>
            <a:bodyPr lIns="36000" tIns="36000" rIns="36000" bIns="36000" anchor="ctr"/>
            <a:lstStyle/>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顧客の売買依頼に基づいて、証券会社が一度売買の相手方となり、証券会社の自己ポジションとして有価証券を保有する</a:t>
              </a:r>
              <a:endParaRPr lang="en-US" altLang="ja-JP" sz="1200">
                <a:latin typeface="Meiryo UI" panose="020B0604030504040204" pitchFamily="50" charset="-128"/>
                <a:ea typeface="Meiryo UI" panose="020B0604030504040204" pitchFamily="50" charset="-128"/>
              </a:endParaRPr>
            </a:p>
            <a:p>
              <a:pPr marL="92075" lvl="1" indent="-92075">
                <a:spcBef>
                  <a:spcPts val="300"/>
                </a:spcBef>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顧客との売買によって発生した有価証券を同業者との取引や顧客取引を通じて売買の差額</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スプレッド</a:t>
              </a: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で利益を得る</a:t>
              </a:r>
            </a:p>
          </p:txBody>
        </p:sp>
      </p:grpSp>
      <p:sp>
        <p:nvSpPr>
          <p:cNvPr id="38" name="正方形/長方形 37">
            <a:extLst>
              <a:ext uri="{FF2B5EF4-FFF2-40B4-BE49-F238E27FC236}">
                <a16:creationId xmlns:a16="http://schemas.microsoft.com/office/drawing/2014/main" id="{D020C14D-3451-5B46-1CD1-7E6AAA9A6F69}"/>
              </a:ext>
            </a:extLst>
          </p:cNvPr>
          <p:cNvSpPr/>
          <p:nvPr/>
        </p:nvSpPr>
        <p:spPr bwMode="gray">
          <a:xfrm>
            <a:off x="947134" y="2296256"/>
            <a:ext cx="2592361" cy="1454213"/>
          </a:xfrm>
          <a:prstGeom prst="rect">
            <a:avLst/>
          </a:prstGeom>
          <a:noFill/>
          <a:ln w="28575" algn="ctr">
            <a:noFill/>
            <a:prstDash val="solid"/>
            <a:miter lim="800000"/>
            <a:headEnd/>
            <a:tailEnd/>
          </a:ln>
          <a:effectLst/>
        </p:spPr>
        <p:txBody>
          <a:bodyPr vert="horz" wrap="square" lIns="144000" tIns="36000" rIns="36000" bIns="36000" anchor="t"/>
          <a:lstStyle/>
          <a:p>
            <a:pPr>
              <a:spcBef>
                <a:spcPts val="0"/>
              </a:spcBef>
            </a:pPr>
            <a:r>
              <a:rPr lang="ja-JP" altLang="en-US" dirty="0">
                <a:latin typeface="Meiryo UI" panose="020B0604030504040204" pitchFamily="50" charset="-128"/>
                <a:ea typeface="Meiryo UI" panose="020B0604030504040204" pitchFamily="50" charset="-128"/>
              </a:rPr>
              <a:t>機関投資家などの大口投資家に投資運用の提案・販売を実施</a:t>
            </a:r>
            <a:endParaRPr lang="en-US" altLang="ja-JP" dirty="0">
              <a:latin typeface="Meiryo UI" panose="020B0604030504040204" pitchFamily="50" charset="-128"/>
              <a:ea typeface="Meiryo UI" panose="020B0604030504040204" pitchFamily="50" charset="-128"/>
            </a:endParaRPr>
          </a:p>
          <a:p>
            <a:pPr>
              <a:spcBef>
                <a:spcPts val="0"/>
              </a:spcBef>
            </a:pPr>
            <a:endParaRPr lang="en-US" altLang="ja-JP" dirty="0">
              <a:latin typeface="Meiryo UI" panose="020B0604030504040204" pitchFamily="50" charset="-128"/>
              <a:ea typeface="Meiryo UI" panose="020B0604030504040204" pitchFamily="50" charset="-128"/>
            </a:endParaRPr>
          </a:p>
          <a:p>
            <a:pPr>
              <a:spcBef>
                <a:spcPts val="0"/>
              </a:spcBef>
            </a:pPr>
            <a:r>
              <a:rPr lang="ja-JP" altLang="en-US" dirty="0">
                <a:latin typeface="Meiryo UI" panose="020B0604030504040204" pitchFamily="50" charset="-128"/>
                <a:ea typeface="Meiryo UI" panose="020B0604030504040204" pitchFamily="50" charset="-128"/>
              </a:rPr>
              <a:t>銀行の市場部門も含む</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（為替取引等を実施）</a:t>
            </a:r>
            <a:endParaRPr lang="en-US" altLang="ja-JP" dirty="0">
              <a:latin typeface="Meiryo UI" panose="020B0604030504040204" pitchFamily="50" charset="-128"/>
              <a:ea typeface="Meiryo UI" panose="020B0604030504040204" pitchFamily="50" charset="-128"/>
            </a:endParaRPr>
          </a:p>
        </p:txBody>
      </p:sp>
      <p:cxnSp>
        <p:nvCxnSpPr>
          <p:cNvPr id="25619" name="直線コネクタ 50">
            <a:extLst>
              <a:ext uri="{FF2B5EF4-FFF2-40B4-BE49-F238E27FC236}">
                <a16:creationId xmlns:a16="http://schemas.microsoft.com/office/drawing/2014/main" id="{295D9B52-2A35-644A-7456-B382F0C245B7}"/>
              </a:ext>
            </a:extLst>
          </p:cNvPr>
          <p:cNvCxnSpPr>
            <a:cxnSpLocks noChangeShapeType="1"/>
          </p:cNvCxnSpPr>
          <p:nvPr/>
        </p:nvCxnSpPr>
        <p:spPr bwMode="gray">
          <a:xfrm>
            <a:off x="4761600" y="3734949"/>
            <a:ext cx="4582800" cy="0"/>
          </a:xfrm>
          <a:prstGeom prst="line">
            <a:avLst/>
          </a:prstGeom>
          <a:noFill/>
          <a:ln w="6350" algn="ctr">
            <a:solidFill>
              <a:schemeClr val="tx1">
                <a:lumMod val="75000"/>
                <a:lumOff val="25000"/>
              </a:schemeClr>
            </a:solidFill>
            <a:prstDash val="solid"/>
            <a:round/>
            <a:headEnd/>
            <a:tailEnd/>
          </a:ln>
          <a:extLst>
            <a:ext uri="{909E8E84-426E-40DD-AFC4-6F175D3DCCD1}">
              <a14:hiddenFill xmlns:a14="http://schemas.microsoft.com/office/drawing/2010/main">
                <a:noFill/>
              </a14:hiddenFill>
            </a:ext>
          </a:extLst>
        </p:spPr>
      </p:cxnSp>
      <p:cxnSp>
        <p:nvCxnSpPr>
          <p:cNvPr id="36" name="直線コネクタ 49">
            <a:extLst>
              <a:ext uri="{FF2B5EF4-FFF2-40B4-BE49-F238E27FC236}">
                <a16:creationId xmlns:a16="http://schemas.microsoft.com/office/drawing/2014/main" id="{43A11DDF-DFC8-CE90-A029-115A6448A378}"/>
              </a:ext>
            </a:extLst>
          </p:cNvPr>
          <p:cNvCxnSpPr>
            <a:cxnSpLocks noChangeShapeType="1"/>
          </p:cNvCxnSpPr>
          <p:nvPr/>
        </p:nvCxnSpPr>
        <p:spPr bwMode="gray">
          <a:xfrm>
            <a:off x="4761600" y="2810912"/>
            <a:ext cx="4582800" cy="0"/>
          </a:xfrm>
          <a:prstGeom prst="line">
            <a:avLst/>
          </a:prstGeom>
          <a:noFill/>
          <a:ln w="6350" algn="ctr">
            <a:solidFill>
              <a:schemeClr val="tx1">
                <a:lumMod val="75000"/>
                <a:lumOff val="25000"/>
              </a:schemeClr>
            </a:solidFill>
            <a:prstDash val="dash"/>
            <a:round/>
            <a:headEnd/>
            <a:tailEnd/>
          </a:ln>
          <a:extLst>
            <a:ext uri="{909E8E84-426E-40DD-AFC4-6F175D3DCCD1}">
              <a14:hiddenFill xmlns:a14="http://schemas.microsoft.com/office/drawing/2010/main">
                <a:noFill/>
              </a14:hiddenFill>
            </a:ext>
          </a:extLst>
        </p:spPr>
      </p:cxnSp>
      <p:sp>
        <p:nvSpPr>
          <p:cNvPr id="26" name="正方形/長方形 25">
            <a:extLst>
              <a:ext uri="{FF2B5EF4-FFF2-40B4-BE49-F238E27FC236}">
                <a16:creationId xmlns:a16="http://schemas.microsoft.com/office/drawing/2014/main" id="{8031CBEF-F9E2-19ED-1D50-A2097DBA4DA9}"/>
              </a:ext>
            </a:extLst>
          </p:cNvPr>
          <p:cNvSpPr/>
          <p:nvPr/>
        </p:nvSpPr>
        <p:spPr>
          <a:xfrm>
            <a:off x="947134" y="1932532"/>
            <a:ext cx="396000" cy="201494"/>
          </a:xfrm>
          <a:prstGeom prst="rect">
            <a:avLst/>
          </a:prstGeom>
          <a:solidFill>
            <a:schemeClr val="accent2">
              <a:lumMod val="40000"/>
              <a:lumOff val="60000"/>
            </a:schemeClr>
          </a:solidFill>
          <a:ln w="9525"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200" b="1" kern="0" dirty="0">
                <a:latin typeface="Meiryo UI" panose="020B0604030504040204" pitchFamily="50" charset="-128"/>
                <a:ea typeface="Meiryo UI" panose="020B0604030504040204" pitchFamily="50" charset="-128"/>
              </a:rPr>
              <a:t>4-A</a:t>
            </a:r>
            <a:endParaRPr kumimoji="1" lang="ja-JP" altLang="en-US" sz="1200" b="1" kern="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52466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82F8C-77C2-563F-37BD-08E57E68DE17}"/>
            </a:ext>
          </a:extLst>
        </p:cNvPr>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ABDF2D84-8E4A-B4F9-7E30-1DED49481D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8" name="オブジェクト 7" hidden="1">
                        <a:extLst>
                          <a:ext uri="{FF2B5EF4-FFF2-40B4-BE49-F238E27FC236}">
                            <a16:creationId xmlns:a16="http://schemas.microsoft.com/office/drawing/2014/main" id="{ABDF2D84-8E4A-B4F9-7E30-1DED49481D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82" name="タイトル 1">
            <a:extLst>
              <a:ext uri="{FF2B5EF4-FFF2-40B4-BE49-F238E27FC236}">
                <a16:creationId xmlns:a16="http://schemas.microsoft.com/office/drawing/2014/main" id="{2D75D12F-252B-CFE3-606E-3486B5B397ED}"/>
              </a:ext>
            </a:extLst>
          </p:cNvPr>
          <p:cNvSpPr>
            <a:spLocks noGrp="1"/>
          </p:cNvSpPr>
          <p:nvPr>
            <p:ph type="title"/>
          </p:nvPr>
        </p:nvSpPr>
        <p:spPr bwMode="gray"/>
        <p:txBody>
          <a:bodyPr vert="horz" lIns="0" tIns="0" rIns="0" bIns="0" rtlCol="0" anchor="b" anchorCtr="0">
            <a:noAutofit/>
          </a:bodyPr>
          <a:lstStyle/>
          <a:p>
            <a:r>
              <a:rPr lang="ja-JP" altLang="en-US" dirty="0"/>
              <a:t>各機能の関係性</a:t>
            </a:r>
          </a:p>
        </p:txBody>
      </p:sp>
      <p:sp>
        <p:nvSpPr>
          <p:cNvPr id="24583" name="コンテンツ プレースホルダ 2">
            <a:extLst>
              <a:ext uri="{FF2B5EF4-FFF2-40B4-BE49-F238E27FC236}">
                <a16:creationId xmlns:a16="http://schemas.microsoft.com/office/drawing/2014/main" id="{E213C131-9A47-C032-555B-EB29392A0505}"/>
              </a:ext>
            </a:extLst>
          </p:cNvPr>
          <p:cNvSpPr>
            <a:spLocks noGrp="1"/>
          </p:cNvSpPr>
          <p:nvPr>
            <p:ph type="body" idx="12"/>
          </p:nvPr>
        </p:nvSpPr>
        <p:spPr bwMode="gray"/>
        <p:txBody>
          <a:bodyPr/>
          <a:lstStyle/>
          <a:p>
            <a:r>
              <a:rPr lang="ja-JP" altLang="en-US" dirty="0"/>
              <a:t>証券業界は、資金を出す主体、運用する主体、取引を繋ぐ主体、資産を管理する主体、そして市場インフラが密接に連携することで機能する。各プレイヤーが専門性を発揮することで、取引の透明性・安全性・効率性が確保されている。</a:t>
            </a:r>
            <a:endParaRPr kumimoji="1" lang="en-US" altLang="ja-JP" dirty="0">
              <a:latin typeface="Meiryo UI" panose="020B0604030504040204" pitchFamily="50" charset="-128"/>
              <a:ea typeface="Meiryo UI" panose="020B0604030504040204" pitchFamily="50" charset="-128"/>
            </a:endParaRPr>
          </a:p>
        </p:txBody>
      </p:sp>
      <p:sp>
        <p:nvSpPr>
          <p:cNvPr id="3" name="テキスト プレースホルダー 2">
            <a:extLst>
              <a:ext uri="{FF2B5EF4-FFF2-40B4-BE49-F238E27FC236}">
                <a16:creationId xmlns:a16="http://schemas.microsoft.com/office/drawing/2014/main" id="{DBD0BDA6-CDBA-5FEA-6324-D0958954E50D}"/>
              </a:ext>
            </a:extLst>
          </p:cNvPr>
          <p:cNvSpPr>
            <a:spLocks noGrp="1"/>
          </p:cNvSpPr>
          <p:nvPr>
            <p:ph type="body" sz="quarter" idx="13"/>
          </p:nvPr>
        </p:nvSpPr>
        <p:spPr/>
        <p:txBody>
          <a:bodyPr/>
          <a:lstStyle/>
          <a:p>
            <a:r>
              <a:rPr lang="en-US" altLang="ja-JP" dirty="0"/>
              <a:t>2. </a:t>
            </a:r>
            <a:r>
              <a:rPr lang="ja-JP" altLang="en-US" dirty="0"/>
              <a:t>各機能の紹介</a:t>
            </a:r>
          </a:p>
        </p:txBody>
      </p:sp>
      <p:sp>
        <p:nvSpPr>
          <p:cNvPr id="24578" name="正方形/長方形 153">
            <a:extLst>
              <a:ext uri="{FF2B5EF4-FFF2-40B4-BE49-F238E27FC236}">
                <a16:creationId xmlns:a16="http://schemas.microsoft.com/office/drawing/2014/main" id="{7218CD67-6F73-DFA1-8D33-7643480B47CA}"/>
              </a:ext>
            </a:extLst>
          </p:cNvPr>
          <p:cNvSpPr>
            <a:spLocks noChangeArrowheads="1"/>
          </p:cNvSpPr>
          <p:nvPr/>
        </p:nvSpPr>
        <p:spPr bwMode="gray">
          <a:xfrm>
            <a:off x="1392278" y="2040754"/>
            <a:ext cx="4125727" cy="3914614"/>
          </a:xfrm>
          <a:prstGeom prst="rect">
            <a:avLst/>
          </a:prstGeom>
          <a:solidFill>
            <a:schemeClr val="accent4">
              <a:lumMod val="20000"/>
              <a:lumOff val="80000"/>
            </a:schemeClr>
          </a:solidFill>
          <a:ln w="38100" algn="ctr">
            <a:solidFill>
              <a:schemeClr val="accent3"/>
            </a:solidFill>
            <a:miter lim="800000"/>
            <a:headEnd/>
            <a:tailEnd/>
          </a:ln>
        </p:spPr>
        <p:txBody>
          <a:bodyPr wrap="none" lIns="108000" tIns="72000" rIns="36000" bIns="36000"/>
          <a:lstStyle/>
          <a:p>
            <a:pPr eaLnBrk="0" hangingPunct="0">
              <a:spcBef>
                <a:spcPct val="50000"/>
              </a:spcBef>
            </a:pPr>
            <a:r>
              <a:rPr kumimoji="1" lang="ja-JP" altLang="en-US" sz="1100" b="0" dirty="0">
                <a:latin typeface="Meiryo UI" panose="020B0604030504040204" pitchFamily="50" charset="-128"/>
                <a:ea typeface="Meiryo UI" panose="020B0604030504040204" pitchFamily="50" charset="-128"/>
              </a:rPr>
              <a:t>証券市場</a:t>
            </a:r>
            <a:endParaRPr kumimoji="1" lang="en-US" altLang="ja-JP" sz="1100" b="0" dirty="0">
              <a:latin typeface="Meiryo UI" panose="020B0604030504040204" pitchFamily="50" charset="-128"/>
              <a:ea typeface="Meiryo UI" panose="020B0604030504040204" pitchFamily="50" charset="-128"/>
            </a:endParaRPr>
          </a:p>
        </p:txBody>
      </p:sp>
      <p:sp>
        <p:nvSpPr>
          <p:cNvPr id="39" name="正方形/長方形 463">
            <a:extLst>
              <a:ext uri="{FF2B5EF4-FFF2-40B4-BE49-F238E27FC236}">
                <a16:creationId xmlns:a16="http://schemas.microsoft.com/office/drawing/2014/main" id="{AFAF04E1-9190-5499-AC5E-496F56C8A99B}"/>
              </a:ext>
            </a:extLst>
          </p:cNvPr>
          <p:cNvSpPr>
            <a:spLocks noChangeArrowheads="1"/>
          </p:cNvSpPr>
          <p:nvPr/>
        </p:nvSpPr>
        <p:spPr bwMode="gray">
          <a:xfrm>
            <a:off x="3035131" y="3210073"/>
            <a:ext cx="955128" cy="2469957"/>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none" lIns="72000" tIns="72000" rIns="36000" bIns="36000" anchor="t">
            <a:noAutofit/>
          </a:bodyPr>
          <a:lstStyle/>
          <a:p>
            <a:pPr eaLnBrk="0" hangingPunct="0">
              <a:spcBef>
                <a:spcPts val="0"/>
              </a:spcBef>
            </a:pPr>
            <a:endParaRPr lang="ja-JP" altLang="en-US" sz="1050" dirty="0">
              <a:latin typeface="Meiryo UI" panose="020B0604030504040204" pitchFamily="50" charset="-128"/>
              <a:ea typeface="Meiryo UI" panose="020B0604030504040204" pitchFamily="50" charset="-128"/>
            </a:endParaRPr>
          </a:p>
        </p:txBody>
      </p:sp>
      <p:sp>
        <p:nvSpPr>
          <p:cNvPr id="24579" name="正方形/長方形 450">
            <a:extLst>
              <a:ext uri="{FF2B5EF4-FFF2-40B4-BE49-F238E27FC236}">
                <a16:creationId xmlns:a16="http://schemas.microsoft.com/office/drawing/2014/main" id="{C57BDE2F-E2D2-701E-B8B4-62F07C7B4B68}"/>
              </a:ext>
            </a:extLst>
          </p:cNvPr>
          <p:cNvSpPr>
            <a:spLocks noChangeArrowheads="1"/>
          </p:cNvSpPr>
          <p:nvPr/>
        </p:nvSpPr>
        <p:spPr bwMode="gray">
          <a:xfrm>
            <a:off x="1448335" y="2342056"/>
            <a:ext cx="1504033" cy="3522520"/>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t"/>
          <a:lstStyle/>
          <a:p>
            <a:pPr eaLnBrk="0" hangingPunct="0">
              <a:spcBef>
                <a:spcPts val="0"/>
              </a:spcBef>
            </a:pPr>
            <a:r>
              <a:rPr lang="ja-JP" altLang="en-US" sz="1050" dirty="0">
                <a:latin typeface="Meiryo UI" panose="020B0604030504040204" pitchFamily="50" charset="-128"/>
                <a:ea typeface="Meiryo UI" panose="020B0604030504040204" pitchFamily="50" charset="-128"/>
              </a:rPr>
              <a:t>バイサイド（</a:t>
            </a:r>
            <a:r>
              <a:rPr lang="en-US" altLang="ja-JP" sz="1050" dirty="0">
                <a:latin typeface="Meiryo UI" panose="020B0604030504040204" pitchFamily="50" charset="-128"/>
                <a:ea typeface="Meiryo UI" panose="020B0604030504040204" pitchFamily="50" charset="-128"/>
              </a:rPr>
              <a:t>”Buy” side</a:t>
            </a:r>
            <a:r>
              <a:rPr lang="ja-JP" altLang="en-US" sz="1050" dirty="0">
                <a:latin typeface="Meiryo UI" panose="020B0604030504040204" pitchFamily="50" charset="-128"/>
                <a:ea typeface="Meiryo UI" panose="020B0604030504040204" pitchFamily="50" charset="-128"/>
              </a:rPr>
              <a:t>）</a:t>
            </a:r>
          </a:p>
        </p:txBody>
      </p:sp>
      <p:sp>
        <p:nvSpPr>
          <p:cNvPr id="24580" name="正方形/長方形 451">
            <a:extLst>
              <a:ext uri="{FF2B5EF4-FFF2-40B4-BE49-F238E27FC236}">
                <a16:creationId xmlns:a16="http://schemas.microsoft.com/office/drawing/2014/main" id="{A2762C15-4FBE-EBB6-6DD7-0058174566FF}"/>
              </a:ext>
            </a:extLst>
          </p:cNvPr>
          <p:cNvSpPr>
            <a:spLocks noChangeArrowheads="1"/>
          </p:cNvSpPr>
          <p:nvPr/>
        </p:nvSpPr>
        <p:spPr bwMode="gray">
          <a:xfrm>
            <a:off x="4051312" y="2344390"/>
            <a:ext cx="1410635" cy="3520186"/>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t"/>
          <a:lstStyle/>
          <a:p>
            <a:pPr eaLnBrk="0" hangingPunct="0">
              <a:spcBef>
                <a:spcPts val="0"/>
              </a:spcBef>
            </a:pPr>
            <a:r>
              <a:rPr lang="ja-JP" altLang="en-US" sz="1050" dirty="0">
                <a:latin typeface="Meiryo UI" panose="020B0604030504040204" pitchFamily="50" charset="-128"/>
                <a:ea typeface="Meiryo UI" panose="020B0604030504040204" pitchFamily="50" charset="-128"/>
              </a:rPr>
              <a:t>セルサイド（</a:t>
            </a:r>
            <a:r>
              <a:rPr lang="en-US" altLang="ja-JP" sz="1050" dirty="0">
                <a:latin typeface="Meiryo UI" panose="020B0604030504040204" pitchFamily="50" charset="-128"/>
                <a:ea typeface="Meiryo UI" panose="020B0604030504040204" pitchFamily="50" charset="-128"/>
              </a:rPr>
              <a:t>”Sell” side</a:t>
            </a:r>
            <a:r>
              <a:rPr lang="ja-JP" altLang="en-US" sz="1050" dirty="0">
                <a:latin typeface="Meiryo UI" panose="020B0604030504040204" pitchFamily="50" charset="-128"/>
                <a:ea typeface="Meiryo UI" panose="020B0604030504040204" pitchFamily="50" charset="-128"/>
              </a:rPr>
              <a:t>）</a:t>
            </a:r>
          </a:p>
        </p:txBody>
      </p:sp>
      <p:sp>
        <p:nvSpPr>
          <p:cNvPr id="24585" name="正方形/長方形 363">
            <a:extLst>
              <a:ext uri="{FF2B5EF4-FFF2-40B4-BE49-F238E27FC236}">
                <a16:creationId xmlns:a16="http://schemas.microsoft.com/office/drawing/2014/main" id="{982B41FA-A715-06C0-E362-10F600AA70FD}"/>
              </a:ext>
            </a:extLst>
          </p:cNvPr>
          <p:cNvSpPr>
            <a:spLocks noChangeArrowheads="1"/>
          </p:cNvSpPr>
          <p:nvPr/>
        </p:nvSpPr>
        <p:spPr bwMode="gray">
          <a:xfrm>
            <a:off x="325478" y="2040754"/>
            <a:ext cx="976210" cy="3914614"/>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t"/>
          <a:lstStyle/>
          <a:p>
            <a:pPr eaLnBrk="0" hangingPunct="0">
              <a:spcBef>
                <a:spcPts val="0"/>
              </a:spcBef>
              <a:defRPr/>
            </a:pPr>
            <a:r>
              <a:rPr kumimoji="1" lang="ja-JP" altLang="en-US" sz="1100" b="0" dirty="0">
                <a:latin typeface="Meiryo UI" panose="020B0604030504040204" pitchFamily="50" charset="-128"/>
                <a:ea typeface="Meiryo UI" panose="020B0604030504040204" pitchFamily="50" charset="-128"/>
              </a:rPr>
              <a:t>顧客</a:t>
            </a:r>
            <a:endParaRPr kumimoji="1" lang="en-US" altLang="ja-JP" sz="1100" b="0" dirty="0">
              <a:latin typeface="Meiryo UI" panose="020B0604030504040204" pitchFamily="50" charset="-128"/>
              <a:ea typeface="Meiryo UI" panose="020B0604030504040204" pitchFamily="50" charset="-128"/>
            </a:endParaRPr>
          </a:p>
        </p:txBody>
      </p:sp>
      <p:cxnSp>
        <p:nvCxnSpPr>
          <p:cNvPr id="134" name="直線矢印コネクタ 132">
            <a:extLst>
              <a:ext uri="{FF2B5EF4-FFF2-40B4-BE49-F238E27FC236}">
                <a16:creationId xmlns:a16="http://schemas.microsoft.com/office/drawing/2014/main" id="{A963FEE1-D9D9-D02A-0204-9887D212650C}"/>
              </a:ext>
            </a:extLst>
          </p:cNvPr>
          <p:cNvCxnSpPr>
            <a:cxnSpLocks noChangeShapeType="1"/>
            <a:stCxn id="131" idx="0"/>
            <a:endCxn id="130" idx="2"/>
          </p:cNvCxnSpPr>
          <p:nvPr/>
        </p:nvCxnSpPr>
        <p:spPr bwMode="gray">
          <a:xfrm flipV="1">
            <a:off x="3512695" y="4688137"/>
            <a:ext cx="0" cy="317749"/>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cxnSp>
        <p:nvCxnSpPr>
          <p:cNvPr id="138" name="直線矢印コネクタ 523">
            <a:extLst>
              <a:ext uri="{FF2B5EF4-FFF2-40B4-BE49-F238E27FC236}">
                <a16:creationId xmlns:a16="http://schemas.microsoft.com/office/drawing/2014/main" id="{6BD11A9A-AABA-092A-960F-4525122A90DF}"/>
              </a:ext>
            </a:extLst>
          </p:cNvPr>
          <p:cNvCxnSpPr>
            <a:cxnSpLocks noChangeShapeType="1"/>
            <a:stCxn id="32" idx="2"/>
          </p:cNvCxnSpPr>
          <p:nvPr/>
        </p:nvCxnSpPr>
        <p:spPr bwMode="gray">
          <a:xfrm>
            <a:off x="2128460" y="4053278"/>
            <a:ext cx="0" cy="496957"/>
          </a:xfrm>
          <a:prstGeom prst="straightConnector1">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grpSp>
        <p:nvGrpSpPr>
          <p:cNvPr id="12" name="グループ化 11">
            <a:extLst>
              <a:ext uri="{FF2B5EF4-FFF2-40B4-BE49-F238E27FC236}">
                <a16:creationId xmlns:a16="http://schemas.microsoft.com/office/drawing/2014/main" id="{07683282-0734-5804-ABBB-BDF6E436213B}"/>
              </a:ext>
            </a:extLst>
          </p:cNvPr>
          <p:cNvGrpSpPr/>
          <p:nvPr/>
        </p:nvGrpSpPr>
        <p:grpSpPr>
          <a:xfrm>
            <a:off x="376342" y="2734975"/>
            <a:ext cx="874482" cy="1034588"/>
            <a:chOff x="607066" y="3590378"/>
            <a:chExt cx="1306688" cy="1265620"/>
          </a:xfrm>
        </p:grpSpPr>
        <p:sp>
          <p:nvSpPr>
            <p:cNvPr id="140" name="正方形/長方形 192">
              <a:extLst>
                <a:ext uri="{FF2B5EF4-FFF2-40B4-BE49-F238E27FC236}">
                  <a16:creationId xmlns:a16="http://schemas.microsoft.com/office/drawing/2014/main" id="{C9712B31-70C6-E4AA-C8C5-96F860B5ECB7}"/>
                </a:ext>
              </a:extLst>
            </p:cNvPr>
            <p:cNvSpPr/>
            <p:nvPr/>
          </p:nvSpPr>
          <p:spPr bwMode="gray">
            <a:xfrm flipH="1">
              <a:off x="607066" y="3590378"/>
              <a:ext cx="1306688" cy="1265620"/>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t"/>
            <a:lstStyle/>
            <a:p>
              <a:pPr eaLnBrk="0" hangingPunct="0">
                <a:spcBef>
                  <a:spcPts val="0"/>
                </a:spcBef>
              </a:pPr>
              <a:r>
                <a:rPr lang="ja-JP" altLang="en-US" sz="1050" dirty="0">
                  <a:latin typeface="Meiryo UI" panose="020B0604030504040204" pitchFamily="50" charset="-128"/>
                  <a:ea typeface="Meiryo UI" panose="020B0604030504040204" pitchFamily="50" charset="-128"/>
                </a:rPr>
                <a:t>機関投資家</a:t>
              </a:r>
              <a:endParaRPr lang="en-US" altLang="ja-JP" sz="1050" dirty="0">
                <a:latin typeface="Meiryo UI" panose="020B0604030504040204" pitchFamily="50" charset="-128"/>
                <a:ea typeface="Meiryo UI" panose="020B0604030504040204" pitchFamily="50" charset="-128"/>
              </a:endParaRPr>
            </a:p>
            <a:p>
              <a:pPr eaLnBrk="0" hangingPunct="0">
                <a:spcBef>
                  <a:spcPts val="0"/>
                </a:spcBef>
              </a:pPr>
              <a:endParaRPr lang="en-US" altLang="ja-JP" sz="105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zh-TW" altLang="en-US" sz="800" dirty="0">
                  <a:latin typeface="Meiryo UI" panose="020B0604030504040204" pitchFamily="50" charset="-128"/>
                  <a:ea typeface="Meiryo UI" panose="020B0604030504040204" pitchFamily="50" charset="-128"/>
                </a:rPr>
                <a:t>保険会社</a:t>
              </a:r>
              <a:endParaRPr lang="en-US" altLang="zh-TW" sz="80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zh-TW" altLang="en-US" sz="800" dirty="0">
                  <a:latin typeface="Meiryo UI" panose="020B0604030504040204" pitchFamily="50" charset="-128"/>
                  <a:ea typeface="Meiryo UI" panose="020B0604030504040204" pitchFamily="50" charset="-128"/>
                </a:rPr>
                <a:t>銀行</a:t>
              </a:r>
              <a:endParaRPr lang="en-US" altLang="zh-TW" sz="80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zh-TW" altLang="en-US" sz="800" dirty="0">
                  <a:latin typeface="Meiryo UI" panose="020B0604030504040204" pitchFamily="50" charset="-128"/>
                  <a:ea typeface="Meiryo UI" panose="020B0604030504040204" pitchFamily="50" charset="-128"/>
                </a:rPr>
                <a:t>信用金庫</a:t>
              </a:r>
              <a:endParaRPr lang="en-US" altLang="zh-TW" sz="80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zh-TW" altLang="en-US" sz="800" dirty="0">
                  <a:latin typeface="Meiryo UI" panose="020B0604030504040204" pitchFamily="50" charset="-128"/>
                  <a:ea typeface="Meiryo UI" panose="020B0604030504040204" pitchFamily="50" charset="-128"/>
                </a:rPr>
                <a:t>共済組合</a:t>
              </a:r>
              <a:r>
                <a:rPr lang="ja-JP" altLang="en-US" sz="800" dirty="0">
                  <a:latin typeface="Meiryo UI" panose="020B0604030504040204" pitchFamily="50" charset="-128"/>
                  <a:ea typeface="Meiryo UI" panose="020B0604030504040204" pitchFamily="50" charset="-128"/>
                </a:rPr>
                <a:t>　など</a:t>
              </a:r>
            </a:p>
          </p:txBody>
        </p:sp>
        <p:grpSp>
          <p:nvGrpSpPr>
            <p:cNvPr id="31" name="グループ化 30">
              <a:extLst>
                <a:ext uri="{FF2B5EF4-FFF2-40B4-BE49-F238E27FC236}">
                  <a16:creationId xmlns:a16="http://schemas.microsoft.com/office/drawing/2014/main" id="{D8FE831E-2B52-6702-3E8B-01DC031DDF6C}"/>
                </a:ext>
              </a:extLst>
            </p:cNvPr>
            <p:cNvGrpSpPr/>
            <p:nvPr/>
          </p:nvGrpSpPr>
          <p:grpSpPr>
            <a:xfrm>
              <a:off x="1566098" y="3837905"/>
              <a:ext cx="274283" cy="265896"/>
              <a:chOff x="1566098" y="3837905"/>
              <a:chExt cx="274283" cy="265896"/>
            </a:xfrm>
          </p:grpSpPr>
          <p:sp>
            <p:nvSpPr>
              <p:cNvPr id="123" name="Freeform 53">
                <a:extLst>
                  <a:ext uri="{FF2B5EF4-FFF2-40B4-BE49-F238E27FC236}">
                    <a16:creationId xmlns:a16="http://schemas.microsoft.com/office/drawing/2014/main" id="{D5351CCB-2A5E-3E37-8DE8-0E9F66E1966A}"/>
                  </a:ext>
                </a:extLst>
              </p:cNvPr>
              <p:cNvSpPr>
                <a:spLocks noEditPoints="1"/>
              </p:cNvSpPr>
              <p:nvPr/>
            </p:nvSpPr>
            <p:spPr bwMode="auto">
              <a:xfrm>
                <a:off x="1566098" y="3837905"/>
                <a:ext cx="170272" cy="265894"/>
              </a:xfrm>
              <a:custGeom>
                <a:avLst/>
                <a:gdLst>
                  <a:gd name="T0" fmla="*/ 203 w 203"/>
                  <a:gd name="T1" fmla="*/ 0 h 317"/>
                  <a:gd name="T2" fmla="*/ 173 w 203"/>
                  <a:gd name="T3" fmla="*/ 50 h 317"/>
                  <a:gd name="T4" fmla="*/ 173 w 203"/>
                  <a:gd name="T5" fmla="*/ 82 h 317"/>
                  <a:gd name="T6" fmla="*/ 191 w 203"/>
                  <a:gd name="T7" fmla="*/ 90 h 317"/>
                  <a:gd name="T8" fmla="*/ 173 w 203"/>
                  <a:gd name="T9" fmla="*/ 90 h 317"/>
                  <a:gd name="T10" fmla="*/ 191 w 203"/>
                  <a:gd name="T11" fmla="*/ 162 h 317"/>
                  <a:gd name="T12" fmla="*/ 173 w 203"/>
                  <a:gd name="T13" fmla="*/ 168 h 317"/>
                  <a:gd name="T14" fmla="*/ 173 w 203"/>
                  <a:gd name="T15" fmla="*/ 201 h 317"/>
                  <a:gd name="T16" fmla="*/ 191 w 203"/>
                  <a:gd name="T17" fmla="*/ 209 h 317"/>
                  <a:gd name="T18" fmla="*/ 173 w 203"/>
                  <a:gd name="T19" fmla="*/ 209 h 317"/>
                  <a:gd name="T20" fmla="*/ 191 w 203"/>
                  <a:gd name="T21" fmla="*/ 281 h 317"/>
                  <a:gd name="T22" fmla="*/ 140 w 203"/>
                  <a:gd name="T23" fmla="*/ 50 h 317"/>
                  <a:gd name="T24" fmla="*/ 140 w 203"/>
                  <a:gd name="T25" fmla="*/ 82 h 317"/>
                  <a:gd name="T26" fmla="*/ 158 w 203"/>
                  <a:gd name="T27" fmla="*/ 90 h 317"/>
                  <a:gd name="T28" fmla="*/ 140 w 203"/>
                  <a:gd name="T29" fmla="*/ 90 h 317"/>
                  <a:gd name="T30" fmla="*/ 158 w 203"/>
                  <a:gd name="T31" fmla="*/ 162 h 317"/>
                  <a:gd name="T32" fmla="*/ 140 w 203"/>
                  <a:gd name="T33" fmla="*/ 168 h 317"/>
                  <a:gd name="T34" fmla="*/ 140 w 203"/>
                  <a:gd name="T35" fmla="*/ 201 h 317"/>
                  <a:gd name="T36" fmla="*/ 158 w 203"/>
                  <a:gd name="T37" fmla="*/ 209 h 317"/>
                  <a:gd name="T38" fmla="*/ 140 w 203"/>
                  <a:gd name="T39" fmla="*/ 209 h 317"/>
                  <a:gd name="T40" fmla="*/ 158 w 203"/>
                  <a:gd name="T41" fmla="*/ 281 h 317"/>
                  <a:gd name="T42" fmla="*/ 107 w 203"/>
                  <a:gd name="T43" fmla="*/ 50 h 317"/>
                  <a:gd name="T44" fmla="*/ 107 w 203"/>
                  <a:gd name="T45" fmla="*/ 82 h 317"/>
                  <a:gd name="T46" fmla="*/ 126 w 203"/>
                  <a:gd name="T47" fmla="*/ 90 h 317"/>
                  <a:gd name="T48" fmla="*/ 107 w 203"/>
                  <a:gd name="T49" fmla="*/ 90 h 317"/>
                  <a:gd name="T50" fmla="*/ 126 w 203"/>
                  <a:gd name="T51" fmla="*/ 162 h 317"/>
                  <a:gd name="T52" fmla="*/ 107 w 203"/>
                  <a:gd name="T53" fmla="*/ 168 h 317"/>
                  <a:gd name="T54" fmla="*/ 107 w 203"/>
                  <a:gd name="T55" fmla="*/ 201 h 317"/>
                  <a:gd name="T56" fmla="*/ 126 w 203"/>
                  <a:gd name="T57" fmla="*/ 209 h 317"/>
                  <a:gd name="T58" fmla="*/ 107 w 203"/>
                  <a:gd name="T59" fmla="*/ 209 h 317"/>
                  <a:gd name="T60" fmla="*/ 126 w 203"/>
                  <a:gd name="T61" fmla="*/ 281 h 317"/>
                  <a:gd name="T62" fmla="*/ 78 w 203"/>
                  <a:gd name="T63" fmla="*/ 50 h 317"/>
                  <a:gd name="T64" fmla="*/ 78 w 203"/>
                  <a:gd name="T65" fmla="*/ 82 h 317"/>
                  <a:gd name="T66" fmla="*/ 96 w 203"/>
                  <a:gd name="T67" fmla="*/ 90 h 317"/>
                  <a:gd name="T68" fmla="*/ 78 w 203"/>
                  <a:gd name="T69" fmla="*/ 90 h 317"/>
                  <a:gd name="T70" fmla="*/ 96 w 203"/>
                  <a:gd name="T71" fmla="*/ 162 h 317"/>
                  <a:gd name="T72" fmla="*/ 78 w 203"/>
                  <a:gd name="T73" fmla="*/ 168 h 317"/>
                  <a:gd name="T74" fmla="*/ 78 w 203"/>
                  <a:gd name="T75" fmla="*/ 201 h 317"/>
                  <a:gd name="T76" fmla="*/ 96 w 203"/>
                  <a:gd name="T77" fmla="*/ 209 h 317"/>
                  <a:gd name="T78" fmla="*/ 78 w 203"/>
                  <a:gd name="T79" fmla="*/ 209 h 317"/>
                  <a:gd name="T80" fmla="*/ 96 w 203"/>
                  <a:gd name="T81" fmla="*/ 281 h 317"/>
                  <a:gd name="T82" fmla="*/ 45 w 203"/>
                  <a:gd name="T83" fmla="*/ 50 h 317"/>
                  <a:gd name="T84" fmla="*/ 45 w 203"/>
                  <a:gd name="T85" fmla="*/ 82 h 317"/>
                  <a:gd name="T86" fmla="*/ 64 w 203"/>
                  <a:gd name="T87" fmla="*/ 90 h 317"/>
                  <a:gd name="T88" fmla="*/ 45 w 203"/>
                  <a:gd name="T89" fmla="*/ 90 h 317"/>
                  <a:gd name="T90" fmla="*/ 64 w 203"/>
                  <a:gd name="T91" fmla="*/ 162 h 317"/>
                  <a:gd name="T92" fmla="*/ 45 w 203"/>
                  <a:gd name="T93" fmla="*/ 168 h 317"/>
                  <a:gd name="T94" fmla="*/ 45 w 203"/>
                  <a:gd name="T95" fmla="*/ 201 h 317"/>
                  <a:gd name="T96" fmla="*/ 64 w 203"/>
                  <a:gd name="T97" fmla="*/ 209 h 317"/>
                  <a:gd name="T98" fmla="*/ 45 w 203"/>
                  <a:gd name="T99" fmla="*/ 209 h 317"/>
                  <a:gd name="T100" fmla="*/ 64 w 203"/>
                  <a:gd name="T101" fmla="*/ 281 h 317"/>
                  <a:gd name="T102" fmla="*/ 13 w 203"/>
                  <a:gd name="T103" fmla="*/ 50 h 317"/>
                  <a:gd name="T104" fmla="*/ 13 w 203"/>
                  <a:gd name="T105" fmla="*/ 82 h 317"/>
                  <a:gd name="T106" fmla="*/ 31 w 203"/>
                  <a:gd name="T107" fmla="*/ 90 h 317"/>
                  <a:gd name="T108" fmla="*/ 13 w 203"/>
                  <a:gd name="T109" fmla="*/ 90 h 317"/>
                  <a:gd name="T110" fmla="*/ 31 w 203"/>
                  <a:gd name="T111" fmla="*/ 162 h 317"/>
                  <a:gd name="T112" fmla="*/ 13 w 203"/>
                  <a:gd name="T113" fmla="*/ 168 h 317"/>
                  <a:gd name="T114" fmla="*/ 13 w 203"/>
                  <a:gd name="T115" fmla="*/ 201 h 317"/>
                  <a:gd name="T116" fmla="*/ 31 w 203"/>
                  <a:gd name="T117" fmla="*/ 209 h 317"/>
                  <a:gd name="T118" fmla="*/ 13 w 203"/>
                  <a:gd name="T119" fmla="*/ 209 h 317"/>
                  <a:gd name="T120" fmla="*/ 31 w 203"/>
                  <a:gd name="T121" fmla="*/ 28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3" h="317">
                    <a:moveTo>
                      <a:pt x="0" y="317"/>
                    </a:moveTo>
                    <a:lnTo>
                      <a:pt x="203" y="317"/>
                    </a:lnTo>
                    <a:lnTo>
                      <a:pt x="203" y="0"/>
                    </a:lnTo>
                    <a:lnTo>
                      <a:pt x="0" y="0"/>
                    </a:lnTo>
                    <a:lnTo>
                      <a:pt x="0" y="317"/>
                    </a:lnTo>
                    <a:close/>
                    <a:moveTo>
                      <a:pt x="173" y="50"/>
                    </a:moveTo>
                    <a:lnTo>
                      <a:pt x="191" y="50"/>
                    </a:lnTo>
                    <a:lnTo>
                      <a:pt x="191" y="82"/>
                    </a:lnTo>
                    <a:lnTo>
                      <a:pt x="173" y="82"/>
                    </a:lnTo>
                    <a:lnTo>
                      <a:pt x="173" y="50"/>
                    </a:lnTo>
                    <a:close/>
                    <a:moveTo>
                      <a:pt x="173" y="90"/>
                    </a:moveTo>
                    <a:lnTo>
                      <a:pt x="191" y="90"/>
                    </a:lnTo>
                    <a:lnTo>
                      <a:pt x="191" y="122"/>
                    </a:lnTo>
                    <a:lnTo>
                      <a:pt x="173" y="122"/>
                    </a:lnTo>
                    <a:lnTo>
                      <a:pt x="173" y="90"/>
                    </a:lnTo>
                    <a:close/>
                    <a:moveTo>
                      <a:pt x="173" y="131"/>
                    </a:moveTo>
                    <a:lnTo>
                      <a:pt x="191" y="131"/>
                    </a:lnTo>
                    <a:lnTo>
                      <a:pt x="191" y="162"/>
                    </a:lnTo>
                    <a:lnTo>
                      <a:pt x="173" y="162"/>
                    </a:lnTo>
                    <a:lnTo>
                      <a:pt x="173" y="131"/>
                    </a:lnTo>
                    <a:close/>
                    <a:moveTo>
                      <a:pt x="173" y="168"/>
                    </a:moveTo>
                    <a:lnTo>
                      <a:pt x="191" y="168"/>
                    </a:lnTo>
                    <a:lnTo>
                      <a:pt x="191" y="201"/>
                    </a:lnTo>
                    <a:lnTo>
                      <a:pt x="173" y="201"/>
                    </a:lnTo>
                    <a:lnTo>
                      <a:pt x="173" y="168"/>
                    </a:lnTo>
                    <a:close/>
                    <a:moveTo>
                      <a:pt x="173" y="209"/>
                    </a:moveTo>
                    <a:lnTo>
                      <a:pt x="191" y="209"/>
                    </a:lnTo>
                    <a:lnTo>
                      <a:pt x="191" y="240"/>
                    </a:lnTo>
                    <a:lnTo>
                      <a:pt x="173" y="240"/>
                    </a:lnTo>
                    <a:lnTo>
                      <a:pt x="173" y="209"/>
                    </a:lnTo>
                    <a:close/>
                    <a:moveTo>
                      <a:pt x="173" y="249"/>
                    </a:moveTo>
                    <a:lnTo>
                      <a:pt x="191" y="249"/>
                    </a:lnTo>
                    <a:lnTo>
                      <a:pt x="191" y="281"/>
                    </a:lnTo>
                    <a:lnTo>
                      <a:pt x="173" y="281"/>
                    </a:lnTo>
                    <a:lnTo>
                      <a:pt x="173" y="249"/>
                    </a:lnTo>
                    <a:close/>
                    <a:moveTo>
                      <a:pt x="140" y="50"/>
                    </a:moveTo>
                    <a:lnTo>
                      <a:pt x="158" y="50"/>
                    </a:lnTo>
                    <a:lnTo>
                      <a:pt x="158" y="82"/>
                    </a:lnTo>
                    <a:lnTo>
                      <a:pt x="140" y="82"/>
                    </a:lnTo>
                    <a:lnTo>
                      <a:pt x="140" y="50"/>
                    </a:lnTo>
                    <a:close/>
                    <a:moveTo>
                      <a:pt x="140" y="90"/>
                    </a:moveTo>
                    <a:lnTo>
                      <a:pt x="158" y="90"/>
                    </a:lnTo>
                    <a:lnTo>
                      <a:pt x="158" y="122"/>
                    </a:lnTo>
                    <a:lnTo>
                      <a:pt x="140" y="122"/>
                    </a:lnTo>
                    <a:lnTo>
                      <a:pt x="140" y="90"/>
                    </a:lnTo>
                    <a:close/>
                    <a:moveTo>
                      <a:pt x="140" y="131"/>
                    </a:moveTo>
                    <a:lnTo>
                      <a:pt x="158" y="131"/>
                    </a:lnTo>
                    <a:lnTo>
                      <a:pt x="158" y="162"/>
                    </a:lnTo>
                    <a:lnTo>
                      <a:pt x="140" y="162"/>
                    </a:lnTo>
                    <a:lnTo>
                      <a:pt x="140" y="131"/>
                    </a:lnTo>
                    <a:close/>
                    <a:moveTo>
                      <a:pt x="140" y="168"/>
                    </a:moveTo>
                    <a:lnTo>
                      <a:pt x="158" y="168"/>
                    </a:lnTo>
                    <a:lnTo>
                      <a:pt x="158" y="201"/>
                    </a:lnTo>
                    <a:lnTo>
                      <a:pt x="140" y="201"/>
                    </a:lnTo>
                    <a:lnTo>
                      <a:pt x="140" y="168"/>
                    </a:lnTo>
                    <a:close/>
                    <a:moveTo>
                      <a:pt x="140" y="209"/>
                    </a:moveTo>
                    <a:lnTo>
                      <a:pt x="158" y="209"/>
                    </a:lnTo>
                    <a:lnTo>
                      <a:pt x="158" y="240"/>
                    </a:lnTo>
                    <a:lnTo>
                      <a:pt x="140" y="240"/>
                    </a:lnTo>
                    <a:lnTo>
                      <a:pt x="140" y="209"/>
                    </a:lnTo>
                    <a:close/>
                    <a:moveTo>
                      <a:pt x="140" y="249"/>
                    </a:moveTo>
                    <a:lnTo>
                      <a:pt x="158" y="249"/>
                    </a:lnTo>
                    <a:lnTo>
                      <a:pt x="158" y="281"/>
                    </a:lnTo>
                    <a:lnTo>
                      <a:pt x="140" y="281"/>
                    </a:lnTo>
                    <a:lnTo>
                      <a:pt x="140" y="249"/>
                    </a:lnTo>
                    <a:close/>
                    <a:moveTo>
                      <a:pt x="107" y="50"/>
                    </a:moveTo>
                    <a:lnTo>
                      <a:pt x="126" y="50"/>
                    </a:lnTo>
                    <a:lnTo>
                      <a:pt x="126" y="82"/>
                    </a:lnTo>
                    <a:lnTo>
                      <a:pt x="107" y="82"/>
                    </a:lnTo>
                    <a:lnTo>
                      <a:pt x="107" y="50"/>
                    </a:lnTo>
                    <a:close/>
                    <a:moveTo>
                      <a:pt x="107" y="90"/>
                    </a:moveTo>
                    <a:lnTo>
                      <a:pt x="126" y="90"/>
                    </a:lnTo>
                    <a:lnTo>
                      <a:pt x="126" y="122"/>
                    </a:lnTo>
                    <a:lnTo>
                      <a:pt x="107" y="122"/>
                    </a:lnTo>
                    <a:lnTo>
                      <a:pt x="107" y="90"/>
                    </a:lnTo>
                    <a:close/>
                    <a:moveTo>
                      <a:pt x="107" y="131"/>
                    </a:moveTo>
                    <a:lnTo>
                      <a:pt x="126" y="131"/>
                    </a:lnTo>
                    <a:lnTo>
                      <a:pt x="126" y="162"/>
                    </a:lnTo>
                    <a:lnTo>
                      <a:pt x="107" y="162"/>
                    </a:lnTo>
                    <a:lnTo>
                      <a:pt x="107" y="131"/>
                    </a:lnTo>
                    <a:close/>
                    <a:moveTo>
                      <a:pt x="107" y="168"/>
                    </a:moveTo>
                    <a:lnTo>
                      <a:pt x="126" y="168"/>
                    </a:lnTo>
                    <a:lnTo>
                      <a:pt x="126" y="201"/>
                    </a:lnTo>
                    <a:lnTo>
                      <a:pt x="107" y="201"/>
                    </a:lnTo>
                    <a:lnTo>
                      <a:pt x="107" y="168"/>
                    </a:lnTo>
                    <a:close/>
                    <a:moveTo>
                      <a:pt x="107" y="209"/>
                    </a:moveTo>
                    <a:lnTo>
                      <a:pt x="126" y="209"/>
                    </a:lnTo>
                    <a:lnTo>
                      <a:pt x="126" y="240"/>
                    </a:lnTo>
                    <a:lnTo>
                      <a:pt x="107" y="240"/>
                    </a:lnTo>
                    <a:lnTo>
                      <a:pt x="107" y="209"/>
                    </a:lnTo>
                    <a:close/>
                    <a:moveTo>
                      <a:pt x="107" y="249"/>
                    </a:moveTo>
                    <a:lnTo>
                      <a:pt x="126" y="249"/>
                    </a:lnTo>
                    <a:lnTo>
                      <a:pt x="126" y="281"/>
                    </a:lnTo>
                    <a:lnTo>
                      <a:pt x="107" y="281"/>
                    </a:lnTo>
                    <a:lnTo>
                      <a:pt x="107" y="249"/>
                    </a:lnTo>
                    <a:close/>
                    <a:moveTo>
                      <a:pt x="78" y="50"/>
                    </a:moveTo>
                    <a:lnTo>
                      <a:pt x="96" y="50"/>
                    </a:lnTo>
                    <a:lnTo>
                      <a:pt x="96" y="82"/>
                    </a:lnTo>
                    <a:lnTo>
                      <a:pt x="78" y="82"/>
                    </a:lnTo>
                    <a:lnTo>
                      <a:pt x="78" y="50"/>
                    </a:lnTo>
                    <a:close/>
                    <a:moveTo>
                      <a:pt x="78" y="90"/>
                    </a:moveTo>
                    <a:lnTo>
                      <a:pt x="96" y="90"/>
                    </a:lnTo>
                    <a:lnTo>
                      <a:pt x="96" y="122"/>
                    </a:lnTo>
                    <a:lnTo>
                      <a:pt x="78" y="122"/>
                    </a:lnTo>
                    <a:lnTo>
                      <a:pt x="78" y="90"/>
                    </a:lnTo>
                    <a:close/>
                    <a:moveTo>
                      <a:pt x="78" y="131"/>
                    </a:moveTo>
                    <a:lnTo>
                      <a:pt x="96" y="131"/>
                    </a:lnTo>
                    <a:lnTo>
                      <a:pt x="96" y="162"/>
                    </a:lnTo>
                    <a:lnTo>
                      <a:pt x="78" y="162"/>
                    </a:lnTo>
                    <a:lnTo>
                      <a:pt x="78" y="131"/>
                    </a:lnTo>
                    <a:close/>
                    <a:moveTo>
                      <a:pt x="78" y="168"/>
                    </a:moveTo>
                    <a:lnTo>
                      <a:pt x="96" y="168"/>
                    </a:lnTo>
                    <a:lnTo>
                      <a:pt x="96" y="201"/>
                    </a:lnTo>
                    <a:lnTo>
                      <a:pt x="78" y="201"/>
                    </a:lnTo>
                    <a:lnTo>
                      <a:pt x="78" y="168"/>
                    </a:lnTo>
                    <a:close/>
                    <a:moveTo>
                      <a:pt x="78" y="209"/>
                    </a:moveTo>
                    <a:lnTo>
                      <a:pt x="96" y="209"/>
                    </a:lnTo>
                    <a:lnTo>
                      <a:pt x="96" y="240"/>
                    </a:lnTo>
                    <a:lnTo>
                      <a:pt x="78" y="240"/>
                    </a:lnTo>
                    <a:lnTo>
                      <a:pt x="78" y="209"/>
                    </a:lnTo>
                    <a:close/>
                    <a:moveTo>
                      <a:pt x="78" y="249"/>
                    </a:moveTo>
                    <a:lnTo>
                      <a:pt x="96" y="249"/>
                    </a:lnTo>
                    <a:lnTo>
                      <a:pt x="96" y="281"/>
                    </a:lnTo>
                    <a:lnTo>
                      <a:pt x="78" y="281"/>
                    </a:lnTo>
                    <a:lnTo>
                      <a:pt x="78" y="249"/>
                    </a:lnTo>
                    <a:close/>
                    <a:moveTo>
                      <a:pt x="45" y="50"/>
                    </a:moveTo>
                    <a:lnTo>
                      <a:pt x="64" y="50"/>
                    </a:lnTo>
                    <a:lnTo>
                      <a:pt x="64" y="82"/>
                    </a:lnTo>
                    <a:lnTo>
                      <a:pt x="45" y="82"/>
                    </a:lnTo>
                    <a:lnTo>
                      <a:pt x="45" y="50"/>
                    </a:lnTo>
                    <a:close/>
                    <a:moveTo>
                      <a:pt x="45" y="90"/>
                    </a:moveTo>
                    <a:lnTo>
                      <a:pt x="64" y="90"/>
                    </a:lnTo>
                    <a:lnTo>
                      <a:pt x="64" y="122"/>
                    </a:lnTo>
                    <a:lnTo>
                      <a:pt x="45" y="122"/>
                    </a:lnTo>
                    <a:lnTo>
                      <a:pt x="45" y="90"/>
                    </a:lnTo>
                    <a:close/>
                    <a:moveTo>
                      <a:pt x="45" y="131"/>
                    </a:moveTo>
                    <a:lnTo>
                      <a:pt x="64" y="131"/>
                    </a:lnTo>
                    <a:lnTo>
                      <a:pt x="64" y="162"/>
                    </a:lnTo>
                    <a:lnTo>
                      <a:pt x="45" y="162"/>
                    </a:lnTo>
                    <a:lnTo>
                      <a:pt x="45" y="131"/>
                    </a:lnTo>
                    <a:close/>
                    <a:moveTo>
                      <a:pt x="45" y="168"/>
                    </a:moveTo>
                    <a:lnTo>
                      <a:pt x="64" y="168"/>
                    </a:lnTo>
                    <a:lnTo>
                      <a:pt x="64" y="201"/>
                    </a:lnTo>
                    <a:lnTo>
                      <a:pt x="45" y="201"/>
                    </a:lnTo>
                    <a:lnTo>
                      <a:pt x="45" y="168"/>
                    </a:lnTo>
                    <a:close/>
                    <a:moveTo>
                      <a:pt x="45" y="209"/>
                    </a:moveTo>
                    <a:lnTo>
                      <a:pt x="64" y="209"/>
                    </a:lnTo>
                    <a:lnTo>
                      <a:pt x="64" y="240"/>
                    </a:lnTo>
                    <a:lnTo>
                      <a:pt x="45" y="240"/>
                    </a:lnTo>
                    <a:lnTo>
                      <a:pt x="45" y="209"/>
                    </a:lnTo>
                    <a:close/>
                    <a:moveTo>
                      <a:pt x="45" y="249"/>
                    </a:moveTo>
                    <a:lnTo>
                      <a:pt x="64" y="249"/>
                    </a:lnTo>
                    <a:lnTo>
                      <a:pt x="64" y="281"/>
                    </a:lnTo>
                    <a:lnTo>
                      <a:pt x="45" y="281"/>
                    </a:lnTo>
                    <a:lnTo>
                      <a:pt x="45" y="249"/>
                    </a:lnTo>
                    <a:close/>
                    <a:moveTo>
                      <a:pt x="13" y="50"/>
                    </a:moveTo>
                    <a:lnTo>
                      <a:pt x="31" y="50"/>
                    </a:lnTo>
                    <a:lnTo>
                      <a:pt x="31" y="82"/>
                    </a:lnTo>
                    <a:lnTo>
                      <a:pt x="13" y="82"/>
                    </a:lnTo>
                    <a:lnTo>
                      <a:pt x="13" y="50"/>
                    </a:lnTo>
                    <a:close/>
                    <a:moveTo>
                      <a:pt x="13" y="90"/>
                    </a:moveTo>
                    <a:lnTo>
                      <a:pt x="31" y="90"/>
                    </a:lnTo>
                    <a:lnTo>
                      <a:pt x="31" y="122"/>
                    </a:lnTo>
                    <a:lnTo>
                      <a:pt x="13" y="122"/>
                    </a:lnTo>
                    <a:lnTo>
                      <a:pt x="13" y="90"/>
                    </a:lnTo>
                    <a:close/>
                    <a:moveTo>
                      <a:pt x="13" y="131"/>
                    </a:moveTo>
                    <a:lnTo>
                      <a:pt x="31" y="131"/>
                    </a:lnTo>
                    <a:lnTo>
                      <a:pt x="31" y="162"/>
                    </a:lnTo>
                    <a:lnTo>
                      <a:pt x="13" y="162"/>
                    </a:lnTo>
                    <a:lnTo>
                      <a:pt x="13" y="131"/>
                    </a:lnTo>
                    <a:close/>
                    <a:moveTo>
                      <a:pt x="13" y="168"/>
                    </a:moveTo>
                    <a:lnTo>
                      <a:pt x="31" y="168"/>
                    </a:lnTo>
                    <a:lnTo>
                      <a:pt x="31" y="201"/>
                    </a:lnTo>
                    <a:lnTo>
                      <a:pt x="13" y="201"/>
                    </a:lnTo>
                    <a:lnTo>
                      <a:pt x="13" y="168"/>
                    </a:lnTo>
                    <a:close/>
                    <a:moveTo>
                      <a:pt x="13" y="209"/>
                    </a:moveTo>
                    <a:lnTo>
                      <a:pt x="31" y="209"/>
                    </a:lnTo>
                    <a:lnTo>
                      <a:pt x="31" y="240"/>
                    </a:lnTo>
                    <a:lnTo>
                      <a:pt x="13" y="240"/>
                    </a:lnTo>
                    <a:lnTo>
                      <a:pt x="13" y="209"/>
                    </a:lnTo>
                    <a:close/>
                    <a:moveTo>
                      <a:pt x="13" y="249"/>
                    </a:moveTo>
                    <a:lnTo>
                      <a:pt x="31" y="249"/>
                    </a:lnTo>
                    <a:lnTo>
                      <a:pt x="31" y="281"/>
                    </a:lnTo>
                    <a:lnTo>
                      <a:pt x="13" y="281"/>
                    </a:lnTo>
                    <a:lnTo>
                      <a:pt x="13" y="249"/>
                    </a:lnTo>
                    <a:close/>
                  </a:path>
                </a:pathLst>
              </a:custGeom>
              <a:solidFill>
                <a:srgbClr val="4947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91440" tIns="45720" rIns="91440" bIns="45720" numCol="1" anchor="t" anchorCtr="0" compatLnSpc="1">
                <a:prstTxWarp prst="textNoShape">
                  <a:avLst/>
                </a:prstTxWarp>
              </a:bodyPr>
              <a:lstStyle/>
              <a:p>
                <a:endParaRPr lang="en-IE" sz="1100"/>
              </a:p>
            </p:txBody>
          </p:sp>
          <p:sp>
            <p:nvSpPr>
              <p:cNvPr id="125" name="Freeform 55">
                <a:extLst>
                  <a:ext uri="{FF2B5EF4-FFF2-40B4-BE49-F238E27FC236}">
                    <a16:creationId xmlns:a16="http://schemas.microsoft.com/office/drawing/2014/main" id="{1BFAA64C-57FC-5308-0CB9-FD99E35F962C}"/>
                  </a:ext>
                </a:extLst>
              </p:cNvPr>
              <p:cNvSpPr>
                <a:spLocks noEditPoints="1"/>
              </p:cNvSpPr>
              <p:nvPr/>
            </p:nvSpPr>
            <p:spPr bwMode="auto">
              <a:xfrm>
                <a:off x="1748953" y="3962047"/>
                <a:ext cx="91428" cy="141754"/>
              </a:xfrm>
              <a:custGeom>
                <a:avLst/>
                <a:gdLst>
                  <a:gd name="T0" fmla="*/ 0 w 109"/>
                  <a:gd name="T1" fmla="*/ 0 h 169"/>
                  <a:gd name="T2" fmla="*/ 0 w 109"/>
                  <a:gd name="T3" fmla="*/ 169 h 169"/>
                  <a:gd name="T4" fmla="*/ 109 w 109"/>
                  <a:gd name="T5" fmla="*/ 169 h 169"/>
                  <a:gd name="T6" fmla="*/ 109 w 109"/>
                  <a:gd name="T7" fmla="*/ 0 h 169"/>
                  <a:gd name="T8" fmla="*/ 0 w 109"/>
                  <a:gd name="T9" fmla="*/ 0 h 169"/>
                  <a:gd name="T10" fmla="*/ 32 w 109"/>
                  <a:gd name="T11" fmla="*/ 149 h 169"/>
                  <a:gd name="T12" fmla="*/ 14 w 109"/>
                  <a:gd name="T13" fmla="*/ 149 h 169"/>
                  <a:gd name="T14" fmla="*/ 14 w 109"/>
                  <a:gd name="T15" fmla="*/ 117 h 169"/>
                  <a:gd name="T16" fmla="*/ 32 w 109"/>
                  <a:gd name="T17" fmla="*/ 117 h 169"/>
                  <a:gd name="T18" fmla="*/ 32 w 109"/>
                  <a:gd name="T19" fmla="*/ 149 h 169"/>
                  <a:gd name="T20" fmla="*/ 32 w 109"/>
                  <a:gd name="T21" fmla="*/ 108 h 169"/>
                  <a:gd name="T22" fmla="*/ 14 w 109"/>
                  <a:gd name="T23" fmla="*/ 108 h 169"/>
                  <a:gd name="T24" fmla="*/ 14 w 109"/>
                  <a:gd name="T25" fmla="*/ 76 h 169"/>
                  <a:gd name="T26" fmla="*/ 32 w 109"/>
                  <a:gd name="T27" fmla="*/ 76 h 169"/>
                  <a:gd name="T28" fmla="*/ 32 w 109"/>
                  <a:gd name="T29" fmla="*/ 108 h 169"/>
                  <a:gd name="T30" fmla="*/ 32 w 109"/>
                  <a:gd name="T31" fmla="*/ 69 h 169"/>
                  <a:gd name="T32" fmla="*/ 14 w 109"/>
                  <a:gd name="T33" fmla="*/ 69 h 169"/>
                  <a:gd name="T34" fmla="*/ 14 w 109"/>
                  <a:gd name="T35" fmla="*/ 36 h 169"/>
                  <a:gd name="T36" fmla="*/ 32 w 109"/>
                  <a:gd name="T37" fmla="*/ 36 h 169"/>
                  <a:gd name="T38" fmla="*/ 32 w 109"/>
                  <a:gd name="T39" fmla="*/ 69 h 169"/>
                  <a:gd name="T40" fmla="*/ 63 w 109"/>
                  <a:gd name="T41" fmla="*/ 149 h 169"/>
                  <a:gd name="T42" fmla="*/ 45 w 109"/>
                  <a:gd name="T43" fmla="*/ 149 h 169"/>
                  <a:gd name="T44" fmla="*/ 45 w 109"/>
                  <a:gd name="T45" fmla="*/ 117 h 169"/>
                  <a:gd name="T46" fmla="*/ 63 w 109"/>
                  <a:gd name="T47" fmla="*/ 117 h 169"/>
                  <a:gd name="T48" fmla="*/ 63 w 109"/>
                  <a:gd name="T49" fmla="*/ 149 h 169"/>
                  <a:gd name="T50" fmla="*/ 63 w 109"/>
                  <a:gd name="T51" fmla="*/ 108 h 169"/>
                  <a:gd name="T52" fmla="*/ 45 w 109"/>
                  <a:gd name="T53" fmla="*/ 108 h 169"/>
                  <a:gd name="T54" fmla="*/ 45 w 109"/>
                  <a:gd name="T55" fmla="*/ 76 h 169"/>
                  <a:gd name="T56" fmla="*/ 63 w 109"/>
                  <a:gd name="T57" fmla="*/ 76 h 169"/>
                  <a:gd name="T58" fmla="*/ 63 w 109"/>
                  <a:gd name="T59" fmla="*/ 108 h 169"/>
                  <a:gd name="T60" fmla="*/ 63 w 109"/>
                  <a:gd name="T61" fmla="*/ 69 h 169"/>
                  <a:gd name="T62" fmla="*/ 45 w 109"/>
                  <a:gd name="T63" fmla="*/ 69 h 169"/>
                  <a:gd name="T64" fmla="*/ 45 w 109"/>
                  <a:gd name="T65" fmla="*/ 36 h 169"/>
                  <a:gd name="T66" fmla="*/ 63 w 109"/>
                  <a:gd name="T67" fmla="*/ 36 h 169"/>
                  <a:gd name="T68" fmla="*/ 63 w 109"/>
                  <a:gd name="T69" fmla="*/ 69 h 169"/>
                  <a:gd name="T70" fmla="*/ 96 w 109"/>
                  <a:gd name="T71" fmla="*/ 149 h 169"/>
                  <a:gd name="T72" fmla="*/ 78 w 109"/>
                  <a:gd name="T73" fmla="*/ 149 h 169"/>
                  <a:gd name="T74" fmla="*/ 78 w 109"/>
                  <a:gd name="T75" fmla="*/ 117 h 169"/>
                  <a:gd name="T76" fmla="*/ 96 w 109"/>
                  <a:gd name="T77" fmla="*/ 117 h 169"/>
                  <a:gd name="T78" fmla="*/ 96 w 109"/>
                  <a:gd name="T79" fmla="*/ 149 h 169"/>
                  <a:gd name="T80" fmla="*/ 96 w 109"/>
                  <a:gd name="T81" fmla="*/ 108 h 169"/>
                  <a:gd name="T82" fmla="*/ 78 w 109"/>
                  <a:gd name="T83" fmla="*/ 108 h 169"/>
                  <a:gd name="T84" fmla="*/ 78 w 109"/>
                  <a:gd name="T85" fmla="*/ 76 h 169"/>
                  <a:gd name="T86" fmla="*/ 96 w 109"/>
                  <a:gd name="T87" fmla="*/ 76 h 169"/>
                  <a:gd name="T88" fmla="*/ 96 w 109"/>
                  <a:gd name="T89" fmla="*/ 108 h 169"/>
                  <a:gd name="T90" fmla="*/ 96 w 109"/>
                  <a:gd name="T91" fmla="*/ 69 h 169"/>
                  <a:gd name="T92" fmla="*/ 78 w 109"/>
                  <a:gd name="T93" fmla="*/ 69 h 169"/>
                  <a:gd name="T94" fmla="*/ 78 w 109"/>
                  <a:gd name="T95" fmla="*/ 36 h 169"/>
                  <a:gd name="T96" fmla="*/ 96 w 109"/>
                  <a:gd name="T97" fmla="*/ 36 h 169"/>
                  <a:gd name="T98" fmla="*/ 96 w 109"/>
                  <a:gd name="T99" fmla="*/ 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 h="169">
                    <a:moveTo>
                      <a:pt x="0" y="0"/>
                    </a:moveTo>
                    <a:lnTo>
                      <a:pt x="0" y="169"/>
                    </a:lnTo>
                    <a:lnTo>
                      <a:pt x="109" y="169"/>
                    </a:lnTo>
                    <a:lnTo>
                      <a:pt x="109" y="0"/>
                    </a:lnTo>
                    <a:lnTo>
                      <a:pt x="0" y="0"/>
                    </a:lnTo>
                    <a:close/>
                    <a:moveTo>
                      <a:pt x="32" y="149"/>
                    </a:moveTo>
                    <a:lnTo>
                      <a:pt x="14" y="149"/>
                    </a:lnTo>
                    <a:lnTo>
                      <a:pt x="14" y="117"/>
                    </a:lnTo>
                    <a:lnTo>
                      <a:pt x="32" y="117"/>
                    </a:lnTo>
                    <a:lnTo>
                      <a:pt x="32" y="149"/>
                    </a:lnTo>
                    <a:close/>
                    <a:moveTo>
                      <a:pt x="32" y="108"/>
                    </a:moveTo>
                    <a:lnTo>
                      <a:pt x="14" y="108"/>
                    </a:lnTo>
                    <a:lnTo>
                      <a:pt x="14" y="76"/>
                    </a:lnTo>
                    <a:lnTo>
                      <a:pt x="32" y="76"/>
                    </a:lnTo>
                    <a:lnTo>
                      <a:pt x="32" y="108"/>
                    </a:lnTo>
                    <a:close/>
                    <a:moveTo>
                      <a:pt x="32" y="69"/>
                    </a:moveTo>
                    <a:lnTo>
                      <a:pt x="14" y="69"/>
                    </a:lnTo>
                    <a:lnTo>
                      <a:pt x="14" y="36"/>
                    </a:lnTo>
                    <a:lnTo>
                      <a:pt x="32" y="36"/>
                    </a:lnTo>
                    <a:lnTo>
                      <a:pt x="32" y="69"/>
                    </a:lnTo>
                    <a:close/>
                    <a:moveTo>
                      <a:pt x="63" y="149"/>
                    </a:moveTo>
                    <a:lnTo>
                      <a:pt x="45" y="149"/>
                    </a:lnTo>
                    <a:lnTo>
                      <a:pt x="45" y="117"/>
                    </a:lnTo>
                    <a:lnTo>
                      <a:pt x="63" y="117"/>
                    </a:lnTo>
                    <a:lnTo>
                      <a:pt x="63" y="149"/>
                    </a:lnTo>
                    <a:close/>
                    <a:moveTo>
                      <a:pt x="63" y="108"/>
                    </a:moveTo>
                    <a:lnTo>
                      <a:pt x="45" y="108"/>
                    </a:lnTo>
                    <a:lnTo>
                      <a:pt x="45" y="76"/>
                    </a:lnTo>
                    <a:lnTo>
                      <a:pt x="63" y="76"/>
                    </a:lnTo>
                    <a:lnTo>
                      <a:pt x="63" y="108"/>
                    </a:lnTo>
                    <a:close/>
                    <a:moveTo>
                      <a:pt x="63" y="69"/>
                    </a:moveTo>
                    <a:lnTo>
                      <a:pt x="45" y="69"/>
                    </a:lnTo>
                    <a:lnTo>
                      <a:pt x="45" y="36"/>
                    </a:lnTo>
                    <a:lnTo>
                      <a:pt x="63" y="36"/>
                    </a:lnTo>
                    <a:lnTo>
                      <a:pt x="63" y="69"/>
                    </a:lnTo>
                    <a:close/>
                    <a:moveTo>
                      <a:pt x="96" y="149"/>
                    </a:moveTo>
                    <a:lnTo>
                      <a:pt x="78" y="149"/>
                    </a:lnTo>
                    <a:lnTo>
                      <a:pt x="78" y="117"/>
                    </a:lnTo>
                    <a:lnTo>
                      <a:pt x="96" y="117"/>
                    </a:lnTo>
                    <a:lnTo>
                      <a:pt x="96" y="149"/>
                    </a:lnTo>
                    <a:close/>
                    <a:moveTo>
                      <a:pt x="96" y="108"/>
                    </a:moveTo>
                    <a:lnTo>
                      <a:pt x="78" y="108"/>
                    </a:lnTo>
                    <a:lnTo>
                      <a:pt x="78" y="76"/>
                    </a:lnTo>
                    <a:lnTo>
                      <a:pt x="96" y="76"/>
                    </a:lnTo>
                    <a:lnTo>
                      <a:pt x="96" y="108"/>
                    </a:lnTo>
                    <a:close/>
                    <a:moveTo>
                      <a:pt x="96" y="69"/>
                    </a:moveTo>
                    <a:lnTo>
                      <a:pt x="78" y="69"/>
                    </a:lnTo>
                    <a:lnTo>
                      <a:pt x="78" y="36"/>
                    </a:lnTo>
                    <a:lnTo>
                      <a:pt x="96" y="36"/>
                    </a:lnTo>
                    <a:lnTo>
                      <a:pt x="96" y="69"/>
                    </a:lnTo>
                    <a:close/>
                  </a:path>
                </a:pathLst>
              </a:custGeom>
              <a:solidFill>
                <a:srgbClr val="4947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91440" tIns="45720" rIns="91440" bIns="45720" numCol="1" anchor="t" anchorCtr="0" compatLnSpc="1">
                <a:prstTxWarp prst="textNoShape">
                  <a:avLst/>
                </a:prstTxWarp>
              </a:bodyPr>
              <a:lstStyle/>
              <a:p>
                <a:endParaRPr lang="en-IE" sz="1100"/>
              </a:p>
            </p:txBody>
          </p:sp>
        </p:grpSp>
      </p:grpSp>
      <p:cxnSp>
        <p:nvCxnSpPr>
          <p:cNvPr id="24602" name="直線矢印コネクタ 516">
            <a:extLst>
              <a:ext uri="{FF2B5EF4-FFF2-40B4-BE49-F238E27FC236}">
                <a16:creationId xmlns:a16="http://schemas.microsoft.com/office/drawing/2014/main" id="{3818CA97-C544-F058-418D-558284336168}"/>
              </a:ext>
            </a:extLst>
          </p:cNvPr>
          <p:cNvCxnSpPr>
            <a:cxnSpLocks noChangeShapeType="1"/>
            <a:endCxn id="140" idx="1"/>
          </p:cNvCxnSpPr>
          <p:nvPr/>
        </p:nvCxnSpPr>
        <p:spPr bwMode="gray">
          <a:xfrm flipH="1">
            <a:off x="1250824" y="3252269"/>
            <a:ext cx="275754" cy="0"/>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cxnSp>
        <p:nvCxnSpPr>
          <p:cNvPr id="27" name="コネクタ: カギ線 26">
            <a:extLst>
              <a:ext uri="{FF2B5EF4-FFF2-40B4-BE49-F238E27FC236}">
                <a16:creationId xmlns:a16="http://schemas.microsoft.com/office/drawing/2014/main" id="{86074E55-E6F7-3ADD-2797-F8B1671FE517}"/>
              </a:ext>
            </a:extLst>
          </p:cNvPr>
          <p:cNvCxnSpPr>
            <a:cxnSpLocks/>
            <a:stCxn id="101" idx="1"/>
            <a:endCxn id="97" idx="0"/>
          </p:cNvCxnSpPr>
          <p:nvPr/>
        </p:nvCxnSpPr>
        <p:spPr>
          <a:xfrm rot="10800000" flipV="1">
            <a:off x="2801301" y="3079924"/>
            <a:ext cx="1337939" cy="1463629"/>
          </a:xfrm>
          <a:prstGeom prst="bentConnector2">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sp>
        <p:nvSpPr>
          <p:cNvPr id="14" name="正方形/長方形 363">
            <a:extLst>
              <a:ext uri="{FF2B5EF4-FFF2-40B4-BE49-F238E27FC236}">
                <a16:creationId xmlns:a16="http://schemas.microsoft.com/office/drawing/2014/main" id="{F6D4E74A-96D9-F2F0-264C-22939CA52B47}"/>
              </a:ext>
            </a:extLst>
          </p:cNvPr>
          <p:cNvSpPr>
            <a:spLocks noChangeArrowheads="1"/>
          </p:cNvSpPr>
          <p:nvPr/>
        </p:nvSpPr>
        <p:spPr bwMode="gray">
          <a:xfrm>
            <a:off x="5549723" y="2040754"/>
            <a:ext cx="976210" cy="3914614"/>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t"/>
          <a:lstStyle/>
          <a:p>
            <a:pPr eaLnBrk="0" hangingPunct="0">
              <a:spcBef>
                <a:spcPts val="0"/>
              </a:spcBef>
              <a:defRPr/>
            </a:pPr>
            <a:r>
              <a:rPr kumimoji="1" lang="ja-JP" altLang="en-US" sz="1100" b="0" dirty="0">
                <a:latin typeface="Meiryo UI" panose="020B0604030504040204" pitchFamily="50" charset="-128"/>
                <a:ea typeface="Meiryo UI" panose="020B0604030504040204" pitchFamily="50" charset="-128"/>
              </a:rPr>
              <a:t>顧客</a:t>
            </a:r>
            <a:endParaRPr kumimoji="1" lang="en-US" altLang="ja-JP" sz="1100" b="0" dirty="0">
              <a:latin typeface="Meiryo UI" panose="020B0604030504040204" pitchFamily="50" charset="-128"/>
              <a:ea typeface="Meiryo UI" panose="020B0604030504040204" pitchFamily="50" charset="-128"/>
            </a:endParaRPr>
          </a:p>
        </p:txBody>
      </p:sp>
      <p:sp>
        <p:nvSpPr>
          <p:cNvPr id="103" name="正方形/長方形 192">
            <a:extLst>
              <a:ext uri="{FF2B5EF4-FFF2-40B4-BE49-F238E27FC236}">
                <a16:creationId xmlns:a16="http://schemas.microsoft.com/office/drawing/2014/main" id="{3218BDE1-E444-6E22-B1EE-9FE5FD7A03B3}"/>
              </a:ext>
            </a:extLst>
          </p:cNvPr>
          <p:cNvSpPr/>
          <p:nvPr/>
        </p:nvSpPr>
        <p:spPr bwMode="gray">
          <a:xfrm flipH="1">
            <a:off x="5600586" y="4108080"/>
            <a:ext cx="874482" cy="953923"/>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t"/>
          <a:lstStyle/>
          <a:p>
            <a:pPr eaLnBrk="0" hangingPunct="0">
              <a:spcBef>
                <a:spcPts val="0"/>
              </a:spcBef>
            </a:pPr>
            <a:r>
              <a:rPr lang="ja-JP" altLang="en-US" sz="1050" dirty="0">
                <a:latin typeface="Meiryo UI" panose="020B0604030504040204" pitchFamily="50" charset="-128"/>
                <a:ea typeface="Meiryo UI" panose="020B0604030504040204" pitchFamily="50" charset="-128"/>
              </a:rPr>
              <a:t>個人投資家</a:t>
            </a:r>
            <a:endParaRPr lang="en-US" altLang="ja-JP" sz="1050" dirty="0">
              <a:latin typeface="Meiryo UI" panose="020B0604030504040204" pitchFamily="50" charset="-128"/>
              <a:ea typeface="Meiryo UI" panose="020B0604030504040204" pitchFamily="50" charset="-128"/>
            </a:endParaRPr>
          </a:p>
          <a:p>
            <a:pPr eaLnBrk="0" hangingPunct="0">
              <a:spcBef>
                <a:spcPts val="0"/>
              </a:spcBef>
            </a:pPr>
            <a:endParaRPr lang="en-US" altLang="ja-JP" sz="105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ja-JP" altLang="en-US" sz="800" dirty="0">
                <a:latin typeface="Meiryo UI" panose="020B0604030504040204" pitchFamily="50" charset="-128"/>
                <a:ea typeface="Meiryo UI" panose="020B0604030504040204" pitchFamily="50" charset="-128"/>
              </a:rPr>
              <a:t>企業オーナー</a:t>
            </a:r>
            <a:endParaRPr lang="en-US" altLang="ja-JP" sz="80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ja-JP" altLang="en-US" sz="800" dirty="0">
                <a:latin typeface="Meiryo UI" panose="020B0604030504040204" pitchFamily="50" charset="-128"/>
                <a:ea typeface="Meiryo UI" panose="020B0604030504040204" pitchFamily="50" charset="-128"/>
              </a:rPr>
              <a:t>地主</a:t>
            </a:r>
            <a:endParaRPr lang="en-US" altLang="ja-JP" sz="800" dirty="0">
              <a:latin typeface="Meiryo UI" panose="020B0604030504040204" pitchFamily="50" charset="-128"/>
              <a:ea typeface="Meiryo UI" panose="020B0604030504040204" pitchFamily="50" charset="-128"/>
            </a:endParaRPr>
          </a:p>
          <a:p>
            <a:pPr marL="87313" indent="-87313" eaLnBrk="0" hangingPunct="0">
              <a:spcBef>
                <a:spcPts val="0"/>
              </a:spcBef>
              <a:buFont typeface="Wingdings" panose="05000000000000000000" pitchFamily="2" charset="2"/>
              <a:buChar char="ü"/>
            </a:pPr>
            <a:r>
              <a:rPr lang="ja-JP" altLang="en-US" sz="800" dirty="0">
                <a:latin typeface="Meiryo UI" panose="020B0604030504040204" pitchFamily="50" charset="-128"/>
                <a:ea typeface="Meiryo UI" panose="020B0604030504040204" pitchFamily="50" charset="-128"/>
              </a:rPr>
              <a:t>医者　など</a:t>
            </a:r>
          </a:p>
        </p:txBody>
      </p:sp>
      <p:grpSp>
        <p:nvGrpSpPr>
          <p:cNvPr id="104" name="グループ化 103">
            <a:extLst>
              <a:ext uri="{FF2B5EF4-FFF2-40B4-BE49-F238E27FC236}">
                <a16:creationId xmlns:a16="http://schemas.microsoft.com/office/drawing/2014/main" id="{CBCB09EF-A431-214B-2F85-1DAC2D6BAAF5}"/>
              </a:ext>
            </a:extLst>
          </p:cNvPr>
          <p:cNvGrpSpPr/>
          <p:nvPr/>
        </p:nvGrpSpPr>
        <p:grpSpPr>
          <a:xfrm>
            <a:off x="6152650" y="4274779"/>
            <a:ext cx="283118" cy="259367"/>
            <a:chOff x="1341485" y="2229208"/>
            <a:chExt cx="1208008" cy="828779"/>
          </a:xfrm>
          <a:solidFill>
            <a:schemeClr val="tx1">
              <a:lumMod val="65000"/>
              <a:lumOff val="35000"/>
            </a:schemeClr>
          </a:solidFill>
        </p:grpSpPr>
        <p:pic>
          <p:nvPicPr>
            <p:cNvPr id="105" name="グラフィックス 104" descr="ユーザー">
              <a:extLst>
                <a:ext uri="{FF2B5EF4-FFF2-40B4-BE49-F238E27FC236}">
                  <a16:creationId xmlns:a16="http://schemas.microsoft.com/office/drawing/2014/main" id="{D7D9F81C-30A1-1584-7F63-D9855B46354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01988" y="2229208"/>
              <a:ext cx="687003" cy="687003"/>
            </a:xfrm>
            <a:prstGeom prst="rect">
              <a:avLst/>
            </a:prstGeom>
            <a:effectLst/>
          </p:spPr>
        </p:pic>
        <p:pic>
          <p:nvPicPr>
            <p:cNvPr id="106" name="グラフィックス 105" descr="ユーザー">
              <a:extLst>
                <a:ext uri="{FF2B5EF4-FFF2-40B4-BE49-F238E27FC236}">
                  <a16:creationId xmlns:a16="http://schemas.microsoft.com/office/drawing/2014/main" id="{293C50C8-0B78-F1FD-6D2B-7FC810609F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41485" y="2370984"/>
              <a:ext cx="687003" cy="687003"/>
            </a:xfrm>
            <a:prstGeom prst="rect">
              <a:avLst/>
            </a:prstGeom>
            <a:effectLst/>
          </p:spPr>
        </p:pic>
        <p:pic>
          <p:nvPicPr>
            <p:cNvPr id="107" name="グラフィックス 106" descr="ユーザー">
              <a:extLst>
                <a:ext uri="{FF2B5EF4-FFF2-40B4-BE49-F238E27FC236}">
                  <a16:creationId xmlns:a16="http://schemas.microsoft.com/office/drawing/2014/main" id="{08914ED9-5C3D-5A6A-9059-06E8706891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62490" y="2366196"/>
              <a:ext cx="687003" cy="687003"/>
            </a:xfrm>
            <a:prstGeom prst="rect">
              <a:avLst/>
            </a:prstGeom>
            <a:effectLst/>
          </p:spPr>
        </p:pic>
      </p:grpSp>
      <p:sp>
        <p:nvSpPr>
          <p:cNvPr id="36" name="正方形/長方形 463">
            <a:extLst>
              <a:ext uri="{FF2B5EF4-FFF2-40B4-BE49-F238E27FC236}">
                <a16:creationId xmlns:a16="http://schemas.microsoft.com/office/drawing/2014/main" id="{64A9272A-AD74-1C79-3690-70794689CC13}"/>
              </a:ext>
            </a:extLst>
          </p:cNvPr>
          <p:cNvSpPr>
            <a:spLocks noChangeArrowheads="1"/>
          </p:cNvSpPr>
          <p:nvPr/>
        </p:nvSpPr>
        <p:spPr bwMode="gray">
          <a:xfrm>
            <a:off x="1524010" y="4543554"/>
            <a:ext cx="1349629" cy="1136477"/>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none" lIns="72000" tIns="72000" rIns="36000" bIns="36000" anchor="t">
            <a:noAutofit/>
          </a:bodyPr>
          <a:lstStyle/>
          <a:p>
            <a:pPr eaLnBrk="0" hangingPunct="0">
              <a:spcBef>
                <a:spcPts val="0"/>
              </a:spcBef>
            </a:pPr>
            <a:endParaRPr lang="ja-JP" altLang="en-US" sz="1050" dirty="0">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E733D4A3-E505-CAB5-38BB-F32FB6B37A86}"/>
              </a:ext>
            </a:extLst>
          </p:cNvPr>
          <p:cNvSpPr/>
          <p:nvPr/>
        </p:nvSpPr>
        <p:spPr>
          <a:xfrm>
            <a:off x="1526876" y="4545887"/>
            <a:ext cx="165875" cy="164712"/>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050" b="1" kern="0" dirty="0">
                <a:solidFill>
                  <a:srgbClr val="FFFFFF"/>
                </a:solidFill>
                <a:latin typeface="Meiryo UI" panose="020B0604030504040204" pitchFamily="50" charset="-128"/>
                <a:ea typeface="Meiryo UI" panose="020B0604030504040204" pitchFamily="50" charset="-128"/>
              </a:rPr>
              <a:t>２</a:t>
            </a:r>
          </a:p>
        </p:txBody>
      </p:sp>
      <p:sp>
        <p:nvSpPr>
          <p:cNvPr id="38" name="テキスト ボックス 37">
            <a:extLst>
              <a:ext uri="{FF2B5EF4-FFF2-40B4-BE49-F238E27FC236}">
                <a16:creationId xmlns:a16="http://schemas.microsoft.com/office/drawing/2014/main" id="{EC6CF327-F9BE-55BE-D127-AFDA1BD45895}"/>
              </a:ext>
            </a:extLst>
          </p:cNvPr>
          <p:cNvSpPr txBox="1"/>
          <p:nvPr/>
        </p:nvSpPr>
        <p:spPr>
          <a:xfrm>
            <a:off x="1660072" y="4639352"/>
            <a:ext cx="556649" cy="182345"/>
          </a:xfrm>
          <a:prstGeom prst="rect">
            <a:avLst/>
          </a:prstGeom>
          <a:noFill/>
        </p:spPr>
        <p:txBody>
          <a:bodyPr vert="horz" wrap="none" lIns="72000" tIns="72000" rIns="72000" bIns="72000" rtlCol="0" anchor="ctr">
            <a:noAutofit/>
          </a:bodyPr>
          <a:lstStyle/>
          <a:p>
            <a:r>
              <a:rPr kumimoji="1" lang="ja-JP" altLang="en-US" sz="1050" dirty="0">
                <a:latin typeface="Meiryo UI" panose="020B0604030504040204" pitchFamily="50" charset="-128"/>
                <a:ea typeface="Meiryo UI" panose="020B0604030504040204" pitchFamily="50" charset="-128"/>
              </a:rPr>
              <a:t>資産管理銀行</a:t>
            </a:r>
            <a:r>
              <a:rPr kumimoji="1" lang="en-US" altLang="ja-JP" sz="1050" dirty="0">
                <a:latin typeface="Meiryo UI" panose="020B0604030504040204" pitchFamily="50" charset="-128"/>
                <a:ea typeface="Meiryo UI" panose="020B0604030504040204" pitchFamily="50" charset="-128"/>
              </a:rPr>
              <a:t>/</a:t>
            </a:r>
            <a:br>
              <a:rPr kumimoji="1" lang="en-US" altLang="ja-JP" sz="1050" dirty="0">
                <a:latin typeface="Meiryo UI" panose="020B0604030504040204" pitchFamily="50" charset="-128"/>
                <a:ea typeface="Meiryo UI" panose="020B0604030504040204" pitchFamily="50" charset="-128"/>
              </a:rPr>
            </a:br>
            <a:r>
              <a:rPr kumimoji="1" lang="ja-JP" altLang="en-US" sz="1050" dirty="0">
                <a:latin typeface="Meiryo UI" panose="020B0604030504040204" pitchFamily="50" charset="-128"/>
                <a:ea typeface="Meiryo UI" panose="020B0604030504040204" pitchFamily="50" charset="-128"/>
              </a:rPr>
              <a:t>信託銀行</a:t>
            </a:r>
            <a:endParaRPr kumimoji="1" lang="en-US" altLang="ja-JP" sz="1050" dirty="0">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1E512F3E-4A5E-C415-3FC4-CA6CEFE2947C}"/>
              </a:ext>
            </a:extLst>
          </p:cNvPr>
          <p:cNvSpPr/>
          <p:nvPr/>
        </p:nvSpPr>
        <p:spPr>
          <a:xfrm>
            <a:off x="3035131" y="3214062"/>
            <a:ext cx="165875" cy="164712"/>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050" b="1" kern="0" dirty="0">
                <a:solidFill>
                  <a:srgbClr val="FFFFFF"/>
                </a:solidFill>
                <a:latin typeface="Meiryo UI" panose="020B0604030504040204" pitchFamily="50" charset="-128"/>
                <a:ea typeface="Meiryo UI" panose="020B0604030504040204" pitchFamily="50" charset="-128"/>
              </a:rPr>
              <a:t>３</a:t>
            </a:r>
          </a:p>
        </p:txBody>
      </p:sp>
      <p:sp>
        <p:nvSpPr>
          <p:cNvPr id="41" name="テキスト ボックス 40">
            <a:extLst>
              <a:ext uri="{FF2B5EF4-FFF2-40B4-BE49-F238E27FC236}">
                <a16:creationId xmlns:a16="http://schemas.microsoft.com/office/drawing/2014/main" id="{A687BB2A-937F-EAB1-F169-91DA4293AB21}"/>
              </a:ext>
            </a:extLst>
          </p:cNvPr>
          <p:cNvSpPr txBox="1"/>
          <p:nvPr/>
        </p:nvSpPr>
        <p:spPr>
          <a:xfrm>
            <a:off x="3168327" y="3281401"/>
            <a:ext cx="556649" cy="182345"/>
          </a:xfrm>
          <a:prstGeom prst="rect">
            <a:avLst/>
          </a:prstGeom>
          <a:noFill/>
        </p:spPr>
        <p:txBody>
          <a:bodyPr vert="horz" wrap="none" lIns="72000" tIns="72000" rIns="72000" bIns="72000" rtlCol="0" anchor="ctr">
            <a:noAutofit/>
          </a:bodyPr>
          <a:lstStyle/>
          <a:p>
            <a:r>
              <a:rPr lang="ja-JP" altLang="en-US" sz="1050" dirty="0">
                <a:latin typeface="Meiryo UI" panose="020B0604030504040204" pitchFamily="50" charset="-128"/>
                <a:ea typeface="Meiryo UI" panose="020B0604030504040204" pitchFamily="50" charset="-128"/>
              </a:rPr>
              <a:t>マーケット</a:t>
            </a:r>
            <a:endParaRPr lang="en-US" altLang="ja-JP" sz="1050" dirty="0">
              <a:latin typeface="Meiryo UI" panose="020B0604030504040204" pitchFamily="50" charset="-128"/>
              <a:ea typeface="Meiryo UI" panose="020B0604030504040204" pitchFamily="50" charset="-128"/>
            </a:endParaRPr>
          </a:p>
          <a:p>
            <a:r>
              <a:rPr lang="ja-JP" altLang="en-US" sz="1050" dirty="0">
                <a:latin typeface="Meiryo UI" panose="020B0604030504040204" pitchFamily="50" charset="-128"/>
                <a:ea typeface="Meiryo UI" panose="020B0604030504040204" pitchFamily="50" charset="-128"/>
              </a:rPr>
              <a:t>インフラ</a:t>
            </a:r>
            <a:endParaRPr kumimoji="1" lang="ja-JP" altLang="en-US" sz="1050" dirty="0">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5CBF54DB-C67D-C334-62FD-C86A6024C338}"/>
              </a:ext>
            </a:extLst>
          </p:cNvPr>
          <p:cNvGrpSpPr/>
          <p:nvPr/>
        </p:nvGrpSpPr>
        <p:grpSpPr>
          <a:xfrm>
            <a:off x="3127661" y="3529120"/>
            <a:ext cx="770068" cy="420634"/>
            <a:chOff x="4439365" y="3521490"/>
            <a:chExt cx="1150668" cy="514565"/>
          </a:xfrm>
        </p:grpSpPr>
        <p:sp>
          <p:nvSpPr>
            <p:cNvPr id="129" name="正方形/長方形 128">
              <a:extLst>
                <a:ext uri="{FF2B5EF4-FFF2-40B4-BE49-F238E27FC236}">
                  <a16:creationId xmlns:a16="http://schemas.microsoft.com/office/drawing/2014/main" id="{508ECAE6-569C-CD09-010B-2566EC416C92}"/>
                </a:ext>
              </a:extLst>
            </p:cNvPr>
            <p:cNvSpPr/>
            <p:nvPr/>
          </p:nvSpPr>
          <p:spPr bwMode="gray">
            <a:xfrm>
              <a:off x="4439365" y="3521490"/>
              <a:ext cx="1150668"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050">
                  <a:latin typeface="Meiryo UI" panose="020B0604030504040204" pitchFamily="50" charset="-128"/>
                  <a:ea typeface="Meiryo UI" panose="020B0604030504040204" pitchFamily="50" charset="-128"/>
                </a:rPr>
                <a:t>取引所</a:t>
              </a:r>
              <a:endParaRPr lang="en-US" altLang="ja-JP" sz="1050">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F8F31F5B-5497-BEF7-586C-BC78518451B5}"/>
                </a:ext>
              </a:extLst>
            </p:cNvPr>
            <p:cNvSpPr/>
            <p:nvPr/>
          </p:nvSpPr>
          <p:spPr>
            <a:xfrm>
              <a:off x="4439598" y="352149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3-A</a:t>
              </a:r>
              <a:endParaRPr kumimoji="1" lang="ja-JP" altLang="en-US" sz="1050" b="1" kern="0" dirty="0">
                <a:latin typeface="Meiryo UI" panose="020B0604030504040204" pitchFamily="50" charset="-128"/>
                <a:ea typeface="Meiryo UI" panose="020B0604030504040204" pitchFamily="50" charset="-128"/>
              </a:endParaRPr>
            </a:p>
          </p:txBody>
        </p:sp>
      </p:grpSp>
      <p:grpSp>
        <p:nvGrpSpPr>
          <p:cNvPr id="44" name="グループ化 43">
            <a:extLst>
              <a:ext uri="{FF2B5EF4-FFF2-40B4-BE49-F238E27FC236}">
                <a16:creationId xmlns:a16="http://schemas.microsoft.com/office/drawing/2014/main" id="{8475B3D2-6D2A-77BB-DDCA-0B6D6E9B1489}"/>
              </a:ext>
            </a:extLst>
          </p:cNvPr>
          <p:cNvGrpSpPr/>
          <p:nvPr/>
        </p:nvGrpSpPr>
        <p:grpSpPr>
          <a:xfrm>
            <a:off x="3128065" y="4267503"/>
            <a:ext cx="769260" cy="420634"/>
            <a:chOff x="6097228" y="3521490"/>
            <a:chExt cx="1149462" cy="514565"/>
          </a:xfrm>
        </p:grpSpPr>
        <p:sp>
          <p:nvSpPr>
            <p:cNvPr id="130" name="正方形/長方形 129">
              <a:extLst>
                <a:ext uri="{FF2B5EF4-FFF2-40B4-BE49-F238E27FC236}">
                  <a16:creationId xmlns:a16="http://schemas.microsoft.com/office/drawing/2014/main" id="{13DBFF93-0681-0823-0BD3-3D67FFC954E6}"/>
                </a:ext>
              </a:extLst>
            </p:cNvPr>
            <p:cNvSpPr/>
            <p:nvPr/>
          </p:nvSpPr>
          <p:spPr bwMode="gray">
            <a:xfrm>
              <a:off x="6097228" y="3521490"/>
              <a:ext cx="1149462"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050" dirty="0">
                  <a:latin typeface="Meiryo UI" panose="020B0604030504040204" pitchFamily="50" charset="-128"/>
                  <a:ea typeface="Meiryo UI" panose="020B0604030504040204" pitchFamily="50" charset="-128"/>
                </a:rPr>
                <a:t>清算機関</a:t>
              </a:r>
              <a:endParaRPr lang="en-US" altLang="ja-JP" sz="1050" dirty="0">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1235CCD-8A84-5E00-680D-A2BA90F0D47B}"/>
                </a:ext>
              </a:extLst>
            </p:cNvPr>
            <p:cNvSpPr/>
            <p:nvPr/>
          </p:nvSpPr>
          <p:spPr>
            <a:xfrm>
              <a:off x="6104310" y="352149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3-B</a:t>
              </a:r>
              <a:endParaRPr kumimoji="1" lang="ja-JP" altLang="en-US" sz="1050" b="1" kern="0" dirty="0">
                <a:latin typeface="Meiryo UI" panose="020B0604030504040204" pitchFamily="50" charset="-128"/>
                <a:ea typeface="Meiryo UI" panose="020B0604030504040204" pitchFamily="50" charset="-128"/>
              </a:endParaRPr>
            </a:p>
          </p:txBody>
        </p:sp>
      </p:grpSp>
      <p:grpSp>
        <p:nvGrpSpPr>
          <p:cNvPr id="45" name="グループ化 44">
            <a:extLst>
              <a:ext uri="{FF2B5EF4-FFF2-40B4-BE49-F238E27FC236}">
                <a16:creationId xmlns:a16="http://schemas.microsoft.com/office/drawing/2014/main" id="{B17B7CCA-04B0-2C7D-B22B-210AE6A9502C}"/>
              </a:ext>
            </a:extLst>
          </p:cNvPr>
          <p:cNvGrpSpPr/>
          <p:nvPr/>
        </p:nvGrpSpPr>
        <p:grpSpPr>
          <a:xfrm>
            <a:off x="3127661" y="5005886"/>
            <a:ext cx="770069" cy="420634"/>
            <a:chOff x="7753883" y="3521490"/>
            <a:chExt cx="1150670" cy="514565"/>
          </a:xfrm>
        </p:grpSpPr>
        <p:sp>
          <p:nvSpPr>
            <p:cNvPr id="131" name="正方形/長方形 130">
              <a:extLst>
                <a:ext uri="{FF2B5EF4-FFF2-40B4-BE49-F238E27FC236}">
                  <a16:creationId xmlns:a16="http://schemas.microsoft.com/office/drawing/2014/main" id="{976365B2-A3B2-2959-FDBA-CECBE649EB2D}"/>
                </a:ext>
              </a:extLst>
            </p:cNvPr>
            <p:cNvSpPr/>
            <p:nvPr/>
          </p:nvSpPr>
          <p:spPr bwMode="gray">
            <a:xfrm>
              <a:off x="7753883" y="3521490"/>
              <a:ext cx="1150670" cy="514565"/>
            </a:xfrm>
            <a:prstGeom prst="rect">
              <a:avLst/>
            </a:prstGeom>
            <a:solidFill>
              <a:schemeClr val="bg1"/>
            </a:solidFill>
            <a:ln w="6350" algn="ctr">
              <a:solidFill>
                <a:schemeClr val="bg2">
                  <a:lumMod val="50000"/>
                </a:schemeClr>
              </a:solidFill>
              <a:miter lim="800000"/>
              <a:headEnd/>
              <a:tailEnd/>
            </a:ln>
            <a:effectLst/>
          </p:spPr>
          <p:txBody>
            <a:bodyPr vert="horz" wrap="none" lIns="72000" tIns="72000" rIns="36000" bIns="36000" anchor="ctr"/>
            <a:lstStyle/>
            <a:p>
              <a:pPr algn="ctr" eaLnBrk="0" hangingPunct="0">
                <a:spcBef>
                  <a:spcPts val="0"/>
                </a:spcBef>
              </a:pPr>
              <a:r>
                <a:rPr lang="ja-JP" altLang="en-US" sz="1050" dirty="0">
                  <a:latin typeface="Meiryo UI" panose="020B0604030504040204" pitchFamily="50" charset="-128"/>
                  <a:ea typeface="Meiryo UI" panose="020B0604030504040204" pitchFamily="50" charset="-128"/>
                </a:rPr>
                <a:t>決済機関</a:t>
              </a:r>
              <a:endParaRPr lang="en-US" altLang="ja-JP" sz="1050" dirty="0">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1DDFAD31-EF04-4255-CB34-08C1571BE864}"/>
                </a:ext>
              </a:extLst>
            </p:cNvPr>
            <p:cNvSpPr/>
            <p:nvPr/>
          </p:nvSpPr>
          <p:spPr>
            <a:xfrm>
              <a:off x="7753883" y="3521490"/>
              <a:ext cx="288000" cy="180000"/>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3-C</a:t>
              </a:r>
              <a:endParaRPr kumimoji="1" lang="ja-JP" altLang="en-US" sz="1050" b="1" kern="0" dirty="0">
                <a:latin typeface="Meiryo UI" panose="020B0604030504040204" pitchFamily="50" charset="-128"/>
                <a:ea typeface="Meiryo UI" panose="020B0604030504040204" pitchFamily="50" charset="-128"/>
              </a:endParaRPr>
            </a:p>
          </p:txBody>
        </p:sp>
      </p:grpSp>
      <p:cxnSp>
        <p:nvCxnSpPr>
          <p:cNvPr id="133" name="直線矢印コネクタ 130">
            <a:extLst>
              <a:ext uri="{FF2B5EF4-FFF2-40B4-BE49-F238E27FC236}">
                <a16:creationId xmlns:a16="http://schemas.microsoft.com/office/drawing/2014/main" id="{0CE2C1FC-5F03-9111-5DDE-E1663E866027}"/>
              </a:ext>
            </a:extLst>
          </p:cNvPr>
          <p:cNvCxnSpPr>
            <a:cxnSpLocks noChangeShapeType="1"/>
            <a:stCxn id="130" idx="0"/>
            <a:endCxn id="129" idx="2"/>
          </p:cNvCxnSpPr>
          <p:nvPr/>
        </p:nvCxnSpPr>
        <p:spPr bwMode="gray">
          <a:xfrm flipV="1">
            <a:off x="3512695" y="3949754"/>
            <a:ext cx="0" cy="317749"/>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52" name="正方形/長方形 463">
            <a:extLst>
              <a:ext uri="{FF2B5EF4-FFF2-40B4-BE49-F238E27FC236}">
                <a16:creationId xmlns:a16="http://schemas.microsoft.com/office/drawing/2014/main" id="{BCE46BC1-1F8E-A404-810A-E18CCC1E2CAC}"/>
              </a:ext>
            </a:extLst>
          </p:cNvPr>
          <p:cNvSpPr>
            <a:spLocks noChangeArrowheads="1"/>
          </p:cNvSpPr>
          <p:nvPr/>
        </p:nvSpPr>
        <p:spPr bwMode="gray">
          <a:xfrm>
            <a:off x="4143340" y="2686746"/>
            <a:ext cx="1222379" cy="2993285"/>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none" lIns="72000" tIns="72000" rIns="36000" bIns="36000" anchor="t">
            <a:noAutofit/>
          </a:bodyPr>
          <a:lstStyle/>
          <a:p>
            <a:pPr eaLnBrk="0" hangingPunct="0">
              <a:spcBef>
                <a:spcPts val="0"/>
              </a:spcBef>
            </a:pPr>
            <a:endParaRPr lang="ja-JP" altLang="en-US" sz="1050" dirty="0">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474C5656-D901-175F-2579-536CEC0A5D83}"/>
              </a:ext>
            </a:extLst>
          </p:cNvPr>
          <p:cNvSpPr/>
          <p:nvPr/>
        </p:nvSpPr>
        <p:spPr>
          <a:xfrm>
            <a:off x="4143340" y="2690734"/>
            <a:ext cx="165875" cy="164712"/>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050" b="1" kern="0" dirty="0">
                <a:solidFill>
                  <a:srgbClr val="FFFFFF"/>
                </a:solidFill>
                <a:latin typeface="Meiryo UI" panose="020B0604030504040204" pitchFamily="50" charset="-128"/>
                <a:ea typeface="Meiryo UI" panose="020B0604030504040204" pitchFamily="50" charset="-128"/>
              </a:rPr>
              <a:t>４</a:t>
            </a:r>
          </a:p>
        </p:txBody>
      </p:sp>
      <p:sp>
        <p:nvSpPr>
          <p:cNvPr id="54" name="テキスト ボックス 53">
            <a:extLst>
              <a:ext uri="{FF2B5EF4-FFF2-40B4-BE49-F238E27FC236}">
                <a16:creationId xmlns:a16="http://schemas.microsoft.com/office/drawing/2014/main" id="{A807D96C-FD36-D9CD-5D49-120634FEAB27}"/>
              </a:ext>
            </a:extLst>
          </p:cNvPr>
          <p:cNvSpPr txBox="1"/>
          <p:nvPr/>
        </p:nvSpPr>
        <p:spPr>
          <a:xfrm>
            <a:off x="4271177" y="2688401"/>
            <a:ext cx="556649" cy="182345"/>
          </a:xfrm>
          <a:prstGeom prst="rect">
            <a:avLst/>
          </a:prstGeom>
          <a:noFill/>
        </p:spPr>
        <p:txBody>
          <a:bodyPr vert="horz" wrap="none" lIns="72000" tIns="72000" rIns="72000" bIns="72000" rtlCol="0" anchor="ctr">
            <a:noAutofit/>
          </a:bodyPr>
          <a:lstStyle/>
          <a:p>
            <a:r>
              <a:rPr lang="ja-JP" altLang="en-US" sz="1050" dirty="0">
                <a:latin typeface="Meiryo UI" panose="020B0604030504040204" pitchFamily="50" charset="-128"/>
                <a:ea typeface="Meiryo UI" panose="020B0604030504040204" pitchFamily="50" charset="-128"/>
              </a:rPr>
              <a:t>証券会社</a:t>
            </a:r>
            <a:endParaRPr kumimoji="1" lang="ja-JP" altLang="en-US" sz="1050" dirty="0">
              <a:latin typeface="Meiryo UI" panose="020B0604030504040204" pitchFamily="50" charset="-128"/>
              <a:ea typeface="Meiryo UI" panose="020B0604030504040204" pitchFamily="50" charset="-128"/>
            </a:endParaRPr>
          </a:p>
        </p:txBody>
      </p:sp>
      <p:sp>
        <p:nvSpPr>
          <p:cNvPr id="32" name="正方形/長方形 463">
            <a:extLst>
              <a:ext uri="{FF2B5EF4-FFF2-40B4-BE49-F238E27FC236}">
                <a16:creationId xmlns:a16="http://schemas.microsoft.com/office/drawing/2014/main" id="{35113A1D-27B7-CEBD-9E5B-6124F3EA7C36}"/>
              </a:ext>
            </a:extLst>
          </p:cNvPr>
          <p:cNvSpPr>
            <a:spLocks noChangeArrowheads="1"/>
          </p:cNvSpPr>
          <p:nvPr/>
        </p:nvSpPr>
        <p:spPr bwMode="gray">
          <a:xfrm>
            <a:off x="1524010" y="2686746"/>
            <a:ext cx="1208899" cy="1366532"/>
          </a:xfrm>
          <a:prstGeom prst="rect">
            <a:avLst/>
          </a:prstGeom>
          <a:solidFill>
            <a:schemeClr val="accent2">
              <a:lumMod val="20000"/>
              <a:lumOff val="80000"/>
            </a:schemeClr>
          </a:solidFill>
          <a:ln w="19050" algn="ctr">
            <a:solidFill>
              <a:schemeClr val="accent1"/>
            </a:solidFill>
            <a:miter lim="800000"/>
            <a:headEnd/>
            <a:tailEnd/>
          </a:ln>
          <a:effectLst/>
        </p:spPr>
        <p:txBody>
          <a:bodyPr vert="horz" wrap="none" lIns="72000" tIns="72000" rIns="36000" bIns="36000" anchor="t">
            <a:noAutofit/>
          </a:bodyPr>
          <a:lstStyle/>
          <a:p>
            <a:pPr eaLnBrk="0" hangingPunct="0">
              <a:spcBef>
                <a:spcPts val="0"/>
              </a:spcBef>
            </a:pPr>
            <a:endParaRPr lang="ja-JP" altLang="en-US" sz="1050" dirty="0">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8A4AD08C-B041-24B7-87F7-64F081F140C3}"/>
              </a:ext>
            </a:extLst>
          </p:cNvPr>
          <p:cNvSpPr/>
          <p:nvPr/>
        </p:nvSpPr>
        <p:spPr>
          <a:xfrm>
            <a:off x="1526577" y="2690734"/>
            <a:ext cx="165875" cy="164712"/>
          </a:xfrm>
          <a:prstGeom prst="rect">
            <a:avLst/>
          </a:prstGeom>
          <a:solidFill>
            <a:schemeClr val="accent2">
              <a:lumMod val="75000"/>
            </a:schemeClr>
          </a:solidFill>
          <a:ln w="1270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ja-JP" altLang="en-US" sz="1050" b="1" kern="0" dirty="0">
                <a:solidFill>
                  <a:srgbClr val="FFFFFF"/>
                </a:solidFill>
                <a:latin typeface="Meiryo UI" panose="020B0604030504040204" pitchFamily="50" charset="-128"/>
                <a:ea typeface="Meiryo UI" panose="020B0604030504040204" pitchFamily="50" charset="-128"/>
              </a:rPr>
              <a:t>１</a:t>
            </a:r>
          </a:p>
        </p:txBody>
      </p:sp>
      <p:sp>
        <p:nvSpPr>
          <p:cNvPr id="34" name="テキスト ボックス 33">
            <a:extLst>
              <a:ext uri="{FF2B5EF4-FFF2-40B4-BE49-F238E27FC236}">
                <a16:creationId xmlns:a16="http://schemas.microsoft.com/office/drawing/2014/main" id="{0E8DB2F8-D9E7-BDEF-652C-1A9D5CDF4EED}"/>
              </a:ext>
            </a:extLst>
          </p:cNvPr>
          <p:cNvSpPr txBox="1"/>
          <p:nvPr/>
        </p:nvSpPr>
        <p:spPr>
          <a:xfrm>
            <a:off x="1645885" y="2775491"/>
            <a:ext cx="498605" cy="182345"/>
          </a:xfrm>
          <a:prstGeom prst="rect">
            <a:avLst/>
          </a:prstGeom>
          <a:noFill/>
        </p:spPr>
        <p:txBody>
          <a:bodyPr vert="horz" wrap="none" lIns="72000" tIns="72000" rIns="72000" bIns="72000" rtlCol="0" anchor="ctr">
            <a:noAutofit/>
          </a:bodyPr>
          <a:lstStyle/>
          <a:p>
            <a:r>
              <a:rPr lang="ja-JP" altLang="en-US" sz="1050" dirty="0">
                <a:latin typeface="Meiryo UI" panose="020B0604030504040204" pitchFamily="50" charset="-128"/>
                <a:ea typeface="Meiryo UI" panose="020B0604030504040204" pitchFamily="50" charset="-128"/>
              </a:rPr>
              <a:t>運用会社</a:t>
            </a:r>
            <a:r>
              <a:rPr lang="en-US" altLang="ja-JP" sz="1050" dirty="0">
                <a:latin typeface="Meiryo UI" panose="020B0604030504040204" pitchFamily="50" charset="-128"/>
                <a:ea typeface="Meiryo UI" panose="020B0604030504040204" pitchFamily="50" charset="-128"/>
              </a:rPr>
              <a:t>/</a:t>
            </a:r>
            <a:br>
              <a:rPr lang="en-US" altLang="ja-JP" sz="1050" dirty="0">
                <a:latin typeface="Meiryo UI" panose="020B0604030504040204" pitchFamily="50" charset="-128"/>
                <a:ea typeface="Meiryo UI" panose="020B0604030504040204" pitchFamily="50" charset="-128"/>
              </a:rPr>
            </a:br>
            <a:r>
              <a:rPr lang="en-US" altLang="ja-JP" sz="1050" dirty="0">
                <a:latin typeface="Meiryo UI" panose="020B0604030504040204" pitchFamily="50" charset="-128"/>
                <a:ea typeface="Meiryo UI" panose="020B0604030504040204" pitchFamily="50" charset="-128"/>
              </a:rPr>
              <a:t>(</a:t>
            </a:r>
            <a:r>
              <a:rPr lang="ja-JP" altLang="en-US" sz="1050" dirty="0">
                <a:latin typeface="Meiryo UI" panose="020B0604030504040204" pitchFamily="50" charset="-128"/>
                <a:ea typeface="Meiryo UI" panose="020B0604030504040204" pitchFamily="50" charset="-128"/>
              </a:rPr>
              <a:t>信託銀行</a:t>
            </a:r>
            <a:r>
              <a:rPr lang="en-US" altLang="ja-JP" sz="1050" dirty="0">
                <a:latin typeface="Meiryo UI" panose="020B0604030504040204" pitchFamily="50" charset="-128"/>
                <a:ea typeface="Meiryo UI" panose="020B0604030504040204" pitchFamily="50" charset="-128"/>
              </a:rPr>
              <a:t>)</a:t>
            </a:r>
            <a:endParaRPr kumimoji="1" lang="ja-JP" altLang="en-US" sz="1050" dirty="0">
              <a:latin typeface="Meiryo UI" panose="020B0604030504040204" pitchFamily="50" charset="-128"/>
              <a:ea typeface="Meiryo UI" panose="020B0604030504040204" pitchFamily="50" charset="-128"/>
            </a:endParaRPr>
          </a:p>
        </p:txBody>
      </p:sp>
      <p:sp>
        <p:nvSpPr>
          <p:cNvPr id="55" name="正方形/長方形 364">
            <a:extLst>
              <a:ext uri="{FF2B5EF4-FFF2-40B4-BE49-F238E27FC236}">
                <a16:creationId xmlns:a16="http://schemas.microsoft.com/office/drawing/2014/main" id="{EFBF384B-CC97-7710-A708-3C9BDAB0E789}"/>
              </a:ext>
            </a:extLst>
          </p:cNvPr>
          <p:cNvSpPr>
            <a:spLocks noChangeArrowheads="1"/>
          </p:cNvSpPr>
          <p:nvPr/>
        </p:nvSpPr>
        <p:spPr bwMode="gray">
          <a:xfrm>
            <a:off x="1609017" y="3372695"/>
            <a:ext cx="1038885" cy="282933"/>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投資一任</a:t>
            </a:r>
          </a:p>
        </p:txBody>
      </p:sp>
      <p:sp>
        <p:nvSpPr>
          <p:cNvPr id="56" name="正方形/長方形 364">
            <a:extLst>
              <a:ext uri="{FF2B5EF4-FFF2-40B4-BE49-F238E27FC236}">
                <a16:creationId xmlns:a16="http://schemas.microsoft.com/office/drawing/2014/main" id="{D1BC7717-19B8-9878-80DF-BF381B1401C2}"/>
              </a:ext>
            </a:extLst>
          </p:cNvPr>
          <p:cNvSpPr>
            <a:spLocks noChangeArrowheads="1"/>
          </p:cNvSpPr>
          <p:nvPr/>
        </p:nvSpPr>
        <p:spPr bwMode="gray">
          <a:xfrm>
            <a:off x="1609017" y="3059278"/>
            <a:ext cx="1038885" cy="282933"/>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投資信託</a:t>
            </a:r>
          </a:p>
        </p:txBody>
      </p:sp>
      <p:sp>
        <p:nvSpPr>
          <p:cNvPr id="57" name="正方形/長方形 364">
            <a:extLst>
              <a:ext uri="{FF2B5EF4-FFF2-40B4-BE49-F238E27FC236}">
                <a16:creationId xmlns:a16="http://schemas.microsoft.com/office/drawing/2014/main" id="{C87F0AE1-77D9-2D2A-FE5A-A4A3A0A9FF97}"/>
              </a:ext>
            </a:extLst>
          </p:cNvPr>
          <p:cNvSpPr>
            <a:spLocks noChangeArrowheads="1"/>
          </p:cNvSpPr>
          <p:nvPr/>
        </p:nvSpPr>
        <p:spPr bwMode="gray">
          <a:xfrm>
            <a:off x="1610026" y="4984698"/>
            <a:ext cx="1159822" cy="441822"/>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受託部門</a:t>
            </a:r>
            <a:endParaRPr lang="en-US" altLang="ja-JP" sz="11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000" dirty="0">
                <a:latin typeface="Meiryo UI" panose="020B0604030504040204" pitchFamily="50" charset="-128"/>
                <a:ea typeface="Meiryo UI" panose="020B0604030504040204" pitchFamily="50" charset="-128"/>
              </a:rPr>
              <a:t>（信託銀行の場合）</a:t>
            </a:r>
            <a:endParaRPr lang="ja-JP" altLang="en-US" sz="1100" dirty="0">
              <a:latin typeface="Meiryo UI" panose="020B0604030504040204" pitchFamily="50" charset="-128"/>
              <a:ea typeface="Meiryo UI" panose="020B0604030504040204" pitchFamily="50" charset="-128"/>
            </a:endParaRPr>
          </a:p>
        </p:txBody>
      </p:sp>
      <p:cxnSp>
        <p:nvCxnSpPr>
          <p:cNvPr id="62" name="直線矢印コネクタ 516">
            <a:extLst>
              <a:ext uri="{FF2B5EF4-FFF2-40B4-BE49-F238E27FC236}">
                <a16:creationId xmlns:a16="http://schemas.microsoft.com/office/drawing/2014/main" id="{3BD13244-FD64-6DF5-6C9D-4B6A99A2B59B}"/>
              </a:ext>
            </a:extLst>
          </p:cNvPr>
          <p:cNvCxnSpPr>
            <a:cxnSpLocks noChangeShapeType="1"/>
          </p:cNvCxnSpPr>
          <p:nvPr/>
        </p:nvCxnSpPr>
        <p:spPr bwMode="gray">
          <a:xfrm flipH="1" flipV="1">
            <a:off x="2743730" y="2932021"/>
            <a:ext cx="1396003" cy="0"/>
          </a:xfrm>
          <a:prstGeom prst="straightConnector1">
            <a:avLst/>
          </a:prstGeom>
          <a:noFill/>
          <a:ln w="28575" algn="ctr">
            <a:solidFill>
              <a:srgbClr val="0000CC"/>
            </a:solidFill>
            <a:round/>
            <a:headEnd type="arrow" w="med" len="med"/>
            <a:tailEnd type="arrow" w="med" len="med"/>
          </a:ln>
          <a:extLst>
            <a:ext uri="{909E8E84-426E-40DD-AFC4-6F175D3DCCD1}">
              <a14:hiddenFill xmlns:a14="http://schemas.microsoft.com/office/drawing/2010/main">
                <a:noFill/>
              </a14:hiddenFill>
            </a:ext>
          </a:extLst>
        </p:spPr>
      </p:cxnSp>
      <p:cxnSp>
        <p:nvCxnSpPr>
          <p:cNvPr id="64" name="直線矢印コネクタ 516">
            <a:extLst>
              <a:ext uri="{FF2B5EF4-FFF2-40B4-BE49-F238E27FC236}">
                <a16:creationId xmlns:a16="http://schemas.microsoft.com/office/drawing/2014/main" id="{9AC5024E-3364-ECF2-4492-3867F06FCFAD}"/>
              </a:ext>
            </a:extLst>
          </p:cNvPr>
          <p:cNvCxnSpPr>
            <a:cxnSpLocks noChangeShapeType="1"/>
            <a:stCxn id="65" idx="3"/>
            <a:endCxn id="103" idx="3"/>
          </p:cNvCxnSpPr>
          <p:nvPr/>
        </p:nvCxnSpPr>
        <p:spPr bwMode="gray">
          <a:xfrm>
            <a:off x="5278851" y="4585041"/>
            <a:ext cx="321735" cy="0"/>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sp>
        <p:nvSpPr>
          <p:cNvPr id="65" name="正方形/長方形 364">
            <a:extLst>
              <a:ext uri="{FF2B5EF4-FFF2-40B4-BE49-F238E27FC236}">
                <a16:creationId xmlns:a16="http://schemas.microsoft.com/office/drawing/2014/main" id="{30C0EA18-5A8E-41C7-360E-3D03D22D587C}"/>
              </a:ext>
            </a:extLst>
          </p:cNvPr>
          <p:cNvSpPr>
            <a:spLocks noChangeArrowheads="1"/>
          </p:cNvSpPr>
          <p:nvPr/>
        </p:nvSpPr>
        <p:spPr bwMode="gray">
          <a:xfrm>
            <a:off x="4230207" y="4114761"/>
            <a:ext cx="1048644" cy="940561"/>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リテール営業部門</a:t>
            </a:r>
            <a:endParaRPr lang="en-US" altLang="ja-JP" sz="1100" dirty="0">
              <a:latin typeface="Meiryo UI" panose="020B0604030504040204" pitchFamily="50" charset="-128"/>
              <a:ea typeface="Meiryo UI" panose="020B0604030504040204" pitchFamily="50" charset="-128"/>
            </a:endParaRPr>
          </a:p>
          <a:p>
            <a:pPr algn="ctr" eaLnBrk="0" hangingPunct="0">
              <a:spcBef>
                <a:spcPts val="0"/>
              </a:spcBef>
            </a:pPr>
            <a:endParaRPr lang="en-US" altLang="ja-JP" sz="1100" dirty="0">
              <a:latin typeface="Meiryo UI" panose="020B0604030504040204" pitchFamily="50" charset="-128"/>
              <a:ea typeface="Meiryo UI" panose="020B0604030504040204" pitchFamily="50" charset="-128"/>
            </a:endParaRPr>
          </a:p>
          <a:p>
            <a:pPr algn="ctr" eaLnBrk="0" hangingPunct="0">
              <a:spcBef>
                <a:spcPts val="0"/>
              </a:spcBef>
            </a:pPr>
            <a:endParaRPr lang="ja-JP" altLang="en-US" sz="1100" dirty="0">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CE2C1FEB-E92F-63AB-5786-8B6455543901}"/>
              </a:ext>
            </a:extLst>
          </p:cNvPr>
          <p:cNvSpPr/>
          <p:nvPr/>
        </p:nvSpPr>
        <p:spPr>
          <a:xfrm>
            <a:off x="4230207" y="4114761"/>
            <a:ext cx="192740" cy="147142"/>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4-B</a:t>
            </a:r>
            <a:endParaRPr kumimoji="1" lang="ja-JP" altLang="en-US" sz="1050" b="1" kern="0" dirty="0">
              <a:latin typeface="Meiryo UI" panose="020B0604030504040204" pitchFamily="50" charset="-128"/>
              <a:ea typeface="Meiryo UI" panose="020B0604030504040204" pitchFamily="50" charset="-128"/>
            </a:endParaRPr>
          </a:p>
        </p:txBody>
      </p:sp>
      <p:sp>
        <p:nvSpPr>
          <p:cNvPr id="70" name="正方形/長方形 364">
            <a:extLst>
              <a:ext uri="{FF2B5EF4-FFF2-40B4-BE49-F238E27FC236}">
                <a16:creationId xmlns:a16="http://schemas.microsoft.com/office/drawing/2014/main" id="{76C2893A-1D39-12AC-9E19-FD98298A53F0}"/>
              </a:ext>
            </a:extLst>
          </p:cNvPr>
          <p:cNvSpPr>
            <a:spLocks noChangeArrowheads="1"/>
          </p:cNvSpPr>
          <p:nvPr/>
        </p:nvSpPr>
        <p:spPr bwMode="gray">
          <a:xfrm>
            <a:off x="4304701" y="4548431"/>
            <a:ext cx="899658" cy="184412"/>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ウェルス</a:t>
            </a:r>
          </a:p>
        </p:txBody>
      </p:sp>
      <p:sp>
        <p:nvSpPr>
          <p:cNvPr id="71" name="正方形/長方形 364">
            <a:extLst>
              <a:ext uri="{FF2B5EF4-FFF2-40B4-BE49-F238E27FC236}">
                <a16:creationId xmlns:a16="http://schemas.microsoft.com/office/drawing/2014/main" id="{34890300-5565-900D-80AA-58C0215D38A3}"/>
              </a:ext>
            </a:extLst>
          </p:cNvPr>
          <p:cNvSpPr>
            <a:spLocks noChangeArrowheads="1"/>
          </p:cNvSpPr>
          <p:nvPr/>
        </p:nvSpPr>
        <p:spPr bwMode="gray">
          <a:xfrm>
            <a:off x="4304701" y="4798410"/>
            <a:ext cx="899658" cy="184412"/>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一般投資家</a:t>
            </a:r>
          </a:p>
        </p:txBody>
      </p:sp>
      <p:sp>
        <p:nvSpPr>
          <p:cNvPr id="75" name="正方形/長方形 364">
            <a:extLst>
              <a:ext uri="{FF2B5EF4-FFF2-40B4-BE49-F238E27FC236}">
                <a16:creationId xmlns:a16="http://schemas.microsoft.com/office/drawing/2014/main" id="{D9AE2F27-958F-449F-44B3-73D2CB3A8DA1}"/>
              </a:ext>
            </a:extLst>
          </p:cNvPr>
          <p:cNvSpPr>
            <a:spLocks noChangeArrowheads="1"/>
          </p:cNvSpPr>
          <p:nvPr/>
        </p:nvSpPr>
        <p:spPr bwMode="gray">
          <a:xfrm>
            <a:off x="4230207" y="3055205"/>
            <a:ext cx="1048644" cy="940561"/>
          </a:xfrm>
          <a:prstGeom prst="rect">
            <a:avLst/>
          </a:prstGeom>
          <a:solidFill>
            <a:schemeClr val="bg1"/>
          </a:solidFill>
          <a:ln w="9525" algn="ctr">
            <a:solidFill>
              <a:schemeClr val="bg2">
                <a:lumMod val="50000"/>
              </a:schemeClr>
            </a:solidFill>
            <a:miter lim="800000"/>
            <a:headEnd/>
            <a:tailEnd/>
          </a:ln>
          <a:effectLst/>
        </p:spPr>
        <p:txBody>
          <a:bodyPr vert="horz" wrap="none" lIns="36000" tIns="36000" rIns="36000" bIns="36000" anchor="ctr"/>
          <a:lstStyle/>
          <a:p>
            <a:pPr algn="ctr" eaLnBrk="0" hangingPunct="0">
              <a:spcBef>
                <a:spcPts val="0"/>
              </a:spcBef>
            </a:pPr>
            <a:r>
              <a:rPr lang="ja-JP" altLang="en-US" sz="1100" dirty="0">
                <a:latin typeface="Meiryo UI" panose="020B0604030504040204" pitchFamily="50" charset="-128"/>
                <a:ea typeface="Meiryo UI" panose="020B0604030504040204" pitchFamily="50" charset="-128"/>
              </a:rPr>
              <a:t>セールス＆</a:t>
            </a:r>
            <a:endParaRPr lang="en-US" altLang="ja-JP" sz="11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100" dirty="0">
                <a:latin typeface="Meiryo UI" panose="020B0604030504040204" pitchFamily="50" charset="-128"/>
                <a:ea typeface="Meiryo UI" panose="020B0604030504040204" pitchFamily="50" charset="-128"/>
              </a:rPr>
              <a:t>マーケティング</a:t>
            </a:r>
            <a:endParaRPr lang="en-US" altLang="ja-JP" sz="11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100" dirty="0">
                <a:latin typeface="Meiryo UI" panose="020B0604030504040204" pitchFamily="50" charset="-128"/>
                <a:ea typeface="Meiryo UI" panose="020B0604030504040204" pitchFamily="50" charset="-128"/>
              </a:rPr>
              <a:t>部門</a:t>
            </a:r>
            <a:endParaRPr lang="en-US" altLang="ja-JP" sz="1100" dirty="0">
              <a:latin typeface="Meiryo UI" panose="020B0604030504040204" pitchFamily="50" charset="-128"/>
              <a:ea typeface="Meiryo UI" panose="020B0604030504040204" pitchFamily="50" charset="-128"/>
            </a:endParaRPr>
          </a:p>
          <a:p>
            <a:pPr algn="ctr" eaLnBrk="0" hangingPunct="0">
              <a:spcBef>
                <a:spcPts val="0"/>
              </a:spcBef>
            </a:pPr>
            <a:r>
              <a:rPr lang="ja-JP" altLang="en-US" sz="1000" dirty="0">
                <a:latin typeface="Meiryo UI" panose="020B0604030504040204" pitchFamily="50" charset="-128"/>
                <a:ea typeface="Meiryo UI" panose="020B0604030504040204" pitchFamily="50" charset="-128"/>
              </a:rPr>
              <a:t>（銀行市場系を含む）</a:t>
            </a:r>
          </a:p>
        </p:txBody>
      </p:sp>
      <p:sp>
        <p:nvSpPr>
          <p:cNvPr id="76" name="正方形/長方形 75">
            <a:extLst>
              <a:ext uri="{FF2B5EF4-FFF2-40B4-BE49-F238E27FC236}">
                <a16:creationId xmlns:a16="http://schemas.microsoft.com/office/drawing/2014/main" id="{791D582B-40BE-8B7E-6C11-588DEEBB9B2B}"/>
              </a:ext>
            </a:extLst>
          </p:cNvPr>
          <p:cNvSpPr/>
          <p:nvPr/>
        </p:nvSpPr>
        <p:spPr>
          <a:xfrm>
            <a:off x="4230207" y="3055205"/>
            <a:ext cx="192740" cy="147142"/>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4-</a:t>
            </a:r>
            <a:r>
              <a:rPr lang="en-US" altLang="ja-JP" sz="1050" b="1" kern="0" dirty="0">
                <a:latin typeface="Meiryo UI" panose="020B0604030504040204" pitchFamily="50" charset="-128"/>
                <a:ea typeface="Meiryo UI" panose="020B0604030504040204" pitchFamily="50" charset="-128"/>
              </a:rPr>
              <a:t>A</a:t>
            </a:r>
            <a:endParaRPr kumimoji="1" lang="ja-JP" altLang="en-US" sz="1050" b="1" kern="0" dirty="0">
              <a:latin typeface="Meiryo UI" panose="020B0604030504040204" pitchFamily="50" charset="-128"/>
              <a:ea typeface="Meiryo UI" panose="020B0604030504040204" pitchFamily="50" charset="-128"/>
            </a:endParaRPr>
          </a:p>
        </p:txBody>
      </p:sp>
      <p:cxnSp>
        <p:nvCxnSpPr>
          <p:cNvPr id="85" name="直線矢印コネクタ 516">
            <a:extLst>
              <a:ext uri="{FF2B5EF4-FFF2-40B4-BE49-F238E27FC236}">
                <a16:creationId xmlns:a16="http://schemas.microsoft.com/office/drawing/2014/main" id="{5DEF2A68-65EB-EABE-EE4D-CFD22FA3EFCE}"/>
              </a:ext>
            </a:extLst>
          </p:cNvPr>
          <p:cNvCxnSpPr>
            <a:cxnSpLocks noChangeShapeType="1"/>
          </p:cNvCxnSpPr>
          <p:nvPr/>
        </p:nvCxnSpPr>
        <p:spPr bwMode="gray">
          <a:xfrm flipH="1" flipV="1">
            <a:off x="2862220" y="5250294"/>
            <a:ext cx="273186" cy="2716"/>
          </a:xfrm>
          <a:prstGeom prst="straightConnector1">
            <a:avLst/>
          </a:prstGeom>
          <a:noFill/>
          <a:ln w="28575" algn="ctr">
            <a:solidFill>
              <a:srgbClr val="0000CC"/>
            </a:solidFill>
            <a:round/>
            <a:headEnd type="arrow" w="med" len="med"/>
            <a:tailEnd type="none" w="med" len="med"/>
          </a:ln>
          <a:extLst>
            <a:ext uri="{909E8E84-426E-40DD-AFC4-6F175D3DCCD1}">
              <a14:hiddenFill xmlns:a14="http://schemas.microsoft.com/office/drawing/2010/main">
                <a:noFill/>
              </a14:hiddenFill>
            </a:ext>
          </a:extLst>
        </p:spPr>
      </p:cxnSp>
      <p:cxnSp>
        <p:nvCxnSpPr>
          <p:cNvPr id="86" name="直線矢印コネクタ 516">
            <a:extLst>
              <a:ext uri="{FF2B5EF4-FFF2-40B4-BE49-F238E27FC236}">
                <a16:creationId xmlns:a16="http://schemas.microsoft.com/office/drawing/2014/main" id="{792658EC-8A1E-4705-0C6C-E9DA5FD63B55}"/>
              </a:ext>
            </a:extLst>
          </p:cNvPr>
          <p:cNvCxnSpPr>
            <a:cxnSpLocks noChangeShapeType="1"/>
          </p:cNvCxnSpPr>
          <p:nvPr/>
        </p:nvCxnSpPr>
        <p:spPr bwMode="gray">
          <a:xfrm flipH="1">
            <a:off x="3889287" y="5250294"/>
            <a:ext cx="336990" cy="0"/>
          </a:xfrm>
          <a:prstGeom prst="straightConnector1">
            <a:avLst/>
          </a:prstGeom>
          <a:noFill/>
          <a:ln w="28575" algn="ctr">
            <a:solidFill>
              <a:srgbClr val="0000CC"/>
            </a:solidFill>
            <a:round/>
            <a:headEnd type="none" w="med" len="med"/>
            <a:tailEnd type="arrow" w="med" len="med"/>
          </a:ln>
          <a:extLst>
            <a:ext uri="{909E8E84-426E-40DD-AFC4-6F175D3DCCD1}">
              <a14:hiddenFill xmlns:a14="http://schemas.microsoft.com/office/drawing/2010/main">
                <a:noFill/>
              </a14:hiddenFill>
            </a:ext>
          </a:extLst>
        </p:spPr>
      </p:cxnSp>
      <p:sp>
        <p:nvSpPr>
          <p:cNvPr id="97" name="正方形/長方形 96">
            <a:extLst>
              <a:ext uri="{FF2B5EF4-FFF2-40B4-BE49-F238E27FC236}">
                <a16:creationId xmlns:a16="http://schemas.microsoft.com/office/drawing/2014/main" id="{A9B979F8-4DC7-1328-F0F0-5B822E8F1159}"/>
              </a:ext>
            </a:extLst>
          </p:cNvPr>
          <p:cNvSpPr/>
          <p:nvPr/>
        </p:nvSpPr>
        <p:spPr>
          <a:xfrm>
            <a:off x="2740859" y="4543554"/>
            <a:ext cx="120883" cy="113769"/>
          </a:xfrm>
          <a:prstGeom prst="rect">
            <a:avLst/>
          </a:prstGeom>
          <a:no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050" kern="0" dirty="0" err="1">
              <a:solidFill>
                <a:prstClr val="black"/>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E370EFB8-AC56-713E-B567-CA54F69C6263}"/>
              </a:ext>
            </a:extLst>
          </p:cNvPr>
          <p:cNvSpPr/>
          <p:nvPr/>
        </p:nvSpPr>
        <p:spPr>
          <a:xfrm>
            <a:off x="4139239" y="3023040"/>
            <a:ext cx="120883" cy="113769"/>
          </a:xfrm>
          <a:prstGeom prst="rect">
            <a:avLst/>
          </a:prstGeom>
          <a:no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ja-JP" altLang="en-US" sz="1050" kern="0" dirty="0" err="1">
              <a:solidFill>
                <a:prstClr val="black"/>
              </a:solidFill>
              <a:latin typeface="Meiryo UI" panose="020B0604030504040204" pitchFamily="50" charset="-128"/>
              <a:ea typeface="Meiryo UI" panose="020B0604030504040204" pitchFamily="50" charset="-128"/>
            </a:endParaRPr>
          </a:p>
        </p:txBody>
      </p:sp>
      <p:cxnSp>
        <p:nvCxnSpPr>
          <p:cNvPr id="108" name="直線矢印コネクタ 516">
            <a:extLst>
              <a:ext uri="{FF2B5EF4-FFF2-40B4-BE49-F238E27FC236}">
                <a16:creationId xmlns:a16="http://schemas.microsoft.com/office/drawing/2014/main" id="{51CB9FBC-20EC-2060-AE1A-351DC9D96296}"/>
              </a:ext>
            </a:extLst>
          </p:cNvPr>
          <p:cNvCxnSpPr>
            <a:cxnSpLocks noChangeShapeType="1"/>
            <a:stCxn id="129" idx="3"/>
          </p:cNvCxnSpPr>
          <p:nvPr/>
        </p:nvCxnSpPr>
        <p:spPr bwMode="gray">
          <a:xfrm flipV="1">
            <a:off x="3897729" y="3704681"/>
            <a:ext cx="240925" cy="0"/>
          </a:xfrm>
          <a:prstGeom prst="straightConnector1">
            <a:avLst/>
          </a:prstGeom>
          <a:noFill/>
          <a:ln w="28575" algn="ctr">
            <a:solidFill>
              <a:srgbClr val="0000CC"/>
            </a:solidFill>
            <a:round/>
            <a:headEnd type="arrow" w="med" len="med"/>
            <a:tailEnd type="arrow" w="med" len="med"/>
          </a:ln>
          <a:extLst>
            <a:ext uri="{909E8E84-426E-40DD-AFC4-6F175D3DCCD1}">
              <a14:hiddenFill xmlns:a14="http://schemas.microsoft.com/office/drawing/2010/main">
                <a:noFill/>
              </a14:hiddenFill>
            </a:ext>
          </a:extLst>
        </p:spPr>
      </p:cxnSp>
      <p:sp>
        <p:nvSpPr>
          <p:cNvPr id="116" name="正方形/長方形 115">
            <a:extLst>
              <a:ext uri="{FF2B5EF4-FFF2-40B4-BE49-F238E27FC236}">
                <a16:creationId xmlns:a16="http://schemas.microsoft.com/office/drawing/2014/main" id="{0233030A-A077-5CE7-1795-D21E1407F0D3}"/>
              </a:ext>
            </a:extLst>
          </p:cNvPr>
          <p:cNvSpPr/>
          <p:nvPr/>
        </p:nvSpPr>
        <p:spPr>
          <a:xfrm>
            <a:off x="1609017" y="3059278"/>
            <a:ext cx="192740" cy="147142"/>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1-A</a:t>
            </a:r>
            <a:endParaRPr kumimoji="1" lang="ja-JP" altLang="en-US" sz="1050" b="1" kern="0" dirty="0">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CE20DD7B-3E8A-3C6A-654B-79DDADEC0F4F}"/>
              </a:ext>
            </a:extLst>
          </p:cNvPr>
          <p:cNvSpPr/>
          <p:nvPr/>
        </p:nvSpPr>
        <p:spPr>
          <a:xfrm>
            <a:off x="1609017" y="3372695"/>
            <a:ext cx="192740" cy="147142"/>
          </a:xfrm>
          <a:prstGeom prst="rect">
            <a:avLst/>
          </a:prstGeom>
          <a:solidFill>
            <a:schemeClr val="accent2">
              <a:lumMod val="40000"/>
              <a:lumOff val="60000"/>
            </a:schemeClr>
          </a:solidFill>
          <a:ln w="12700" cap="flat" cmpd="sng" algn="ctr">
            <a:solidFill>
              <a:schemeClr val="accent1"/>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0"/>
              </a:spcBef>
              <a:spcAft>
                <a:spcPts val="300"/>
              </a:spcAft>
              <a:buClr>
                <a:prstClr val="black"/>
              </a:buClr>
              <a:tabLst>
                <a:tab pos="180975" algn="l"/>
              </a:tabLst>
            </a:pPr>
            <a:r>
              <a:rPr kumimoji="1" lang="en-US" altLang="ja-JP" sz="1050" b="1" kern="0" dirty="0">
                <a:latin typeface="Meiryo UI" panose="020B0604030504040204" pitchFamily="50" charset="-128"/>
                <a:ea typeface="Meiryo UI" panose="020B0604030504040204" pitchFamily="50" charset="-128"/>
              </a:rPr>
              <a:t>1-B</a:t>
            </a:r>
          </a:p>
        </p:txBody>
      </p:sp>
      <p:sp>
        <p:nvSpPr>
          <p:cNvPr id="5" name="正方形/長方形 364">
            <a:extLst>
              <a:ext uri="{FF2B5EF4-FFF2-40B4-BE49-F238E27FC236}">
                <a16:creationId xmlns:a16="http://schemas.microsoft.com/office/drawing/2014/main" id="{29F61732-0CFB-5F47-B27B-26AE33DE2995}"/>
              </a:ext>
            </a:extLst>
          </p:cNvPr>
          <p:cNvSpPr>
            <a:spLocks noChangeArrowheads="1"/>
          </p:cNvSpPr>
          <p:nvPr/>
        </p:nvSpPr>
        <p:spPr bwMode="gray">
          <a:xfrm>
            <a:off x="1609017" y="3686111"/>
            <a:ext cx="1038885" cy="282933"/>
          </a:xfrm>
          <a:prstGeom prst="rect">
            <a:avLst/>
          </a:prstGeom>
          <a:solidFill>
            <a:schemeClr val="bg1"/>
          </a:solidFill>
          <a:ln w="9525" algn="ctr">
            <a:solidFill>
              <a:schemeClr val="bg2">
                <a:lumMod val="50000"/>
              </a:schemeClr>
            </a:solidFill>
            <a:prstDash val="dash"/>
            <a:miter lim="800000"/>
            <a:headEnd/>
            <a:tailEnd/>
          </a:ln>
          <a:effectLst/>
        </p:spPr>
        <p:txBody>
          <a:bodyPr vert="horz" wrap="none" lIns="36000" tIns="36000" rIns="36000" bIns="36000" anchor="ctr"/>
          <a:lstStyle/>
          <a:p>
            <a:pPr algn="ctr" eaLnBrk="0" hangingPunct="0">
              <a:spcBef>
                <a:spcPts val="0"/>
              </a:spcBef>
            </a:pPr>
            <a:r>
              <a:rPr lang="ja-JP" altLang="en-US" sz="1100">
                <a:latin typeface="Meiryo UI" panose="020B0604030504040204" pitchFamily="50" charset="-128"/>
                <a:ea typeface="Meiryo UI" panose="020B0604030504040204" pitchFamily="50" charset="-128"/>
              </a:rPr>
              <a:t>自己勘定取引</a:t>
            </a:r>
            <a:endParaRPr lang="en-US" altLang="ja-JP" sz="1100" dirty="0">
              <a:latin typeface="Meiryo UI" panose="020B0604030504040204" pitchFamily="50" charset="-128"/>
              <a:ea typeface="Meiryo UI" panose="020B0604030504040204" pitchFamily="50" charset="-128"/>
            </a:endParaRPr>
          </a:p>
        </p:txBody>
      </p:sp>
      <p:sp>
        <p:nvSpPr>
          <p:cNvPr id="6" name="楕円 5">
            <a:extLst>
              <a:ext uri="{FF2B5EF4-FFF2-40B4-BE49-F238E27FC236}">
                <a16:creationId xmlns:a16="http://schemas.microsoft.com/office/drawing/2014/main" id="{39F99E61-07C6-5D93-2E22-1CEB8989C77C}"/>
              </a:ext>
            </a:extLst>
          </p:cNvPr>
          <p:cNvSpPr/>
          <p:nvPr/>
        </p:nvSpPr>
        <p:spPr>
          <a:xfrm>
            <a:off x="2058710" y="4179798"/>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b</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7" name="楕円 6">
            <a:extLst>
              <a:ext uri="{FF2B5EF4-FFF2-40B4-BE49-F238E27FC236}">
                <a16:creationId xmlns:a16="http://schemas.microsoft.com/office/drawing/2014/main" id="{7E0BD161-FC0A-BCE2-99A9-6F56D6BC8B8F}"/>
              </a:ext>
            </a:extLst>
          </p:cNvPr>
          <p:cNvSpPr/>
          <p:nvPr/>
        </p:nvSpPr>
        <p:spPr>
          <a:xfrm>
            <a:off x="3369452" y="2707036"/>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c</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9" name="楕円 8">
            <a:extLst>
              <a:ext uri="{FF2B5EF4-FFF2-40B4-BE49-F238E27FC236}">
                <a16:creationId xmlns:a16="http://schemas.microsoft.com/office/drawing/2014/main" id="{E810AD0A-C7E2-9DFA-0065-337A093DD634}"/>
              </a:ext>
            </a:extLst>
          </p:cNvPr>
          <p:cNvSpPr/>
          <p:nvPr/>
        </p:nvSpPr>
        <p:spPr>
          <a:xfrm>
            <a:off x="2728690" y="4178010"/>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e</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11" name="楕円 10">
            <a:extLst>
              <a:ext uri="{FF2B5EF4-FFF2-40B4-BE49-F238E27FC236}">
                <a16:creationId xmlns:a16="http://schemas.microsoft.com/office/drawing/2014/main" id="{579426AB-C2F4-FBD4-58DE-C2ED1F795FCB}"/>
              </a:ext>
            </a:extLst>
          </p:cNvPr>
          <p:cNvSpPr/>
          <p:nvPr/>
        </p:nvSpPr>
        <p:spPr>
          <a:xfrm>
            <a:off x="2906796" y="5024832"/>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f</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13" name="楕円 12">
            <a:extLst>
              <a:ext uri="{FF2B5EF4-FFF2-40B4-BE49-F238E27FC236}">
                <a16:creationId xmlns:a16="http://schemas.microsoft.com/office/drawing/2014/main" id="{91B3E999-4D08-A240-0294-ED280F84A6FD}"/>
              </a:ext>
            </a:extLst>
          </p:cNvPr>
          <p:cNvSpPr/>
          <p:nvPr/>
        </p:nvSpPr>
        <p:spPr>
          <a:xfrm>
            <a:off x="3440416" y="3967335"/>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g</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15" name="楕円 14">
            <a:extLst>
              <a:ext uri="{FF2B5EF4-FFF2-40B4-BE49-F238E27FC236}">
                <a16:creationId xmlns:a16="http://schemas.microsoft.com/office/drawing/2014/main" id="{21A217EA-2436-A993-9A12-C0D50FF03140}"/>
              </a:ext>
            </a:extLst>
          </p:cNvPr>
          <p:cNvSpPr/>
          <p:nvPr/>
        </p:nvSpPr>
        <p:spPr>
          <a:xfrm>
            <a:off x="3440416" y="4716163"/>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050" b="1" kern="0" dirty="0">
                <a:solidFill>
                  <a:schemeClr val="bg1"/>
                </a:solidFill>
                <a:latin typeface="Meiryo UI" panose="020B0604030504040204" pitchFamily="50" charset="-128"/>
                <a:ea typeface="Meiryo UI" panose="020B0604030504040204" pitchFamily="50" charset="-128"/>
              </a:rPr>
              <a:t>h</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16" name="楕円 15">
            <a:extLst>
              <a:ext uri="{FF2B5EF4-FFF2-40B4-BE49-F238E27FC236}">
                <a16:creationId xmlns:a16="http://schemas.microsoft.com/office/drawing/2014/main" id="{543279A7-0FB0-DC6D-56E0-3C26684CF599}"/>
              </a:ext>
            </a:extLst>
          </p:cNvPr>
          <p:cNvSpPr/>
          <p:nvPr/>
        </p:nvSpPr>
        <p:spPr>
          <a:xfrm>
            <a:off x="3933610" y="3473849"/>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050" b="1" kern="0" dirty="0">
                <a:solidFill>
                  <a:schemeClr val="bg1"/>
                </a:solidFill>
                <a:latin typeface="Meiryo UI" panose="020B0604030504040204" pitchFamily="50" charset="-128"/>
                <a:ea typeface="Meiryo UI" panose="020B0604030504040204" pitchFamily="50" charset="-128"/>
              </a:rPr>
              <a:t>d</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17" name="楕円 16">
            <a:extLst>
              <a:ext uri="{FF2B5EF4-FFF2-40B4-BE49-F238E27FC236}">
                <a16:creationId xmlns:a16="http://schemas.microsoft.com/office/drawing/2014/main" id="{AAAADC40-002F-9317-3ECC-79C265AAB39A}"/>
              </a:ext>
            </a:extLst>
          </p:cNvPr>
          <p:cNvSpPr/>
          <p:nvPr/>
        </p:nvSpPr>
        <p:spPr>
          <a:xfrm>
            <a:off x="3977927" y="5024832"/>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lang="en-US" altLang="ja-JP" sz="1050" b="1" kern="0" dirty="0">
                <a:solidFill>
                  <a:schemeClr val="bg1"/>
                </a:solidFill>
                <a:latin typeface="Meiryo UI" panose="020B0604030504040204" pitchFamily="50" charset="-128"/>
                <a:ea typeface="Meiryo UI" panose="020B0604030504040204" pitchFamily="50" charset="-128"/>
              </a:rPr>
              <a:t>j</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18" name="楕円 17">
            <a:extLst>
              <a:ext uri="{FF2B5EF4-FFF2-40B4-BE49-F238E27FC236}">
                <a16:creationId xmlns:a16="http://schemas.microsoft.com/office/drawing/2014/main" id="{CE305079-B637-A013-24C5-C1AD9E11DE18}"/>
              </a:ext>
            </a:extLst>
          </p:cNvPr>
          <p:cNvSpPr/>
          <p:nvPr/>
        </p:nvSpPr>
        <p:spPr>
          <a:xfrm>
            <a:off x="5388316" y="4365583"/>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err="1">
                <a:solidFill>
                  <a:schemeClr val="bg1"/>
                </a:solidFill>
                <a:latin typeface="Meiryo UI" panose="020B0604030504040204" pitchFamily="50" charset="-128"/>
                <a:ea typeface="Meiryo UI" panose="020B0604030504040204" pitchFamily="50" charset="-128"/>
              </a:rPr>
              <a:t>i</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23" name="楕円 22">
            <a:extLst>
              <a:ext uri="{FF2B5EF4-FFF2-40B4-BE49-F238E27FC236}">
                <a16:creationId xmlns:a16="http://schemas.microsoft.com/office/drawing/2014/main" id="{8751A140-1709-4E54-7959-6EF14E14672D}"/>
              </a:ext>
            </a:extLst>
          </p:cNvPr>
          <p:cNvSpPr/>
          <p:nvPr/>
        </p:nvSpPr>
        <p:spPr>
          <a:xfrm>
            <a:off x="1312377" y="3018356"/>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a</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4" name="Rectangle 1">
            <a:extLst>
              <a:ext uri="{FF2B5EF4-FFF2-40B4-BE49-F238E27FC236}">
                <a16:creationId xmlns:a16="http://schemas.microsoft.com/office/drawing/2014/main" id="{3EF25E8C-A815-96EF-9036-85AC63B690FF}"/>
              </a:ext>
            </a:extLst>
          </p:cNvPr>
          <p:cNvSpPr>
            <a:spLocks noChangeArrowheads="1"/>
          </p:cNvSpPr>
          <p:nvPr/>
        </p:nvSpPr>
        <p:spPr bwMode="auto">
          <a:xfrm>
            <a:off x="6616949" y="1684005"/>
            <a:ext cx="3011710" cy="5166995"/>
          </a:xfrm>
          <a:prstGeom prst="rect">
            <a:avLst/>
          </a:prstGeom>
          <a:noFill/>
          <a:ln>
            <a:noFill/>
          </a:ln>
          <a:effectLst/>
        </p:spPr>
        <p:txBody>
          <a:bodyPr vert="horz" wrap="square" lIns="91440" tIns="45720" rIns="91440" bIns="45720" numCol="1" anchor="ctr" anchorCtr="0" compatLnSpc="1">
            <a:prstTxWarp prst="textNoShape">
              <a:avLst/>
            </a:prstTxWarp>
            <a:no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ja-JP" sz="1050" b="1" i="0" u="none" strike="noStrike" cap="none" normalizeH="0" baseline="0" dirty="0">
                <a:ln>
                  <a:noFill/>
                </a:ln>
                <a:solidFill>
                  <a:schemeClr val="tx1"/>
                </a:solidFill>
                <a:effectLst/>
                <a:latin typeface="+mn-ea"/>
                <a:ea typeface="+mn-ea"/>
              </a:rPr>
              <a:t>機関投資家 → </a:t>
            </a:r>
            <a:r>
              <a:rPr kumimoji="0" lang="ja-JP" altLang="en-US" sz="1050" b="1" dirty="0">
                <a:latin typeface="+mn-ea"/>
                <a:ea typeface="+mn-ea"/>
              </a:rPr>
              <a:t>運用会社</a:t>
            </a:r>
            <a:br>
              <a:rPr kumimoji="0" lang="ja-JP" altLang="ja-JP" sz="1050" b="0" i="0" u="none" strike="noStrike" cap="none" normalizeH="0" baseline="0" dirty="0">
                <a:ln>
                  <a:noFill/>
                </a:ln>
                <a:solidFill>
                  <a:schemeClr val="tx1"/>
                </a:solidFill>
                <a:effectLst/>
                <a:latin typeface="+mn-ea"/>
                <a:ea typeface="+mn-ea"/>
              </a:rPr>
            </a:br>
            <a:r>
              <a:rPr kumimoji="0" lang="ja-JP" altLang="ja-JP" sz="1050" b="0" i="0" u="none" strike="noStrike" cap="none" normalizeH="0" baseline="0" dirty="0">
                <a:ln>
                  <a:noFill/>
                </a:ln>
                <a:solidFill>
                  <a:schemeClr val="tx1"/>
                </a:solidFill>
                <a:effectLst/>
                <a:latin typeface="+mn-ea"/>
                <a:ea typeface="+mn-ea"/>
              </a:rPr>
              <a:t>機関投資家は、資産運用を目的として</a:t>
            </a:r>
            <a:r>
              <a:rPr kumimoji="0" lang="ja-JP" altLang="en-US" sz="1050" b="0" i="0" u="none" strike="noStrike" cap="none" normalizeH="0" baseline="0" dirty="0">
                <a:ln>
                  <a:noFill/>
                </a:ln>
                <a:effectLst/>
                <a:latin typeface="+mn-ea"/>
                <a:ea typeface="+mn-ea"/>
              </a:rPr>
              <a:t>運用会社に資金を運用委託</a:t>
            </a:r>
            <a:endParaRPr kumimoji="0" lang="ja-JP" altLang="ja-JP" sz="1050" b="0" i="0" u="none" strike="noStrike" cap="none" normalizeH="0" baseline="0" dirty="0">
              <a:ln>
                <a:noFill/>
              </a:ln>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i="0" u="none" strike="noStrike" cap="none" normalizeH="0" baseline="0" dirty="0">
                <a:ln>
                  <a:noFill/>
                </a:ln>
                <a:solidFill>
                  <a:schemeClr val="tx1"/>
                </a:solidFill>
                <a:effectLst/>
                <a:latin typeface="+mn-ea"/>
                <a:ea typeface="+mn-ea"/>
              </a:rPr>
              <a:t>運用会社</a:t>
            </a:r>
            <a:r>
              <a:rPr kumimoji="0" lang="ja-JP" altLang="ja-JP" sz="1050" b="1" i="0" u="none" strike="noStrike" cap="none" normalizeH="0" baseline="0" dirty="0">
                <a:ln>
                  <a:noFill/>
                </a:ln>
                <a:solidFill>
                  <a:schemeClr val="tx1"/>
                </a:solidFill>
                <a:effectLst/>
                <a:latin typeface="+mn-ea"/>
                <a:ea typeface="+mn-ea"/>
              </a:rPr>
              <a:t> → </a:t>
            </a:r>
            <a:r>
              <a:rPr kumimoji="0" lang="ja-JP" altLang="en-US" sz="1050" b="1" i="0" u="none" strike="noStrike" cap="none" normalizeH="0" baseline="0" dirty="0">
                <a:ln>
                  <a:noFill/>
                </a:ln>
                <a:solidFill>
                  <a:schemeClr val="tx1"/>
                </a:solidFill>
                <a:effectLst/>
                <a:latin typeface="+mn-ea"/>
                <a:ea typeface="+mn-ea"/>
              </a:rPr>
              <a:t>資産管理銀行</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運用会社は、</a:t>
            </a:r>
            <a:r>
              <a:rPr kumimoji="0" lang="ja-JP" altLang="ja-JP" sz="1050" b="0" i="0" u="none" strike="noStrike" cap="none" normalizeH="0" baseline="0" dirty="0">
                <a:ln>
                  <a:noFill/>
                </a:ln>
                <a:solidFill>
                  <a:schemeClr val="tx1"/>
                </a:solidFill>
                <a:effectLst/>
                <a:latin typeface="+mn-ea"/>
                <a:ea typeface="+mn-ea"/>
              </a:rPr>
              <a:t>運用資産の保管・管理を</a:t>
            </a:r>
            <a:r>
              <a:rPr kumimoji="0" lang="ja-JP" altLang="en-US" sz="1050" b="0" i="0" u="none" strike="noStrike" cap="none" normalizeH="0" baseline="0" dirty="0">
                <a:ln>
                  <a:noFill/>
                </a:ln>
                <a:solidFill>
                  <a:schemeClr val="tx1"/>
                </a:solidFill>
                <a:effectLst/>
                <a:latin typeface="+mn-ea"/>
                <a:ea typeface="+mn-ea"/>
              </a:rPr>
              <a:t>資産管理銀行に資産管理委託</a:t>
            </a:r>
            <a:endParaRPr kumimoji="0" lang="ja-JP" altLang="ja-JP" sz="1050" b="0" i="0" u="none" strike="noStrike" cap="none" normalizeH="0" baseline="0" dirty="0">
              <a:ln>
                <a:noFill/>
              </a:ln>
              <a:solidFill>
                <a:schemeClr val="tx1"/>
              </a:solidFill>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dirty="0">
                <a:latin typeface="+mn-ea"/>
                <a:ea typeface="+mn-ea"/>
              </a:rPr>
              <a:t>運用会社</a:t>
            </a:r>
            <a:r>
              <a:rPr kumimoji="0" lang="ja-JP" altLang="ja-JP" sz="1050" b="1" i="0" u="none" strike="noStrike" cap="none" normalizeH="0" baseline="0" dirty="0">
                <a:ln>
                  <a:noFill/>
                </a:ln>
                <a:solidFill>
                  <a:schemeClr val="tx1"/>
                </a:solidFill>
                <a:effectLst/>
                <a:latin typeface="+mn-ea"/>
                <a:ea typeface="+mn-ea"/>
              </a:rPr>
              <a:t> ↔ </a:t>
            </a:r>
            <a:r>
              <a:rPr kumimoji="0" lang="ja-JP" altLang="en-US" sz="1050" b="1" i="0" u="none" strike="noStrike" cap="none" normalizeH="0" baseline="0" dirty="0">
                <a:ln>
                  <a:noFill/>
                </a:ln>
                <a:solidFill>
                  <a:schemeClr val="tx1"/>
                </a:solidFill>
                <a:effectLst/>
                <a:latin typeface="+mn-ea"/>
                <a:ea typeface="+mn-ea"/>
              </a:rPr>
              <a:t>証券会社</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運用会社</a:t>
            </a:r>
            <a:r>
              <a:rPr kumimoji="0" lang="ja-JP" altLang="ja-JP" sz="1050" b="0" i="0" u="none" strike="noStrike" cap="none" normalizeH="0" baseline="0" dirty="0">
                <a:ln>
                  <a:noFill/>
                </a:ln>
                <a:solidFill>
                  <a:schemeClr val="tx1"/>
                </a:solidFill>
                <a:effectLst/>
                <a:latin typeface="+mn-ea"/>
                <a:ea typeface="+mn-ea"/>
              </a:rPr>
              <a:t>は証券</a:t>
            </a:r>
            <a:r>
              <a:rPr kumimoji="0" lang="ja-JP" altLang="en-US" sz="1050" b="0" i="0" u="none" strike="noStrike" cap="none" normalizeH="0" baseline="0" dirty="0">
                <a:ln>
                  <a:noFill/>
                </a:ln>
                <a:solidFill>
                  <a:schemeClr val="tx1"/>
                </a:solidFill>
                <a:effectLst/>
                <a:latin typeface="+mn-ea"/>
                <a:ea typeface="+mn-ea"/>
              </a:rPr>
              <a:t>会社に</a:t>
            </a:r>
            <a:r>
              <a:rPr kumimoji="0" lang="ja-JP" altLang="ja-JP" sz="1050" b="0" i="0" u="none" strike="noStrike" cap="none" normalizeH="0" baseline="0" dirty="0">
                <a:ln>
                  <a:noFill/>
                </a:ln>
                <a:solidFill>
                  <a:schemeClr val="tx1"/>
                </a:solidFill>
                <a:effectLst/>
                <a:latin typeface="+mn-ea"/>
                <a:ea typeface="+mn-ea"/>
              </a:rPr>
              <a:t>売買注文を</a:t>
            </a:r>
            <a:r>
              <a:rPr kumimoji="0" lang="ja-JP" altLang="en-US" sz="1050" dirty="0">
                <a:latin typeface="+mn-ea"/>
                <a:ea typeface="+mn-ea"/>
              </a:rPr>
              <a:t>発注</a:t>
            </a:r>
            <a:endParaRPr kumimoji="0" lang="ja-JP" altLang="ja-JP" sz="1050" b="0" i="0" u="none" strike="noStrike" cap="none" normalizeH="0" baseline="0" dirty="0">
              <a:ln>
                <a:noFill/>
              </a:ln>
              <a:solidFill>
                <a:schemeClr val="tx1"/>
              </a:solidFill>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i="0" u="none" strike="noStrike" cap="none" normalizeH="0" baseline="0" dirty="0">
                <a:ln>
                  <a:noFill/>
                </a:ln>
                <a:solidFill>
                  <a:schemeClr val="tx1"/>
                </a:solidFill>
                <a:effectLst/>
                <a:latin typeface="+mn-ea"/>
                <a:ea typeface="+mn-ea"/>
              </a:rPr>
              <a:t>証券会社</a:t>
            </a:r>
            <a:r>
              <a:rPr kumimoji="0" lang="ja-JP" altLang="ja-JP" sz="1050" b="1" i="0" u="none" strike="noStrike" cap="none" normalizeH="0" baseline="0" dirty="0">
                <a:ln>
                  <a:noFill/>
                </a:ln>
                <a:solidFill>
                  <a:schemeClr val="tx1"/>
                </a:solidFill>
                <a:effectLst/>
                <a:latin typeface="+mn-ea"/>
                <a:ea typeface="+mn-ea"/>
              </a:rPr>
              <a:t> </a:t>
            </a:r>
            <a:r>
              <a:rPr kumimoji="0" lang="ja-JP" altLang="en-US" sz="1050" b="1" dirty="0">
                <a:latin typeface="+mn-ea"/>
                <a:ea typeface="+mn-ea"/>
              </a:rPr>
              <a:t>↔</a:t>
            </a:r>
            <a:r>
              <a:rPr kumimoji="0" lang="ja-JP" altLang="ja-JP" sz="1050" b="1" i="0" u="none" strike="noStrike" cap="none" normalizeH="0" baseline="0" dirty="0">
                <a:ln>
                  <a:noFill/>
                </a:ln>
                <a:solidFill>
                  <a:schemeClr val="tx1"/>
                </a:solidFill>
                <a:effectLst/>
                <a:latin typeface="+mn-ea"/>
                <a:ea typeface="+mn-ea"/>
              </a:rPr>
              <a:t> </a:t>
            </a:r>
            <a:r>
              <a:rPr kumimoji="0" lang="ja-JP" altLang="en-US" sz="1050" b="1" dirty="0">
                <a:latin typeface="+mn-ea"/>
                <a:ea typeface="+mn-ea"/>
              </a:rPr>
              <a:t>取引所</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取引所は証券会社からの注文をマッチング、証券会社は取引所を通じて売買を成立させる</a:t>
            </a: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i="0" u="none" strike="noStrike" cap="none" normalizeH="0" baseline="0" dirty="0">
                <a:ln>
                  <a:noFill/>
                </a:ln>
                <a:solidFill>
                  <a:schemeClr val="tx1"/>
                </a:solidFill>
                <a:effectLst/>
                <a:latin typeface="+mn-ea"/>
                <a:ea typeface="+mn-ea"/>
              </a:rPr>
              <a:t>証券会社</a:t>
            </a:r>
            <a:r>
              <a:rPr kumimoji="0" lang="ja-JP" altLang="ja-JP" sz="1050" b="1" i="0" u="none" strike="noStrike" cap="none" normalizeH="0" baseline="0" dirty="0">
                <a:ln>
                  <a:noFill/>
                </a:ln>
                <a:solidFill>
                  <a:schemeClr val="tx1"/>
                </a:solidFill>
                <a:effectLst/>
                <a:latin typeface="+mn-ea"/>
                <a:ea typeface="+mn-ea"/>
              </a:rPr>
              <a:t> → </a:t>
            </a:r>
            <a:r>
              <a:rPr kumimoji="0" lang="ja-JP" altLang="en-US" sz="1050" b="1" i="0" u="none" strike="noStrike" cap="none" normalizeH="0" baseline="0" dirty="0">
                <a:ln>
                  <a:noFill/>
                </a:ln>
                <a:solidFill>
                  <a:schemeClr val="tx1"/>
                </a:solidFill>
                <a:effectLst/>
                <a:latin typeface="+mn-ea"/>
                <a:ea typeface="+mn-ea"/>
              </a:rPr>
              <a:t>資産管理銀行</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証券会社は、取引の決済に必要な情報を資産管理銀行に連携</a:t>
            </a:r>
            <a:endParaRPr kumimoji="0" lang="ja-JP" altLang="ja-JP" sz="1050" b="0" i="0" u="none" strike="noStrike" cap="none" normalizeH="0" baseline="0" dirty="0">
              <a:ln>
                <a:noFill/>
              </a:ln>
              <a:solidFill>
                <a:schemeClr val="tx1"/>
              </a:solidFill>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i="0" u="none" strike="noStrike" cap="none" normalizeH="0" baseline="0" dirty="0">
                <a:ln>
                  <a:noFill/>
                </a:ln>
                <a:solidFill>
                  <a:schemeClr val="tx1"/>
                </a:solidFill>
                <a:effectLst/>
                <a:latin typeface="+mn-ea"/>
                <a:ea typeface="+mn-ea"/>
              </a:rPr>
              <a:t>資産管理銀行</a:t>
            </a:r>
            <a:r>
              <a:rPr kumimoji="0" lang="ja-JP" altLang="ja-JP" sz="1050" b="1" i="0" u="none" strike="noStrike" cap="none" normalizeH="0" baseline="0" dirty="0">
                <a:ln>
                  <a:noFill/>
                </a:ln>
                <a:solidFill>
                  <a:schemeClr val="tx1"/>
                </a:solidFill>
                <a:effectLst/>
                <a:latin typeface="+mn-ea"/>
                <a:ea typeface="+mn-ea"/>
              </a:rPr>
              <a:t> ↔ </a:t>
            </a:r>
            <a:r>
              <a:rPr kumimoji="0" lang="ja-JP" altLang="en-US" sz="1050" b="1" i="0" u="none" strike="noStrike" cap="none" normalizeH="0" baseline="0" dirty="0">
                <a:ln>
                  <a:noFill/>
                </a:ln>
                <a:solidFill>
                  <a:schemeClr val="tx1"/>
                </a:solidFill>
                <a:effectLst/>
                <a:latin typeface="+mn-ea"/>
                <a:ea typeface="+mn-ea"/>
              </a:rPr>
              <a:t>決済機関</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資産管理銀行は、決済機関と連携して</a:t>
            </a:r>
            <a:r>
              <a:rPr kumimoji="0" lang="ja-JP" altLang="ja-JP" sz="1050" b="0" i="0" u="none" strike="noStrike" cap="none" normalizeH="0" baseline="0" dirty="0">
                <a:ln>
                  <a:noFill/>
                </a:ln>
                <a:solidFill>
                  <a:schemeClr val="tx1"/>
                </a:solidFill>
                <a:effectLst/>
                <a:latin typeface="+mn-ea"/>
                <a:ea typeface="+mn-ea"/>
              </a:rPr>
              <a:t>証券振替や資金決済</a:t>
            </a:r>
            <a:r>
              <a:rPr kumimoji="0" lang="ja-JP" altLang="en-US" sz="1050" b="0" i="0" u="none" strike="noStrike" cap="none" normalizeH="0" baseline="0" dirty="0">
                <a:ln>
                  <a:noFill/>
                </a:ln>
                <a:solidFill>
                  <a:schemeClr val="tx1"/>
                </a:solidFill>
                <a:effectLst/>
                <a:latin typeface="+mn-ea"/>
                <a:ea typeface="+mn-ea"/>
              </a:rPr>
              <a:t>を行う</a:t>
            </a:r>
            <a:endParaRPr kumimoji="0" lang="ja-JP" altLang="ja-JP" sz="1050" b="0" i="0" u="none" strike="noStrike" cap="none" normalizeH="0" baseline="0" dirty="0">
              <a:ln>
                <a:noFill/>
              </a:ln>
              <a:solidFill>
                <a:schemeClr val="tx1"/>
              </a:solidFill>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ja-JP" sz="1050" b="1" i="0" u="none" strike="noStrike" cap="none" normalizeH="0" baseline="0" dirty="0">
                <a:ln>
                  <a:noFill/>
                </a:ln>
                <a:solidFill>
                  <a:schemeClr val="tx1"/>
                </a:solidFill>
                <a:effectLst/>
                <a:latin typeface="+mn-ea"/>
                <a:ea typeface="+mn-ea"/>
              </a:rPr>
              <a:t>取引所 </a:t>
            </a:r>
            <a:r>
              <a:rPr kumimoji="0" lang="ja-JP" altLang="en-US" sz="1050" b="1" dirty="0">
                <a:latin typeface="+mn-ea"/>
                <a:ea typeface="+mn-ea"/>
              </a:rPr>
              <a:t>→</a:t>
            </a:r>
            <a:r>
              <a:rPr kumimoji="0" lang="ja-JP" altLang="ja-JP" sz="1050" b="1" i="0" u="none" strike="noStrike" cap="none" normalizeH="0" baseline="0" dirty="0">
                <a:ln>
                  <a:noFill/>
                </a:ln>
                <a:solidFill>
                  <a:schemeClr val="tx1"/>
                </a:solidFill>
                <a:effectLst/>
                <a:latin typeface="+mn-ea"/>
                <a:ea typeface="+mn-ea"/>
              </a:rPr>
              <a:t> </a:t>
            </a:r>
            <a:r>
              <a:rPr kumimoji="0" lang="ja-JP" altLang="en-US" sz="1050" b="1" dirty="0">
                <a:latin typeface="+mn-ea"/>
                <a:ea typeface="+mn-ea"/>
              </a:rPr>
              <a:t>清算機関</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取引所で成立した売買は、清算機関に送られ、清算機関が取引双方の決済義務を引き受け</a:t>
            </a:r>
            <a:br>
              <a:rPr kumimoji="0" lang="en-US"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（信用リスクの軽減、決済の安全性を確保）</a:t>
            </a:r>
            <a:endParaRPr kumimoji="0" lang="ja-JP" altLang="ja-JP" sz="1050" b="0" i="0" u="none" strike="noStrike" cap="none" normalizeH="0" baseline="0" dirty="0">
              <a:ln>
                <a:noFill/>
              </a:ln>
              <a:solidFill>
                <a:schemeClr val="tx1"/>
              </a:solidFill>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i="0" u="none" strike="noStrike" cap="none" normalizeH="0" baseline="0" dirty="0">
                <a:ln>
                  <a:noFill/>
                </a:ln>
                <a:solidFill>
                  <a:schemeClr val="tx1"/>
                </a:solidFill>
                <a:effectLst/>
                <a:latin typeface="+mn-ea"/>
                <a:ea typeface="+mn-ea"/>
              </a:rPr>
              <a:t>清算機関</a:t>
            </a:r>
            <a:r>
              <a:rPr kumimoji="0" lang="ja-JP" altLang="ja-JP" sz="1050" b="1" i="0" u="none" strike="noStrike" cap="none" normalizeH="0" baseline="0" dirty="0">
                <a:ln>
                  <a:noFill/>
                </a:ln>
                <a:solidFill>
                  <a:schemeClr val="tx1"/>
                </a:solidFill>
                <a:effectLst/>
                <a:latin typeface="+mn-ea"/>
                <a:ea typeface="+mn-ea"/>
              </a:rPr>
              <a:t> → </a:t>
            </a:r>
            <a:r>
              <a:rPr kumimoji="0" lang="ja-JP" altLang="en-US" sz="1050" b="1" i="0" u="none" strike="noStrike" cap="none" normalizeH="0" baseline="0" dirty="0">
                <a:ln>
                  <a:noFill/>
                </a:ln>
                <a:solidFill>
                  <a:schemeClr val="tx1"/>
                </a:solidFill>
                <a:effectLst/>
                <a:latin typeface="+mn-ea"/>
                <a:ea typeface="+mn-ea"/>
              </a:rPr>
              <a:t>決済機関</a:t>
            </a:r>
            <a:br>
              <a:rPr kumimoji="0" lang="ja-JP" altLang="ja-JP" sz="1050" b="0" i="0" u="none" strike="noStrike" cap="none" normalizeH="0" baseline="0" dirty="0">
                <a:ln>
                  <a:noFill/>
                </a:ln>
                <a:solidFill>
                  <a:schemeClr val="tx1"/>
                </a:solidFill>
                <a:effectLst/>
                <a:latin typeface="+mn-ea"/>
                <a:ea typeface="+mn-ea"/>
              </a:rPr>
            </a:br>
            <a:r>
              <a:rPr kumimoji="0" lang="ja-JP" altLang="ja-JP" sz="1050" b="0" i="0" u="none" strike="noStrike" cap="none" normalizeH="0" baseline="0" dirty="0">
                <a:ln>
                  <a:noFill/>
                </a:ln>
                <a:solidFill>
                  <a:schemeClr val="tx1"/>
                </a:solidFill>
                <a:effectLst/>
                <a:latin typeface="+mn-ea"/>
                <a:ea typeface="+mn-ea"/>
              </a:rPr>
              <a:t>清算機関は取引の履行を保証し、</a:t>
            </a:r>
            <a:r>
              <a:rPr kumimoji="0" lang="ja-JP" altLang="en-US" sz="1050" b="0" i="0" u="none" strike="noStrike" cap="none" normalizeH="0" baseline="0" dirty="0">
                <a:ln>
                  <a:noFill/>
                </a:ln>
                <a:solidFill>
                  <a:schemeClr val="tx1"/>
                </a:solidFill>
                <a:effectLst/>
                <a:latin typeface="+mn-ea"/>
                <a:ea typeface="+mn-ea"/>
              </a:rPr>
              <a:t>決済機関に対して資金や証券の最終的な受渡を指示（</a:t>
            </a:r>
            <a:r>
              <a:rPr kumimoji="0" lang="ja-JP" altLang="en-US" sz="1050" dirty="0">
                <a:latin typeface="+mn-ea"/>
                <a:ea typeface="+mn-ea"/>
              </a:rPr>
              <a:t>取引の信用リスクの</a:t>
            </a:r>
            <a:r>
              <a:rPr kumimoji="0" lang="ja-JP" altLang="ja-JP" sz="1050" b="0" i="0" u="none" strike="noStrike" cap="none" normalizeH="0" baseline="0" dirty="0">
                <a:ln>
                  <a:noFill/>
                </a:ln>
                <a:solidFill>
                  <a:schemeClr val="tx1"/>
                </a:solidFill>
                <a:effectLst/>
                <a:latin typeface="+mn-ea"/>
                <a:ea typeface="+mn-ea"/>
              </a:rPr>
              <a:t>軽減</a:t>
            </a:r>
            <a:r>
              <a:rPr kumimoji="0" lang="ja-JP" altLang="en-US" sz="1050" b="0" i="0" u="none" strike="noStrike" cap="none" normalizeH="0" baseline="0" dirty="0">
                <a:ln>
                  <a:noFill/>
                </a:ln>
                <a:solidFill>
                  <a:schemeClr val="tx1"/>
                </a:solidFill>
                <a:effectLst/>
                <a:latin typeface="+mn-ea"/>
                <a:ea typeface="+mn-ea"/>
              </a:rPr>
              <a:t>）</a:t>
            </a:r>
            <a:endParaRPr kumimoji="0" lang="ja-JP" altLang="ja-JP" sz="1050" b="0" i="0" u="none" strike="noStrike" cap="none" normalizeH="0" baseline="0" dirty="0">
              <a:ln>
                <a:noFill/>
              </a:ln>
              <a:solidFill>
                <a:schemeClr val="tx1"/>
              </a:solidFill>
              <a:effectLst/>
              <a:latin typeface="+mn-ea"/>
              <a:ea typeface="+mn-ea"/>
            </a:endParaRP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ja-JP" sz="1050" b="1" i="0" u="none" strike="noStrike" cap="none" normalizeH="0" baseline="0" dirty="0">
                <a:ln>
                  <a:noFill/>
                </a:ln>
                <a:solidFill>
                  <a:schemeClr val="tx1"/>
                </a:solidFill>
                <a:effectLst/>
                <a:latin typeface="+mn-ea"/>
                <a:ea typeface="+mn-ea"/>
              </a:rPr>
              <a:t>個人投資家 → </a:t>
            </a:r>
            <a:r>
              <a:rPr kumimoji="0" lang="ja-JP" altLang="en-US" sz="1050" b="1" i="0" u="none" strike="noStrike" cap="none" normalizeH="0" baseline="0" dirty="0">
                <a:ln>
                  <a:noFill/>
                </a:ln>
                <a:solidFill>
                  <a:schemeClr val="tx1"/>
                </a:solidFill>
                <a:effectLst/>
                <a:latin typeface="+mn-ea"/>
                <a:ea typeface="+mn-ea"/>
              </a:rPr>
              <a:t>証券会社</a:t>
            </a:r>
            <a:br>
              <a:rPr kumimoji="0" lang="ja-JP" altLang="ja-JP" sz="1050" b="0" i="0" u="none" strike="noStrike" cap="none" normalizeH="0" baseline="0" dirty="0">
                <a:ln>
                  <a:noFill/>
                </a:ln>
                <a:solidFill>
                  <a:schemeClr val="tx1"/>
                </a:solidFill>
                <a:effectLst/>
                <a:latin typeface="+mn-ea"/>
                <a:ea typeface="+mn-ea"/>
              </a:rPr>
            </a:br>
            <a:r>
              <a:rPr kumimoji="0" lang="ja-JP" altLang="ja-JP" sz="1050" b="0" i="0" u="none" strike="noStrike" cap="none" normalizeH="0" baseline="0" dirty="0">
                <a:ln>
                  <a:noFill/>
                </a:ln>
                <a:solidFill>
                  <a:schemeClr val="tx1"/>
                </a:solidFill>
                <a:effectLst/>
                <a:latin typeface="+mn-ea"/>
                <a:ea typeface="+mn-ea"/>
              </a:rPr>
              <a:t>個人投資家は証券会社を通じて市場に参加し、株式や債券</a:t>
            </a:r>
            <a:r>
              <a:rPr kumimoji="0" lang="ja-JP" altLang="en-US" sz="1050" b="0" i="0" u="none" strike="noStrike" cap="none" normalizeH="0" baseline="0" dirty="0">
                <a:ln>
                  <a:noFill/>
                </a:ln>
                <a:solidFill>
                  <a:schemeClr val="tx1"/>
                </a:solidFill>
                <a:effectLst/>
                <a:latin typeface="+mn-ea"/>
                <a:ea typeface="+mn-ea"/>
              </a:rPr>
              <a:t>などの金融商品を</a:t>
            </a:r>
            <a:r>
              <a:rPr kumimoji="0" lang="ja-JP" altLang="ja-JP" sz="1050" b="0" i="0" u="none" strike="noStrike" cap="none" normalizeH="0" baseline="0" dirty="0">
                <a:ln>
                  <a:noFill/>
                </a:ln>
                <a:solidFill>
                  <a:schemeClr val="tx1"/>
                </a:solidFill>
                <a:effectLst/>
                <a:latin typeface="+mn-ea"/>
                <a:ea typeface="+mn-ea"/>
              </a:rPr>
              <a:t>購入</a:t>
            </a:r>
          </a:p>
          <a:p>
            <a:pPr marL="228600" marR="0" lvl="0" indent="-228600" algn="l" defTabSz="914400" rtl="0" eaLnBrk="0" fontAlgn="base" latinLnBrk="0" hangingPunct="0">
              <a:lnSpc>
                <a:spcPct val="100000"/>
              </a:lnSpc>
              <a:spcBef>
                <a:spcPct val="0"/>
              </a:spcBef>
              <a:spcAft>
                <a:spcPct val="0"/>
              </a:spcAft>
              <a:buClrTx/>
              <a:buSzTx/>
              <a:buFont typeface="+mj-lt"/>
              <a:buAutoNum type="alphaLcPeriod"/>
              <a:tabLst/>
            </a:pPr>
            <a:r>
              <a:rPr kumimoji="0" lang="ja-JP" altLang="en-US" sz="1050" b="1" i="0" u="none" strike="noStrike" cap="none" normalizeH="0" baseline="0" dirty="0">
                <a:ln>
                  <a:noFill/>
                </a:ln>
                <a:solidFill>
                  <a:schemeClr val="tx1"/>
                </a:solidFill>
                <a:effectLst/>
                <a:latin typeface="+mn-ea"/>
                <a:ea typeface="+mn-ea"/>
              </a:rPr>
              <a:t>証券会社</a:t>
            </a:r>
            <a:r>
              <a:rPr kumimoji="0" lang="ja-JP" altLang="ja-JP" sz="1050" b="1" i="0" u="none" strike="noStrike" cap="none" normalizeH="0" baseline="0" dirty="0">
                <a:ln>
                  <a:noFill/>
                </a:ln>
                <a:solidFill>
                  <a:schemeClr val="tx1"/>
                </a:solidFill>
                <a:effectLst/>
                <a:latin typeface="+mn-ea"/>
                <a:ea typeface="+mn-ea"/>
              </a:rPr>
              <a:t> → </a:t>
            </a:r>
            <a:r>
              <a:rPr kumimoji="0" lang="ja-JP" altLang="en-US" sz="1050" b="1" i="0" u="none" strike="noStrike" cap="none" normalizeH="0" baseline="0" dirty="0">
                <a:ln>
                  <a:noFill/>
                </a:ln>
                <a:solidFill>
                  <a:schemeClr val="tx1"/>
                </a:solidFill>
                <a:effectLst/>
                <a:latin typeface="+mn-ea"/>
                <a:ea typeface="+mn-ea"/>
              </a:rPr>
              <a:t>決済機関</a:t>
            </a:r>
            <a:br>
              <a:rPr kumimoji="0" lang="ja-JP" altLang="ja-JP" sz="1050" b="0" i="0" u="none" strike="noStrike" cap="none" normalizeH="0" baseline="0" dirty="0">
                <a:ln>
                  <a:noFill/>
                </a:ln>
                <a:solidFill>
                  <a:schemeClr val="tx1"/>
                </a:solidFill>
                <a:effectLst/>
                <a:latin typeface="+mn-ea"/>
                <a:ea typeface="+mn-ea"/>
              </a:rPr>
            </a:br>
            <a:r>
              <a:rPr kumimoji="0" lang="ja-JP" altLang="en-US" sz="1050" b="0" i="0" u="none" strike="noStrike" cap="none" normalizeH="0" baseline="0" dirty="0">
                <a:ln>
                  <a:noFill/>
                </a:ln>
                <a:solidFill>
                  <a:schemeClr val="tx1"/>
                </a:solidFill>
                <a:effectLst/>
                <a:latin typeface="+mn-ea"/>
                <a:ea typeface="+mn-ea"/>
              </a:rPr>
              <a:t>証券会社は、取引成立後に決済機関へ資金決済の指図を行う</a:t>
            </a:r>
            <a:endParaRPr kumimoji="0" lang="ja-JP" altLang="ja-JP" sz="1050" b="0" i="0" u="none" strike="noStrike" cap="none" normalizeH="0" baseline="0" dirty="0">
              <a:ln>
                <a:noFill/>
              </a:ln>
              <a:solidFill>
                <a:schemeClr val="tx1"/>
              </a:solidFill>
              <a:effectLst/>
              <a:latin typeface="+mn-ea"/>
              <a:ea typeface="+mn-ea"/>
            </a:endParaRPr>
          </a:p>
        </p:txBody>
      </p:sp>
      <p:sp>
        <p:nvSpPr>
          <p:cNvPr id="26" name="楕円 25">
            <a:extLst>
              <a:ext uri="{FF2B5EF4-FFF2-40B4-BE49-F238E27FC236}">
                <a16:creationId xmlns:a16="http://schemas.microsoft.com/office/drawing/2014/main" id="{64AA348F-6F71-AFF5-6639-FE2A24E068FA}"/>
              </a:ext>
            </a:extLst>
          </p:cNvPr>
          <p:cNvSpPr/>
          <p:nvPr/>
        </p:nvSpPr>
        <p:spPr>
          <a:xfrm>
            <a:off x="6672501" y="1788714"/>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a</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4875D3DC-3FFD-6D52-7105-00D03D95D9DC}"/>
              </a:ext>
            </a:extLst>
          </p:cNvPr>
          <p:cNvSpPr/>
          <p:nvPr/>
        </p:nvSpPr>
        <p:spPr>
          <a:xfrm>
            <a:off x="6672501" y="2741322"/>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c</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56416299-C5E2-46C3-3214-247847AAF31C}"/>
              </a:ext>
            </a:extLst>
          </p:cNvPr>
          <p:cNvSpPr/>
          <p:nvPr/>
        </p:nvSpPr>
        <p:spPr>
          <a:xfrm>
            <a:off x="6672501" y="3061412"/>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d</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30" name="楕円 29">
            <a:extLst>
              <a:ext uri="{FF2B5EF4-FFF2-40B4-BE49-F238E27FC236}">
                <a16:creationId xmlns:a16="http://schemas.microsoft.com/office/drawing/2014/main" id="{D9E6C259-6011-3378-3559-E6227B1AAF7F}"/>
              </a:ext>
            </a:extLst>
          </p:cNvPr>
          <p:cNvSpPr/>
          <p:nvPr/>
        </p:nvSpPr>
        <p:spPr>
          <a:xfrm>
            <a:off x="6672501" y="2253423"/>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b</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35" name="楕円 34">
            <a:extLst>
              <a:ext uri="{FF2B5EF4-FFF2-40B4-BE49-F238E27FC236}">
                <a16:creationId xmlns:a16="http://schemas.microsoft.com/office/drawing/2014/main" id="{242E5197-22B2-73E8-4C48-C3AD8BC3FA44}"/>
              </a:ext>
            </a:extLst>
          </p:cNvPr>
          <p:cNvSpPr/>
          <p:nvPr/>
        </p:nvSpPr>
        <p:spPr>
          <a:xfrm>
            <a:off x="6672501" y="3528302"/>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e</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42" name="楕円 41">
            <a:extLst>
              <a:ext uri="{FF2B5EF4-FFF2-40B4-BE49-F238E27FC236}">
                <a16:creationId xmlns:a16="http://schemas.microsoft.com/office/drawing/2014/main" id="{2C962205-288C-2842-CAF5-F93DAA9DCCCB}"/>
              </a:ext>
            </a:extLst>
          </p:cNvPr>
          <p:cNvSpPr/>
          <p:nvPr/>
        </p:nvSpPr>
        <p:spPr>
          <a:xfrm>
            <a:off x="6672501" y="4010771"/>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f</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46" name="楕円 45">
            <a:extLst>
              <a:ext uri="{FF2B5EF4-FFF2-40B4-BE49-F238E27FC236}">
                <a16:creationId xmlns:a16="http://schemas.microsoft.com/office/drawing/2014/main" id="{D0038173-B325-03F7-471E-F3E12843C415}"/>
              </a:ext>
            </a:extLst>
          </p:cNvPr>
          <p:cNvSpPr/>
          <p:nvPr/>
        </p:nvSpPr>
        <p:spPr>
          <a:xfrm>
            <a:off x="6672501" y="5132371"/>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h</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47" name="楕円 46">
            <a:extLst>
              <a:ext uri="{FF2B5EF4-FFF2-40B4-BE49-F238E27FC236}">
                <a16:creationId xmlns:a16="http://schemas.microsoft.com/office/drawing/2014/main" id="{79C6E661-A048-632B-3A5C-BD9B1A1F1D29}"/>
              </a:ext>
            </a:extLst>
          </p:cNvPr>
          <p:cNvSpPr/>
          <p:nvPr/>
        </p:nvSpPr>
        <p:spPr>
          <a:xfrm>
            <a:off x="6672501" y="4496039"/>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g</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48" name="楕円 47">
            <a:extLst>
              <a:ext uri="{FF2B5EF4-FFF2-40B4-BE49-F238E27FC236}">
                <a16:creationId xmlns:a16="http://schemas.microsoft.com/office/drawing/2014/main" id="{39B6F9F0-A1F8-2228-A254-2C7A3E407C32}"/>
              </a:ext>
            </a:extLst>
          </p:cNvPr>
          <p:cNvSpPr/>
          <p:nvPr/>
        </p:nvSpPr>
        <p:spPr>
          <a:xfrm>
            <a:off x="6672501" y="5782146"/>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err="1">
                <a:solidFill>
                  <a:schemeClr val="bg1"/>
                </a:solidFill>
                <a:latin typeface="Meiryo UI" panose="020B0604030504040204" pitchFamily="50" charset="-128"/>
                <a:ea typeface="Meiryo UI" panose="020B0604030504040204" pitchFamily="50" charset="-128"/>
              </a:rPr>
              <a:t>i</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49" name="楕円 48">
            <a:extLst>
              <a:ext uri="{FF2B5EF4-FFF2-40B4-BE49-F238E27FC236}">
                <a16:creationId xmlns:a16="http://schemas.microsoft.com/office/drawing/2014/main" id="{8D90FC70-E625-D096-DA41-1BADE8489FF2}"/>
              </a:ext>
            </a:extLst>
          </p:cNvPr>
          <p:cNvSpPr/>
          <p:nvPr/>
        </p:nvSpPr>
        <p:spPr>
          <a:xfrm>
            <a:off x="6672501" y="6264615"/>
            <a:ext cx="180000" cy="180000"/>
          </a:xfrm>
          <a:prstGeom prst="ellipse">
            <a:avLst/>
          </a:prstGeom>
          <a:solidFill>
            <a:srgbClr val="0000CC"/>
          </a:solidFill>
          <a:ln w="6350" cap="flat" cmpd="sng" algn="ctr">
            <a:solidFill>
              <a:srgbClr val="0000CC"/>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050" b="1" kern="0" dirty="0">
                <a:solidFill>
                  <a:schemeClr val="bg1"/>
                </a:solidFill>
                <a:latin typeface="Meiryo UI" panose="020B0604030504040204" pitchFamily="50" charset="-128"/>
                <a:ea typeface="Meiryo UI" panose="020B0604030504040204" pitchFamily="50" charset="-128"/>
              </a:rPr>
              <a:t>j</a:t>
            </a:r>
            <a:endParaRPr kumimoji="1" lang="ja-JP" altLang="en-US" sz="1050" b="1" kern="0" dirty="0" err="1">
              <a:solidFill>
                <a:schemeClr val="bg1"/>
              </a:solidFill>
              <a:latin typeface="Meiryo UI" panose="020B0604030504040204" pitchFamily="50" charset="-128"/>
              <a:ea typeface="Meiryo UI" panose="020B0604030504040204" pitchFamily="50" charset="-128"/>
            </a:endParaRPr>
          </a:p>
        </p:txBody>
      </p:sp>
      <p:sp>
        <p:nvSpPr>
          <p:cNvPr id="2" name="正方形/長方形 364">
            <a:extLst>
              <a:ext uri="{FF2B5EF4-FFF2-40B4-BE49-F238E27FC236}">
                <a16:creationId xmlns:a16="http://schemas.microsoft.com/office/drawing/2014/main" id="{34B8D090-EAAC-51EC-0FC1-7D112BBA7517}"/>
              </a:ext>
            </a:extLst>
          </p:cNvPr>
          <p:cNvSpPr>
            <a:spLocks noChangeArrowheads="1"/>
          </p:cNvSpPr>
          <p:nvPr/>
        </p:nvSpPr>
        <p:spPr bwMode="gray">
          <a:xfrm>
            <a:off x="4230207" y="5177504"/>
            <a:ext cx="1048644" cy="399912"/>
          </a:xfrm>
          <a:prstGeom prst="rect">
            <a:avLst/>
          </a:prstGeom>
          <a:solidFill>
            <a:schemeClr val="bg1"/>
          </a:solidFill>
          <a:ln w="9525" algn="ctr">
            <a:solidFill>
              <a:schemeClr val="bg2">
                <a:lumMod val="50000"/>
              </a:schemeClr>
            </a:solidFill>
            <a:miter lim="800000"/>
            <a:headEnd/>
            <a:tailEnd/>
          </a:ln>
          <a:effectLst/>
        </p:spPr>
        <p:txBody>
          <a:bodyPr vert="horz" lIns="36000" tIns="36000" rIns="36000" bIns="36000" anchor="ctr"/>
          <a:lstStyle/>
          <a:p>
            <a:pPr algn="ctr">
              <a:spcBef>
                <a:spcPts val="0"/>
              </a:spcBef>
            </a:pPr>
            <a:r>
              <a:rPr lang="ja-JP" altLang="en-US" sz="1100" dirty="0">
                <a:latin typeface="Meiryo UI"/>
                <a:ea typeface="Meiryo UI"/>
              </a:rPr>
              <a:t>バックオフィス部門</a:t>
            </a:r>
            <a:endParaRPr lang="ja-JP" altLang="en-US" sz="11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86737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オブジェクト 47" hidden="1">
            <a:extLst>
              <a:ext uri="{FF2B5EF4-FFF2-40B4-BE49-F238E27FC236}">
                <a16:creationId xmlns:a16="http://schemas.microsoft.com/office/drawing/2014/main" id="{98ADE04E-F42C-463E-852F-B73F79FC56B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48" name="オブジェクト 47" hidden="1">
                        <a:extLst>
                          <a:ext uri="{FF2B5EF4-FFF2-40B4-BE49-F238E27FC236}">
                            <a16:creationId xmlns:a16="http://schemas.microsoft.com/office/drawing/2014/main" id="{98ADE04E-F42C-463E-852F-B73F79FC56B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4" name="タイトル 43">
            <a:extLst>
              <a:ext uri="{FF2B5EF4-FFF2-40B4-BE49-F238E27FC236}">
                <a16:creationId xmlns:a16="http://schemas.microsoft.com/office/drawing/2014/main" id="{4611923F-092A-41E5-8354-665AA5721087}"/>
              </a:ext>
            </a:extLst>
          </p:cNvPr>
          <p:cNvSpPr>
            <a:spLocks noGrp="1"/>
          </p:cNvSpPr>
          <p:nvPr>
            <p:ph type="title"/>
          </p:nvPr>
        </p:nvSpPr>
        <p:spPr/>
        <p:txBody>
          <a:bodyPr vert="horz" lIns="0" tIns="0" rIns="0" bIns="0" rtlCol="0" anchor="b" anchorCtr="0">
            <a:noAutofit/>
          </a:bodyPr>
          <a:lstStyle/>
          <a:p>
            <a:r>
              <a:rPr lang="ja-JP" altLang="en-US" dirty="0"/>
              <a:t>伝統的資産</a:t>
            </a:r>
          </a:p>
        </p:txBody>
      </p:sp>
      <p:sp>
        <p:nvSpPr>
          <p:cNvPr id="45" name="テキスト プレースホルダー 44">
            <a:extLst>
              <a:ext uri="{FF2B5EF4-FFF2-40B4-BE49-F238E27FC236}">
                <a16:creationId xmlns:a16="http://schemas.microsoft.com/office/drawing/2014/main" id="{3594290B-3184-41A7-AE1A-E6D7B1F8812E}"/>
              </a:ext>
            </a:extLst>
          </p:cNvPr>
          <p:cNvSpPr>
            <a:spLocks noGrp="1"/>
          </p:cNvSpPr>
          <p:nvPr>
            <p:ph type="body" idx="12"/>
          </p:nvPr>
        </p:nvSpPr>
        <p:spPr/>
        <p:txBody>
          <a:bodyPr/>
          <a:lstStyle/>
          <a:p>
            <a:r>
              <a:rPr kumimoji="1" lang="ja-JP" altLang="en-US" dirty="0">
                <a:latin typeface="Meiryo UI" panose="020B0604030504040204" pitchFamily="50" charset="-128"/>
                <a:ea typeface="Meiryo UI" panose="020B0604030504040204" pitchFamily="50" charset="-128"/>
              </a:rPr>
              <a:t>株式・債券などの金融商品は伝統的資産と呼ばれ、市場で日々取引される高い流動性と価格の透明性を備えている。投資ポートフォリオの中核を構成する資産クラスであり、経済環境や金利動向と連動して価値が変動する。</a:t>
            </a:r>
            <a:endParaRPr lang="ja-JP" altLang="en-US" dirty="0">
              <a:latin typeface="Meiryo UI" panose="020B0604030504040204" pitchFamily="50" charset="-128"/>
              <a:ea typeface="Meiryo UI" panose="020B0604030504040204" pitchFamily="50" charset="-128"/>
            </a:endParaRPr>
          </a:p>
        </p:txBody>
      </p:sp>
      <p:sp>
        <p:nvSpPr>
          <p:cNvPr id="46" name="テキスト プレースホルダー 45">
            <a:extLst>
              <a:ext uri="{FF2B5EF4-FFF2-40B4-BE49-F238E27FC236}">
                <a16:creationId xmlns:a16="http://schemas.microsoft.com/office/drawing/2014/main" id="{B395747B-3095-4746-BC97-06178797B0F9}"/>
              </a:ext>
            </a:extLst>
          </p:cNvPr>
          <p:cNvSpPr>
            <a:spLocks noGrp="1"/>
          </p:cNvSpPr>
          <p:nvPr>
            <p:ph type="body" sz="quarter" idx="13"/>
          </p:nvPr>
        </p:nvSpPr>
        <p:spPr/>
        <p:txBody>
          <a:bodyPr/>
          <a:lstStyle/>
          <a:p>
            <a:r>
              <a:rPr lang="en-US" altLang="ja-JP" dirty="0"/>
              <a:t>3. </a:t>
            </a:r>
            <a:r>
              <a:rPr lang="ja-JP" altLang="en-US" dirty="0"/>
              <a:t>主な取扱い商品</a:t>
            </a:r>
          </a:p>
        </p:txBody>
      </p:sp>
      <p:sp>
        <p:nvSpPr>
          <p:cNvPr id="38" name="テキスト ボックス 102"/>
          <p:cNvSpPr txBox="1">
            <a:spLocks noChangeArrowheads="1"/>
          </p:cNvSpPr>
          <p:nvPr/>
        </p:nvSpPr>
        <p:spPr bwMode="gray">
          <a:xfrm>
            <a:off x="1377316" y="1765456"/>
            <a:ext cx="536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algn="ctr">
              <a:spcBef>
                <a:spcPct val="50000"/>
              </a:spcBef>
            </a:pPr>
            <a:r>
              <a:rPr kumimoji="1" lang="ja-JP" altLang="en-US" b="0" dirty="0">
                <a:latin typeface="Meiryo UI" panose="020B0604030504040204" pitchFamily="50" charset="-128"/>
                <a:ea typeface="Meiryo UI" panose="020B0604030504040204" pitchFamily="50" charset="-128"/>
              </a:rPr>
              <a:t>概要</a:t>
            </a:r>
          </a:p>
        </p:txBody>
      </p:sp>
      <p:sp>
        <p:nvSpPr>
          <p:cNvPr id="40" name="テキスト ボックス 102"/>
          <p:cNvSpPr txBox="1">
            <a:spLocks noChangeArrowheads="1"/>
          </p:cNvSpPr>
          <p:nvPr/>
        </p:nvSpPr>
        <p:spPr bwMode="gray">
          <a:xfrm>
            <a:off x="6803278" y="1765456"/>
            <a:ext cx="2628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algn="ctr">
              <a:spcBef>
                <a:spcPct val="50000"/>
              </a:spcBef>
            </a:pPr>
            <a:r>
              <a:rPr kumimoji="1" lang="ja-JP" altLang="en-US" b="0">
                <a:latin typeface="Meiryo UI" panose="020B0604030504040204" pitchFamily="50" charset="-128"/>
                <a:ea typeface="Meiryo UI" panose="020B0604030504040204" pitchFamily="50" charset="-128"/>
              </a:rPr>
              <a:t>種類</a:t>
            </a:r>
          </a:p>
        </p:txBody>
      </p:sp>
      <p:grpSp>
        <p:nvGrpSpPr>
          <p:cNvPr id="2" name="グループ化 1">
            <a:extLst>
              <a:ext uri="{FF2B5EF4-FFF2-40B4-BE49-F238E27FC236}">
                <a16:creationId xmlns:a16="http://schemas.microsoft.com/office/drawing/2014/main" id="{009FA7A9-1DA2-37F5-6BB0-D811A5ED912F}"/>
              </a:ext>
            </a:extLst>
          </p:cNvPr>
          <p:cNvGrpSpPr/>
          <p:nvPr/>
        </p:nvGrpSpPr>
        <p:grpSpPr>
          <a:xfrm>
            <a:off x="510434" y="2055220"/>
            <a:ext cx="8920845" cy="4457284"/>
            <a:chOff x="510434" y="1586244"/>
            <a:chExt cx="8920845" cy="4978514"/>
          </a:xfrm>
        </p:grpSpPr>
        <p:cxnSp>
          <p:nvCxnSpPr>
            <p:cNvPr id="37" name="直線コネクタ 101"/>
            <p:cNvCxnSpPr>
              <a:cxnSpLocks noChangeShapeType="1"/>
            </p:cNvCxnSpPr>
            <p:nvPr/>
          </p:nvCxnSpPr>
          <p:spPr bwMode="gray">
            <a:xfrm>
              <a:off x="1377315" y="1586244"/>
              <a:ext cx="5364000" cy="0"/>
            </a:xfrm>
            <a:prstGeom prst="line">
              <a:avLst/>
            </a:prstGeom>
            <a:noFill/>
            <a:ln w="6350" algn="ctr">
              <a:solidFill>
                <a:schemeClr val="tx1"/>
              </a:solidFill>
              <a:round/>
              <a:headEnd/>
              <a:tailEnd/>
            </a:ln>
            <a:extLst>
              <a:ext uri="{909E8E84-426E-40DD-AFC4-6F175D3DCCD1}">
                <a14:hiddenFill xmlns:a14="http://schemas.microsoft.com/office/drawing/2010/main">
                  <a:noFill/>
                </a14:hiddenFill>
              </a:ext>
            </a:extLst>
          </p:spPr>
        </p:cxnSp>
        <p:cxnSp>
          <p:nvCxnSpPr>
            <p:cNvPr id="39" name="直線コネクタ 101"/>
            <p:cNvCxnSpPr>
              <a:cxnSpLocks noChangeShapeType="1"/>
            </p:cNvCxnSpPr>
            <p:nvPr/>
          </p:nvCxnSpPr>
          <p:spPr bwMode="gray">
            <a:xfrm>
              <a:off x="6803277" y="1586244"/>
              <a:ext cx="2628000" cy="0"/>
            </a:xfrm>
            <a:prstGeom prst="line">
              <a:avLst/>
            </a:prstGeom>
            <a:noFill/>
            <a:ln w="6350" algn="ctr">
              <a:solidFill>
                <a:schemeClr val="tx1"/>
              </a:solidFill>
              <a:round/>
              <a:headEnd/>
              <a:tailEnd/>
            </a:ln>
            <a:extLst>
              <a:ext uri="{909E8E84-426E-40DD-AFC4-6F175D3DCCD1}">
                <a14:hiddenFill xmlns:a14="http://schemas.microsoft.com/office/drawing/2010/main">
                  <a:noFill/>
                </a14:hiddenFill>
              </a:ext>
            </a:extLst>
          </p:spPr>
        </p:cxnSp>
        <p:sp>
          <p:nvSpPr>
            <p:cNvPr id="31" name="テキスト ボックス 96"/>
            <p:cNvSpPr txBox="1">
              <a:spLocks noChangeArrowheads="1"/>
            </p:cNvSpPr>
            <p:nvPr/>
          </p:nvSpPr>
          <p:spPr bwMode="gray">
            <a:xfrm>
              <a:off x="1377316" y="5628758"/>
              <a:ext cx="5364000" cy="93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a:t>株式、債券、為替などの</a:t>
              </a:r>
              <a:r>
                <a:rPr lang="ja-JP" altLang="en-US" sz="1050" b="1">
                  <a:solidFill>
                    <a:schemeClr val="accent2">
                      <a:lumMod val="75000"/>
                    </a:schemeClr>
                  </a:solidFill>
                </a:rPr>
                <a:t>原資産から派生した金融商品</a:t>
              </a:r>
              <a:r>
                <a:rPr lang="ja-JP" altLang="en-US" sz="1050"/>
                <a:t>の総称</a:t>
              </a:r>
              <a:endParaRPr lang="en-US" altLang="ja-JP" sz="1050"/>
            </a:p>
            <a:p>
              <a:pPr marL="265113" indent="-180975">
                <a:lnSpc>
                  <a:spcPct val="100000"/>
                </a:lnSpc>
                <a:spcBef>
                  <a:spcPts val="300"/>
                </a:spcBef>
                <a:buFont typeface="Wingdings" panose="05000000000000000000" pitchFamily="2" charset="2"/>
                <a:buChar char="ü"/>
              </a:pPr>
              <a:r>
                <a:rPr lang="ja-JP" altLang="en-US" sz="900"/>
                <a:t>将来の定められた期日にあらかじめ決めた価格で原資産を</a:t>
              </a:r>
              <a:r>
                <a:rPr lang="ja-JP" altLang="en-US" sz="900" b="1">
                  <a:solidFill>
                    <a:schemeClr val="accent2">
                      <a:lumMod val="75000"/>
                    </a:schemeClr>
                  </a:solidFill>
                </a:rPr>
                <a:t>売買することを約束する</a:t>
              </a:r>
              <a:r>
                <a:rPr lang="ja-JP" altLang="en-US" sz="900"/>
                <a:t>取引</a:t>
              </a:r>
              <a:r>
                <a:rPr lang="en-US" altLang="ja-JP" sz="900" b="1">
                  <a:solidFill>
                    <a:schemeClr val="accent2">
                      <a:lumMod val="75000"/>
                    </a:schemeClr>
                  </a:solidFill>
                </a:rPr>
                <a:t>(</a:t>
              </a:r>
              <a:r>
                <a:rPr lang="ja-JP" altLang="en-US" sz="900" b="1">
                  <a:solidFill>
                    <a:schemeClr val="accent2">
                      <a:lumMod val="75000"/>
                    </a:schemeClr>
                  </a:solidFill>
                </a:rPr>
                <a:t>先物取引</a:t>
              </a:r>
              <a:r>
                <a:rPr lang="en-US" altLang="ja-JP" sz="900" b="1">
                  <a:solidFill>
                    <a:schemeClr val="accent2">
                      <a:lumMod val="75000"/>
                    </a:schemeClr>
                  </a:solidFill>
                </a:rPr>
                <a:t>)</a:t>
              </a:r>
            </a:p>
            <a:p>
              <a:pPr marL="265113" indent="-180975">
                <a:lnSpc>
                  <a:spcPct val="100000"/>
                </a:lnSpc>
                <a:spcBef>
                  <a:spcPts val="300"/>
                </a:spcBef>
                <a:buFont typeface="Wingdings" panose="05000000000000000000" pitchFamily="2" charset="2"/>
                <a:buChar char="ü"/>
              </a:pPr>
              <a:r>
                <a:rPr lang="ja-JP" altLang="en-US" sz="900"/>
                <a:t>将来の定められた期日にあらかじめ決めた価格で原資産を</a:t>
              </a:r>
              <a:r>
                <a:rPr lang="en-US" altLang="ja-JP" sz="900" b="1">
                  <a:solidFill>
                    <a:schemeClr val="accent2">
                      <a:lumMod val="75000"/>
                    </a:schemeClr>
                  </a:solidFill>
                </a:rPr>
                <a:t>『</a:t>
              </a:r>
              <a:r>
                <a:rPr lang="ja-JP" altLang="en-US" sz="900" b="1">
                  <a:solidFill>
                    <a:schemeClr val="accent2">
                      <a:lumMod val="75000"/>
                    </a:schemeClr>
                  </a:solidFill>
                </a:rPr>
                <a:t>売買できる権利</a:t>
              </a:r>
              <a:r>
                <a:rPr lang="en-US" altLang="ja-JP" sz="900" b="1">
                  <a:solidFill>
                    <a:schemeClr val="accent2">
                      <a:lumMod val="75000"/>
                    </a:schemeClr>
                  </a:solidFill>
                </a:rPr>
                <a:t>』</a:t>
              </a:r>
              <a:r>
                <a:rPr lang="ja-JP" altLang="en-US" sz="900" b="1">
                  <a:solidFill>
                    <a:schemeClr val="accent2">
                      <a:lumMod val="75000"/>
                    </a:schemeClr>
                  </a:solidFill>
                </a:rPr>
                <a:t>を売買する</a:t>
              </a:r>
              <a:r>
                <a:rPr lang="ja-JP" altLang="en-US" sz="900"/>
                <a:t>取引</a:t>
              </a:r>
              <a:r>
                <a:rPr lang="en-US" altLang="ja-JP" sz="900" b="1">
                  <a:solidFill>
                    <a:schemeClr val="accent2">
                      <a:lumMod val="75000"/>
                    </a:schemeClr>
                  </a:solidFill>
                </a:rPr>
                <a:t>(</a:t>
              </a:r>
              <a:r>
                <a:rPr lang="ja-JP" altLang="en-US" sz="900" b="1">
                  <a:solidFill>
                    <a:schemeClr val="accent2">
                      <a:lumMod val="75000"/>
                    </a:schemeClr>
                  </a:solidFill>
                </a:rPr>
                <a:t>オプション取引</a:t>
              </a:r>
              <a:r>
                <a:rPr lang="en-US" altLang="ja-JP" sz="900" b="1">
                  <a:solidFill>
                    <a:schemeClr val="accent2">
                      <a:lumMod val="75000"/>
                    </a:schemeClr>
                  </a:solidFill>
                </a:rPr>
                <a:t>)</a:t>
              </a:r>
              <a:endParaRPr lang="ja-JP" altLang="en-US" sz="900" b="1">
                <a:solidFill>
                  <a:schemeClr val="accent2">
                    <a:lumMod val="75000"/>
                  </a:schemeClr>
                </a:solidFill>
              </a:endParaRPr>
            </a:p>
            <a:p>
              <a:pPr marL="265113" indent="-180975">
                <a:lnSpc>
                  <a:spcPct val="100000"/>
                </a:lnSpc>
                <a:spcBef>
                  <a:spcPts val="300"/>
                </a:spcBef>
                <a:buFont typeface="Wingdings" panose="05000000000000000000" pitchFamily="2" charset="2"/>
                <a:buChar char="ü"/>
              </a:pPr>
              <a:r>
                <a:rPr lang="ja-JP" altLang="en-US" sz="900"/>
                <a:t>２者間で金利や通貨などのキャッシュフローを交換する取引</a:t>
              </a:r>
              <a:r>
                <a:rPr lang="en-US" altLang="ja-JP" sz="900" b="1">
                  <a:solidFill>
                    <a:schemeClr val="accent2">
                      <a:lumMod val="75000"/>
                    </a:schemeClr>
                  </a:solidFill>
                </a:rPr>
                <a:t>(</a:t>
              </a:r>
              <a:r>
                <a:rPr lang="ja-JP" altLang="en-US" sz="900" b="1">
                  <a:solidFill>
                    <a:schemeClr val="accent2">
                      <a:lumMod val="75000"/>
                    </a:schemeClr>
                  </a:solidFill>
                </a:rPr>
                <a:t>スワップ取引</a:t>
              </a:r>
              <a:r>
                <a:rPr lang="en-US" altLang="ja-JP" sz="900" b="1">
                  <a:solidFill>
                    <a:schemeClr val="accent2">
                      <a:lumMod val="75000"/>
                    </a:schemeClr>
                  </a:solidFill>
                </a:rPr>
                <a:t>)</a:t>
              </a:r>
              <a:endParaRPr lang="ja-JP" altLang="en-US" sz="900" b="1">
                <a:solidFill>
                  <a:schemeClr val="accent2">
                    <a:lumMod val="75000"/>
                  </a:schemeClr>
                </a:solidFill>
              </a:endParaRPr>
            </a:p>
          </p:txBody>
        </p:sp>
        <p:sp>
          <p:nvSpPr>
            <p:cNvPr id="4" name="テキスト ボックス 97"/>
            <p:cNvSpPr txBox="1">
              <a:spLocks noChangeArrowheads="1"/>
            </p:cNvSpPr>
            <p:nvPr/>
          </p:nvSpPr>
          <p:spPr bwMode="gray">
            <a:xfrm>
              <a:off x="510434" y="5628758"/>
              <a:ext cx="804378" cy="936000"/>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horz" wrap="none" lIns="36000" tIns="36000" rIns="36000" bIns="36000" anchor="ctr"/>
            <a:lstStyle>
              <a:defPPr>
                <a:defRPr lang="en-US"/>
              </a:defPPr>
              <a:lvl1pPr algn="ctr" eaLnBrk="0" hangingPunct="0">
                <a:spcBef>
                  <a:spcPts val="0"/>
                </a:spcBef>
                <a:defRPr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spcBef>
                  <a:spcPts val="300"/>
                </a:spcBef>
              </a:pPr>
              <a:r>
                <a:rPr lang="ja-JP" altLang="en-US" sz="1100"/>
                <a:t>金融派生商品</a:t>
              </a:r>
              <a:endParaRPr lang="en-US" altLang="ja-JP" sz="1100"/>
            </a:p>
            <a:p>
              <a:pPr>
                <a:spcBef>
                  <a:spcPts val="300"/>
                </a:spcBef>
              </a:pPr>
              <a:r>
                <a:rPr lang="ja-JP" altLang="en-US" sz="1100"/>
                <a:t>（デリバティブ）</a:t>
              </a:r>
              <a:endParaRPr lang="en-US" altLang="ja-JP" sz="1100"/>
            </a:p>
          </p:txBody>
        </p:sp>
        <p:sp>
          <p:nvSpPr>
            <p:cNvPr id="3" name="テキスト ボックス 96"/>
            <p:cNvSpPr txBox="1">
              <a:spLocks noChangeArrowheads="1"/>
            </p:cNvSpPr>
            <p:nvPr/>
          </p:nvSpPr>
          <p:spPr bwMode="gray">
            <a:xfrm>
              <a:off x="510434" y="1644692"/>
              <a:ext cx="370062" cy="3917896"/>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eaVert" wrap="none" lIns="36000" tIns="36000" rIns="36000" bIns="36000" anchor="ctr"/>
            <a:lstStyle>
              <a:defPPr>
                <a:defRPr lang="en-US"/>
              </a:defPPr>
              <a:lvl1pPr algn="ctr" eaLnBrk="0" hangingPunct="0">
                <a:spcBef>
                  <a:spcPts val="0"/>
                </a:spcBef>
                <a:defRPr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spcBef>
                  <a:spcPts val="300"/>
                </a:spcBef>
              </a:pPr>
              <a:r>
                <a:rPr lang="ja-JP" altLang="en-US" sz="1100"/>
                <a:t>現物商品</a:t>
              </a:r>
            </a:p>
          </p:txBody>
        </p:sp>
        <p:sp>
          <p:nvSpPr>
            <p:cNvPr id="14" name="テキスト ボックス 96"/>
            <p:cNvSpPr txBox="1">
              <a:spLocks noChangeArrowheads="1"/>
            </p:cNvSpPr>
            <p:nvPr/>
          </p:nvSpPr>
          <p:spPr bwMode="gray">
            <a:xfrm>
              <a:off x="944748" y="5455721"/>
              <a:ext cx="370062" cy="106867"/>
            </a:xfrm>
            <a:prstGeom prst="rect">
              <a:avLst/>
            </a:prstGeom>
            <a:noFill/>
            <a:ln>
              <a:noFill/>
            </a:ln>
          </p:spPr>
          <p:txBody>
            <a:bodyPr vert="eaVert" wrap="none" lIns="36000" tIns="36000" rIns="36000" bIns="36000" anchor="ctr"/>
            <a:lstStyle>
              <a:lvl1pPr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algn="ctr">
                <a:spcBef>
                  <a:spcPts val="300"/>
                </a:spcBef>
              </a:pPr>
              <a:r>
                <a:rPr kumimoji="1" lang="en-US" altLang="ja-JP" sz="1100" b="0">
                  <a:latin typeface="Meiryo UI" panose="020B0604030504040204" pitchFamily="50" charset="-128"/>
                  <a:ea typeface="Meiryo UI" panose="020B0604030504040204" pitchFamily="50" charset="-128"/>
                </a:rPr>
                <a:t>…</a:t>
              </a:r>
              <a:endParaRPr kumimoji="1" lang="ja-JP" altLang="en-US" sz="1100" b="0">
                <a:latin typeface="Meiryo UI" panose="020B0604030504040204" pitchFamily="50" charset="-128"/>
                <a:ea typeface="Meiryo UI" panose="020B0604030504040204" pitchFamily="50" charset="-128"/>
              </a:endParaRPr>
            </a:p>
          </p:txBody>
        </p:sp>
        <p:sp>
          <p:nvSpPr>
            <p:cNvPr id="28" name="テキスト ボックス 96"/>
            <p:cNvSpPr txBox="1">
              <a:spLocks noChangeArrowheads="1"/>
            </p:cNvSpPr>
            <p:nvPr/>
          </p:nvSpPr>
          <p:spPr bwMode="gray">
            <a:xfrm>
              <a:off x="1377316" y="1644691"/>
              <a:ext cx="5364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marL="87313" indent="-87313" algn="l" eaLnBrk="1" hangingPunct="1">
                <a:spcBef>
                  <a:spcPts val="300"/>
                </a:spcBef>
                <a:buFont typeface="Arial" panose="020B0604020202020204" pitchFamily="34" charset="0"/>
                <a:buChar char="•"/>
              </a:pPr>
              <a:r>
                <a:rPr lang="ja-JP" altLang="en-US" sz="1050">
                  <a:solidFill>
                    <a:schemeClr val="accent2">
                      <a:lumMod val="75000"/>
                    </a:schemeClr>
                  </a:solidFill>
                  <a:latin typeface="Meiryo UI" panose="020B0604030504040204" pitchFamily="50" charset="-128"/>
                  <a:ea typeface="Meiryo UI" panose="020B0604030504040204" pitchFamily="50" charset="-128"/>
                </a:rPr>
                <a:t>企業が</a:t>
              </a:r>
              <a:r>
                <a:rPr kumimoji="1" lang="ja-JP" altLang="en-US" sz="1050" b="0">
                  <a:latin typeface="Meiryo UI" panose="020B0604030504040204" pitchFamily="50" charset="-128"/>
                  <a:ea typeface="Meiryo UI" panose="020B0604030504040204" pitchFamily="50" charset="-128"/>
                </a:rPr>
                <a:t>資金調達のために</a:t>
              </a:r>
              <a:r>
                <a:rPr lang="ja-JP" altLang="en-US" sz="1050">
                  <a:solidFill>
                    <a:schemeClr val="accent2">
                      <a:lumMod val="75000"/>
                    </a:schemeClr>
                  </a:solidFill>
                  <a:latin typeface="Meiryo UI" panose="020B0604030504040204" pitchFamily="50" charset="-128"/>
                  <a:ea typeface="Meiryo UI" panose="020B0604030504040204" pitchFamily="50" charset="-128"/>
                </a:rPr>
                <a:t>、その企業のオーナーとしての権利</a:t>
              </a:r>
              <a:r>
                <a:rPr kumimoji="1" lang="ja-JP" altLang="en-US" sz="1050" b="0">
                  <a:latin typeface="Meiryo UI" panose="020B0604030504040204" pitchFamily="50" charset="-128"/>
                  <a:ea typeface="Meiryo UI" panose="020B0604030504040204" pitchFamily="50" charset="-128"/>
                </a:rPr>
                <a:t>を株式として発行する</a:t>
              </a:r>
              <a:endParaRPr kumimoji="1" lang="en-US" altLang="ja-JP" sz="1050" b="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a:latin typeface="Meiryo UI" panose="020B0604030504040204" pitchFamily="50" charset="-128"/>
                  <a:ea typeface="Meiryo UI" panose="020B0604030504040204" pitchFamily="50" charset="-128"/>
                </a:rPr>
                <a:t>株の発行した企業は所有者に対して</a:t>
              </a:r>
              <a:r>
                <a:rPr lang="ja-JP" altLang="en-US" sz="1050">
                  <a:solidFill>
                    <a:schemeClr val="accent2">
                      <a:lumMod val="75000"/>
                    </a:schemeClr>
                  </a:solidFill>
                  <a:latin typeface="Meiryo UI" panose="020B0604030504040204" pitchFamily="50" charset="-128"/>
                  <a:ea typeface="Meiryo UI" panose="020B0604030504040204" pitchFamily="50" charset="-128"/>
                </a:rPr>
                <a:t>返済義務はない</a:t>
              </a:r>
              <a:r>
                <a:rPr lang="ja-JP" altLang="en-US" sz="1050" b="0">
                  <a:latin typeface="Meiryo UI" panose="020B0604030504040204" pitchFamily="50" charset="-128"/>
                  <a:ea typeface="Meiryo UI" panose="020B0604030504040204" pitchFamily="50" charset="-128"/>
                </a:rPr>
                <a:t>ため、発行した企業が倒産した場合、価値はゼロになる可能性がある</a:t>
              </a:r>
              <a:endParaRPr lang="en-US" altLang="ja-JP" sz="1050" b="0">
                <a:latin typeface="Meiryo UI" panose="020B0604030504040204" pitchFamily="50" charset="-128"/>
                <a:ea typeface="Meiryo UI" panose="020B0604030504040204" pitchFamily="50" charset="-128"/>
              </a:endParaRPr>
            </a:p>
            <a:p>
              <a:pPr marL="87313" indent="-87313" algn="l" eaLnBrk="1" hangingPunct="1">
                <a:spcBef>
                  <a:spcPts val="300"/>
                </a:spcBef>
                <a:buFont typeface="Arial" panose="020B0604020202020204" pitchFamily="34" charset="0"/>
                <a:buChar char="•"/>
              </a:pPr>
              <a:r>
                <a:rPr lang="ja-JP" altLang="en-US" sz="1050" b="0">
                  <a:latin typeface="Meiryo UI" panose="020B0604030504040204" pitchFamily="50" charset="-128"/>
                  <a:ea typeface="Meiryo UI" panose="020B0604030504040204" pitchFamily="50" charset="-128"/>
                </a:rPr>
                <a:t>投資家は株を購入することで株主となり、</a:t>
              </a:r>
              <a:r>
                <a:rPr lang="ja-JP" altLang="en-US" sz="1050">
                  <a:solidFill>
                    <a:schemeClr val="accent2">
                      <a:lumMod val="75000"/>
                    </a:schemeClr>
                  </a:solidFill>
                  <a:latin typeface="Meiryo UI" panose="020B0604030504040204" pitchFamily="50" charset="-128"/>
                  <a:ea typeface="Meiryo UI" panose="020B0604030504040204" pitchFamily="50" charset="-128"/>
                </a:rPr>
                <a:t>配当金</a:t>
              </a:r>
              <a:r>
                <a:rPr lang="en-US" altLang="ja-JP" sz="1050">
                  <a:solidFill>
                    <a:schemeClr val="accent2">
                      <a:lumMod val="75000"/>
                    </a:schemeClr>
                  </a:solidFill>
                  <a:latin typeface="Meiryo UI" panose="020B0604030504040204" pitchFamily="50" charset="-128"/>
                  <a:ea typeface="Meiryo UI" panose="020B0604030504040204" pitchFamily="50" charset="-128"/>
                </a:rPr>
                <a:t>(</a:t>
              </a:r>
              <a:r>
                <a:rPr lang="ja-JP" altLang="en-US" sz="1050">
                  <a:solidFill>
                    <a:schemeClr val="accent2">
                      <a:lumMod val="75000"/>
                    </a:schemeClr>
                  </a:solidFill>
                  <a:latin typeface="Meiryo UI" panose="020B0604030504040204" pitchFamily="50" charset="-128"/>
                  <a:ea typeface="Meiryo UI" panose="020B0604030504040204" pitchFamily="50" charset="-128"/>
                </a:rPr>
                <a:t>インカムゲイン</a:t>
              </a:r>
              <a:r>
                <a:rPr lang="en-US" altLang="ja-JP" sz="1050">
                  <a:solidFill>
                    <a:schemeClr val="accent2">
                      <a:lumMod val="75000"/>
                    </a:schemeClr>
                  </a:solidFill>
                  <a:latin typeface="Meiryo UI" panose="020B0604030504040204" pitchFamily="50" charset="-128"/>
                  <a:ea typeface="Meiryo UI" panose="020B0604030504040204" pitchFamily="50" charset="-128"/>
                </a:rPr>
                <a:t>)</a:t>
              </a:r>
              <a:r>
                <a:rPr lang="ja-JP" altLang="en-US" sz="1050">
                  <a:solidFill>
                    <a:schemeClr val="accent2">
                      <a:lumMod val="75000"/>
                    </a:schemeClr>
                  </a:solidFill>
                  <a:latin typeface="Meiryo UI" panose="020B0604030504040204" pitchFamily="50" charset="-128"/>
                  <a:ea typeface="Meiryo UI" panose="020B0604030504040204" pitchFamily="50" charset="-128"/>
                </a:rPr>
                <a:t>や株主優待</a:t>
              </a:r>
              <a:r>
                <a:rPr lang="ja-JP" altLang="en-US" sz="1050" b="0">
                  <a:latin typeface="Meiryo UI" panose="020B0604030504040204" pitchFamily="50" charset="-128"/>
                  <a:ea typeface="Meiryo UI" panose="020B0604030504040204" pitchFamily="50" charset="-128"/>
                </a:rPr>
                <a:t>などを得られる</a:t>
              </a:r>
              <a:endParaRPr lang="en-US" altLang="ja-JP" sz="1050" b="0">
                <a:latin typeface="Meiryo UI" panose="020B0604030504040204" pitchFamily="50" charset="-128"/>
                <a:ea typeface="Meiryo UI" panose="020B0604030504040204" pitchFamily="50" charset="-128"/>
              </a:endParaRPr>
            </a:p>
            <a:p>
              <a:pPr marL="87313" indent="-87313" algn="l" eaLnBrk="1" hangingPunct="1">
                <a:spcBef>
                  <a:spcPts val="300"/>
                </a:spcBef>
                <a:buFont typeface="Arial" panose="020B0604020202020204" pitchFamily="34" charset="0"/>
                <a:buChar char="•"/>
              </a:pPr>
              <a:r>
                <a:rPr lang="ja-JP" altLang="en-US" sz="1050" b="0">
                  <a:latin typeface="Meiryo UI" panose="020B0604030504040204" pitchFamily="50" charset="-128"/>
                  <a:ea typeface="Meiryo UI" panose="020B0604030504040204" pitchFamily="50" charset="-128"/>
                </a:rPr>
                <a:t>株価は企業の業績などにより変動するため、</a:t>
              </a:r>
              <a:r>
                <a:rPr lang="ja-JP" altLang="en-US" sz="1050">
                  <a:solidFill>
                    <a:schemeClr val="accent2">
                      <a:lumMod val="75000"/>
                    </a:schemeClr>
                  </a:solidFill>
                  <a:latin typeface="Meiryo UI" panose="020B0604030504040204" pitchFamily="50" charset="-128"/>
                  <a:ea typeface="Meiryo UI" panose="020B0604030504040204" pitchFamily="50" charset="-128"/>
                </a:rPr>
                <a:t>購入時と売却時の差額で利益</a:t>
              </a:r>
              <a:r>
                <a:rPr lang="en-US" altLang="ja-JP" sz="1050">
                  <a:solidFill>
                    <a:schemeClr val="accent2">
                      <a:lumMod val="75000"/>
                    </a:schemeClr>
                  </a:solidFill>
                  <a:latin typeface="Meiryo UI" panose="020B0604030504040204" pitchFamily="50" charset="-128"/>
                  <a:ea typeface="Meiryo UI" panose="020B0604030504040204" pitchFamily="50" charset="-128"/>
                </a:rPr>
                <a:t>(</a:t>
              </a:r>
              <a:r>
                <a:rPr lang="ja-JP" altLang="en-US" sz="1050">
                  <a:solidFill>
                    <a:schemeClr val="accent2">
                      <a:lumMod val="75000"/>
                    </a:schemeClr>
                  </a:solidFill>
                  <a:latin typeface="Meiryo UI" panose="020B0604030504040204" pitchFamily="50" charset="-128"/>
                  <a:ea typeface="Meiryo UI" panose="020B0604030504040204" pitchFamily="50" charset="-128"/>
                </a:rPr>
                <a:t>キャピタルゲイン</a:t>
              </a:r>
              <a:r>
                <a:rPr lang="en-US" altLang="ja-JP" sz="1050">
                  <a:solidFill>
                    <a:schemeClr val="accent2">
                      <a:lumMod val="75000"/>
                    </a:schemeClr>
                  </a:solidFill>
                  <a:latin typeface="Meiryo UI" panose="020B0604030504040204" pitchFamily="50" charset="-128"/>
                  <a:ea typeface="Meiryo UI" panose="020B0604030504040204" pitchFamily="50" charset="-128"/>
                </a:rPr>
                <a:t>)</a:t>
              </a:r>
              <a:r>
                <a:rPr lang="ja-JP" altLang="en-US" sz="1050" b="0">
                  <a:latin typeface="Meiryo UI" panose="020B0604030504040204" pitchFamily="50" charset="-128"/>
                  <a:ea typeface="Meiryo UI" panose="020B0604030504040204" pitchFamily="50" charset="-128"/>
                </a:rPr>
                <a:t>を得られる</a:t>
              </a:r>
              <a:endParaRPr lang="en-US" altLang="ja-JP" sz="1050" b="0">
                <a:latin typeface="Meiryo UI" panose="020B0604030504040204" pitchFamily="50" charset="-128"/>
                <a:ea typeface="Meiryo UI" panose="020B0604030504040204" pitchFamily="50" charset="-128"/>
              </a:endParaRPr>
            </a:p>
          </p:txBody>
        </p:sp>
        <p:sp>
          <p:nvSpPr>
            <p:cNvPr id="34" name="テキスト ボックス 96"/>
            <p:cNvSpPr txBox="1">
              <a:spLocks noChangeArrowheads="1"/>
            </p:cNvSpPr>
            <p:nvPr/>
          </p:nvSpPr>
          <p:spPr bwMode="gray">
            <a:xfrm>
              <a:off x="6803278" y="1644691"/>
              <a:ext cx="2628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dirty="0"/>
                <a:t>国内株式</a:t>
              </a:r>
              <a:endParaRPr lang="en-US" altLang="ja-JP" sz="1050" dirty="0"/>
            </a:p>
            <a:p>
              <a:pPr>
                <a:lnSpc>
                  <a:spcPct val="100000"/>
                </a:lnSpc>
                <a:spcBef>
                  <a:spcPts val="300"/>
                </a:spcBef>
              </a:pPr>
              <a:r>
                <a:rPr lang="ja-JP" altLang="en-US" sz="1050" dirty="0"/>
                <a:t>外国株式</a:t>
              </a:r>
              <a:br>
                <a:rPr lang="en-US" altLang="ja-JP" sz="1050" dirty="0"/>
              </a:br>
              <a:r>
                <a:rPr lang="en-US" altLang="ja-JP" sz="1050" dirty="0"/>
                <a:t>(</a:t>
              </a:r>
              <a:r>
                <a:rPr lang="ja-JP" altLang="en-US" sz="1050" dirty="0"/>
                <a:t>米国株、中国株、など</a:t>
              </a:r>
              <a:r>
                <a:rPr lang="en-US" altLang="ja-JP" sz="1050" dirty="0"/>
                <a:t>)</a:t>
              </a:r>
            </a:p>
          </p:txBody>
        </p:sp>
        <p:sp>
          <p:nvSpPr>
            <p:cNvPr id="5" name="テキスト ボックス 96"/>
            <p:cNvSpPr txBox="1">
              <a:spLocks noChangeArrowheads="1"/>
            </p:cNvSpPr>
            <p:nvPr/>
          </p:nvSpPr>
          <p:spPr bwMode="gray">
            <a:xfrm>
              <a:off x="944749" y="1644691"/>
              <a:ext cx="370062" cy="1224000"/>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eaVert" wrap="none" lIns="36000" tIns="36000" rIns="36000" bIns="36000" anchor="ctr"/>
            <a:lstStyle>
              <a:defPPr>
                <a:defRPr lang="en-US"/>
              </a:defPPr>
              <a:lvl1pPr algn="ctr" eaLnBrk="0" hangingPunct="0">
                <a:spcBef>
                  <a:spcPts val="0"/>
                </a:spcBef>
                <a:defRPr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spcBef>
                  <a:spcPts val="300"/>
                </a:spcBef>
              </a:pPr>
              <a:r>
                <a:rPr lang="ja-JP" altLang="en-US" sz="1100"/>
                <a:t>株式</a:t>
              </a:r>
              <a:endParaRPr lang="en-US" altLang="ja-JP" sz="1100"/>
            </a:p>
          </p:txBody>
        </p:sp>
        <p:sp>
          <p:nvSpPr>
            <p:cNvPr id="29" name="テキスト ボックス 96"/>
            <p:cNvSpPr txBox="1">
              <a:spLocks noChangeArrowheads="1"/>
            </p:cNvSpPr>
            <p:nvPr/>
          </p:nvSpPr>
          <p:spPr bwMode="gray">
            <a:xfrm>
              <a:off x="1377316" y="2926639"/>
              <a:ext cx="5364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marL="87313" indent="-87313" eaLnBrk="1" hangingPunct="1">
                <a:spcBef>
                  <a:spcPts val="300"/>
                </a:spcBef>
                <a:buFont typeface="Arial" panose="020B0604020202020204" pitchFamily="34" charset="0"/>
                <a:buChar char="•"/>
              </a:pPr>
              <a:r>
                <a:rPr lang="ja-JP" altLang="en-US" sz="1050" dirty="0">
                  <a:solidFill>
                    <a:schemeClr val="accent2">
                      <a:lumMod val="75000"/>
                    </a:schemeClr>
                  </a:solidFill>
                  <a:latin typeface="Meiryo UI" panose="020B0604030504040204" pitchFamily="50" charset="-128"/>
                  <a:ea typeface="Meiryo UI" panose="020B0604030504040204" pitchFamily="50" charset="-128"/>
                </a:rPr>
                <a:t>国、地方公共団体、企業などが</a:t>
              </a:r>
              <a:r>
                <a:rPr kumimoji="1" lang="ja-JP" altLang="en-US" sz="1050" b="0" dirty="0">
                  <a:latin typeface="Meiryo UI" panose="020B0604030504040204" pitchFamily="50" charset="-128"/>
                  <a:ea typeface="Meiryo UI" panose="020B0604030504040204" pitchFamily="50" charset="-128"/>
                </a:rPr>
                <a:t>資金調達のために、</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借入証券として</a:t>
              </a:r>
              <a:r>
                <a:rPr lang="ja-JP" altLang="en-US" sz="1050" b="0" dirty="0">
                  <a:latin typeface="Meiryo UI" panose="020B0604030504040204" pitchFamily="50" charset="-128"/>
                  <a:ea typeface="Meiryo UI" panose="020B0604030504040204" pitchFamily="50" charset="-128"/>
                </a:rPr>
                <a:t>債券を発行する</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債券ごとに</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利率</a:t>
              </a:r>
              <a:r>
                <a:rPr lang="en-US" altLang="ja-JP" sz="1050" b="0" dirty="0">
                  <a:latin typeface="Meiryo UI" panose="020B0604030504040204" pitchFamily="50" charset="-128"/>
                  <a:ea typeface="Meiryo UI" panose="020B0604030504040204" pitchFamily="50" charset="-128"/>
                </a:rPr>
                <a:t>(</a:t>
              </a:r>
              <a:r>
                <a:rPr lang="ja-JP" altLang="en-US" sz="1050" b="0" dirty="0">
                  <a:latin typeface="Meiryo UI" panose="020B0604030504040204" pitchFamily="50" charset="-128"/>
                  <a:ea typeface="Meiryo UI" panose="020B0604030504040204" pitchFamily="50" charset="-128"/>
                </a:rPr>
                <a:t>額面金額に対し毎年受け取る利息の割合</a:t>
              </a:r>
              <a:r>
                <a:rPr lang="en-US" altLang="ja-JP" sz="1050" b="0" dirty="0">
                  <a:latin typeface="Meiryo UI" panose="020B0604030504040204" pitchFamily="50" charset="-128"/>
                  <a:ea typeface="Meiryo UI" panose="020B0604030504040204" pitchFamily="50" charset="-128"/>
                </a:rPr>
                <a:t>)</a:t>
              </a:r>
              <a:r>
                <a:rPr lang="ja-JP" altLang="en-US" sz="1050" b="0" dirty="0">
                  <a:latin typeface="Meiryo UI" panose="020B0604030504040204" pitchFamily="50" charset="-128"/>
                  <a:ea typeface="Meiryo UI" panose="020B0604030504040204" pitchFamily="50" charset="-128"/>
                </a:rPr>
                <a:t>、</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利払日</a:t>
              </a:r>
              <a:r>
                <a:rPr lang="en-US" altLang="ja-JP" sz="1050" b="0" dirty="0">
                  <a:latin typeface="Meiryo UI" panose="020B0604030504040204" pitchFamily="50" charset="-128"/>
                  <a:ea typeface="Meiryo UI" panose="020B0604030504040204" pitchFamily="50" charset="-128"/>
                </a:rPr>
                <a:t>(</a:t>
              </a:r>
              <a:r>
                <a:rPr lang="ja-JP" altLang="en-US" sz="1050" b="0" dirty="0">
                  <a:latin typeface="Meiryo UI" panose="020B0604030504040204" pitchFamily="50" charset="-128"/>
                  <a:ea typeface="Meiryo UI" panose="020B0604030504040204" pitchFamily="50" charset="-128"/>
                </a:rPr>
                <a:t>債券の利息が支払われる日</a:t>
              </a:r>
              <a:r>
                <a:rPr lang="en-US" altLang="ja-JP" sz="1050" b="0" dirty="0">
                  <a:latin typeface="Meiryo UI" panose="020B0604030504040204" pitchFamily="50" charset="-128"/>
                  <a:ea typeface="Meiryo UI" panose="020B0604030504040204" pitchFamily="50" charset="-128"/>
                </a:rPr>
                <a:t>) </a:t>
              </a:r>
              <a:r>
                <a:rPr lang="ja-JP" altLang="en-US" sz="1050" b="0" dirty="0">
                  <a:latin typeface="Meiryo UI" panose="020B0604030504040204" pitchFamily="50" charset="-128"/>
                  <a:ea typeface="Meiryo UI" panose="020B0604030504040204" pitchFamily="50" charset="-128"/>
                </a:rPr>
                <a:t>、</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償還日</a:t>
              </a:r>
              <a:r>
                <a:rPr lang="en-US" altLang="ja-JP" sz="1050" b="0" dirty="0">
                  <a:latin typeface="Meiryo UI" panose="020B0604030504040204" pitchFamily="50" charset="-128"/>
                  <a:ea typeface="Meiryo UI" panose="020B0604030504040204" pitchFamily="50" charset="-128"/>
                </a:rPr>
                <a:t>(</a:t>
              </a:r>
              <a:r>
                <a:rPr lang="ja-JP" altLang="en-US" sz="1050" b="0" dirty="0">
                  <a:latin typeface="Meiryo UI" panose="020B0604030504040204" pitchFamily="50" charset="-128"/>
                  <a:ea typeface="Meiryo UI" panose="020B0604030504040204" pitchFamily="50" charset="-128"/>
                </a:rPr>
                <a:t>その保有者に額面金額を払い戻す満期日</a:t>
              </a:r>
              <a:r>
                <a:rPr lang="en-US" altLang="ja-JP" sz="1050" b="0" dirty="0">
                  <a:latin typeface="Meiryo UI" panose="020B0604030504040204" pitchFamily="50" charset="-128"/>
                  <a:ea typeface="Meiryo UI" panose="020B0604030504040204" pitchFamily="50" charset="-128"/>
                </a:rPr>
                <a:t>)</a:t>
              </a:r>
              <a:r>
                <a:rPr lang="ja-JP" altLang="en-US" sz="1050" b="0" dirty="0">
                  <a:latin typeface="Meiryo UI" panose="020B0604030504040204" pitchFamily="50" charset="-128"/>
                  <a:ea typeface="Meiryo UI" panose="020B0604030504040204" pitchFamily="50" charset="-128"/>
                </a:rPr>
                <a:t>などの条件が決められている</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債券は所有者に対して</a:t>
              </a:r>
              <a:r>
                <a:rPr lang="ja-JP" altLang="en-US" sz="1050" dirty="0">
                  <a:solidFill>
                    <a:schemeClr val="accent2">
                      <a:lumMod val="75000"/>
                    </a:schemeClr>
                  </a:solidFill>
                  <a:latin typeface="Meiryo UI" panose="020B0604030504040204" pitchFamily="50" charset="-128"/>
                  <a:ea typeface="Meiryo UI" panose="020B0604030504040204" pitchFamily="50" charset="-128"/>
                </a:rPr>
                <a:t>返済義務がある</a:t>
              </a:r>
              <a:r>
                <a:rPr lang="ja-JP" altLang="en-US" sz="1050" b="0" dirty="0">
                  <a:latin typeface="Meiryo UI" panose="020B0604030504040204" pitchFamily="50" charset="-128"/>
                  <a:ea typeface="Meiryo UI" panose="020B0604030504040204" pitchFamily="50" charset="-128"/>
                </a:rPr>
                <a:t>ため、</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償還日には元本を受け取れる</a:t>
              </a:r>
              <a:endParaRPr lang="en-US" altLang="ja-JP" sz="1050" dirty="0">
                <a:solidFill>
                  <a:schemeClr val="accent2">
                    <a:lumMod val="75000"/>
                  </a:schemeClr>
                </a:solidFill>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債券を償還日まで保有せず、売却することも可能。</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債券は金利と関連が強く</a:t>
              </a:r>
              <a:r>
                <a:rPr lang="ja-JP" altLang="en-US" sz="1050" b="0" dirty="0">
                  <a:latin typeface="Meiryo UI" panose="020B0604030504040204" pitchFamily="50" charset="-128"/>
                  <a:ea typeface="Meiryo UI" panose="020B0604030504040204" pitchFamily="50" charset="-128"/>
                </a:rPr>
                <a:t>、金利が上昇すると債券の投資対象としての魅力が下がるため、価格が下がる傾向にある</a:t>
              </a:r>
            </a:p>
          </p:txBody>
        </p:sp>
        <p:sp>
          <p:nvSpPr>
            <p:cNvPr id="35" name="テキスト ボックス 96"/>
            <p:cNvSpPr txBox="1">
              <a:spLocks noChangeArrowheads="1"/>
            </p:cNvSpPr>
            <p:nvPr/>
          </p:nvSpPr>
          <p:spPr bwMode="gray">
            <a:xfrm>
              <a:off x="6803278" y="2926639"/>
              <a:ext cx="2628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a:t>一般債</a:t>
              </a:r>
              <a:br>
                <a:rPr lang="en-US" altLang="ja-JP" sz="1050"/>
              </a:br>
              <a:r>
                <a:rPr lang="en-US" altLang="ja-JP" sz="1050"/>
                <a:t>(</a:t>
              </a:r>
              <a:r>
                <a:rPr lang="ja-JP" altLang="en-US" sz="1050"/>
                <a:t>国債、社債、事業債、など</a:t>
              </a:r>
              <a:r>
                <a:rPr lang="en-US" altLang="ja-JP" sz="1050"/>
                <a:t>)</a:t>
              </a:r>
            </a:p>
            <a:p>
              <a:pPr>
                <a:lnSpc>
                  <a:spcPct val="100000"/>
                </a:lnSpc>
                <a:spcBef>
                  <a:spcPts val="300"/>
                </a:spcBef>
              </a:pPr>
              <a:r>
                <a:rPr lang="ja-JP" altLang="en-US" sz="1050"/>
                <a:t>仕組債</a:t>
              </a:r>
              <a:br>
                <a:rPr lang="en-US" altLang="ja-JP" sz="1050"/>
              </a:br>
              <a:r>
                <a:rPr lang="en-US" altLang="ja-JP" sz="1050"/>
                <a:t>(</a:t>
              </a:r>
              <a:r>
                <a:rPr lang="ja-JP" altLang="en-US" sz="1050"/>
                <a:t>一般債にデリバティブを組込んだ債券</a:t>
              </a:r>
              <a:r>
                <a:rPr lang="en-US" altLang="ja-JP" sz="1050"/>
                <a:t>)</a:t>
              </a:r>
              <a:endParaRPr lang="ja-JP" altLang="ja-JP" sz="1050"/>
            </a:p>
          </p:txBody>
        </p:sp>
        <p:sp>
          <p:nvSpPr>
            <p:cNvPr id="6" name="テキスト ボックス 96"/>
            <p:cNvSpPr txBox="1">
              <a:spLocks noChangeArrowheads="1"/>
            </p:cNvSpPr>
            <p:nvPr/>
          </p:nvSpPr>
          <p:spPr bwMode="gray">
            <a:xfrm>
              <a:off x="944749" y="2926639"/>
              <a:ext cx="370062" cy="1224000"/>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eaVert" wrap="none" lIns="36000" tIns="36000" rIns="36000" bIns="36000" anchor="ctr"/>
            <a:lstStyle>
              <a:defPPr>
                <a:defRPr lang="en-US"/>
              </a:defPPr>
              <a:lvl1pPr>
                <a:spcBef>
                  <a:spcPts val="0"/>
                </a:spcBef>
                <a:defRPr kumimoji="1" sz="1400" b="0">
                  <a:solidFill>
                    <a:schemeClr val="bg1"/>
                  </a:solidFill>
                </a:defRPr>
              </a:lvl1pPr>
              <a:lvl2pPr marL="742950" indent="-285750">
                <a:defRPr>
                  <a:ea typeface="ＭＳ Ｐゴシック" charset="-128"/>
                </a:defRPr>
              </a:lvl2pPr>
              <a:lvl3pPr marL="1143000" indent="-228600">
                <a:defRPr>
                  <a:ea typeface="ＭＳ Ｐゴシック" charset="-128"/>
                </a:defRPr>
              </a:lvl3pPr>
              <a:lvl4pPr marL="1600200" indent="-228600">
                <a:defRPr>
                  <a:ea typeface="ＭＳ Ｐゴシック" charset="-128"/>
                </a:defRPr>
              </a:lvl4pPr>
              <a:lvl5pPr marL="2057400" indent="-228600">
                <a:defRPr>
                  <a:ea typeface="ＭＳ Ｐゴシック" charset="-128"/>
                </a:defRPr>
              </a:lvl5pPr>
              <a:lvl6pPr marL="2514600" indent="-228600" eaLnBrk="0" fontAlgn="base" hangingPunct="0">
                <a:spcBef>
                  <a:spcPct val="0"/>
                </a:spcBef>
                <a:spcAft>
                  <a:spcPct val="0"/>
                </a:spcAft>
                <a:defRPr>
                  <a:ea typeface="ＭＳ Ｐゴシック" charset="-128"/>
                </a:defRPr>
              </a:lvl6pPr>
              <a:lvl7pPr marL="2971800" indent="-228600" eaLnBrk="0" fontAlgn="base" hangingPunct="0">
                <a:spcBef>
                  <a:spcPct val="0"/>
                </a:spcBef>
                <a:spcAft>
                  <a:spcPct val="0"/>
                </a:spcAft>
                <a:defRPr>
                  <a:ea typeface="ＭＳ Ｐゴシック" charset="-128"/>
                </a:defRPr>
              </a:lvl7pPr>
              <a:lvl8pPr marL="3429000" indent="-228600" eaLnBrk="0" fontAlgn="base" hangingPunct="0">
                <a:spcBef>
                  <a:spcPct val="0"/>
                </a:spcBef>
                <a:spcAft>
                  <a:spcPct val="0"/>
                </a:spcAft>
                <a:defRPr>
                  <a:ea typeface="ＭＳ Ｐゴシック" charset="-128"/>
                </a:defRPr>
              </a:lvl8pPr>
              <a:lvl9pPr marL="3886200" indent="-228600" eaLnBrk="0" fontAlgn="base" hangingPunct="0">
                <a:spcBef>
                  <a:spcPct val="0"/>
                </a:spcBef>
                <a:spcAft>
                  <a:spcPct val="0"/>
                </a:spcAft>
                <a:defRPr>
                  <a:ea typeface="ＭＳ Ｐゴシック" charset="-128"/>
                </a:defRPr>
              </a:lvl9pPr>
            </a:lstStyle>
            <a:p>
              <a:pPr algn="ctr">
                <a:spcBef>
                  <a:spcPts val="300"/>
                </a:spcBef>
              </a:pPr>
              <a:r>
                <a:rPr lang="ja-JP" altLang="en-US" sz="1100">
                  <a:solidFill>
                    <a:schemeClr val="tx1"/>
                  </a:solidFill>
                  <a:latin typeface="Meiryo UI" panose="020B0604030504040204" pitchFamily="50" charset="-128"/>
                  <a:ea typeface="Meiryo UI" panose="020B0604030504040204" pitchFamily="50" charset="-128"/>
                </a:rPr>
                <a:t>債券</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7" name="テキスト ボックス 96"/>
            <p:cNvSpPr txBox="1">
              <a:spLocks noChangeArrowheads="1"/>
            </p:cNvSpPr>
            <p:nvPr/>
          </p:nvSpPr>
          <p:spPr bwMode="gray">
            <a:xfrm>
              <a:off x="944749" y="4208586"/>
              <a:ext cx="370062" cy="1224000"/>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eaVert" wrap="none" lIns="36000" tIns="36000" rIns="36000" bIns="36000" anchor="ctr"/>
            <a:lstStyle>
              <a:defPPr>
                <a:defRPr lang="en-US"/>
              </a:defPPr>
              <a:lvl1pPr>
                <a:spcBef>
                  <a:spcPts val="0"/>
                </a:spcBef>
                <a:defRPr kumimoji="1" sz="1400" b="0">
                  <a:solidFill>
                    <a:schemeClr val="bg1"/>
                  </a:solidFill>
                </a:defRPr>
              </a:lvl1pPr>
              <a:lvl2pPr marL="742950" indent="-285750">
                <a:defRPr>
                  <a:ea typeface="ＭＳ Ｐゴシック" charset="-128"/>
                </a:defRPr>
              </a:lvl2pPr>
              <a:lvl3pPr marL="1143000" indent="-228600">
                <a:defRPr>
                  <a:ea typeface="ＭＳ Ｐゴシック" charset="-128"/>
                </a:defRPr>
              </a:lvl3pPr>
              <a:lvl4pPr marL="1600200" indent="-228600">
                <a:defRPr>
                  <a:ea typeface="ＭＳ Ｐゴシック" charset="-128"/>
                </a:defRPr>
              </a:lvl4pPr>
              <a:lvl5pPr marL="2057400" indent="-228600">
                <a:defRPr>
                  <a:ea typeface="ＭＳ Ｐゴシック" charset="-128"/>
                </a:defRPr>
              </a:lvl5pPr>
              <a:lvl6pPr marL="2514600" indent="-228600" eaLnBrk="0" fontAlgn="base" hangingPunct="0">
                <a:spcBef>
                  <a:spcPct val="0"/>
                </a:spcBef>
                <a:spcAft>
                  <a:spcPct val="0"/>
                </a:spcAft>
                <a:defRPr>
                  <a:ea typeface="ＭＳ Ｐゴシック" charset="-128"/>
                </a:defRPr>
              </a:lvl6pPr>
              <a:lvl7pPr marL="2971800" indent="-228600" eaLnBrk="0" fontAlgn="base" hangingPunct="0">
                <a:spcBef>
                  <a:spcPct val="0"/>
                </a:spcBef>
                <a:spcAft>
                  <a:spcPct val="0"/>
                </a:spcAft>
                <a:defRPr>
                  <a:ea typeface="ＭＳ Ｐゴシック" charset="-128"/>
                </a:defRPr>
              </a:lvl7pPr>
              <a:lvl8pPr marL="3429000" indent="-228600" eaLnBrk="0" fontAlgn="base" hangingPunct="0">
                <a:spcBef>
                  <a:spcPct val="0"/>
                </a:spcBef>
                <a:spcAft>
                  <a:spcPct val="0"/>
                </a:spcAft>
                <a:defRPr>
                  <a:ea typeface="ＭＳ Ｐゴシック" charset="-128"/>
                </a:defRPr>
              </a:lvl8pPr>
              <a:lvl9pPr marL="3886200" indent="-228600" eaLnBrk="0" fontAlgn="base" hangingPunct="0">
                <a:spcBef>
                  <a:spcPct val="0"/>
                </a:spcBef>
                <a:spcAft>
                  <a:spcPct val="0"/>
                </a:spcAft>
                <a:defRPr>
                  <a:ea typeface="ＭＳ Ｐゴシック" charset="-128"/>
                </a:defRPr>
              </a:lvl9pPr>
            </a:lstStyle>
            <a:p>
              <a:pPr algn="ctr">
                <a:spcBef>
                  <a:spcPts val="300"/>
                </a:spcBef>
              </a:pPr>
              <a:r>
                <a:rPr lang="ja-JP" altLang="en-US" sz="1100">
                  <a:solidFill>
                    <a:schemeClr val="tx1"/>
                  </a:solidFill>
                  <a:latin typeface="Meiryo UI" panose="020B0604030504040204" pitchFamily="50" charset="-128"/>
                  <a:ea typeface="Meiryo UI" panose="020B0604030504040204" pitchFamily="50" charset="-128"/>
                </a:rPr>
                <a:t>投資信託</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30" name="テキスト ボックス 96"/>
            <p:cNvSpPr txBox="1">
              <a:spLocks noChangeArrowheads="1"/>
            </p:cNvSpPr>
            <p:nvPr/>
          </p:nvSpPr>
          <p:spPr bwMode="gray">
            <a:xfrm>
              <a:off x="1377316" y="4208586"/>
              <a:ext cx="5364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marL="87313" indent="-87313" eaLnBrk="1" hangingPunct="1">
                <a:spcBef>
                  <a:spcPts val="300"/>
                </a:spcBef>
                <a:buFont typeface="Arial" panose="020B0604020202020204" pitchFamily="34" charset="0"/>
                <a:buChar char="•"/>
              </a:pPr>
              <a:r>
                <a:rPr lang="ja-JP" altLang="en-US" sz="1050">
                  <a:solidFill>
                    <a:schemeClr val="accent2">
                      <a:lumMod val="75000"/>
                    </a:schemeClr>
                  </a:solidFill>
                  <a:latin typeface="Meiryo UI" panose="020B0604030504040204" pitchFamily="50" charset="-128"/>
                  <a:ea typeface="Meiryo UI" panose="020B0604030504040204" pitchFamily="50" charset="-128"/>
                </a:rPr>
                <a:t>投資家から集めたお金をひとつの大きな資金として、運用の専門家が</a:t>
              </a:r>
              <a:r>
                <a:rPr lang="ja-JP" altLang="en-US" sz="1050" b="0">
                  <a:latin typeface="Meiryo UI" panose="020B0604030504040204" pitchFamily="50" charset="-128"/>
                  <a:ea typeface="Meiryo UI" panose="020B0604030504040204" pitchFamily="50" charset="-128"/>
                </a:rPr>
                <a:t>株式や債券などに投資・運用する商品を投資信託として販売する</a:t>
              </a:r>
              <a:endParaRPr lang="en-US" altLang="ja-JP" sz="1050" b="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a:latin typeface="Meiryo UI" panose="020B0604030504040204" pitchFamily="50" charset="-128"/>
                  <a:ea typeface="Meiryo UI" panose="020B0604030504040204" pitchFamily="50" charset="-128"/>
                </a:rPr>
                <a:t>運用成績は市場環境などによって変動するため、</a:t>
              </a:r>
              <a:r>
                <a:rPr lang="ja-JP" altLang="en-US" sz="1050">
                  <a:solidFill>
                    <a:schemeClr val="accent2">
                      <a:lumMod val="75000"/>
                    </a:schemeClr>
                  </a:solidFill>
                  <a:latin typeface="Meiryo UI" panose="020B0604030504040204" pitchFamily="50" charset="-128"/>
                  <a:ea typeface="Meiryo UI" panose="020B0604030504040204" pitchFamily="50" charset="-128"/>
                </a:rPr>
                <a:t>元本割れする</a:t>
              </a:r>
              <a:r>
                <a:rPr lang="ja-JP" altLang="en-US" sz="1050" b="0">
                  <a:latin typeface="Meiryo UI" panose="020B0604030504040204" pitchFamily="50" charset="-128"/>
                  <a:ea typeface="Meiryo UI" panose="020B0604030504040204" pitchFamily="50" charset="-128"/>
                </a:rPr>
                <a:t>こともある</a:t>
              </a:r>
              <a:endParaRPr lang="en-US" altLang="ja-JP" sz="1050" b="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a:latin typeface="Meiryo UI" panose="020B0604030504040204" pitchFamily="50" charset="-128"/>
                  <a:ea typeface="Meiryo UI" panose="020B0604030504040204" pitchFamily="50" charset="-128"/>
                </a:rPr>
                <a:t>運用成果が投資家それぞれの投資額に応じて、</a:t>
              </a:r>
              <a:r>
                <a:rPr lang="ja-JP" altLang="en-US" sz="1050">
                  <a:solidFill>
                    <a:schemeClr val="accent2">
                      <a:lumMod val="75000"/>
                    </a:schemeClr>
                  </a:solidFill>
                  <a:latin typeface="Meiryo UI" panose="020B0604030504040204" pitchFamily="50" charset="-128"/>
                  <a:ea typeface="Meiryo UI" panose="020B0604030504040204" pitchFamily="50" charset="-128"/>
                </a:rPr>
                <a:t>分配金</a:t>
              </a:r>
              <a:r>
                <a:rPr lang="en-US" altLang="ja-JP" sz="1050">
                  <a:solidFill>
                    <a:schemeClr val="accent2">
                      <a:lumMod val="75000"/>
                    </a:schemeClr>
                  </a:solidFill>
                  <a:latin typeface="Meiryo UI" panose="020B0604030504040204" pitchFamily="50" charset="-128"/>
                  <a:ea typeface="Meiryo UI" panose="020B0604030504040204" pitchFamily="50" charset="-128"/>
                </a:rPr>
                <a:t>(</a:t>
              </a:r>
              <a:r>
                <a:rPr lang="ja-JP" altLang="en-US" sz="1050">
                  <a:solidFill>
                    <a:schemeClr val="accent2">
                      <a:lumMod val="75000"/>
                    </a:schemeClr>
                  </a:solidFill>
                  <a:latin typeface="Meiryo UI" panose="020B0604030504040204" pitchFamily="50" charset="-128"/>
                  <a:ea typeface="Meiryo UI" panose="020B0604030504040204" pitchFamily="50" charset="-128"/>
                </a:rPr>
                <a:t>インカムゲイン</a:t>
              </a:r>
              <a:r>
                <a:rPr lang="en-US" altLang="ja-JP" sz="1050">
                  <a:solidFill>
                    <a:schemeClr val="accent2">
                      <a:lumMod val="75000"/>
                    </a:schemeClr>
                  </a:solidFill>
                  <a:latin typeface="Meiryo UI" panose="020B0604030504040204" pitchFamily="50" charset="-128"/>
                  <a:ea typeface="Meiryo UI" panose="020B0604030504040204" pitchFamily="50" charset="-128"/>
                </a:rPr>
                <a:t>)</a:t>
              </a:r>
              <a:r>
                <a:rPr lang="ja-JP" altLang="en-US" sz="1050" b="0">
                  <a:latin typeface="Meiryo UI" panose="020B0604030504040204" pitchFamily="50" charset="-128"/>
                  <a:ea typeface="Meiryo UI" panose="020B0604030504040204" pitchFamily="50" charset="-128"/>
                </a:rPr>
                <a:t>として支払われる</a:t>
              </a:r>
              <a:endParaRPr lang="en-US" altLang="ja-JP" sz="1050" b="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a:latin typeface="Meiryo UI" panose="020B0604030504040204" pitchFamily="50" charset="-128"/>
                  <a:ea typeface="Meiryo UI" panose="020B0604030504040204" pitchFamily="50" charset="-128"/>
                </a:rPr>
                <a:t>投資信託は</a:t>
              </a:r>
              <a:r>
                <a:rPr lang="en-US" altLang="ja-JP" sz="1050" b="0">
                  <a:latin typeface="Meiryo UI" panose="020B0604030504040204" pitchFamily="50" charset="-128"/>
                  <a:ea typeface="Meiryo UI" panose="020B0604030504040204" pitchFamily="50" charset="-128"/>
                </a:rPr>
                <a:t>3</a:t>
              </a:r>
              <a:r>
                <a:rPr lang="ja-JP" altLang="en-US" sz="1050" b="0">
                  <a:latin typeface="Meiryo UI" panose="020B0604030504040204" pitchFamily="50" charset="-128"/>
                  <a:ea typeface="Meiryo UI" panose="020B0604030504040204" pitchFamily="50" charset="-128"/>
                </a:rPr>
                <a:t>つの費用（売買時に支払う「</a:t>
              </a:r>
              <a:r>
                <a:rPr lang="ja-JP" altLang="en-US" sz="1050">
                  <a:solidFill>
                    <a:schemeClr val="accent2">
                      <a:lumMod val="75000"/>
                    </a:schemeClr>
                  </a:solidFill>
                  <a:latin typeface="Meiryo UI" panose="020B0604030504040204" pitchFamily="50" charset="-128"/>
                  <a:ea typeface="Meiryo UI" panose="020B0604030504040204" pitchFamily="50" charset="-128"/>
                </a:rPr>
                <a:t>売買手数料</a:t>
              </a:r>
              <a:r>
                <a:rPr lang="ja-JP" altLang="en-US" sz="1050" b="0">
                  <a:latin typeface="Meiryo UI" panose="020B0604030504040204" pitchFamily="50" charset="-128"/>
                  <a:ea typeface="Meiryo UI" panose="020B0604030504040204" pitchFamily="50" charset="-128"/>
                </a:rPr>
                <a:t>」、保有している間に支払う</a:t>
              </a:r>
              <a:r>
                <a:rPr lang="ja-JP" altLang="en-US" sz="1050">
                  <a:solidFill>
                    <a:schemeClr val="accent2">
                      <a:lumMod val="75000"/>
                    </a:schemeClr>
                  </a:solidFill>
                  <a:latin typeface="Meiryo UI" panose="020B0604030504040204" pitchFamily="50" charset="-128"/>
                  <a:ea typeface="Meiryo UI" panose="020B0604030504040204" pitchFamily="50" charset="-128"/>
                </a:rPr>
                <a:t>「信託報酬</a:t>
              </a:r>
              <a:r>
                <a:rPr lang="ja-JP" altLang="en-US" sz="1050" b="0">
                  <a:latin typeface="Meiryo UI" panose="020B0604030504040204" pitchFamily="50" charset="-128"/>
                  <a:ea typeface="Meiryo UI" panose="020B0604030504040204" pitchFamily="50" charset="-128"/>
                </a:rPr>
                <a:t>」、解約時に払う「</a:t>
              </a:r>
              <a:r>
                <a:rPr lang="zh-TW" altLang="en-US" sz="1050">
                  <a:solidFill>
                    <a:schemeClr val="accent2">
                      <a:lumMod val="75000"/>
                    </a:schemeClr>
                  </a:solidFill>
                  <a:latin typeface="Meiryo UI" panose="020B0604030504040204" pitchFamily="50" charset="-128"/>
                  <a:ea typeface="Meiryo UI" panose="020B0604030504040204" pitchFamily="50" charset="-128"/>
                </a:rPr>
                <a:t>信託財産留保額</a:t>
              </a:r>
              <a:r>
                <a:rPr lang="ja-JP" altLang="en-US" sz="1050" b="0">
                  <a:latin typeface="Meiryo UI" panose="020B0604030504040204" pitchFamily="50" charset="-128"/>
                  <a:ea typeface="Meiryo UI" panose="020B0604030504040204" pitchFamily="50" charset="-128"/>
                </a:rPr>
                <a:t>」）が発生する</a:t>
              </a:r>
              <a:endParaRPr lang="ja-JP" altLang="ja-JP" sz="1050" b="0">
                <a:latin typeface="Meiryo UI" panose="020B0604030504040204" pitchFamily="50" charset="-128"/>
                <a:ea typeface="Meiryo UI" panose="020B0604030504040204" pitchFamily="50" charset="-128"/>
              </a:endParaRPr>
            </a:p>
          </p:txBody>
        </p:sp>
        <p:sp>
          <p:nvSpPr>
            <p:cNvPr id="36" name="テキスト ボックス 96"/>
            <p:cNvSpPr txBox="1">
              <a:spLocks noChangeArrowheads="1"/>
            </p:cNvSpPr>
            <p:nvPr/>
          </p:nvSpPr>
          <p:spPr bwMode="gray">
            <a:xfrm>
              <a:off x="6803278" y="4208586"/>
              <a:ext cx="2628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a:t>インデックス投信</a:t>
              </a:r>
              <a:r>
                <a:rPr lang="en-US" altLang="ja-JP" sz="1050"/>
                <a:t>(TOPIX</a:t>
              </a:r>
              <a:r>
                <a:rPr lang="ja-JP" altLang="en-US" sz="1050"/>
                <a:t>といった指数の動きに連動する商品</a:t>
              </a:r>
              <a:r>
                <a:rPr lang="en-US" altLang="ja-JP" sz="1050"/>
                <a:t>)</a:t>
              </a:r>
            </a:p>
            <a:p>
              <a:pPr>
                <a:lnSpc>
                  <a:spcPct val="100000"/>
                </a:lnSpc>
                <a:spcBef>
                  <a:spcPts val="300"/>
                </a:spcBef>
              </a:pPr>
              <a:r>
                <a:rPr lang="ja-JP" altLang="en-US" sz="1050"/>
                <a:t>地域別投信</a:t>
              </a:r>
              <a:r>
                <a:rPr lang="en-US" altLang="ja-JP" sz="1050"/>
                <a:t>(</a:t>
              </a:r>
              <a:r>
                <a:rPr lang="ja-JP" altLang="en-US" sz="1050"/>
                <a:t>日本、米国、新興国、など</a:t>
              </a:r>
              <a:r>
                <a:rPr lang="en-US" altLang="ja-JP" sz="1050"/>
                <a:t>)</a:t>
              </a:r>
            </a:p>
            <a:p>
              <a:pPr>
                <a:lnSpc>
                  <a:spcPct val="100000"/>
                </a:lnSpc>
                <a:spcBef>
                  <a:spcPts val="300"/>
                </a:spcBef>
              </a:pPr>
              <a:r>
                <a:rPr lang="ja-JP" altLang="en-US" sz="1050"/>
                <a:t>資産タイプ別投信</a:t>
              </a:r>
              <a:r>
                <a:rPr lang="en-US" altLang="ja-JP" sz="1050"/>
                <a:t>(</a:t>
              </a:r>
              <a:r>
                <a:rPr lang="ja-JP" altLang="en-US" sz="1050"/>
                <a:t>株、債券、不動産、など</a:t>
              </a:r>
              <a:r>
                <a:rPr lang="en-US" altLang="ja-JP" sz="1050"/>
                <a:t>)</a:t>
              </a:r>
            </a:p>
            <a:p>
              <a:pPr>
                <a:lnSpc>
                  <a:spcPct val="100000"/>
                </a:lnSpc>
                <a:spcBef>
                  <a:spcPts val="300"/>
                </a:spcBef>
              </a:pPr>
              <a:r>
                <a:rPr lang="ja-JP" altLang="en-US" sz="1050"/>
                <a:t>テーマ型投信</a:t>
              </a:r>
              <a:r>
                <a:rPr lang="en-US" altLang="ja-JP" sz="1050"/>
                <a:t>(ESG</a:t>
              </a:r>
              <a:r>
                <a:rPr lang="ja-JP" altLang="en-US" sz="1050"/>
                <a:t>、特定業種、など</a:t>
              </a:r>
              <a:r>
                <a:rPr lang="en-US" altLang="ja-JP" sz="1050"/>
                <a:t>)</a:t>
              </a:r>
              <a:r>
                <a:rPr lang="ja-JP" altLang="en-US" sz="1050"/>
                <a:t>、など</a:t>
              </a:r>
              <a:endParaRPr lang="en-US" altLang="ja-JP" sz="1050"/>
            </a:p>
          </p:txBody>
        </p:sp>
        <p:grpSp>
          <p:nvGrpSpPr>
            <p:cNvPr id="66" name="グループ化 65">
              <a:extLst>
                <a:ext uri="{FF2B5EF4-FFF2-40B4-BE49-F238E27FC236}">
                  <a16:creationId xmlns:a16="http://schemas.microsoft.com/office/drawing/2014/main" id="{5DD614A3-DD8C-40FD-82FC-EA3DE094C2D3}"/>
                </a:ext>
              </a:extLst>
            </p:cNvPr>
            <p:cNvGrpSpPr/>
            <p:nvPr/>
          </p:nvGrpSpPr>
          <p:grpSpPr>
            <a:xfrm>
              <a:off x="1377317" y="2897665"/>
              <a:ext cx="8053962" cy="2693697"/>
              <a:chOff x="1254755" y="3002227"/>
              <a:chExt cx="8162938" cy="2693697"/>
            </a:xfrm>
          </p:grpSpPr>
          <p:cxnSp>
            <p:nvCxnSpPr>
              <p:cNvPr id="52" name="直線コネクタ 101">
                <a:extLst>
                  <a:ext uri="{FF2B5EF4-FFF2-40B4-BE49-F238E27FC236}">
                    <a16:creationId xmlns:a16="http://schemas.microsoft.com/office/drawing/2014/main" id="{4F5F099A-02FC-4AB7-856C-9F9C7FB5B77C}"/>
                  </a:ext>
                </a:extLst>
              </p:cNvPr>
              <p:cNvCxnSpPr>
                <a:cxnSpLocks noChangeShapeType="1"/>
              </p:cNvCxnSpPr>
              <p:nvPr/>
            </p:nvCxnSpPr>
            <p:spPr bwMode="gray">
              <a:xfrm>
                <a:off x="1254755" y="3002227"/>
                <a:ext cx="8162938"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55" name="直線コネクタ 101">
                <a:extLst>
                  <a:ext uri="{FF2B5EF4-FFF2-40B4-BE49-F238E27FC236}">
                    <a16:creationId xmlns:a16="http://schemas.microsoft.com/office/drawing/2014/main" id="{018F37CA-9BC2-4F9C-BDC3-972E4001F23F}"/>
                  </a:ext>
                </a:extLst>
              </p:cNvPr>
              <p:cNvCxnSpPr>
                <a:cxnSpLocks noChangeShapeType="1"/>
              </p:cNvCxnSpPr>
              <p:nvPr/>
            </p:nvCxnSpPr>
            <p:spPr bwMode="gray">
              <a:xfrm>
                <a:off x="1254755" y="4284175"/>
                <a:ext cx="8162938"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58" name="直線コネクタ 101">
                <a:extLst>
                  <a:ext uri="{FF2B5EF4-FFF2-40B4-BE49-F238E27FC236}">
                    <a16:creationId xmlns:a16="http://schemas.microsoft.com/office/drawing/2014/main" id="{8CBCEC9D-9699-449B-BB32-54D393998ADA}"/>
                  </a:ext>
                </a:extLst>
              </p:cNvPr>
              <p:cNvCxnSpPr>
                <a:cxnSpLocks noChangeShapeType="1"/>
              </p:cNvCxnSpPr>
              <p:nvPr/>
            </p:nvCxnSpPr>
            <p:spPr bwMode="gray">
              <a:xfrm>
                <a:off x="1254755" y="5695924"/>
                <a:ext cx="8162938" cy="0"/>
              </a:xfrm>
              <a:prstGeom prst="line">
                <a:avLst/>
              </a:prstGeom>
              <a:noFill/>
              <a:ln w="6350" algn="ctr">
                <a:solidFill>
                  <a:schemeClr val="tx1"/>
                </a:solidFill>
                <a:prstDash val="solid"/>
                <a:round/>
                <a:headEnd/>
                <a:tailEnd/>
              </a:ln>
              <a:extLst>
                <a:ext uri="{909E8E84-426E-40DD-AFC4-6F175D3DCCD1}">
                  <a14:hiddenFill xmlns:a14="http://schemas.microsoft.com/office/drawing/2010/main">
                    <a:noFill/>
                  </a14:hiddenFill>
                </a:ext>
              </a:extLst>
            </p:spPr>
          </p:cxnSp>
        </p:grpSp>
        <p:sp>
          <p:nvSpPr>
            <p:cNvPr id="47" name="テキスト ボックス 96">
              <a:extLst>
                <a:ext uri="{FF2B5EF4-FFF2-40B4-BE49-F238E27FC236}">
                  <a16:creationId xmlns:a16="http://schemas.microsoft.com/office/drawing/2014/main" id="{142B0112-12B4-4E55-B860-A7B5E485C4F6}"/>
                </a:ext>
              </a:extLst>
            </p:cNvPr>
            <p:cNvSpPr txBox="1">
              <a:spLocks noChangeArrowheads="1"/>
            </p:cNvSpPr>
            <p:nvPr/>
          </p:nvSpPr>
          <p:spPr bwMode="gray">
            <a:xfrm>
              <a:off x="6803278" y="5628758"/>
              <a:ext cx="2628000" cy="93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a:t>先物</a:t>
              </a:r>
              <a:r>
                <a:rPr lang="en-US" altLang="ja-JP" sz="1050"/>
                <a:t>(FX</a:t>
              </a:r>
              <a:r>
                <a:rPr lang="ja-JP" altLang="en-US" sz="1050"/>
                <a:t>、株価指数先物、など</a:t>
              </a:r>
              <a:r>
                <a:rPr lang="en-US" altLang="ja-JP" sz="1050"/>
                <a:t>)</a:t>
              </a:r>
            </a:p>
            <a:p>
              <a:pPr>
                <a:lnSpc>
                  <a:spcPct val="100000"/>
                </a:lnSpc>
                <a:spcBef>
                  <a:spcPts val="300"/>
                </a:spcBef>
              </a:pPr>
              <a:r>
                <a:rPr lang="ja-JP" altLang="en-US" sz="1050"/>
                <a:t>オプション</a:t>
              </a:r>
              <a:br>
                <a:rPr lang="en-US" altLang="ja-JP" sz="1050"/>
              </a:br>
              <a:r>
                <a:rPr lang="en-US" altLang="ja-JP" sz="1050"/>
                <a:t>(</a:t>
              </a:r>
              <a:r>
                <a:rPr lang="ja-JP" altLang="en-US" sz="1050"/>
                <a:t>株価オプション、通貨オプション、など</a:t>
              </a:r>
              <a:r>
                <a:rPr lang="en-US" altLang="ja-JP" sz="1050"/>
                <a:t>)</a:t>
              </a:r>
            </a:p>
            <a:p>
              <a:pPr>
                <a:lnSpc>
                  <a:spcPct val="100000"/>
                </a:lnSpc>
                <a:spcBef>
                  <a:spcPts val="300"/>
                </a:spcBef>
              </a:pPr>
              <a:r>
                <a:rPr lang="ja-JP" altLang="en-US" sz="1050"/>
                <a:t>スワップ</a:t>
              </a:r>
              <a:r>
                <a:rPr lang="en-US" altLang="ja-JP" sz="1050"/>
                <a:t>(</a:t>
              </a:r>
              <a:r>
                <a:rPr lang="ja-JP" altLang="en-US" sz="1050"/>
                <a:t>金利スワップ、通貨スワップ、など</a:t>
              </a:r>
              <a:r>
                <a:rPr lang="en-US" altLang="ja-JP" sz="1050"/>
                <a:t>)</a:t>
              </a:r>
              <a:endParaRPr lang="ja-JP" altLang="en-US" sz="1050"/>
            </a:p>
          </p:txBody>
        </p:sp>
      </p:grpSp>
    </p:spTree>
    <p:extLst>
      <p:ext uri="{BB962C8B-B14F-4D97-AF65-F5344CB8AC3E}">
        <p14:creationId xmlns:p14="http://schemas.microsoft.com/office/powerpoint/2010/main" val="1059446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4905-4198-007E-CC89-77E0915928F2}"/>
            </a:ext>
          </a:extLst>
        </p:cNvPr>
        <p:cNvGrpSpPr/>
        <p:nvPr/>
      </p:nvGrpSpPr>
      <p:grpSpPr>
        <a:xfrm>
          <a:off x="0" y="0"/>
          <a:ext cx="0" cy="0"/>
          <a:chOff x="0" y="0"/>
          <a:chExt cx="0" cy="0"/>
        </a:xfrm>
      </p:grpSpPr>
      <p:graphicFrame>
        <p:nvGraphicFramePr>
          <p:cNvPr id="48" name="オブジェクト 47" hidden="1">
            <a:extLst>
              <a:ext uri="{FF2B5EF4-FFF2-40B4-BE49-F238E27FC236}">
                <a16:creationId xmlns:a16="http://schemas.microsoft.com/office/drawing/2014/main" id="{D38207CC-3C35-7353-F527-830E66FB99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48" name="オブジェクト 47" hidden="1">
                        <a:extLst>
                          <a:ext uri="{FF2B5EF4-FFF2-40B4-BE49-F238E27FC236}">
                            <a16:creationId xmlns:a16="http://schemas.microsoft.com/office/drawing/2014/main" id="{D38207CC-3C35-7353-F527-830E66FB994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4" name="タイトル 43">
            <a:extLst>
              <a:ext uri="{FF2B5EF4-FFF2-40B4-BE49-F238E27FC236}">
                <a16:creationId xmlns:a16="http://schemas.microsoft.com/office/drawing/2014/main" id="{236A294F-24A3-7DAB-05E1-BCAA2A21ED99}"/>
              </a:ext>
            </a:extLst>
          </p:cNvPr>
          <p:cNvSpPr>
            <a:spLocks noGrp="1"/>
          </p:cNvSpPr>
          <p:nvPr>
            <p:ph type="title"/>
          </p:nvPr>
        </p:nvSpPr>
        <p:spPr/>
        <p:txBody>
          <a:bodyPr vert="horz" lIns="0" tIns="0" rIns="0" bIns="0" rtlCol="0" anchor="b" anchorCtr="0">
            <a:noAutofit/>
          </a:bodyPr>
          <a:lstStyle/>
          <a:p>
            <a:r>
              <a:rPr lang="ja-JP" altLang="en-US" dirty="0">
                <a:latin typeface="Meiryo UI"/>
                <a:ea typeface="Meiryo UI"/>
              </a:rPr>
              <a:t>オルタナティブ資産</a:t>
            </a:r>
            <a:endParaRPr lang="ja-JP" altLang="en-US" dirty="0"/>
          </a:p>
        </p:txBody>
      </p:sp>
      <p:sp>
        <p:nvSpPr>
          <p:cNvPr id="45" name="テキスト プレースホルダー 44">
            <a:extLst>
              <a:ext uri="{FF2B5EF4-FFF2-40B4-BE49-F238E27FC236}">
                <a16:creationId xmlns:a16="http://schemas.microsoft.com/office/drawing/2014/main" id="{23EFD606-6DDD-9E11-1961-2AA4D575091F}"/>
              </a:ext>
            </a:extLst>
          </p:cNvPr>
          <p:cNvSpPr>
            <a:spLocks noGrp="1"/>
          </p:cNvSpPr>
          <p:nvPr>
            <p:ph type="body" idx="12"/>
          </p:nvPr>
        </p:nvSpPr>
        <p:spPr/>
        <p:txBody>
          <a:bodyPr/>
          <a:lstStyle/>
          <a:p>
            <a:r>
              <a:rPr lang="ja-JP" altLang="en-US" dirty="0">
                <a:latin typeface="Meiryo UI" panose="020B0604030504040204" pitchFamily="50" charset="-128"/>
                <a:ea typeface="Meiryo UI" panose="020B0604030504040204" pitchFamily="50" charset="-128"/>
              </a:rPr>
              <a:t>オルタナティブ資産は、株式・債券などの伝統的資産の限界を補い、安定収益と分散効果を提供する戦略的投資領域である。非上場企業、不動産、インフラなどの非公開・実物領域へ資金を振り向け、長期的な価値創造を実現する。</a:t>
            </a:r>
          </a:p>
        </p:txBody>
      </p:sp>
      <p:sp>
        <p:nvSpPr>
          <p:cNvPr id="46" name="テキスト プレースホルダー 45">
            <a:extLst>
              <a:ext uri="{FF2B5EF4-FFF2-40B4-BE49-F238E27FC236}">
                <a16:creationId xmlns:a16="http://schemas.microsoft.com/office/drawing/2014/main" id="{66F8E402-D209-C5EE-D096-1629A81EFB24}"/>
              </a:ext>
            </a:extLst>
          </p:cNvPr>
          <p:cNvSpPr>
            <a:spLocks noGrp="1"/>
          </p:cNvSpPr>
          <p:nvPr>
            <p:ph type="body" sz="quarter" idx="13"/>
          </p:nvPr>
        </p:nvSpPr>
        <p:spPr/>
        <p:txBody>
          <a:bodyPr/>
          <a:lstStyle/>
          <a:p>
            <a:r>
              <a:rPr lang="en-US" altLang="ja-JP" dirty="0"/>
              <a:t>3. </a:t>
            </a:r>
            <a:r>
              <a:rPr lang="ja-JP" altLang="en-US" dirty="0"/>
              <a:t>主な取扱い商品</a:t>
            </a:r>
          </a:p>
        </p:txBody>
      </p:sp>
      <p:cxnSp>
        <p:nvCxnSpPr>
          <p:cNvPr id="37" name="直線コネクタ 101">
            <a:extLst>
              <a:ext uri="{FF2B5EF4-FFF2-40B4-BE49-F238E27FC236}">
                <a16:creationId xmlns:a16="http://schemas.microsoft.com/office/drawing/2014/main" id="{9AB6E270-23FB-F34F-7A41-562A46662DB8}"/>
              </a:ext>
            </a:extLst>
          </p:cNvPr>
          <p:cNvCxnSpPr>
            <a:cxnSpLocks noChangeShapeType="1"/>
          </p:cNvCxnSpPr>
          <p:nvPr/>
        </p:nvCxnSpPr>
        <p:spPr bwMode="gray">
          <a:xfrm>
            <a:off x="1314993" y="1989042"/>
            <a:ext cx="5426322" cy="0"/>
          </a:xfrm>
          <a:prstGeom prst="line">
            <a:avLst/>
          </a:prstGeom>
          <a:noFill/>
          <a:ln w="6350" algn="ctr">
            <a:solidFill>
              <a:schemeClr val="tx1"/>
            </a:solidFill>
            <a:round/>
            <a:headEnd/>
            <a:tailEnd/>
          </a:ln>
          <a:extLst>
            <a:ext uri="{909E8E84-426E-40DD-AFC4-6F175D3DCCD1}">
              <a14:hiddenFill xmlns:a14="http://schemas.microsoft.com/office/drawing/2010/main">
                <a:noFill/>
              </a14:hiddenFill>
            </a:ext>
          </a:extLst>
        </p:spPr>
      </p:cxnSp>
      <p:sp>
        <p:nvSpPr>
          <p:cNvPr id="38" name="テキスト ボックス 102">
            <a:extLst>
              <a:ext uri="{FF2B5EF4-FFF2-40B4-BE49-F238E27FC236}">
                <a16:creationId xmlns:a16="http://schemas.microsoft.com/office/drawing/2014/main" id="{3A78593F-EB50-137E-9DB1-FC7CE5E343C6}"/>
              </a:ext>
            </a:extLst>
          </p:cNvPr>
          <p:cNvSpPr txBox="1">
            <a:spLocks noChangeArrowheads="1"/>
          </p:cNvSpPr>
          <p:nvPr/>
        </p:nvSpPr>
        <p:spPr bwMode="gray">
          <a:xfrm>
            <a:off x="1314994" y="1703292"/>
            <a:ext cx="542632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algn="ctr">
              <a:spcBef>
                <a:spcPct val="50000"/>
              </a:spcBef>
            </a:pPr>
            <a:r>
              <a:rPr kumimoji="1" lang="ja-JP" altLang="en-US" b="0">
                <a:latin typeface="Meiryo UI" panose="020B0604030504040204" pitchFamily="50" charset="-128"/>
                <a:ea typeface="Meiryo UI" panose="020B0604030504040204" pitchFamily="50" charset="-128"/>
              </a:rPr>
              <a:t>概要</a:t>
            </a:r>
          </a:p>
        </p:txBody>
      </p:sp>
      <p:cxnSp>
        <p:nvCxnSpPr>
          <p:cNvPr id="39" name="直線コネクタ 101">
            <a:extLst>
              <a:ext uri="{FF2B5EF4-FFF2-40B4-BE49-F238E27FC236}">
                <a16:creationId xmlns:a16="http://schemas.microsoft.com/office/drawing/2014/main" id="{A36492EA-4DC4-BC60-404C-93322E4B6517}"/>
              </a:ext>
            </a:extLst>
          </p:cNvPr>
          <p:cNvCxnSpPr>
            <a:cxnSpLocks noChangeShapeType="1"/>
          </p:cNvCxnSpPr>
          <p:nvPr/>
        </p:nvCxnSpPr>
        <p:spPr bwMode="gray">
          <a:xfrm>
            <a:off x="6803277" y="1989042"/>
            <a:ext cx="2628000" cy="0"/>
          </a:xfrm>
          <a:prstGeom prst="line">
            <a:avLst/>
          </a:prstGeom>
          <a:noFill/>
          <a:ln w="6350" algn="ctr">
            <a:solidFill>
              <a:schemeClr val="tx1"/>
            </a:solidFill>
            <a:round/>
            <a:headEnd/>
            <a:tailEnd/>
          </a:ln>
          <a:extLst>
            <a:ext uri="{909E8E84-426E-40DD-AFC4-6F175D3DCCD1}">
              <a14:hiddenFill xmlns:a14="http://schemas.microsoft.com/office/drawing/2010/main">
                <a:noFill/>
              </a14:hiddenFill>
            </a:ext>
          </a:extLst>
        </p:spPr>
      </p:cxnSp>
      <p:sp>
        <p:nvSpPr>
          <p:cNvPr id="40" name="テキスト ボックス 102">
            <a:extLst>
              <a:ext uri="{FF2B5EF4-FFF2-40B4-BE49-F238E27FC236}">
                <a16:creationId xmlns:a16="http://schemas.microsoft.com/office/drawing/2014/main" id="{B71DAB3F-95DF-D27D-D0BC-EC882A43DF90}"/>
              </a:ext>
            </a:extLst>
          </p:cNvPr>
          <p:cNvSpPr txBox="1">
            <a:spLocks noChangeArrowheads="1"/>
          </p:cNvSpPr>
          <p:nvPr/>
        </p:nvSpPr>
        <p:spPr bwMode="gray">
          <a:xfrm>
            <a:off x="6803278" y="1703292"/>
            <a:ext cx="2628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algn="ctr">
              <a:spcBef>
                <a:spcPct val="50000"/>
              </a:spcBef>
            </a:pPr>
            <a:r>
              <a:rPr kumimoji="1" lang="ja-JP" altLang="en-US" b="0">
                <a:latin typeface="Meiryo UI" panose="020B0604030504040204" pitchFamily="50" charset="-128"/>
                <a:ea typeface="Meiryo UI" panose="020B0604030504040204" pitchFamily="50" charset="-128"/>
              </a:rPr>
              <a:t>種類</a:t>
            </a:r>
          </a:p>
        </p:txBody>
      </p:sp>
      <p:sp>
        <p:nvSpPr>
          <p:cNvPr id="31" name="テキスト ボックス 96">
            <a:extLst>
              <a:ext uri="{FF2B5EF4-FFF2-40B4-BE49-F238E27FC236}">
                <a16:creationId xmlns:a16="http://schemas.microsoft.com/office/drawing/2014/main" id="{5A839DB1-60F6-82DF-C813-233706760E78}"/>
              </a:ext>
            </a:extLst>
          </p:cNvPr>
          <p:cNvSpPr txBox="1">
            <a:spLocks noChangeArrowheads="1"/>
          </p:cNvSpPr>
          <p:nvPr/>
        </p:nvSpPr>
        <p:spPr bwMode="gray">
          <a:xfrm>
            <a:off x="1314994" y="5652340"/>
            <a:ext cx="5426322" cy="948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dirty="0"/>
              <a:t>社会・経済活動を支える</a:t>
            </a:r>
            <a:r>
              <a:rPr lang="ja-JP" altLang="en-US" sz="1050" b="1" dirty="0">
                <a:solidFill>
                  <a:schemeClr val="accent2">
                    <a:lumMod val="75000"/>
                  </a:schemeClr>
                </a:solidFill>
              </a:rPr>
              <a:t>基盤施設へ長期投資</a:t>
            </a:r>
            <a:r>
              <a:rPr lang="ja-JP" altLang="en-US" sz="1050" dirty="0"/>
              <a:t>する資産クラス</a:t>
            </a:r>
            <a:endParaRPr lang="en-US" altLang="ja-JP" sz="1050" dirty="0"/>
          </a:p>
          <a:p>
            <a:pPr marL="269875" lvl="1" indent="-182563">
              <a:spcBef>
                <a:spcPts val="300"/>
              </a:spcBef>
            </a:pPr>
            <a:r>
              <a:rPr lang="ja-JP" altLang="en-US" sz="1000" b="1" dirty="0">
                <a:latin typeface="+mj-lt"/>
              </a:rPr>
              <a:t>例：道路・橋・空港・港湾・鉄道・送配電綱・上下水道・通信インフラ・再生可能エネルギー発電所など</a:t>
            </a:r>
            <a:endParaRPr lang="en-US" altLang="ja-JP" sz="1000" dirty="0">
              <a:latin typeface="+mj-lt"/>
            </a:endParaRPr>
          </a:p>
          <a:p>
            <a:pPr>
              <a:spcBef>
                <a:spcPts val="300"/>
              </a:spcBef>
            </a:pPr>
            <a:r>
              <a:rPr lang="ja-JP" altLang="en-US" sz="1050" dirty="0">
                <a:latin typeface="+mj-lt"/>
              </a:rPr>
              <a:t>多くの案件で</a:t>
            </a:r>
            <a:r>
              <a:rPr lang="ja-JP" altLang="en-US" sz="1050" b="1" dirty="0">
                <a:solidFill>
                  <a:schemeClr val="accent2">
                    <a:lumMod val="75000"/>
                  </a:schemeClr>
                </a:solidFill>
                <a:latin typeface="+mj-lt"/>
              </a:rPr>
              <a:t>規制・コンセッション契約・長期利用契約に基づく安定キャッシュフロー</a:t>
            </a:r>
            <a:r>
              <a:rPr lang="ja-JP" altLang="en-US" sz="1050" dirty="0">
                <a:latin typeface="+mj-lt"/>
              </a:rPr>
              <a:t>が期待され、長期</a:t>
            </a:r>
            <a:r>
              <a:rPr lang="ja-JP" altLang="en-US" sz="1050" dirty="0"/>
              <a:t>の債券に近い性質を持つものも多い</a:t>
            </a:r>
            <a:endParaRPr lang="en-US" altLang="ja-JP" sz="1050" dirty="0"/>
          </a:p>
          <a:p>
            <a:pPr>
              <a:spcBef>
                <a:spcPts val="300"/>
              </a:spcBef>
            </a:pPr>
            <a:r>
              <a:rPr lang="en-US" altLang="ja-JP" sz="1050" dirty="0"/>
              <a:t>ESG</a:t>
            </a:r>
            <a:r>
              <a:rPr lang="ja-JP" altLang="en-US" sz="1050" dirty="0"/>
              <a:t>投資やエネルギートランジションの文脈で、年金・保険など長期投資家からの需要が高まっている</a:t>
            </a:r>
            <a:endParaRPr lang="en-US" altLang="ja-JP" sz="1050" dirty="0"/>
          </a:p>
        </p:txBody>
      </p:sp>
      <p:sp>
        <p:nvSpPr>
          <p:cNvPr id="4" name="テキスト ボックス 97">
            <a:extLst>
              <a:ext uri="{FF2B5EF4-FFF2-40B4-BE49-F238E27FC236}">
                <a16:creationId xmlns:a16="http://schemas.microsoft.com/office/drawing/2014/main" id="{99D96D67-C78D-A1E4-6008-AE015F0708B0}"/>
              </a:ext>
            </a:extLst>
          </p:cNvPr>
          <p:cNvSpPr txBox="1">
            <a:spLocks noChangeArrowheads="1"/>
          </p:cNvSpPr>
          <p:nvPr/>
        </p:nvSpPr>
        <p:spPr bwMode="gray">
          <a:xfrm>
            <a:off x="510434" y="5652340"/>
            <a:ext cx="726184" cy="948752"/>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horz" wrap="none" lIns="36000" tIns="36000" rIns="36000" bIns="36000" anchor="ctr"/>
          <a:lstStyle>
            <a:defPPr>
              <a:defRPr lang="en-US"/>
            </a:defPPr>
            <a:lvl1pPr algn="ctr" eaLnBrk="0" hangingPunct="0">
              <a:spcBef>
                <a:spcPts val="0"/>
              </a:spcBef>
              <a:defRPr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r>
              <a:rPr lang="ja-JP" altLang="en-US" sz="1050" dirty="0"/>
              <a:t>インフラ</a:t>
            </a:r>
          </a:p>
        </p:txBody>
      </p:sp>
      <p:sp>
        <p:nvSpPr>
          <p:cNvPr id="28" name="テキスト ボックス 96">
            <a:extLst>
              <a:ext uri="{FF2B5EF4-FFF2-40B4-BE49-F238E27FC236}">
                <a16:creationId xmlns:a16="http://schemas.microsoft.com/office/drawing/2014/main" id="{284AC8F2-8DEB-6996-E5AE-7607DCF46C4B}"/>
              </a:ext>
            </a:extLst>
          </p:cNvPr>
          <p:cNvSpPr txBox="1">
            <a:spLocks noChangeArrowheads="1"/>
          </p:cNvSpPr>
          <p:nvPr/>
        </p:nvSpPr>
        <p:spPr bwMode="gray">
          <a:xfrm>
            <a:off x="1314994" y="2012653"/>
            <a:ext cx="5426322"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marL="87313" indent="-87313" algn="l" eaLnBrk="1" hangingPunct="1">
              <a:spcBef>
                <a:spcPts val="300"/>
              </a:spcBef>
              <a:buFont typeface="Arial" panose="020B0604020202020204" pitchFamily="34" charset="0"/>
              <a:buChar char="•"/>
            </a:pPr>
            <a:r>
              <a:rPr lang="ja-JP" altLang="en-US" sz="1050" dirty="0">
                <a:solidFill>
                  <a:schemeClr val="accent2">
                    <a:lumMod val="75000"/>
                  </a:schemeClr>
                </a:solidFill>
                <a:latin typeface="Meiryo UI" panose="020B0604030504040204" pitchFamily="50" charset="-128"/>
                <a:ea typeface="Meiryo UI" panose="020B0604030504040204" pitchFamily="50" charset="-128"/>
              </a:rPr>
              <a:t>非上場企業への株式投資</a:t>
            </a:r>
            <a:r>
              <a:rPr lang="ja-JP" altLang="en-US" sz="1050" b="0" dirty="0">
                <a:latin typeface="Meiryo UI" panose="020B0604030504040204" pitchFamily="50" charset="-128"/>
                <a:ea typeface="Meiryo UI" panose="020B0604030504040204" pitchFamily="50" charset="-128"/>
              </a:rPr>
              <a:t>を中心とするオルタナティブ投資</a:t>
            </a:r>
            <a:endParaRPr lang="en-US" altLang="ja-JP" sz="1050" b="0" dirty="0">
              <a:latin typeface="Meiryo UI" panose="020B0604030504040204" pitchFamily="50" charset="-128"/>
              <a:ea typeface="Meiryo UI" panose="020B0604030504040204" pitchFamily="50" charset="-128"/>
            </a:endParaRPr>
          </a:p>
          <a:p>
            <a:pPr marL="87313" indent="-87313" algn="l"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ファンド（</a:t>
            </a:r>
            <a:r>
              <a:rPr lang="en-US" altLang="ja-JP" sz="1050" b="0" dirty="0">
                <a:latin typeface="Meiryo UI" panose="020B0604030504040204" pitchFamily="50" charset="-128"/>
                <a:ea typeface="Meiryo UI" panose="020B0604030504040204" pitchFamily="50" charset="-128"/>
              </a:rPr>
              <a:t>PE</a:t>
            </a:r>
            <a:r>
              <a:rPr lang="ja-JP" altLang="en-US" sz="1050" b="0" dirty="0">
                <a:latin typeface="Meiryo UI" panose="020B0604030504040204" pitchFamily="50" charset="-128"/>
                <a:ea typeface="Meiryo UI" panose="020B0604030504040204" pitchFamily="50" charset="-128"/>
              </a:rPr>
              <a:t>ファンド）が投資家から資金を集め、</a:t>
            </a:r>
            <a:r>
              <a:rPr lang="ja-JP" altLang="en-US" sz="1050" dirty="0">
                <a:solidFill>
                  <a:schemeClr val="accent2">
                    <a:lumMod val="75000"/>
                  </a:schemeClr>
                </a:solidFill>
                <a:latin typeface="Meiryo UI" panose="020B0604030504040204" pitchFamily="50" charset="-128"/>
                <a:ea typeface="Meiryo UI" panose="020B0604030504040204" pitchFamily="50" charset="-128"/>
              </a:rPr>
              <a:t>企業の買収・成長支援・再生を行い、数年後に売却</a:t>
            </a:r>
            <a:r>
              <a:rPr lang="en-US" altLang="ja-JP" sz="1050" dirty="0">
                <a:solidFill>
                  <a:schemeClr val="accent2">
                    <a:lumMod val="75000"/>
                  </a:schemeClr>
                </a:solidFill>
                <a:latin typeface="Meiryo UI" panose="020B0604030504040204" pitchFamily="50" charset="-128"/>
                <a:ea typeface="Meiryo UI" panose="020B0604030504040204" pitchFamily="50" charset="-128"/>
              </a:rPr>
              <a:t>/IPO</a:t>
            </a:r>
            <a:r>
              <a:rPr lang="ja-JP" altLang="en-US" sz="1050" dirty="0">
                <a:solidFill>
                  <a:schemeClr val="accent2">
                    <a:lumMod val="75000"/>
                  </a:schemeClr>
                </a:solidFill>
                <a:latin typeface="Meiryo UI" panose="020B0604030504040204" pitchFamily="50" charset="-128"/>
                <a:ea typeface="Meiryo UI" panose="020B0604030504040204" pitchFamily="50" charset="-128"/>
              </a:rPr>
              <a:t>でキャピタルゲインを狙う</a:t>
            </a:r>
            <a:endParaRPr lang="en-US" altLang="ja-JP" sz="1050" dirty="0">
              <a:solidFill>
                <a:schemeClr val="accent2">
                  <a:lumMod val="75000"/>
                </a:schemeClr>
              </a:solidFill>
              <a:latin typeface="Meiryo UI" panose="020B0604030504040204" pitchFamily="50" charset="-128"/>
              <a:ea typeface="Meiryo UI" panose="020B0604030504040204" pitchFamily="50" charset="-128"/>
            </a:endParaRPr>
          </a:p>
          <a:p>
            <a:pPr marL="87313" indent="-87313" algn="l" eaLnBrk="1" hangingPunct="1">
              <a:spcBef>
                <a:spcPts val="300"/>
              </a:spcBef>
              <a:buFont typeface="Arial" panose="020B0604020202020204" pitchFamily="34" charset="0"/>
              <a:buChar char="•"/>
            </a:pPr>
            <a:r>
              <a:rPr lang="ja-JP" altLang="en-US" sz="1050" b="0" dirty="0">
                <a:solidFill>
                  <a:schemeClr val="accent2">
                    <a:lumMod val="75000"/>
                  </a:schemeClr>
                </a:solidFill>
                <a:latin typeface="Meiryo UI" panose="020B0604030504040204" pitchFamily="50" charset="-128"/>
                <a:ea typeface="Meiryo UI" panose="020B0604030504040204" pitchFamily="50" charset="-128"/>
              </a:rPr>
              <a:t>経営陣への関与が深く、</a:t>
            </a:r>
            <a:r>
              <a:rPr lang="ja-JP" altLang="en-US" sz="1050" dirty="0">
                <a:solidFill>
                  <a:schemeClr val="accent2">
                    <a:lumMod val="75000"/>
                  </a:schemeClr>
                </a:solidFill>
                <a:latin typeface="Meiryo UI" panose="020B0604030504040204" pitchFamily="50" charset="-128"/>
                <a:ea typeface="Meiryo UI" panose="020B0604030504040204" pitchFamily="50" charset="-128"/>
              </a:rPr>
              <a:t>ガバナンス改善・事業構造改革・成長戦略の実行</a:t>
            </a:r>
            <a:r>
              <a:rPr lang="ja-JP" altLang="en-US" sz="1050" b="0" dirty="0">
                <a:latin typeface="Meiryo UI" panose="020B0604030504040204" pitchFamily="50" charset="-128"/>
                <a:ea typeface="Meiryo UI" panose="020B0604030504040204" pitchFamily="50" charset="-128"/>
              </a:rPr>
              <a:t>などを通じて企業価値を高める「ハンズオン」型が一般的</a:t>
            </a:r>
            <a:endParaRPr lang="en-US" altLang="ja-JP" sz="1050" b="0" dirty="0">
              <a:latin typeface="Meiryo UI" panose="020B0604030504040204" pitchFamily="50" charset="-128"/>
              <a:ea typeface="Meiryo UI" panose="020B0604030504040204" pitchFamily="50" charset="-128"/>
            </a:endParaRPr>
          </a:p>
          <a:p>
            <a:pPr marL="87313" indent="-87313" algn="l"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投資期間は長期（</a:t>
            </a:r>
            <a:r>
              <a:rPr lang="en-US" altLang="ja-JP" sz="1050" b="0" dirty="0">
                <a:latin typeface="Meiryo UI" panose="020B0604030504040204" pitchFamily="50" charset="-128"/>
                <a:ea typeface="Meiryo UI" panose="020B0604030504040204" pitchFamily="50" charset="-128"/>
              </a:rPr>
              <a:t>10</a:t>
            </a:r>
            <a:r>
              <a:rPr lang="ja-JP" altLang="en-US" sz="1050" b="0" dirty="0">
                <a:latin typeface="Meiryo UI" panose="020B0604030504040204" pitchFamily="50" charset="-128"/>
                <a:ea typeface="Meiryo UI" panose="020B0604030504040204" pitchFamily="50" charset="-128"/>
              </a:rPr>
              <a:t>年前後）、途中解約不可が基本。Ｊカーブ効果（初期はコストがマイナス、その後にリターンが立つ）も特徴</a:t>
            </a:r>
            <a:endParaRPr lang="en-US" altLang="ja-JP" sz="1050" b="0" dirty="0">
              <a:latin typeface="Meiryo UI" panose="020B0604030504040204" pitchFamily="50" charset="-128"/>
              <a:ea typeface="Meiryo UI" panose="020B0604030504040204" pitchFamily="50" charset="-128"/>
            </a:endParaRPr>
          </a:p>
        </p:txBody>
      </p:sp>
      <p:sp>
        <p:nvSpPr>
          <p:cNvPr id="34" name="テキスト ボックス 96">
            <a:extLst>
              <a:ext uri="{FF2B5EF4-FFF2-40B4-BE49-F238E27FC236}">
                <a16:creationId xmlns:a16="http://schemas.microsoft.com/office/drawing/2014/main" id="{268E8A07-EE1F-5C8F-FEC5-C04A1C18C05A}"/>
              </a:ext>
            </a:extLst>
          </p:cNvPr>
          <p:cNvSpPr txBox="1">
            <a:spLocks noChangeArrowheads="1"/>
          </p:cNvSpPr>
          <p:nvPr/>
        </p:nvSpPr>
        <p:spPr bwMode="gray">
          <a:xfrm>
            <a:off x="6803278" y="2012653"/>
            <a:ext cx="2628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dirty="0"/>
              <a:t>バイアウトファンド</a:t>
            </a:r>
            <a:endParaRPr lang="en-US" altLang="ja-JP" sz="1050" dirty="0"/>
          </a:p>
          <a:p>
            <a:pPr>
              <a:lnSpc>
                <a:spcPct val="100000"/>
              </a:lnSpc>
              <a:spcBef>
                <a:spcPts val="300"/>
              </a:spcBef>
            </a:pPr>
            <a:r>
              <a:rPr lang="ja-JP" altLang="en-US" sz="1050" dirty="0"/>
              <a:t>ベンチャーキャピタル（</a:t>
            </a:r>
            <a:r>
              <a:rPr lang="en-US" altLang="ja-JP" sz="1050" dirty="0"/>
              <a:t>VC</a:t>
            </a:r>
            <a:r>
              <a:rPr lang="ja-JP" altLang="en-US" sz="1050" dirty="0"/>
              <a:t>）</a:t>
            </a:r>
            <a:endParaRPr lang="en-US" altLang="ja-JP" sz="1050" dirty="0"/>
          </a:p>
          <a:p>
            <a:pPr>
              <a:lnSpc>
                <a:spcPct val="100000"/>
              </a:lnSpc>
              <a:spcBef>
                <a:spcPts val="300"/>
              </a:spcBef>
            </a:pPr>
            <a:r>
              <a:rPr lang="ja-JP" altLang="en-US" sz="1050" dirty="0"/>
              <a:t>グロースキャピタル</a:t>
            </a:r>
            <a:endParaRPr lang="en-US" altLang="ja-JP" sz="1050" dirty="0"/>
          </a:p>
          <a:p>
            <a:pPr>
              <a:lnSpc>
                <a:spcPct val="100000"/>
              </a:lnSpc>
              <a:spcBef>
                <a:spcPts val="300"/>
              </a:spcBef>
            </a:pPr>
            <a:r>
              <a:rPr lang="ja-JP" altLang="en-US" sz="1050" dirty="0"/>
              <a:t>ディストレス</a:t>
            </a:r>
            <a:r>
              <a:rPr lang="en-US" altLang="ja-JP" sz="1050" dirty="0"/>
              <a:t>/</a:t>
            </a:r>
            <a:r>
              <a:rPr lang="ja-JP" altLang="en-US" sz="1050" dirty="0"/>
              <a:t>ターンアラウンドファンド</a:t>
            </a:r>
            <a:endParaRPr lang="en-US" altLang="ja-JP" sz="1050" dirty="0"/>
          </a:p>
          <a:p>
            <a:pPr>
              <a:lnSpc>
                <a:spcPct val="100000"/>
              </a:lnSpc>
              <a:spcBef>
                <a:spcPts val="300"/>
              </a:spcBef>
            </a:pPr>
            <a:r>
              <a:rPr lang="ja-JP" altLang="en-US" sz="1050" dirty="0"/>
              <a:t>セカンダリーファンド</a:t>
            </a:r>
            <a:endParaRPr lang="en-US" altLang="ja-JP" sz="1050" dirty="0"/>
          </a:p>
          <a:p>
            <a:pPr>
              <a:lnSpc>
                <a:spcPct val="100000"/>
              </a:lnSpc>
              <a:spcBef>
                <a:spcPts val="300"/>
              </a:spcBef>
            </a:pPr>
            <a:r>
              <a:rPr lang="ja-JP" altLang="en-US" sz="1050" dirty="0"/>
              <a:t>ファンド・オブ・ファンズ（</a:t>
            </a:r>
            <a:r>
              <a:rPr lang="en-US" altLang="ja-JP" sz="1050" dirty="0" err="1"/>
              <a:t>FoF</a:t>
            </a:r>
            <a:r>
              <a:rPr lang="ja-JP" altLang="en-US" sz="1050" dirty="0"/>
              <a:t>）</a:t>
            </a:r>
            <a:endParaRPr lang="en-US" altLang="ja-JP" sz="1050" dirty="0"/>
          </a:p>
        </p:txBody>
      </p:sp>
      <p:sp>
        <p:nvSpPr>
          <p:cNvPr id="5" name="テキスト ボックス 96">
            <a:extLst>
              <a:ext uri="{FF2B5EF4-FFF2-40B4-BE49-F238E27FC236}">
                <a16:creationId xmlns:a16="http://schemas.microsoft.com/office/drawing/2014/main" id="{0766902E-E8DD-2C2B-FF15-CECBF76266DC}"/>
              </a:ext>
            </a:extLst>
          </p:cNvPr>
          <p:cNvSpPr txBox="1">
            <a:spLocks noChangeArrowheads="1"/>
          </p:cNvSpPr>
          <p:nvPr/>
        </p:nvSpPr>
        <p:spPr bwMode="gray">
          <a:xfrm>
            <a:off x="510433" y="2012653"/>
            <a:ext cx="726184" cy="1224000"/>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horz" wrap="none" lIns="36000" tIns="36000" rIns="36000" bIns="36000" anchor="ctr"/>
          <a:lstStyle>
            <a:defPPr>
              <a:defRPr lang="en-US"/>
            </a:defPPr>
            <a:lvl1pPr algn="ctr" eaLnBrk="0" hangingPunct="0">
              <a:spcBef>
                <a:spcPts val="0"/>
              </a:spcBef>
              <a:defRPr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spcBef>
                <a:spcPts val="300"/>
              </a:spcBef>
            </a:pPr>
            <a:r>
              <a:rPr lang="ja-JP" altLang="en-US" sz="1050">
                <a:latin typeface="Meiryo UI"/>
                <a:ea typeface="Meiryo UI"/>
              </a:rPr>
              <a:t>PE</a:t>
            </a:r>
            <a:endParaRPr lang="ja-JP" altLang="en-US" sz="1050" dirty="0">
              <a:latin typeface="Meiryo UI"/>
              <a:ea typeface="Meiryo UI"/>
            </a:endParaRPr>
          </a:p>
        </p:txBody>
      </p:sp>
      <p:sp>
        <p:nvSpPr>
          <p:cNvPr id="29" name="テキスト ボックス 96">
            <a:extLst>
              <a:ext uri="{FF2B5EF4-FFF2-40B4-BE49-F238E27FC236}">
                <a16:creationId xmlns:a16="http://schemas.microsoft.com/office/drawing/2014/main" id="{7E90B492-CBF8-F3D2-E922-8D7E2AC5CFD1}"/>
              </a:ext>
            </a:extLst>
          </p:cNvPr>
          <p:cNvSpPr txBox="1">
            <a:spLocks noChangeArrowheads="1"/>
          </p:cNvSpPr>
          <p:nvPr/>
        </p:nvSpPr>
        <p:spPr bwMode="gray">
          <a:xfrm>
            <a:off x="1314994" y="3310957"/>
            <a:ext cx="5426322" cy="1094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marL="87313" indent="-87313" eaLnBrk="1" hangingPunct="1">
              <a:spcBef>
                <a:spcPts val="300"/>
              </a:spcBef>
              <a:buFont typeface="Arial" panose="020B0604020202020204" pitchFamily="34" charset="0"/>
              <a:buChar char="•"/>
            </a:pPr>
            <a:r>
              <a:rPr lang="ja-JP" altLang="en-US" sz="1050" dirty="0">
                <a:solidFill>
                  <a:schemeClr val="accent2">
                    <a:lumMod val="75000"/>
                  </a:schemeClr>
                </a:solidFill>
                <a:latin typeface="Meiryo UI" panose="020B0604030504040204" pitchFamily="50" charset="-128"/>
                <a:ea typeface="Meiryo UI" panose="020B0604030504040204" pitchFamily="50" charset="-128"/>
              </a:rPr>
              <a:t>非上場企業や特定プロジェクトへの貸付・信用投資</a:t>
            </a:r>
            <a:r>
              <a:rPr lang="ja-JP" altLang="en-US" sz="1050" b="0" dirty="0">
                <a:latin typeface="Meiryo UI" panose="020B0604030504040204" pitchFamily="50" charset="-128"/>
                <a:ea typeface="Meiryo UI" panose="020B0604030504040204" pitchFamily="50" charset="-128"/>
              </a:rPr>
              <a:t>を行う資産クラス</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銀行融資や社債市場では調達しづらい層に対し、</a:t>
            </a:r>
            <a:r>
              <a:rPr lang="ja-JP" altLang="en-US" sz="1050" dirty="0">
                <a:solidFill>
                  <a:schemeClr val="accent2">
                    <a:lumMod val="75000"/>
                  </a:schemeClr>
                </a:solidFill>
                <a:latin typeface="Meiryo UI" panose="020B0604030504040204" pitchFamily="50" charset="-128"/>
                <a:ea typeface="Meiryo UI" panose="020B0604030504040204" pitchFamily="50" charset="-128"/>
              </a:rPr>
              <a:t>ファンドが直接ローンを供給</a:t>
            </a:r>
            <a:r>
              <a:rPr lang="ja-JP" altLang="en-US" sz="1050" b="0" dirty="0">
                <a:latin typeface="Meiryo UI" panose="020B0604030504040204" pitchFamily="50" charset="-128"/>
                <a:ea typeface="Meiryo UI" panose="020B0604030504040204" pitchFamily="50" charset="-128"/>
              </a:rPr>
              <a:t>する形態が多い</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クーポン収入（利息）を主なリターン源とし、</a:t>
            </a:r>
            <a:r>
              <a:rPr lang="ja-JP" altLang="en-US" sz="1050" dirty="0">
                <a:solidFill>
                  <a:schemeClr val="accent2">
                    <a:lumMod val="75000"/>
                  </a:schemeClr>
                </a:solidFill>
                <a:latin typeface="Meiryo UI" panose="020B0604030504040204" pitchFamily="50" charset="-128"/>
                <a:ea typeface="Meiryo UI" panose="020B0604030504040204" pitchFamily="50" charset="-128"/>
              </a:rPr>
              <a:t>比較的安定したインカム収益</a:t>
            </a:r>
            <a:r>
              <a:rPr lang="ja-JP" altLang="en-US" sz="1050" b="0" dirty="0">
                <a:latin typeface="Meiryo UI" panose="020B0604030504040204" pitchFamily="50" charset="-128"/>
                <a:ea typeface="Meiryo UI" panose="020B0604030504040204" pitchFamily="50" charset="-128"/>
              </a:rPr>
              <a:t>が期待される一方、信用リスク・流動性リスクは高め</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金利上昇局面では、変動金利ローンを通じて</a:t>
            </a:r>
            <a:r>
              <a:rPr lang="ja-JP" altLang="en-US" sz="1050" dirty="0">
                <a:solidFill>
                  <a:schemeClr val="accent2">
                    <a:lumMod val="75000"/>
                  </a:schemeClr>
                </a:solidFill>
                <a:latin typeface="Meiryo UI" panose="020B0604030504040204" pitchFamily="50" charset="-128"/>
                <a:ea typeface="Meiryo UI" panose="020B0604030504040204" pitchFamily="50" charset="-128"/>
              </a:rPr>
              <a:t>金利上昇のメリットを享受しやすい</a:t>
            </a:r>
            <a:r>
              <a:rPr lang="ja-JP" altLang="en-US" sz="1050" b="0" dirty="0">
                <a:latin typeface="Meiryo UI" panose="020B0604030504040204" pitchFamily="50" charset="-128"/>
                <a:ea typeface="Meiryo UI" panose="020B0604030504040204" pitchFamily="50" charset="-128"/>
              </a:rPr>
              <a:t>構造のものも多い</a:t>
            </a:r>
          </a:p>
        </p:txBody>
      </p:sp>
      <p:sp>
        <p:nvSpPr>
          <p:cNvPr id="35" name="テキスト ボックス 96">
            <a:extLst>
              <a:ext uri="{FF2B5EF4-FFF2-40B4-BE49-F238E27FC236}">
                <a16:creationId xmlns:a16="http://schemas.microsoft.com/office/drawing/2014/main" id="{3362A158-04CB-BD4A-C99E-E74F2963E2F8}"/>
              </a:ext>
            </a:extLst>
          </p:cNvPr>
          <p:cNvSpPr txBox="1">
            <a:spLocks noChangeArrowheads="1"/>
          </p:cNvSpPr>
          <p:nvPr/>
        </p:nvSpPr>
        <p:spPr bwMode="gray">
          <a:xfrm>
            <a:off x="6803278" y="3310957"/>
            <a:ext cx="2628000" cy="1094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dirty="0"/>
              <a:t>ダイレクトレンディング（直接貸付）</a:t>
            </a:r>
            <a:endParaRPr lang="en-US" altLang="ja-JP" sz="1050" dirty="0"/>
          </a:p>
          <a:p>
            <a:pPr>
              <a:lnSpc>
                <a:spcPct val="100000"/>
              </a:lnSpc>
              <a:spcBef>
                <a:spcPts val="300"/>
              </a:spcBef>
            </a:pPr>
            <a:r>
              <a:rPr lang="ja-JP" altLang="en-US" sz="1050" dirty="0"/>
              <a:t>メザニンファイナンス</a:t>
            </a:r>
            <a:endParaRPr lang="en-US" altLang="ja-JP" sz="1050" dirty="0"/>
          </a:p>
          <a:p>
            <a:pPr>
              <a:lnSpc>
                <a:spcPct val="100000"/>
              </a:lnSpc>
              <a:spcBef>
                <a:spcPts val="300"/>
              </a:spcBef>
            </a:pPr>
            <a:r>
              <a:rPr lang="ja-JP" altLang="en-US" sz="1050" dirty="0"/>
              <a:t>スペシャルシチュエーション</a:t>
            </a:r>
            <a:r>
              <a:rPr lang="en-US" altLang="ja-JP" sz="1050" dirty="0"/>
              <a:t>/</a:t>
            </a:r>
            <a:r>
              <a:rPr lang="ja-JP" altLang="en-US" sz="1050" dirty="0"/>
              <a:t>ディストレストデット</a:t>
            </a:r>
            <a:endParaRPr lang="en-US" altLang="ja-JP" sz="1050" dirty="0"/>
          </a:p>
          <a:p>
            <a:pPr>
              <a:lnSpc>
                <a:spcPct val="100000"/>
              </a:lnSpc>
              <a:spcBef>
                <a:spcPts val="300"/>
              </a:spcBef>
            </a:pPr>
            <a:r>
              <a:rPr lang="ja-JP" altLang="en-US" sz="1050" dirty="0"/>
              <a:t>アセットバックドレンディング（</a:t>
            </a:r>
            <a:r>
              <a:rPr lang="en-US" altLang="ja-JP" sz="1050" dirty="0"/>
              <a:t>ABL</a:t>
            </a:r>
            <a:r>
              <a:rPr lang="ja-JP" altLang="en-US" sz="1050" dirty="0"/>
              <a:t>）</a:t>
            </a:r>
            <a:endParaRPr lang="en-US" altLang="ja-JP" sz="1050" dirty="0"/>
          </a:p>
          <a:p>
            <a:pPr>
              <a:lnSpc>
                <a:spcPct val="100000"/>
              </a:lnSpc>
              <a:spcBef>
                <a:spcPts val="300"/>
              </a:spcBef>
            </a:pPr>
            <a:r>
              <a:rPr lang="ja-JP" altLang="en-US" sz="1050" dirty="0"/>
              <a:t>インフラ・不動産向けプロジェクトファイナンス</a:t>
            </a:r>
            <a:endParaRPr lang="ja-JP" altLang="ja-JP" sz="1050" dirty="0"/>
          </a:p>
        </p:txBody>
      </p:sp>
      <p:sp>
        <p:nvSpPr>
          <p:cNvPr id="6" name="テキスト ボックス 96">
            <a:extLst>
              <a:ext uri="{FF2B5EF4-FFF2-40B4-BE49-F238E27FC236}">
                <a16:creationId xmlns:a16="http://schemas.microsoft.com/office/drawing/2014/main" id="{951E3365-1460-79DE-D7A8-05CC31283BF2}"/>
              </a:ext>
            </a:extLst>
          </p:cNvPr>
          <p:cNvSpPr txBox="1">
            <a:spLocks noChangeArrowheads="1"/>
          </p:cNvSpPr>
          <p:nvPr/>
        </p:nvSpPr>
        <p:spPr bwMode="gray">
          <a:xfrm>
            <a:off x="510433" y="3310957"/>
            <a:ext cx="726184" cy="1094196"/>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horz" wrap="none" lIns="36000" tIns="36000" rIns="36000" bIns="36000" anchor="ctr"/>
          <a:lstStyle>
            <a:defPPr>
              <a:defRPr lang="en-US"/>
            </a:defPPr>
            <a:lvl1pPr>
              <a:spcBef>
                <a:spcPts val="0"/>
              </a:spcBef>
              <a:defRPr kumimoji="1" sz="1400" b="0">
                <a:solidFill>
                  <a:schemeClr val="bg1"/>
                </a:solidFill>
              </a:defRPr>
            </a:lvl1pPr>
            <a:lvl2pPr marL="742950" indent="-285750">
              <a:defRPr>
                <a:ea typeface="ＭＳ Ｐゴシック" charset="-128"/>
              </a:defRPr>
            </a:lvl2pPr>
            <a:lvl3pPr marL="1143000" indent="-228600">
              <a:defRPr>
                <a:ea typeface="ＭＳ Ｐゴシック" charset="-128"/>
              </a:defRPr>
            </a:lvl3pPr>
            <a:lvl4pPr marL="1600200" indent="-228600">
              <a:defRPr>
                <a:ea typeface="ＭＳ Ｐゴシック" charset="-128"/>
              </a:defRPr>
            </a:lvl4pPr>
            <a:lvl5pPr marL="2057400" indent="-228600">
              <a:defRPr>
                <a:ea typeface="ＭＳ Ｐゴシック" charset="-128"/>
              </a:defRPr>
            </a:lvl5pPr>
            <a:lvl6pPr marL="2514600" indent="-228600" eaLnBrk="0" fontAlgn="base" hangingPunct="0">
              <a:spcBef>
                <a:spcPct val="0"/>
              </a:spcBef>
              <a:spcAft>
                <a:spcPct val="0"/>
              </a:spcAft>
              <a:defRPr>
                <a:ea typeface="ＭＳ Ｐゴシック" charset="-128"/>
              </a:defRPr>
            </a:lvl6pPr>
            <a:lvl7pPr marL="2971800" indent="-228600" eaLnBrk="0" fontAlgn="base" hangingPunct="0">
              <a:spcBef>
                <a:spcPct val="0"/>
              </a:spcBef>
              <a:spcAft>
                <a:spcPct val="0"/>
              </a:spcAft>
              <a:defRPr>
                <a:ea typeface="ＭＳ Ｐゴシック" charset="-128"/>
              </a:defRPr>
            </a:lvl7pPr>
            <a:lvl8pPr marL="3429000" indent="-228600" eaLnBrk="0" fontAlgn="base" hangingPunct="0">
              <a:spcBef>
                <a:spcPct val="0"/>
              </a:spcBef>
              <a:spcAft>
                <a:spcPct val="0"/>
              </a:spcAft>
              <a:defRPr>
                <a:ea typeface="ＭＳ Ｐゴシック" charset="-128"/>
              </a:defRPr>
            </a:lvl8pPr>
            <a:lvl9pPr marL="3886200" indent="-228600" eaLnBrk="0" fontAlgn="base" hangingPunct="0">
              <a:spcBef>
                <a:spcPct val="0"/>
              </a:spcBef>
              <a:spcAft>
                <a:spcPct val="0"/>
              </a:spcAft>
              <a:defRPr>
                <a:ea typeface="ＭＳ Ｐゴシック" charset="-128"/>
              </a:defRPr>
            </a:lvl9pPr>
          </a:lstStyle>
          <a:p>
            <a:pPr algn="ctr">
              <a:spcBef>
                <a:spcPts val="300"/>
              </a:spcBef>
            </a:pPr>
            <a:r>
              <a:rPr lang="ja-JP" altLang="en-US" sz="1050" dirty="0">
                <a:solidFill>
                  <a:schemeClr val="tx1"/>
                </a:solidFill>
                <a:latin typeface="Meiryo UI"/>
                <a:ea typeface="Meiryo UI"/>
              </a:rPr>
              <a:t>プライベート</a:t>
            </a:r>
            <a:br>
              <a:rPr lang="en-US" altLang="ja-JP" sz="1050" dirty="0">
                <a:solidFill>
                  <a:schemeClr val="tx1"/>
                </a:solidFill>
                <a:latin typeface="Meiryo UI"/>
                <a:ea typeface="Meiryo UI"/>
              </a:rPr>
            </a:br>
            <a:r>
              <a:rPr lang="ja-JP" altLang="en-US" sz="1050" dirty="0">
                <a:solidFill>
                  <a:schemeClr val="tx1"/>
                </a:solidFill>
                <a:latin typeface="Meiryo UI"/>
                <a:ea typeface="Meiryo UI"/>
              </a:rPr>
              <a:t>クレジット</a:t>
            </a:r>
            <a:endParaRPr lang="ja-JP" altLang="en-US" sz="1050" dirty="0">
              <a:solidFill>
                <a:schemeClr val="tx1"/>
              </a:solidFill>
              <a:latin typeface="Meiryo UI" panose="020B0604030504040204" pitchFamily="50" charset="-128"/>
              <a:ea typeface="Meiryo UI" panose="020B0604030504040204" pitchFamily="50" charset="-128"/>
            </a:endParaRPr>
          </a:p>
        </p:txBody>
      </p:sp>
      <p:sp>
        <p:nvSpPr>
          <p:cNvPr id="7" name="テキスト ボックス 96">
            <a:extLst>
              <a:ext uri="{FF2B5EF4-FFF2-40B4-BE49-F238E27FC236}">
                <a16:creationId xmlns:a16="http://schemas.microsoft.com/office/drawing/2014/main" id="{87980348-A7E3-0A59-62BB-987C57DCF9C4}"/>
              </a:ext>
            </a:extLst>
          </p:cNvPr>
          <p:cNvSpPr txBox="1">
            <a:spLocks noChangeArrowheads="1"/>
          </p:cNvSpPr>
          <p:nvPr/>
        </p:nvSpPr>
        <p:spPr bwMode="gray">
          <a:xfrm>
            <a:off x="510433" y="4479457"/>
            <a:ext cx="726184" cy="1098577"/>
          </a:xfrm>
          <a:prstGeom prst="rect">
            <a:avLst/>
          </a:prstGeom>
          <a:solidFill>
            <a:schemeClr val="accent1">
              <a:lumMod val="20000"/>
              <a:lumOff val="80000"/>
            </a:schemeClr>
          </a:solidFill>
          <a:ln w="6350">
            <a:solidFill>
              <a:schemeClr val="accent1">
                <a:lumMod val="40000"/>
                <a:lumOff val="60000"/>
              </a:schemeClr>
            </a:solidFill>
            <a:miter lim="800000"/>
            <a:headEnd/>
            <a:tailEnd/>
          </a:ln>
        </p:spPr>
        <p:txBody>
          <a:bodyPr vert="horz" wrap="none" lIns="36000" tIns="36000" rIns="36000" bIns="36000" anchor="ctr"/>
          <a:lstStyle>
            <a:defPPr>
              <a:defRPr lang="en-US"/>
            </a:defPPr>
            <a:lvl1pPr>
              <a:spcBef>
                <a:spcPts val="0"/>
              </a:spcBef>
              <a:defRPr kumimoji="1" sz="1400" b="0">
                <a:solidFill>
                  <a:schemeClr val="bg1"/>
                </a:solidFill>
              </a:defRPr>
            </a:lvl1pPr>
            <a:lvl2pPr marL="742950" indent="-285750">
              <a:defRPr>
                <a:ea typeface="ＭＳ Ｐゴシック" charset="-128"/>
              </a:defRPr>
            </a:lvl2pPr>
            <a:lvl3pPr marL="1143000" indent="-228600">
              <a:defRPr>
                <a:ea typeface="ＭＳ Ｐゴシック" charset="-128"/>
              </a:defRPr>
            </a:lvl3pPr>
            <a:lvl4pPr marL="1600200" indent="-228600">
              <a:defRPr>
                <a:ea typeface="ＭＳ Ｐゴシック" charset="-128"/>
              </a:defRPr>
            </a:lvl4pPr>
            <a:lvl5pPr marL="2057400" indent="-228600">
              <a:defRPr>
                <a:ea typeface="ＭＳ Ｐゴシック" charset="-128"/>
              </a:defRPr>
            </a:lvl5pPr>
            <a:lvl6pPr marL="2514600" indent="-228600" eaLnBrk="0" fontAlgn="base" hangingPunct="0">
              <a:spcBef>
                <a:spcPct val="0"/>
              </a:spcBef>
              <a:spcAft>
                <a:spcPct val="0"/>
              </a:spcAft>
              <a:defRPr>
                <a:ea typeface="ＭＳ Ｐゴシック" charset="-128"/>
              </a:defRPr>
            </a:lvl6pPr>
            <a:lvl7pPr marL="2971800" indent="-228600" eaLnBrk="0" fontAlgn="base" hangingPunct="0">
              <a:spcBef>
                <a:spcPct val="0"/>
              </a:spcBef>
              <a:spcAft>
                <a:spcPct val="0"/>
              </a:spcAft>
              <a:defRPr>
                <a:ea typeface="ＭＳ Ｐゴシック" charset="-128"/>
              </a:defRPr>
            </a:lvl7pPr>
            <a:lvl8pPr marL="3429000" indent="-228600" eaLnBrk="0" fontAlgn="base" hangingPunct="0">
              <a:spcBef>
                <a:spcPct val="0"/>
              </a:spcBef>
              <a:spcAft>
                <a:spcPct val="0"/>
              </a:spcAft>
              <a:defRPr>
                <a:ea typeface="ＭＳ Ｐゴシック" charset="-128"/>
              </a:defRPr>
            </a:lvl8pPr>
            <a:lvl9pPr marL="3886200" indent="-228600" eaLnBrk="0" fontAlgn="base" hangingPunct="0">
              <a:spcBef>
                <a:spcPct val="0"/>
              </a:spcBef>
              <a:spcAft>
                <a:spcPct val="0"/>
              </a:spcAft>
              <a:defRPr>
                <a:ea typeface="ＭＳ Ｐゴシック" charset="-128"/>
              </a:defRPr>
            </a:lvl9pPr>
          </a:lstStyle>
          <a:p>
            <a:pPr algn="ctr">
              <a:spcBef>
                <a:spcPts val="300"/>
              </a:spcBef>
            </a:pPr>
            <a:r>
              <a:rPr lang="ja-JP" altLang="en-US" sz="1050" dirty="0">
                <a:solidFill>
                  <a:schemeClr val="tx1"/>
                </a:solidFill>
                <a:latin typeface="Meiryo UI"/>
                <a:ea typeface="Meiryo UI"/>
              </a:rPr>
              <a:t>不動産</a:t>
            </a:r>
          </a:p>
        </p:txBody>
      </p:sp>
      <p:sp>
        <p:nvSpPr>
          <p:cNvPr id="30" name="テキスト ボックス 96">
            <a:extLst>
              <a:ext uri="{FF2B5EF4-FFF2-40B4-BE49-F238E27FC236}">
                <a16:creationId xmlns:a16="http://schemas.microsoft.com/office/drawing/2014/main" id="{052F0292-CE94-A03D-794B-12FD9AA202C9}"/>
              </a:ext>
            </a:extLst>
          </p:cNvPr>
          <p:cNvSpPr txBox="1">
            <a:spLocks noChangeArrowheads="1"/>
          </p:cNvSpPr>
          <p:nvPr/>
        </p:nvSpPr>
        <p:spPr bwMode="gray">
          <a:xfrm>
            <a:off x="1314994" y="4479457"/>
            <a:ext cx="5426322" cy="1098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eaLnBrk="0" hangingPunct="0">
              <a:defRPr sz="1200" b="1">
                <a:solidFill>
                  <a:schemeClr val="tx1"/>
                </a:solidFill>
                <a:latin typeface="HGPｺﾞｼｯｸE" pitchFamily="50" charset="-128"/>
                <a:ea typeface="ＭＳ Ｐゴシック" charset="-128"/>
              </a:defRPr>
            </a:lvl1pPr>
            <a:lvl2pPr marL="742950" indent="-285750" eaLnBrk="0" hangingPunct="0">
              <a:defRPr sz="1200" b="1">
                <a:solidFill>
                  <a:schemeClr val="tx1"/>
                </a:solidFill>
                <a:latin typeface="HGPｺﾞｼｯｸE" pitchFamily="50" charset="-128"/>
                <a:ea typeface="ＭＳ Ｐゴシック" charset="-128"/>
              </a:defRPr>
            </a:lvl2pPr>
            <a:lvl3pPr marL="1143000" indent="-228600" eaLnBrk="0" hangingPunct="0">
              <a:defRPr sz="1200" b="1">
                <a:solidFill>
                  <a:schemeClr val="tx1"/>
                </a:solidFill>
                <a:latin typeface="HGPｺﾞｼｯｸE" pitchFamily="50" charset="-128"/>
                <a:ea typeface="ＭＳ Ｐゴシック" charset="-128"/>
              </a:defRPr>
            </a:lvl3pPr>
            <a:lvl4pPr marL="1600200" indent="-228600" eaLnBrk="0" hangingPunct="0">
              <a:defRPr sz="1200" b="1">
                <a:solidFill>
                  <a:schemeClr val="tx1"/>
                </a:solidFill>
                <a:latin typeface="HGPｺﾞｼｯｸE" pitchFamily="50" charset="-128"/>
                <a:ea typeface="ＭＳ Ｐゴシック" charset="-128"/>
              </a:defRPr>
            </a:lvl4pPr>
            <a:lvl5pPr marL="2057400" indent="-228600" eaLnBrk="0" hangingPunct="0">
              <a:defRPr sz="1200" b="1">
                <a:solidFill>
                  <a:schemeClr val="tx1"/>
                </a:solidFill>
                <a:latin typeface="HGPｺﾞｼｯｸE" pitchFamily="50" charset="-128"/>
                <a:ea typeface="ＭＳ Ｐゴシック" charset="-128"/>
              </a:defRPr>
            </a:lvl5pPr>
            <a:lvl6pPr marL="25146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6pPr>
            <a:lvl7pPr marL="29718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7pPr>
            <a:lvl8pPr marL="34290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8pPr>
            <a:lvl9pPr marL="3886200" indent="-228600" eaLnBrk="0" fontAlgn="base" hangingPunct="0">
              <a:spcBef>
                <a:spcPct val="0"/>
              </a:spcBef>
              <a:spcAft>
                <a:spcPct val="0"/>
              </a:spcAft>
              <a:defRPr sz="1200" b="1">
                <a:solidFill>
                  <a:schemeClr val="tx1"/>
                </a:solidFill>
                <a:latin typeface="HGPｺﾞｼｯｸE" pitchFamily="50" charset="-128"/>
                <a:ea typeface="ＭＳ Ｐゴシック" charset="-128"/>
              </a:defRPr>
            </a:lvl9pPr>
          </a:lstStyle>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オフィスビル、商業施設、住宅、物流施設、ホテルなどの</a:t>
            </a:r>
            <a:r>
              <a:rPr lang="ja-JP" altLang="en-US" sz="1050" dirty="0">
                <a:solidFill>
                  <a:schemeClr val="accent2">
                    <a:lumMod val="75000"/>
                  </a:schemeClr>
                </a:solidFill>
                <a:latin typeface="Meiryo UI" panose="020B0604030504040204" pitchFamily="50" charset="-128"/>
                <a:ea typeface="Meiryo UI" panose="020B0604030504040204" pitchFamily="50" charset="-128"/>
              </a:rPr>
              <a:t>実物不動産や、不動産関連の証券</a:t>
            </a:r>
            <a:r>
              <a:rPr lang="ja-JP" altLang="en-US" sz="1050" b="0" dirty="0">
                <a:latin typeface="Meiryo UI" panose="020B0604030504040204" pitchFamily="50" charset="-128"/>
                <a:ea typeface="Meiryo UI" panose="020B0604030504040204" pitchFamily="50" charset="-128"/>
              </a:rPr>
              <a:t>に投資する資産クラス</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“インカム収入（賃料）＋キャピタルゲイン（売却益）”がリターン源</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インフレ局面で賃料改定により</a:t>
            </a:r>
            <a:r>
              <a:rPr lang="ja-JP" altLang="en-US" sz="1050" dirty="0">
                <a:solidFill>
                  <a:schemeClr val="accent2">
                    <a:lumMod val="75000"/>
                  </a:schemeClr>
                </a:solidFill>
                <a:latin typeface="Meiryo UI" panose="020B0604030504040204" pitchFamily="50" charset="-128"/>
                <a:ea typeface="Meiryo UI" panose="020B0604030504040204" pitchFamily="50" charset="-128"/>
              </a:rPr>
              <a:t>インフレヘッジ効果</a:t>
            </a:r>
            <a:r>
              <a:rPr lang="ja-JP" altLang="en-US" sz="1050" b="0" dirty="0">
                <a:latin typeface="Meiryo UI" panose="020B0604030504040204" pitchFamily="50" charset="-128"/>
                <a:ea typeface="Meiryo UI" panose="020B0604030504040204" pitchFamily="50" charset="-128"/>
              </a:rPr>
              <a:t>が期待されることも多い</a:t>
            </a:r>
            <a:endParaRPr lang="en-US" altLang="ja-JP" sz="1050" b="0" dirty="0">
              <a:latin typeface="Meiryo UI" panose="020B0604030504040204" pitchFamily="50" charset="-128"/>
              <a:ea typeface="Meiryo UI" panose="020B0604030504040204" pitchFamily="50" charset="-128"/>
            </a:endParaRPr>
          </a:p>
          <a:p>
            <a:pPr marL="87313" indent="-87313" eaLnBrk="1" hangingPunct="1">
              <a:spcBef>
                <a:spcPts val="300"/>
              </a:spcBef>
              <a:buFont typeface="Arial" panose="020B0604020202020204" pitchFamily="34" charset="0"/>
              <a:buChar char="•"/>
            </a:pPr>
            <a:r>
              <a:rPr lang="ja-JP" altLang="en-US" sz="1050" b="0" dirty="0">
                <a:latin typeface="Meiryo UI" panose="020B0604030504040204" pitchFamily="50" charset="-128"/>
                <a:ea typeface="Meiryo UI" panose="020B0604030504040204" pitchFamily="50" charset="-128"/>
              </a:rPr>
              <a:t>伝統的資産とされることもあるが、機関投資家ポートフォリオにおいてはオルタナティブとして区分されることが多い</a:t>
            </a:r>
            <a:endParaRPr lang="en-US" altLang="ja-JP" sz="1050" b="0" dirty="0">
              <a:latin typeface="Meiryo UI" panose="020B0604030504040204" pitchFamily="50" charset="-128"/>
              <a:ea typeface="Meiryo UI" panose="020B0604030504040204" pitchFamily="50" charset="-128"/>
            </a:endParaRPr>
          </a:p>
        </p:txBody>
      </p:sp>
      <p:sp>
        <p:nvSpPr>
          <p:cNvPr id="36" name="テキスト ボックス 96">
            <a:extLst>
              <a:ext uri="{FF2B5EF4-FFF2-40B4-BE49-F238E27FC236}">
                <a16:creationId xmlns:a16="http://schemas.microsoft.com/office/drawing/2014/main" id="{356109E8-E929-9409-7292-2D5FB21DF0C0}"/>
              </a:ext>
            </a:extLst>
          </p:cNvPr>
          <p:cNvSpPr txBox="1">
            <a:spLocks noChangeArrowheads="1"/>
          </p:cNvSpPr>
          <p:nvPr/>
        </p:nvSpPr>
        <p:spPr bwMode="gray">
          <a:xfrm>
            <a:off x="6803278" y="4479457"/>
            <a:ext cx="2628000" cy="1098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dirty="0"/>
              <a:t>コア（</a:t>
            </a:r>
            <a:r>
              <a:rPr lang="en-US" altLang="ja-JP" sz="1050" dirty="0"/>
              <a:t>Core</a:t>
            </a:r>
            <a:r>
              <a:rPr lang="ja-JP" altLang="en-US" sz="1050" dirty="0"/>
              <a:t>）不動産</a:t>
            </a:r>
            <a:endParaRPr lang="en-US" altLang="ja-JP" sz="1050" dirty="0"/>
          </a:p>
          <a:p>
            <a:pPr>
              <a:lnSpc>
                <a:spcPct val="100000"/>
              </a:lnSpc>
              <a:spcBef>
                <a:spcPts val="300"/>
              </a:spcBef>
            </a:pPr>
            <a:r>
              <a:rPr lang="ja-JP" altLang="en-US" sz="1050" dirty="0"/>
              <a:t>コアプラス（</a:t>
            </a:r>
            <a:r>
              <a:rPr lang="en-US" altLang="ja-JP" sz="1050" dirty="0"/>
              <a:t>Core-Plus</a:t>
            </a:r>
            <a:r>
              <a:rPr lang="ja-JP" altLang="en-US" sz="1050" dirty="0"/>
              <a:t>）</a:t>
            </a:r>
            <a:endParaRPr lang="en-US" altLang="ja-JP" sz="1050" dirty="0"/>
          </a:p>
          <a:p>
            <a:pPr>
              <a:lnSpc>
                <a:spcPct val="100000"/>
              </a:lnSpc>
              <a:spcBef>
                <a:spcPts val="300"/>
              </a:spcBef>
            </a:pPr>
            <a:r>
              <a:rPr lang="ja-JP" altLang="en-US" sz="1050" dirty="0"/>
              <a:t>バリューアッド</a:t>
            </a:r>
            <a:endParaRPr lang="en-US" altLang="ja-JP" sz="1050" dirty="0"/>
          </a:p>
          <a:p>
            <a:pPr>
              <a:lnSpc>
                <a:spcPct val="100000"/>
              </a:lnSpc>
              <a:spcBef>
                <a:spcPts val="300"/>
              </a:spcBef>
            </a:pPr>
            <a:r>
              <a:rPr lang="ja-JP" altLang="en-US" sz="1050" dirty="0"/>
              <a:t>オポチュニスティック</a:t>
            </a:r>
            <a:endParaRPr lang="en-US" altLang="ja-JP" sz="1050" dirty="0"/>
          </a:p>
          <a:p>
            <a:pPr>
              <a:lnSpc>
                <a:spcPct val="100000"/>
              </a:lnSpc>
              <a:spcBef>
                <a:spcPts val="300"/>
              </a:spcBef>
            </a:pPr>
            <a:r>
              <a:rPr lang="ja-JP" altLang="en-US" sz="1050" dirty="0"/>
              <a:t>セクター別投資</a:t>
            </a:r>
            <a:endParaRPr lang="en-US" altLang="ja-JP" sz="1050" dirty="0"/>
          </a:p>
          <a:p>
            <a:pPr>
              <a:lnSpc>
                <a:spcPct val="100000"/>
              </a:lnSpc>
              <a:spcBef>
                <a:spcPts val="300"/>
              </a:spcBef>
            </a:pPr>
            <a:r>
              <a:rPr lang="ja-JP" altLang="en-US" sz="1050" dirty="0"/>
              <a:t>不動産証券化商品（</a:t>
            </a:r>
            <a:r>
              <a:rPr lang="en-US" altLang="ja-JP" sz="1050" dirty="0"/>
              <a:t>REIT</a:t>
            </a:r>
            <a:r>
              <a:rPr lang="ja-JP" altLang="en-US" sz="1050" dirty="0"/>
              <a:t>等）</a:t>
            </a:r>
            <a:endParaRPr lang="en-US" altLang="ja-JP" sz="1050" dirty="0"/>
          </a:p>
        </p:txBody>
      </p:sp>
      <p:cxnSp>
        <p:nvCxnSpPr>
          <p:cNvPr id="52" name="直線コネクタ 101">
            <a:extLst>
              <a:ext uri="{FF2B5EF4-FFF2-40B4-BE49-F238E27FC236}">
                <a16:creationId xmlns:a16="http://schemas.microsoft.com/office/drawing/2014/main" id="{210D1810-069C-422A-70BD-789DF900B287}"/>
              </a:ext>
            </a:extLst>
          </p:cNvPr>
          <p:cNvCxnSpPr>
            <a:cxnSpLocks noChangeShapeType="1"/>
          </p:cNvCxnSpPr>
          <p:nvPr/>
        </p:nvCxnSpPr>
        <p:spPr bwMode="gray">
          <a:xfrm>
            <a:off x="1314993" y="3273805"/>
            <a:ext cx="8116286"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55" name="直線コネクタ 101">
            <a:extLst>
              <a:ext uri="{FF2B5EF4-FFF2-40B4-BE49-F238E27FC236}">
                <a16:creationId xmlns:a16="http://schemas.microsoft.com/office/drawing/2014/main" id="{EFFDF886-EAEA-A845-A306-0880CA28B4CF}"/>
              </a:ext>
            </a:extLst>
          </p:cNvPr>
          <p:cNvCxnSpPr>
            <a:cxnSpLocks noChangeShapeType="1"/>
          </p:cNvCxnSpPr>
          <p:nvPr/>
        </p:nvCxnSpPr>
        <p:spPr bwMode="gray">
          <a:xfrm>
            <a:off x="1314993" y="4442305"/>
            <a:ext cx="8116286"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 name="直線コネクタ 101">
            <a:extLst>
              <a:ext uri="{FF2B5EF4-FFF2-40B4-BE49-F238E27FC236}">
                <a16:creationId xmlns:a16="http://schemas.microsoft.com/office/drawing/2014/main" id="{F931E95A-E289-6FE6-4D18-6219B38E5FCA}"/>
              </a:ext>
            </a:extLst>
          </p:cNvPr>
          <p:cNvCxnSpPr>
            <a:cxnSpLocks noChangeShapeType="1"/>
          </p:cNvCxnSpPr>
          <p:nvPr/>
        </p:nvCxnSpPr>
        <p:spPr bwMode="gray">
          <a:xfrm>
            <a:off x="1314993" y="5615186"/>
            <a:ext cx="8116286" cy="0"/>
          </a:xfrm>
          <a:prstGeom prst="line">
            <a:avLst/>
          </a:prstGeom>
          <a:noFill/>
          <a:ln w="63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47" name="テキスト ボックス 96">
            <a:extLst>
              <a:ext uri="{FF2B5EF4-FFF2-40B4-BE49-F238E27FC236}">
                <a16:creationId xmlns:a16="http://schemas.microsoft.com/office/drawing/2014/main" id="{3D4A5213-64DB-FC10-2C27-2A09B7D25670}"/>
              </a:ext>
            </a:extLst>
          </p:cNvPr>
          <p:cNvSpPr txBox="1">
            <a:spLocks noChangeArrowheads="1"/>
          </p:cNvSpPr>
          <p:nvPr/>
        </p:nvSpPr>
        <p:spPr bwMode="gray">
          <a:xfrm>
            <a:off x="6803278" y="5652340"/>
            <a:ext cx="2628000" cy="948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defPPr>
              <a:defRPr lang="en-US"/>
            </a:defPPr>
            <a:lvl1pPr marL="87313" indent="-87313" eaLnBrk="1" hangingPunct="1">
              <a:lnSpc>
                <a:spcPct val="110000"/>
              </a:lnSpc>
              <a:spcBef>
                <a:spcPts val="100"/>
              </a:spcBef>
              <a:buFont typeface="Arial" panose="020B0604020202020204" pitchFamily="34" charset="0"/>
              <a:buChar char="•"/>
              <a:defRPr sz="1200" b="0">
                <a:latin typeface="Meiryo UI" panose="020B0604030504040204" pitchFamily="50" charset="-128"/>
                <a:ea typeface="Meiryo UI" panose="020B0604030504040204" pitchFamily="50" charset="-128"/>
              </a:defRPr>
            </a:lvl1pPr>
            <a:lvl2pPr marL="742950" indent="-285750" eaLnBrk="0" hangingPunct="0">
              <a:defRPr sz="1200" b="1">
                <a:ea typeface="ＭＳ Ｐゴシック" charset="-128"/>
              </a:defRPr>
            </a:lvl2pPr>
            <a:lvl3pPr marL="1143000" indent="-228600" eaLnBrk="0" hangingPunct="0">
              <a:defRPr sz="1200" b="1">
                <a:ea typeface="ＭＳ Ｐゴシック" charset="-128"/>
              </a:defRPr>
            </a:lvl3pPr>
            <a:lvl4pPr marL="1600200" indent="-228600" eaLnBrk="0" hangingPunct="0">
              <a:defRPr sz="1200" b="1">
                <a:ea typeface="ＭＳ Ｐゴシック" charset="-128"/>
              </a:defRPr>
            </a:lvl4pPr>
            <a:lvl5pPr marL="2057400" indent="-228600" eaLnBrk="0" hangingPunct="0">
              <a:defRPr sz="1200" b="1">
                <a:ea typeface="ＭＳ Ｐゴシック" charset="-128"/>
              </a:defRPr>
            </a:lvl5pPr>
            <a:lvl6pPr marL="2514600" indent="-228600" eaLnBrk="0" fontAlgn="base" hangingPunct="0">
              <a:spcBef>
                <a:spcPct val="0"/>
              </a:spcBef>
              <a:spcAft>
                <a:spcPct val="0"/>
              </a:spcAft>
              <a:defRPr sz="1200" b="1">
                <a:ea typeface="ＭＳ Ｐゴシック" charset="-128"/>
              </a:defRPr>
            </a:lvl6pPr>
            <a:lvl7pPr marL="2971800" indent="-228600" eaLnBrk="0" fontAlgn="base" hangingPunct="0">
              <a:spcBef>
                <a:spcPct val="0"/>
              </a:spcBef>
              <a:spcAft>
                <a:spcPct val="0"/>
              </a:spcAft>
              <a:defRPr sz="1200" b="1">
                <a:ea typeface="ＭＳ Ｐゴシック" charset="-128"/>
              </a:defRPr>
            </a:lvl7pPr>
            <a:lvl8pPr marL="3429000" indent="-228600" eaLnBrk="0" fontAlgn="base" hangingPunct="0">
              <a:spcBef>
                <a:spcPct val="0"/>
              </a:spcBef>
              <a:spcAft>
                <a:spcPct val="0"/>
              </a:spcAft>
              <a:defRPr sz="1200" b="1">
                <a:ea typeface="ＭＳ Ｐゴシック" charset="-128"/>
              </a:defRPr>
            </a:lvl8pPr>
            <a:lvl9pPr marL="3886200" indent="-228600" eaLnBrk="0" fontAlgn="base" hangingPunct="0">
              <a:spcBef>
                <a:spcPct val="0"/>
              </a:spcBef>
              <a:spcAft>
                <a:spcPct val="0"/>
              </a:spcAft>
              <a:defRPr sz="1200" b="1">
                <a:ea typeface="ＭＳ Ｐゴシック" charset="-128"/>
              </a:defRPr>
            </a:lvl9pPr>
          </a:lstStyle>
          <a:p>
            <a:pPr>
              <a:lnSpc>
                <a:spcPct val="100000"/>
              </a:lnSpc>
              <a:spcBef>
                <a:spcPts val="300"/>
              </a:spcBef>
            </a:pPr>
            <a:r>
              <a:rPr lang="ja-JP" altLang="en-US" sz="1050" dirty="0"/>
              <a:t>コアインフラ</a:t>
            </a:r>
            <a:endParaRPr lang="en-US" altLang="ja-JP" sz="1050" dirty="0"/>
          </a:p>
          <a:p>
            <a:pPr>
              <a:lnSpc>
                <a:spcPct val="100000"/>
              </a:lnSpc>
              <a:spcBef>
                <a:spcPts val="300"/>
              </a:spcBef>
            </a:pPr>
            <a:r>
              <a:rPr lang="ja-JP" altLang="en-US" sz="1050" dirty="0"/>
              <a:t>コアプラス</a:t>
            </a:r>
            <a:r>
              <a:rPr lang="en-US" altLang="ja-JP" sz="1050" dirty="0"/>
              <a:t>/</a:t>
            </a:r>
            <a:r>
              <a:rPr lang="ja-JP" altLang="en-US" sz="1050" dirty="0"/>
              <a:t>バリューアッドインフラ</a:t>
            </a:r>
            <a:endParaRPr lang="en-US" altLang="ja-JP" sz="1050" dirty="0"/>
          </a:p>
          <a:p>
            <a:pPr>
              <a:lnSpc>
                <a:spcPct val="100000"/>
              </a:lnSpc>
              <a:spcBef>
                <a:spcPts val="300"/>
              </a:spcBef>
            </a:pPr>
            <a:r>
              <a:rPr lang="ja-JP" altLang="en-US" sz="1050" dirty="0"/>
              <a:t>グリーン</a:t>
            </a:r>
            <a:r>
              <a:rPr lang="en-US" altLang="ja-JP" sz="1050" dirty="0"/>
              <a:t>/</a:t>
            </a:r>
            <a:r>
              <a:rPr lang="ja-JP" altLang="en-US" sz="1050" dirty="0"/>
              <a:t>再生可能エネルギーインフラ</a:t>
            </a:r>
            <a:endParaRPr lang="en-US" altLang="ja-JP" sz="1050" dirty="0"/>
          </a:p>
          <a:p>
            <a:pPr>
              <a:lnSpc>
                <a:spcPct val="100000"/>
              </a:lnSpc>
              <a:spcBef>
                <a:spcPts val="300"/>
              </a:spcBef>
            </a:pPr>
            <a:r>
              <a:rPr lang="ja-JP" altLang="en-US" sz="1050" dirty="0"/>
              <a:t>インフラデット（インフラ向け貸付）</a:t>
            </a:r>
            <a:endParaRPr lang="en-US" altLang="ja-JP" sz="1050" dirty="0"/>
          </a:p>
          <a:p>
            <a:pPr>
              <a:lnSpc>
                <a:spcPct val="100000"/>
              </a:lnSpc>
              <a:spcBef>
                <a:spcPts val="300"/>
              </a:spcBef>
            </a:pPr>
            <a:r>
              <a:rPr lang="ja-JP" altLang="en-US" sz="1050" dirty="0"/>
              <a:t>インフラファンド</a:t>
            </a:r>
            <a:r>
              <a:rPr lang="en-US" altLang="ja-JP" sz="1050" dirty="0"/>
              <a:t>/</a:t>
            </a:r>
            <a:r>
              <a:rPr lang="ja-JP" altLang="en-US" sz="1050" dirty="0"/>
              <a:t>インフラリート</a:t>
            </a:r>
          </a:p>
        </p:txBody>
      </p:sp>
    </p:spTree>
    <p:extLst>
      <p:ext uri="{BB962C8B-B14F-4D97-AF65-F5344CB8AC3E}">
        <p14:creationId xmlns:p14="http://schemas.microsoft.com/office/powerpoint/2010/main" val="2094086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オブジェクト 13" hidden="1">
            <a:extLst>
              <a:ext uri="{FF2B5EF4-FFF2-40B4-BE49-F238E27FC236}">
                <a16:creationId xmlns:a16="http://schemas.microsoft.com/office/drawing/2014/main" id="{D27CE4E1-AE27-4929-A944-3D510222E8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16" imgH="416" progId="TCLayout.ActiveDocument.1">
                  <p:embed/>
                </p:oleObj>
              </mc:Choice>
              <mc:Fallback>
                <p:oleObj name="think-cellスライド" r:id="rId4" imgW="416" imgH="416" progId="TCLayout.ActiveDocument.1">
                  <p:embed/>
                  <p:pic>
                    <p:nvPicPr>
                      <p:cNvPr id="14" name="オブジェクト 13" hidden="1">
                        <a:extLst>
                          <a:ext uri="{FF2B5EF4-FFF2-40B4-BE49-F238E27FC236}">
                            <a16:creationId xmlns:a16="http://schemas.microsoft.com/office/drawing/2014/main" id="{D27CE4E1-AE27-4929-A944-3D510222E8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EE27363D-2D97-45EF-AD2C-3C4F6B7DD8E6}"/>
              </a:ext>
            </a:extLst>
          </p:cNvPr>
          <p:cNvSpPr>
            <a:spLocks noGrp="1"/>
          </p:cNvSpPr>
          <p:nvPr>
            <p:ph type="title"/>
          </p:nvPr>
        </p:nvSpPr>
        <p:spPr/>
        <p:txBody>
          <a:bodyPr vert="horz" lIns="0" tIns="0" rIns="0" bIns="0" rtlCol="0" anchor="b" anchorCtr="0">
            <a:noAutofit/>
          </a:bodyPr>
          <a:lstStyle/>
          <a:p>
            <a:r>
              <a:rPr lang="en-US" altLang="ja-JP" dirty="0"/>
              <a:t>4.</a:t>
            </a:r>
            <a:r>
              <a:rPr lang="ja-JP" altLang="en-US" dirty="0"/>
              <a:t> 証券業界の主な課題</a:t>
            </a:r>
          </a:p>
        </p:txBody>
      </p:sp>
      <p:sp>
        <p:nvSpPr>
          <p:cNvPr id="8" name="テキスト プレースホルダー 7">
            <a:extLst>
              <a:ext uri="{FF2B5EF4-FFF2-40B4-BE49-F238E27FC236}">
                <a16:creationId xmlns:a16="http://schemas.microsoft.com/office/drawing/2014/main" id="{4319693A-FDE5-47AD-AC7D-095D0D600971}"/>
              </a:ext>
            </a:extLst>
          </p:cNvPr>
          <p:cNvSpPr>
            <a:spLocks noGrp="1"/>
          </p:cNvSpPr>
          <p:nvPr>
            <p:ph type="body" idx="12"/>
          </p:nvPr>
        </p:nvSpPr>
        <p:spPr/>
        <p:txBody>
          <a:bodyPr/>
          <a:lstStyle/>
          <a:p>
            <a:r>
              <a:rPr kumimoji="1" lang="ja-JP" altLang="en-US" b="0" kern="0" dirty="0">
                <a:latin typeface="Meiryo UI" panose="020B0604030504040204" pitchFamily="50" charset="-128"/>
                <a:ea typeface="Meiryo UI" panose="020B0604030504040204" pitchFamily="50" charset="-128"/>
              </a:rPr>
              <a:t>人口動態や経済状況等の外部要因、及び組織構造やシステム構成等の外部要因により、各証券会社とも複数の課題を抱えており、アクセンチュアとしての支援余地も多数存在。</a:t>
            </a:r>
          </a:p>
        </p:txBody>
      </p:sp>
      <p:sp>
        <p:nvSpPr>
          <p:cNvPr id="11" name="テキスト プレースホルダー 10">
            <a:extLst>
              <a:ext uri="{FF2B5EF4-FFF2-40B4-BE49-F238E27FC236}">
                <a16:creationId xmlns:a16="http://schemas.microsoft.com/office/drawing/2014/main" id="{5611065D-D4CF-42A4-94D9-8BBF54A329E5}"/>
              </a:ext>
            </a:extLst>
          </p:cNvPr>
          <p:cNvSpPr>
            <a:spLocks noGrp="1"/>
          </p:cNvSpPr>
          <p:nvPr>
            <p:ph type="body" sz="quarter" idx="13"/>
          </p:nvPr>
        </p:nvSpPr>
        <p:spPr/>
        <p:txBody>
          <a:bodyPr/>
          <a:lstStyle/>
          <a:p>
            <a:endParaRPr lang="ja-JP" altLang="en-US" dirty="0"/>
          </a:p>
        </p:txBody>
      </p:sp>
      <p:sp>
        <p:nvSpPr>
          <p:cNvPr id="18" name="正方形/長方形 17">
            <a:extLst>
              <a:ext uri="{FF2B5EF4-FFF2-40B4-BE49-F238E27FC236}">
                <a16:creationId xmlns:a16="http://schemas.microsoft.com/office/drawing/2014/main" id="{7CCF5D08-38B3-2DC6-2714-3367BD9A1712}"/>
              </a:ext>
            </a:extLst>
          </p:cNvPr>
          <p:cNvSpPr/>
          <p:nvPr/>
        </p:nvSpPr>
        <p:spPr>
          <a:xfrm>
            <a:off x="878923" y="1546988"/>
            <a:ext cx="1453466" cy="986505"/>
          </a:xfrm>
          <a:prstGeom prst="rect">
            <a:avLst/>
          </a:prstGeom>
          <a:solidFill>
            <a:schemeClr val="accent2">
              <a:lumMod val="20000"/>
              <a:lumOff val="80000"/>
            </a:schemeClr>
          </a:solid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lang="ja-JP" altLang="en-US" sz="1200" b="1" kern="0" dirty="0">
                <a:solidFill>
                  <a:prstClr val="black"/>
                </a:solidFill>
                <a:latin typeface="Meiryo UI" panose="020B0604030504040204" pitchFamily="50" charset="-128"/>
                <a:ea typeface="Meiryo UI" panose="020B0604030504040204" pitchFamily="50" charset="-128"/>
              </a:rPr>
              <a:t>業界構造改革</a:t>
            </a:r>
            <a:endParaRPr lang="en-US" altLang="ja-JP" sz="1200" b="1" kern="0" dirty="0">
              <a:solidFill>
                <a:prstClr val="black"/>
              </a:solidFill>
              <a:latin typeface="Meiryo UI" panose="020B0604030504040204" pitchFamily="50" charset="-128"/>
              <a:ea typeface="Meiryo UI" panose="020B0604030504040204" pitchFamily="50" charset="-128"/>
            </a:endParaRPr>
          </a:p>
          <a:p>
            <a:pPr algn="ctr" fontAlgn="auto">
              <a:spcBef>
                <a:spcPts val="0"/>
              </a:spcBef>
              <a:spcAft>
                <a:spcPts val="0"/>
              </a:spcAft>
              <a:buClr>
                <a:prstClr val="black"/>
              </a:buClr>
              <a:tabLst>
                <a:tab pos="180975" algn="l"/>
              </a:tabLst>
            </a:pPr>
            <a:r>
              <a:rPr lang="ja-JP" altLang="en-US" sz="1200" b="1" kern="0" dirty="0">
                <a:solidFill>
                  <a:prstClr val="black"/>
                </a:solidFill>
                <a:latin typeface="Meiryo UI" panose="020B0604030504040204" pitchFamily="50" charset="-128"/>
                <a:ea typeface="Meiryo UI" panose="020B0604030504040204" pitchFamily="50" charset="-128"/>
              </a:rPr>
              <a:t>対応</a:t>
            </a:r>
            <a:endParaRPr kumimoji="1" lang="ja-JP" altLang="en-US" sz="1200" b="1" kern="0" dirty="0">
              <a:solidFill>
                <a:prstClr val="black"/>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5ECB2DB5-6D10-711A-9783-16574488287E}"/>
              </a:ext>
            </a:extLst>
          </p:cNvPr>
          <p:cNvSpPr/>
          <p:nvPr/>
        </p:nvSpPr>
        <p:spPr>
          <a:xfrm>
            <a:off x="878923" y="2546183"/>
            <a:ext cx="1453466" cy="986505"/>
          </a:xfrm>
          <a:prstGeom prst="rect">
            <a:avLst/>
          </a:prstGeom>
          <a:solidFill>
            <a:schemeClr val="accent2">
              <a:lumMod val="20000"/>
              <a:lumOff val="80000"/>
            </a:schemeClr>
          </a:solid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新たな</a:t>
            </a:r>
            <a:endParaRPr kumimoji="1" lang="en-US" altLang="ja-JP" sz="1200" b="1" kern="0" dirty="0">
              <a:solidFill>
                <a:prstClr val="black"/>
              </a:solidFill>
              <a:latin typeface="Meiryo UI" panose="020B0604030504040204" pitchFamily="50" charset="-128"/>
              <a:ea typeface="Meiryo UI" panose="020B0604030504040204" pitchFamily="50" charset="-128"/>
            </a:endParaRPr>
          </a:p>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資金調達手法</a:t>
            </a:r>
            <a:endParaRPr kumimoji="1" lang="en-US" altLang="ja-JP" sz="1200" b="1" kern="0" dirty="0">
              <a:solidFill>
                <a:prstClr val="black"/>
              </a:solidFill>
              <a:latin typeface="Meiryo UI" panose="020B0604030504040204" pitchFamily="50" charset="-128"/>
              <a:ea typeface="Meiryo UI" panose="020B0604030504040204" pitchFamily="50" charset="-128"/>
            </a:endParaRPr>
          </a:p>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への対応</a:t>
            </a:r>
          </a:p>
        </p:txBody>
      </p:sp>
      <p:sp>
        <p:nvSpPr>
          <p:cNvPr id="31" name="テキスト ボックス 30">
            <a:extLst>
              <a:ext uri="{FF2B5EF4-FFF2-40B4-BE49-F238E27FC236}">
                <a16:creationId xmlns:a16="http://schemas.microsoft.com/office/drawing/2014/main" id="{FAB58D64-95C9-080D-DAA9-73B08392197B}"/>
              </a:ext>
            </a:extLst>
          </p:cNvPr>
          <p:cNvSpPr txBox="1"/>
          <p:nvPr/>
        </p:nvSpPr>
        <p:spPr>
          <a:xfrm>
            <a:off x="2402564" y="2546183"/>
            <a:ext cx="6624513" cy="986505"/>
          </a:xfrm>
          <a:prstGeom prst="rect">
            <a:avLst/>
          </a:prstGeom>
          <a:solidFill>
            <a:schemeClr val="bg1"/>
          </a:solidFill>
        </p:spPr>
        <p:txBody>
          <a:bodyPr vert="horz" wrap="square" lIns="72000" tIns="72000" rIns="72000" bIns="72000" rtlCol="0" anchor="ctr">
            <a:noAutofit/>
          </a:bodyPr>
          <a:lstStyle/>
          <a:p>
            <a:pPr algn="l"/>
            <a:r>
              <a:rPr kumimoji="1" lang="en-US" altLang="ja-JP" dirty="0">
                <a:latin typeface="Meiryo UI" panose="020B0604030504040204" pitchFamily="50" charset="-128"/>
                <a:ea typeface="Meiryo UI" panose="020B0604030504040204" pitchFamily="50" charset="-128"/>
              </a:rPr>
              <a:t>SDGs</a:t>
            </a:r>
            <a:r>
              <a:rPr kumimoji="1" lang="ja-JP" altLang="en-US" dirty="0">
                <a:latin typeface="Meiryo UI" panose="020B0604030504040204" pitchFamily="50" charset="-128"/>
                <a:ea typeface="Meiryo UI" panose="020B0604030504040204" pitchFamily="50" charset="-128"/>
              </a:rPr>
              <a:t>債やデジタル証券（</a:t>
            </a:r>
            <a:r>
              <a:rPr kumimoji="1" lang="en-US" altLang="ja-JP" dirty="0">
                <a:latin typeface="Meiryo UI" panose="020B0604030504040204" pitchFamily="50" charset="-128"/>
                <a:ea typeface="Meiryo UI" panose="020B0604030504040204" pitchFamily="50" charset="-128"/>
              </a:rPr>
              <a:t>STO</a:t>
            </a:r>
            <a:r>
              <a:rPr kumimoji="1" lang="ja-JP" altLang="en-US" dirty="0">
                <a:latin typeface="Meiryo UI" panose="020B0604030504040204" pitchFamily="50" charset="-128"/>
                <a:ea typeface="Meiryo UI" panose="020B0604030504040204" pitchFamily="50" charset="-128"/>
              </a:rPr>
              <a:t>）、前述のオルタナティブ商品の拡大や、デリバティブを活用したテーラーメイドの資金調達等、</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企業の資金調達手法は多様化しており、各業態での取扱態勢の整備や迅速なシステム対応が求められる</a:t>
            </a:r>
          </a:p>
        </p:txBody>
      </p:sp>
      <p:sp>
        <p:nvSpPr>
          <p:cNvPr id="25" name="正方形/長方形 24">
            <a:extLst>
              <a:ext uri="{FF2B5EF4-FFF2-40B4-BE49-F238E27FC236}">
                <a16:creationId xmlns:a16="http://schemas.microsoft.com/office/drawing/2014/main" id="{B7C9AE13-080C-0465-1401-15E68016C2F6}"/>
              </a:ext>
            </a:extLst>
          </p:cNvPr>
          <p:cNvSpPr/>
          <p:nvPr/>
        </p:nvSpPr>
        <p:spPr>
          <a:xfrm>
            <a:off x="878923" y="4544573"/>
            <a:ext cx="1453466" cy="986505"/>
          </a:xfrm>
          <a:prstGeom prst="rect">
            <a:avLst/>
          </a:prstGeom>
          <a:solidFill>
            <a:schemeClr val="accent2">
              <a:lumMod val="20000"/>
              <a:lumOff val="80000"/>
            </a:schemeClr>
          </a:solid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コストの高止まり</a:t>
            </a:r>
          </a:p>
        </p:txBody>
      </p:sp>
      <p:sp>
        <p:nvSpPr>
          <p:cNvPr id="33" name="テキスト ボックス 32">
            <a:extLst>
              <a:ext uri="{FF2B5EF4-FFF2-40B4-BE49-F238E27FC236}">
                <a16:creationId xmlns:a16="http://schemas.microsoft.com/office/drawing/2014/main" id="{C66CF98C-F3C5-44EC-47DB-FC65EE7CA3E0}"/>
              </a:ext>
            </a:extLst>
          </p:cNvPr>
          <p:cNvSpPr txBox="1"/>
          <p:nvPr/>
        </p:nvSpPr>
        <p:spPr>
          <a:xfrm>
            <a:off x="2402564" y="4544573"/>
            <a:ext cx="6624513" cy="986505"/>
          </a:xfrm>
          <a:prstGeom prst="rect">
            <a:avLst/>
          </a:prstGeom>
          <a:solidFill>
            <a:schemeClr val="bg1"/>
          </a:solidFill>
        </p:spPr>
        <p:txBody>
          <a:bodyPr vert="horz" wrap="square" lIns="72000" tIns="72000" rIns="72000" bIns="72000" rtlCol="0">
            <a:noAutofit/>
          </a:bodyPr>
          <a:lstStyle/>
          <a:p>
            <a:pPr algn="l"/>
            <a:r>
              <a:rPr kumimoji="1" lang="ja-JP" altLang="en-US" dirty="0">
                <a:latin typeface="Meiryo UI" panose="020B0604030504040204" pitchFamily="50" charset="-128"/>
                <a:ea typeface="Meiryo UI" panose="020B0604030504040204" pitchFamily="50" charset="-128"/>
              </a:rPr>
              <a:t>海外証券会社に対し、</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日本の証券会社は経費率（コスト</a:t>
            </a:r>
            <a:r>
              <a:rPr lang="en-US" altLang="ja-JP" b="1" u="sng" dirty="0">
                <a:solidFill>
                  <a:schemeClr val="accent1">
                    <a:lumMod val="60000"/>
                    <a:lumOff val="40000"/>
                  </a:schemeClr>
                </a:solidFill>
                <a:latin typeface="Meiryo UI" panose="020B0604030504040204" pitchFamily="50" charset="-128"/>
                <a:ea typeface="Meiryo UI" panose="020B0604030504040204" pitchFamily="50" charset="-128"/>
              </a:rPr>
              <a:t>÷</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収益）が高く、コスト効率が悪い</a:t>
            </a:r>
            <a:r>
              <a:rPr kumimoji="1" lang="ja-JP" altLang="en-US" dirty="0">
                <a:latin typeface="Meiryo UI" panose="020B0604030504040204" pitchFamily="50" charset="-128"/>
                <a:ea typeface="Meiryo UI" panose="020B0604030504040204" pitchFamily="50" charset="-128"/>
              </a:rPr>
              <a:t>（例：野村ＨＤの経費率</a:t>
            </a:r>
            <a:r>
              <a:rPr kumimoji="1" lang="en-US" altLang="ja-JP" dirty="0">
                <a:latin typeface="Meiryo UI" panose="020B0604030504040204" pitchFamily="50" charset="-128"/>
                <a:ea typeface="Meiryo UI" panose="020B0604030504040204" pitchFamily="50" charset="-128"/>
              </a:rPr>
              <a:t>89</a:t>
            </a:r>
            <a:r>
              <a:rPr kumimoji="1" lang="ja-JP" altLang="en-US" dirty="0">
                <a:latin typeface="Meiryo UI" panose="020B0604030504040204" pitchFamily="50" charset="-128"/>
                <a:ea typeface="Meiryo UI" panose="020B0604030504040204" pitchFamily="50" charset="-128"/>
              </a:rPr>
              <a:t>％に対し、ゴールドマン・サックス・グループなど米系大手投資銀行３社の平均は</a:t>
            </a:r>
            <a:r>
              <a:rPr kumimoji="1" lang="en-US" altLang="ja-JP" dirty="0">
                <a:latin typeface="Meiryo UI" panose="020B0604030504040204" pitchFamily="50" charset="-128"/>
                <a:ea typeface="Meiryo UI" panose="020B0604030504040204" pitchFamily="50" charset="-128"/>
              </a:rPr>
              <a:t>67</a:t>
            </a:r>
            <a:r>
              <a:rPr kumimoji="1" lang="ja-JP" altLang="en-US" dirty="0">
                <a:latin typeface="Meiryo UI" panose="020B0604030504040204" pitchFamily="50" charset="-128"/>
                <a:ea typeface="Meiryo UI" panose="020B0604030504040204" pitchFamily="50" charset="-128"/>
              </a:rPr>
              <a:t>％</a:t>
            </a:r>
            <a:r>
              <a:rPr kumimoji="1" lang="en-US" altLang="ja-JP" baseline="30000"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コスト構造の変革を含めた継続的なコスト削減</a:t>
            </a:r>
            <a:r>
              <a:rPr lang="ja-JP" altLang="en-US" dirty="0">
                <a:latin typeface="Meiryo UI" panose="020B0604030504040204" pitchFamily="50" charset="-128"/>
                <a:ea typeface="Meiryo UI" panose="020B0604030504040204" pitchFamily="50" charset="-128"/>
              </a:rPr>
              <a:t>が急務</a:t>
            </a:r>
            <a:endParaRPr kumimoji="1" lang="ja-JP" altLang="en-US" sz="800" dirty="0">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EC02EDA9-124C-BE38-A42E-239BE14EF634}"/>
              </a:ext>
            </a:extLst>
          </p:cNvPr>
          <p:cNvSpPr/>
          <p:nvPr/>
        </p:nvSpPr>
        <p:spPr>
          <a:xfrm>
            <a:off x="878923" y="5543770"/>
            <a:ext cx="1453466" cy="986505"/>
          </a:xfrm>
          <a:prstGeom prst="rect">
            <a:avLst/>
          </a:prstGeom>
          <a:solidFill>
            <a:schemeClr val="accent2">
              <a:lumMod val="20000"/>
              <a:lumOff val="80000"/>
            </a:schemeClr>
          </a:solid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システムの老朽化・</a:t>
            </a:r>
            <a:endParaRPr kumimoji="1" lang="en-US" altLang="ja-JP" sz="1200" b="1" kern="0" dirty="0">
              <a:solidFill>
                <a:prstClr val="black"/>
              </a:solidFill>
              <a:latin typeface="Meiryo UI" panose="020B0604030504040204" pitchFamily="50" charset="-128"/>
              <a:ea typeface="Meiryo UI" panose="020B0604030504040204" pitchFamily="50" charset="-128"/>
            </a:endParaRPr>
          </a:p>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デジタル化の遅れ</a:t>
            </a:r>
          </a:p>
        </p:txBody>
      </p:sp>
      <p:sp>
        <p:nvSpPr>
          <p:cNvPr id="34" name="テキスト ボックス 33">
            <a:extLst>
              <a:ext uri="{FF2B5EF4-FFF2-40B4-BE49-F238E27FC236}">
                <a16:creationId xmlns:a16="http://schemas.microsoft.com/office/drawing/2014/main" id="{2C7AF55B-49EE-BA04-2F3B-9F56E3E14A2D}"/>
              </a:ext>
            </a:extLst>
          </p:cNvPr>
          <p:cNvSpPr txBox="1"/>
          <p:nvPr/>
        </p:nvSpPr>
        <p:spPr>
          <a:xfrm>
            <a:off x="2402564" y="5543770"/>
            <a:ext cx="6624513" cy="986505"/>
          </a:xfrm>
          <a:prstGeom prst="rect">
            <a:avLst/>
          </a:prstGeom>
          <a:solidFill>
            <a:schemeClr val="bg1"/>
          </a:solidFill>
        </p:spPr>
        <p:txBody>
          <a:bodyPr vert="horz" wrap="square" lIns="72000" tIns="72000" rIns="72000" bIns="72000" rtlCol="0">
            <a:noAutofit/>
          </a:bodyPr>
          <a:lstStyle/>
          <a:p>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各社の基幹システムは何十年も前にホストシステムで構築されている</a:t>
            </a:r>
            <a:r>
              <a:rPr lang="ja-JP" altLang="en-US" dirty="0">
                <a:latin typeface="Meiryo UI" panose="020B0604030504040204" pitchFamily="50" charset="-128"/>
                <a:ea typeface="Meiryo UI" panose="020B0604030504040204" pitchFamily="50" charset="-128"/>
              </a:rPr>
              <a:t>ケースが多く、ソースコードのスパゲッティ化・ブラックボックス化による開発コスト高や有識者の退職によるブラックボックス化、データ利活用の障壁となるなど、</a:t>
            </a:r>
            <a:r>
              <a:rPr lang="en-US" altLang="ja-JP" b="1" u="sng" dirty="0">
                <a:solidFill>
                  <a:schemeClr val="accent1">
                    <a:lumMod val="60000"/>
                    <a:lumOff val="40000"/>
                  </a:schemeClr>
                </a:solidFill>
                <a:latin typeface="Meiryo UI" panose="020B0604030504040204" pitchFamily="50" charset="-128"/>
                <a:ea typeface="Meiryo UI" panose="020B0604030504040204" pitchFamily="50" charset="-128"/>
              </a:rPr>
              <a:t>DX</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の大きな妨げとなっている。</a:t>
            </a:r>
            <a:r>
              <a:rPr lang="ja-JP" altLang="en-US" dirty="0">
                <a:latin typeface="Meiryo UI" panose="020B0604030504040204" pitchFamily="50" charset="-128"/>
                <a:ea typeface="Meiryo UI" panose="020B0604030504040204" pitchFamily="50" charset="-128"/>
              </a:rPr>
              <a:t>加えて、これまでの投資抑制から</a:t>
            </a:r>
            <a:r>
              <a:rPr lang="en-US" altLang="ja-JP" dirty="0">
                <a:latin typeface="Meiryo UI" panose="020B0604030504040204" pitchFamily="50" charset="-128"/>
                <a:ea typeface="Meiryo UI" panose="020B0604030504040204" pitchFamily="50" charset="-128"/>
              </a:rPr>
              <a:t>DX</a:t>
            </a:r>
            <a:r>
              <a:rPr lang="ja-JP" altLang="en-US" dirty="0">
                <a:latin typeface="Meiryo UI" panose="020B0604030504040204" pitchFamily="50" charset="-128"/>
                <a:ea typeface="Meiryo UI" panose="020B0604030504040204" pitchFamily="50" charset="-128"/>
              </a:rPr>
              <a:t>が進んでおらず、デジタルベースの処理が業界として確立されていない。</a:t>
            </a:r>
            <a:endPar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endParaRPr>
          </a:p>
        </p:txBody>
      </p:sp>
      <p:cxnSp>
        <p:nvCxnSpPr>
          <p:cNvPr id="5" name="直線コネクタ 4">
            <a:extLst>
              <a:ext uri="{FF2B5EF4-FFF2-40B4-BE49-F238E27FC236}">
                <a16:creationId xmlns:a16="http://schemas.microsoft.com/office/drawing/2014/main" id="{4986A6BF-AB4F-0B85-2D4A-E14778D76D49}"/>
              </a:ext>
            </a:extLst>
          </p:cNvPr>
          <p:cNvCxnSpPr/>
          <p:nvPr/>
        </p:nvCxnSpPr>
        <p:spPr>
          <a:xfrm>
            <a:off x="2402564" y="2539838"/>
            <a:ext cx="6624513" cy="0"/>
          </a:xfrm>
          <a:prstGeom prst="line">
            <a:avLst/>
          </a:prstGeom>
          <a:ln w="6350">
            <a:solidFill>
              <a:srgbClr val="919191"/>
            </a:solidFill>
            <a:prstDash val="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A3C10F17-F179-8379-567D-01503E977A77}"/>
              </a:ext>
            </a:extLst>
          </p:cNvPr>
          <p:cNvCxnSpPr/>
          <p:nvPr/>
        </p:nvCxnSpPr>
        <p:spPr>
          <a:xfrm>
            <a:off x="2402564" y="4538228"/>
            <a:ext cx="6624513" cy="0"/>
          </a:xfrm>
          <a:prstGeom prst="line">
            <a:avLst/>
          </a:prstGeom>
          <a:ln w="6350">
            <a:solidFill>
              <a:srgbClr val="919191"/>
            </a:solidFill>
            <a:prstDash val="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8B760B4F-0869-A63F-540E-A65AAFE4ACB2}"/>
              </a:ext>
            </a:extLst>
          </p:cNvPr>
          <p:cNvCxnSpPr/>
          <p:nvPr/>
        </p:nvCxnSpPr>
        <p:spPr>
          <a:xfrm>
            <a:off x="2402564" y="5537423"/>
            <a:ext cx="6624513" cy="0"/>
          </a:xfrm>
          <a:prstGeom prst="line">
            <a:avLst/>
          </a:prstGeom>
          <a:ln w="6350">
            <a:solidFill>
              <a:srgbClr val="919191"/>
            </a:solidFill>
            <a:prstDash val="dash"/>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502B3617-6F0F-4EF8-9762-13F59DC2A44E}"/>
              </a:ext>
            </a:extLst>
          </p:cNvPr>
          <p:cNvSpPr/>
          <p:nvPr/>
        </p:nvSpPr>
        <p:spPr>
          <a:xfrm>
            <a:off x="878923" y="3545378"/>
            <a:ext cx="1453466" cy="986505"/>
          </a:xfrm>
          <a:prstGeom prst="rect">
            <a:avLst/>
          </a:prstGeom>
          <a:solidFill>
            <a:schemeClr val="accent2">
              <a:lumMod val="20000"/>
              <a:lumOff val="80000"/>
            </a:schemeClr>
          </a:solid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kumimoji="1" lang="ja-JP" altLang="en-US" sz="1200" b="1" kern="0" dirty="0">
                <a:solidFill>
                  <a:prstClr val="black"/>
                </a:solidFill>
                <a:latin typeface="Meiryo UI" panose="020B0604030504040204" pitchFamily="50" charset="-128"/>
                <a:ea typeface="Meiryo UI" panose="020B0604030504040204" pitchFamily="50" charset="-128"/>
              </a:rPr>
              <a:t>海外ビジネスの</a:t>
            </a:r>
            <a:endParaRPr kumimoji="1" lang="en-US" altLang="ja-JP" sz="1200" b="1" kern="0" dirty="0">
              <a:solidFill>
                <a:prstClr val="black"/>
              </a:solidFill>
              <a:latin typeface="Meiryo UI" panose="020B0604030504040204" pitchFamily="50" charset="-128"/>
              <a:ea typeface="Meiryo UI" panose="020B0604030504040204" pitchFamily="50" charset="-128"/>
            </a:endParaRPr>
          </a:p>
          <a:p>
            <a:pPr algn="ctr" fontAlgn="auto">
              <a:spcBef>
                <a:spcPts val="0"/>
              </a:spcBef>
              <a:spcAft>
                <a:spcPts val="0"/>
              </a:spcAft>
              <a:buClr>
                <a:prstClr val="black"/>
              </a:buClr>
              <a:tabLst>
                <a:tab pos="180975" algn="l"/>
              </a:tabLst>
            </a:pPr>
            <a:r>
              <a:rPr lang="ja-JP" altLang="en-US" sz="1200" b="1" kern="0" dirty="0">
                <a:solidFill>
                  <a:prstClr val="black"/>
                </a:solidFill>
                <a:latin typeface="Meiryo UI" panose="020B0604030504040204" pitchFamily="50" charset="-128"/>
                <a:ea typeface="Meiryo UI" panose="020B0604030504040204" pitchFamily="50" charset="-128"/>
              </a:rPr>
              <a:t>高度化</a:t>
            </a:r>
            <a:endParaRPr kumimoji="1" lang="ja-JP" altLang="en-US" sz="1200" b="1" kern="0" dirty="0">
              <a:solidFill>
                <a:prstClr val="black"/>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409D4B61-4462-C06C-BB85-4995C6965EA2}"/>
              </a:ext>
            </a:extLst>
          </p:cNvPr>
          <p:cNvSpPr txBox="1"/>
          <p:nvPr/>
        </p:nvSpPr>
        <p:spPr>
          <a:xfrm>
            <a:off x="2402564" y="3545378"/>
            <a:ext cx="6624513" cy="986505"/>
          </a:xfrm>
          <a:prstGeom prst="rect">
            <a:avLst/>
          </a:prstGeom>
          <a:solidFill>
            <a:schemeClr val="bg1"/>
          </a:solidFill>
        </p:spPr>
        <p:txBody>
          <a:bodyPr vert="horz" wrap="square" lIns="72000" tIns="72000" rIns="72000" bIns="72000" rtlCol="0">
            <a:noAutofit/>
          </a:bodyPr>
          <a:lstStyle/>
          <a:p>
            <a:pPr algn="l"/>
            <a:r>
              <a:rPr kumimoji="1" lang="ja-JP" altLang="en-US" dirty="0">
                <a:latin typeface="Meiryo UI" panose="020B0604030504040204" pitchFamily="50" charset="-128"/>
                <a:ea typeface="Meiryo UI" panose="020B0604030504040204" pitchFamily="50" charset="-128"/>
              </a:rPr>
              <a:t>国内市場の成熟化・競争激化に伴う新たな収益源の確保や日本企業の海外進出サポートのため、</a:t>
            </a:r>
            <a:r>
              <a:rPr kumimoji="1" lang="en-US" altLang="ja-JP" dirty="0">
                <a:latin typeface="Meiryo UI" panose="020B0604030504040204" pitchFamily="50" charset="-128"/>
                <a:ea typeface="Meiryo UI" panose="020B0604030504040204" pitchFamily="50" charset="-128"/>
              </a:rPr>
              <a:t>Sell Side</a:t>
            </a:r>
            <a:r>
              <a:rPr kumimoji="1" lang="ja-JP" altLang="en-US" dirty="0">
                <a:latin typeface="Meiryo UI" panose="020B0604030504040204" pitchFamily="50" charset="-128"/>
                <a:ea typeface="Meiryo UI" panose="020B0604030504040204" pitchFamily="50" charset="-128"/>
              </a:rPr>
              <a:t>を中心に</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各社は海外ビジネスの拡大を目指しているが、現地の規制対応や商習慣の違い、人材確保、本社とのガバナンス・情報連携</a:t>
            </a:r>
            <a:r>
              <a:rPr kumimoji="1" lang="ja-JP" altLang="en-US" dirty="0">
                <a:latin typeface="Meiryo UI" panose="020B0604030504040204" pitchFamily="50" charset="-128"/>
                <a:ea typeface="Meiryo UI" panose="020B0604030504040204" pitchFamily="50" charset="-128"/>
              </a:rPr>
              <a:t>等、解消すべき課題は山積</a:t>
            </a:r>
            <a:endParaRPr lang="ja-JP" altLang="en-US" dirty="0">
              <a:latin typeface="Meiryo UI" panose="020B0604030504040204" pitchFamily="50" charset="-128"/>
              <a:ea typeface="Meiryo UI" panose="020B0604030504040204" pitchFamily="50" charset="-128"/>
            </a:endParaRPr>
          </a:p>
        </p:txBody>
      </p:sp>
      <p:cxnSp>
        <p:nvCxnSpPr>
          <p:cNvPr id="13" name="直線コネクタ 12">
            <a:extLst>
              <a:ext uri="{FF2B5EF4-FFF2-40B4-BE49-F238E27FC236}">
                <a16:creationId xmlns:a16="http://schemas.microsoft.com/office/drawing/2014/main" id="{CB328A26-3210-AEBF-5E58-B7554BF93779}"/>
              </a:ext>
            </a:extLst>
          </p:cNvPr>
          <p:cNvCxnSpPr/>
          <p:nvPr/>
        </p:nvCxnSpPr>
        <p:spPr>
          <a:xfrm>
            <a:off x="2402564" y="3539033"/>
            <a:ext cx="6624513" cy="0"/>
          </a:xfrm>
          <a:prstGeom prst="line">
            <a:avLst/>
          </a:prstGeom>
          <a:ln w="6350">
            <a:solidFill>
              <a:srgbClr val="919191"/>
            </a:solidFill>
            <a:prstDash val="dash"/>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4C28AE42-59BF-3877-5721-BEB566F9C9A1}"/>
              </a:ext>
            </a:extLst>
          </p:cNvPr>
          <p:cNvSpPr txBox="1"/>
          <p:nvPr/>
        </p:nvSpPr>
        <p:spPr>
          <a:xfrm>
            <a:off x="2402564" y="1546988"/>
            <a:ext cx="6624513" cy="986505"/>
          </a:xfrm>
          <a:prstGeom prst="rect">
            <a:avLst/>
          </a:prstGeom>
          <a:solidFill>
            <a:schemeClr val="bg1"/>
          </a:solidFill>
        </p:spPr>
        <p:txBody>
          <a:bodyPr vert="horz" wrap="square" lIns="72000" tIns="72000" rIns="72000" bIns="72000" rtlCol="0">
            <a:noAutofit/>
          </a:bodyPr>
          <a:lstStyle/>
          <a:p>
            <a:pPr algn="l"/>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「資産運用立国」を岸田政権が掲げて以降、新</a:t>
            </a:r>
            <a:r>
              <a:rPr lang="en-US" altLang="ja-JP" b="1" u="sng" dirty="0">
                <a:solidFill>
                  <a:schemeClr val="accent1">
                    <a:lumMod val="60000"/>
                    <a:lumOff val="40000"/>
                  </a:schemeClr>
                </a:solidFill>
                <a:latin typeface="Meiryo UI" panose="020B0604030504040204" pitchFamily="50" charset="-128"/>
                <a:ea typeface="Meiryo UI" panose="020B0604030504040204" pitchFamily="50" charset="-128"/>
              </a:rPr>
              <a:t>NISA</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などの枠組みが整備され、個人資産の「投資資産」へ流入が顕著。</a:t>
            </a:r>
            <a:r>
              <a:rPr lang="ja-JP" altLang="en-US" dirty="0">
                <a:latin typeface="Meiryo UI" panose="020B0604030504040204" pitchFamily="50" charset="-128"/>
                <a:ea typeface="Meiryo UI" panose="020B0604030504040204" pitchFamily="50" charset="-128"/>
              </a:rPr>
              <a:t>これまで投資の主力は</a:t>
            </a:r>
            <a:r>
              <a:rPr lang="en-US" altLang="ja-JP" dirty="0">
                <a:latin typeface="Meiryo UI" panose="020B0604030504040204" pitchFamily="50" charset="-128"/>
                <a:ea typeface="Meiryo UI" panose="020B0604030504040204" pitchFamily="50" charset="-128"/>
              </a:rPr>
              <a:t>60</a:t>
            </a:r>
            <a:r>
              <a:rPr lang="ja-JP" altLang="en-US" dirty="0">
                <a:latin typeface="Meiryo UI" panose="020B0604030504040204" pitchFamily="50" charset="-128"/>
                <a:ea typeface="Meiryo UI" panose="020B0604030504040204" pitchFamily="50" charset="-128"/>
              </a:rPr>
              <a:t>代以上の「シニア世代」だったが、</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現在</a:t>
            </a:r>
            <a:r>
              <a:rPr lang="en-US" altLang="ja-JP" b="1" u="sng" dirty="0">
                <a:solidFill>
                  <a:schemeClr val="accent1">
                    <a:lumMod val="60000"/>
                    <a:lumOff val="40000"/>
                  </a:schemeClr>
                </a:solidFill>
                <a:latin typeface="Meiryo UI" panose="020B0604030504040204" pitchFamily="50" charset="-128"/>
                <a:ea typeface="Meiryo UI" panose="020B0604030504040204" pitchFamily="50" charset="-128"/>
              </a:rPr>
              <a:t>30</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代</a:t>
            </a:r>
            <a:r>
              <a:rPr lang="en-US" altLang="ja-JP" b="1" u="sng" dirty="0">
                <a:solidFill>
                  <a:schemeClr val="accent1">
                    <a:lumMod val="60000"/>
                    <a:lumOff val="40000"/>
                  </a:schemeClr>
                </a:solidFill>
                <a:latin typeface="Meiryo UI" panose="020B0604030504040204" pitchFamily="50" charset="-128"/>
                <a:ea typeface="Meiryo UI" panose="020B0604030504040204" pitchFamily="50" charset="-128"/>
              </a:rPr>
              <a:t>-50</a:t>
            </a:r>
            <a:r>
              <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rPr>
              <a:t>代年齢層</a:t>
            </a:r>
            <a:r>
              <a:rPr lang="ja-JP" altLang="en-US" dirty="0">
                <a:latin typeface="Meiryo UI" panose="020B0604030504040204" pitchFamily="50" charset="-128"/>
                <a:ea typeface="Meiryo UI" panose="020B0604030504040204" pitchFamily="50" charset="-128"/>
              </a:rPr>
              <a:t>の証券口座開設が爆発的に増加しており、大量処理を実現する業界構造改革が進められており、その流れについていくことが求められる。</a:t>
            </a:r>
            <a:endParaRPr lang="ja-JP" altLang="en-US" b="1" u="sng" dirty="0">
              <a:solidFill>
                <a:schemeClr val="accent1">
                  <a:lumMod val="60000"/>
                  <a:lumOff val="40000"/>
                </a:schemeClr>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B3434EE4-8EB3-374A-23C9-A7D6EDE6B13B}"/>
              </a:ext>
            </a:extLst>
          </p:cNvPr>
          <p:cNvSpPr/>
          <p:nvPr/>
        </p:nvSpPr>
        <p:spPr>
          <a:xfrm>
            <a:off x="878923" y="1546988"/>
            <a:ext cx="216000" cy="216000"/>
          </a:xfrm>
          <a:prstGeom prst="rect">
            <a:avLst/>
          </a:prstGeom>
          <a:solidFill>
            <a:schemeClr val="accent2">
              <a:lumMod val="20000"/>
              <a:lumOff val="80000"/>
            </a:schemeClr>
          </a:solidFill>
          <a:ln w="6350" cap="flat" cmpd="sng" algn="ctr">
            <a:solidFill>
              <a:schemeClr val="bg1"/>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lang="en-US" altLang="ja-JP" b="1" kern="0" dirty="0">
                <a:solidFill>
                  <a:prstClr val="black"/>
                </a:solidFill>
                <a:latin typeface="Meiryo UI" panose="020B0604030504040204" pitchFamily="50" charset="-128"/>
                <a:ea typeface="Meiryo UI" panose="020B0604030504040204" pitchFamily="50" charset="-128"/>
              </a:rPr>
              <a:t>1</a:t>
            </a:r>
            <a:endParaRPr lang="ja-JP" altLang="en-US" b="1" kern="0" dirty="0">
              <a:solidFill>
                <a:prstClr val="black"/>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954B448C-A840-CBB2-F22B-9168E73B06BE}"/>
              </a:ext>
            </a:extLst>
          </p:cNvPr>
          <p:cNvSpPr/>
          <p:nvPr/>
        </p:nvSpPr>
        <p:spPr>
          <a:xfrm>
            <a:off x="878923" y="2546183"/>
            <a:ext cx="216000" cy="216000"/>
          </a:xfrm>
          <a:prstGeom prst="rect">
            <a:avLst/>
          </a:prstGeom>
          <a:solidFill>
            <a:schemeClr val="accent2">
              <a:lumMod val="20000"/>
              <a:lumOff val="80000"/>
            </a:schemeClr>
          </a:solidFill>
          <a:ln w="6350" cap="flat" cmpd="sng" algn="ctr">
            <a:solidFill>
              <a:schemeClr val="bg1"/>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lang="en-US" altLang="ja-JP" b="1" kern="0" dirty="0">
                <a:solidFill>
                  <a:prstClr val="black"/>
                </a:solidFill>
                <a:latin typeface="Meiryo UI" panose="020B0604030504040204" pitchFamily="50" charset="-128"/>
                <a:ea typeface="Meiryo UI" panose="020B0604030504040204" pitchFamily="50" charset="-128"/>
              </a:rPr>
              <a:t>2</a:t>
            </a:r>
            <a:endParaRPr lang="ja-JP" altLang="en-US" b="1" kern="0" dirty="0">
              <a:solidFill>
                <a:prstClr val="black"/>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88289CBC-28F5-5CE6-8089-B53AA73D551D}"/>
              </a:ext>
            </a:extLst>
          </p:cNvPr>
          <p:cNvSpPr/>
          <p:nvPr/>
        </p:nvSpPr>
        <p:spPr>
          <a:xfrm>
            <a:off x="878923" y="3545378"/>
            <a:ext cx="216000" cy="216000"/>
          </a:xfrm>
          <a:prstGeom prst="rect">
            <a:avLst/>
          </a:prstGeom>
          <a:solidFill>
            <a:schemeClr val="accent2">
              <a:lumMod val="20000"/>
              <a:lumOff val="80000"/>
            </a:schemeClr>
          </a:solidFill>
          <a:ln w="6350" cap="flat" cmpd="sng" algn="ctr">
            <a:solidFill>
              <a:schemeClr val="bg1"/>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lang="en-US" altLang="ja-JP" b="1" kern="0" dirty="0">
                <a:solidFill>
                  <a:prstClr val="black"/>
                </a:solidFill>
                <a:latin typeface="Meiryo UI" panose="020B0604030504040204" pitchFamily="50" charset="-128"/>
                <a:ea typeface="Meiryo UI" panose="020B0604030504040204" pitchFamily="50" charset="-128"/>
              </a:rPr>
              <a:t>3</a:t>
            </a:r>
            <a:endParaRPr lang="ja-JP" altLang="en-US" b="1" kern="0" dirty="0">
              <a:solidFill>
                <a:prstClr val="black"/>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9FE1D086-4AE5-49E9-8267-2AC6B33F4031}"/>
              </a:ext>
            </a:extLst>
          </p:cNvPr>
          <p:cNvSpPr/>
          <p:nvPr/>
        </p:nvSpPr>
        <p:spPr>
          <a:xfrm>
            <a:off x="878923" y="4544573"/>
            <a:ext cx="216000" cy="216000"/>
          </a:xfrm>
          <a:prstGeom prst="rect">
            <a:avLst/>
          </a:prstGeom>
          <a:solidFill>
            <a:schemeClr val="accent2">
              <a:lumMod val="20000"/>
              <a:lumOff val="80000"/>
            </a:schemeClr>
          </a:solidFill>
          <a:ln w="6350" cap="flat" cmpd="sng" algn="ctr">
            <a:solidFill>
              <a:schemeClr val="bg1"/>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lang="en-US" altLang="ja-JP" b="1" kern="0" dirty="0">
                <a:solidFill>
                  <a:prstClr val="black"/>
                </a:solidFill>
                <a:latin typeface="Meiryo UI" panose="020B0604030504040204" pitchFamily="50" charset="-128"/>
                <a:ea typeface="Meiryo UI" panose="020B0604030504040204" pitchFamily="50" charset="-128"/>
              </a:rPr>
              <a:t>4</a:t>
            </a:r>
            <a:endParaRPr lang="ja-JP" altLang="en-US" b="1" kern="0" dirty="0">
              <a:solidFill>
                <a:prstClr val="black"/>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765F5A2F-8E79-5EDB-1CC1-7DC12175CD0B}"/>
              </a:ext>
            </a:extLst>
          </p:cNvPr>
          <p:cNvSpPr/>
          <p:nvPr/>
        </p:nvSpPr>
        <p:spPr>
          <a:xfrm>
            <a:off x="878923" y="5543768"/>
            <a:ext cx="216000" cy="216000"/>
          </a:xfrm>
          <a:prstGeom prst="rect">
            <a:avLst/>
          </a:prstGeom>
          <a:solidFill>
            <a:schemeClr val="accent2">
              <a:lumMod val="20000"/>
              <a:lumOff val="80000"/>
            </a:schemeClr>
          </a:solidFill>
          <a:ln w="6350" cap="flat" cmpd="sng" algn="ctr">
            <a:solidFill>
              <a:schemeClr val="bg1"/>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0"/>
              </a:spcBef>
              <a:spcAft>
                <a:spcPts val="0"/>
              </a:spcAft>
              <a:buClr>
                <a:prstClr val="black"/>
              </a:buClr>
              <a:tabLst>
                <a:tab pos="180975" algn="l"/>
              </a:tabLst>
            </a:pPr>
            <a:r>
              <a:rPr lang="en-US" altLang="ja-JP" b="1" kern="0" dirty="0">
                <a:solidFill>
                  <a:prstClr val="black"/>
                </a:solidFill>
                <a:latin typeface="Meiryo UI" panose="020B0604030504040204" pitchFamily="50" charset="-128"/>
                <a:ea typeface="Meiryo UI" panose="020B0604030504040204" pitchFamily="50" charset="-128"/>
              </a:rPr>
              <a:t>5</a:t>
            </a:r>
            <a:endParaRPr lang="ja-JP" altLang="en-US" b="1" kern="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82234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cap="flat" cmpd="sng" algn="ctr">
          <a:solidFill>
            <a:srgbClr val="969696"/>
          </a:solidFill>
          <a:prstDash val="solid"/>
          <a:miter lim="800000"/>
        </a:ln>
        <a:effectLst/>
      </a:spPr>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defPPr algn="ctr" fontAlgn="auto">
          <a:spcBef>
            <a:spcPts val="600"/>
          </a:spcBef>
          <a:spcAft>
            <a:spcPts val="0"/>
          </a:spcAft>
          <a:buClr>
            <a:prstClr val="black"/>
          </a:buClr>
          <a:tabLst>
            <a:tab pos="180975" algn="l"/>
          </a:tabLst>
          <a:defRPr kumimoji="1" sz="1200" kern="0" dirty="0" err="1" smtClean="0">
            <a:solidFill>
              <a:prstClr val="black"/>
            </a:solidFill>
            <a:latin typeface="Meiryo UI" panose="020B0604030504040204" pitchFamily="50" charset="-128"/>
            <a:ea typeface="Meiryo UI" panose="020B0604030504040204" pitchFamily="50" charset="-128"/>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72000" tIns="72000" rIns="72000" bIns="72000" rtlCol="0">
        <a:noAutofit/>
      </a:bodyPr>
      <a:lstStyle>
        <a:defPPr algn="l">
          <a:defRPr kumimoji="1" sz="1200" dirty="0" smtClean="0">
            <a:latin typeface="Meiryo UI" panose="020B0604030504040204" pitchFamily="50" charset="-128"/>
            <a:ea typeface="Meiryo UI" panose="020B0604030504040204" pitchFamily="50" charset="-128"/>
          </a:defRPr>
        </a:defPPr>
      </a:lstStyle>
    </a:txDef>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F13D644-193B-4DC3-89CE-C7AA44BAA3BF}">
  <we:reference id="12cf32e2-483a-4204-b71b-bf2af83debf2"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C34EC7365253543AF52C41840CDEDF2" ma:contentTypeVersion="13" ma:contentTypeDescription="Create a new document." ma:contentTypeScope="" ma:versionID="95dd6f75eb7279436130eae24166b779">
  <xsd:schema xmlns:xsd="http://www.w3.org/2001/XMLSchema" xmlns:xs="http://www.w3.org/2001/XMLSchema" xmlns:p="http://schemas.microsoft.com/office/2006/metadata/properties" xmlns:ns2="8c7e2249-f67c-4027-b212-c28305a022e1" xmlns:ns3="fa9d62c7-0f51-469e-af76-081dc5c2cf6f" targetNamespace="http://schemas.microsoft.com/office/2006/metadata/properties" ma:root="true" ma:fieldsID="fb04dbb18f2587c151ae0426dd33bf26" ns2:_="" ns3:_="">
    <xsd:import namespace="8c7e2249-f67c-4027-b212-c28305a022e1"/>
    <xsd:import namespace="fa9d62c7-0f51-469e-af76-081dc5c2c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d62c7-0f51-469e-af76-081dc5c2cf6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81bc249-2723-4833-85eb-5148d2aa8f1e}" ma:internalName="TaxCatchAll" ma:showField="CatchAllData" ma:web="fa9d62c7-0f51-469e-af76-081dc5c2cf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7e2249-f67c-4027-b212-c28305a022e1">
      <Terms xmlns="http://schemas.microsoft.com/office/infopath/2007/PartnerControls"/>
    </lcf76f155ced4ddcb4097134ff3c332f>
    <TaxCatchAll xmlns="fa9d62c7-0f51-469e-af76-081dc5c2cf6f" xsi:nil="true"/>
  </documentManagement>
</p:properties>
</file>

<file path=customXml/itemProps1.xml><?xml version="1.0" encoding="utf-8"?>
<ds:datastoreItem xmlns:ds="http://schemas.openxmlformats.org/officeDocument/2006/customXml" ds:itemID="{34C01E6C-F9F6-4D36-8E1B-FE79DEBFA161}">
  <ds:schemaRefs>
    <ds:schemaRef ds:uri="http://schemas.microsoft.com/sharepoint/v3/contenttype/forms"/>
  </ds:schemaRefs>
</ds:datastoreItem>
</file>

<file path=customXml/itemProps2.xml><?xml version="1.0" encoding="utf-8"?>
<ds:datastoreItem xmlns:ds="http://schemas.openxmlformats.org/officeDocument/2006/customXml" ds:itemID="{6F579266-29F3-4590-BFE8-EFD59FE6B7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7e2249-f67c-4027-b212-c28305a022e1"/>
    <ds:schemaRef ds:uri="fa9d62c7-0f51-469e-af76-081dc5c2cf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8CAA7B-7A23-43F7-B4B5-F39396AC27EC}">
  <ds:schemaRefs>
    <ds:schemaRef ds:uri="http://purl.org/dc/elements/1.1/"/>
    <ds:schemaRef ds:uri="http://purl.org/dc/terms/"/>
    <ds:schemaRef ds:uri="8c7e2249-f67c-4027-b212-c28305a022e1"/>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fa9d62c7-0f51-469e-af76-081dc5c2cf6f"/>
    <ds:schemaRef ds:uri="http://schemas.microsoft.com/office/2006/metadata/propertie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7158</TotalTime>
  <Words>3708</Words>
  <Application>Microsoft Office PowerPoint</Application>
  <PresentationFormat>A4 210 x 297 mm</PresentationFormat>
  <Paragraphs>451</Paragraphs>
  <Slides>12</Slides>
  <Notes>8</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12</vt:i4>
      </vt:variant>
    </vt:vector>
  </HeadingPairs>
  <TitlesOfParts>
    <vt:vector size="19" baseType="lpstr">
      <vt:lpstr>HGPｺﾞｼｯｸE</vt:lpstr>
      <vt:lpstr>Meiryo UI</vt:lpstr>
      <vt:lpstr>游ゴシック</vt:lpstr>
      <vt:lpstr>Arial</vt:lpstr>
      <vt:lpstr>Wingdings</vt:lpstr>
      <vt:lpstr>Acc_Strategy_template 4-3</vt:lpstr>
      <vt:lpstr>think-cellスライド</vt:lpstr>
      <vt:lpstr>MUトレーニング資料 ~証券業界の概要</vt:lpstr>
      <vt:lpstr>自己紹介</vt:lpstr>
      <vt:lpstr>アジェンダ</vt:lpstr>
      <vt:lpstr>キャピタルマーケットの全体像</vt:lpstr>
      <vt:lpstr>MUFG系列会社の全体像</vt:lpstr>
      <vt:lpstr>“バイサイド”の主な業務内容</vt:lpstr>
      <vt:lpstr>マーケットインフラの概要（売買から決済までの流れ）</vt:lpstr>
      <vt:lpstr>“セルサイド”（証券会社）の主な業務内容</vt:lpstr>
      <vt:lpstr>各機能の関係性</vt:lpstr>
      <vt:lpstr>伝統的資産</vt:lpstr>
      <vt:lpstr>オルタナティブ資産</vt:lpstr>
      <vt:lpstr>4. 証券業界の主な課題</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Advanced Design</dc:title>
  <dc:creator>Accenture</dc:creator>
  <dc:description>Accenture Sample Presentation v9.1</dc:description>
  <cp:lastModifiedBy>Ohtsuka, Mayu</cp:lastModifiedBy>
  <cp:revision>44</cp:revision>
  <cp:lastPrinted>2017-01-24T14:00:15Z</cp:lastPrinted>
  <dcterms:created xsi:type="dcterms:W3CDTF">1999-12-21T20:01:50Z</dcterms:created>
  <dcterms:modified xsi:type="dcterms:W3CDTF">2026-01-14T09:25:50Z</dcterms:modified>
  <cp:category>Presentation Designs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ContentTypeId">
    <vt:lpwstr>0x0101005C34EC7365253543AF52C41840CDEDF2</vt:lpwstr>
  </property>
  <property fmtid="{D5CDD505-2E9C-101B-9397-08002B2CF9AE}" pid="4" name="MediaServiceImageTags">
    <vt:lpwstr/>
  </property>
  <property fmtid="{D5CDD505-2E9C-101B-9397-08002B2CF9AE}" pid="5" name="Order">
    <vt:r8>35200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