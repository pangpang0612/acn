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6.xml" ContentType="application/vnd.openxmlformats-officedocument.them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7.xml" ContentType="application/vnd.openxmlformats-officedocument.theme+xml"/>
  <Override PartName="/ppt/tags/tag40.xml" ContentType="application/vnd.openxmlformats-officedocument.presentationml.tags+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4157" r:id="rId5"/>
    <p:sldMasterId id="2147484170" r:id="rId6"/>
    <p:sldMasterId id="2147484174" r:id="rId7"/>
    <p:sldMasterId id="2147484177" r:id="rId8"/>
    <p:sldMasterId id="2147484182" r:id="rId9"/>
    <p:sldMasterId id="2147484186" r:id="rId10"/>
  </p:sldMasterIdLst>
  <p:notesMasterIdLst>
    <p:notesMasterId r:id="rId69"/>
  </p:notesMasterIdLst>
  <p:handoutMasterIdLst>
    <p:handoutMasterId r:id="rId70"/>
  </p:handoutMasterIdLst>
  <p:sldIdLst>
    <p:sldId id="2147481523" r:id="rId11"/>
    <p:sldId id="2147481992" r:id="rId12"/>
    <p:sldId id="2147481993" r:id="rId13"/>
    <p:sldId id="2147482053" r:id="rId14"/>
    <p:sldId id="2147481999" r:id="rId15"/>
    <p:sldId id="2147482000" r:id="rId16"/>
    <p:sldId id="2147482062" r:id="rId17"/>
    <p:sldId id="2147481994" r:id="rId18"/>
    <p:sldId id="2147481991" r:id="rId19"/>
    <p:sldId id="2147482003" r:id="rId20"/>
    <p:sldId id="2147482004" r:id="rId21"/>
    <p:sldId id="2147481995" r:id="rId22"/>
    <p:sldId id="2147482005" r:id="rId23"/>
    <p:sldId id="2147482007" r:id="rId24"/>
    <p:sldId id="2147482055" r:id="rId25"/>
    <p:sldId id="2147482056" r:id="rId26"/>
    <p:sldId id="2147482008" r:id="rId27"/>
    <p:sldId id="2147481996" r:id="rId28"/>
    <p:sldId id="2147482016" r:id="rId29"/>
    <p:sldId id="2147482010" r:id="rId30"/>
    <p:sldId id="2147482017" r:id="rId31"/>
    <p:sldId id="2147482012" r:id="rId32"/>
    <p:sldId id="2147482013" r:id="rId33"/>
    <p:sldId id="2147482058" r:id="rId34"/>
    <p:sldId id="2147482018" r:id="rId35"/>
    <p:sldId id="2147482019" r:id="rId36"/>
    <p:sldId id="2147482021" r:id="rId37"/>
    <p:sldId id="2147482087" r:id="rId38"/>
    <p:sldId id="2147482020" r:id="rId39"/>
    <p:sldId id="2147482063" r:id="rId40"/>
    <p:sldId id="2147482090" r:id="rId41"/>
    <p:sldId id="2147482030" r:id="rId42"/>
    <p:sldId id="2147482086" r:id="rId43"/>
    <p:sldId id="2147482066" r:id="rId44"/>
    <p:sldId id="2147482091" r:id="rId45"/>
    <p:sldId id="2147482031" r:id="rId46"/>
    <p:sldId id="2147482067" r:id="rId47"/>
    <p:sldId id="2147482092" r:id="rId48"/>
    <p:sldId id="2147482032" r:id="rId49"/>
    <p:sldId id="2147482068" r:id="rId50"/>
    <p:sldId id="2147482077" r:id="rId51"/>
    <p:sldId id="2147482093" r:id="rId52"/>
    <p:sldId id="2147482070" r:id="rId53"/>
    <p:sldId id="2147482071" r:id="rId54"/>
    <p:sldId id="2147482094" r:id="rId55"/>
    <p:sldId id="2147482034" r:id="rId56"/>
    <p:sldId id="2147482074" r:id="rId57"/>
    <p:sldId id="2147482025" r:id="rId58"/>
    <p:sldId id="2147482082" r:id="rId59"/>
    <p:sldId id="2147482026" r:id="rId60"/>
    <p:sldId id="2147482081" r:id="rId61"/>
    <p:sldId id="2147482096" r:id="rId62"/>
    <p:sldId id="2147482097" r:id="rId63"/>
    <p:sldId id="2147482059" r:id="rId64"/>
    <p:sldId id="2147482060" r:id="rId65"/>
    <p:sldId id="2147482027" r:id="rId66"/>
    <p:sldId id="2147482028" r:id="rId67"/>
    <p:sldId id="2147482061" r:id="rId68"/>
  </p:sldIdLst>
  <p:sldSz cx="9906000" cy="6858000" type="A4"/>
  <p:notesSz cx="6807200" cy="9939338"/>
  <p:custDataLst>
    <p:tags r:id="rId7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930B2FAA-AB4E-4B8A-85CA-12F6CB4FD5D3}">
          <p14:sldIdLst>
            <p14:sldId id="2147481523"/>
            <p14:sldId id="2147481992"/>
            <p14:sldId id="2147481993"/>
            <p14:sldId id="2147482053"/>
            <p14:sldId id="2147481999"/>
            <p14:sldId id="2147482000"/>
            <p14:sldId id="2147482062"/>
            <p14:sldId id="2147481994"/>
            <p14:sldId id="2147481991"/>
            <p14:sldId id="2147482003"/>
            <p14:sldId id="2147482004"/>
            <p14:sldId id="2147481995"/>
            <p14:sldId id="2147482005"/>
            <p14:sldId id="2147482007"/>
            <p14:sldId id="2147482055"/>
            <p14:sldId id="2147482056"/>
            <p14:sldId id="2147482008"/>
            <p14:sldId id="2147481996"/>
            <p14:sldId id="2147482016"/>
            <p14:sldId id="2147482010"/>
            <p14:sldId id="2147482017"/>
            <p14:sldId id="2147482012"/>
            <p14:sldId id="2147482013"/>
            <p14:sldId id="2147482058"/>
            <p14:sldId id="2147482018"/>
            <p14:sldId id="2147482019"/>
            <p14:sldId id="2147482021"/>
            <p14:sldId id="2147482087"/>
            <p14:sldId id="2147482020"/>
            <p14:sldId id="2147482063"/>
            <p14:sldId id="2147482090"/>
            <p14:sldId id="2147482030"/>
            <p14:sldId id="2147482086"/>
            <p14:sldId id="2147482066"/>
            <p14:sldId id="2147482091"/>
            <p14:sldId id="2147482031"/>
            <p14:sldId id="2147482067"/>
            <p14:sldId id="2147482092"/>
            <p14:sldId id="2147482032"/>
            <p14:sldId id="2147482068"/>
            <p14:sldId id="2147482077"/>
            <p14:sldId id="2147482093"/>
            <p14:sldId id="2147482070"/>
            <p14:sldId id="2147482071"/>
            <p14:sldId id="2147482094"/>
            <p14:sldId id="2147482034"/>
            <p14:sldId id="2147482074"/>
            <p14:sldId id="2147482025"/>
            <p14:sldId id="2147482082"/>
            <p14:sldId id="2147482026"/>
            <p14:sldId id="2147482081"/>
            <p14:sldId id="2147482096"/>
            <p14:sldId id="2147482097"/>
            <p14:sldId id="2147482059"/>
            <p14:sldId id="2147482060"/>
            <p14:sldId id="2147482027"/>
            <p14:sldId id="2147482028"/>
            <p14:sldId id="2147482061"/>
          </p14:sldIdLst>
        </p14:section>
      </p14:sectionLst>
    </p:ext>
    <p:ext uri="{EFAFB233-063F-42B5-8137-9DF3F51BA10A}">
      <p15:sldGuideLst xmlns:p15="http://schemas.microsoft.com/office/powerpoint/2012/main">
        <p15:guide id="3" pos="4118" userDrawn="1">
          <p15:clr>
            <a:srgbClr val="A4A3A4"/>
          </p15:clr>
        </p15:guide>
        <p15:guide id="4" orient="horz" pos="323" userDrawn="1">
          <p15:clr>
            <a:srgbClr val="A4A3A4"/>
          </p15:clr>
        </p15:guide>
        <p15:guide id="5" pos="2054" userDrawn="1">
          <p15:clr>
            <a:srgbClr val="A4A3A4"/>
          </p15:clr>
        </p15:guide>
        <p15:guide id="7" pos="353" userDrawn="1">
          <p15:clr>
            <a:srgbClr val="A4A3A4"/>
          </p15:clr>
        </p15:guide>
        <p15:guide id="8" pos="1487" userDrawn="1">
          <p15:clr>
            <a:srgbClr val="A4A3A4"/>
          </p15:clr>
        </p15:guide>
        <p15:guide id="9" pos="2077" userDrawn="1">
          <p15:clr>
            <a:srgbClr val="A4A3A4"/>
          </p15:clr>
        </p15:guide>
        <p15:guide id="10" pos="3097" userDrawn="1">
          <p15:clr>
            <a:srgbClr val="A4A3A4"/>
          </p15:clr>
        </p15:guide>
        <p15:guide id="11" pos="291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8A1542-573B-3FF9-87BD-57B132D21AF2}" name="Hirose, Mirai" initials="" userId="S::mirai.hirose@accenture.com::c10d5fdd-b67e-4403-8424-9e78a3c9228e" providerId="AD"/>
  <p188:author id="{F1682B53-BDD2-A66D-18EC-06429118B824}" name="Sasaki, Wakako" initials="SW" userId="S::wakako.sasaki@accenture.com::8482b5dd-f5f9-451d-8e26-8f848fd1d2ed" providerId="AD"/>
  <p188:author id="{E04BB653-51BC-9ABC-F8D9-BE457AADB78F}" name="Kawaguchi, Takehiro" initials="KT" userId="S::takehiro.kawaguchi@accenture.com::32cd7247-b59f-4dce-b43a-282837995788" providerId="AD"/>
  <p188:author id="{B654425F-8BE1-32A7-BAB0-01764E89E2A0}" name="Accenture Contract Management" initials="CM" userId="Accenture Contract Management" providerId="None"/>
  <p188:author id="{438D536D-F62C-C7BE-1202-A41D21CEA0EF}" name="Manno, Kazuya" initials="MK" userId="S::kazuya.manno@accenture.com::dabec14c-4e6a-4ac8-8cf8-6aead00ee077" providerId="AD"/>
  <p188:author id="{2873036E-8C70-8670-28E0-E15BDF538773}" name="Kageyama, Riko" initials="KR" userId="S::riko.kageyama@accenture.com::15edaf0a-26c2-463d-81a8-8a2df910d017" providerId="AD"/>
  <p188:author id="{585295DE-7BE3-2A74-9C60-2C86725CA2E9}" name="Fujihara, Ryosuke" initials="FR" userId="S::ryosuke.fujihara@accenture.com::28b717fb-607c-4813-b135-4db83b5a656b" providerId="AD"/>
  <p188:author id="{A81112F0-394F-28C9-26B2-570C572F63A3}" name="Nakazawa, Yosuke" initials="NY" userId="S::yosuke.nakazawa@accenture.com::df77951c-840e-42c5-8d92-d9db99570e4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Wake, Mana" initials="WM" lastIdx="5" clrIdx="6">
    <p:extLst>
      <p:ext uri="{19B8F6BF-5375-455C-9EA6-DF929625EA0E}">
        <p15:presenceInfo xmlns:p15="http://schemas.microsoft.com/office/powerpoint/2012/main" userId="S::mana.wake@accenture.com::c37d8ab7-2012-4793-b65d-7d69ee4e0383" providerId="AD"/>
      </p:ext>
    </p:extLst>
  </p:cmAuthor>
  <p:cmAuthor id="1" name="Shen, Hanjing" initials="SH" lastIdx="3" clrIdx="0">
    <p:extLst>
      <p:ext uri="{19B8F6BF-5375-455C-9EA6-DF929625EA0E}">
        <p15:presenceInfo xmlns:p15="http://schemas.microsoft.com/office/powerpoint/2012/main" userId="S::hanjing.shen@accenture.com::b1f29dbc-302a-4bd8-847b-6644c2002fb2" providerId="AD"/>
      </p:ext>
    </p:extLst>
  </p:cmAuthor>
  <p:cmAuthor id="8" name="Kameda, Masaru" initials="KM" lastIdx="1" clrIdx="7">
    <p:extLst>
      <p:ext uri="{19B8F6BF-5375-455C-9EA6-DF929625EA0E}">
        <p15:presenceInfo xmlns:p15="http://schemas.microsoft.com/office/powerpoint/2012/main" userId="S::masaru.kameda@accenture.com::f2fb7723-6cd1-46f5-8a18-81fc8c886b94" providerId="AD"/>
      </p:ext>
    </p:extLst>
  </p:cmAuthor>
  <p:cmAuthor id="2" name="Kikukawa, Yutaka" initials="KY" lastIdx="2" clrIdx="1">
    <p:extLst>
      <p:ext uri="{19B8F6BF-5375-455C-9EA6-DF929625EA0E}">
        <p15:presenceInfo xmlns:p15="http://schemas.microsoft.com/office/powerpoint/2012/main" userId="S::yutaka.kikukawa@accenture.com::6e009657-30d5-4eae-9aa0-0e27b59f0f7d" providerId="AD"/>
      </p:ext>
    </p:extLst>
  </p:cmAuthor>
  <p:cmAuthor id="9" name="Tateishi, Momoko" initials="TM" lastIdx="3" clrIdx="8">
    <p:extLst>
      <p:ext uri="{19B8F6BF-5375-455C-9EA6-DF929625EA0E}">
        <p15:presenceInfo xmlns:p15="http://schemas.microsoft.com/office/powerpoint/2012/main" userId="S::momoko.tateishi@accenture.com::8966f333-530d-41f1-9dc1-c2c6cf87d98d" providerId="AD"/>
      </p:ext>
    </p:extLst>
  </p:cmAuthor>
  <p:cmAuthor id="3" name="Takada, Masahiro (JP - AB 高田 大央)" initials="TM(-A高大" lastIdx="1" clrIdx="2">
    <p:extLst>
      <p:ext uri="{19B8F6BF-5375-455C-9EA6-DF929625EA0E}">
        <p15:presenceInfo xmlns:p15="http://schemas.microsoft.com/office/powerpoint/2012/main" userId="S::mastakada@abeam.com::b0c27181-0d6a-4db6-a162-e1da2dd657ad" providerId="AD"/>
      </p:ext>
    </p:extLst>
  </p:cmAuthor>
  <p:cmAuthor id="10" name="Okada, Kentaro" initials="OK" lastIdx="1" clrIdx="9">
    <p:extLst>
      <p:ext uri="{19B8F6BF-5375-455C-9EA6-DF929625EA0E}">
        <p15:presenceInfo xmlns:p15="http://schemas.microsoft.com/office/powerpoint/2012/main" userId="S::kentaro.okada@accenture.com::6121daa3-ced5-4c12-b914-bba802575c26" providerId="AD"/>
      </p:ext>
    </p:extLst>
  </p:cmAuthor>
  <p:cmAuthor id="4" name="Ugai, Masato" initials="UM" lastIdx="34" clrIdx="3">
    <p:extLst>
      <p:ext uri="{19B8F6BF-5375-455C-9EA6-DF929625EA0E}">
        <p15:presenceInfo xmlns:p15="http://schemas.microsoft.com/office/powerpoint/2012/main" userId="S::masato.ugai@accenture.com::56a7ddc9-b1b5-412f-a48a-dcc68add08fa" providerId="AD"/>
      </p:ext>
    </p:extLst>
  </p:cmAuthor>
  <p:cmAuthor id="5" name="Ozawa, Sayaka" initials="OS" lastIdx="20" clrIdx="4">
    <p:extLst>
      <p:ext uri="{19B8F6BF-5375-455C-9EA6-DF929625EA0E}">
        <p15:presenceInfo xmlns:p15="http://schemas.microsoft.com/office/powerpoint/2012/main" userId="S::sayaka.ozawa@accenture.com::a5c71c3a-c1d5-470e-8e0d-e24cc9a3e847" providerId="AD"/>
      </p:ext>
    </p:extLst>
  </p:cmAuthor>
  <p:cmAuthor id="6" name="Ohtsuki, Yuka" initials="OY" lastIdx="1" clrIdx="5">
    <p:extLst>
      <p:ext uri="{19B8F6BF-5375-455C-9EA6-DF929625EA0E}">
        <p15:presenceInfo xmlns:p15="http://schemas.microsoft.com/office/powerpoint/2012/main" userId="S::yuka.ohtsuki@accenture.com::d8372b05-0b89-4d79-9808-6003f59816b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00FF"/>
    <a:srgbClr val="FFC7C7"/>
    <a:srgbClr val="996600"/>
    <a:srgbClr val="ECCCFF"/>
    <a:srgbClr val="E8F9FF"/>
    <a:srgbClr val="A152D4"/>
    <a:srgbClr val="AD0000"/>
    <a:srgbClr val="28C8FF"/>
    <a:srgbClr val="0000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8E9B0C-CE52-42DF-8B7B-00ABC294C690}" v="2" dt="2025-09-03T00:55:31.470"/>
    <p1510:client id="{E3393A91-4C0C-4B67-8F52-68085A822B14}" v="2137" dt="2025-08-20T08:42:54.39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94660"/>
  </p:normalViewPr>
  <p:slideViewPr>
    <p:cSldViewPr snapToGrid="0" showGuides="1">
      <p:cViewPr varScale="1">
        <p:scale>
          <a:sx n="80" d="100"/>
          <a:sy n="80" d="100"/>
        </p:scale>
        <p:origin x="816" y="44"/>
      </p:cViewPr>
      <p:guideLst>
        <p:guide pos="4118"/>
        <p:guide orient="horz" pos="323"/>
        <p:guide pos="2054"/>
        <p:guide pos="353"/>
        <p:guide pos="1487"/>
        <p:guide pos="2077"/>
        <p:guide pos="3097"/>
        <p:guide pos="2916"/>
      </p:guideLst>
    </p:cSldViewPr>
  </p:slideViewPr>
  <p:notesTextViewPr>
    <p:cViewPr>
      <p:scale>
        <a:sx n="3" d="2"/>
        <a:sy n="3" d="2"/>
      </p:scale>
      <p:origin x="0" y="0"/>
    </p:cViewPr>
  </p:notesTextViewPr>
  <p:sorterViewPr>
    <p:cViewPr>
      <p:scale>
        <a:sx n="125" d="100"/>
        <a:sy n="125" d="100"/>
      </p:scale>
      <p:origin x="0" y="0"/>
    </p:cViewPr>
  </p:sorterViewPr>
  <p:notesViewPr>
    <p:cSldViewPr snapToGrid="0" showGuides="1">
      <p:cViewPr varScale="1">
        <p:scale>
          <a:sx n="86" d="100"/>
          <a:sy n="86" d="100"/>
        </p:scale>
        <p:origin x="3798"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16" Type="http://schemas.openxmlformats.org/officeDocument/2006/relationships/slide" Target="slides/slide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slide" Target="slides/slide56.xml"/><Relationship Id="rId74"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notesMaster" Target="notesMasters/notesMaster1.xml"/><Relationship Id="rId77"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handoutMaster" Target="handoutMasters/handoutMaster1.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presProps" Target="presProps.xml"/><Relationship Id="rId78"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tableStyles" Target="tableStyles.xml"/><Relationship Id="rId7" Type="http://schemas.openxmlformats.org/officeDocument/2006/relationships/slideMaster" Target="slideMasters/slideMaster4.xml"/><Relationship Id="rId71" Type="http://schemas.openxmlformats.org/officeDocument/2006/relationships/tags" Target="tags/tag1.xml"/><Relationship Id="rId2" Type="http://schemas.openxmlformats.org/officeDocument/2006/relationships/customXml" Target="../customXml/item2.xml"/><Relationship Id="rId29"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71853430-49E0-448A-AEFC-93427955D3E9}"/>
              </a:ext>
            </a:extLst>
          </p:cNvPr>
          <p:cNvSpPr>
            <a:spLocks noGrp="1"/>
          </p:cNvSpPr>
          <p:nvPr>
            <p:ph type="hdr" sz="quarter"/>
          </p:nvPr>
        </p:nvSpPr>
        <p:spPr>
          <a:xfrm>
            <a:off x="1" y="1"/>
            <a:ext cx="2949787" cy="498693"/>
          </a:xfrm>
          <a:prstGeom prst="rect">
            <a:avLst/>
          </a:prstGeom>
        </p:spPr>
        <p:txBody>
          <a:bodyPr vert="horz" lIns="91423" tIns="45712" rIns="91423" bIns="45712"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3338B3A4-B4D4-4DB7-AD3B-AAD1E3C9F3D1}"/>
              </a:ext>
            </a:extLst>
          </p:cNvPr>
          <p:cNvSpPr>
            <a:spLocks noGrp="1"/>
          </p:cNvSpPr>
          <p:nvPr>
            <p:ph type="dt" sz="quarter" idx="1"/>
          </p:nvPr>
        </p:nvSpPr>
        <p:spPr>
          <a:xfrm>
            <a:off x="3855840" y="1"/>
            <a:ext cx="2949787" cy="498693"/>
          </a:xfrm>
          <a:prstGeom prst="rect">
            <a:avLst/>
          </a:prstGeom>
        </p:spPr>
        <p:txBody>
          <a:bodyPr vert="horz" lIns="91423" tIns="45712" rIns="91423" bIns="45712" rtlCol="0"/>
          <a:lstStyle>
            <a:lvl1pPr algn="r">
              <a:defRPr sz="1200"/>
            </a:lvl1pPr>
          </a:lstStyle>
          <a:p>
            <a:fld id="{3E47EE0B-E667-47F4-A4E8-FF23BF18389C}" type="datetimeFigureOut">
              <a:rPr kumimoji="1" lang="ja-JP" altLang="en-US" smtClean="0"/>
              <a:t>2025/9/3</a:t>
            </a:fld>
            <a:endParaRPr kumimoji="1" lang="ja-JP" altLang="en-US"/>
          </a:p>
        </p:txBody>
      </p:sp>
      <p:sp>
        <p:nvSpPr>
          <p:cNvPr id="4" name="フッター プレースホルダー 3">
            <a:extLst>
              <a:ext uri="{FF2B5EF4-FFF2-40B4-BE49-F238E27FC236}">
                <a16:creationId xmlns:a16="http://schemas.microsoft.com/office/drawing/2014/main" id="{A4F3FCE1-8295-4C0B-82EF-3D0770B510C8}"/>
              </a:ext>
            </a:extLst>
          </p:cNvPr>
          <p:cNvSpPr>
            <a:spLocks noGrp="1"/>
          </p:cNvSpPr>
          <p:nvPr>
            <p:ph type="ftr" sz="quarter" idx="2"/>
          </p:nvPr>
        </p:nvSpPr>
        <p:spPr>
          <a:xfrm>
            <a:off x="1" y="9440647"/>
            <a:ext cx="2949787" cy="498692"/>
          </a:xfrm>
          <a:prstGeom prst="rect">
            <a:avLst/>
          </a:prstGeom>
        </p:spPr>
        <p:txBody>
          <a:bodyPr vert="horz" lIns="91423" tIns="45712" rIns="91423" bIns="45712"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9C9A815D-B482-4D32-8F7D-18F53E7B2BBA}"/>
              </a:ext>
            </a:extLst>
          </p:cNvPr>
          <p:cNvSpPr>
            <a:spLocks noGrp="1"/>
          </p:cNvSpPr>
          <p:nvPr>
            <p:ph type="sldNum" sz="quarter" idx="3"/>
          </p:nvPr>
        </p:nvSpPr>
        <p:spPr>
          <a:xfrm>
            <a:off x="3855840" y="9440647"/>
            <a:ext cx="2949787" cy="498692"/>
          </a:xfrm>
          <a:prstGeom prst="rect">
            <a:avLst/>
          </a:prstGeom>
        </p:spPr>
        <p:txBody>
          <a:bodyPr vert="horz" lIns="91423" tIns="45712" rIns="91423" bIns="45712" rtlCol="0" anchor="b"/>
          <a:lstStyle>
            <a:lvl1pPr algn="r">
              <a:defRPr sz="1200"/>
            </a:lvl1pPr>
          </a:lstStyle>
          <a:p>
            <a:fld id="{4F43EA41-C4BB-4AF6-AE2B-5230A523BD0F}" type="slidenum">
              <a:rPr kumimoji="1" lang="ja-JP" altLang="en-US" smtClean="0"/>
              <a:t>‹#›</a:t>
            </a:fld>
            <a:endParaRPr kumimoji="1" lang="ja-JP" altLang="en-US"/>
          </a:p>
        </p:txBody>
      </p:sp>
    </p:spTree>
    <p:extLst>
      <p:ext uri="{BB962C8B-B14F-4D97-AF65-F5344CB8AC3E}">
        <p14:creationId xmlns:p14="http://schemas.microsoft.com/office/powerpoint/2010/main" val="1965656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49787" cy="498693"/>
          </a:xfrm>
          <a:prstGeom prst="rect">
            <a:avLst/>
          </a:prstGeom>
        </p:spPr>
        <p:txBody>
          <a:bodyPr vert="horz" lIns="91423" tIns="45712" rIns="91423" bIns="45712"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40" y="1"/>
            <a:ext cx="2949787" cy="498693"/>
          </a:xfrm>
          <a:prstGeom prst="rect">
            <a:avLst/>
          </a:prstGeom>
        </p:spPr>
        <p:txBody>
          <a:bodyPr vert="horz" lIns="91423" tIns="45712" rIns="91423" bIns="45712" rtlCol="0"/>
          <a:lstStyle>
            <a:lvl1pPr algn="r">
              <a:defRPr sz="1200"/>
            </a:lvl1pPr>
          </a:lstStyle>
          <a:p>
            <a:fld id="{40E384D6-61EA-4B41-A492-6B0E87827C61}" type="datetimeFigureOut">
              <a:rPr kumimoji="1" lang="ja-JP" altLang="en-US" smtClean="0"/>
              <a:t>2025/9/3</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23" tIns="45712" rIns="91423" bIns="45712"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23" tIns="45712" rIns="91423" bIns="45712"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0647"/>
            <a:ext cx="2949787" cy="498692"/>
          </a:xfrm>
          <a:prstGeom prst="rect">
            <a:avLst/>
          </a:prstGeom>
        </p:spPr>
        <p:txBody>
          <a:bodyPr vert="horz" lIns="91423" tIns="45712" rIns="91423" bIns="45712"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40" y="9440647"/>
            <a:ext cx="2949787" cy="498692"/>
          </a:xfrm>
          <a:prstGeom prst="rect">
            <a:avLst/>
          </a:prstGeom>
        </p:spPr>
        <p:txBody>
          <a:bodyPr vert="horz" lIns="91423" tIns="45712" rIns="91423" bIns="45712" rtlCol="0" anchor="b"/>
          <a:lstStyle>
            <a:lvl1pPr algn="r">
              <a:defRPr sz="1200"/>
            </a:lvl1pPr>
          </a:lstStyle>
          <a:p>
            <a:fld id="{4E14A070-F569-463D-A4CC-31A1DBB2612F}" type="slidenum">
              <a:rPr kumimoji="1" lang="ja-JP" altLang="en-US" smtClean="0"/>
              <a:t>‹#›</a:t>
            </a:fld>
            <a:endParaRPr kumimoji="1" lang="ja-JP" altLang="en-US"/>
          </a:p>
        </p:txBody>
      </p:sp>
    </p:spTree>
    <p:extLst>
      <p:ext uri="{BB962C8B-B14F-4D97-AF65-F5344CB8AC3E}">
        <p14:creationId xmlns:p14="http://schemas.microsoft.com/office/powerpoint/2010/main" val="186327717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BA44FAA9-51FA-4F6B-AC6F-9EF5239E7D33}" type="slidenum">
              <a:rPr lang="de-DE" smtClean="0"/>
              <a:pPr>
                <a:defRPr/>
              </a:pPr>
              <a:t>1</a:t>
            </a:fld>
            <a:endParaRPr lang="de-DE"/>
          </a:p>
        </p:txBody>
      </p:sp>
    </p:spTree>
    <p:extLst>
      <p:ext uri="{BB962C8B-B14F-4D97-AF65-F5344CB8AC3E}">
        <p14:creationId xmlns:p14="http://schemas.microsoft.com/office/powerpoint/2010/main" val="323361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32D6B-E8A6-78ED-E363-CCC64AC782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20C46E-B094-FE70-EBC7-81600236309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4BA239-516E-ECC5-8FF1-7B06D15DAFF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7CACF72-88D1-49DB-0E86-F7EDC68079F4}"/>
              </a:ext>
            </a:extLst>
          </p:cNvPr>
          <p:cNvSpPr>
            <a:spLocks noGrp="1"/>
          </p:cNvSpPr>
          <p:nvPr>
            <p:ph type="sldNum" sz="quarter" idx="5"/>
          </p:nvPr>
        </p:nvSpPr>
        <p:spPr/>
        <p:txBody>
          <a:bodyPr/>
          <a:lstStyle/>
          <a:p>
            <a:fld id="{4E14A070-F569-463D-A4CC-31A1DBB2612F}" type="slidenum">
              <a:rPr kumimoji="1" lang="ja-JP" altLang="en-US" smtClean="0"/>
              <a:t>5</a:t>
            </a:fld>
            <a:endParaRPr kumimoji="1" lang="ja-JP" altLang="en-US"/>
          </a:p>
        </p:txBody>
      </p:sp>
    </p:spTree>
    <p:extLst>
      <p:ext uri="{BB962C8B-B14F-4D97-AF65-F5344CB8AC3E}">
        <p14:creationId xmlns:p14="http://schemas.microsoft.com/office/powerpoint/2010/main" val="3896091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32E79-AA92-1F9A-E3F8-8FFBBF572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DDDD86-BC20-6F53-8B3D-E12966207E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47F02C9-869A-0A7C-B892-4BCEE93695A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B5A3754-2D3F-9871-2F55-31B8C76E6ADF}"/>
              </a:ext>
            </a:extLst>
          </p:cNvPr>
          <p:cNvSpPr>
            <a:spLocks noGrp="1"/>
          </p:cNvSpPr>
          <p:nvPr>
            <p:ph type="sldNum" sz="quarter" idx="5"/>
          </p:nvPr>
        </p:nvSpPr>
        <p:spPr/>
        <p:txBody>
          <a:bodyPr/>
          <a:lstStyle/>
          <a:p>
            <a:fld id="{4E14A070-F569-463D-A4CC-31A1DBB2612F}" type="slidenum">
              <a:rPr kumimoji="1" lang="ja-JP" altLang="en-US" smtClean="0"/>
              <a:t>6</a:t>
            </a:fld>
            <a:endParaRPr kumimoji="1" lang="ja-JP" altLang="en-US"/>
          </a:p>
        </p:txBody>
      </p:sp>
    </p:spTree>
    <p:extLst>
      <p:ext uri="{BB962C8B-B14F-4D97-AF65-F5344CB8AC3E}">
        <p14:creationId xmlns:p14="http://schemas.microsoft.com/office/powerpoint/2010/main" val="689113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40B1C-053B-2AB3-F959-1EE4E3B19F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072A50-8968-5296-1E0B-09CF22F2F1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B4C4360-F298-A63C-F73F-E8DAD1705F7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D2859D-E4E9-4EB9-1E7A-3E2C0F8E628D}"/>
              </a:ext>
            </a:extLst>
          </p:cNvPr>
          <p:cNvSpPr>
            <a:spLocks noGrp="1"/>
          </p:cNvSpPr>
          <p:nvPr>
            <p:ph type="sldNum" sz="quarter" idx="5"/>
          </p:nvPr>
        </p:nvSpPr>
        <p:spPr/>
        <p:txBody>
          <a:bodyPr/>
          <a:lstStyle/>
          <a:p>
            <a:fld id="{4E14A070-F569-463D-A4CC-31A1DBB2612F}" type="slidenum">
              <a:rPr kumimoji="1" lang="ja-JP" altLang="en-US" smtClean="0"/>
              <a:t>8</a:t>
            </a:fld>
            <a:endParaRPr kumimoji="1" lang="ja-JP" altLang="en-US"/>
          </a:p>
        </p:txBody>
      </p:sp>
    </p:spTree>
    <p:extLst>
      <p:ext uri="{BB962C8B-B14F-4D97-AF65-F5344CB8AC3E}">
        <p14:creationId xmlns:p14="http://schemas.microsoft.com/office/powerpoint/2010/main" val="3534843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E5D93-F83D-9822-16AF-5F4599C675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9CD2B3-DFAA-BD1E-7387-BB6230339C3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8BD3AE5-C47B-F081-77DC-2D815B3DE63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F0D4A5E-7CCD-69A7-BD28-656756C2DA80}"/>
              </a:ext>
            </a:extLst>
          </p:cNvPr>
          <p:cNvSpPr>
            <a:spLocks noGrp="1"/>
          </p:cNvSpPr>
          <p:nvPr>
            <p:ph type="sldNum" sz="quarter" idx="5"/>
          </p:nvPr>
        </p:nvSpPr>
        <p:spPr/>
        <p:txBody>
          <a:bodyPr/>
          <a:lstStyle/>
          <a:p>
            <a:fld id="{4E14A070-F569-463D-A4CC-31A1DBB2612F}" type="slidenum">
              <a:rPr kumimoji="1" lang="ja-JP" altLang="en-US" smtClean="0"/>
              <a:t>9</a:t>
            </a:fld>
            <a:endParaRPr kumimoji="1" lang="ja-JP" altLang="en-US"/>
          </a:p>
        </p:txBody>
      </p:sp>
    </p:spTree>
    <p:extLst>
      <p:ext uri="{BB962C8B-B14F-4D97-AF65-F5344CB8AC3E}">
        <p14:creationId xmlns:p14="http://schemas.microsoft.com/office/powerpoint/2010/main" val="1390070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637A7-A681-C897-28D1-99766FAC929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DCF973C-630F-59F8-64E9-7A21CFA43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910B699-A330-2000-F260-D749FA221E1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80569B4-2048-8998-54C8-7A3EEAA74438}"/>
              </a:ext>
            </a:extLst>
          </p:cNvPr>
          <p:cNvSpPr>
            <a:spLocks noGrp="1"/>
          </p:cNvSpPr>
          <p:nvPr>
            <p:ph type="sldNum" sz="quarter" idx="5"/>
          </p:nvPr>
        </p:nvSpPr>
        <p:spPr/>
        <p:txBody>
          <a:bodyPr/>
          <a:lstStyle/>
          <a:p>
            <a:fld id="{4E14A070-F569-463D-A4CC-31A1DBB2612F}" type="slidenum">
              <a:rPr kumimoji="1" lang="ja-JP" altLang="en-US" smtClean="0"/>
              <a:t>10</a:t>
            </a:fld>
            <a:endParaRPr kumimoji="1" lang="ja-JP" altLang="en-US"/>
          </a:p>
        </p:txBody>
      </p:sp>
    </p:spTree>
    <p:extLst>
      <p:ext uri="{BB962C8B-B14F-4D97-AF65-F5344CB8AC3E}">
        <p14:creationId xmlns:p14="http://schemas.microsoft.com/office/powerpoint/2010/main" val="1213670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80D62-5FF2-89FE-19FE-92A52B25AB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624407C-C776-8E04-89DD-5C6F938AA14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6C75066-2F9B-E097-C7BE-33E3D832D40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AFABAF3-3C37-9893-C422-5BFB4083D9B9}"/>
              </a:ext>
            </a:extLst>
          </p:cNvPr>
          <p:cNvSpPr>
            <a:spLocks noGrp="1"/>
          </p:cNvSpPr>
          <p:nvPr>
            <p:ph type="sldNum" sz="quarter" idx="5"/>
          </p:nvPr>
        </p:nvSpPr>
        <p:spPr/>
        <p:txBody>
          <a:bodyPr/>
          <a:lstStyle/>
          <a:p>
            <a:fld id="{4E14A070-F569-463D-A4CC-31A1DBB2612F}" type="slidenum">
              <a:rPr kumimoji="1" lang="ja-JP" altLang="en-US" smtClean="0"/>
              <a:t>11</a:t>
            </a:fld>
            <a:endParaRPr kumimoji="1" lang="ja-JP" altLang="en-US"/>
          </a:p>
        </p:txBody>
      </p:sp>
    </p:spTree>
    <p:extLst>
      <p:ext uri="{BB962C8B-B14F-4D97-AF65-F5344CB8AC3E}">
        <p14:creationId xmlns:p14="http://schemas.microsoft.com/office/powerpoint/2010/main" val="3241249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EEF30-3CFC-B826-0579-273CBC0E3F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3CE295C-AF6F-DB30-1F1A-59C07A269F9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1A97E4D-026F-8F7C-C17F-0B0578931F3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38EF8E-462A-3990-A969-B5969B1120F4}"/>
              </a:ext>
            </a:extLst>
          </p:cNvPr>
          <p:cNvSpPr>
            <a:spLocks noGrp="1"/>
          </p:cNvSpPr>
          <p:nvPr>
            <p:ph type="sldNum" sz="quarter" idx="5"/>
          </p:nvPr>
        </p:nvSpPr>
        <p:spPr/>
        <p:txBody>
          <a:bodyPr/>
          <a:lstStyle/>
          <a:p>
            <a:fld id="{4E14A070-F569-463D-A4CC-31A1DBB2612F}" type="slidenum">
              <a:rPr kumimoji="1" lang="ja-JP" altLang="en-US" smtClean="0"/>
              <a:t>12</a:t>
            </a:fld>
            <a:endParaRPr kumimoji="1" lang="ja-JP" altLang="en-US"/>
          </a:p>
        </p:txBody>
      </p:sp>
    </p:spTree>
    <p:extLst>
      <p:ext uri="{BB962C8B-B14F-4D97-AF65-F5344CB8AC3E}">
        <p14:creationId xmlns:p14="http://schemas.microsoft.com/office/powerpoint/2010/main" val="1623438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245A8-744F-6018-BDCC-C96CBF68385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8DA7916-D3D9-3178-EFBC-66B2574F8D7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E1DAB4D-81CF-A5AD-74D6-6AB12274E71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F9BD374-1D49-D171-4EAE-AEFEBB1293BA}"/>
              </a:ext>
            </a:extLst>
          </p:cNvPr>
          <p:cNvSpPr>
            <a:spLocks noGrp="1"/>
          </p:cNvSpPr>
          <p:nvPr>
            <p:ph type="sldNum" sz="quarter" idx="5"/>
          </p:nvPr>
        </p:nvSpPr>
        <p:spPr/>
        <p:txBody>
          <a:bodyPr/>
          <a:lstStyle/>
          <a:p>
            <a:fld id="{4E14A070-F569-463D-A4CC-31A1DBB2612F}" type="slidenum">
              <a:rPr kumimoji="1" lang="ja-JP" altLang="en-US" smtClean="0"/>
              <a:t>13</a:t>
            </a:fld>
            <a:endParaRPr kumimoji="1" lang="ja-JP" altLang="en-US"/>
          </a:p>
        </p:txBody>
      </p:sp>
    </p:spTree>
    <p:extLst>
      <p:ext uri="{BB962C8B-B14F-4D97-AF65-F5344CB8AC3E}">
        <p14:creationId xmlns:p14="http://schemas.microsoft.com/office/powerpoint/2010/main" val="548285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8D8F4-6EE1-7BF6-A36C-8BFDB2935D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7E88A1A-03E2-D93B-9F1E-3ADF815E044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85E157D-16A1-5522-D008-4633A853D78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C95ABFB-6AB3-1FD6-798D-199503B10477}"/>
              </a:ext>
            </a:extLst>
          </p:cNvPr>
          <p:cNvSpPr>
            <a:spLocks noGrp="1"/>
          </p:cNvSpPr>
          <p:nvPr>
            <p:ph type="sldNum" sz="quarter" idx="5"/>
          </p:nvPr>
        </p:nvSpPr>
        <p:spPr/>
        <p:txBody>
          <a:bodyPr/>
          <a:lstStyle/>
          <a:p>
            <a:fld id="{4E14A070-F569-463D-A4CC-31A1DBB2612F}" type="slidenum">
              <a:rPr kumimoji="1" lang="ja-JP" altLang="en-US" smtClean="0"/>
              <a:t>14</a:t>
            </a:fld>
            <a:endParaRPr kumimoji="1" lang="ja-JP" altLang="en-US"/>
          </a:p>
        </p:txBody>
      </p:sp>
    </p:spTree>
    <p:extLst>
      <p:ext uri="{BB962C8B-B14F-4D97-AF65-F5344CB8AC3E}">
        <p14:creationId xmlns:p14="http://schemas.microsoft.com/office/powerpoint/2010/main" val="3703908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0EB-2297-8ECD-1885-4E9257BCD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E8817D-3B02-A806-7D10-01581151ED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70BAB0-E123-163B-20BF-9ED7BDC2244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CBE3E39-41B4-1815-2FC5-44FE804095EF}"/>
              </a:ext>
            </a:extLst>
          </p:cNvPr>
          <p:cNvSpPr>
            <a:spLocks noGrp="1"/>
          </p:cNvSpPr>
          <p:nvPr>
            <p:ph type="sldNum" sz="quarter" idx="5"/>
          </p:nvPr>
        </p:nvSpPr>
        <p:spPr/>
        <p:txBody>
          <a:bodyPr/>
          <a:lstStyle/>
          <a:p>
            <a:fld id="{4E14A070-F569-463D-A4CC-31A1DBB2612F}" type="slidenum">
              <a:rPr kumimoji="1" lang="ja-JP" altLang="en-US" smtClean="0"/>
              <a:t>17</a:t>
            </a:fld>
            <a:endParaRPr kumimoji="1" lang="ja-JP" altLang="en-US"/>
          </a:p>
        </p:txBody>
      </p:sp>
    </p:spTree>
    <p:extLst>
      <p:ext uri="{BB962C8B-B14F-4D97-AF65-F5344CB8AC3E}">
        <p14:creationId xmlns:p14="http://schemas.microsoft.com/office/powerpoint/2010/main" val="2509579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DD244-E74C-0E47-7C9D-102FDAFC0E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E79B76-89CA-9ECB-F6D7-2F8B5D2CF93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AFD9C8-5F24-0F3C-1731-E1C9C347B74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AD9C1F-A976-E95F-4E16-9977D32ADBAC}"/>
              </a:ext>
            </a:extLst>
          </p:cNvPr>
          <p:cNvSpPr>
            <a:spLocks noGrp="1"/>
          </p:cNvSpPr>
          <p:nvPr>
            <p:ph type="sldNum" sz="quarter" idx="5"/>
          </p:nvPr>
        </p:nvSpPr>
        <p:spPr/>
        <p:txBody>
          <a:bodyPr/>
          <a:lstStyle/>
          <a:p>
            <a:fld id="{4E14A070-F569-463D-A4CC-31A1DBB2612F}" type="slidenum">
              <a:rPr kumimoji="1" lang="ja-JP" altLang="en-US" smtClean="0"/>
              <a:t>18</a:t>
            </a:fld>
            <a:endParaRPr kumimoji="1" lang="ja-JP" altLang="en-US"/>
          </a:p>
        </p:txBody>
      </p:sp>
    </p:spTree>
    <p:extLst>
      <p:ext uri="{BB962C8B-B14F-4D97-AF65-F5344CB8AC3E}">
        <p14:creationId xmlns:p14="http://schemas.microsoft.com/office/powerpoint/2010/main" val="3216520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D01C8-4B84-65CF-3DF0-F741E04EB4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F761DC-D95E-ECFD-E8A3-602B097984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47F9DF-E2B3-9D59-01AE-7E489F32B7C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BFA5D4F-180D-FFD8-D9E6-DACB62AB26FC}"/>
              </a:ext>
            </a:extLst>
          </p:cNvPr>
          <p:cNvSpPr>
            <a:spLocks noGrp="1"/>
          </p:cNvSpPr>
          <p:nvPr>
            <p:ph type="sldNum" sz="quarter" idx="5"/>
          </p:nvPr>
        </p:nvSpPr>
        <p:spPr/>
        <p:txBody>
          <a:bodyPr/>
          <a:lstStyle/>
          <a:p>
            <a:fld id="{4E14A070-F569-463D-A4CC-31A1DBB2612F}" type="slidenum">
              <a:rPr kumimoji="1" lang="ja-JP" altLang="en-US" smtClean="0"/>
              <a:t>19</a:t>
            </a:fld>
            <a:endParaRPr kumimoji="1" lang="ja-JP" altLang="en-US"/>
          </a:p>
        </p:txBody>
      </p:sp>
    </p:spTree>
    <p:extLst>
      <p:ext uri="{BB962C8B-B14F-4D97-AF65-F5344CB8AC3E}">
        <p14:creationId xmlns:p14="http://schemas.microsoft.com/office/powerpoint/2010/main" val="1978783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DDB14-2000-3674-1E00-6756963921F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CC4421-203A-30F1-668E-D0031A9D06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8235D1-21F4-A567-1B64-FDC680E12E1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1018428-7279-5481-74B7-59A0FBF53603}"/>
              </a:ext>
            </a:extLst>
          </p:cNvPr>
          <p:cNvSpPr>
            <a:spLocks noGrp="1"/>
          </p:cNvSpPr>
          <p:nvPr>
            <p:ph type="sldNum" sz="quarter" idx="5"/>
          </p:nvPr>
        </p:nvSpPr>
        <p:spPr/>
        <p:txBody>
          <a:bodyPr/>
          <a:lstStyle/>
          <a:p>
            <a:fld id="{4E14A070-F569-463D-A4CC-31A1DBB2612F}" type="slidenum">
              <a:rPr kumimoji="1" lang="ja-JP" altLang="en-US" smtClean="0"/>
              <a:t>20</a:t>
            </a:fld>
            <a:endParaRPr kumimoji="1" lang="ja-JP" altLang="en-US"/>
          </a:p>
        </p:txBody>
      </p:sp>
    </p:spTree>
    <p:extLst>
      <p:ext uri="{BB962C8B-B14F-4D97-AF65-F5344CB8AC3E}">
        <p14:creationId xmlns:p14="http://schemas.microsoft.com/office/powerpoint/2010/main" val="5178423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14126-A32A-9493-F03A-7209FC132B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A6D537-F5C2-523A-DB3D-0FDA4D2485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BFC473F-0A71-D838-F3D4-E4264A02008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39E70B5-1374-503C-C11D-AA6E9DA5AE80}"/>
              </a:ext>
            </a:extLst>
          </p:cNvPr>
          <p:cNvSpPr>
            <a:spLocks noGrp="1"/>
          </p:cNvSpPr>
          <p:nvPr>
            <p:ph type="sldNum" sz="quarter" idx="5"/>
          </p:nvPr>
        </p:nvSpPr>
        <p:spPr/>
        <p:txBody>
          <a:bodyPr/>
          <a:lstStyle/>
          <a:p>
            <a:fld id="{4E14A070-F569-463D-A4CC-31A1DBB2612F}" type="slidenum">
              <a:rPr kumimoji="1" lang="ja-JP" altLang="en-US" smtClean="0"/>
              <a:t>21</a:t>
            </a:fld>
            <a:endParaRPr kumimoji="1" lang="ja-JP" altLang="en-US"/>
          </a:p>
        </p:txBody>
      </p:sp>
    </p:spTree>
    <p:extLst>
      <p:ext uri="{BB962C8B-B14F-4D97-AF65-F5344CB8AC3E}">
        <p14:creationId xmlns:p14="http://schemas.microsoft.com/office/powerpoint/2010/main" val="1393754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C16D9-B87A-FD75-3F0E-B071A346671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BA7653-5194-82DD-AD17-59314D26B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0804AAE-540D-862A-8D44-252D6A4D6A6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F08F86-DADF-01E8-0602-9FE8ED0FE193}"/>
              </a:ext>
            </a:extLst>
          </p:cNvPr>
          <p:cNvSpPr>
            <a:spLocks noGrp="1"/>
          </p:cNvSpPr>
          <p:nvPr>
            <p:ph type="sldNum" sz="quarter" idx="5"/>
          </p:nvPr>
        </p:nvSpPr>
        <p:spPr/>
        <p:txBody>
          <a:bodyPr/>
          <a:lstStyle/>
          <a:p>
            <a:fld id="{4E14A070-F569-463D-A4CC-31A1DBB2612F}" type="slidenum">
              <a:rPr kumimoji="1" lang="ja-JP" altLang="en-US" smtClean="0"/>
              <a:t>22</a:t>
            </a:fld>
            <a:endParaRPr kumimoji="1" lang="ja-JP" altLang="en-US"/>
          </a:p>
        </p:txBody>
      </p:sp>
    </p:spTree>
    <p:extLst>
      <p:ext uri="{BB962C8B-B14F-4D97-AF65-F5344CB8AC3E}">
        <p14:creationId xmlns:p14="http://schemas.microsoft.com/office/powerpoint/2010/main" val="18924863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130B7-B90C-E0F8-516B-762FF3E61A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0C2F5B-105D-DEA6-9CBD-94EF0DEB45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5920DA-B97F-A4EC-B30B-64E06FF649F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DED5731-6F9B-B5E0-1243-FE7A418C36A0}"/>
              </a:ext>
            </a:extLst>
          </p:cNvPr>
          <p:cNvSpPr>
            <a:spLocks noGrp="1"/>
          </p:cNvSpPr>
          <p:nvPr>
            <p:ph type="sldNum" sz="quarter" idx="5"/>
          </p:nvPr>
        </p:nvSpPr>
        <p:spPr/>
        <p:txBody>
          <a:bodyPr/>
          <a:lstStyle/>
          <a:p>
            <a:fld id="{4E14A070-F569-463D-A4CC-31A1DBB2612F}" type="slidenum">
              <a:rPr kumimoji="1" lang="ja-JP" altLang="en-US" smtClean="0"/>
              <a:t>23</a:t>
            </a:fld>
            <a:endParaRPr kumimoji="1" lang="ja-JP" altLang="en-US"/>
          </a:p>
        </p:txBody>
      </p:sp>
    </p:spTree>
    <p:extLst>
      <p:ext uri="{BB962C8B-B14F-4D97-AF65-F5344CB8AC3E}">
        <p14:creationId xmlns:p14="http://schemas.microsoft.com/office/powerpoint/2010/main" val="35035015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5AA6B-E835-363F-1E56-6C6BACCAA00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8E66007-E7C7-DD98-8033-8F77544AC7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D77BF43-191F-26A8-C675-774D0E7E524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0A3F9DB-B113-E7CE-B78F-B48219DF9EC7}"/>
              </a:ext>
            </a:extLst>
          </p:cNvPr>
          <p:cNvSpPr>
            <a:spLocks noGrp="1"/>
          </p:cNvSpPr>
          <p:nvPr>
            <p:ph type="sldNum" sz="quarter" idx="5"/>
          </p:nvPr>
        </p:nvSpPr>
        <p:spPr/>
        <p:txBody>
          <a:bodyPr/>
          <a:lstStyle/>
          <a:p>
            <a:fld id="{4E14A070-F569-463D-A4CC-31A1DBB2612F}" type="slidenum">
              <a:rPr kumimoji="1" lang="ja-JP" altLang="en-US" smtClean="0"/>
              <a:t>25</a:t>
            </a:fld>
            <a:endParaRPr kumimoji="1" lang="ja-JP" altLang="en-US"/>
          </a:p>
        </p:txBody>
      </p:sp>
    </p:spTree>
    <p:extLst>
      <p:ext uri="{BB962C8B-B14F-4D97-AF65-F5344CB8AC3E}">
        <p14:creationId xmlns:p14="http://schemas.microsoft.com/office/powerpoint/2010/main" val="2755911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C2158-057B-2672-45CD-BFC668CFF9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5970F6-F5F6-B5AD-5F60-647216056A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F988AC-3B8A-68CB-CE42-1B01F96B977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4A99E53-FF82-244E-C16F-6D1BCFC0A7EA}"/>
              </a:ext>
            </a:extLst>
          </p:cNvPr>
          <p:cNvSpPr>
            <a:spLocks noGrp="1"/>
          </p:cNvSpPr>
          <p:nvPr>
            <p:ph type="sldNum" sz="quarter" idx="5"/>
          </p:nvPr>
        </p:nvSpPr>
        <p:spPr/>
        <p:txBody>
          <a:bodyPr/>
          <a:lstStyle/>
          <a:p>
            <a:fld id="{4E14A070-F569-463D-A4CC-31A1DBB2612F}" type="slidenum">
              <a:rPr kumimoji="1" lang="ja-JP" altLang="en-US" smtClean="0"/>
              <a:t>26</a:t>
            </a:fld>
            <a:endParaRPr kumimoji="1" lang="ja-JP" altLang="en-US"/>
          </a:p>
        </p:txBody>
      </p:sp>
    </p:spTree>
    <p:extLst>
      <p:ext uri="{BB962C8B-B14F-4D97-AF65-F5344CB8AC3E}">
        <p14:creationId xmlns:p14="http://schemas.microsoft.com/office/powerpoint/2010/main" val="32341503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794DE-1866-5725-8A14-4F9879991F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C226678-A6B9-0E62-F7EA-360A14FD58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7FEB53-E035-7624-9328-C39441CE155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54C4EB8-5CC9-D9BA-255C-63C095990044}"/>
              </a:ext>
            </a:extLst>
          </p:cNvPr>
          <p:cNvSpPr>
            <a:spLocks noGrp="1"/>
          </p:cNvSpPr>
          <p:nvPr>
            <p:ph type="sldNum" sz="quarter" idx="5"/>
          </p:nvPr>
        </p:nvSpPr>
        <p:spPr/>
        <p:txBody>
          <a:bodyPr/>
          <a:lstStyle/>
          <a:p>
            <a:fld id="{4E14A070-F569-463D-A4CC-31A1DBB2612F}" type="slidenum">
              <a:rPr kumimoji="1" lang="ja-JP" altLang="en-US" smtClean="0"/>
              <a:t>27</a:t>
            </a:fld>
            <a:endParaRPr kumimoji="1" lang="ja-JP" altLang="en-US"/>
          </a:p>
        </p:txBody>
      </p:sp>
    </p:spTree>
    <p:extLst>
      <p:ext uri="{BB962C8B-B14F-4D97-AF65-F5344CB8AC3E}">
        <p14:creationId xmlns:p14="http://schemas.microsoft.com/office/powerpoint/2010/main" val="21827566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55E26-3AA3-B320-997A-EC1A0EAB409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A8E087F-D20C-442B-A57E-4B2208AE02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4E79DEF-3C41-32FA-F868-8B5C9187AA5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B47AF26-3F1F-960A-64E5-033350977E82}"/>
              </a:ext>
            </a:extLst>
          </p:cNvPr>
          <p:cNvSpPr>
            <a:spLocks noGrp="1"/>
          </p:cNvSpPr>
          <p:nvPr>
            <p:ph type="sldNum" sz="quarter" idx="5"/>
          </p:nvPr>
        </p:nvSpPr>
        <p:spPr/>
        <p:txBody>
          <a:bodyPr/>
          <a:lstStyle/>
          <a:p>
            <a:fld id="{4E14A070-F569-463D-A4CC-31A1DBB2612F}" type="slidenum">
              <a:rPr kumimoji="1" lang="ja-JP" altLang="en-US" smtClean="0"/>
              <a:t>29</a:t>
            </a:fld>
            <a:endParaRPr kumimoji="1" lang="ja-JP" altLang="en-US"/>
          </a:p>
        </p:txBody>
      </p:sp>
    </p:spTree>
    <p:extLst>
      <p:ext uri="{BB962C8B-B14F-4D97-AF65-F5344CB8AC3E}">
        <p14:creationId xmlns:p14="http://schemas.microsoft.com/office/powerpoint/2010/main" val="2707704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59F06-ACAD-CAF1-E89E-E2D17D843D5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D3E96A5-0930-67D0-268A-D27F1964990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F9B45E-DD52-38B8-F5F9-C6771BCD1D7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D7D9095-D883-6CAC-C000-91B340C86405}"/>
              </a:ext>
            </a:extLst>
          </p:cNvPr>
          <p:cNvSpPr>
            <a:spLocks noGrp="1"/>
          </p:cNvSpPr>
          <p:nvPr>
            <p:ph type="sldNum" sz="quarter" idx="5"/>
          </p:nvPr>
        </p:nvSpPr>
        <p:spPr/>
        <p:txBody>
          <a:bodyPr/>
          <a:lstStyle/>
          <a:p>
            <a:fld id="{4E14A070-F569-463D-A4CC-31A1DBB2612F}" type="slidenum">
              <a:rPr kumimoji="1" lang="ja-JP" altLang="en-US" smtClean="0"/>
              <a:t>30</a:t>
            </a:fld>
            <a:endParaRPr kumimoji="1" lang="ja-JP" altLang="en-US"/>
          </a:p>
        </p:txBody>
      </p:sp>
    </p:spTree>
    <p:extLst>
      <p:ext uri="{BB962C8B-B14F-4D97-AF65-F5344CB8AC3E}">
        <p14:creationId xmlns:p14="http://schemas.microsoft.com/office/powerpoint/2010/main" val="23038108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1B2CF-97C7-80D1-0249-88A7F2DFDC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A5004D-6853-7E3F-C326-E601A57286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C5ECAA5-4E15-179E-25A6-ACC261E5FC0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2E72CD4-843E-59EA-B357-EA2C9F2D6E64}"/>
              </a:ext>
            </a:extLst>
          </p:cNvPr>
          <p:cNvSpPr>
            <a:spLocks noGrp="1"/>
          </p:cNvSpPr>
          <p:nvPr>
            <p:ph type="sldNum" sz="quarter" idx="5"/>
          </p:nvPr>
        </p:nvSpPr>
        <p:spPr/>
        <p:txBody>
          <a:bodyPr/>
          <a:lstStyle/>
          <a:p>
            <a:fld id="{4E14A070-F569-463D-A4CC-31A1DBB2612F}" type="slidenum">
              <a:rPr kumimoji="1" lang="ja-JP" altLang="en-US" smtClean="0"/>
              <a:t>32</a:t>
            </a:fld>
            <a:endParaRPr kumimoji="1" lang="ja-JP" altLang="en-US"/>
          </a:p>
        </p:txBody>
      </p:sp>
    </p:spTree>
    <p:extLst>
      <p:ext uri="{BB962C8B-B14F-4D97-AF65-F5344CB8AC3E}">
        <p14:creationId xmlns:p14="http://schemas.microsoft.com/office/powerpoint/2010/main" val="16991325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8859-A1E0-12BE-CD99-15EF2CBE13D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613537-BF9D-A92A-D9DA-869D819DDF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A3DDE08-D0F5-4573-FD96-EBBCC7CB4A0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9F2430F-5F09-C15D-4209-69CCBC17A03F}"/>
              </a:ext>
            </a:extLst>
          </p:cNvPr>
          <p:cNvSpPr>
            <a:spLocks noGrp="1"/>
          </p:cNvSpPr>
          <p:nvPr>
            <p:ph type="sldNum" sz="quarter" idx="5"/>
          </p:nvPr>
        </p:nvSpPr>
        <p:spPr/>
        <p:txBody>
          <a:bodyPr/>
          <a:lstStyle/>
          <a:p>
            <a:fld id="{4E14A070-F569-463D-A4CC-31A1DBB2612F}" type="slidenum">
              <a:rPr kumimoji="1" lang="ja-JP" altLang="en-US" smtClean="0"/>
              <a:t>34</a:t>
            </a:fld>
            <a:endParaRPr kumimoji="1" lang="ja-JP" altLang="en-US"/>
          </a:p>
        </p:txBody>
      </p:sp>
    </p:spTree>
    <p:extLst>
      <p:ext uri="{BB962C8B-B14F-4D97-AF65-F5344CB8AC3E}">
        <p14:creationId xmlns:p14="http://schemas.microsoft.com/office/powerpoint/2010/main" val="42327300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E0DC5-2E7F-ECBB-A506-6F63D52BB4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6D798-803C-F9F6-AA96-7F204DC2175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D59480-6772-FBEE-8383-8F1568E7C74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C761E47-C173-BCC1-1B62-6BD4FF2E17E1}"/>
              </a:ext>
            </a:extLst>
          </p:cNvPr>
          <p:cNvSpPr>
            <a:spLocks noGrp="1"/>
          </p:cNvSpPr>
          <p:nvPr>
            <p:ph type="sldNum" sz="quarter" idx="5"/>
          </p:nvPr>
        </p:nvSpPr>
        <p:spPr/>
        <p:txBody>
          <a:bodyPr/>
          <a:lstStyle/>
          <a:p>
            <a:fld id="{4E14A070-F569-463D-A4CC-31A1DBB2612F}" type="slidenum">
              <a:rPr kumimoji="1" lang="ja-JP" altLang="en-US" smtClean="0"/>
              <a:t>36</a:t>
            </a:fld>
            <a:endParaRPr kumimoji="1" lang="ja-JP" altLang="en-US"/>
          </a:p>
        </p:txBody>
      </p:sp>
    </p:spTree>
    <p:extLst>
      <p:ext uri="{BB962C8B-B14F-4D97-AF65-F5344CB8AC3E}">
        <p14:creationId xmlns:p14="http://schemas.microsoft.com/office/powerpoint/2010/main" val="33743148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3EF6F-0792-8FFB-D1B4-B731819E47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9BC0C-72AE-C821-8739-A0FA4BC360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4DC154-9CC8-44EF-7CAE-02551886972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3D79080-3838-EA61-4E37-9F9E55ACD9A3}"/>
              </a:ext>
            </a:extLst>
          </p:cNvPr>
          <p:cNvSpPr>
            <a:spLocks noGrp="1"/>
          </p:cNvSpPr>
          <p:nvPr>
            <p:ph type="sldNum" sz="quarter" idx="5"/>
          </p:nvPr>
        </p:nvSpPr>
        <p:spPr/>
        <p:txBody>
          <a:bodyPr/>
          <a:lstStyle/>
          <a:p>
            <a:fld id="{4E14A070-F569-463D-A4CC-31A1DBB2612F}" type="slidenum">
              <a:rPr kumimoji="1" lang="ja-JP" altLang="en-US" smtClean="0"/>
              <a:t>37</a:t>
            </a:fld>
            <a:endParaRPr kumimoji="1" lang="ja-JP" altLang="en-US"/>
          </a:p>
        </p:txBody>
      </p:sp>
    </p:spTree>
    <p:extLst>
      <p:ext uri="{BB962C8B-B14F-4D97-AF65-F5344CB8AC3E}">
        <p14:creationId xmlns:p14="http://schemas.microsoft.com/office/powerpoint/2010/main" val="3879584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1592F-2341-0900-3B67-4926BC3CF8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BCB0D47-0F46-D9E5-5581-A15197F8AF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1237846-4C7D-7D02-55AE-8AEDD00713F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30E91F0-61C6-F0FC-A765-2CA9B3BEB21D}"/>
              </a:ext>
            </a:extLst>
          </p:cNvPr>
          <p:cNvSpPr>
            <a:spLocks noGrp="1"/>
          </p:cNvSpPr>
          <p:nvPr>
            <p:ph type="sldNum" sz="quarter" idx="5"/>
          </p:nvPr>
        </p:nvSpPr>
        <p:spPr/>
        <p:txBody>
          <a:bodyPr/>
          <a:lstStyle/>
          <a:p>
            <a:fld id="{4E14A070-F569-463D-A4CC-31A1DBB2612F}" type="slidenum">
              <a:rPr kumimoji="1" lang="ja-JP" altLang="en-US" smtClean="0"/>
              <a:t>39</a:t>
            </a:fld>
            <a:endParaRPr kumimoji="1" lang="ja-JP" altLang="en-US"/>
          </a:p>
        </p:txBody>
      </p:sp>
    </p:spTree>
    <p:extLst>
      <p:ext uri="{BB962C8B-B14F-4D97-AF65-F5344CB8AC3E}">
        <p14:creationId xmlns:p14="http://schemas.microsoft.com/office/powerpoint/2010/main" val="31363364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13CA3-6083-6A6B-1FCA-C7FE424FE8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8D9ABE-ECEC-F13D-DD32-DAFA915328C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17997C-80CD-19C9-718D-BEEF230DACF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AE48E25-3982-3FCD-584B-8EDD0E2EF6FC}"/>
              </a:ext>
            </a:extLst>
          </p:cNvPr>
          <p:cNvSpPr>
            <a:spLocks noGrp="1"/>
          </p:cNvSpPr>
          <p:nvPr>
            <p:ph type="sldNum" sz="quarter" idx="5"/>
          </p:nvPr>
        </p:nvSpPr>
        <p:spPr/>
        <p:txBody>
          <a:bodyPr/>
          <a:lstStyle/>
          <a:p>
            <a:fld id="{4E14A070-F569-463D-A4CC-31A1DBB2612F}" type="slidenum">
              <a:rPr kumimoji="1" lang="ja-JP" altLang="en-US" smtClean="0"/>
              <a:t>40</a:t>
            </a:fld>
            <a:endParaRPr kumimoji="1" lang="ja-JP" altLang="en-US"/>
          </a:p>
        </p:txBody>
      </p:sp>
    </p:spTree>
    <p:extLst>
      <p:ext uri="{BB962C8B-B14F-4D97-AF65-F5344CB8AC3E}">
        <p14:creationId xmlns:p14="http://schemas.microsoft.com/office/powerpoint/2010/main" val="37755751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E01B9-0390-27BA-B005-BBE0CD88571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FCA387-C82D-A658-CF8A-5963B6B591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51F087B-D08A-0EF8-629D-0E92F18CBB5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41287EC-113A-A0CD-80CB-4A689DD4887A}"/>
              </a:ext>
            </a:extLst>
          </p:cNvPr>
          <p:cNvSpPr>
            <a:spLocks noGrp="1"/>
          </p:cNvSpPr>
          <p:nvPr>
            <p:ph type="sldNum" sz="quarter" idx="5"/>
          </p:nvPr>
        </p:nvSpPr>
        <p:spPr/>
        <p:txBody>
          <a:bodyPr/>
          <a:lstStyle/>
          <a:p>
            <a:fld id="{4E14A070-F569-463D-A4CC-31A1DBB2612F}" type="slidenum">
              <a:rPr kumimoji="1" lang="ja-JP" altLang="en-US" smtClean="0"/>
              <a:t>41</a:t>
            </a:fld>
            <a:endParaRPr kumimoji="1" lang="ja-JP" altLang="en-US"/>
          </a:p>
        </p:txBody>
      </p:sp>
    </p:spTree>
    <p:extLst>
      <p:ext uri="{BB962C8B-B14F-4D97-AF65-F5344CB8AC3E}">
        <p14:creationId xmlns:p14="http://schemas.microsoft.com/office/powerpoint/2010/main" val="4120632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27BF7-D822-7626-EB12-52F77BC01D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A928F8-5949-72C1-5969-E50C2D81EB9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946C30-64E1-8DE7-4D83-5F19D5CFB0B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5DACA15-B820-93DC-F840-7F376230BAE0}"/>
              </a:ext>
            </a:extLst>
          </p:cNvPr>
          <p:cNvSpPr>
            <a:spLocks noGrp="1"/>
          </p:cNvSpPr>
          <p:nvPr>
            <p:ph type="sldNum" sz="quarter" idx="5"/>
          </p:nvPr>
        </p:nvSpPr>
        <p:spPr/>
        <p:txBody>
          <a:bodyPr/>
          <a:lstStyle/>
          <a:p>
            <a:fld id="{4E14A070-F569-463D-A4CC-31A1DBB2612F}" type="slidenum">
              <a:rPr kumimoji="1" lang="ja-JP" altLang="en-US" smtClean="0"/>
              <a:t>43</a:t>
            </a:fld>
            <a:endParaRPr kumimoji="1" lang="ja-JP" altLang="en-US"/>
          </a:p>
        </p:txBody>
      </p:sp>
    </p:spTree>
    <p:extLst>
      <p:ext uri="{BB962C8B-B14F-4D97-AF65-F5344CB8AC3E}">
        <p14:creationId xmlns:p14="http://schemas.microsoft.com/office/powerpoint/2010/main" val="929082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62EBC-086B-3480-736B-56203E4C74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0B00CA-5CB6-F724-CD2B-FB7A4DF6DA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BB0CFF-757D-25FC-9B27-34AD7F3F8B9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7244415-A5D9-BE93-BFA7-531F14B37E6C}"/>
              </a:ext>
            </a:extLst>
          </p:cNvPr>
          <p:cNvSpPr>
            <a:spLocks noGrp="1"/>
          </p:cNvSpPr>
          <p:nvPr>
            <p:ph type="sldNum" sz="quarter" idx="5"/>
          </p:nvPr>
        </p:nvSpPr>
        <p:spPr/>
        <p:txBody>
          <a:bodyPr/>
          <a:lstStyle/>
          <a:p>
            <a:fld id="{4E14A070-F569-463D-A4CC-31A1DBB2612F}" type="slidenum">
              <a:rPr kumimoji="1" lang="ja-JP" altLang="en-US" smtClean="0"/>
              <a:t>44</a:t>
            </a:fld>
            <a:endParaRPr kumimoji="1" lang="ja-JP" altLang="en-US"/>
          </a:p>
        </p:txBody>
      </p:sp>
    </p:spTree>
    <p:extLst>
      <p:ext uri="{BB962C8B-B14F-4D97-AF65-F5344CB8AC3E}">
        <p14:creationId xmlns:p14="http://schemas.microsoft.com/office/powerpoint/2010/main" val="34080984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3B2FB-2ECF-9424-E667-262790A98E9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67D274-E5E7-47FC-7C64-696933D366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AF5D049-1505-A330-5595-04A0924FA18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ADD64FD-8E4A-053F-04F8-B18D4D8DB96F}"/>
              </a:ext>
            </a:extLst>
          </p:cNvPr>
          <p:cNvSpPr>
            <a:spLocks noGrp="1"/>
          </p:cNvSpPr>
          <p:nvPr>
            <p:ph type="sldNum" sz="quarter" idx="5"/>
          </p:nvPr>
        </p:nvSpPr>
        <p:spPr/>
        <p:txBody>
          <a:bodyPr/>
          <a:lstStyle/>
          <a:p>
            <a:fld id="{4E14A070-F569-463D-A4CC-31A1DBB2612F}" type="slidenum">
              <a:rPr kumimoji="1" lang="ja-JP" altLang="en-US" smtClean="0"/>
              <a:t>46</a:t>
            </a:fld>
            <a:endParaRPr kumimoji="1" lang="ja-JP" altLang="en-US"/>
          </a:p>
        </p:txBody>
      </p:sp>
    </p:spTree>
    <p:extLst>
      <p:ext uri="{BB962C8B-B14F-4D97-AF65-F5344CB8AC3E}">
        <p14:creationId xmlns:p14="http://schemas.microsoft.com/office/powerpoint/2010/main" val="12468817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4F6C9-6DA5-C077-AC98-0FB6A3515F2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8671A0-454A-D405-D9A0-C841674374A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E6DEF8-5AF7-471B-6961-236C691A62A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9591909-96B8-A6CB-6CA4-AAEB0BE3207A}"/>
              </a:ext>
            </a:extLst>
          </p:cNvPr>
          <p:cNvSpPr>
            <a:spLocks noGrp="1"/>
          </p:cNvSpPr>
          <p:nvPr>
            <p:ph type="sldNum" sz="quarter" idx="5"/>
          </p:nvPr>
        </p:nvSpPr>
        <p:spPr/>
        <p:txBody>
          <a:bodyPr/>
          <a:lstStyle/>
          <a:p>
            <a:fld id="{4E14A070-F569-463D-A4CC-31A1DBB2612F}" type="slidenum">
              <a:rPr kumimoji="1" lang="ja-JP" altLang="en-US" smtClean="0"/>
              <a:t>47</a:t>
            </a:fld>
            <a:endParaRPr kumimoji="1" lang="ja-JP" altLang="en-US"/>
          </a:p>
        </p:txBody>
      </p:sp>
    </p:spTree>
    <p:extLst>
      <p:ext uri="{BB962C8B-B14F-4D97-AF65-F5344CB8AC3E}">
        <p14:creationId xmlns:p14="http://schemas.microsoft.com/office/powerpoint/2010/main" val="16474065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30A62-1839-E925-032F-3168AED8AE0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F66CD4C-1FDA-FC2D-DA13-44461ABA01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85A5169-0FFA-CCBF-5975-3710F6E78C9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8D0D5DC-2016-A434-504A-D7DCBAEB48C6}"/>
              </a:ext>
            </a:extLst>
          </p:cNvPr>
          <p:cNvSpPr>
            <a:spLocks noGrp="1"/>
          </p:cNvSpPr>
          <p:nvPr>
            <p:ph type="sldNum" sz="quarter" idx="5"/>
          </p:nvPr>
        </p:nvSpPr>
        <p:spPr/>
        <p:txBody>
          <a:bodyPr/>
          <a:lstStyle/>
          <a:p>
            <a:fld id="{4E14A070-F569-463D-A4CC-31A1DBB2612F}" type="slidenum">
              <a:rPr kumimoji="1" lang="ja-JP" altLang="en-US" smtClean="0"/>
              <a:t>48</a:t>
            </a:fld>
            <a:endParaRPr kumimoji="1" lang="ja-JP" altLang="en-US"/>
          </a:p>
        </p:txBody>
      </p:sp>
    </p:spTree>
    <p:extLst>
      <p:ext uri="{BB962C8B-B14F-4D97-AF65-F5344CB8AC3E}">
        <p14:creationId xmlns:p14="http://schemas.microsoft.com/office/powerpoint/2010/main" val="17489608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70DC1-1D21-EF4F-7659-A388D153ED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42D24D-F910-736D-3005-4C7AD54BE2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924BB87-68B3-3D50-294A-AF3BDE1363F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4A626EC-829E-0E78-26A0-4C0A6751CAFB}"/>
              </a:ext>
            </a:extLst>
          </p:cNvPr>
          <p:cNvSpPr>
            <a:spLocks noGrp="1"/>
          </p:cNvSpPr>
          <p:nvPr>
            <p:ph type="sldNum" sz="quarter" idx="5"/>
          </p:nvPr>
        </p:nvSpPr>
        <p:spPr/>
        <p:txBody>
          <a:bodyPr/>
          <a:lstStyle/>
          <a:p>
            <a:fld id="{4E14A070-F569-463D-A4CC-31A1DBB2612F}" type="slidenum">
              <a:rPr kumimoji="1" lang="ja-JP" altLang="en-US" smtClean="0"/>
              <a:t>49</a:t>
            </a:fld>
            <a:endParaRPr kumimoji="1" lang="ja-JP" altLang="en-US"/>
          </a:p>
        </p:txBody>
      </p:sp>
    </p:spTree>
    <p:extLst>
      <p:ext uri="{BB962C8B-B14F-4D97-AF65-F5344CB8AC3E}">
        <p14:creationId xmlns:p14="http://schemas.microsoft.com/office/powerpoint/2010/main" val="34562888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20F79-8122-4406-A23F-DEF47FEE824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AF8F514-241D-95EE-39F5-419320A47E3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48ECE06-FC2D-BAA2-5FE8-37DC16C4932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6CC6F75-A5A6-45EA-02A5-6526B4AAB5C1}"/>
              </a:ext>
            </a:extLst>
          </p:cNvPr>
          <p:cNvSpPr>
            <a:spLocks noGrp="1"/>
          </p:cNvSpPr>
          <p:nvPr>
            <p:ph type="sldNum" sz="quarter" idx="5"/>
          </p:nvPr>
        </p:nvSpPr>
        <p:spPr/>
        <p:txBody>
          <a:bodyPr/>
          <a:lstStyle/>
          <a:p>
            <a:fld id="{4E14A070-F569-463D-A4CC-31A1DBB2612F}" type="slidenum">
              <a:rPr kumimoji="1" lang="ja-JP" altLang="en-US" smtClean="0"/>
              <a:t>50</a:t>
            </a:fld>
            <a:endParaRPr kumimoji="1" lang="ja-JP" altLang="en-US"/>
          </a:p>
        </p:txBody>
      </p:sp>
    </p:spTree>
    <p:extLst>
      <p:ext uri="{BB962C8B-B14F-4D97-AF65-F5344CB8AC3E}">
        <p14:creationId xmlns:p14="http://schemas.microsoft.com/office/powerpoint/2010/main" val="30389798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6AFF1-421F-2956-C922-362AAE16E4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ECB5E77-67B1-1DAB-6CFC-6B15322B17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E782D6-99F4-FFAC-0BE9-D265A38F18F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D1C9092-CAC0-1E6C-D083-BFDEC3F25939}"/>
              </a:ext>
            </a:extLst>
          </p:cNvPr>
          <p:cNvSpPr>
            <a:spLocks noGrp="1"/>
          </p:cNvSpPr>
          <p:nvPr>
            <p:ph type="sldNum" sz="quarter" idx="5"/>
          </p:nvPr>
        </p:nvSpPr>
        <p:spPr/>
        <p:txBody>
          <a:bodyPr/>
          <a:lstStyle/>
          <a:p>
            <a:fld id="{4E14A070-F569-463D-A4CC-31A1DBB2612F}" type="slidenum">
              <a:rPr kumimoji="1" lang="ja-JP" altLang="en-US" smtClean="0"/>
              <a:t>51</a:t>
            </a:fld>
            <a:endParaRPr kumimoji="1" lang="ja-JP" altLang="en-US"/>
          </a:p>
        </p:txBody>
      </p:sp>
    </p:spTree>
    <p:extLst>
      <p:ext uri="{BB962C8B-B14F-4D97-AF65-F5344CB8AC3E}">
        <p14:creationId xmlns:p14="http://schemas.microsoft.com/office/powerpoint/2010/main" val="31893173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DB409-CC57-1526-DB63-A0599F6C77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35C0347-8ED3-1691-1BC8-B46E2E5A55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C94BC1-88B3-65EB-E1EE-3649511A99B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22F1148-830D-27A8-2404-2D44936C0FA4}"/>
              </a:ext>
            </a:extLst>
          </p:cNvPr>
          <p:cNvSpPr>
            <a:spLocks noGrp="1"/>
          </p:cNvSpPr>
          <p:nvPr>
            <p:ph type="sldNum" sz="quarter" idx="5"/>
          </p:nvPr>
        </p:nvSpPr>
        <p:spPr/>
        <p:txBody>
          <a:bodyPr/>
          <a:lstStyle/>
          <a:p>
            <a:fld id="{4E14A070-F569-463D-A4CC-31A1DBB2612F}" type="slidenum">
              <a:rPr kumimoji="1" lang="ja-JP" altLang="en-US" smtClean="0"/>
              <a:t>56</a:t>
            </a:fld>
            <a:endParaRPr kumimoji="1" lang="ja-JP" altLang="en-US"/>
          </a:p>
        </p:txBody>
      </p:sp>
    </p:spTree>
    <p:extLst>
      <p:ext uri="{BB962C8B-B14F-4D97-AF65-F5344CB8AC3E}">
        <p14:creationId xmlns:p14="http://schemas.microsoft.com/office/powerpoint/2010/main" val="29835232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9A41C-CD71-C9B0-877E-5A3C747E234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43BB2B-346A-5DD4-C9F8-4D998DC6F2F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9921D95-C262-3B52-46DD-D85A345B184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91BB99F-B1FA-6116-E976-1479B1595590}"/>
              </a:ext>
            </a:extLst>
          </p:cNvPr>
          <p:cNvSpPr>
            <a:spLocks noGrp="1"/>
          </p:cNvSpPr>
          <p:nvPr>
            <p:ph type="sldNum" sz="quarter" idx="5"/>
          </p:nvPr>
        </p:nvSpPr>
        <p:spPr/>
        <p:txBody>
          <a:bodyPr/>
          <a:lstStyle/>
          <a:p>
            <a:fld id="{4E14A070-F569-463D-A4CC-31A1DBB2612F}" type="slidenum">
              <a:rPr kumimoji="1" lang="ja-JP" altLang="en-US" smtClean="0"/>
              <a:t>57</a:t>
            </a:fld>
            <a:endParaRPr kumimoji="1" lang="ja-JP" altLang="en-US"/>
          </a:p>
        </p:txBody>
      </p:sp>
    </p:spTree>
    <p:extLst>
      <p:ext uri="{BB962C8B-B14F-4D97-AF65-F5344CB8AC3E}">
        <p14:creationId xmlns:p14="http://schemas.microsoft.com/office/powerpoint/2010/main" val="11812966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783B7-9BC2-FA4F-E558-DCA1878BDE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3547DF-BA51-6479-485D-2996C76E68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815D2F-20DB-C396-85DA-8BCFA133447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42B4578-CFD6-0334-0F77-3D5261C4CDE7}"/>
              </a:ext>
            </a:extLst>
          </p:cNvPr>
          <p:cNvSpPr>
            <a:spLocks noGrp="1"/>
          </p:cNvSpPr>
          <p:nvPr>
            <p:ph type="sldNum" sz="quarter" idx="5"/>
          </p:nvPr>
        </p:nvSpPr>
        <p:spPr/>
        <p:txBody>
          <a:bodyPr/>
          <a:lstStyle/>
          <a:p>
            <a:fld id="{4E14A070-F569-463D-A4CC-31A1DBB2612F}" type="slidenum">
              <a:rPr kumimoji="1" lang="ja-JP" altLang="en-US" smtClean="0"/>
              <a:t>58</a:t>
            </a:fld>
            <a:endParaRPr kumimoji="1" lang="ja-JP" altLang="en-US"/>
          </a:p>
        </p:txBody>
      </p:sp>
    </p:spTree>
    <p:extLst>
      <p:ext uri="{BB962C8B-B14F-4D97-AF65-F5344CB8AC3E}">
        <p14:creationId xmlns:p14="http://schemas.microsoft.com/office/powerpoint/2010/main" val="8401592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4.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4.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4.emf"/><Relationship Id="rId4" Type="http://schemas.openxmlformats.org/officeDocument/2006/relationships/oleObject" Target="../embeddings/oleObject4.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4.emf"/><Relationship Id="rId4"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4.emf"/><Relationship Id="rId4" Type="http://schemas.openxmlformats.org/officeDocument/2006/relationships/oleObject" Target="../embeddings/oleObject6.bin"/></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4.emf"/><Relationship Id="rId4" Type="http://schemas.openxmlformats.org/officeDocument/2006/relationships/oleObject" Target="../embeddings/oleObject8.bin"/></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4.emf"/><Relationship Id="rId4" Type="http://schemas.openxmlformats.org/officeDocument/2006/relationships/oleObject" Target="../embeddings/oleObject10.bin"/></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image" Target="../media/image4.emf"/><Relationship Id="rId4" Type="http://schemas.openxmlformats.org/officeDocument/2006/relationships/oleObject" Target="../embeddings/oleObject12.bin"/></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4.emf"/><Relationship Id="rId4" Type="http://schemas.openxmlformats.org/officeDocument/2006/relationships/oleObject" Target="../embeddings/oleObject14.bin"/></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5.xml"/><Relationship Id="rId1" Type="http://schemas.openxmlformats.org/officeDocument/2006/relationships/tags" Target="../tags/tag29.xml"/><Relationship Id="rId4" Type="http://schemas.openxmlformats.org/officeDocument/2006/relationships/image" Target="../media/image4.emf"/></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32.xml"/><Relationship Id="rId7" Type="http://schemas.openxmlformats.org/officeDocument/2006/relationships/slideMaster" Target="../slideMasters/slideMaster5.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4.emf"/><Relationship Id="rId4" Type="http://schemas.openxmlformats.org/officeDocument/2006/relationships/oleObject" Target="../embeddings/oleObject17.bin"/></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505442" y="5352776"/>
            <a:ext cx="5383660" cy="38048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505442" y="2375692"/>
            <a:ext cx="6679806" cy="1125316"/>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3200" b="1" kern="1200" spc="0" baseline="0" dirty="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ja-JP" altLang="en-US"/>
              <a:t>プロジェクト名</a:t>
            </a:r>
            <a:r>
              <a:rPr lang="en-US" altLang="ja-JP"/>
              <a:t>(32pt,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505442" y="587421"/>
            <a:ext cx="5383660" cy="442035"/>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ja-JP" altLang="en-US"/>
              <a:t>企業名 </a:t>
            </a:r>
            <a:r>
              <a:rPr lang="en-US" altLang="ja-JP"/>
              <a:t>or </a:t>
            </a:r>
            <a:r>
              <a:rPr lang="ja-JP" altLang="en-US"/>
              <a:t>企業ロゴ </a:t>
            </a:r>
            <a:r>
              <a:rPr lang="en-US" altLang="ja-JP"/>
              <a:t>(24pt,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5320042" y="955525"/>
            <a:ext cx="4311191" cy="4573173"/>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p>
          </p:txBody>
        </p:sp>
      </p:grpSp>
      <p:grpSp>
        <p:nvGrpSpPr>
          <p:cNvPr id="11" name="Group 4">
            <a:extLst>
              <a:ext uri="{FF2B5EF4-FFF2-40B4-BE49-F238E27FC236}">
                <a16:creationId xmlns:a16="http://schemas.microsoft.com/office/drawing/2014/main" id="{432D14EB-EBF3-4AD2-9834-5077C457562B}"/>
              </a:ext>
            </a:extLst>
          </p:cNvPr>
          <p:cNvGrpSpPr>
            <a:grpSpLocks noChangeAspect="1"/>
          </p:cNvGrpSpPr>
          <p:nvPr userDrawn="1"/>
        </p:nvGrpSpPr>
        <p:grpSpPr>
          <a:xfrm>
            <a:off x="7136499" y="5846780"/>
            <a:ext cx="2250858" cy="604157"/>
            <a:chOff x="9563100" y="1673029"/>
            <a:chExt cx="1389888" cy="373063"/>
          </a:xfrm>
        </p:grpSpPr>
        <p:pic>
          <p:nvPicPr>
            <p:cNvPr id="13" name="Picture 5">
              <a:extLst>
                <a:ext uri="{FF2B5EF4-FFF2-40B4-BE49-F238E27FC236}">
                  <a16:creationId xmlns:a16="http://schemas.microsoft.com/office/drawing/2014/main" id="{771E51E6-1FF7-4670-B118-1DC4EF473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14" name="Freeform 5">
              <a:extLst>
                <a:ext uri="{FF2B5EF4-FFF2-40B4-BE49-F238E27FC236}">
                  <a16:creationId xmlns:a16="http://schemas.microsoft.com/office/drawing/2014/main" id="{EBD7567B-5C24-4499-85F8-C4116A8A715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6" name="Rectangle 67">
            <a:extLst>
              <a:ext uri="{FF2B5EF4-FFF2-40B4-BE49-F238E27FC236}">
                <a16:creationId xmlns:a16="http://schemas.microsoft.com/office/drawing/2014/main" id="{7DE6623E-1B8C-4E30-990B-E8224426DBB4}"/>
              </a:ext>
            </a:extLst>
          </p:cNvPr>
          <p:cNvSpPr>
            <a:spLocks noChangeArrowheads="1"/>
          </p:cNvSpPr>
          <p:nvPr userDrawn="1"/>
        </p:nvSpPr>
        <p:spPr bwMode="auto">
          <a:xfrm>
            <a:off x="56456" y="6596842"/>
            <a:ext cx="4671472" cy="216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dirty="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dirty="0">
                <a:ln>
                  <a:noFill/>
                </a:ln>
                <a:solidFill>
                  <a:schemeClr val="tx1"/>
                </a:solidFill>
                <a:effectLst/>
                <a:latin typeface="+mj-lt"/>
                <a:ea typeface="游明朝" panose="02020400000000000000" pitchFamily="18" charset="-128"/>
              </a:rPr>
              <a:t>   ©</a:t>
            </a:r>
            <a:r>
              <a:rPr kumimoji="0" lang="en-US" altLang="ja-JP" sz="800" b="0" i="0" u="none" strike="noStrike" cap="none" normalizeH="0" baseline="0" dirty="0">
                <a:ln>
                  <a:noFill/>
                </a:ln>
                <a:solidFill>
                  <a:schemeClr val="tx1"/>
                </a:solidFill>
                <a:effectLst/>
                <a:latin typeface="+mj-lt"/>
                <a:ea typeface="ＭＳ Ｐゴシック" panose="020B0600070205080204" pitchFamily="50" charset="-128"/>
              </a:rPr>
              <a:t> 2025 Accenture All Rights Reserved</a:t>
            </a:r>
            <a:endParaRPr kumimoji="0" lang="en-US" altLang="ja-JP" sz="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700151052"/>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368730419"/>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88504" y="568613"/>
            <a:ext cx="8928000" cy="373311"/>
          </a:xfrm>
          <a:prstGeom prst="rect">
            <a:avLst/>
          </a:prstGeom>
        </p:spPr>
        <p:txBody>
          <a:bodyPr vert="horz" lIns="0" tIns="0" rIns="0" bIns="0" rtlCol="0" anchor="b" anchorCtr="0">
            <a:noAutofit/>
          </a:bodyPr>
          <a:lstStyle>
            <a:lvl1pPr marL="0" marR="0" indent="0" algn="l" defTabSz="914400" rtl="0" eaLnBrk="1" fontAlgn="base" latinLnBrk="0" hangingPunct="1">
              <a:lnSpc>
                <a:spcPct val="100000"/>
              </a:lnSpc>
              <a:spcBef>
                <a:spcPts val="0"/>
              </a:spcBef>
              <a:spcAft>
                <a:spcPts val="0"/>
              </a:spcAft>
              <a:buClrTx/>
              <a:buSzTx/>
              <a:buFontTx/>
              <a:buNone/>
              <a:tabLst/>
              <a:defRPr lang="en-GB" b="1" dirty="0"/>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lang="ja-JP" altLang="en-US"/>
              <a:t>マスター タイトルの書式設定</a:t>
            </a:r>
            <a:endParaRPr lang="en-GB"/>
          </a:p>
        </p:txBody>
      </p:sp>
      <p:sp>
        <p:nvSpPr>
          <p:cNvPr id="11" name="Text Placeholder 10"/>
          <p:cNvSpPr>
            <a:spLocks noGrp="1"/>
          </p:cNvSpPr>
          <p:nvPr>
            <p:ph type="body" idx="12"/>
          </p:nvPr>
        </p:nvSpPr>
        <p:spPr>
          <a:xfrm>
            <a:off x="489000" y="969722"/>
            <a:ext cx="8928000" cy="669414"/>
          </a:xfrm>
          <a:prstGeom prst="rect">
            <a:avLst/>
          </a:prstGeom>
        </p:spPr>
        <p:txBody>
          <a:bodyPr vert="horz" lIns="0" tIns="0" rIns="0" bIns="0" rtlCol="0">
            <a:noAutofit/>
          </a:bodyPr>
          <a:lstStyle>
            <a:lvl1pPr marL="0" marR="0" indent="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lvl="0"/>
            <a:r>
              <a:rPr kumimoji="1" lang="ja-JP" altLang="en-US" sz="1600"/>
              <a:t>マスター テキストの書式設定</a:t>
            </a:r>
          </a:p>
        </p:txBody>
      </p:sp>
      <p:sp>
        <p:nvSpPr>
          <p:cNvPr id="22" name="テキスト プレースホルダー 21"/>
          <p:cNvSpPr>
            <a:spLocks noGrp="1"/>
          </p:cNvSpPr>
          <p:nvPr userDrawn="1">
            <p:ph type="body" sz="quarter" idx="13"/>
          </p:nvPr>
        </p:nvSpPr>
        <p:spPr>
          <a:xfrm>
            <a:off x="488504" y="179588"/>
            <a:ext cx="8928000" cy="373311"/>
          </a:xfrm>
          <a:prstGeom prst="rect">
            <a:avLst/>
          </a:prstGeom>
        </p:spPr>
        <p:txBody>
          <a:bodyPr vert="horz" lIns="0" tIns="0" rIns="0" bIns="0" rtlCol="0" anchor="b">
            <a:noAutofit/>
          </a:bodyPr>
          <a:lstStyle>
            <a:lvl1pPr>
              <a:spcBef>
                <a:spcPts val="0"/>
              </a:spcBef>
              <a:spcAft>
                <a:spcPts val="0"/>
              </a:spcAft>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19" name="Rectangle 67">
            <a:extLst>
              <a:ext uri="{FF2B5EF4-FFF2-40B4-BE49-F238E27FC236}">
                <a16:creationId xmlns:a16="http://schemas.microsoft.com/office/drawing/2014/main" id="{05A93146-D08E-40E3-B7E3-11F6DA76B43C}"/>
              </a:ext>
            </a:extLst>
          </p:cNvPr>
          <p:cNvSpPr>
            <a:spLocks noChangeArrowheads="1"/>
          </p:cNvSpPr>
          <p:nvPr userDrawn="1"/>
        </p:nvSpPr>
        <p:spPr bwMode="auto">
          <a:xfrm>
            <a:off x="56456" y="6596842"/>
            <a:ext cx="4665060" cy="216534"/>
          </a:xfrm>
          <a:prstGeom prst="rect">
            <a:avLst/>
          </a:prstGeom>
          <a:solidFill>
            <a:schemeClr val="bg1"/>
          </a:solidFill>
          <a:ln>
            <a:noFill/>
          </a:ln>
          <a:effec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dirty="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dirty="0">
                <a:ln>
                  <a:noFill/>
                </a:ln>
                <a:solidFill>
                  <a:schemeClr val="tx1"/>
                </a:solidFill>
                <a:effectLst/>
                <a:latin typeface="+mj-lt"/>
                <a:ea typeface="游明朝" panose="02020400000000000000" pitchFamily="18" charset="-128"/>
              </a:rPr>
              <a:t>   ©</a:t>
            </a:r>
            <a:r>
              <a:rPr kumimoji="0" lang="en-US" altLang="ja-JP" sz="800" b="0" i="0" u="none" strike="noStrike" cap="none" normalizeH="0" baseline="0" dirty="0">
                <a:ln>
                  <a:noFill/>
                </a:ln>
                <a:solidFill>
                  <a:schemeClr val="tx1"/>
                </a:solidFill>
                <a:effectLst/>
                <a:latin typeface="+mj-lt"/>
                <a:ea typeface="ＭＳ Ｐゴシック" panose="020B0600070205080204" pitchFamily="50" charset="-128"/>
              </a:rPr>
              <a:t> 2025 Accenture All Rights Reserved</a:t>
            </a:r>
            <a:endParaRPr kumimoji="0" lang="en-US" altLang="ja-JP" sz="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890883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434833109"/>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1" name="Text Placeholder 10"/>
          <p:cNvSpPr>
            <a:spLocks noGrp="1"/>
          </p:cNvSpPr>
          <p:nvPr>
            <p:ph type="body" idx="12"/>
          </p:nvPr>
        </p:nvSpPr>
        <p:spPr>
          <a:xfrm>
            <a:off x="488504" y="973824"/>
            <a:ext cx="8928000" cy="669414"/>
          </a:xfrm>
          <a:prstGeom prst="rect">
            <a:avLst/>
          </a:prstGeom>
        </p:spPr>
        <p:txBody>
          <a:bodyPr vert="horz" lIns="0" tIns="0" rIns="0" bIns="0" rtlCol="0">
            <a:noAutofit/>
          </a:bodyPr>
          <a:lstStyle>
            <a:lvl1pPr marL="0" marR="0" indent="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lvl="0"/>
            <a:r>
              <a:rPr kumimoji="1" lang="ja-JP" altLang="en-US" sz="1600"/>
              <a:t>マスター テキストの書式設定</a:t>
            </a:r>
          </a:p>
        </p:txBody>
      </p:sp>
      <p:sp>
        <p:nvSpPr>
          <p:cNvPr id="22" name="テキスト プレースホルダー 21"/>
          <p:cNvSpPr>
            <a:spLocks noGrp="1"/>
          </p:cNvSpPr>
          <p:nvPr userDrawn="1">
            <p:ph type="body" sz="quarter" idx="13"/>
          </p:nvPr>
        </p:nvSpPr>
        <p:spPr>
          <a:xfrm>
            <a:off x="488504" y="179588"/>
            <a:ext cx="3600000" cy="373311"/>
          </a:xfrm>
          <a:prstGeom prst="rect">
            <a:avLst/>
          </a:prstGeom>
        </p:spPr>
        <p:txBody>
          <a:bodyPr vert="horz" lIns="0" tIns="0" rIns="0" bIns="0" rtlCol="0" anchor="b">
            <a:noAutofit/>
          </a:bodyPr>
          <a:lstStyle>
            <a:lvl1pPr>
              <a:spcBef>
                <a:spcPts val="0"/>
              </a:spcBef>
              <a:spcAft>
                <a:spcPts val="0"/>
              </a:spcAft>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19" name="Rectangle 67">
            <a:extLst>
              <a:ext uri="{FF2B5EF4-FFF2-40B4-BE49-F238E27FC236}">
                <a16:creationId xmlns:a16="http://schemas.microsoft.com/office/drawing/2014/main" id="{05A93146-D08E-40E3-B7E3-11F6DA76B43C}"/>
              </a:ext>
            </a:extLst>
          </p:cNvPr>
          <p:cNvSpPr>
            <a:spLocks noChangeArrowheads="1"/>
          </p:cNvSpPr>
          <p:nvPr userDrawn="1"/>
        </p:nvSpPr>
        <p:spPr bwMode="auto">
          <a:xfrm>
            <a:off x="56456" y="6596842"/>
            <a:ext cx="4665060" cy="216534"/>
          </a:xfrm>
          <a:prstGeom prst="rect">
            <a:avLst/>
          </a:prstGeom>
          <a:solidFill>
            <a:schemeClr val="bg1"/>
          </a:solidFill>
          <a:ln>
            <a:noFill/>
          </a:ln>
          <a:effec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dirty="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dirty="0">
                <a:ln>
                  <a:noFill/>
                </a:ln>
                <a:solidFill>
                  <a:schemeClr val="tx1"/>
                </a:solidFill>
                <a:effectLst/>
                <a:latin typeface="+mj-lt"/>
                <a:ea typeface="游明朝" panose="02020400000000000000" pitchFamily="18" charset="-128"/>
              </a:rPr>
              <a:t>   ©</a:t>
            </a:r>
            <a:r>
              <a:rPr kumimoji="0" lang="en-US" altLang="ja-JP" sz="800" b="0" i="0" u="none" strike="noStrike" cap="none" normalizeH="0" baseline="0" dirty="0">
                <a:ln>
                  <a:noFill/>
                </a:ln>
                <a:solidFill>
                  <a:schemeClr val="tx1"/>
                </a:solidFill>
                <a:effectLst/>
                <a:latin typeface="+mj-lt"/>
                <a:ea typeface="ＭＳ Ｐゴシック" panose="020B0600070205080204" pitchFamily="50" charset="-128"/>
              </a:rPr>
              <a:t> 2025 Accenture All Rights Reserved</a:t>
            </a:r>
            <a:endParaRPr kumimoji="0" lang="en-US" altLang="ja-JP" sz="800" b="0" i="0" u="none" strike="noStrike" cap="none" normalizeH="0" baseline="0" dirty="0">
              <a:ln>
                <a:noFill/>
              </a:ln>
              <a:solidFill>
                <a:schemeClr val="tx1"/>
              </a:solidFill>
              <a:effectLst/>
              <a:latin typeface="+mj-lt"/>
            </a:endParaRPr>
          </a:p>
        </p:txBody>
      </p:sp>
      <p:sp>
        <p:nvSpPr>
          <p:cNvPr id="5" name="テキスト プレースホルダー 4">
            <a:extLst>
              <a:ext uri="{FF2B5EF4-FFF2-40B4-BE49-F238E27FC236}">
                <a16:creationId xmlns:a16="http://schemas.microsoft.com/office/drawing/2014/main" id="{186ACCA4-A30F-486A-A765-4A321E7E23BB}"/>
              </a:ext>
            </a:extLst>
          </p:cNvPr>
          <p:cNvSpPr>
            <a:spLocks noGrp="1"/>
          </p:cNvSpPr>
          <p:nvPr>
            <p:ph type="body" sz="quarter" idx="14"/>
          </p:nvPr>
        </p:nvSpPr>
        <p:spPr>
          <a:xfrm>
            <a:off x="488950" y="574157"/>
            <a:ext cx="8928100" cy="367767"/>
          </a:xfrm>
          <a:noFill/>
          <a:ln w="9525">
            <a:noFill/>
            <a:miter lim="800000"/>
            <a:headEnd/>
            <a:tailEnd/>
          </a:ln>
        </p:spPr>
        <p:txBody>
          <a:bodyPr vert="horz" wrap="square" lIns="0" tIns="0" rIns="0" bIns="0" numCol="1" rtlCol="0" anchor="b" anchorCtr="0" compatLnSpc="1">
            <a:prstTxWarp prst="textNoShape">
              <a:avLst/>
            </a:prstTxWarp>
            <a:noAutofit/>
          </a:bodyPr>
          <a:lstStyle>
            <a:lvl1pPr>
              <a:defRPr lang="ja-JP" altLang="en-US" sz="2000" b="1" smtClean="0"/>
            </a:lvl1pPr>
            <a:lvl2pPr>
              <a:defRPr lang="ja-JP" altLang="en-US" sz="1846" b="1" smtClean="0">
                <a:latin typeface="Arial" charset="0"/>
                <a:ea typeface="ＭＳ Ｐゴシック" pitchFamily="50" charset="-128"/>
              </a:defRPr>
            </a:lvl2pPr>
            <a:lvl3pPr>
              <a:defRPr lang="ja-JP" altLang="en-US" sz="1846" b="1" smtClean="0">
                <a:latin typeface="Arial" charset="0"/>
                <a:ea typeface="ＭＳ Ｐゴシック" pitchFamily="50" charset="-128"/>
              </a:defRPr>
            </a:lvl3pPr>
            <a:lvl4pPr>
              <a:defRPr lang="ja-JP" altLang="en-US" sz="1846" b="1" smtClean="0">
                <a:latin typeface="Arial" charset="0"/>
                <a:ea typeface="ＭＳ Ｐゴシック" pitchFamily="50" charset="-128"/>
              </a:defRPr>
            </a:lvl4pPr>
            <a:lvl5pPr>
              <a:defRPr lang="ja-JP" altLang="en-US" sz="1846" b="1">
                <a:latin typeface="Arial" charset="0"/>
                <a:ea typeface="ＭＳ Ｐゴシック" pitchFamily="50" charset="-128"/>
              </a:defRPr>
            </a:lvl5pPr>
          </a:lstStyle>
          <a:p>
            <a:pPr marL="0" marR="0" lvl="0" indent="0" defTabSz="914400" latinLnBrk="0">
              <a:lnSpc>
                <a:spcPct val="100000"/>
              </a:lnSpc>
              <a:spcBef>
                <a:spcPts val="0"/>
              </a:spcBef>
              <a:spcAft>
                <a:spcPts val="0"/>
              </a:spcAft>
              <a:buClrTx/>
              <a:buSzTx/>
              <a:buFontTx/>
              <a:buNone/>
              <a:tabLst/>
            </a:pPr>
            <a:r>
              <a:rPr kumimoji="1" lang="ja-JP" altLang="en-US"/>
              <a:t>マスター テキストの書式設定</a:t>
            </a:r>
          </a:p>
        </p:txBody>
      </p:sp>
    </p:spTree>
    <p:extLst>
      <p:ext uri="{BB962C8B-B14F-4D97-AF65-F5344CB8AC3E}">
        <p14:creationId xmlns:p14="http://schemas.microsoft.com/office/powerpoint/2010/main" val="40801857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505442" y="5352776"/>
            <a:ext cx="5383660" cy="38048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505442" y="2375692"/>
            <a:ext cx="6679806" cy="1125316"/>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3200" b="1" kern="1200" spc="0" baseline="0" dirty="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ja-JP" altLang="en-US"/>
              <a:t>プロジェクト名</a:t>
            </a:r>
            <a:r>
              <a:rPr lang="en-US" altLang="ja-JP"/>
              <a:t>(32pt,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505442" y="587421"/>
            <a:ext cx="5383660" cy="442035"/>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ja-JP" altLang="en-US"/>
              <a:t>企業名 </a:t>
            </a:r>
            <a:r>
              <a:rPr lang="en-US" altLang="ja-JP"/>
              <a:t>or </a:t>
            </a:r>
            <a:r>
              <a:rPr lang="ja-JP" altLang="en-US"/>
              <a:t>企業ロゴ </a:t>
            </a:r>
            <a:r>
              <a:rPr lang="en-US" altLang="ja-JP"/>
              <a:t>(24pt,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5320042" y="955525"/>
            <a:ext cx="4311191" cy="4573173"/>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p>
          </p:txBody>
        </p:sp>
      </p:grpSp>
      <p:grpSp>
        <p:nvGrpSpPr>
          <p:cNvPr id="11" name="Group 4">
            <a:extLst>
              <a:ext uri="{FF2B5EF4-FFF2-40B4-BE49-F238E27FC236}">
                <a16:creationId xmlns:a16="http://schemas.microsoft.com/office/drawing/2014/main" id="{432D14EB-EBF3-4AD2-9834-5077C457562B}"/>
              </a:ext>
            </a:extLst>
          </p:cNvPr>
          <p:cNvGrpSpPr>
            <a:grpSpLocks noChangeAspect="1"/>
          </p:cNvGrpSpPr>
          <p:nvPr userDrawn="1"/>
        </p:nvGrpSpPr>
        <p:grpSpPr>
          <a:xfrm>
            <a:off x="7136499" y="5846780"/>
            <a:ext cx="2250858" cy="604157"/>
            <a:chOff x="9563100" y="1673029"/>
            <a:chExt cx="1389888" cy="373063"/>
          </a:xfrm>
        </p:grpSpPr>
        <p:pic>
          <p:nvPicPr>
            <p:cNvPr id="13" name="Picture 5">
              <a:extLst>
                <a:ext uri="{FF2B5EF4-FFF2-40B4-BE49-F238E27FC236}">
                  <a16:creationId xmlns:a16="http://schemas.microsoft.com/office/drawing/2014/main" id="{771E51E6-1FF7-4670-B118-1DC4EF473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14" name="Freeform 5">
              <a:extLst>
                <a:ext uri="{FF2B5EF4-FFF2-40B4-BE49-F238E27FC236}">
                  <a16:creationId xmlns:a16="http://schemas.microsoft.com/office/drawing/2014/main" id="{EBD7567B-5C24-4499-85F8-C4116A8A715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6" name="Rectangle 67">
            <a:extLst>
              <a:ext uri="{FF2B5EF4-FFF2-40B4-BE49-F238E27FC236}">
                <a16:creationId xmlns:a16="http://schemas.microsoft.com/office/drawing/2014/main" id="{7DE6623E-1B8C-4E30-990B-E8224426DBB4}"/>
              </a:ext>
            </a:extLst>
          </p:cNvPr>
          <p:cNvSpPr>
            <a:spLocks noChangeArrowheads="1"/>
          </p:cNvSpPr>
          <p:nvPr userDrawn="1"/>
        </p:nvSpPr>
        <p:spPr bwMode="auto">
          <a:xfrm>
            <a:off x="56456" y="6596842"/>
            <a:ext cx="4264309" cy="216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a:ln>
                  <a:noFill/>
                </a:ln>
                <a:solidFill>
                  <a:schemeClr val="tx1"/>
                </a:solidFill>
                <a:effectLst/>
                <a:latin typeface="+mj-lt"/>
                <a:ea typeface="游明朝" panose="02020400000000000000" pitchFamily="18" charset="-128"/>
              </a:rPr>
              <a:t>   ©</a:t>
            </a: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 2022 Accenture All Rights Reserved</a:t>
            </a:r>
            <a:endParaRPr kumimoji="0" lang="en-US" altLang="ja-JP" sz="800" b="0" i="0" u="none" strike="noStrike" cap="none" normalizeH="0" baseline="0">
              <a:ln>
                <a:noFill/>
              </a:ln>
              <a:solidFill>
                <a:schemeClr val="tx1"/>
              </a:solidFill>
              <a:effectLst/>
              <a:latin typeface="+mj-lt"/>
            </a:endParaRPr>
          </a:p>
        </p:txBody>
      </p:sp>
    </p:spTree>
    <p:extLst>
      <p:ext uri="{BB962C8B-B14F-4D97-AF65-F5344CB8AC3E}">
        <p14:creationId xmlns:p14="http://schemas.microsoft.com/office/powerpoint/2010/main" val="4020496295"/>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368730419"/>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88504" y="568613"/>
            <a:ext cx="8928000" cy="373311"/>
          </a:xfrm>
          <a:prstGeom prst="rect">
            <a:avLst/>
          </a:prstGeom>
        </p:spPr>
        <p:txBody>
          <a:bodyPr vert="horz" lIns="0" tIns="0" rIns="0" bIns="0" rtlCol="0" anchor="b" anchorCtr="0">
            <a:noAutofit/>
          </a:bodyPr>
          <a:lstStyle>
            <a:lvl1pPr marL="0" marR="0" indent="0" algn="l" defTabSz="914400" rtl="0" eaLnBrk="1" fontAlgn="base" latinLnBrk="0" hangingPunct="1">
              <a:lnSpc>
                <a:spcPct val="100000"/>
              </a:lnSpc>
              <a:spcBef>
                <a:spcPts val="0"/>
              </a:spcBef>
              <a:spcAft>
                <a:spcPts val="0"/>
              </a:spcAft>
              <a:buClrTx/>
              <a:buSzTx/>
              <a:buFontTx/>
              <a:buNone/>
              <a:tabLst/>
              <a:defRPr lang="en-GB" b="1" dirty="0"/>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lang="ja-JP" altLang="en-US"/>
              <a:t>マスター タイトルの書式設定</a:t>
            </a:r>
            <a:endParaRPr lang="en-GB"/>
          </a:p>
        </p:txBody>
      </p:sp>
      <p:sp>
        <p:nvSpPr>
          <p:cNvPr id="11" name="Text Placeholder 10"/>
          <p:cNvSpPr>
            <a:spLocks noGrp="1"/>
          </p:cNvSpPr>
          <p:nvPr>
            <p:ph type="body" idx="12"/>
          </p:nvPr>
        </p:nvSpPr>
        <p:spPr>
          <a:xfrm>
            <a:off x="488504" y="973824"/>
            <a:ext cx="8928000" cy="669414"/>
          </a:xfrm>
          <a:prstGeom prst="rect">
            <a:avLst/>
          </a:prstGeom>
        </p:spPr>
        <p:txBody>
          <a:bodyPr vert="horz" lIns="0" tIns="0" rIns="0" bIns="0" rtlCol="0">
            <a:noAutofit/>
          </a:bodyPr>
          <a:lstStyle>
            <a:lvl1pPr marL="0" marR="0" indent="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lvl="0"/>
            <a:r>
              <a:rPr kumimoji="1" lang="ja-JP" altLang="en-US" sz="1600"/>
              <a:t>マスター テキストの書式設定</a:t>
            </a:r>
          </a:p>
        </p:txBody>
      </p:sp>
      <p:sp>
        <p:nvSpPr>
          <p:cNvPr id="22" name="テキスト プレースホルダー 21"/>
          <p:cNvSpPr>
            <a:spLocks noGrp="1"/>
          </p:cNvSpPr>
          <p:nvPr userDrawn="1">
            <p:ph type="body" sz="quarter" idx="13"/>
          </p:nvPr>
        </p:nvSpPr>
        <p:spPr>
          <a:xfrm>
            <a:off x="488504" y="179588"/>
            <a:ext cx="8928000" cy="373311"/>
          </a:xfrm>
          <a:prstGeom prst="rect">
            <a:avLst/>
          </a:prstGeom>
        </p:spPr>
        <p:txBody>
          <a:bodyPr vert="horz" lIns="0" tIns="0" rIns="0" bIns="0" rtlCol="0" anchor="b">
            <a:noAutofit/>
          </a:bodyPr>
          <a:lstStyle>
            <a:lvl1pPr>
              <a:spcBef>
                <a:spcPts val="0"/>
              </a:spcBef>
              <a:spcAft>
                <a:spcPts val="0"/>
              </a:spcAft>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8" name="正方形/長方形 7">
            <a:extLst>
              <a:ext uri="{FF2B5EF4-FFF2-40B4-BE49-F238E27FC236}">
                <a16:creationId xmlns:a16="http://schemas.microsoft.com/office/drawing/2014/main" id="{12906456-D3DD-4442-83E0-BA6425182F3D}"/>
              </a:ext>
            </a:extLst>
          </p:cNvPr>
          <p:cNvSpPr/>
          <p:nvPr userDrawn="1"/>
        </p:nvSpPr>
        <p:spPr bwMode="auto">
          <a:xfrm>
            <a:off x="-879584" y="6040398"/>
            <a:ext cx="576000" cy="576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9" name="正方形/長方形 8">
            <a:extLst>
              <a:ext uri="{FF2B5EF4-FFF2-40B4-BE49-F238E27FC236}">
                <a16:creationId xmlns:a16="http://schemas.microsoft.com/office/drawing/2014/main" id="{7D3C50D3-6FCF-426C-A8CD-58001A1DA770}"/>
              </a:ext>
            </a:extLst>
          </p:cNvPr>
          <p:cNvSpPr/>
          <p:nvPr userDrawn="1"/>
        </p:nvSpPr>
        <p:spPr bwMode="auto">
          <a:xfrm>
            <a:off x="-879584" y="4617892"/>
            <a:ext cx="576000" cy="576000"/>
          </a:xfrm>
          <a:prstGeom prst="rect">
            <a:avLst/>
          </a:prstGeom>
          <a:solidFill>
            <a:srgbClr val="5A5A5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2" name="正方形/長方形 11">
            <a:extLst>
              <a:ext uri="{FF2B5EF4-FFF2-40B4-BE49-F238E27FC236}">
                <a16:creationId xmlns:a16="http://schemas.microsoft.com/office/drawing/2014/main" id="{E65AF459-1382-45FE-8AF0-FCF18D1E72A0}"/>
              </a:ext>
            </a:extLst>
          </p:cNvPr>
          <p:cNvSpPr/>
          <p:nvPr userDrawn="1"/>
        </p:nvSpPr>
        <p:spPr bwMode="auto">
          <a:xfrm>
            <a:off x="-879584" y="2484133"/>
            <a:ext cx="576000" cy="576000"/>
          </a:xfrm>
          <a:prstGeom prst="rect">
            <a:avLst/>
          </a:prstGeom>
          <a:solidFill>
            <a:srgbClr val="A1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3" name="正方形/長方形 12">
            <a:extLst>
              <a:ext uri="{FF2B5EF4-FFF2-40B4-BE49-F238E27FC236}">
                <a16:creationId xmlns:a16="http://schemas.microsoft.com/office/drawing/2014/main" id="{B07A765F-35EF-4253-9A19-35E2FAFD8A3E}"/>
              </a:ext>
            </a:extLst>
          </p:cNvPr>
          <p:cNvSpPr/>
          <p:nvPr userDrawn="1"/>
        </p:nvSpPr>
        <p:spPr bwMode="auto">
          <a:xfrm>
            <a:off x="-879584" y="5329145"/>
            <a:ext cx="576000" cy="576000"/>
          </a:xfrm>
          <a:prstGeom prst="rect">
            <a:avLst/>
          </a:prstGeom>
          <a:solidFill>
            <a:srgbClr val="9696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5" name="正方形/長方形 14">
            <a:extLst>
              <a:ext uri="{FF2B5EF4-FFF2-40B4-BE49-F238E27FC236}">
                <a16:creationId xmlns:a16="http://schemas.microsoft.com/office/drawing/2014/main" id="{F1E34B52-515B-4F68-BC82-4B96533930ED}"/>
              </a:ext>
            </a:extLst>
          </p:cNvPr>
          <p:cNvSpPr/>
          <p:nvPr userDrawn="1"/>
        </p:nvSpPr>
        <p:spPr bwMode="auto">
          <a:xfrm>
            <a:off x="-879584" y="3195386"/>
            <a:ext cx="576000" cy="576000"/>
          </a:xfrm>
          <a:prstGeom prst="rect">
            <a:avLst/>
          </a:prstGeom>
          <a:solidFill>
            <a:srgbClr val="008E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6" name="正方形/長方形 15">
            <a:extLst>
              <a:ext uri="{FF2B5EF4-FFF2-40B4-BE49-F238E27FC236}">
                <a16:creationId xmlns:a16="http://schemas.microsoft.com/office/drawing/2014/main" id="{60701147-FAF6-4FF9-A5CD-44453C667421}"/>
              </a:ext>
            </a:extLst>
          </p:cNvPr>
          <p:cNvSpPr/>
          <p:nvPr userDrawn="1"/>
        </p:nvSpPr>
        <p:spPr bwMode="auto">
          <a:xfrm>
            <a:off x="-879584" y="3906639"/>
            <a:ext cx="576000" cy="576000"/>
          </a:xfrm>
          <a:prstGeom prst="rect">
            <a:avLst/>
          </a:prstGeom>
          <a:solidFill>
            <a:srgbClr val="8BE1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7" name="正方形/長方形 16">
            <a:extLst>
              <a:ext uri="{FF2B5EF4-FFF2-40B4-BE49-F238E27FC236}">
                <a16:creationId xmlns:a16="http://schemas.microsoft.com/office/drawing/2014/main" id="{01F64509-B6E4-4045-BC34-2D4BABAF7998}"/>
              </a:ext>
            </a:extLst>
          </p:cNvPr>
          <p:cNvSpPr/>
          <p:nvPr userDrawn="1"/>
        </p:nvSpPr>
        <p:spPr bwMode="auto">
          <a:xfrm>
            <a:off x="-879584" y="1772880"/>
            <a:ext cx="576000" cy="576000"/>
          </a:xfrm>
          <a:prstGeom prst="rect">
            <a:avLst/>
          </a:prstGeom>
          <a:solidFill>
            <a:srgbClr val="46007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9" name="Rectangle 67">
            <a:extLst>
              <a:ext uri="{FF2B5EF4-FFF2-40B4-BE49-F238E27FC236}">
                <a16:creationId xmlns:a16="http://schemas.microsoft.com/office/drawing/2014/main" id="{05A93146-D08E-40E3-B7E3-11F6DA76B43C}"/>
              </a:ext>
            </a:extLst>
          </p:cNvPr>
          <p:cNvSpPr>
            <a:spLocks noChangeArrowheads="1"/>
          </p:cNvSpPr>
          <p:nvPr userDrawn="1"/>
        </p:nvSpPr>
        <p:spPr bwMode="auto">
          <a:xfrm>
            <a:off x="56456" y="6596842"/>
            <a:ext cx="4264309" cy="216534"/>
          </a:xfrm>
          <a:prstGeom prst="rect">
            <a:avLst/>
          </a:prstGeom>
          <a:solidFill>
            <a:schemeClr val="bg1"/>
          </a:solidFill>
          <a:ln>
            <a:noFill/>
          </a:ln>
          <a:effec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a:ln>
                  <a:noFill/>
                </a:ln>
                <a:solidFill>
                  <a:schemeClr val="tx1"/>
                </a:solidFill>
                <a:effectLst/>
                <a:latin typeface="+mj-lt"/>
                <a:ea typeface="游明朝" panose="02020400000000000000" pitchFamily="18" charset="-128"/>
              </a:rPr>
              <a:t>   ©</a:t>
            </a: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 2022 Accenture All Rights Reserved</a:t>
            </a:r>
            <a:endParaRPr kumimoji="0" lang="en-US" altLang="ja-JP" sz="800" b="0" i="0" u="none" strike="noStrike" cap="none" normalizeH="0" baseline="0">
              <a:ln>
                <a:noFill/>
              </a:ln>
              <a:solidFill>
                <a:schemeClr val="tx1"/>
              </a:solidFill>
              <a:effectLst/>
              <a:latin typeface="+mj-lt"/>
            </a:endParaRPr>
          </a:p>
        </p:txBody>
      </p:sp>
    </p:spTree>
    <p:extLst>
      <p:ext uri="{BB962C8B-B14F-4D97-AF65-F5344CB8AC3E}">
        <p14:creationId xmlns:p14="http://schemas.microsoft.com/office/powerpoint/2010/main" val="32693077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434833109"/>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1" name="Text Placeholder 10"/>
          <p:cNvSpPr>
            <a:spLocks noGrp="1"/>
          </p:cNvSpPr>
          <p:nvPr>
            <p:ph type="body" idx="12"/>
          </p:nvPr>
        </p:nvSpPr>
        <p:spPr>
          <a:xfrm>
            <a:off x="488504" y="973824"/>
            <a:ext cx="8928000" cy="669414"/>
          </a:xfrm>
          <a:prstGeom prst="rect">
            <a:avLst/>
          </a:prstGeom>
        </p:spPr>
        <p:txBody>
          <a:bodyPr vert="horz" lIns="0" tIns="0" rIns="0" bIns="0" rtlCol="0">
            <a:noAutofit/>
          </a:bodyPr>
          <a:lstStyle>
            <a:lvl1pPr marL="0" marR="0" indent="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lvl="0"/>
            <a:r>
              <a:rPr kumimoji="1" lang="ja-JP" altLang="en-US" sz="1600"/>
              <a:t>マスター テキストの書式設定</a:t>
            </a:r>
          </a:p>
        </p:txBody>
      </p:sp>
      <p:sp>
        <p:nvSpPr>
          <p:cNvPr id="22" name="テキスト プレースホルダー 21"/>
          <p:cNvSpPr>
            <a:spLocks noGrp="1"/>
          </p:cNvSpPr>
          <p:nvPr userDrawn="1">
            <p:ph type="body" sz="quarter" idx="13"/>
          </p:nvPr>
        </p:nvSpPr>
        <p:spPr>
          <a:xfrm>
            <a:off x="488504" y="179588"/>
            <a:ext cx="3600000" cy="373311"/>
          </a:xfrm>
          <a:prstGeom prst="rect">
            <a:avLst/>
          </a:prstGeom>
        </p:spPr>
        <p:txBody>
          <a:bodyPr vert="horz" lIns="0" tIns="0" rIns="0" bIns="0" rtlCol="0" anchor="b">
            <a:noAutofit/>
          </a:bodyPr>
          <a:lstStyle>
            <a:lvl1pPr>
              <a:spcBef>
                <a:spcPts val="0"/>
              </a:spcBef>
              <a:spcAft>
                <a:spcPts val="0"/>
              </a:spcAft>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8" name="正方形/長方形 7">
            <a:extLst>
              <a:ext uri="{FF2B5EF4-FFF2-40B4-BE49-F238E27FC236}">
                <a16:creationId xmlns:a16="http://schemas.microsoft.com/office/drawing/2014/main" id="{12906456-D3DD-4442-83E0-BA6425182F3D}"/>
              </a:ext>
            </a:extLst>
          </p:cNvPr>
          <p:cNvSpPr/>
          <p:nvPr userDrawn="1"/>
        </p:nvSpPr>
        <p:spPr bwMode="auto">
          <a:xfrm>
            <a:off x="-879584" y="6040398"/>
            <a:ext cx="576000" cy="576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9" name="正方形/長方形 8">
            <a:extLst>
              <a:ext uri="{FF2B5EF4-FFF2-40B4-BE49-F238E27FC236}">
                <a16:creationId xmlns:a16="http://schemas.microsoft.com/office/drawing/2014/main" id="{7D3C50D3-6FCF-426C-A8CD-58001A1DA770}"/>
              </a:ext>
            </a:extLst>
          </p:cNvPr>
          <p:cNvSpPr/>
          <p:nvPr userDrawn="1"/>
        </p:nvSpPr>
        <p:spPr bwMode="auto">
          <a:xfrm>
            <a:off x="-879584" y="4617892"/>
            <a:ext cx="576000" cy="576000"/>
          </a:xfrm>
          <a:prstGeom prst="rect">
            <a:avLst/>
          </a:prstGeom>
          <a:solidFill>
            <a:srgbClr val="5A5A5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2" name="正方形/長方形 11">
            <a:extLst>
              <a:ext uri="{FF2B5EF4-FFF2-40B4-BE49-F238E27FC236}">
                <a16:creationId xmlns:a16="http://schemas.microsoft.com/office/drawing/2014/main" id="{E65AF459-1382-45FE-8AF0-FCF18D1E72A0}"/>
              </a:ext>
            </a:extLst>
          </p:cNvPr>
          <p:cNvSpPr/>
          <p:nvPr userDrawn="1"/>
        </p:nvSpPr>
        <p:spPr bwMode="auto">
          <a:xfrm>
            <a:off x="-879584" y="2484133"/>
            <a:ext cx="576000" cy="576000"/>
          </a:xfrm>
          <a:prstGeom prst="rect">
            <a:avLst/>
          </a:prstGeom>
          <a:solidFill>
            <a:srgbClr val="A1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3" name="正方形/長方形 12">
            <a:extLst>
              <a:ext uri="{FF2B5EF4-FFF2-40B4-BE49-F238E27FC236}">
                <a16:creationId xmlns:a16="http://schemas.microsoft.com/office/drawing/2014/main" id="{B07A765F-35EF-4253-9A19-35E2FAFD8A3E}"/>
              </a:ext>
            </a:extLst>
          </p:cNvPr>
          <p:cNvSpPr/>
          <p:nvPr userDrawn="1"/>
        </p:nvSpPr>
        <p:spPr bwMode="auto">
          <a:xfrm>
            <a:off x="-879584" y="5329145"/>
            <a:ext cx="576000" cy="576000"/>
          </a:xfrm>
          <a:prstGeom prst="rect">
            <a:avLst/>
          </a:prstGeom>
          <a:solidFill>
            <a:srgbClr val="9696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5" name="正方形/長方形 14">
            <a:extLst>
              <a:ext uri="{FF2B5EF4-FFF2-40B4-BE49-F238E27FC236}">
                <a16:creationId xmlns:a16="http://schemas.microsoft.com/office/drawing/2014/main" id="{F1E34B52-515B-4F68-BC82-4B96533930ED}"/>
              </a:ext>
            </a:extLst>
          </p:cNvPr>
          <p:cNvSpPr/>
          <p:nvPr userDrawn="1"/>
        </p:nvSpPr>
        <p:spPr bwMode="auto">
          <a:xfrm>
            <a:off x="-879584" y="3195386"/>
            <a:ext cx="576000" cy="576000"/>
          </a:xfrm>
          <a:prstGeom prst="rect">
            <a:avLst/>
          </a:prstGeom>
          <a:solidFill>
            <a:srgbClr val="008E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6" name="正方形/長方形 15">
            <a:extLst>
              <a:ext uri="{FF2B5EF4-FFF2-40B4-BE49-F238E27FC236}">
                <a16:creationId xmlns:a16="http://schemas.microsoft.com/office/drawing/2014/main" id="{60701147-FAF6-4FF9-A5CD-44453C667421}"/>
              </a:ext>
            </a:extLst>
          </p:cNvPr>
          <p:cNvSpPr/>
          <p:nvPr userDrawn="1"/>
        </p:nvSpPr>
        <p:spPr bwMode="auto">
          <a:xfrm>
            <a:off x="-879584" y="3906639"/>
            <a:ext cx="576000" cy="576000"/>
          </a:xfrm>
          <a:prstGeom prst="rect">
            <a:avLst/>
          </a:prstGeom>
          <a:solidFill>
            <a:srgbClr val="8BE1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7" name="正方形/長方形 16">
            <a:extLst>
              <a:ext uri="{FF2B5EF4-FFF2-40B4-BE49-F238E27FC236}">
                <a16:creationId xmlns:a16="http://schemas.microsoft.com/office/drawing/2014/main" id="{01F64509-B6E4-4045-BC34-2D4BABAF7998}"/>
              </a:ext>
            </a:extLst>
          </p:cNvPr>
          <p:cNvSpPr/>
          <p:nvPr userDrawn="1"/>
        </p:nvSpPr>
        <p:spPr bwMode="auto">
          <a:xfrm>
            <a:off x="-879584" y="1772880"/>
            <a:ext cx="576000" cy="576000"/>
          </a:xfrm>
          <a:prstGeom prst="rect">
            <a:avLst/>
          </a:prstGeom>
          <a:solidFill>
            <a:srgbClr val="46007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9" name="Rectangle 67">
            <a:extLst>
              <a:ext uri="{FF2B5EF4-FFF2-40B4-BE49-F238E27FC236}">
                <a16:creationId xmlns:a16="http://schemas.microsoft.com/office/drawing/2014/main" id="{05A93146-D08E-40E3-B7E3-11F6DA76B43C}"/>
              </a:ext>
            </a:extLst>
          </p:cNvPr>
          <p:cNvSpPr>
            <a:spLocks noChangeArrowheads="1"/>
          </p:cNvSpPr>
          <p:nvPr userDrawn="1"/>
        </p:nvSpPr>
        <p:spPr bwMode="auto">
          <a:xfrm>
            <a:off x="56456" y="6596842"/>
            <a:ext cx="4264309" cy="216534"/>
          </a:xfrm>
          <a:prstGeom prst="rect">
            <a:avLst/>
          </a:prstGeom>
          <a:solidFill>
            <a:schemeClr val="bg1"/>
          </a:solidFill>
          <a:ln>
            <a:noFill/>
          </a:ln>
          <a:effec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a:ln>
                  <a:noFill/>
                </a:ln>
                <a:solidFill>
                  <a:schemeClr val="tx1"/>
                </a:solidFill>
                <a:effectLst/>
                <a:latin typeface="+mj-lt"/>
                <a:ea typeface="游明朝" panose="02020400000000000000" pitchFamily="18" charset="-128"/>
              </a:rPr>
              <a:t>   ©</a:t>
            </a: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 2022 Accenture All Rights Reserved</a:t>
            </a:r>
            <a:endParaRPr kumimoji="0" lang="en-US" altLang="ja-JP" sz="800" b="0" i="0" u="none" strike="noStrike" cap="none" normalizeH="0" baseline="0">
              <a:ln>
                <a:noFill/>
              </a:ln>
              <a:solidFill>
                <a:schemeClr val="tx1"/>
              </a:solidFill>
              <a:effectLst/>
              <a:latin typeface="+mj-lt"/>
            </a:endParaRPr>
          </a:p>
        </p:txBody>
      </p:sp>
      <p:sp>
        <p:nvSpPr>
          <p:cNvPr id="5" name="テキスト プレースホルダー 4">
            <a:extLst>
              <a:ext uri="{FF2B5EF4-FFF2-40B4-BE49-F238E27FC236}">
                <a16:creationId xmlns:a16="http://schemas.microsoft.com/office/drawing/2014/main" id="{186ACCA4-A30F-486A-A765-4A321E7E23BB}"/>
              </a:ext>
            </a:extLst>
          </p:cNvPr>
          <p:cNvSpPr>
            <a:spLocks noGrp="1"/>
          </p:cNvSpPr>
          <p:nvPr>
            <p:ph type="body" sz="quarter" idx="14"/>
          </p:nvPr>
        </p:nvSpPr>
        <p:spPr>
          <a:xfrm>
            <a:off x="488950" y="574157"/>
            <a:ext cx="8928100" cy="367767"/>
          </a:xfrm>
          <a:noFill/>
          <a:ln w="9525">
            <a:noFill/>
            <a:miter lim="800000"/>
            <a:headEnd/>
            <a:tailEnd/>
          </a:ln>
        </p:spPr>
        <p:txBody>
          <a:bodyPr vert="horz" wrap="square" lIns="0" tIns="0" rIns="0" bIns="0" numCol="1" rtlCol="0" anchor="b" anchorCtr="0" compatLnSpc="1">
            <a:prstTxWarp prst="textNoShape">
              <a:avLst/>
            </a:prstTxWarp>
            <a:noAutofit/>
          </a:bodyPr>
          <a:lstStyle>
            <a:lvl1pPr>
              <a:defRPr lang="ja-JP" altLang="en-US" sz="2000" b="1" smtClean="0"/>
            </a:lvl1pPr>
            <a:lvl2pPr>
              <a:defRPr lang="ja-JP" altLang="en-US" sz="1846" b="1" smtClean="0">
                <a:latin typeface="Arial" charset="0"/>
                <a:ea typeface="ＭＳ Ｐゴシック" pitchFamily="50" charset="-128"/>
              </a:defRPr>
            </a:lvl2pPr>
            <a:lvl3pPr>
              <a:defRPr lang="ja-JP" altLang="en-US" sz="1846" b="1" smtClean="0">
                <a:latin typeface="Arial" charset="0"/>
                <a:ea typeface="ＭＳ Ｐゴシック" pitchFamily="50" charset="-128"/>
              </a:defRPr>
            </a:lvl3pPr>
            <a:lvl4pPr>
              <a:defRPr lang="ja-JP" altLang="en-US" sz="1846" b="1" smtClean="0">
                <a:latin typeface="Arial" charset="0"/>
                <a:ea typeface="ＭＳ Ｐゴシック" pitchFamily="50" charset="-128"/>
              </a:defRPr>
            </a:lvl4pPr>
            <a:lvl5pPr>
              <a:defRPr lang="ja-JP" altLang="en-US" sz="1846" b="1">
                <a:latin typeface="Arial" charset="0"/>
                <a:ea typeface="ＭＳ Ｐゴシック" pitchFamily="50" charset="-128"/>
              </a:defRPr>
            </a:lvl5pPr>
          </a:lstStyle>
          <a:p>
            <a:pPr marL="0" marR="0" lvl="0" indent="0" defTabSz="914400" latinLnBrk="0">
              <a:lnSpc>
                <a:spcPct val="100000"/>
              </a:lnSpc>
              <a:spcBef>
                <a:spcPts val="0"/>
              </a:spcBef>
              <a:spcAft>
                <a:spcPts val="0"/>
              </a:spcAft>
              <a:buClrTx/>
              <a:buSzTx/>
              <a:buFontTx/>
              <a:buNone/>
              <a:tabLst/>
            </a:pPr>
            <a:r>
              <a:rPr kumimoji="1" lang="ja-JP" altLang="en-US"/>
              <a:t>マスター テキストの書式設定</a:t>
            </a:r>
          </a:p>
        </p:txBody>
      </p:sp>
    </p:spTree>
    <p:extLst>
      <p:ext uri="{BB962C8B-B14F-4D97-AF65-F5344CB8AC3E}">
        <p14:creationId xmlns:p14="http://schemas.microsoft.com/office/powerpoint/2010/main" val="35453848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コンテンツ プレースホルダー 2"/>
          <p:cNvSpPr>
            <a:spLocks noGrp="1"/>
          </p:cNvSpPr>
          <p:nvPr>
            <p:ph idx="1"/>
          </p:nvPr>
        </p:nvSpPr>
        <p:spPr>
          <a:xfrm>
            <a:off x="213405" y="162121"/>
            <a:ext cx="9506250" cy="418809"/>
          </a:xfrm>
          <a:prstGeom prst="rect">
            <a:avLst/>
          </a:prstGeom>
        </p:spPr>
        <p:txBody>
          <a:bodyPr lIns="0" tIns="0" rIns="0" bIns="0" anchor="ctr">
            <a:noAutofit/>
          </a:bodyPr>
          <a:lstStyle>
            <a:lvl1pPr marL="0" indent="0" algn="l">
              <a:spcBef>
                <a:spcPts val="0"/>
              </a:spcBef>
              <a:buNone/>
              <a:defRPr sz="2275" b="1" i="0" spc="0" baseline="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kumimoji="1" lang="ja-JP" altLang="en-US"/>
              <a:t>マスター テキストの書式設定</a:t>
            </a:r>
          </a:p>
        </p:txBody>
      </p:sp>
      <p:sp>
        <p:nvSpPr>
          <p:cNvPr id="8" name="コンテンツ プレースホルダー 2"/>
          <p:cNvSpPr>
            <a:spLocks noGrp="1"/>
          </p:cNvSpPr>
          <p:nvPr>
            <p:ph idx="13" hasCustomPrompt="1"/>
          </p:nvPr>
        </p:nvSpPr>
        <p:spPr>
          <a:xfrm>
            <a:off x="213405" y="668648"/>
            <a:ext cx="9506250" cy="490528"/>
          </a:xfrm>
          <a:prstGeom prst="rect">
            <a:avLst/>
          </a:prstGeom>
        </p:spPr>
        <p:txBody>
          <a:bodyPr lIns="0" tIns="0" rIns="0" bIns="0" anchor="t">
            <a:noAutofit/>
          </a:bodyPr>
          <a:lstStyle>
            <a:lvl1pPr marL="0" indent="0" algn="l">
              <a:spcBef>
                <a:spcPts val="0"/>
              </a:spcBef>
              <a:buNone/>
              <a:defRPr sz="1463" b="0" i="0" spc="0" baseline="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kumimoji="1" lang="ja-JP" altLang="en-US"/>
              <a:t>マスター テキストの書式設定</a:t>
            </a:r>
          </a:p>
        </p:txBody>
      </p:sp>
      <p:sp>
        <p:nvSpPr>
          <p:cNvPr id="5" name="Slide Number Placeholder 9">
            <a:extLst>
              <a:ext uri="{FF2B5EF4-FFF2-40B4-BE49-F238E27FC236}">
                <a16:creationId xmlns:a16="http://schemas.microsoft.com/office/drawing/2014/main" id="{E15D6BA6-42CC-46E9-B30D-F3CF8B828B08}"/>
              </a:ext>
            </a:extLst>
          </p:cNvPr>
          <p:cNvSpPr>
            <a:spLocks noGrp="1"/>
          </p:cNvSpPr>
          <p:nvPr>
            <p:ph type="sldNum" sz="quarter" idx="4"/>
          </p:nvPr>
        </p:nvSpPr>
        <p:spPr>
          <a:xfrm>
            <a:off x="9371301" y="6555954"/>
            <a:ext cx="409500" cy="206375"/>
          </a:xfrm>
          <a:prstGeom prst="rect">
            <a:avLst/>
          </a:prstGeom>
        </p:spPr>
        <p:txBody>
          <a:bodyPr/>
          <a:lstStyle>
            <a:lvl1pPr algn="r">
              <a:defRPr sz="894">
                <a:solidFill>
                  <a:schemeClr val="tx1">
                    <a:lumMod val="95000"/>
                    <a:lumOff val="5000"/>
                    <a:alpha val="40000"/>
                  </a:schemeClr>
                </a:solidFill>
                <a:latin typeface="+mn-ea"/>
                <a:ea typeface="+mn-ea"/>
              </a:defRPr>
            </a:lvl1pPr>
          </a:lstStyle>
          <a:p>
            <a:fld id="{4F9AC08D-23A9-440E-BCB9-AA1E9877CC38}" type="slidenum">
              <a:rPr lang="en-US" smtClean="0"/>
              <a:pPr/>
              <a:t>‹#›</a:t>
            </a:fld>
            <a:endParaRPr lang="en-US"/>
          </a:p>
        </p:txBody>
      </p:sp>
    </p:spTree>
    <p:extLst>
      <p:ext uri="{BB962C8B-B14F-4D97-AF65-F5344CB8AC3E}">
        <p14:creationId xmlns:p14="http://schemas.microsoft.com/office/powerpoint/2010/main" val="33547450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434833109"/>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088504" y="55235"/>
            <a:ext cx="5760000" cy="497664"/>
          </a:xfrm>
          <a:prstGeom prst="rect">
            <a:avLst/>
          </a:prstGeom>
        </p:spPr>
        <p:txBody>
          <a:bodyPr vert="horz" lIns="0" tIns="0" rIns="0" bIns="0" rtlCol="0" anchor="b" anchorCtr="0">
            <a:noAutofit/>
          </a:bodyPr>
          <a:lstStyle>
            <a:lvl1pPr marL="0" marR="0" indent="0" algn="l" defTabSz="914400" rtl="0" eaLnBrk="1" fontAlgn="base" latinLnBrk="0" hangingPunct="1">
              <a:lnSpc>
                <a:spcPct val="100000"/>
              </a:lnSpc>
              <a:spcBef>
                <a:spcPts val="0"/>
              </a:spcBef>
              <a:spcAft>
                <a:spcPts val="0"/>
              </a:spcAft>
              <a:buClrTx/>
              <a:buSzTx/>
              <a:buFontTx/>
              <a:buNone/>
              <a:tabLst/>
              <a:defRPr lang="en-GB" b="1" dirty="0"/>
            </a:lvl1pPr>
          </a:lstStyle>
          <a:p>
            <a:pPr marL="0" marR="0" lvl="0" indent="0" algn="l" defTabSz="914400" rtl="0" eaLnBrk="1" fontAlgn="base" latinLnBrk="0" hangingPunct="1">
              <a:lnSpc>
                <a:spcPct val="100000"/>
              </a:lnSpc>
              <a:spcBef>
                <a:spcPts val="0"/>
              </a:spcBef>
              <a:spcAft>
                <a:spcPts val="0"/>
              </a:spcAft>
              <a:buClrTx/>
              <a:buSzTx/>
              <a:buFontTx/>
              <a:buNone/>
              <a:tabLst/>
              <a:defRPr/>
            </a:pPr>
            <a:r>
              <a:rPr lang="ja-JP" altLang="en-US"/>
              <a:t>マスター タイトルの書式設定</a:t>
            </a:r>
            <a:endParaRPr lang="en-GB"/>
          </a:p>
        </p:txBody>
      </p:sp>
      <p:sp>
        <p:nvSpPr>
          <p:cNvPr id="11" name="Text Placeholder 10"/>
          <p:cNvSpPr>
            <a:spLocks noGrp="1"/>
          </p:cNvSpPr>
          <p:nvPr>
            <p:ph type="body" idx="12"/>
          </p:nvPr>
        </p:nvSpPr>
        <p:spPr>
          <a:xfrm>
            <a:off x="488504" y="973824"/>
            <a:ext cx="8928000" cy="669414"/>
          </a:xfrm>
          <a:prstGeom prst="rect">
            <a:avLst/>
          </a:prstGeom>
        </p:spPr>
        <p:txBody>
          <a:bodyPr vert="horz" lIns="0" tIns="0" rIns="0" bIns="0" rtlCol="0">
            <a:noAutofit/>
          </a:bodyPr>
          <a:lstStyle>
            <a:lvl1pPr marL="0" marR="0" indent="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lvl="0"/>
            <a:r>
              <a:rPr kumimoji="1" lang="ja-JP" altLang="en-US" sz="1600"/>
              <a:t>マスター テキストの書式設定</a:t>
            </a:r>
          </a:p>
        </p:txBody>
      </p:sp>
      <p:sp>
        <p:nvSpPr>
          <p:cNvPr id="22" name="テキスト プレースホルダー 21"/>
          <p:cNvSpPr>
            <a:spLocks noGrp="1"/>
          </p:cNvSpPr>
          <p:nvPr userDrawn="1">
            <p:ph type="body" sz="quarter" idx="13"/>
          </p:nvPr>
        </p:nvSpPr>
        <p:spPr>
          <a:xfrm>
            <a:off x="488504" y="179588"/>
            <a:ext cx="3600000" cy="373311"/>
          </a:xfrm>
          <a:prstGeom prst="rect">
            <a:avLst/>
          </a:prstGeom>
        </p:spPr>
        <p:txBody>
          <a:bodyPr vert="horz" lIns="0" tIns="0" rIns="0" bIns="0" rtlCol="0" anchor="b">
            <a:noAutofit/>
          </a:bodyPr>
          <a:lstStyle>
            <a:lvl1pPr>
              <a:spcBef>
                <a:spcPts val="0"/>
              </a:spcBef>
              <a:spcAft>
                <a:spcPts val="0"/>
              </a:spcAft>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19" name="Rectangle 67">
            <a:extLst>
              <a:ext uri="{FF2B5EF4-FFF2-40B4-BE49-F238E27FC236}">
                <a16:creationId xmlns:a16="http://schemas.microsoft.com/office/drawing/2014/main" id="{05A93146-D08E-40E3-B7E3-11F6DA76B43C}"/>
              </a:ext>
            </a:extLst>
          </p:cNvPr>
          <p:cNvSpPr>
            <a:spLocks noChangeArrowheads="1"/>
          </p:cNvSpPr>
          <p:nvPr userDrawn="1"/>
        </p:nvSpPr>
        <p:spPr bwMode="auto">
          <a:xfrm>
            <a:off x="56456" y="6596842"/>
            <a:ext cx="4665060" cy="216534"/>
          </a:xfrm>
          <a:prstGeom prst="rect">
            <a:avLst/>
          </a:prstGeom>
          <a:solidFill>
            <a:schemeClr val="bg1"/>
          </a:solidFill>
          <a:ln>
            <a:noFill/>
          </a:ln>
          <a:effec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a:ln>
                  <a:noFill/>
                </a:ln>
                <a:solidFill>
                  <a:schemeClr val="tx1"/>
                </a:solidFill>
                <a:effectLst/>
                <a:latin typeface="+mj-lt"/>
                <a:ea typeface="游明朝" panose="02020400000000000000" pitchFamily="18" charset="-128"/>
              </a:rPr>
              <a:t>   ©</a:t>
            </a: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 2023 Accenture All Rights Reserved</a:t>
            </a:r>
            <a:endParaRPr kumimoji="0" lang="en-US" altLang="ja-JP" sz="800" b="0" i="0" u="none" strike="noStrike" cap="none" normalizeH="0" baseline="0">
              <a:ln>
                <a:noFill/>
              </a:ln>
              <a:solidFill>
                <a:schemeClr val="tx1"/>
              </a:solidFill>
              <a:effectLst/>
              <a:latin typeface="+mj-lt"/>
            </a:endParaRPr>
          </a:p>
        </p:txBody>
      </p:sp>
      <p:sp>
        <p:nvSpPr>
          <p:cNvPr id="5" name="テキスト プレースホルダー 4">
            <a:extLst>
              <a:ext uri="{FF2B5EF4-FFF2-40B4-BE49-F238E27FC236}">
                <a16:creationId xmlns:a16="http://schemas.microsoft.com/office/drawing/2014/main" id="{186ACCA4-A30F-486A-A765-4A321E7E23BB}"/>
              </a:ext>
            </a:extLst>
          </p:cNvPr>
          <p:cNvSpPr>
            <a:spLocks noGrp="1"/>
          </p:cNvSpPr>
          <p:nvPr>
            <p:ph type="body" sz="quarter" idx="14"/>
          </p:nvPr>
        </p:nvSpPr>
        <p:spPr>
          <a:xfrm>
            <a:off x="488950" y="574157"/>
            <a:ext cx="8928100" cy="367767"/>
          </a:xfrm>
          <a:noFill/>
          <a:ln w="9525">
            <a:noFill/>
            <a:miter lim="800000"/>
            <a:headEnd/>
            <a:tailEnd/>
          </a:ln>
        </p:spPr>
        <p:txBody>
          <a:bodyPr vert="horz" wrap="square" lIns="0" tIns="0" rIns="0" bIns="0" numCol="1" rtlCol="0" anchor="b" anchorCtr="0" compatLnSpc="1">
            <a:prstTxWarp prst="textNoShape">
              <a:avLst/>
            </a:prstTxWarp>
            <a:noAutofit/>
          </a:bodyPr>
          <a:lstStyle>
            <a:lvl1pPr>
              <a:defRPr lang="ja-JP" altLang="en-US" sz="2000" b="1" smtClean="0"/>
            </a:lvl1pPr>
            <a:lvl2pPr>
              <a:defRPr lang="ja-JP" altLang="en-US" sz="1846" b="1" smtClean="0">
                <a:latin typeface="Arial" charset="0"/>
                <a:ea typeface="ＭＳ Ｐゴシック" pitchFamily="50" charset="-128"/>
              </a:defRPr>
            </a:lvl2pPr>
            <a:lvl3pPr>
              <a:defRPr lang="ja-JP" altLang="en-US" sz="1846" b="1" smtClean="0">
                <a:latin typeface="Arial" charset="0"/>
                <a:ea typeface="ＭＳ Ｐゴシック" pitchFamily="50" charset="-128"/>
              </a:defRPr>
            </a:lvl3pPr>
            <a:lvl4pPr>
              <a:defRPr lang="ja-JP" altLang="en-US" sz="1846" b="1" smtClean="0">
                <a:latin typeface="Arial" charset="0"/>
                <a:ea typeface="ＭＳ Ｐゴシック" pitchFamily="50" charset="-128"/>
              </a:defRPr>
            </a:lvl4pPr>
            <a:lvl5pPr>
              <a:defRPr lang="ja-JP" altLang="en-US" sz="1846" b="1">
                <a:latin typeface="Arial" charset="0"/>
                <a:ea typeface="ＭＳ Ｐゴシック" pitchFamily="50" charset="-128"/>
              </a:defRPr>
            </a:lvl5pPr>
          </a:lstStyle>
          <a:p>
            <a:pPr marL="0" marR="0" lvl="0" indent="0" defTabSz="914400" latinLnBrk="0">
              <a:lnSpc>
                <a:spcPct val="100000"/>
              </a:lnSpc>
              <a:spcBef>
                <a:spcPts val="0"/>
              </a:spcBef>
              <a:spcAft>
                <a:spcPts val="0"/>
              </a:spcAft>
              <a:buClrTx/>
              <a:buSzTx/>
              <a:buFontTx/>
              <a:buNone/>
              <a:tabLst/>
            </a:pPr>
            <a:r>
              <a:rPr kumimoji="1" lang="ja-JP" altLang="en-US"/>
              <a:t>マスター テキストの書式設定</a:t>
            </a:r>
          </a:p>
        </p:txBody>
      </p:sp>
    </p:spTree>
    <p:extLst>
      <p:ext uri="{BB962C8B-B14F-4D97-AF65-F5344CB8AC3E}">
        <p14:creationId xmlns:p14="http://schemas.microsoft.com/office/powerpoint/2010/main" val="16243469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 Ligh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107B80F-6B0C-CAF2-1146-67778DC8B63A}"/>
              </a:ext>
            </a:extLst>
          </p:cNvPr>
          <p:cNvSpPr>
            <a:spLocks noGrp="1"/>
          </p:cNvSpPr>
          <p:nvPr>
            <p:ph type="title" hasCustomPrompt="1"/>
          </p:nvPr>
        </p:nvSpPr>
        <p:spPr>
          <a:xfrm>
            <a:off x="389774" y="163830"/>
            <a:ext cx="9096724" cy="773899"/>
          </a:xfrm>
        </p:spPr>
        <p:txBody>
          <a:bodyPr anchor="ctr"/>
          <a:lstStyle>
            <a:lvl1pPr>
              <a:lnSpc>
                <a:spcPct val="100000"/>
              </a:lnSpc>
              <a:defRPr sz="2400"/>
            </a:lvl1pPr>
          </a:lstStyle>
          <a:p>
            <a:r>
              <a:rPr lang="en-GB"/>
              <a:t>Place headline here (24pt, min 30pt)</a:t>
            </a:r>
            <a:br>
              <a:rPr lang="en-GB"/>
            </a:br>
            <a:r>
              <a:rPr lang="en-GB"/>
              <a:t>XX</a:t>
            </a:r>
            <a:endParaRPr lang="en-US"/>
          </a:p>
        </p:txBody>
      </p:sp>
      <p:sp>
        <p:nvSpPr>
          <p:cNvPr id="9" name="Content Placeholder 7">
            <a:extLst>
              <a:ext uri="{FF2B5EF4-FFF2-40B4-BE49-F238E27FC236}">
                <a16:creationId xmlns:a16="http://schemas.microsoft.com/office/drawing/2014/main" id="{8C856AB7-88AB-C2AA-BAF6-4010120D8562}"/>
              </a:ext>
            </a:extLst>
          </p:cNvPr>
          <p:cNvSpPr>
            <a:spLocks noGrp="1"/>
          </p:cNvSpPr>
          <p:nvPr>
            <p:ph sz="quarter" idx="10" hasCustomPrompt="1"/>
          </p:nvPr>
        </p:nvSpPr>
        <p:spPr>
          <a:xfrm>
            <a:off x="446924" y="1133263"/>
            <a:ext cx="9096723" cy="833658"/>
          </a:xfrm>
        </p:spPr>
        <p:txBody>
          <a:bodyPr/>
          <a:lstStyle>
            <a:lvl1pPr>
              <a:defRPr sz="1600"/>
            </a:lvl1pPr>
            <a:lvl2pPr>
              <a:defRPr sz="1400"/>
            </a:lvl2pPr>
            <a:lvl3pPr>
              <a:defRPr sz="1400"/>
            </a:lvl3pPr>
            <a:lvl4pPr>
              <a:defRPr sz="1200"/>
            </a:lvl4pPr>
            <a:lvl5pPr>
              <a:defRPr sz="1200"/>
            </a:lvl5pPr>
          </a:lstStyle>
          <a:p>
            <a:pPr lvl="0"/>
            <a:r>
              <a:rPr lang="en-US"/>
              <a:t>Place text here</a:t>
            </a:r>
          </a:p>
          <a:p>
            <a:pPr lvl="1"/>
            <a:endParaRPr lang="en-US"/>
          </a:p>
        </p:txBody>
      </p:sp>
      <p:sp>
        <p:nvSpPr>
          <p:cNvPr id="6" name="スライド番号プレースホルダー 5">
            <a:extLst>
              <a:ext uri="{FF2B5EF4-FFF2-40B4-BE49-F238E27FC236}">
                <a16:creationId xmlns:a16="http://schemas.microsoft.com/office/drawing/2014/main" id="{0B7C9ADA-868C-4DEC-8382-2995ECAAE853}"/>
              </a:ext>
            </a:extLst>
          </p:cNvPr>
          <p:cNvSpPr>
            <a:spLocks noGrp="1"/>
          </p:cNvSpPr>
          <p:nvPr>
            <p:ph type="sldNum" sz="quarter" idx="4"/>
          </p:nvPr>
        </p:nvSpPr>
        <p:spPr>
          <a:xfrm>
            <a:off x="7582521" y="6356352"/>
            <a:ext cx="2228850" cy="365125"/>
          </a:xfrm>
          <a:prstGeom prst="rect">
            <a:avLst/>
          </a:prstGeom>
        </p:spPr>
        <p:txBody>
          <a:bodyPr anchor="b"/>
          <a:lstStyle>
            <a:lvl1pPr algn="r">
              <a:defRPr sz="980">
                <a:solidFill>
                  <a:schemeClr val="bg1">
                    <a:lumMod val="65000"/>
                  </a:schemeClr>
                </a:solidFill>
                <a:latin typeface="Meiryo UI" panose="020B0604030504040204" pitchFamily="50" charset="-128"/>
                <a:ea typeface="Meiryo UI" panose="020B0604030504040204" pitchFamily="50" charset="-128"/>
              </a:defRPr>
            </a:lvl1pPr>
          </a:lstStyle>
          <a:p>
            <a:fld id="{A99D720A-4AD5-4DCF-885F-DE5297996123}" type="slidenum">
              <a:rPr kumimoji="1" lang="ja-JP" altLang="en-US" smtClean="0"/>
              <a:pPr/>
              <a:t>‹#›</a:t>
            </a:fld>
            <a:endParaRPr kumimoji="1" lang="ja-JP" altLang="en-US"/>
          </a:p>
        </p:txBody>
      </p:sp>
    </p:spTree>
    <p:extLst>
      <p:ext uri="{BB962C8B-B14F-4D97-AF65-F5344CB8AC3E}">
        <p14:creationId xmlns:p14="http://schemas.microsoft.com/office/powerpoint/2010/main" val="583458558"/>
      </p:ext>
    </p:extLst>
  </p:cSld>
  <p:clrMapOvr>
    <a:masterClrMapping/>
  </p:clrMapOvr>
  <p:extLst>
    <p:ext uri="{DCECCB84-F9BA-43D5-87BE-67443E8EF086}">
      <p15:sldGuideLst xmlns:p15="http://schemas.microsoft.com/office/powerpoint/2012/main">
        <p15:guide id="1" orient="horz" pos="73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コンテンツテンプレート_1カラム*メッセージラインエリア有">
    <p:spTree>
      <p:nvGrpSpPr>
        <p:cNvPr id="1" name=""/>
        <p:cNvGrpSpPr/>
        <p:nvPr/>
      </p:nvGrpSpPr>
      <p:grpSpPr>
        <a:xfrm>
          <a:off x="0" y="0"/>
          <a:ext cx="0" cy="0"/>
          <a:chOff x="0" y="0"/>
          <a:chExt cx="0" cy="0"/>
        </a:xfrm>
      </p:grpSpPr>
      <p:sp>
        <p:nvSpPr>
          <p:cNvPr id="7" name="Rectangle 6"/>
          <p:cNvSpPr/>
          <p:nvPr userDrawn="1"/>
        </p:nvSpPr>
        <p:spPr>
          <a:xfrm>
            <a:off x="1" y="11"/>
            <a:ext cx="9024226" cy="8134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9"/>
          <p:cNvSpPr>
            <a:spLocks noGrp="1"/>
          </p:cNvSpPr>
          <p:nvPr>
            <p:ph sz="quarter" idx="14"/>
          </p:nvPr>
        </p:nvSpPr>
        <p:spPr>
          <a:xfrm>
            <a:off x="504528" y="1695060"/>
            <a:ext cx="8896947" cy="4650821"/>
          </a:xfrm>
        </p:spPr>
        <p:txBody>
          <a:bodyPr/>
          <a:lstStyle>
            <a:lvl1pPr marL="196011" indent="-196011">
              <a:lnSpc>
                <a:spcPct val="120000"/>
              </a:lnSpc>
              <a:buClr>
                <a:schemeClr val="accent1"/>
              </a:buClr>
              <a:buSzPct val="100000"/>
              <a:buFont typeface="Wingdings" charset="2"/>
              <a:buChar char="Ø"/>
              <a:tabLst/>
              <a:defRPr sz="1732" b="0" i="0">
                <a:solidFill>
                  <a:schemeClr val="tx1">
                    <a:lumMod val="85000"/>
                    <a:lumOff val="15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388582" indent="-190852">
              <a:lnSpc>
                <a:spcPct val="120000"/>
              </a:lnSpc>
              <a:buClr>
                <a:schemeClr val="accent1"/>
              </a:buClr>
              <a:buFont typeface="Wingdings" charset="2"/>
              <a:buChar char="§"/>
              <a:tabLst/>
              <a:defRPr sz="1517" b="0" i="0">
                <a:solidFill>
                  <a:schemeClr val="tx1">
                    <a:lumMod val="85000"/>
                    <a:lumOff val="15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632738" indent="-146148">
              <a:lnSpc>
                <a:spcPct val="120000"/>
              </a:lnSpc>
              <a:buClr>
                <a:schemeClr val="accent1"/>
              </a:buClr>
              <a:buFont typeface="Wingdings" charset="2"/>
              <a:buChar char="§"/>
              <a:tabLst/>
              <a:defRPr sz="1300" b="0" i="0">
                <a:solidFill>
                  <a:schemeClr val="tx1">
                    <a:lumMod val="85000"/>
                    <a:lumOff val="15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866574" indent="-189134">
              <a:lnSpc>
                <a:spcPct val="120000"/>
              </a:lnSpc>
              <a:buClr>
                <a:schemeClr val="accent1"/>
              </a:buClr>
              <a:buFont typeface="Wingdings" charset="2"/>
              <a:buChar char="§"/>
              <a:tabLst/>
              <a:defRPr sz="1300" b="0" i="0">
                <a:solidFill>
                  <a:schemeClr val="tx1">
                    <a:lumMod val="85000"/>
                    <a:lumOff val="15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1110728" indent="-137553">
              <a:lnSpc>
                <a:spcPct val="120000"/>
              </a:lnSpc>
              <a:buClr>
                <a:schemeClr val="accent1"/>
              </a:buClr>
              <a:buFont typeface="Wingdings" charset="2"/>
              <a:buChar char="§"/>
              <a:tabLst/>
              <a:defRPr sz="1083" b="0" i="0">
                <a:solidFill>
                  <a:schemeClr val="tx1">
                    <a:lumMod val="85000"/>
                    <a:lumOff val="15000"/>
                  </a:schemeClr>
                </a:solidFill>
                <a:latin typeface="Meiryo UI" panose="020B0604030504040204" pitchFamily="50" charset="-128"/>
                <a:ea typeface="Meiryo UI" panose="020B0604030504040204" pitchFamily="50" charset="-128"/>
                <a:cs typeface="Meiryo UI" panose="020B0604030504040204" pitchFamily="50"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16" name="Rectangle 15"/>
          <p:cNvSpPr/>
          <p:nvPr userDrawn="1"/>
        </p:nvSpPr>
        <p:spPr>
          <a:xfrm>
            <a:off x="9020894" y="12"/>
            <a:ext cx="907104" cy="813411"/>
          </a:xfrm>
          <a:prstGeom prst="rect">
            <a:avLst/>
          </a:prstGeom>
          <a:noFill/>
          <a:ln>
            <a:noFill/>
          </a:ln>
          <a:effectLst>
            <a:outerShdw blurRad="50800" dist="762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 y="11"/>
            <a:ext cx="9024226" cy="813411"/>
          </a:xfrm>
          <a:noFill/>
        </p:spPr>
        <p:txBody>
          <a:bodyPr lIns="180000" tIns="0" rIns="180000" anchor="ctr"/>
          <a:lstStyle>
            <a:lvl1pPr>
              <a:defRPr b="1" i="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t>Click to edit Master title style</a:t>
            </a:r>
          </a:p>
        </p:txBody>
      </p:sp>
      <p:sp>
        <p:nvSpPr>
          <p:cNvPr id="17" name="Text Placeholder 16"/>
          <p:cNvSpPr>
            <a:spLocks noGrp="1"/>
          </p:cNvSpPr>
          <p:nvPr>
            <p:ph type="body" sz="quarter" idx="16"/>
          </p:nvPr>
        </p:nvSpPr>
        <p:spPr>
          <a:xfrm>
            <a:off x="504528" y="908827"/>
            <a:ext cx="8896947" cy="639249"/>
          </a:xfrm>
        </p:spPr>
        <p:txBody>
          <a:bodyPr/>
          <a:lstStyle>
            <a:lvl1pPr marL="0" indent="0">
              <a:lnSpc>
                <a:spcPct val="120000"/>
              </a:lnSpc>
              <a:buNone/>
              <a:defRPr sz="1951">
                <a:solidFill>
                  <a:srgbClr val="0D0D0D"/>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en-US"/>
              <a:t>Click to edit Master text styles</a:t>
            </a:r>
          </a:p>
        </p:txBody>
      </p:sp>
      <p:sp>
        <p:nvSpPr>
          <p:cNvPr id="19" name="テキスト ボックス 18">
            <a:extLst>
              <a:ext uri="{FF2B5EF4-FFF2-40B4-BE49-F238E27FC236}">
                <a16:creationId xmlns:a16="http://schemas.microsoft.com/office/drawing/2014/main" id="{9FC93477-2350-4FB3-A092-183B8388C95A}"/>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21" name="Rectangle 67">
            <a:extLst>
              <a:ext uri="{FF2B5EF4-FFF2-40B4-BE49-F238E27FC236}">
                <a16:creationId xmlns:a16="http://schemas.microsoft.com/office/drawing/2014/main" id="{BF507E73-A339-4EF9-8056-C3F4100F8AB6}"/>
              </a:ext>
            </a:extLst>
          </p:cNvPr>
          <p:cNvSpPr>
            <a:spLocks noChangeArrowheads="1"/>
          </p:cNvSpPr>
          <p:nvPr userDrawn="1"/>
        </p:nvSpPr>
        <p:spPr bwMode="auto">
          <a:xfrm>
            <a:off x="56456" y="6596842"/>
            <a:ext cx="4665060" cy="216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a:ln>
                  <a:noFill/>
                </a:ln>
                <a:solidFill>
                  <a:schemeClr val="tx1"/>
                </a:solidFill>
                <a:effectLst/>
                <a:latin typeface="+mj-lt"/>
                <a:ea typeface="游明朝" panose="02020400000000000000" pitchFamily="18" charset="-128"/>
              </a:rPr>
              <a:t>   ©</a:t>
            </a: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 2022 Accenture All Rights Reserved</a:t>
            </a:r>
            <a:endParaRPr kumimoji="0" lang="en-US" altLang="ja-JP" sz="800" b="0" i="0" u="none" strike="noStrike" cap="none" normalizeH="0" baseline="0">
              <a:ln>
                <a:noFill/>
              </a:ln>
              <a:solidFill>
                <a:schemeClr val="tx1"/>
              </a:solidFill>
              <a:effectLst/>
              <a:latin typeface="+mj-lt"/>
            </a:endParaRPr>
          </a:p>
        </p:txBody>
      </p:sp>
    </p:spTree>
    <p:extLst>
      <p:ext uri="{BB962C8B-B14F-4D97-AF65-F5344CB8AC3E}">
        <p14:creationId xmlns:p14="http://schemas.microsoft.com/office/powerpoint/2010/main" val="2253253913"/>
      </p:ext>
    </p:extLst>
  </p:cSld>
  <p:clrMapOvr>
    <a:masterClrMapping/>
  </p:clrMapOvr>
  <p:extLst>
    <p:ext uri="{DCECCB84-F9BA-43D5-87BE-67443E8EF086}">
      <p15:sldGuideLst xmlns:p15="http://schemas.microsoft.com/office/powerpoint/2012/main">
        <p15:guide id="1" orient="horz" pos="2160">
          <p15:clr>
            <a:srgbClr val="FBAE40"/>
          </p15:clr>
        </p15:guide>
        <p15:guide id="2" pos="3121">
          <p15:clr>
            <a:srgbClr val="FBAE40"/>
          </p15:clr>
        </p15:guide>
        <p15:guide id="3" pos="317">
          <p15:clr>
            <a:srgbClr val="FBAE40"/>
          </p15:clr>
        </p15:guide>
        <p15:guide id="4" pos="5923">
          <p15:clr>
            <a:srgbClr val="FBAE40"/>
          </p15:clr>
        </p15:guide>
        <p15:guide id="5" orient="horz" pos="3997">
          <p15:clr>
            <a:srgbClr val="FBAE40"/>
          </p15:clr>
        </p15:guide>
        <p15:guide id="6" orient="horz" pos="573">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182565" y="232429"/>
            <a:ext cx="9540874" cy="442035"/>
          </a:xfrm>
          <a:prstGeom prst="rect">
            <a:avLst/>
          </a:prstGeom>
          <a:noFill/>
          <a:ln w="9525">
            <a:noFill/>
            <a:miter lim="800000"/>
            <a:headEnd/>
            <a:tailEnd/>
          </a:ln>
        </p:spPr>
        <p:txBody>
          <a:bodyPr vert="horz" wrap="square" lIns="91440" tIns="36000" rIns="91440" bIns="36000" numCol="1" anchor="b" anchorCtr="0" compatLnSpc="1">
            <a:prstTxWarp prst="textNoShape">
              <a:avLst/>
            </a:prstTxWarp>
            <a:spAutoFit/>
          </a:bodyPr>
          <a:lstStyle>
            <a:lvl1pPr>
              <a:defRPr sz="2400"/>
            </a:lvl1pPr>
          </a:lstStyle>
          <a:p>
            <a:pPr lvl="0"/>
            <a:r>
              <a:rPr lang="ja-JP" altLang="en-US"/>
              <a:t>マスター タイトルの書式設定</a:t>
            </a:r>
            <a:endParaRPr lang="en-US" altLang="ja-JP"/>
          </a:p>
        </p:txBody>
      </p:sp>
      <p:sp>
        <p:nvSpPr>
          <p:cNvPr id="5" name="Rectangle 3"/>
          <p:cNvSpPr>
            <a:spLocks noGrp="1" noChangeArrowheads="1"/>
          </p:cNvSpPr>
          <p:nvPr>
            <p:ph idx="1"/>
          </p:nvPr>
        </p:nvSpPr>
        <p:spPr bwMode="gray">
          <a:xfrm>
            <a:off x="182564" y="714150"/>
            <a:ext cx="9540876" cy="349702"/>
          </a:xfrm>
          <a:prstGeom prst="rect">
            <a:avLst/>
          </a:prstGeom>
          <a:noFill/>
          <a:ln w="12700" algn="ctr">
            <a:noFill/>
            <a:miter lim="800000"/>
            <a:headEnd/>
            <a:tailEnd/>
          </a:ln>
        </p:spPr>
        <p:txBody>
          <a:bodyPr vert="horz" wrap="square" lIns="90488" tIns="36000" rIns="90488" bIns="36000" numCol="1" anchor="t" anchorCtr="0" compatLnSpc="1">
            <a:prstTxWarp prst="textNoShape">
              <a:avLst/>
            </a:prstTxWarp>
            <a:spAutoFit/>
          </a:bodyPr>
          <a:lstStyle>
            <a:lvl1pPr marL="0" indent="0">
              <a:defRPr sz="1800"/>
            </a:lvl1pPr>
          </a:lstStyle>
          <a:p>
            <a:pPr lvl="0"/>
            <a:r>
              <a:rPr lang="ja-JP" altLang="en-US"/>
              <a:t>マスター テキストの書式設定</a:t>
            </a:r>
          </a:p>
        </p:txBody>
      </p:sp>
      <p:sp>
        <p:nvSpPr>
          <p:cNvPr id="6" name="Line 25"/>
          <p:cNvSpPr>
            <a:spLocks noChangeShapeType="1"/>
          </p:cNvSpPr>
          <p:nvPr userDrawn="1"/>
        </p:nvSpPr>
        <p:spPr bwMode="auto">
          <a:xfrm>
            <a:off x="1" y="684213"/>
            <a:ext cx="9906000" cy="0"/>
          </a:xfrm>
          <a:prstGeom prst="line">
            <a:avLst/>
          </a:prstGeom>
          <a:noFill/>
          <a:ln w="12700" algn="ctr">
            <a:solidFill>
              <a:schemeClr val="accent6">
                <a:lumMod val="50000"/>
              </a:schemeClr>
            </a:solidFill>
            <a:round/>
            <a:headEnd/>
            <a:tailEnd/>
          </a:ln>
          <a:extLst>
            <a:ext uri="{909E8E84-426E-40DD-AFC4-6F175D3DCCD1}">
              <a14:hiddenFill xmlns:a14="http://schemas.microsoft.com/office/drawing/2010/main">
                <a:noFill/>
              </a14:hiddenFill>
            </a:ext>
          </a:extLst>
        </p:spPr>
        <p:txBody>
          <a:bodyPr/>
          <a:lstStyle/>
          <a:p>
            <a:pPr>
              <a:defRPr/>
            </a:pPr>
            <a:endParaRPr lang="ja-JP" altLang="en-US" sz="1292">
              <a:solidFill>
                <a:srgbClr val="000000"/>
              </a:solidFill>
              <a:latin typeface="MS UI Gothic" pitchFamily="50" charset="-128"/>
              <a:ea typeface="MS UI Gothic" pitchFamily="50" charset="-128"/>
            </a:endParaRPr>
          </a:p>
        </p:txBody>
      </p:sp>
      <p:sp>
        <p:nvSpPr>
          <p:cNvPr id="7" name="テキスト ボックス 6">
            <a:extLst>
              <a:ext uri="{FF2B5EF4-FFF2-40B4-BE49-F238E27FC236}">
                <a16:creationId xmlns:a16="http://schemas.microsoft.com/office/drawing/2014/main" id="{675590A4-EE64-459B-AF17-D3D673ED14A2}"/>
              </a:ext>
            </a:extLst>
          </p:cNvPr>
          <p:cNvSpPr txBox="1"/>
          <p:nvPr userDrawn="1"/>
        </p:nvSpPr>
        <p:spPr>
          <a:xfrm>
            <a:off x="9611743" y="6597440"/>
            <a:ext cx="255445" cy="257369"/>
          </a:xfrm>
          <a:prstGeom prst="rect">
            <a:avLst/>
          </a:prstGeom>
          <a:noFill/>
        </p:spPr>
        <p:txBody>
          <a:bodyPr vert="horz" wrap="none" lIns="36000" tIns="36000" rIns="36000" bIns="36000" rtlCol="0">
            <a:spAutoFit/>
          </a:bodyPr>
          <a:lstStyle/>
          <a:p>
            <a:pPr algn="ctr">
              <a:buNone/>
            </a:pPr>
            <a:fld id="{F2ACDB19-8038-4E5C-AEC4-3B789D39A641}" type="slidenum">
              <a:rPr kumimoji="1" lang="en-US" altLang="ja-JP" sz="1200" b="0" smtClean="0">
                <a:latin typeface="Calibri" panose="020F0502020204030204" pitchFamily="34" charset="0"/>
                <a:ea typeface="+mn-ea"/>
              </a:rPr>
              <a:t>‹#›</a:t>
            </a:fld>
            <a:endParaRPr kumimoji="1" lang="ja-JP" altLang="en-US" sz="1200" b="0">
              <a:latin typeface="Calibri" panose="020F0502020204030204" pitchFamily="34" charset="0"/>
              <a:ea typeface="+mn-ea"/>
            </a:endParaRPr>
          </a:p>
        </p:txBody>
      </p:sp>
      <p:sp>
        <p:nvSpPr>
          <p:cNvPr id="9" name="Rectangle 67">
            <a:extLst>
              <a:ext uri="{FF2B5EF4-FFF2-40B4-BE49-F238E27FC236}">
                <a16:creationId xmlns:a16="http://schemas.microsoft.com/office/drawing/2014/main" id="{7C2890D7-48F8-4130-8E62-8B2CB96AC158}"/>
              </a:ext>
            </a:extLst>
          </p:cNvPr>
          <p:cNvSpPr>
            <a:spLocks noChangeArrowheads="1"/>
          </p:cNvSpPr>
          <p:nvPr userDrawn="1"/>
        </p:nvSpPr>
        <p:spPr bwMode="auto">
          <a:xfrm>
            <a:off x="4994259" y="6617857"/>
            <a:ext cx="4729180" cy="216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097" algn="l" rtl="0" fontAlgn="base">
              <a:spcBef>
                <a:spcPct val="0"/>
              </a:spcBef>
              <a:spcAft>
                <a:spcPct val="0"/>
              </a:spcAft>
              <a:defRPr kern="1200">
                <a:solidFill>
                  <a:schemeClr val="tx1"/>
                </a:solidFill>
                <a:latin typeface="Arial" charset="0"/>
                <a:ea typeface="+mn-ea"/>
                <a:cs typeface="Arial" charset="0"/>
              </a:defRPr>
            </a:lvl2pPr>
            <a:lvl3pPr marL="914192" algn="l" rtl="0" fontAlgn="base">
              <a:spcBef>
                <a:spcPct val="0"/>
              </a:spcBef>
              <a:spcAft>
                <a:spcPct val="0"/>
              </a:spcAft>
              <a:defRPr kern="1200">
                <a:solidFill>
                  <a:schemeClr val="tx1"/>
                </a:solidFill>
                <a:latin typeface="Arial" charset="0"/>
                <a:ea typeface="+mn-ea"/>
                <a:cs typeface="Arial" charset="0"/>
              </a:defRPr>
            </a:lvl3pPr>
            <a:lvl4pPr marL="1371289" algn="l" rtl="0" fontAlgn="base">
              <a:spcBef>
                <a:spcPct val="0"/>
              </a:spcBef>
              <a:spcAft>
                <a:spcPct val="0"/>
              </a:spcAft>
              <a:defRPr kern="1200">
                <a:solidFill>
                  <a:schemeClr val="tx1"/>
                </a:solidFill>
                <a:latin typeface="Arial" charset="0"/>
                <a:ea typeface="+mn-ea"/>
                <a:cs typeface="Arial" charset="0"/>
              </a:defRPr>
            </a:lvl4pPr>
            <a:lvl5pPr marL="1828384" algn="l" rtl="0" fontAlgn="base">
              <a:spcBef>
                <a:spcPct val="0"/>
              </a:spcBef>
              <a:spcAft>
                <a:spcPct val="0"/>
              </a:spcAft>
              <a:defRPr kern="1200">
                <a:solidFill>
                  <a:schemeClr val="tx1"/>
                </a:solidFill>
                <a:latin typeface="Arial" charset="0"/>
                <a:ea typeface="+mn-ea"/>
                <a:cs typeface="Arial" charset="0"/>
              </a:defRPr>
            </a:lvl5pPr>
            <a:lvl6pPr marL="2285480" algn="l" defTabSz="914192" rtl="0" eaLnBrk="1" latinLnBrk="0" hangingPunct="1">
              <a:defRPr kern="1200">
                <a:solidFill>
                  <a:schemeClr val="tx1"/>
                </a:solidFill>
                <a:latin typeface="Arial" charset="0"/>
                <a:ea typeface="+mn-ea"/>
                <a:cs typeface="Arial" charset="0"/>
              </a:defRPr>
            </a:lvl6pPr>
            <a:lvl7pPr marL="2742576" algn="l" defTabSz="914192" rtl="0" eaLnBrk="1" latinLnBrk="0" hangingPunct="1">
              <a:defRPr kern="1200">
                <a:solidFill>
                  <a:schemeClr val="tx1"/>
                </a:solidFill>
                <a:latin typeface="Arial" charset="0"/>
                <a:ea typeface="+mn-ea"/>
                <a:cs typeface="Arial" charset="0"/>
              </a:defRPr>
            </a:lvl7pPr>
            <a:lvl8pPr marL="3199672" algn="l" defTabSz="914192" rtl="0" eaLnBrk="1" latinLnBrk="0" hangingPunct="1">
              <a:defRPr kern="1200">
                <a:solidFill>
                  <a:schemeClr val="tx1"/>
                </a:solidFill>
                <a:latin typeface="Arial" charset="0"/>
                <a:ea typeface="+mn-ea"/>
                <a:cs typeface="Arial" charset="0"/>
              </a:defRPr>
            </a:lvl8pPr>
            <a:lvl9pPr marL="3656768" algn="l" defTabSz="914192" rtl="0" eaLnBrk="1" latinLnBrk="0" hangingPunct="1">
              <a:defRPr kern="1200">
                <a:solidFill>
                  <a:schemeClr val="tx1"/>
                </a:solidFill>
                <a:latin typeface="Arial" charset="0"/>
                <a:ea typeface="+mn-ea"/>
                <a:cs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a:ln>
                  <a:noFill/>
                </a:ln>
                <a:solidFill>
                  <a:schemeClr val="tx1"/>
                </a:solidFill>
                <a:effectLst/>
                <a:latin typeface="+mj-lt"/>
                <a:ea typeface="游明朝" panose="02020400000000000000" pitchFamily="18" charset="-128"/>
              </a:rPr>
              <a:t>   ©</a:t>
            </a: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 2024 Accenture All Rights Reserved</a:t>
            </a:r>
            <a:endParaRPr kumimoji="0" lang="en-US" altLang="ja-JP" sz="800" b="0" i="0" u="none" strike="noStrike" cap="none" normalizeH="0" baseline="0">
              <a:ln>
                <a:noFill/>
              </a:ln>
              <a:solidFill>
                <a:schemeClr val="tx1"/>
              </a:solidFill>
              <a:effectLst/>
              <a:latin typeface="+mj-lt"/>
            </a:endParaRPr>
          </a:p>
        </p:txBody>
      </p:sp>
    </p:spTree>
    <p:extLst>
      <p:ext uri="{BB962C8B-B14F-4D97-AF65-F5344CB8AC3E}">
        <p14:creationId xmlns:p14="http://schemas.microsoft.com/office/powerpoint/2010/main" val="4012104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116323506"/>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88504" y="476672"/>
            <a:ext cx="8928000" cy="420752"/>
          </a:xfrm>
          <a:prstGeom prst="rect">
            <a:avLst/>
          </a:prstGeom>
        </p:spPr>
        <p:txBody>
          <a:bodyPr vert="horz" lIns="0" tIns="0" rIns="0" bIns="0" rtlCol="0" anchor="b" anchorCtr="0">
            <a:noAutofit/>
          </a:bodyPr>
          <a:lstStyle>
            <a:lvl1pPr>
              <a:spcBef>
                <a:spcPts val="0"/>
              </a:spcBef>
              <a:spcAft>
                <a:spcPts val="0"/>
              </a:spcAft>
              <a:defRPr lang="en-GB" dirty="0"/>
            </a:lvl1pPr>
          </a:lstStyle>
          <a:p>
            <a:pPr lvl="0"/>
            <a:r>
              <a:rPr lang="ja-JP" altLang="en-US"/>
              <a:t>マスター タイトルの書式設定</a:t>
            </a:r>
            <a:endParaRPr lang="en-GB"/>
          </a:p>
        </p:txBody>
      </p:sp>
      <p:sp>
        <p:nvSpPr>
          <p:cNvPr id="11" name="Text Placeholder 10"/>
          <p:cNvSpPr>
            <a:spLocks noGrp="1"/>
          </p:cNvSpPr>
          <p:nvPr>
            <p:ph type="body" idx="12"/>
          </p:nvPr>
        </p:nvSpPr>
        <p:spPr>
          <a:xfrm>
            <a:off x="488504" y="944949"/>
            <a:ext cx="8928000" cy="669414"/>
          </a:xfrm>
          <a:prstGeom prst="rect">
            <a:avLst/>
          </a:prstGeom>
        </p:spPr>
        <p:txBody>
          <a:bodyPr vert="horz" lIns="0" tIns="0" rIns="0" bIns="0" rtlCol="0">
            <a:noAutofit/>
          </a:bodyPr>
          <a:lstStyle>
            <a:lvl1pPr marR="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marR="0" lvl="0" defTabSz="990546" latinLnBrk="0">
              <a:lnSpc>
                <a:spcPct val="100000"/>
              </a:lnSpc>
              <a:buClrTx/>
              <a:buSzTx/>
              <a:tabLst/>
            </a:pPr>
            <a:r>
              <a:rPr kumimoji="1" lang="ja-JP" altLang="en-US"/>
              <a:t>マスター テキストの書式設定</a:t>
            </a:r>
          </a:p>
        </p:txBody>
      </p:sp>
      <p:sp>
        <p:nvSpPr>
          <p:cNvPr id="22" name="テキスト プレースホルダー 21"/>
          <p:cNvSpPr>
            <a:spLocks noGrp="1"/>
          </p:cNvSpPr>
          <p:nvPr userDrawn="1">
            <p:ph type="body" sz="quarter" idx="13"/>
          </p:nvPr>
        </p:nvSpPr>
        <p:spPr>
          <a:xfrm>
            <a:off x="488504" y="77844"/>
            <a:ext cx="8928000" cy="369332"/>
          </a:xfrm>
          <a:prstGeom prst="rect">
            <a:avLst/>
          </a:prstGeom>
        </p:spPr>
        <p:txBody>
          <a:bodyPr vert="horz" lIns="0" tIns="0" rIns="0" bIns="0" rtlCol="0" anchor="b">
            <a:noAutofit/>
          </a:bodyPr>
          <a:lstStyle>
            <a:lvl1pPr>
              <a:spcBef>
                <a:spcPts val="0"/>
              </a:spcBef>
              <a:spcAft>
                <a:spcPts val="0"/>
              </a:spcAft>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19" name="Rectangle 67">
            <a:extLst>
              <a:ext uri="{FF2B5EF4-FFF2-40B4-BE49-F238E27FC236}">
                <a16:creationId xmlns:a16="http://schemas.microsoft.com/office/drawing/2014/main" id="{05A93146-D08E-40E3-B7E3-11F6DA76B43C}"/>
              </a:ext>
            </a:extLst>
          </p:cNvPr>
          <p:cNvSpPr>
            <a:spLocks noChangeArrowheads="1"/>
          </p:cNvSpPr>
          <p:nvPr userDrawn="1"/>
        </p:nvSpPr>
        <p:spPr bwMode="auto">
          <a:xfrm>
            <a:off x="56456" y="6596842"/>
            <a:ext cx="4665060" cy="216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a:ln>
                  <a:noFill/>
                </a:ln>
                <a:solidFill>
                  <a:schemeClr val="tx1"/>
                </a:solidFill>
                <a:effectLst/>
                <a:latin typeface="+mj-lt"/>
                <a:ea typeface="游明朝" panose="02020400000000000000" pitchFamily="18" charset="-128"/>
              </a:rPr>
              <a:t>   ©</a:t>
            </a: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 2023 Accenture All Rights Reserved</a:t>
            </a:r>
            <a:endParaRPr kumimoji="0" lang="en-US" altLang="ja-JP" sz="800" b="0" i="0" u="none" strike="noStrike" cap="none" normalizeH="0" baseline="0">
              <a:ln>
                <a:noFill/>
              </a:ln>
              <a:solidFill>
                <a:schemeClr val="tx1"/>
              </a:solidFill>
              <a:effectLst/>
              <a:latin typeface="+mj-lt"/>
            </a:endParaRPr>
          </a:p>
        </p:txBody>
      </p:sp>
    </p:spTree>
    <p:extLst>
      <p:ext uri="{BB962C8B-B14F-4D97-AF65-F5344CB8AC3E}">
        <p14:creationId xmlns:p14="http://schemas.microsoft.com/office/powerpoint/2010/main" val="28336368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505442" y="5352776"/>
            <a:ext cx="5383660" cy="38048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505442" y="2375692"/>
            <a:ext cx="6679806" cy="1125316"/>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3200" b="1" kern="1200" spc="0" baseline="0" dirty="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ja-JP" altLang="en-US"/>
              <a:t>プロジェクト名</a:t>
            </a:r>
            <a:r>
              <a:rPr lang="en-US" altLang="ja-JP"/>
              <a:t>(32pt,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505442" y="587421"/>
            <a:ext cx="5383660" cy="442035"/>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ja-JP" altLang="en-US"/>
              <a:t>企業名 </a:t>
            </a:r>
            <a:r>
              <a:rPr lang="en-US" altLang="ja-JP"/>
              <a:t>or </a:t>
            </a:r>
            <a:r>
              <a:rPr lang="ja-JP" altLang="en-US"/>
              <a:t>企業ロゴ </a:t>
            </a:r>
            <a:r>
              <a:rPr lang="en-US" altLang="ja-JP"/>
              <a:t>(24pt,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5320042" y="955525"/>
            <a:ext cx="4311191" cy="4573173"/>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p>
          </p:txBody>
        </p:sp>
      </p:grpSp>
      <p:grpSp>
        <p:nvGrpSpPr>
          <p:cNvPr id="11" name="Group 4">
            <a:extLst>
              <a:ext uri="{FF2B5EF4-FFF2-40B4-BE49-F238E27FC236}">
                <a16:creationId xmlns:a16="http://schemas.microsoft.com/office/drawing/2014/main" id="{432D14EB-EBF3-4AD2-9834-5077C457562B}"/>
              </a:ext>
            </a:extLst>
          </p:cNvPr>
          <p:cNvGrpSpPr>
            <a:grpSpLocks noChangeAspect="1"/>
          </p:cNvGrpSpPr>
          <p:nvPr userDrawn="1"/>
        </p:nvGrpSpPr>
        <p:grpSpPr>
          <a:xfrm>
            <a:off x="7136499" y="5846780"/>
            <a:ext cx="2250858" cy="604157"/>
            <a:chOff x="9563100" y="1673029"/>
            <a:chExt cx="1389888" cy="373063"/>
          </a:xfrm>
        </p:grpSpPr>
        <p:pic>
          <p:nvPicPr>
            <p:cNvPr id="13" name="Picture 5">
              <a:extLst>
                <a:ext uri="{FF2B5EF4-FFF2-40B4-BE49-F238E27FC236}">
                  <a16:creationId xmlns:a16="http://schemas.microsoft.com/office/drawing/2014/main" id="{771E51E6-1FF7-4670-B118-1DC4EF473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14" name="Freeform 5">
              <a:extLst>
                <a:ext uri="{FF2B5EF4-FFF2-40B4-BE49-F238E27FC236}">
                  <a16:creationId xmlns:a16="http://schemas.microsoft.com/office/drawing/2014/main" id="{EBD7567B-5C24-4499-85F8-C4116A8A715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0111370"/>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116323506"/>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88504" y="476672"/>
            <a:ext cx="8928000" cy="420752"/>
          </a:xfrm>
          <a:prstGeom prst="rect">
            <a:avLst/>
          </a:prstGeom>
        </p:spPr>
        <p:txBody>
          <a:bodyPr vert="horz" lIns="0" tIns="0" rIns="0" bIns="0" rtlCol="0" anchor="b" anchorCtr="0">
            <a:noAutofit/>
          </a:bodyPr>
          <a:lstStyle>
            <a:lvl1pPr>
              <a:spcBef>
                <a:spcPts val="0"/>
              </a:spcBef>
              <a:spcAft>
                <a:spcPts val="0"/>
              </a:spcAft>
              <a:defRPr lang="en-GB" dirty="0"/>
            </a:lvl1pPr>
          </a:lstStyle>
          <a:p>
            <a:pPr lvl="0"/>
            <a:r>
              <a:rPr lang="ja-JP" altLang="en-US"/>
              <a:t>マスター タイトルの書式設定</a:t>
            </a:r>
            <a:endParaRPr lang="en-GB"/>
          </a:p>
        </p:txBody>
      </p:sp>
      <p:sp>
        <p:nvSpPr>
          <p:cNvPr id="11" name="Text Placeholder 10"/>
          <p:cNvSpPr>
            <a:spLocks noGrp="1"/>
          </p:cNvSpPr>
          <p:nvPr>
            <p:ph type="body" idx="12"/>
          </p:nvPr>
        </p:nvSpPr>
        <p:spPr>
          <a:xfrm>
            <a:off x="488504" y="944949"/>
            <a:ext cx="8928000" cy="669414"/>
          </a:xfrm>
          <a:prstGeom prst="rect">
            <a:avLst/>
          </a:prstGeom>
        </p:spPr>
        <p:txBody>
          <a:bodyPr vert="horz" lIns="0" tIns="0" rIns="0" bIns="0" rtlCol="0">
            <a:noAutofit/>
          </a:bodyPr>
          <a:lstStyle>
            <a:lvl1pPr marR="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marR="0" lvl="0" defTabSz="990546" latinLnBrk="0">
              <a:lnSpc>
                <a:spcPct val="100000"/>
              </a:lnSpc>
              <a:buClrTx/>
              <a:buSzTx/>
              <a:tabLst/>
            </a:pPr>
            <a:r>
              <a:rPr kumimoji="1" lang="ja-JP" altLang="en-US"/>
              <a:t>マスター テキストの書式設定</a:t>
            </a:r>
          </a:p>
        </p:txBody>
      </p:sp>
      <p:sp>
        <p:nvSpPr>
          <p:cNvPr id="22" name="テキスト プレースホルダー 21"/>
          <p:cNvSpPr>
            <a:spLocks noGrp="1"/>
          </p:cNvSpPr>
          <p:nvPr userDrawn="1">
            <p:ph type="body" sz="quarter" idx="13"/>
          </p:nvPr>
        </p:nvSpPr>
        <p:spPr>
          <a:xfrm>
            <a:off x="488504" y="77844"/>
            <a:ext cx="8928000" cy="369332"/>
          </a:xfrm>
          <a:prstGeom prst="rect">
            <a:avLst/>
          </a:prstGeom>
        </p:spPr>
        <p:txBody>
          <a:bodyPr vert="horz" lIns="0" tIns="0" rIns="0" bIns="0" rtlCol="0" anchor="b">
            <a:noAutofit/>
          </a:bodyPr>
          <a:lstStyle>
            <a:lvl1pPr>
              <a:spcBef>
                <a:spcPts val="0"/>
              </a:spcBef>
              <a:spcAft>
                <a:spcPts val="0"/>
              </a:spcAft>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8" name="正方形/長方形 7">
            <a:extLst>
              <a:ext uri="{FF2B5EF4-FFF2-40B4-BE49-F238E27FC236}">
                <a16:creationId xmlns:a16="http://schemas.microsoft.com/office/drawing/2014/main" id="{12906456-D3DD-4442-83E0-BA6425182F3D}"/>
              </a:ext>
            </a:extLst>
          </p:cNvPr>
          <p:cNvSpPr/>
          <p:nvPr userDrawn="1"/>
        </p:nvSpPr>
        <p:spPr bwMode="auto">
          <a:xfrm>
            <a:off x="-879584" y="6040398"/>
            <a:ext cx="576000" cy="576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9" name="正方形/長方形 8">
            <a:extLst>
              <a:ext uri="{FF2B5EF4-FFF2-40B4-BE49-F238E27FC236}">
                <a16:creationId xmlns:a16="http://schemas.microsoft.com/office/drawing/2014/main" id="{7D3C50D3-6FCF-426C-A8CD-58001A1DA770}"/>
              </a:ext>
            </a:extLst>
          </p:cNvPr>
          <p:cNvSpPr/>
          <p:nvPr userDrawn="1"/>
        </p:nvSpPr>
        <p:spPr bwMode="auto">
          <a:xfrm>
            <a:off x="-879584" y="4617892"/>
            <a:ext cx="576000" cy="576000"/>
          </a:xfrm>
          <a:prstGeom prst="rect">
            <a:avLst/>
          </a:prstGeom>
          <a:solidFill>
            <a:srgbClr val="5A5A5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2" name="正方形/長方形 11">
            <a:extLst>
              <a:ext uri="{FF2B5EF4-FFF2-40B4-BE49-F238E27FC236}">
                <a16:creationId xmlns:a16="http://schemas.microsoft.com/office/drawing/2014/main" id="{E65AF459-1382-45FE-8AF0-FCF18D1E72A0}"/>
              </a:ext>
            </a:extLst>
          </p:cNvPr>
          <p:cNvSpPr/>
          <p:nvPr userDrawn="1"/>
        </p:nvSpPr>
        <p:spPr bwMode="auto">
          <a:xfrm>
            <a:off x="-879584" y="2484133"/>
            <a:ext cx="576000" cy="576000"/>
          </a:xfrm>
          <a:prstGeom prst="rect">
            <a:avLst/>
          </a:prstGeom>
          <a:solidFill>
            <a:srgbClr val="A1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3" name="正方形/長方形 12">
            <a:extLst>
              <a:ext uri="{FF2B5EF4-FFF2-40B4-BE49-F238E27FC236}">
                <a16:creationId xmlns:a16="http://schemas.microsoft.com/office/drawing/2014/main" id="{B07A765F-35EF-4253-9A19-35E2FAFD8A3E}"/>
              </a:ext>
            </a:extLst>
          </p:cNvPr>
          <p:cNvSpPr/>
          <p:nvPr userDrawn="1"/>
        </p:nvSpPr>
        <p:spPr bwMode="auto">
          <a:xfrm>
            <a:off x="-879584" y="5329145"/>
            <a:ext cx="576000" cy="576000"/>
          </a:xfrm>
          <a:prstGeom prst="rect">
            <a:avLst/>
          </a:prstGeom>
          <a:solidFill>
            <a:srgbClr val="9696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5" name="正方形/長方形 14">
            <a:extLst>
              <a:ext uri="{FF2B5EF4-FFF2-40B4-BE49-F238E27FC236}">
                <a16:creationId xmlns:a16="http://schemas.microsoft.com/office/drawing/2014/main" id="{F1E34B52-515B-4F68-BC82-4B96533930ED}"/>
              </a:ext>
            </a:extLst>
          </p:cNvPr>
          <p:cNvSpPr/>
          <p:nvPr userDrawn="1"/>
        </p:nvSpPr>
        <p:spPr bwMode="auto">
          <a:xfrm>
            <a:off x="-879584" y="3195386"/>
            <a:ext cx="576000" cy="576000"/>
          </a:xfrm>
          <a:prstGeom prst="rect">
            <a:avLst/>
          </a:prstGeom>
          <a:solidFill>
            <a:srgbClr val="008E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6" name="正方形/長方形 15">
            <a:extLst>
              <a:ext uri="{FF2B5EF4-FFF2-40B4-BE49-F238E27FC236}">
                <a16:creationId xmlns:a16="http://schemas.microsoft.com/office/drawing/2014/main" id="{60701147-FAF6-4FF9-A5CD-44453C667421}"/>
              </a:ext>
            </a:extLst>
          </p:cNvPr>
          <p:cNvSpPr/>
          <p:nvPr userDrawn="1"/>
        </p:nvSpPr>
        <p:spPr bwMode="auto">
          <a:xfrm>
            <a:off x="-879584" y="3906639"/>
            <a:ext cx="576000" cy="576000"/>
          </a:xfrm>
          <a:prstGeom prst="rect">
            <a:avLst/>
          </a:prstGeom>
          <a:solidFill>
            <a:srgbClr val="8BE1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7" name="正方形/長方形 16">
            <a:extLst>
              <a:ext uri="{FF2B5EF4-FFF2-40B4-BE49-F238E27FC236}">
                <a16:creationId xmlns:a16="http://schemas.microsoft.com/office/drawing/2014/main" id="{01F64509-B6E4-4045-BC34-2D4BABAF7998}"/>
              </a:ext>
            </a:extLst>
          </p:cNvPr>
          <p:cNvSpPr/>
          <p:nvPr userDrawn="1"/>
        </p:nvSpPr>
        <p:spPr bwMode="auto">
          <a:xfrm>
            <a:off x="-879584" y="1772880"/>
            <a:ext cx="576000" cy="576000"/>
          </a:xfrm>
          <a:prstGeom prst="rect">
            <a:avLst/>
          </a:prstGeom>
          <a:solidFill>
            <a:srgbClr val="46007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9" name="Rectangle 67">
            <a:extLst>
              <a:ext uri="{FF2B5EF4-FFF2-40B4-BE49-F238E27FC236}">
                <a16:creationId xmlns:a16="http://schemas.microsoft.com/office/drawing/2014/main" id="{05A93146-D08E-40E3-B7E3-11F6DA76B43C}"/>
              </a:ext>
            </a:extLst>
          </p:cNvPr>
          <p:cNvSpPr>
            <a:spLocks noChangeArrowheads="1"/>
          </p:cNvSpPr>
          <p:nvPr userDrawn="1"/>
        </p:nvSpPr>
        <p:spPr bwMode="auto">
          <a:xfrm>
            <a:off x="56456" y="6596842"/>
            <a:ext cx="4665060" cy="216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a:ln>
                  <a:noFill/>
                </a:ln>
                <a:solidFill>
                  <a:schemeClr val="tx1"/>
                </a:solidFill>
                <a:effectLst/>
                <a:latin typeface="+mj-lt"/>
                <a:ea typeface="游明朝" panose="02020400000000000000" pitchFamily="18" charset="-128"/>
              </a:rPr>
              <a:t>   ©</a:t>
            </a: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 2023 Accenture All Rights Reserved</a:t>
            </a:r>
            <a:endParaRPr kumimoji="0" lang="en-US" altLang="ja-JP" sz="800" b="0" i="0" u="none" strike="noStrike" cap="none" normalizeH="0" baseline="0">
              <a:ln>
                <a:noFill/>
              </a:ln>
              <a:solidFill>
                <a:schemeClr val="tx1"/>
              </a:solidFill>
              <a:effectLst/>
              <a:latin typeface="+mj-lt"/>
            </a:endParaRPr>
          </a:p>
        </p:txBody>
      </p:sp>
      <p:sp>
        <p:nvSpPr>
          <p:cNvPr id="108" name="正方形/長方形 107">
            <a:extLst>
              <a:ext uri="{FF2B5EF4-FFF2-40B4-BE49-F238E27FC236}">
                <a16:creationId xmlns:a16="http://schemas.microsoft.com/office/drawing/2014/main" id="{9D73520D-FEB3-410E-AA07-FE7E01E38544}"/>
              </a:ext>
            </a:extLst>
          </p:cNvPr>
          <p:cNvSpPr/>
          <p:nvPr userDrawn="1"/>
        </p:nvSpPr>
        <p:spPr bwMode="auto">
          <a:xfrm>
            <a:off x="-879584" y="1061627"/>
            <a:ext cx="576000" cy="576000"/>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213733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58721" y="131245"/>
            <a:ext cx="8280920" cy="552450"/>
          </a:xfrm>
        </p:spPr>
        <p:txBody>
          <a:bodyPr/>
          <a:lstStyle>
            <a:lvl1pPr>
              <a:defRPr>
                <a:latin typeface="HGPｺﾞｼｯｸE" pitchFamily="50" charset="-128"/>
                <a:ea typeface="HGPｺﾞｼｯｸE" pitchFamily="50" charset="-128"/>
                <a:cs typeface="Arial" pitchFamily="34" charset="0"/>
              </a:defRPr>
            </a:lvl1pPr>
          </a:lstStyle>
          <a:p>
            <a:r>
              <a:rPr lang="ja-JP" altLang="en-US"/>
              <a:t>マスタ タイトルの書式設定</a:t>
            </a:r>
          </a:p>
        </p:txBody>
      </p:sp>
      <p:sp>
        <p:nvSpPr>
          <p:cNvPr id="3" name="コンテンツ プレースホルダ 2"/>
          <p:cNvSpPr>
            <a:spLocks noGrp="1"/>
          </p:cNvSpPr>
          <p:nvPr>
            <p:ph idx="1"/>
          </p:nvPr>
        </p:nvSpPr>
        <p:spPr>
          <a:xfrm>
            <a:off x="99775" y="806242"/>
            <a:ext cx="9676076" cy="417513"/>
          </a:xfrm>
        </p:spPr>
        <p:txBody>
          <a:bodyPr/>
          <a:lstStyle>
            <a:lvl1pPr>
              <a:spcBef>
                <a:spcPts val="0"/>
              </a:spcBef>
              <a:defRPr sz="1600" b="0">
                <a:latin typeface="HGPｺﾞｼｯｸE" pitchFamily="50" charset="-128"/>
                <a:ea typeface="HGPｺﾞｼｯｸE" pitchFamily="50" charset="-128"/>
                <a:cs typeface="Arial" pitchFamily="34" charset="0"/>
              </a:defRPr>
            </a:lvl1pPr>
            <a:lvl2pPr>
              <a:spcBef>
                <a:spcPts val="0"/>
              </a:spcBef>
              <a:defRPr sz="1600"/>
            </a:lvl2pPr>
            <a:lvl3pPr>
              <a:spcBef>
                <a:spcPts val="0"/>
              </a:spcBef>
              <a:defRPr sz="1600"/>
            </a:lvl3pPr>
            <a:lvl4pPr>
              <a:spcBef>
                <a:spcPts val="0"/>
              </a:spcBef>
              <a:defRPr sz="1600"/>
            </a:lvl4pPr>
            <a:lvl5pPr>
              <a:spcBef>
                <a:spcPts val="0"/>
              </a:spcBef>
              <a:defRPr sz="1600"/>
            </a:lvl5pPr>
          </a:lstStyle>
          <a:p>
            <a:pPr lvl="0"/>
            <a:r>
              <a:rPr lang="ja-JP" altLang="en-US"/>
              <a:t>マスタ テキストの書式設定</a:t>
            </a:r>
          </a:p>
        </p:txBody>
      </p:sp>
    </p:spTree>
    <p:extLst>
      <p:ext uri="{BB962C8B-B14F-4D97-AF65-F5344CB8AC3E}">
        <p14:creationId xmlns:p14="http://schemas.microsoft.com/office/powerpoint/2010/main" val="7271784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505442" y="5352776"/>
            <a:ext cx="5383660" cy="380480"/>
          </a:xfrm>
          <a:prstGeom prst="rect">
            <a:avLst/>
          </a:prstGeom>
        </p:spPr>
        <p:txBody>
          <a:bodyPr lIns="36000" tIns="36000" rIns="36000" bIns="36000" anchor="b"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505442" y="2866342"/>
            <a:ext cx="6679806" cy="1125316"/>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kumimoji="1" lang="en-GB" sz="3600" b="1" kern="1200" spc="0" baseline="0" dirty="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ja-JP" altLang="en-US"/>
              <a:t>プロジェクト名</a:t>
            </a:r>
            <a:r>
              <a:rPr lang="en-US" altLang="ja-JP"/>
              <a:t>(32pt,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505441" y="745857"/>
            <a:ext cx="8164639" cy="442035"/>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ja-JP" altLang="en-US"/>
              <a:t>企業名 </a:t>
            </a:r>
            <a:r>
              <a:rPr lang="en-US" altLang="ja-JP"/>
              <a:t>or </a:t>
            </a:r>
            <a:r>
              <a:rPr lang="ja-JP" altLang="en-US"/>
              <a:t>企業ロゴ </a:t>
            </a:r>
            <a:r>
              <a:rPr lang="en-US" altLang="ja-JP"/>
              <a:t>(24pt,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5320042" y="1142414"/>
            <a:ext cx="4311191" cy="4573173"/>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p>
          </p:txBody>
        </p:sp>
      </p:grpSp>
      <p:grpSp>
        <p:nvGrpSpPr>
          <p:cNvPr id="11" name="Group 4">
            <a:extLst>
              <a:ext uri="{FF2B5EF4-FFF2-40B4-BE49-F238E27FC236}">
                <a16:creationId xmlns:a16="http://schemas.microsoft.com/office/drawing/2014/main" id="{432D14EB-EBF3-4AD2-9834-5077C457562B}"/>
              </a:ext>
            </a:extLst>
          </p:cNvPr>
          <p:cNvGrpSpPr>
            <a:grpSpLocks noChangeAspect="1"/>
          </p:cNvGrpSpPr>
          <p:nvPr userDrawn="1"/>
        </p:nvGrpSpPr>
        <p:grpSpPr>
          <a:xfrm>
            <a:off x="7136499" y="5846780"/>
            <a:ext cx="2250858" cy="604157"/>
            <a:chOff x="9563100" y="1673029"/>
            <a:chExt cx="1389888" cy="373063"/>
          </a:xfrm>
        </p:grpSpPr>
        <p:pic>
          <p:nvPicPr>
            <p:cNvPr id="13" name="Picture 5">
              <a:extLst>
                <a:ext uri="{FF2B5EF4-FFF2-40B4-BE49-F238E27FC236}">
                  <a16:creationId xmlns:a16="http://schemas.microsoft.com/office/drawing/2014/main" id="{771E51E6-1FF7-4670-B118-1DC4EF473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14" name="Freeform 5">
              <a:extLst>
                <a:ext uri="{FF2B5EF4-FFF2-40B4-BE49-F238E27FC236}">
                  <a16:creationId xmlns:a16="http://schemas.microsoft.com/office/drawing/2014/main" id="{EBD7567B-5C24-4499-85F8-C4116A8A715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 name="Rectangle 67">
            <a:extLst>
              <a:ext uri="{FF2B5EF4-FFF2-40B4-BE49-F238E27FC236}">
                <a16:creationId xmlns:a16="http://schemas.microsoft.com/office/drawing/2014/main" id="{C964AD37-26FF-4BC7-9DFF-9F633210A446}"/>
              </a:ext>
            </a:extLst>
          </p:cNvPr>
          <p:cNvSpPr>
            <a:spLocks noChangeArrowheads="1"/>
          </p:cNvSpPr>
          <p:nvPr userDrawn="1"/>
        </p:nvSpPr>
        <p:spPr bwMode="auto">
          <a:xfrm>
            <a:off x="273000" y="6681386"/>
            <a:ext cx="4480394"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a:ln>
                  <a:noFill/>
                </a:ln>
                <a:solidFill>
                  <a:schemeClr val="tx1"/>
                </a:solidFill>
                <a:effectLst/>
                <a:latin typeface="+mj-lt"/>
                <a:ea typeface="游明朝" panose="02020400000000000000" pitchFamily="18" charset="-128"/>
              </a:rPr>
              <a:t>   ©</a:t>
            </a: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 2023 Accenture All Rights Reserved</a:t>
            </a:r>
            <a:endParaRPr kumimoji="0" lang="en-US" altLang="ja-JP" sz="800" b="0" i="0" u="none" strike="noStrike" cap="none" normalizeH="0" baseline="0">
              <a:ln>
                <a:noFill/>
              </a:ln>
              <a:solidFill>
                <a:schemeClr val="tx1"/>
              </a:solidFill>
              <a:effectLst/>
              <a:latin typeface="+mj-lt"/>
            </a:endParaRPr>
          </a:p>
        </p:txBody>
      </p:sp>
    </p:spTree>
    <p:extLst>
      <p:ext uri="{BB962C8B-B14F-4D97-AF65-F5344CB8AC3E}">
        <p14:creationId xmlns:p14="http://schemas.microsoft.com/office/powerpoint/2010/main" val="3525777175"/>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116323506"/>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88504" y="476672"/>
            <a:ext cx="8928000" cy="420752"/>
          </a:xfrm>
          <a:prstGeom prst="rect">
            <a:avLst/>
          </a:prstGeom>
        </p:spPr>
        <p:txBody>
          <a:bodyPr vert="horz" lIns="0" tIns="0" rIns="0" bIns="0" rtlCol="0" anchor="b" anchorCtr="0">
            <a:noAutofit/>
          </a:bodyPr>
          <a:lstStyle>
            <a:lvl1pPr>
              <a:spcBef>
                <a:spcPts val="0"/>
              </a:spcBef>
              <a:spcAft>
                <a:spcPts val="0"/>
              </a:spcAft>
              <a:defRPr lang="en-GB" dirty="0"/>
            </a:lvl1pPr>
          </a:lstStyle>
          <a:p>
            <a:pPr lvl="0"/>
            <a:r>
              <a:rPr lang="ja-JP" altLang="en-US"/>
              <a:t>マスター タイトルの書式設定</a:t>
            </a:r>
            <a:endParaRPr lang="en-GB"/>
          </a:p>
        </p:txBody>
      </p:sp>
      <p:sp>
        <p:nvSpPr>
          <p:cNvPr id="11" name="Text Placeholder 10"/>
          <p:cNvSpPr>
            <a:spLocks noGrp="1"/>
          </p:cNvSpPr>
          <p:nvPr>
            <p:ph type="body" idx="12"/>
          </p:nvPr>
        </p:nvSpPr>
        <p:spPr>
          <a:xfrm>
            <a:off x="488504" y="944949"/>
            <a:ext cx="8928000" cy="669414"/>
          </a:xfrm>
          <a:prstGeom prst="rect">
            <a:avLst/>
          </a:prstGeom>
        </p:spPr>
        <p:txBody>
          <a:bodyPr vert="horz" lIns="0" tIns="0" rIns="0" bIns="0" rtlCol="0">
            <a:noAutofit/>
          </a:bodyPr>
          <a:lstStyle>
            <a:lvl1pPr marR="0" defTabSz="990546"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marR="0" lvl="0" defTabSz="990546" latinLnBrk="0">
              <a:lnSpc>
                <a:spcPct val="100000"/>
              </a:lnSpc>
              <a:buClrTx/>
              <a:buSzTx/>
              <a:tabLst/>
            </a:pPr>
            <a:r>
              <a:rPr kumimoji="1" lang="ja-JP" altLang="en-US"/>
              <a:t>マスター テキストの書式設定</a:t>
            </a:r>
          </a:p>
        </p:txBody>
      </p:sp>
      <p:sp>
        <p:nvSpPr>
          <p:cNvPr id="22" name="テキスト プレースホルダー 21"/>
          <p:cNvSpPr>
            <a:spLocks noGrp="1"/>
          </p:cNvSpPr>
          <p:nvPr userDrawn="1">
            <p:ph type="body" sz="quarter" idx="13"/>
          </p:nvPr>
        </p:nvSpPr>
        <p:spPr>
          <a:xfrm>
            <a:off x="488504" y="77844"/>
            <a:ext cx="8928000" cy="369332"/>
          </a:xfrm>
          <a:prstGeom prst="rect">
            <a:avLst/>
          </a:prstGeom>
        </p:spPr>
        <p:txBody>
          <a:bodyPr vert="horz" lIns="0" tIns="0" rIns="0" bIns="0" rtlCol="0" anchor="b">
            <a:noAutofit/>
          </a:bodyPr>
          <a:lstStyle>
            <a:lvl1pPr>
              <a:spcBef>
                <a:spcPts val="0"/>
              </a:spcBef>
              <a:spcAft>
                <a:spcPts val="0"/>
              </a:spcAft>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7" y="6623714"/>
            <a:ext cx="287507" cy="226591"/>
          </a:xfrm>
          <a:prstGeom prst="rect">
            <a:avLst/>
          </a:prstGeom>
          <a:noFill/>
        </p:spPr>
        <p:txBody>
          <a:bodyPr wrap="none" lIns="36000" tIns="36000" rIns="36000" bIns="36000" rtlCol="0">
            <a:spAutoFit/>
          </a:bodyPr>
          <a:lstStyle/>
          <a:p>
            <a:pPr algn="ct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8" name="正方形/長方形 7">
            <a:extLst>
              <a:ext uri="{FF2B5EF4-FFF2-40B4-BE49-F238E27FC236}">
                <a16:creationId xmlns:a16="http://schemas.microsoft.com/office/drawing/2014/main" id="{12906456-D3DD-4442-83E0-BA6425182F3D}"/>
              </a:ext>
            </a:extLst>
          </p:cNvPr>
          <p:cNvSpPr/>
          <p:nvPr userDrawn="1"/>
        </p:nvSpPr>
        <p:spPr bwMode="auto">
          <a:xfrm>
            <a:off x="-879584" y="6040398"/>
            <a:ext cx="576000" cy="576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9" name="正方形/長方形 8">
            <a:extLst>
              <a:ext uri="{FF2B5EF4-FFF2-40B4-BE49-F238E27FC236}">
                <a16:creationId xmlns:a16="http://schemas.microsoft.com/office/drawing/2014/main" id="{7D3C50D3-6FCF-426C-A8CD-58001A1DA770}"/>
              </a:ext>
            </a:extLst>
          </p:cNvPr>
          <p:cNvSpPr/>
          <p:nvPr userDrawn="1"/>
        </p:nvSpPr>
        <p:spPr bwMode="auto">
          <a:xfrm>
            <a:off x="-879584" y="4617892"/>
            <a:ext cx="576000" cy="576000"/>
          </a:xfrm>
          <a:prstGeom prst="rect">
            <a:avLst/>
          </a:prstGeom>
          <a:solidFill>
            <a:srgbClr val="5A5A5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2" name="正方形/長方形 11">
            <a:extLst>
              <a:ext uri="{FF2B5EF4-FFF2-40B4-BE49-F238E27FC236}">
                <a16:creationId xmlns:a16="http://schemas.microsoft.com/office/drawing/2014/main" id="{E65AF459-1382-45FE-8AF0-FCF18D1E72A0}"/>
              </a:ext>
            </a:extLst>
          </p:cNvPr>
          <p:cNvSpPr/>
          <p:nvPr userDrawn="1"/>
        </p:nvSpPr>
        <p:spPr bwMode="auto">
          <a:xfrm>
            <a:off x="-879584" y="2484133"/>
            <a:ext cx="576000" cy="576000"/>
          </a:xfrm>
          <a:prstGeom prst="rect">
            <a:avLst/>
          </a:prstGeom>
          <a:solidFill>
            <a:srgbClr val="A1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3" name="正方形/長方形 12">
            <a:extLst>
              <a:ext uri="{FF2B5EF4-FFF2-40B4-BE49-F238E27FC236}">
                <a16:creationId xmlns:a16="http://schemas.microsoft.com/office/drawing/2014/main" id="{B07A765F-35EF-4253-9A19-35E2FAFD8A3E}"/>
              </a:ext>
            </a:extLst>
          </p:cNvPr>
          <p:cNvSpPr/>
          <p:nvPr userDrawn="1"/>
        </p:nvSpPr>
        <p:spPr bwMode="auto">
          <a:xfrm>
            <a:off x="-879584" y="5329145"/>
            <a:ext cx="576000" cy="576000"/>
          </a:xfrm>
          <a:prstGeom prst="rect">
            <a:avLst/>
          </a:prstGeom>
          <a:solidFill>
            <a:srgbClr val="9696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5" name="正方形/長方形 14">
            <a:extLst>
              <a:ext uri="{FF2B5EF4-FFF2-40B4-BE49-F238E27FC236}">
                <a16:creationId xmlns:a16="http://schemas.microsoft.com/office/drawing/2014/main" id="{F1E34B52-515B-4F68-BC82-4B96533930ED}"/>
              </a:ext>
            </a:extLst>
          </p:cNvPr>
          <p:cNvSpPr/>
          <p:nvPr userDrawn="1"/>
        </p:nvSpPr>
        <p:spPr bwMode="auto">
          <a:xfrm>
            <a:off x="-879584" y="3195386"/>
            <a:ext cx="576000" cy="576000"/>
          </a:xfrm>
          <a:prstGeom prst="rect">
            <a:avLst/>
          </a:prstGeom>
          <a:solidFill>
            <a:srgbClr val="008E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6" name="正方形/長方形 15">
            <a:extLst>
              <a:ext uri="{FF2B5EF4-FFF2-40B4-BE49-F238E27FC236}">
                <a16:creationId xmlns:a16="http://schemas.microsoft.com/office/drawing/2014/main" id="{60701147-FAF6-4FF9-A5CD-44453C667421}"/>
              </a:ext>
            </a:extLst>
          </p:cNvPr>
          <p:cNvSpPr/>
          <p:nvPr userDrawn="1"/>
        </p:nvSpPr>
        <p:spPr bwMode="auto">
          <a:xfrm>
            <a:off x="-879584" y="3906639"/>
            <a:ext cx="576000" cy="576000"/>
          </a:xfrm>
          <a:prstGeom prst="rect">
            <a:avLst/>
          </a:prstGeom>
          <a:solidFill>
            <a:srgbClr val="8BE1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7" name="正方形/長方形 16">
            <a:extLst>
              <a:ext uri="{FF2B5EF4-FFF2-40B4-BE49-F238E27FC236}">
                <a16:creationId xmlns:a16="http://schemas.microsoft.com/office/drawing/2014/main" id="{01F64509-B6E4-4045-BC34-2D4BABAF7998}"/>
              </a:ext>
            </a:extLst>
          </p:cNvPr>
          <p:cNvSpPr/>
          <p:nvPr userDrawn="1"/>
        </p:nvSpPr>
        <p:spPr bwMode="auto">
          <a:xfrm>
            <a:off x="-879584" y="1772880"/>
            <a:ext cx="576000" cy="576000"/>
          </a:xfrm>
          <a:prstGeom prst="rect">
            <a:avLst/>
          </a:prstGeom>
          <a:solidFill>
            <a:srgbClr val="46007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9" name="Rectangle 67">
            <a:extLst>
              <a:ext uri="{FF2B5EF4-FFF2-40B4-BE49-F238E27FC236}">
                <a16:creationId xmlns:a16="http://schemas.microsoft.com/office/drawing/2014/main" id="{05A93146-D08E-40E3-B7E3-11F6DA76B43C}"/>
              </a:ext>
            </a:extLst>
          </p:cNvPr>
          <p:cNvSpPr>
            <a:spLocks noChangeArrowheads="1"/>
          </p:cNvSpPr>
          <p:nvPr userDrawn="1"/>
        </p:nvSpPr>
        <p:spPr bwMode="auto">
          <a:xfrm>
            <a:off x="56456" y="6596842"/>
            <a:ext cx="4665060" cy="216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Proprietary and Highly Confidential to Accenture.</a:t>
            </a:r>
            <a:r>
              <a:rPr kumimoji="0" lang="en-US" altLang="ja-JP" sz="800" b="0" i="0" u="none" strike="noStrike" cap="none" normalizeH="0" baseline="0">
                <a:ln>
                  <a:noFill/>
                </a:ln>
                <a:solidFill>
                  <a:schemeClr val="tx1"/>
                </a:solidFill>
                <a:effectLst/>
                <a:latin typeface="+mj-lt"/>
                <a:ea typeface="游明朝" panose="02020400000000000000" pitchFamily="18" charset="-128"/>
              </a:rPr>
              <a:t>   ©</a:t>
            </a:r>
            <a:r>
              <a:rPr kumimoji="0" lang="en-US" altLang="ja-JP" sz="800" b="0" i="0" u="none" strike="noStrike" cap="none" normalizeH="0" baseline="0">
                <a:ln>
                  <a:noFill/>
                </a:ln>
                <a:solidFill>
                  <a:schemeClr val="tx1"/>
                </a:solidFill>
                <a:effectLst/>
                <a:latin typeface="+mj-lt"/>
                <a:ea typeface="ＭＳ Ｐゴシック" panose="020B0600070205080204" pitchFamily="50" charset="-128"/>
              </a:rPr>
              <a:t> 2020 Accenture All Rights Reserved</a:t>
            </a:r>
            <a:endParaRPr kumimoji="0" lang="en-US" altLang="ja-JP" sz="800" b="0" i="0" u="none" strike="noStrike" cap="none" normalizeH="0" baseline="0">
              <a:ln>
                <a:noFill/>
              </a:ln>
              <a:solidFill>
                <a:schemeClr val="tx1"/>
              </a:solidFill>
              <a:effectLst/>
              <a:latin typeface="+mj-lt"/>
            </a:endParaRPr>
          </a:p>
        </p:txBody>
      </p:sp>
      <p:sp>
        <p:nvSpPr>
          <p:cNvPr id="108" name="正方形/長方形 107">
            <a:extLst>
              <a:ext uri="{FF2B5EF4-FFF2-40B4-BE49-F238E27FC236}">
                <a16:creationId xmlns:a16="http://schemas.microsoft.com/office/drawing/2014/main" id="{9D73520D-FEB3-410E-AA07-FE7E01E38544}"/>
              </a:ext>
            </a:extLst>
          </p:cNvPr>
          <p:cNvSpPr/>
          <p:nvPr userDrawn="1"/>
        </p:nvSpPr>
        <p:spPr bwMode="auto">
          <a:xfrm>
            <a:off x="-879584" y="1061627"/>
            <a:ext cx="576000" cy="576000"/>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3552249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505442" y="5352776"/>
            <a:ext cx="5383660" cy="38048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505442" y="2375692"/>
            <a:ext cx="6679806" cy="1125316"/>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3200" b="1" kern="1200" spc="0" baseline="0" dirty="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ja-JP" altLang="en-US"/>
              <a:t>プロジェクト名</a:t>
            </a:r>
            <a:r>
              <a:rPr lang="en-US" altLang="ja-JP"/>
              <a:t>(32pt,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505442" y="587421"/>
            <a:ext cx="5383660" cy="442035"/>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ja-JP" altLang="en-US"/>
              <a:t>企業名 </a:t>
            </a:r>
            <a:r>
              <a:rPr lang="en-US" altLang="ja-JP"/>
              <a:t>or </a:t>
            </a:r>
            <a:r>
              <a:rPr lang="ja-JP" altLang="en-US"/>
              <a:t>企業ロゴ </a:t>
            </a:r>
            <a:r>
              <a:rPr lang="en-US" altLang="ja-JP"/>
              <a:t>(24pt,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5320042" y="955525"/>
            <a:ext cx="4311191" cy="4573173"/>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p>
          </p:txBody>
        </p:sp>
      </p:grpSp>
      <p:grpSp>
        <p:nvGrpSpPr>
          <p:cNvPr id="11" name="Group 4">
            <a:extLst>
              <a:ext uri="{FF2B5EF4-FFF2-40B4-BE49-F238E27FC236}">
                <a16:creationId xmlns:a16="http://schemas.microsoft.com/office/drawing/2014/main" id="{432D14EB-EBF3-4AD2-9834-5077C457562B}"/>
              </a:ext>
            </a:extLst>
          </p:cNvPr>
          <p:cNvGrpSpPr>
            <a:grpSpLocks noChangeAspect="1"/>
          </p:cNvGrpSpPr>
          <p:nvPr userDrawn="1"/>
        </p:nvGrpSpPr>
        <p:grpSpPr>
          <a:xfrm>
            <a:off x="7136499" y="5846780"/>
            <a:ext cx="2250858" cy="604157"/>
            <a:chOff x="9563100" y="1673029"/>
            <a:chExt cx="1389888" cy="373063"/>
          </a:xfrm>
        </p:grpSpPr>
        <p:pic>
          <p:nvPicPr>
            <p:cNvPr id="13" name="Picture 5">
              <a:extLst>
                <a:ext uri="{FF2B5EF4-FFF2-40B4-BE49-F238E27FC236}">
                  <a16:creationId xmlns:a16="http://schemas.microsoft.com/office/drawing/2014/main" id="{771E51E6-1FF7-4670-B118-1DC4EF473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14" name="Freeform 5">
              <a:extLst>
                <a:ext uri="{FF2B5EF4-FFF2-40B4-BE49-F238E27FC236}">
                  <a16:creationId xmlns:a16="http://schemas.microsoft.com/office/drawing/2014/main" id="{EBD7567B-5C24-4499-85F8-C4116A8A715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92005675"/>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505442" y="5352776"/>
            <a:ext cx="5383660" cy="38048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505442" y="2375692"/>
            <a:ext cx="6679806" cy="1125316"/>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3200" b="1" kern="1200" spc="0" baseline="0" dirty="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ja-JP" altLang="en-US"/>
              <a:t>プロジェクト名</a:t>
            </a:r>
            <a:r>
              <a:rPr lang="en-US" altLang="ja-JP"/>
              <a:t>(32pt,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505442" y="587421"/>
            <a:ext cx="5383660" cy="442035"/>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400"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167"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167" b="0" kern="1200" spc="0" baseline="0" dirty="0">
                <a:solidFill>
                  <a:schemeClr val="accent1"/>
                </a:solidFill>
                <a:latin typeface="Arial" pitchFamily="34" charset="0"/>
                <a:ea typeface="Arial" pitchFamily="-105" charset="-52"/>
                <a:cs typeface="Arial" pitchFamily="34" charset="0"/>
              </a:defRPr>
            </a:lvl5pPr>
          </a:lstStyle>
          <a:p>
            <a:pPr lvl="0"/>
            <a:r>
              <a:rPr lang="ja-JP" altLang="en-US"/>
              <a:t>企業名 </a:t>
            </a:r>
            <a:r>
              <a:rPr lang="en-US" altLang="ja-JP"/>
              <a:t>or </a:t>
            </a:r>
            <a:r>
              <a:rPr lang="ja-JP" altLang="en-US"/>
              <a:t>企業ロゴ </a:t>
            </a:r>
            <a:r>
              <a:rPr lang="en-US" altLang="ja-JP"/>
              <a:t>(24pt, Bold)</a:t>
            </a:r>
            <a:endParaRPr lang="en-US"/>
          </a:p>
        </p:txBody>
      </p:sp>
      <p:grpSp>
        <p:nvGrpSpPr>
          <p:cNvPr id="7" name="Group 10">
            <a:extLst>
              <a:ext uri="{FF2B5EF4-FFF2-40B4-BE49-F238E27FC236}">
                <a16:creationId xmlns:a16="http://schemas.microsoft.com/office/drawing/2014/main" id="{7795A621-E21B-4068-8C0C-431393E75FB3}"/>
              </a:ext>
            </a:extLst>
          </p:cNvPr>
          <p:cNvGrpSpPr>
            <a:grpSpLocks noChangeAspect="1"/>
          </p:cNvGrpSpPr>
          <p:nvPr userDrawn="1"/>
        </p:nvGrpSpPr>
        <p:grpSpPr>
          <a:xfrm>
            <a:off x="5320042" y="955525"/>
            <a:ext cx="4311191" cy="4573173"/>
            <a:chOff x="3494539" y="1675327"/>
            <a:chExt cx="1371600" cy="1454950"/>
          </a:xfrm>
        </p:grpSpPr>
        <p:sp>
          <p:nvSpPr>
            <p:cNvPr id="8" name="Freeform 5">
              <a:extLst>
                <a:ext uri="{FF2B5EF4-FFF2-40B4-BE49-F238E27FC236}">
                  <a16:creationId xmlns:a16="http://schemas.microsoft.com/office/drawing/2014/main" id="{3364B04B-A4DC-4696-B400-45BA9DF8B77A}"/>
                </a:ext>
              </a:extLst>
            </p:cNvPr>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 name="Freeform 6">
              <a:extLst>
                <a:ext uri="{FF2B5EF4-FFF2-40B4-BE49-F238E27FC236}">
                  <a16:creationId xmlns:a16="http://schemas.microsoft.com/office/drawing/2014/main" id="{07038D2D-6F85-452C-999B-603F8D36B83F}"/>
                </a:ext>
              </a:extLst>
            </p:cNvPr>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p>
          </p:txBody>
        </p:sp>
      </p:grpSp>
      <p:grpSp>
        <p:nvGrpSpPr>
          <p:cNvPr id="11" name="Group 4">
            <a:extLst>
              <a:ext uri="{FF2B5EF4-FFF2-40B4-BE49-F238E27FC236}">
                <a16:creationId xmlns:a16="http://schemas.microsoft.com/office/drawing/2014/main" id="{432D14EB-EBF3-4AD2-9834-5077C457562B}"/>
              </a:ext>
            </a:extLst>
          </p:cNvPr>
          <p:cNvGrpSpPr>
            <a:grpSpLocks noChangeAspect="1"/>
          </p:cNvGrpSpPr>
          <p:nvPr userDrawn="1"/>
        </p:nvGrpSpPr>
        <p:grpSpPr>
          <a:xfrm>
            <a:off x="7136499" y="5846780"/>
            <a:ext cx="2250858" cy="604157"/>
            <a:chOff x="9563100" y="1673029"/>
            <a:chExt cx="1389888" cy="373063"/>
          </a:xfrm>
        </p:grpSpPr>
        <p:pic>
          <p:nvPicPr>
            <p:cNvPr id="13" name="Picture 5">
              <a:extLst>
                <a:ext uri="{FF2B5EF4-FFF2-40B4-BE49-F238E27FC236}">
                  <a16:creationId xmlns:a16="http://schemas.microsoft.com/office/drawing/2014/main" id="{771E51E6-1FF7-4670-B118-1DC4EF473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p:spPr>
        </p:pic>
        <p:sp>
          <p:nvSpPr>
            <p:cNvPr id="14" name="Freeform 5">
              <a:extLst>
                <a:ext uri="{FF2B5EF4-FFF2-40B4-BE49-F238E27FC236}">
                  <a16:creationId xmlns:a16="http://schemas.microsoft.com/office/drawing/2014/main" id="{EBD7567B-5C24-4499-85F8-C4116A8A7153}"/>
                </a:ext>
              </a:extLst>
            </p:cNvPr>
            <p:cNvSpPr>
              <a:spLocks/>
            </p:cNvSpPr>
            <p:nvPr/>
          </p:nvSpPr>
          <p:spPr bwMode="auto">
            <a:xfrm>
              <a:off x="10373550"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42233300"/>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010701524"/>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0" y="1589"/>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88504" y="476672"/>
            <a:ext cx="8928000" cy="420752"/>
          </a:xfrm>
          <a:prstGeom prst="rect">
            <a:avLst/>
          </a:prstGeom>
        </p:spPr>
        <p:txBody>
          <a:bodyPr vert="horz" lIns="0" tIns="0" rIns="0" bIns="0" rtlCol="0" anchor="b" anchorCtr="0">
            <a:noAutofit/>
          </a:bodyPr>
          <a:lstStyle>
            <a:lvl1pPr>
              <a:spcBef>
                <a:spcPts val="0"/>
              </a:spcBef>
              <a:spcAft>
                <a:spcPts val="0"/>
              </a:spcAft>
              <a:defRPr lang="en-GB" sz="2400" dirty="0"/>
            </a:lvl1pPr>
          </a:lstStyle>
          <a:p>
            <a:pPr lvl="0"/>
            <a:r>
              <a:rPr lang="ja-JP" altLang="en-US"/>
              <a:t>マスター タイトルの書式設定</a:t>
            </a:r>
            <a:endParaRPr lang="en-GB"/>
          </a:p>
        </p:txBody>
      </p:sp>
      <p:sp>
        <p:nvSpPr>
          <p:cNvPr id="11" name="Text Placeholder 10"/>
          <p:cNvSpPr>
            <a:spLocks noGrp="1"/>
          </p:cNvSpPr>
          <p:nvPr>
            <p:ph type="body" idx="12"/>
          </p:nvPr>
        </p:nvSpPr>
        <p:spPr>
          <a:xfrm>
            <a:off x="488504" y="944949"/>
            <a:ext cx="8928000" cy="669414"/>
          </a:xfrm>
          <a:prstGeom prst="rect">
            <a:avLst/>
          </a:prstGeom>
        </p:spPr>
        <p:txBody>
          <a:bodyPr vert="horz" lIns="0" tIns="0" rIns="0" bIns="0" rtlCol="0">
            <a:noAutofit/>
          </a:bodyPr>
          <a:lstStyle>
            <a:lvl1pPr marR="0" defTabSz="990546" latinLnBrk="0">
              <a:lnSpc>
                <a:spcPct val="100000"/>
              </a:lnSpc>
              <a:spcBef>
                <a:spcPts val="0"/>
              </a:spcBef>
              <a:spcAft>
                <a:spcPts val="0"/>
              </a:spcAft>
              <a:buClrTx/>
              <a:buSzTx/>
              <a:tabLst/>
              <a:defRPr lang="ja-JP" altLang="en-US" sz="1600" dirty="0" smtClean="0">
                <a:latin typeface="Meiryo UI" panose="020B0604030504040204" pitchFamily="50" charset="-128"/>
                <a:ea typeface="Meiryo UI" panose="020B0604030504040204" pitchFamily="50" charset="-128"/>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marR="0" lvl="0" defTabSz="990546" latinLnBrk="0">
              <a:lnSpc>
                <a:spcPct val="100000"/>
              </a:lnSpc>
              <a:buClrTx/>
              <a:buSzTx/>
              <a:tabLst/>
            </a:pPr>
            <a:r>
              <a:rPr kumimoji="1" lang="ja-JP" altLang="en-US"/>
              <a:t>マスター テキストの書式設定</a:t>
            </a:r>
          </a:p>
        </p:txBody>
      </p:sp>
      <p:sp>
        <p:nvSpPr>
          <p:cNvPr id="22" name="テキスト プレースホルダー 21"/>
          <p:cNvSpPr>
            <a:spLocks noGrp="1"/>
          </p:cNvSpPr>
          <p:nvPr userDrawn="1">
            <p:ph type="body" sz="quarter" idx="13"/>
          </p:nvPr>
        </p:nvSpPr>
        <p:spPr>
          <a:xfrm>
            <a:off x="488504" y="77844"/>
            <a:ext cx="8928000" cy="369332"/>
          </a:xfrm>
          <a:prstGeom prst="rect">
            <a:avLst/>
          </a:prstGeom>
        </p:spPr>
        <p:txBody>
          <a:bodyPr vert="horz" lIns="0" tIns="0" rIns="0" bIns="0" rtlCol="0" anchor="b">
            <a:noAutofit/>
          </a:bodyPr>
          <a:lstStyle>
            <a:lvl1pPr>
              <a:spcBef>
                <a:spcPts val="0"/>
              </a:spcBef>
              <a:spcAft>
                <a:spcPts val="0"/>
              </a:spcAft>
              <a:defRPr lang="ja-JP" altLang="en-US" b="1" dirty="0"/>
            </a:lvl1pPr>
          </a:lstStyle>
          <a:p>
            <a:pPr lvl="0">
              <a:spcBef>
                <a:spcPts val="325"/>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62038" y="6623714"/>
            <a:ext cx="287506" cy="226591"/>
          </a:xfrm>
          <a:prstGeom prst="rect">
            <a:avLst/>
          </a:prstGeom>
          <a:noFill/>
        </p:spPr>
        <p:txBody>
          <a:bodyPr wrap="none" lIns="36000" tIns="36000" rIns="36000" bIns="36000" rtlCol="0">
            <a:spAutoFit/>
          </a:bodyPr>
          <a:lstStyle/>
          <a:p>
            <a:pPr algn="ctr">
              <a:buNone/>
            </a:pP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buNone/>
              </a:pP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9" name="Rectangle 67">
            <a:extLst>
              <a:ext uri="{FF2B5EF4-FFF2-40B4-BE49-F238E27FC236}">
                <a16:creationId xmlns:a16="http://schemas.microsoft.com/office/drawing/2014/main" id="{5535B478-0B9A-4063-BCA1-89022BB1FC21}"/>
              </a:ext>
            </a:extLst>
          </p:cNvPr>
          <p:cNvSpPr>
            <a:spLocks noChangeArrowheads="1"/>
          </p:cNvSpPr>
          <p:nvPr userDrawn="1"/>
        </p:nvSpPr>
        <p:spPr bwMode="auto">
          <a:xfrm>
            <a:off x="56456" y="6596842"/>
            <a:ext cx="9542997" cy="262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Copyright ©</a:t>
            </a:r>
            <a:r>
              <a:rPr kumimoji="0" lang="ja-JP"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　</a:t>
            </a:r>
            <a:r>
              <a:rPr kumimoji="0" lang="en-US" altLang="ja-JP"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2021 Accenture All Rights Reserved.</a:t>
            </a:r>
            <a:r>
              <a:rPr kumimoji="0" lang="ja-JP"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　                              　　　　</a:t>
            </a:r>
            <a:r>
              <a:rPr kumimoji="0" lang="en-US" altLang="ja-JP"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This proposal is highly confidential and proprietary to Accenture </a:t>
            </a:r>
          </a:p>
        </p:txBody>
      </p:sp>
    </p:spTree>
    <p:extLst>
      <p:ext uri="{BB962C8B-B14F-4D97-AF65-F5344CB8AC3E}">
        <p14:creationId xmlns:p14="http://schemas.microsoft.com/office/powerpoint/2010/main" val="601662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3" imgW="470" imgH="469" progId="TCLayout.ActiveDocument.1">
                  <p:embed/>
                </p:oleObj>
              </mc:Choice>
              <mc:Fallback>
                <p:oleObj name="think-cell スライド" r:id="rId3" imgW="470" imgH="469" progId="TCLayout.ActiveDocument.1">
                  <p:embed/>
                  <p:pic>
                    <p:nvPicPr>
                      <p:cNvPr id="2" name="オブジェクト 1" hidden="1"/>
                      <p:cNvPicPr/>
                      <p:nvPr/>
                    </p:nvPicPr>
                    <p:blipFill>
                      <a:blip r:embed="rId4"/>
                      <a:stretch>
                        <a:fillRect/>
                      </a:stretch>
                    </p:blipFill>
                    <p:spPr>
                      <a:xfrm>
                        <a:off x="1590" y="1589"/>
                        <a:ext cx="1587" cy="1587"/>
                      </a:xfrm>
                      <a:prstGeom prst="rect">
                        <a:avLst/>
                      </a:prstGeom>
                    </p:spPr>
                  </p:pic>
                </p:oleObj>
              </mc:Fallback>
            </mc:AlternateContent>
          </a:graphicData>
        </a:graphic>
      </p:graphicFrame>
      <p:sp>
        <p:nvSpPr>
          <p:cNvPr id="10" name="Title 1"/>
          <p:cNvSpPr>
            <a:spLocks noGrp="1"/>
          </p:cNvSpPr>
          <p:nvPr>
            <p:ph type="title"/>
          </p:nvPr>
        </p:nvSpPr>
        <p:spPr>
          <a:xfrm>
            <a:off x="495302" y="476672"/>
            <a:ext cx="8911245" cy="420752"/>
          </a:xfrm>
          <a:prstGeom prst="rect">
            <a:avLst/>
          </a:prstGeom>
        </p:spPr>
        <p:txBody>
          <a:bodyPr/>
          <a:lstStyle>
            <a:lvl1pPr>
              <a:defRPr>
                <a:latin typeface="Meiryo UI" panose="020B0604030504040204" pitchFamily="50" charset="-128"/>
                <a:ea typeface="Meiryo UI" panose="020B0604030504040204" pitchFamily="50" charset="-128"/>
              </a:defRPr>
            </a:lvl1pPr>
          </a:lstStyle>
          <a:p>
            <a:r>
              <a:rPr lang="ja-JP" altLang="en-US"/>
              <a:t>マスター タイトルの書式設定</a:t>
            </a:r>
            <a:endParaRPr lang="en-GB"/>
          </a:p>
        </p:txBody>
      </p:sp>
      <p:sp>
        <p:nvSpPr>
          <p:cNvPr id="11" name="Text Placeholder 10"/>
          <p:cNvSpPr>
            <a:spLocks noGrp="1"/>
          </p:cNvSpPr>
          <p:nvPr>
            <p:ph type="body" idx="12"/>
          </p:nvPr>
        </p:nvSpPr>
        <p:spPr>
          <a:xfrm>
            <a:off x="495302" y="944949"/>
            <a:ext cx="8922046" cy="276999"/>
          </a:xfrm>
          <a:prstGeom prst="rect">
            <a:avLst/>
          </a:prstGeom>
        </p:spPr>
        <p:txBody>
          <a:bodyPr>
            <a:spAutoFit/>
          </a:bodyPr>
          <a:lstStyle>
            <a:lvl1pPr marL="0" marR="0" indent="0" algn="l" defTabSz="990546" rtl="0" eaLnBrk="1" fontAlgn="base" latinLnBrk="0" hangingPunct="1">
              <a:lnSpc>
                <a:spcPct val="100000"/>
              </a:lnSpc>
              <a:spcBef>
                <a:spcPts val="325"/>
              </a:spcBef>
              <a:spcAft>
                <a:spcPts val="325"/>
              </a:spcAft>
              <a:buClrTx/>
              <a:buSzTx/>
              <a:buFont typeface="Arial" charset="0"/>
              <a:buNone/>
              <a:tabLst/>
              <a:defRPr sz="1800">
                <a:latin typeface="Meiryo UI" panose="020B0604030504040204" pitchFamily="50" charset="-128"/>
                <a:ea typeface="Meiryo UI" panose="020B0604030504040204" pitchFamily="50" charset="-128"/>
              </a:defRPr>
            </a:lvl1pPr>
            <a:lvl2pPr>
              <a:defRPr sz="2167">
                <a:latin typeface="Meiryo UI" panose="020B0604030504040204" pitchFamily="50" charset="-128"/>
                <a:ea typeface="Meiryo UI" panose="020B0604030504040204" pitchFamily="50" charset="-128"/>
              </a:defRPr>
            </a:lvl2pPr>
            <a:lvl3pPr>
              <a:defRPr sz="1951">
                <a:latin typeface="Meiryo UI" panose="020B0604030504040204" pitchFamily="50" charset="-128"/>
                <a:ea typeface="Meiryo UI" panose="020B0604030504040204" pitchFamily="50" charset="-128"/>
              </a:defRPr>
            </a:lvl3pPr>
            <a:lvl4pPr>
              <a:defRPr sz="1733">
                <a:latin typeface="Meiryo UI" panose="020B0604030504040204" pitchFamily="50" charset="-128"/>
                <a:ea typeface="Meiryo UI" panose="020B0604030504040204" pitchFamily="50" charset="-128"/>
              </a:defRPr>
            </a:lvl4pPr>
            <a:lvl5pPr>
              <a:defRPr sz="1733">
                <a:latin typeface="Meiryo UI" panose="020B0604030504040204" pitchFamily="50" charset="-128"/>
                <a:ea typeface="Meiryo UI" panose="020B0604030504040204" pitchFamily="50" charset="-128"/>
              </a:defRPr>
            </a:lvl5pPr>
          </a:lstStyle>
          <a:p>
            <a:pPr lvl="0"/>
            <a:r>
              <a:rPr lang="ja-JP" altLang="en-US"/>
              <a:t>マスター テキストの書式設定</a:t>
            </a:r>
          </a:p>
        </p:txBody>
      </p:sp>
      <p:sp>
        <p:nvSpPr>
          <p:cNvPr id="22" name="テキスト プレースホルダー 21"/>
          <p:cNvSpPr>
            <a:spLocks noGrp="1"/>
          </p:cNvSpPr>
          <p:nvPr userDrawn="1">
            <p:ph type="body" sz="quarter" idx="13"/>
          </p:nvPr>
        </p:nvSpPr>
        <p:spPr>
          <a:xfrm>
            <a:off x="495302" y="99325"/>
            <a:ext cx="7197835" cy="347851"/>
          </a:xfrm>
        </p:spPr>
        <p:txBody>
          <a:bodyPr anchor="b"/>
          <a:lstStyle>
            <a:lvl1pPr>
              <a:defRPr sz="1800" b="1">
                <a:latin typeface="Meiryo UI" panose="020B0604030504040204" pitchFamily="50" charset="-128"/>
                <a:ea typeface="Meiryo UI" panose="020B0604030504040204" pitchFamily="50" charset="-128"/>
              </a:defRPr>
            </a:lvl1pPr>
            <a:lvl2pPr>
              <a:defRPr sz="1600" b="1">
                <a:latin typeface="Meiryo UI" panose="020B0604030504040204" pitchFamily="50" charset="-128"/>
                <a:ea typeface="Meiryo UI" panose="020B0604030504040204" pitchFamily="50" charset="-128"/>
              </a:defRPr>
            </a:lvl2pPr>
            <a:lvl3pPr>
              <a:defRPr sz="1600" b="1">
                <a:latin typeface="Meiryo UI" panose="020B0604030504040204" pitchFamily="50" charset="-128"/>
                <a:ea typeface="Meiryo UI" panose="020B0604030504040204" pitchFamily="50" charset="-128"/>
              </a:defRPr>
            </a:lvl3pPr>
            <a:lvl4pPr>
              <a:defRPr sz="1600" b="1">
                <a:latin typeface="Meiryo UI" panose="020B0604030504040204" pitchFamily="50" charset="-128"/>
                <a:ea typeface="Meiryo UI" panose="020B0604030504040204" pitchFamily="50" charset="-128"/>
              </a:defRPr>
            </a:lvl4pPr>
            <a:lvl5pPr>
              <a:defRPr sz="1600" b="1">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4A56B77A-EF6E-484C-83CF-AB12CB490B5E}"/>
              </a:ext>
            </a:extLst>
          </p:cNvPr>
          <p:cNvSpPr txBox="1"/>
          <p:nvPr userDrawn="1"/>
        </p:nvSpPr>
        <p:spPr>
          <a:xfrm>
            <a:off x="9562038" y="6623714"/>
            <a:ext cx="287506" cy="226591"/>
          </a:xfrm>
          <a:prstGeom prst="rect">
            <a:avLst/>
          </a:prstGeom>
          <a:noFill/>
        </p:spPr>
        <p:txBody>
          <a:bodyPr wrap="none" lIns="36000" tIns="36000" rIns="36000" bIns="36000" rtlCol="0">
            <a:spAutoFit/>
          </a:bodyPr>
          <a:lstStyle/>
          <a:p>
            <a:pPr algn="ctr">
              <a:buNone/>
            </a:pP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buNone/>
              </a:pP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9" name="Rectangle 67">
            <a:extLst>
              <a:ext uri="{FF2B5EF4-FFF2-40B4-BE49-F238E27FC236}">
                <a16:creationId xmlns:a16="http://schemas.microsoft.com/office/drawing/2014/main" id="{C5A38671-574B-4F6C-9383-E634E7E2F641}"/>
              </a:ext>
            </a:extLst>
          </p:cNvPr>
          <p:cNvSpPr>
            <a:spLocks noChangeArrowheads="1"/>
          </p:cNvSpPr>
          <p:nvPr userDrawn="1"/>
        </p:nvSpPr>
        <p:spPr bwMode="auto">
          <a:xfrm>
            <a:off x="56456" y="6596842"/>
            <a:ext cx="9542997" cy="262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Copyright ©</a:t>
            </a:r>
            <a:r>
              <a:rPr kumimoji="0" lang="ja-JP"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　</a:t>
            </a:r>
            <a:r>
              <a:rPr kumimoji="0" lang="en-US" altLang="ja-JP"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2021 Accenture All Rights Reserved.</a:t>
            </a:r>
            <a:r>
              <a:rPr kumimoji="0" lang="ja-JP"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　                              　　　　</a:t>
            </a:r>
            <a:r>
              <a:rPr kumimoji="0" lang="en-US" altLang="ja-JP"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This proposal is highly confidential and proprietary to Accenture </a:t>
            </a:r>
          </a:p>
        </p:txBody>
      </p:sp>
    </p:spTree>
    <p:extLst>
      <p:ext uri="{BB962C8B-B14F-4D97-AF65-F5344CB8AC3E}">
        <p14:creationId xmlns:p14="http://schemas.microsoft.com/office/powerpoint/2010/main" val="3723024806"/>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5" name="AcnSubjectTitle_ID_5186" hidden="1"/>
          <p:cNvSpPr txBox="1">
            <a:spLocks noChangeArrowheads="1"/>
          </p:cNvSpPr>
          <p:nvPr>
            <p:custDataLst>
              <p:tags r:id="rId1"/>
            </p:custDataLst>
          </p:nvPr>
        </p:nvSpPr>
        <p:spPr bwMode="gray">
          <a:xfrm>
            <a:off x="165100" y="1420813"/>
            <a:ext cx="6986588" cy="244475"/>
          </a:xfrm>
          <a:prstGeom prst="rect">
            <a:avLst/>
          </a:prstGeom>
          <a:noFill/>
          <a:ln>
            <a:noFill/>
          </a:ln>
        </p:spPr>
        <p:txBody>
          <a:bodyPr lIns="0" tIns="0" rIns="0" bIns="0">
            <a:spAutoFit/>
          </a:bodyPr>
          <a:lstStyle>
            <a:lvl1pPr>
              <a:defRPr sz="1200">
                <a:solidFill>
                  <a:schemeClr val="tx1"/>
                </a:solidFill>
                <a:latin typeface="Arial" charset="0"/>
                <a:ea typeface="ＭＳ Ｐゴシック" pitchFamily="50" charset="-128"/>
              </a:defRPr>
            </a:lvl1pPr>
            <a:lvl2pPr marL="742950" indent="-285750">
              <a:defRPr sz="1200">
                <a:solidFill>
                  <a:schemeClr val="tx1"/>
                </a:solidFill>
                <a:latin typeface="Arial" charset="0"/>
                <a:ea typeface="ＭＳ Ｐゴシック" pitchFamily="50" charset="-128"/>
              </a:defRPr>
            </a:lvl2pPr>
            <a:lvl3pPr marL="1143000" indent="-228600">
              <a:defRPr sz="1200">
                <a:solidFill>
                  <a:schemeClr val="tx1"/>
                </a:solidFill>
                <a:latin typeface="Arial" charset="0"/>
                <a:ea typeface="ＭＳ Ｐゴシック" pitchFamily="50" charset="-128"/>
              </a:defRPr>
            </a:lvl3pPr>
            <a:lvl4pPr marL="1600200" indent="-228600">
              <a:defRPr sz="1200">
                <a:solidFill>
                  <a:schemeClr val="tx1"/>
                </a:solidFill>
                <a:latin typeface="Arial" charset="0"/>
                <a:ea typeface="ＭＳ Ｐゴシック" pitchFamily="50" charset="-128"/>
              </a:defRPr>
            </a:lvl4pPr>
            <a:lvl5pPr marL="2057400" indent="-228600">
              <a:defRPr sz="1200">
                <a:solidFill>
                  <a:schemeClr val="tx1"/>
                </a:solidFill>
                <a:latin typeface="Arial" charset="0"/>
                <a:ea typeface="ＭＳ Ｐゴシック" pitchFamily="50" charset="-128"/>
              </a:defRPr>
            </a:lvl5pPr>
            <a:lvl6pPr marL="2514600" indent="-228600" algn="ctr" eaLnBrk="0" fontAlgn="base" hangingPunct="0">
              <a:spcBef>
                <a:spcPct val="0"/>
              </a:spcBef>
              <a:spcAft>
                <a:spcPct val="0"/>
              </a:spcAft>
              <a:defRPr sz="1200">
                <a:solidFill>
                  <a:schemeClr val="tx1"/>
                </a:solidFill>
                <a:latin typeface="Arial" charset="0"/>
                <a:ea typeface="ＭＳ Ｐゴシック" pitchFamily="50" charset="-128"/>
              </a:defRPr>
            </a:lvl6pPr>
            <a:lvl7pPr marL="2971800" indent="-228600" algn="ctr" eaLnBrk="0" fontAlgn="base" hangingPunct="0">
              <a:spcBef>
                <a:spcPct val="0"/>
              </a:spcBef>
              <a:spcAft>
                <a:spcPct val="0"/>
              </a:spcAft>
              <a:defRPr sz="1200">
                <a:solidFill>
                  <a:schemeClr val="tx1"/>
                </a:solidFill>
                <a:latin typeface="Arial" charset="0"/>
                <a:ea typeface="ＭＳ Ｐゴシック" pitchFamily="50" charset="-128"/>
              </a:defRPr>
            </a:lvl7pPr>
            <a:lvl8pPr marL="3429000" indent="-228600" algn="ctr" eaLnBrk="0" fontAlgn="base" hangingPunct="0">
              <a:spcBef>
                <a:spcPct val="0"/>
              </a:spcBef>
              <a:spcAft>
                <a:spcPct val="0"/>
              </a:spcAft>
              <a:defRPr sz="1200">
                <a:solidFill>
                  <a:schemeClr val="tx1"/>
                </a:solidFill>
                <a:latin typeface="Arial" charset="0"/>
                <a:ea typeface="ＭＳ Ｐゴシック" pitchFamily="50" charset="-128"/>
              </a:defRPr>
            </a:lvl8pPr>
            <a:lvl9pPr marL="3886200" indent="-228600" algn="ctr" eaLnBrk="0" fontAlgn="base" hangingPunct="0">
              <a:spcBef>
                <a:spcPct val="0"/>
              </a:spcBef>
              <a:spcAft>
                <a:spcPct val="0"/>
              </a:spcAft>
              <a:defRPr sz="1200">
                <a:solidFill>
                  <a:schemeClr val="tx1"/>
                </a:solidFill>
                <a:latin typeface="Arial" charset="0"/>
                <a:ea typeface="ＭＳ Ｐゴシック" pitchFamily="50" charset="-128"/>
              </a:defRPr>
            </a:lvl9pPr>
          </a:lstStyle>
          <a:p>
            <a:pPr algn="l" eaLnBrk="1" hangingPunct="1">
              <a:defRPr/>
            </a:pPr>
            <a:r>
              <a:rPr lang="en-US" altLang="ja-JP" sz="1600" b="1">
                <a:solidFill>
                  <a:srgbClr val="000000"/>
                </a:solidFill>
              </a:rPr>
              <a:t>Subject Title</a:t>
            </a:r>
          </a:p>
        </p:txBody>
      </p:sp>
      <p:sp>
        <p:nvSpPr>
          <p:cNvPr id="6" name="AcnFootnote_ID_5187" hidden="1"/>
          <p:cNvSpPr txBox="1">
            <a:spLocks noChangeArrowheads="1"/>
          </p:cNvSpPr>
          <p:nvPr>
            <p:custDataLst>
              <p:tags r:id="rId2"/>
            </p:custDataLst>
          </p:nvPr>
        </p:nvSpPr>
        <p:spPr bwMode="gray">
          <a:xfrm>
            <a:off x="165100" y="6254750"/>
            <a:ext cx="9575800" cy="334963"/>
          </a:xfrm>
          <a:prstGeom prst="rect">
            <a:avLst/>
          </a:prstGeom>
          <a:noFill/>
          <a:ln>
            <a:noFill/>
          </a:ln>
        </p:spPr>
        <p:txBody>
          <a:bodyPr lIns="0" tIns="0" rIns="0" bIns="0" anchor="b">
            <a:spAutoFit/>
          </a:bodyPr>
          <a:lstStyle>
            <a:lvl1pPr marL="538163" indent="-538163">
              <a:defRPr sz="1200">
                <a:solidFill>
                  <a:schemeClr val="tx1"/>
                </a:solidFill>
                <a:latin typeface="Arial" charset="0"/>
                <a:ea typeface="ＭＳ Ｐゴシック" pitchFamily="50" charset="-128"/>
              </a:defRPr>
            </a:lvl1pPr>
            <a:lvl2pPr marL="742950" indent="-285750">
              <a:defRPr sz="1200">
                <a:solidFill>
                  <a:schemeClr val="tx1"/>
                </a:solidFill>
                <a:latin typeface="Arial" charset="0"/>
                <a:ea typeface="ＭＳ Ｐゴシック" pitchFamily="50" charset="-128"/>
              </a:defRPr>
            </a:lvl2pPr>
            <a:lvl3pPr marL="1143000" indent="-228600">
              <a:defRPr sz="1200">
                <a:solidFill>
                  <a:schemeClr val="tx1"/>
                </a:solidFill>
                <a:latin typeface="Arial" charset="0"/>
                <a:ea typeface="ＭＳ Ｐゴシック" pitchFamily="50" charset="-128"/>
              </a:defRPr>
            </a:lvl3pPr>
            <a:lvl4pPr marL="1600200" indent="-228600">
              <a:defRPr sz="1200">
                <a:solidFill>
                  <a:schemeClr val="tx1"/>
                </a:solidFill>
                <a:latin typeface="Arial" charset="0"/>
                <a:ea typeface="ＭＳ Ｐゴシック" pitchFamily="50" charset="-128"/>
              </a:defRPr>
            </a:lvl4pPr>
            <a:lvl5pPr marL="2057400" indent="-228600">
              <a:defRPr sz="1200">
                <a:solidFill>
                  <a:schemeClr val="tx1"/>
                </a:solidFill>
                <a:latin typeface="Arial" charset="0"/>
                <a:ea typeface="ＭＳ Ｐゴシック" pitchFamily="50" charset="-128"/>
              </a:defRPr>
            </a:lvl5pPr>
            <a:lvl6pPr marL="2514600" indent="-228600" algn="ctr" eaLnBrk="0" fontAlgn="base" hangingPunct="0">
              <a:spcBef>
                <a:spcPct val="0"/>
              </a:spcBef>
              <a:spcAft>
                <a:spcPct val="0"/>
              </a:spcAft>
              <a:defRPr sz="1200">
                <a:solidFill>
                  <a:schemeClr val="tx1"/>
                </a:solidFill>
                <a:latin typeface="Arial" charset="0"/>
                <a:ea typeface="ＭＳ Ｐゴシック" pitchFamily="50" charset="-128"/>
              </a:defRPr>
            </a:lvl6pPr>
            <a:lvl7pPr marL="2971800" indent="-228600" algn="ctr" eaLnBrk="0" fontAlgn="base" hangingPunct="0">
              <a:spcBef>
                <a:spcPct val="0"/>
              </a:spcBef>
              <a:spcAft>
                <a:spcPct val="0"/>
              </a:spcAft>
              <a:defRPr sz="1200">
                <a:solidFill>
                  <a:schemeClr val="tx1"/>
                </a:solidFill>
                <a:latin typeface="Arial" charset="0"/>
                <a:ea typeface="ＭＳ Ｐゴシック" pitchFamily="50" charset="-128"/>
              </a:defRPr>
            </a:lvl7pPr>
            <a:lvl8pPr marL="3429000" indent="-228600" algn="ctr" eaLnBrk="0" fontAlgn="base" hangingPunct="0">
              <a:spcBef>
                <a:spcPct val="0"/>
              </a:spcBef>
              <a:spcAft>
                <a:spcPct val="0"/>
              </a:spcAft>
              <a:defRPr sz="1200">
                <a:solidFill>
                  <a:schemeClr val="tx1"/>
                </a:solidFill>
                <a:latin typeface="Arial" charset="0"/>
                <a:ea typeface="ＭＳ Ｐゴシック" pitchFamily="50" charset="-128"/>
              </a:defRPr>
            </a:lvl8pPr>
            <a:lvl9pPr marL="3886200" indent="-228600" algn="ctr" eaLnBrk="0" fontAlgn="base" hangingPunct="0">
              <a:spcBef>
                <a:spcPct val="0"/>
              </a:spcBef>
              <a:spcAft>
                <a:spcPct val="0"/>
              </a:spcAft>
              <a:defRPr sz="1200">
                <a:solidFill>
                  <a:schemeClr val="tx1"/>
                </a:solidFill>
                <a:latin typeface="Arial" charset="0"/>
                <a:ea typeface="ＭＳ Ｐゴシック" pitchFamily="50" charset="-128"/>
              </a:defRPr>
            </a:lvl9pPr>
          </a:lstStyle>
          <a:p>
            <a:pPr algn="l" eaLnBrk="1" hangingPunct="1">
              <a:defRPr/>
            </a:pPr>
            <a:r>
              <a:rPr lang="ja-JP" altLang="en-US" sz="1000">
                <a:solidFill>
                  <a:srgbClr val="000000"/>
                </a:solidFill>
              </a:rPr>
              <a:t>*	</a:t>
            </a:r>
            <a:r>
              <a:rPr lang="en-US" altLang="ja-JP" sz="1000">
                <a:solidFill>
                  <a:srgbClr val="000000"/>
                </a:solidFill>
              </a:rPr>
              <a:t>Footnote</a:t>
            </a:r>
          </a:p>
          <a:p>
            <a:pPr algn="l" eaLnBrk="1" hangingPunct="1">
              <a:spcBef>
                <a:spcPct val="20000"/>
              </a:spcBef>
              <a:defRPr/>
            </a:pPr>
            <a:r>
              <a:rPr lang="en-US" altLang="ja-JP" sz="1000">
                <a:solidFill>
                  <a:srgbClr val="000000"/>
                </a:solidFill>
              </a:rPr>
              <a:t>Source:	Source</a:t>
            </a:r>
          </a:p>
        </p:txBody>
      </p:sp>
      <p:sp>
        <p:nvSpPr>
          <p:cNvPr id="7" name="AcnUnitofMeasure_ID_5188" hidden="1"/>
          <p:cNvSpPr txBox="1">
            <a:spLocks noChangeArrowheads="1"/>
          </p:cNvSpPr>
          <p:nvPr>
            <p:custDataLst>
              <p:tags r:id="rId3"/>
            </p:custDataLst>
          </p:nvPr>
        </p:nvSpPr>
        <p:spPr bwMode="gray">
          <a:xfrm>
            <a:off x="165100" y="1697038"/>
            <a:ext cx="6986588" cy="212725"/>
          </a:xfrm>
          <a:prstGeom prst="rect">
            <a:avLst/>
          </a:prstGeom>
          <a:noFill/>
          <a:ln>
            <a:noFill/>
          </a:ln>
        </p:spPr>
        <p:txBody>
          <a:bodyPr lIns="0" tIns="0" rIns="0" bIns="0">
            <a:spAutoFit/>
          </a:bodyPr>
          <a:lstStyle>
            <a:lvl1pPr>
              <a:defRPr sz="1200">
                <a:solidFill>
                  <a:schemeClr val="tx1"/>
                </a:solidFill>
                <a:latin typeface="Arial" charset="0"/>
                <a:ea typeface="ＭＳ Ｐゴシック" pitchFamily="50" charset="-128"/>
              </a:defRPr>
            </a:lvl1pPr>
            <a:lvl2pPr marL="742950" indent="-285750">
              <a:defRPr sz="1200">
                <a:solidFill>
                  <a:schemeClr val="tx1"/>
                </a:solidFill>
                <a:latin typeface="Arial" charset="0"/>
                <a:ea typeface="ＭＳ Ｐゴシック" pitchFamily="50" charset="-128"/>
              </a:defRPr>
            </a:lvl2pPr>
            <a:lvl3pPr marL="1143000" indent="-228600">
              <a:defRPr sz="1200">
                <a:solidFill>
                  <a:schemeClr val="tx1"/>
                </a:solidFill>
                <a:latin typeface="Arial" charset="0"/>
                <a:ea typeface="ＭＳ Ｐゴシック" pitchFamily="50" charset="-128"/>
              </a:defRPr>
            </a:lvl3pPr>
            <a:lvl4pPr marL="1600200" indent="-228600">
              <a:defRPr sz="1200">
                <a:solidFill>
                  <a:schemeClr val="tx1"/>
                </a:solidFill>
                <a:latin typeface="Arial" charset="0"/>
                <a:ea typeface="ＭＳ Ｐゴシック" pitchFamily="50" charset="-128"/>
              </a:defRPr>
            </a:lvl4pPr>
            <a:lvl5pPr marL="2057400" indent="-228600">
              <a:defRPr sz="1200">
                <a:solidFill>
                  <a:schemeClr val="tx1"/>
                </a:solidFill>
                <a:latin typeface="Arial" charset="0"/>
                <a:ea typeface="ＭＳ Ｐゴシック" pitchFamily="50" charset="-128"/>
              </a:defRPr>
            </a:lvl5pPr>
            <a:lvl6pPr marL="2514600" indent="-228600" algn="ctr" eaLnBrk="0" fontAlgn="base" hangingPunct="0">
              <a:spcBef>
                <a:spcPct val="0"/>
              </a:spcBef>
              <a:spcAft>
                <a:spcPct val="0"/>
              </a:spcAft>
              <a:defRPr sz="1200">
                <a:solidFill>
                  <a:schemeClr val="tx1"/>
                </a:solidFill>
                <a:latin typeface="Arial" charset="0"/>
                <a:ea typeface="ＭＳ Ｐゴシック" pitchFamily="50" charset="-128"/>
              </a:defRPr>
            </a:lvl6pPr>
            <a:lvl7pPr marL="2971800" indent="-228600" algn="ctr" eaLnBrk="0" fontAlgn="base" hangingPunct="0">
              <a:spcBef>
                <a:spcPct val="0"/>
              </a:spcBef>
              <a:spcAft>
                <a:spcPct val="0"/>
              </a:spcAft>
              <a:defRPr sz="1200">
                <a:solidFill>
                  <a:schemeClr val="tx1"/>
                </a:solidFill>
                <a:latin typeface="Arial" charset="0"/>
                <a:ea typeface="ＭＳ Ｐゴシック" pitchFamily="50" charset="-128"/>
              </a:defRPr>
            </a:lvl7pPr>
            <a:lvl8pPr marL="3429000" indent="-228600" algn="ctr" eaLnBrk="0" fontAlgn="base" hangingPunct="0">
              <a:spcBef>
                <a:spcPct val="0"/>
              </a:spcBef>
              <a:spcAft>
                <a:spcPct val="0"/>
              </a:spcAft>
              <a:defRPr sz="1200">
                <a:solidFill>
                  <a:schemeClr val="tx1"/>
                </a:solidFill>
                <a:latin typeface="Arial" charset="0"/>
                <a:ea typeface="ＭＳ Ｐゴシック" pitchFamily="50" charset="-128"/>
              </a:defRPr>
            </a:lvl8pPr>
            <a:lvl9pPr marL="3886200" indent="-228600" algn="ctr" eaLnBrk="0" fontAlgn="base" hangingPunct="0">
              <a:spcBef>
                <a:spcPct val="0"/>
              </a:spcBef>
              <a:spcAft>
                <a:spcPct val="0"/>
              </a:spcAft>
              <a:defRPr sz="1200">
                <a:solidFill>
                  <a:schemeClr val="tx1"/>
                </a:solidFill>
                <a:latin typeface="Arial" charset="0"/>
                <a:ea typeface="ＭＳ Ｐゴシック" pitchFamily="50" charset="-128"/>
              </a:defRPr>
            </a:lvl9pPr>
          </a:lstStyle>
          <a:p>
            <a:pPr algn="l" eaLnBrk="1" hangingPunct="1">
              <a:defRPr/>
            </a:pPr>
            <a:r>
              <a:rPr lang="en-US" altLang="ja-JP" sz="1400">
                <a:solidFill>
                  <a:srgbClr val="000000"/>
                </a:solidFill>
              </a:rPr>
              <a:t>Unit of Measure</a:t>
            </a:r>
          </a:p>
        </p:txBody>
      </p:sp>
      <p:sp>
        <p:nvSpPr>
          <p:cNvPr id="8" name="AcnSubjectTitle_ID_5186" hidden="1"/>
          <p:cNvSpPr txBox="1">
            <a:spLocks noChangeArrowheads="1"/>
          </p:cNvSpPr>
          <p:nvPr>
            <p:custDataLst>
              <p:tags r:id="rId4"/>
            </p:custDataLst>
          </p:nvPr>
        </p:nvSpPr>
        <p:spPr bwMode="gray">
          <a:xfrm>
            <a:off x="165100" y="1420813"/>
            <a:ext cx="6986588" cy="244475"/>
          </a:xfrm>
          <a:prstGeom prst="rect">
            <a:avLst/>
          </a:prstGeom>
          <a:noFill/>
          <a:ln>
            <a:noFill/>
          </a:ln>
        </p:spPr>
        <p:txBody>
          <a:bodyPr lIns="0" tIns="0" rIns="0" bIns="0">
            <a:spAutoFit/>
          </a:bodyPr>
          <a:lstStyle>
            <a:lvl1pPr>
              <a:defRPr sz="1200">
                <a:solidFill>
                  <a:schemeClr val="tx1"/>
                </a:solidFill>
                <a:latin typeface="Arial" charset="0"/>
                <a:ea typeface="ＭＳ Ｐゴシック" pitchFamily="50" charset="-128"/>
              </a:defRPr>
            </a:lvl1pPr>
            <a:lvl2pPr marL="742950" indent="-285750">
              <a:defRPr sz="1200">
                <a:solidFill>
                  <a:schemeClr val="tx1"/>
                </a:solidFill>
                <a:latin typeface="Arial" charset="0"/>
                <a:ea typeface="ＭＳ Ｐゴシック" pitchFamily="50" charset="-128"/>
              </a:defRPr>
            </a:lvl2pPr>
            <a:lvl3pPr marL="1143000" indent="-228600">
              <a:defRPr sz="1200">
                <a:solidFill>
                  <a:schemeClr val="tx1"/>
                </a:solidFill>
                <a:latin typeface="Arial" charset="0"/>
                <a:ea typeface="ＭＳ Ｐゴシック" pitchFamily="50" charset="-128"/>
              </a:defRPr>
            </a:lvl3pPr>
            <a:lvl4pPr marL="1600200" indent="-228600">
              <a:defRPr sz="1200">
                <a:solidFill>
                  <a:schemeClr val="tx1"/>
                </a:solidFill>
                <a:latin typeface="Arial" charset="0"/>
                <a:ea typeface="ＭＳ Ｐゴシック" pitchFamily="50" charset="-128"/>
              </a:defRPr>
            </a:lvl4pPr>
            <a:lvl5pPr marL="2057400" indent="-228600">
              <a:defRPr sz="1200">
                <a:solidFill>
                  <a:schemeClr val="tx1"/>
                </a:solidFill>
                <a:latin typeface="Arial" charset="0"/>
                <a:ea typeface="ＭＳ Ｐゴシック" pitchFamily="50" charset="-128"/>
              </a:defRPr>
            </a:lvl5pPr>
            <a:lvl6pPr marL="2514600" indent="-228600" algn="ctr" eaLnBrk="0" fontAlgn="base" hangingPunct="0">
              <a:spcBef>
                <a:spcPct val="0"/>
              </a:spcBef>
              <a:spcAft>
                <a:spcPct val="0"/>
              </a:spcAft>
              <a:defRPr sz="1200">
                <a:solidFill>
                  <a:schemeClr val="tx1"/>
                </a:solidFill>
                <a:latin typeface="Arial" charset="0"/>
                <a:ea typeface="ＭＳ Ｐゴシック" pitchFamily="50" charset="-128"/>
              </a:defRPr>
            </a:lvl6pPr>
            <a:lvl7pPr marL="2971800" indent="-228600" algn="ctr" eaLnBrk="0" fontAlgn="base" hangingPunct="0">
              <a:spcBef>
                <a:spcPct val="0"/>
              </a:spcBef>
              <a:spcAft>
                <a:spcPct val="0"/>
              </a:spcAft>
              <a:defRPr sz="1200">
                <a:solidFill>
                  <a:schemeClr val="tx1"/>
                </a:solidFill>
                <a:latin typeface="Arial" charset="0"/>
                <a:ea typeface="ＭＳ Ｐゴシック" pitchFamily="50" charset="-128"/>
              </a:defRPr>
            </a:lvl7pPr>
            <a:lvl8pPr marL="3429000" indent="-228600" algn="ctr" eaLnBrk="0" fontAlgn="base" hangingPunct="0">
              <a:spcBef>
                <a:spcPct val="0"/>
              </a:spcBef>
              <a:spcAft>
                <a:spcPct val="0"/>
              </a:spcAft>
              <a:defRPr sz="1200">
                <a:solidFill>
                  <a:schemeClr val="tx1"/>
                </a:solidFill>
                <a:latin typeface="Arial" charset="0"/>
                <a:ea typeface="ＭＳ Ｐゴシック" pitchFamily="50" charset="-128"/>
              </a:defRPr>
            </a:lvl8pPr>
            <a:lvl9pPr marL="3886200" indent="-228600" algn="ctr" eaLnBrk="0" fontAlgn="base" hangingPunct="0">
              <a:spcBef>
                <a:spcPct val="0"/>
              </a:spcBef>
              <a:spcAft>
                <a:spcPct val="0"/>
              </a:spcAft>
              <a:defRPr sz="1200">
                <a:solidFill>
                  <a:schemeClr val="tx1"/>
                </a:solidFill>
                <a:latin typeface="Arial" charset="0"/>
                <a:ea typeface="ＭＳ Ｐゴシック" pitchFamily="50" charset="-128"/>
              </a:defRPr>
            </a:lvl9pPr>
          </a:lstStyle>
          <a:p>
            <a:pPr algn="l" eaLnBrk="1" hangingPunct="1">
              <a:defRPr/>
            </a:pPr>
            <a:r>
              <a:rPr lang="en-US" altLang="ja-JP" sz="1600" b="1">
                <a:solidFill>
                  <a:srgbClr val="000000"/>
                </a:solidFill>
              </a:rPr>
              <a:t>Subject Title</a:t>
            </a:r>
          </a:p>
        </p:txBody>
      </p:sp>
      <p:sp>
        <p:nvSpPr>
          <p:cNvPr id="9" name="AcnFootnote_ID_5187" hidden="1"/>
          <p:cNvSpPr txBox="1">
            <a:spLocks noChangeArrowheads="1"/>
          </p:cNvSpPr>
          <p:nvPr>
            <p:custDataLst>
              <p:tags r:id="rId5"/>
            </p:custDataLst>
          </p:nvPr>
        </p:nvSpPr>
        <p:spPr bwMode="gray">
          <a:xfrm>
            <a:off x="165100" y="6254750"/>
            <a:ext cx="9575800" cy="334963"/>
          </a:xfrm>
          <a:prstGeom prst="rect">
            <a:avLst/>
          </a:prstGeom>
          <a:noFill/>
          <a:ln>
            <a:noFill/>
          </a:ln>
        </p:spPr>
        <p:txBody>
          <a:bodyPr lIns="0" tIns="0" rIns="0" bIns="0" anchor="b">
            <a:spAutoFit/>
          </a:bodyPr>
          <a:lstStyle>
            <a:lvl1pPr marL="538163" indent="-538163">
              <a:defRPr sz="1200">
                <a:solidFill>
                  <a:schemeClr val="tx1"/>
                </a:solidFill>
                <a:latin typeface="Arial" charset="0"/>
                <a:ea typeface="ＭＳ Ｐゴシック" pitchFamily="50" charset="-128"/>
              </a:defRPr>
            </a:lvl1pPr>
            <a:lvl2pPr marL="742950" indent="-285750">
              <a:defRPr sz="1200">
                <a:solidFill>
                  <a:schemeClr val="tx1"/>
                </a:solidFill>
                <a:latin typeface="Arial" charset="0"/>
                <a:ea typeface="ＭＳ Ｐゴシック" pitchFamily="50" charset="-128"/>
              </a:defRPr>
            </a:lvl2pPr>
            <a:lvl3pPr marL="1143000" indent="-228600">
              <a:defRPr sz="1200">
                <a:solidFill>
                  <a:schemeClr val="tx1"/>
                </a:solidFill>
                <a:latin typeface="Arial" charset="0"/>
                <a:ea typeface="ＭＳ Ｐゴシック" pitchFamily="50" charset="-128"/>
              </a:defRPr>
            </a:lvl3pPr>
            <a:lvl4pPr marL="1600200" indent="-228600">
              <a:defRPr sz="1200">
                <a:solidFill>
                  <a:schemeClr val="tx1"/>
                </a:solidFill>
                <a:latin typeface="Arial" charset="0"/>
                <a:ea typeface="ＭＳ Ｐゴシック" pitchFamily="50" charset="-128"/>
              </a:defRPr>
            </a:lvl4pPr>
            <a:lvl5pPr marL="2057400" indent="-228600">
              <a:defRPr sz="1200">
                <a:solidFill>
                  <a:schemeClr val="tx1"/>
                </a:solidFill>
                <a:latin typeface="Arial" charset="0"/>
                <a:ea typeface="ＭＳ Ｐゴシック" pitchFamily="50" charset="-128"/>
              </a:defRPr>
            </a:lvl5pPr>
            <a:lvl6pPr marL="2514600" indent="-228600" algn="ctr" eaLnBrk="0" fontAlgn="base" hangingPunct="0">
              <a:spcBef>
                <a:spcPct val="0"/>
              </a:spcBef>
              <a:spcAft>
                <a:spcPct val="0"/>
              </a:spcAft>
              <a:defRPr sz="1200">
                <a:solidFill>
                  <a:schemeClr val="tx1"/>
                </a:solidFill>
                <a:latin typeface="Arial" charset="0"/>
                <a:ea typeface="ＭＳ Ｐゴシック" pitchFamily="50" charset="-128"/>
              </a:defRPr>
            </a:lvl6pPr>
            <a:lvl7pPr marL="2971800" indent="-228600" algn="ctr" eaLnBrk="0" fontAlgn="base" hangingPunct="0">
              <a:spcBef>
                <a:spcPct val="0"/>
              </a:spcBef>
              <a:spcAft>
                <a:spcPct val="0"/>
              </a:spcAft>
              <a:defRPr sz="1200">
                <a:solidFill>
                  <a:schemeClr val="tx1"/>
                </a:solidFill>
                <a:latin typeface="Arial" charset="0"/>
                <a:ea typeface="ＭＳ Ｐゴシック" pitchFamily="50" charset="-128"/>
              </a:defRPr>
            </a:lvl7pPr>
            <a:lvl8pPr marL="3429000" indent="-228600" algn="ctr" eaLnBrk="0" fontAlgn="base" hangingPunct="0">
              <a:spcBef>
                <a:spcPct val="0"/>
              </a:spcBef>
              <a:spcAft>
                <a:spcPct val="0"/>
              </a:spcAft>
              <a:defRPr sz="1200">
                <a:solidFill>
                  <a:schemeClr val="tx1"/>
                </a:solidFill>
                <a:latin typeface="Arial" charset="0"/>
                <a:ea typeface="ＭＳ Ｐゴシック" pitchFamily="50" charset="-128"/>
              </a:defRPr>
            </a:lvl8pPr>
            <a:lvl9pPr marL="3886200" indent="-228600" algn="ctr" eaLnBrk="0" fontAlgn="base" hangingPunct="0">
              <a:spcBef>
                <a:spcPct val="0"/>
              </a:spcBef>
              <a:spcAft>
                <a:spcPct val="0"/>
              </a:spcAft>
              <a:defRPr sz="1200">
                <a:solidFill>
                  <a:schemeClr val="tx1"/>
                </a:solidFill>
                <a:latin typeface="Arial" charset="0"/>
                <a:ea typeface="ＭＳ Ｐゴシック" pitchFamily="50" charset="-128"/>
              </a:defRPr>
            </a:lvl9pPr>
          </a:lstStyle>
          <a:p>
            <a:pPr algn="l" eaLnBrk="1" hangingPunct="1">
              <a:defRPr/>
            </a:pPr>
            <a:r>
              <a:rPr lang="ja-JP" altLang="en-US" sz="1000">
                <a:solidFill>
                  <a:srgbClr val="000000"/>
                </a:solidFill>
              </a:rPr>
              <a:t>*	</a:t>
            </a:r>
            <a:r>
              <a:rPr lang="en-US" altLang="ja-JP" sz="1000">
                <a:solidFill>
                  <a:srgbClr val="000000"/>
                </a:solidFill>
              </a:rPr>
              <a:t>Footnote</a:t>
            </a:r>
          </a:p>
          <a:p>
            <a:pPr algn="l" eaLnBrk="1" hangingPunct="1">
              <a:spcBef>
                <a:spcPct val="20000"/>
              </a:spcBef>
              <a:defRPr/>
            </a:pPr>
            <a:r>
              <a:rPr lang="en-US" altLang="ja-JP" sz="1000">
                <a:solidFill>
                  <a:srgbClr val="000000"/>
                </a:solidFill>
              </a:rPr>
              <a:t>Source:	Source</a:t>
            </a:r>
          </a:p>
        </p:txBody>
      </p:sp>
      <p:sp>
        <p:nvSpPr>
          <p:cNvPr id="10" name="AcnUnitofMeasure_ID_5188" hidden="1"/>
          <p:cNvSpPr txBox="1">
            <a:spLocks noChangeArrowheads="1"/>
          </p:cNvSpPr>
          <p:nvPr>
            <p:custDataLst>
              <p:tags r:id="rId6"/>
            </p:custDataLst>
          </p:nvPr>
        </p:nvSpPr>
        <p:spPr bwMode="gray">
          <a:xfrm>
            <a:off x="165100" y="1697038"/>
            <a:ext cx="6986588" cy="212725"/>
          </a:xfrm>
          <a:prstGeom prst="rect">
            <a:avLst/>
          </a:prstGeom>
          <a:noFill/>
          <a:ln>
            <a:noFill/>
          </a:ln>
        </p:spPr>
        <p:txBody>
          <a:bodyPr lIns="0" tIns="0" rIns="0" bIns="0">
            <a:spAutoFit/>
          </a:bodyPr>
          <a:lstStyle>
            <a:lvl1pPr>
              <a:defRPr sz="1200">
                <a:solidFill>
                  <a:schemeClr val="tx1"/>
                </a:solidFill>
                <a:latin typeface="Arial" charset="0"/>
                <a:ea typeface="ＭＳ Ｐゴシック" pitchFamily="50" charset="-128"/>
              </a:defRPr>
            </a:lvl1pPr>
            <a:lvl2pPr marL="742950" indent="-285750">
              <a:defRPr sz="1200">
                <a:solidFill>
                  <a:schemeClr val="tx1"/>
                </a:solidFill>
                <a:latin typeface="Arial" charset="0"/>
                <a:ea typeface="ＭＳ Ｐゴシック" pitchFamily="50" charset="-128"/>
              </a:defRPr>
            </a:lvl2pPr>
            <a:lvl3pPr marL="1143000" indent="-228600">
              <a:defRPr sz="1200">
                <a:solidFill>
                  <a:schemeClr val="tx1"/>
                </a:solidFill>
                <a:latin typeface="Arial" charset="0"/>
                <a:ea typeface="ＭＳ Ｐゴシック" pitchFamily="50" charset="-128"/>
              </a:defRPr>
            </a:lvl3pPr>
            <a:lvl4pPr marL="1600200" indent="-228600">
              <a:defRPr sz="1200">
                <a:solidFill>
                  <a:schemeClr val="tx1"/>
                </a:solidFill>
                <a:latin typeface="Arial" charset="0"/>
                <a:ea typeface="ＭＳ Ｐゴシック" pitchFamily="50" charset="-128"/>
              </a:defRPr>
            </a:lvl4pPr>
            <a:lvl5pPr marL="2057400" indent="-228600">
              <a:defRPr sz="1200">
                <a:solidFill>
                  <a:schemeClr val="tx1"/>
                </a:solidFill>
                <a:latin typeface="Arial" charset="0"/>
                <a:ea typeface="ＭＳ Ｐゴシック" pitchFamily="50" charset="-128"/>
              </a:defRPr>
            </a:lvl5pPr>
            <a:lvl6pPr marL="2514600" indent="-228600" algn="ctr" eaLnBrk="0" fontAlgn="base" hangingPunct="0">
              <a:spcBef>
                <a:spcPct val="0"/>
              </a:spcBef>
              <a:spcAft>
                <a:spcPct val="0"/>
              </a:spcAft>
              <a:defRPr sz="1200">
                <a:solidFill>
                  <a:schemeClr val="tx1"/>
                </a:solidFill>
                <a:latin typeface="Arial" charset="0"/>
                <a:ea typeface="ＭＳ Ｐゴシック" pitchFamily="50" charset="-128"/>
              </a:defRPr>
            </a:lvl6pPr>
            <a:lvl7pPr marL="2971800" indent="-228600" algn="ctr" eaLnBrk="0" fontAlgn="base" hangingPunct="0">
              <a:spcBef>
                <a:spcPct val="0"/>
              </a:spcBef>
              <a:spcAft>
                <a:spcPct val="0"/>
              </a:spcAft>
              <a:defRPr sz="1200">
                <a:solidFill>
                  <a:schemeClr val="tx1"/>
                </a:solidFill>
                <a:latin typeface="Arial" charset="0"/>
                <a:ea typeface="ＭＳ Ｐゴシック" pitchFamily="50" charset="-128"/>
              </a:defRPr>
            </a:lvl7pPr>
            <a:lvl8pPr marL="3429000" indent="-228600" algn="ctr" eaLnBrk="0" fontAlgn="base" hangingPunct="0">
              <a:spcBef>
                <a:spcPct val="0"/>
              </a:spcBef>
              <a:spcAft>
                <a:spcPct val="0"/>
              </a:spcAft>
              <a:defRPr sz="1200">
                <a:solidFill>
                  <a:schemeClr val="tx1"/>
                </a:solidFill>
                <a:latin typeface="Arial" charset="0"/>
                <a:ea typeface="ＭＳ Ｐゴシック" pitchFamily="50" charset="-128"/>
              </a:defRPr>
            </a:lvl8pPr>
            <a:lvl9pPr marL="3886200" indent="-228600" algn="ctr" eaLnBrk="0" fontAlgn="base" hangingPunct="0">
              <a:spcBef>
                <a:spcPct val="0"/>
              </a:spcBef>
              <a:spcAft>
                <a:spcPct val="0"/>
              </a:spcAft>
              <a:defRPr sz="1200">
                <a:solidFill>
                  <a:schemeClr val="tx1"/>
                </a:solidFill>
                <a:latin typeface="Arial" charset="0"/>
                <a:ea typeface="ＭＳ Ｐゴシック" pitchFamily="50" charset="-128"/>
              </a:defRPr>
            </a:lvl9pPr>
          </a:lstStyle>
          <a:p>
            <a:pPr algn="l" eaLnBrk="1" hangingPunct="1">
              <a:defRPr/>
            </a:pPr>
            <a:r>
              <a:rPr lang="en-US" altLang="ja-JP" sz="1400">
                <a:solidFill>
                  <a:srgbClr val="000000"/>
                </a:solidFill>
              </a:rPr>
              <a:t>Unit of Measure</a:t>
            </a:r>
          </a:p>
        </p:txBody>
      </p:sp>
      <p:sp>
        <p:nvSpPr>
          <p:cNvPr id="13" name="テキスト ボックス 12">
            <a:extLst>
              <a:ext uri="{FF2B5EF4-FFF2-40B4-BE49-F238E27FC236}">
                <a16:creationId xmlns:a16="http://schemas.microsoft.com/office/drawing/2014/main" id="{6E8D4515-97FF-4303-8033-A86075EB9D39}"/>
              </a:ext>
            </a:extLst>
          </p:cNvPr>
          <p:cNvSpPr txBox="1"/>
          <p:nvPr userDrawn="1"/>
        </p:nvSpPr>
        <p:spPr>
          <a:xfrm>
            <a:off x="9562038" y="6623714"/>
            <a:ext cx="287506" cy="226591"/>
          </a:xfrm>
          <a:prstGeom prst="rect">
            <a:avLst/>
          </a:prstGeom>
          <a:noFill/>
        </p:spPr>
        <p:txBody>
          <a:bodyPr wrap="none" lIns="36000" tIns="36000" rIns="36000" bIns="36000" rtlCol="0">
            <a:spAutoFit/>
          </a:bodyPr>
          <a:lstStyle/>
          <a:p>
            <a:pPr algn="ctr">
              <a:buNone/>
            </a:pPr>
            <a:fld id="{989496C2-B50A-F244-A0A1-E3849033C8B1}" type="slidenum">
              <a:rPr lang="en-GB" altLang="ja-JP" sz="1000"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buNone/>
              </a:pPr>
              <a:t>‹#›</a:t>
            </a:fld>
            <a:endParaRPr kumimoji="1" lang="ja-JP" altLang="en-US" sz="1000" i="1">
              <a:latin typeface="Meiryo UI" panose="020B0604030504040204" pitchFamily="50" charset="-128"/>
              <a:ea typeface="Meiryo UI" panose="020B0604030504040204" pitchFamily="50" charset="-128"/>
              <a:sym typeface="Meiryo UI" panose="020B0604030504040204" pitchFamily="50" charset="-128"/>
            </a:endParaRPr>
          </a:p>
        </p:txBody>
      </p:sp>
      <p:sp>
        <p:nvSpPr>
          <p:cNvPr id="12" name="Title 1">
            <a:extLst>
              <a:ext uri="{FF2B5EF4-FFF2-40B4-BE49-F238E27FC236}">
                <a16:creationId xmlns:a16="http://schemas.microsoft.com/office/drawing/2014/main" id="{1A87CC91-6B81-4208-B716-A3F8BEEB283D}"/>
              </a:ext>
            </a:extLst>
          </p:cNvPr>
          <p:cNvSpPr>
            <a:spLocks noGrp="1"/>
          </p:cNvSpPr>
          <p:nvPr>
            <p:ph type="title"/>
          </p:nvPr>
        </p:nvSpPr>
        <p:spPr>
          <a:xfrm>
            <a:off x="488504" y="476672"/>
            <a:ext cx="8928000" cy="420752"/>
          </a:xfrm>
          <a:prstGeom prst="rect">
            <a:avLst/>
          </a:prstGeom>
        </p:spPr>
        <p:txBody>
          <a:bodyPr vert="horz" lIns="0" tIns="0" rIns="0" bIns="0" rtlCol="0" anchor="b" anchorCtr="0">
            <a:noAutofit/>
          </a:bodyPr>
          <a:lstStyle>
            <a:lvl1pPr>
              <a:lnSpc>
                <a:spcPct val="100000"/>
              </a:lnSpc>
              <a:spcBef>
                <a:spcPts val="0"/>
              </a:spcBef>
              <a:spcAft>
                <a:spcPts val="0"/>
              </a:spcAft>
              <a:defRPr lang="en-GB" sz="2400" b="1" dirty="0">
                <a:latin typeface="Calibri" panose="020F0502020204030204" pitchFamily="34" charset="0"/>
                <a:ea typeface="Meiryo UI" panose="020B0604030504040204" pitchFamily="50" charset="-128"/>
                <a:cs typeface="Calibri" panose="020F0502020204030204" pitchFamily="34" charset="0"/>
              </a:defRPr>
            </a:lvl1pPr>
          </a:lstStyle>
          <a:p>
            <a:pPr lvl="0"/>
            <a:r>
              <a:rPr lang="ja-JP" altLang="en-US"/>
              <a:t>マスター タイトルの書式設定</a:t>
            </a:r>
            <a:endParaRPr lang="en-GB"/>
          </a:p>
        </p:txBody>
      </p:sp>
      <p:sp>
        <p:nvSpPr>
          <p:cNvPr id="15" name="Text Placeholder 10">
            <a:extLst>
              <a:ext uri="{FF2B5EF4-FFF2-40B4-BE49-F238E27FC236}">
                <a16:creationId xmlns:a16="http://schemas.microsoft.com/office/drawing/2014/main" id="{F47BBEB0-889A-4A89-91C6-23B258975105}"/>
              </a:ext>
            </a:extLst>
          </p:cNvPr>
          <p:cNvSpPr>
            <a:spLocks noGrp="1"/>
          </p:cNvSpPr>
          <p:nvPr>
            <p:ph type="body" idx="12"/>
          </p:nvPr>
        </p:nvSpPr>
        <p:spPr>
          <a:xfrm>
            <a:off x="488504" y="944949"/>
            <a:ext cx="8928000" cy="669414"/>
          </a:xfrm>
          <a:prstGeom prst="rect">
            <a:avLst/>
          </a:prstGeom>
        </p:spPr>
        <p:txBody>
          <a:bodyPr vert="horz" lIns="0" tIns="0" rIns="0" bIns="0" rtlCol="0">
            <a:noAutofit/>
          </a:bodyPr>
          <a:lstStyle>
            <a:lvl1pPr marR="0" defTabSz="990546" latinLnBrk="0">
              <a:lnSpc>
                <a:spcPct val="100000"/>
              </a:lnSpc>
              <a:spcBef>
                <a:spcPts val="0"/>
              </a:spcBef>
              <a:spcAft>
                <a:spcPts val="0"/>
              </a:spcAft>
              <a:buClrTx/>
              <a:buSzTx/>
              <a:tabLst/>
              <a:defRPr lang="ja-JP" altLang="en-US" sz="1600" dirty="0" smtClean="0">
                <a:latin typeface="Calibri" panose="020F0502020204030204" pitchFamily="34" charset="0"/>
                <a:ea typeface="Meiryo UI" panose="020B0604030504040204" pitchFamily="50" charset="-128"/>
                <a:cs typeface="Calibri" panose="020F0502020204030204" pitchFamily="34" charset="0"/>
                <a:sym typeface="Meiryo UI" panose="020B0604030504040204" pitchFamily="50" charset="-128"/>
              </a:defRPr>
            </a:lvl1pPr>
            <a:lvl2pPr marL="644525" indent="-285750">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1004888" indent="-285750">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363662" indent="-285750">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436687"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marR="0" lvl="0" defTabSz="990546" latinLnBrk="0">
              <a:lnSpc>
                <a:spcPct val="100000"/>
              </a:lnSpc>
              <a:buClrTx/>
              <a:buSzTx/>
              <a:tabLst/>
            </a:pPr>
            <a:r>
              <a:rPr kumimoji="1" lang="ja-JP" altLang="en-US"/>
              <a:t>マスター テキストの書式設定</a:t>
            </a:r>
          </a:p>
        </p:txBody>
      </p:sp>
      <p:sp>
        <p:nvSpPr>
          <p:cNvPr id="16" name="テキスト プレースホルダー 21">
            <a:extLst>
              <a:ext uri="{FF2B5EF4-FFF2-40B4-BE49-F238E27FC236}">
                <a16:creationId xmlns:a16="http://schemas.microsoft.com/office/drawing/2014/main" id="{5F1BB3F9-D6B5-4E3D-A631-47CE502F3DC2}"/>
              </a:ext>
            </a:extLst>
          </p:cNvPr>
          <p:cNvSpPr>
            <a:spLocks noGrp="1"/>
          </p:cNvSpPr>
          <p:nvPr>
            <p:ph type="body" sz="quarter" idx="13"/>
          </p:nvPr>
        </p:nvSpPr>
        <p:spPr>
          <a:xfrm>
            <a:off x="488504" y="77844"/>
            <a:ext cx="8928000" cy="369332"/>
          </a:xfrm>
          <a:prstGeom prst="rect">
            <a:avLst/>
          </a:prstGeom>
        </p:spPr>
        <p:txBody>
          <a:bodyPr vert="horz" lIns="0" tIns="0" rIns="0" bIns="0" rtlCol="0" anchor="b">
            <a:noAutofit/>
          </a:bodyPr>
          <a:lstStyle>
            <a:lvl1pPr>
              <a:lnSpc>
                <a:spcPct val="100000"/>
              </a:lnSpc>
              <a:spcBef>
                <a:spcPts val="0"/>
              </a:spcBef>
              <a:spcAft>
                <a:spcPts val="0"/>
              </a:spcAft>
              <a:defRPr lang="ja-JP" altLang="en-US" sz="1800" b="1" dirty="0">
                <a:latin typeface="Calibri" panose="020F0502020204030204" pitchFamily="34" charset="0"/>
                <a:ea typeface="Meiryo UI" panose="020B0604030504040204" pitchFamily="50" charset="-128"/>
                <a:cs typeface="Calibri" panose="020F0502020204030204" pitchFamily="34" charset="0"/>
              </a:defRPr>
            </a:lvl1pPr>
          </a:lstStyle>
          <a:p>
            <a:pPr lvl="0">
              <a:spcBef>
                <a:spcPts val="325"/>
              </a:spcBef>
            </a:pPr>
            <a:r>
              <a:rPr kumimoji="1" lang="ja-JP" altLang="en-US"/>
              <a:t>マスター テキストの書式設定</a:t>
            </a:r>
          </a:p>
        </p:txBody>
      </p:sp>
      <p:sp>
        <p:nvSpPr>
          <p:cNvPr id="14" name="Rectangle 67">
            <a:extLst>
              <a:ext uri="{FF2B5EF4-FFF2-40B4-BE49-F238E27FC236}">
                <a16:creationId xmlns:a16="http://schemas.microsoft.com/office/drawing/2014/main" id="{C1869CDF-A89C-460E-A3D7-146B5D8E7A43}"/>
              </a:ext>
            </a:extLst>
          </p:cNvPr>
          <p:cNvSpPr>
            <a:spLocks noChangeArrowheads="1"/>
          </p:cNvSpPr>
          <p:nvPr userDrawn="1"/>
        </p:nvSpPr>
        <p:spPr bwMode="auto">
          <a:xfrm>
            <a:off x="56456" y="6596842"/>
            <a:ext cx="9542997" cy="262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680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Copyright ©</a:t>
            </a:r>
            <a:r>
              <a:rPr kumimoji="0" lang="ja-JP"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　</a:t>
            </a:r>
            <a:r>
              <a:rPr kumimoji="0" lang="en-US" altLang="ja-JP"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2021 Accenture All Rights Reserved.</a:t>
            </a:r>
            <a:r>
              <a:rPr kumimoji="0" lang="ja-JP" altLang="en-US"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　                              　　　　</a:t>
            </a:r>
            <a:r>
              <a:rPr kumimoji="0" lang="en-US" altLang="ja-JP" sz="1100" b="1"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This proposal is highly confidential and proprietary to Accenture </a:t>
            </a:r>
          </a:p>
        </p:txBody>
      </p:sp>
    </p:spTree>
    <p:extLst>
      <p:ext uri="{BB962C8B-B14F-4D97-AF65-F5344CB8AC3E}">
        <p14:creationId xmlns:p14="http://schemas.microsoft.com/office/powerpoint/2010/main" val="490672357"/>
      </p:ext>
    </p:extLst>
  </p:cSld>
  <p:clrMapOvr>
    <a:masterClrMapping/>
  </p:clrMapOvr>
  <p:transition advClick="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p:bg>
      <p:bgPr>
        <a:solidFill>
          <a:schemeClr val="bg1"/>
        </a:solidFill>
        <a:effectLst/>
      </p:bgPr>
    </p:bg>
    <p:spTree>
      <p:nvGrpSpPr>
        <p:cNvPr id="1" name=""/>
        <p:cNvGrpSpPr/>
        <p:nvPr/>
      </p:nvGrpSpPr>
      <p:grpSpPr>
        <a:xfrm>
          <a:off x="0" y="0"/>
          <a:ext cx="0" cy="0"/>
          <a:chOff x="0" y="0"/>
          <a:chExt cx="0" cy="0"/>
        </a:xfrm>
      </p:grpSpPr>
      <p:sp>
        <p:nvSpPr>
          <p:cNvPr id="12" name="Text Placeholder 32">
            <a:extLst>
              <a:ext uri="{FF2B5EF4-FFF2-40B4-BE49-F238E27FC236}">
                <a16:creationId xmlns:a16="http://schemas.microsoft.com/office/drawing/2014/main" id="{9A1B4E06-7674-44E6-8FF8-E12F70DE8AF2}"/>
              </a:ext>
            </a:extLst>
          </p:cNvPr>
          <p:cNvSpPr>
            <a:spLocks noGrp="1"/>
          </p:cNvSpPr>
          <p:nvPr>
            <p:ph type="body" sz="quarter" idx="10" hasCustomPrompt="1"/>
          </p:nvPr>
        </p:nvSpPr>
        <p:spPr>
          <a:xfrm>
            <a:off x="505444" y="5352776"/>
            <a:ext cx="5383660" cy="380480"/>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215"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a:t>YYYY/MM/DD</a:t>
            </a:r>
            <a:r>
              <a:rPr lang="en-US" altLang="ja-JP"/>
              <a:t> (24pt, Bold)</a:t>
            </a:r>
            <a:endParaRPr lang="en-US"/>
          </a:p>
        </p:txBody>
      </p:sp>
      <p:sp>
        <p:nvSpPr>
          <p:cNvPr id="15" name="Title 1">
            <a:extLst>
              <a:ext uri="{FF2B5EF4-FFF2-40B4-BE49-F238E27FC236}">
                <a16:creationId xmlns:a16="http://schemas.microsoft.com/office/drawing/2014/main" id="{ABFDB7CC-3A36-463F-9D3D-3A0E76A1AA44}"/>
              </a:ext>
            </a:extLst>
          </p:cNvPr>
          <p:cNvSpPr>
            <a:spLocks noGrp="1"/>
          </p:cNvSpPr>
          <p:nvPr>
            <p:ph type="ctrTitle" hasCustomPrompt="1"/>
          </p:nvPr>
        </p:nvSpPr>
        <p:spPr>
          <a:xfrm>
            <a:off x="505443" y="2375692"/>
            <a:ext cx="6679806" cy="1125316"/>
          </a:xfrm>
          <a:prstGeom prst="rect">
            <a:avLst/>
          </a:prstGeom>
        </p:spPr>
        <p:txBody>
          <a:bodyPr lIns="36000" tIns="36000" rIns="36000" bIns="36000" anchor="t" anchorCtr="0">
            <a:noAutofit/>
          </a:bodyPr>
          <a:lstStyle>
            <a:lvl1pPr marL="0" indent="0" algn="l" rtl="0" eaLnBrk="1" fontAlgn="base" hangingPunct="1">
              <a:lnSpc>
                <a:spcPct val="100000"/>
              </a:lnSpc>
              <a:spcBef>
                <a:spcPct val="0"/>
              </a:spcBef>
              <a:spcAft>
                <a:spcPts val="0"/>
              </a:spcAft>
              <a:buFont typeface="Arial" charset="0"/>
              <a:buNone/>
              <a:defRPr kumimoji="1" lang="en-GB" sz="2954" b="1" kern="1200" spc="0" baseline="0" dirty="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stStyle>
          <a:p>
            <a:pPr marL="0" lvl="0" indent="0" algn="l" rtl="0" eaLnBrk="1" fontAlgn="base" hangingPunct="1">
              <a:lnSpc>
                <a:spcPct val="100000"/>
              </a:lnSpc>
              <a:spcBef>
                <a:spcPct val="0"/>
              </a:spcBef>
              <a:spcAft>
                <a:spcPts val="0"/>
              </a:spcAft>
              <a:buFont typeface="Arial" charset="0"/>
              <a:buNone/>
            </a:pPr>
            <a:r>
              <a:rPr lang="ja-JP" altLang="en-US"/>
              <a:t>プロジェクト名</a:t>
            </a:r>
            <a:r>
              <a:rPr lang="en-US" altLang="ja-JP"/>
              <a:t>(32pt, Bold)</a:t>
            </a:r>
            <a:endParaRPr lang="en-GB"/>
          </a:p>
        </p:txBody>
      </p:sp>
      <p:sp>
        <p:nvSpPr>
          <p:cNvPr id="17" name="Text Placeholder 32">
            <a:extLst>
              <a:ext uri="{FF2B5EF4-FFF2-40B4-BE49-F238E27FC236}">
                <a16:creationId xmlns:a16="http://schemas.microsoft.com/office/drawing/2014/main" id="{414E02E7-3A5E-4E56-BE45-68E91CEAAC4E}"/>
              </a:ext>
            </a:extLst>
          </p:cNvPr>
          <p:cNvSpPr>
            <a:spLocks noGrp="1"/>
          </p:cNvSpPr>
          <p:nvPr>
            <p:ph type="body" sz="quarter" idx="12" hasCustomPrompt="1"/>
          </p:nvPr>
        </p:nvSpPr>
        <p:spPr>
          <a:xfrm>
            <a:off x="505444" y="587427"/>
            <a:ext cx="5383660" cy="442035"/>
          </a:xfrm>
          <a:prstGeom prst="rect">
            <a:avLst/>
          </a:prstGeom>
        </p:spPr>
        <p:txBody>
          <a:bodyPr lIns="36000" tIns="36000" rIns="36000" bIns="36000" anchor="ctr" anchorCtr="0">
            <a:noAutofit/>
          </a:bodyPr>
          <a:lstStyle>
            <a:lvl1pPr marL="0" indent="0" algn="l" rtl="0" eaLnBrk="1" fontAlgn="base" hangingPunct="1">
              <a:lnSpc>
                <a:spcPct val="100000"/>
              </a:lnSpc>
              <a:spcBef>
                <a:spcPct val="0"/>
              </a:spcBef>
              <a:spcAft>
                <a:spcPts val="0"/>
              </a:spcAft>
              <a:buFont typeface="Arial" charset="0"/>
              <a:buNone/>
              <a:defRPr lang="en-US" sz="2215" b="1" kern="1200" spc="0" baseline="0" dirty="0" smtClean="0">
                <a:solidFill>
                  <a:schemeClr val="tx1"/>
                </a:solidFill>
                <a:latin typeface="Meiryo UI" panose="020B0604030504040204" pitchFamily="50" charset="-128"/>
                <a:ea typeface="Meiryo UI" panose="020B0604030504040204" pitchFamily="50" charset="-128"/>
                <a:cs typeface="Arial" pitchFamily="34" charset="0"/>
                <a:sym typeface="Meiryo UI" panose="020B0604030504040204" pitchFamily="50" charset="-128"/>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ja-JP" altLang="en-US"/>
              <a:t>企業名 </a:t>
            </a:r>
            <a:r>
              <a:rPr lang="en-US" altLang="ja-JP"/>
              <a:t>or </a:t>
            </a:r>
            <a:r>
              <a:rPr lang="ja-JP" altLang="en-US"/>
              <a:t>企業ロゴ </a:t>
            </a:r>
            <a:r>
              <a:rPr lang="en-US" altLang="ja-JP"/>
              <a:t>(24pt, Bold)</a:t>
            </a:r>
            <a:endParaRPr lang="en-US"/>
          </a:p>
        </p:txBody>
      </p:sp>
    </p:spTree>
    <p:extLst>
      <p:ext uri="{BB962C8B-B14F-4D97-AF65-F5344CB8AC3E}">
        <p14:creationId xmlns:p14="http://schemas.microsoft.com/office/powerpoint/2010/main" val="4247028780"/>
      </p:ext>
    </p:extLst>
  </p:cSld>
  <p:clrMapOvr>
    <a:masterClrMapping/>
  </p:clrMapOvr>
  <p:extLst>
    <p:ext uri="{DCECCB84-F9BA-43D5-87BE-67443E8EF086}">
      <p15:sldGuideLst xmlns:p15="http://schemas.microsoft.com/office/powerpoint/2012/main">
        <p15:guide id="0" pos="4154">
          <p15:clr>
            <a:srgbClr val="FBAE40"/>
          </p15:clr>
        </p15:guide>
        <p15:guide id="1" pos="265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241617136"/>
              </p:ext>
            </p:extLst>
          </p:nvPr>
        </p:nvGraphicFramePr>
        <p:xfrm>
          <a:off x="1593" y="1595"/>
          <a:ext cx="1587" cy="1587"/>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2" name="オブジェクト 1" hidden="1"/>
                      <p:cNvPicPr/>
                      <p:nvPr/>
                    </p:nvPicPr>
                    <p:blipFill>
                      <a:blip r:embed="rId5"/>
                      <a:stretch>
                        <a:fillRect/>
                      </a:stretch>
                    </p:blipFill>
                    <p:spPr>
                      <a:xfrm>
                        <a:off x="1593" y="1595"/>
                        <a:ext cx="1587" cy="1587"/>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CA469BE0-C4DD-4A81-90A8-F38AF1A7F083}"/>
              </a:ext>
            </a:extLst>
          </p:cNvPr>
          <p:cNvSpPr/>
          <p:nvPr userDrawn="1">
            <p:custDataLst>
              <p:tags r:id="rId2"/>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844083" eaLnBrk="1" latinLnBrk="0" hangingPunct="1">
              <a:lnSpc>
                <a:spcPct val="100000"/>
              </a:lnSpc>
              <a:spcBef>
                <a:spcPct val="0"/>
              </a:spcBef>
              <a:spcAft>
                <a:spcPct val="0"/>
              </a:spcAft>
              <a:buClrTx/>
              <a:buSzTx/>
              <a:buFontTx/>
              <a:buNone/>
              <a:tabLst/>
            </a:pPr>
            <a:endParaRPr kumimoji="1" lang="ja-JP" altLang="en-US" sz="24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10" name="Title 1"/>
          <p:cNvSpPr>
            <a:spLocks noGrp="1"/>
          </p:cNvSpPr>
          <p:nvPr>
            <p:ph type="title"/>
          </p:nvPr>
        </p:nvSpPr>
        <p:spPr>
          <a:xfrm>
            <a:off x="488507" y="476672"/>
            <a:ext cx="8928000" cy="420752"/>
          </a:xfrm>
          <a:prstGeom prst="rect">
            <a:avLst/>
          </a:prstGeom>
        </p:spPr>
        <p:txBody>
          <a:bodyPr vert="horz" lIns="0" tIns="0" rIns="0" bIns="0" rtlCol="0" anchor="b" anchorCtr="0">
            <a:noAutofit/>
          </a:bodyPr>
          <a:lstStyle>
            <a:lvl1pPr>
              <a:defRPr lang="en-GB" dirty="0"/>
            </a:lvl1pPr>
          </a:lstStyle>
          <a:p>
            <a:pPr lvl="0"/>
            <a:r>
              <a:rPr lang="ja-JP" altLang="en-US"/>
              <a:t>マスター タイトルの書式設定</a:t>
            </a:r>
            <a:endParaRPr lang="en-GB"/>
          </a:p>
        </p:txBody>
      </p:sp>
      <p:sp>
        <p:nvSpPr>
          <p:cNvPr id="11" name="Text Placeholder 10"/>
          <p:cNvSpPr>
            <a:spLocks noGrp="1"/>
          </p:cNvSpPr>
          <p:nvPr>
            <p:ph type="body" idx="12"/>
          </p:nvPr>
        </p:nvSpPr>
        <p:spPr>
          <a:xfrm>
            <a:off x="488507" y="944949"/>
            <a:ext cx="8928000" cy="669414"/>
          </a:xfrm>
          <a:prstGeom prst="rect">
            <a:avLst/>
          </a:prstGeom>
        </p:spPr>
        <p:txBody>
          <a:bodyPr vert="horz" lIns="0" tIns="0" rIns="0" bIns="0" rtlCol="0">
            <a:noAutofit/>
          </a:bodyPr>
          <a:lstStyle>
            <a:lvl1pPr marR="0" defTabSz="914373" latinLnBrk="0">
              <a:lnSpc>
                <a:spcPct val="100000"/>
              </a:lnSpc>
              <a:spcBef>
                <a:spcPts val="0"/>
              </a:spcBef>
              <a:spcAft>
                <a:spcPts val="0"/>
              </a:spcAft>
              <a:buClrTx/>
              <a:buSzTx/>
              <a:tabLst/>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1pPr>
            <a:lvl2pPr marL="594961" indent="-263776">
              <a:buFont typeface="Wingdings" panose="05000000000000000000" pitchFamily="2" charset="2"/>
              <a:buChar char="p"/>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2pPr>
            <a:lvl3pPr marL="927612" indent="-263776">
              <a:buFont typeface="Arial" panose="020B0604020202020204" pitchFamily="34" charset="0"/>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3pPr>
            <a:lvl4pPr marL="1258796" indent="-263776">
              <a:buFont typeface="Meiryo UI" panose="020B0604030504040204" pitchFamily="50" charset="-128"/>
              <a:buChar char="–"/>
              <a:defRPr lang="ja-JP" altLang="en-US" dirty="0" smtClean="0">
                <a:latin typeface="Meiryo UI" panose="020B0604030504040204" pitchFamily="50" charset="-128"/>
                <a:ea typeface="Meiryo UI" panose="020B0604030504040204" pitchFamily="50" charset="-128"/>
                <a:sym typeface="Meiryo UI" panose="020B0604030504040204" pitchFamily="50" charset="-128"/>
              </a:defRPr>
            </a:lvl4pPr>
            <a:lvl5pPr marL="1326206" indent="0">
              <a:buNone/>
              <a:defRPr lang="ja-JP" altLang="en-US" dirty="0">
                <a:latin typeface="Meiryo UI" panose="020B0604030504040204" pitchFamily="50" charset="-128"/>
                <a:ea typeface="Meiryo UI" panose="020B0604030504040204" pitchFamily="50" charset="-128"/>
                <a:sym typeface="Meiryo UI" panose="020B0604030504040204" pitchFamily="50" charset="-128"/>
              </a:defRPr>
            </a:lvl5pPr>
          </a:lstStyle>
          <a:p>
            <a:pPr marR="0" lvl="0" defTabSz="914373" latinLnBrk="0">
              <a:lnSpc>
                <a:spcPct val="100000"/>
              </a:lnSpc>
              <a:buClrTx/>
              <a:buSzTx/>
              <a:tabLst/>
            </a:pPr>
            <a:r>
              <a:rPr kumimoji="1" lang="ja-JP" altLang="en-US"/>
              <a:t>マスター テキストの書式設定</a:t>
            </a:r>
          </a:p>
        </p:txBody>
      </p:sp>
      <p:sp>
        <p:nvSpPr>
          <p:cNvPr id="22" name="テキスト プレースホルダー 21"/>
          <p:cNvSpPr>
            <a:spLocks noGrp="1"/>
          </p:cNvSpPr>
          <p:nvPr userDrawn="1">
            <p:ph type="body" sz="quarter" idx="13"/>
          </p:nvPr>
        </p:nvSpPr>
        <p:spPr>
          <a:xfrm>
            <a:off x="488507" y="77844"/>
            <a:ext cx="8928000" cy="369332"/>
          </a:xfrm>
          <a:prstGeom prst="rect">
            <a:avLst/>
          </a:prstGeom>
        </p:spPr>
        <p:txBody>
          <a:bodyPr vert="horz" lIns="0" tIns="0" rIns="0" bIns="0" rtlCol="0" anchor="b">
            <a:noAutofit/>
          </a:bodyPr>
          <a:lstStyle>
            <a:lvl1pPr>
              <a:defRPr lang="ja-JP" altLang="en-US" b="1" dirty="0"/>
            </a:lvl1pPr>
          </a:lstStyle>
          <a:p>
            <a:pPr lvl="0">
              <a:spcBef>
                <a:spcPts val="300"/>
              </a:spcBef>
            </a:pPr>
            <a:r>
              <a:rPr kumimoji="1" lang="ja-JP" altLang="en-US"/>
              <a:t>マスター テキストの書式設定</a:t>
            </a:r>
          </a:p>
        </p:txBody>
      </p:sp>
      <p:sp>
        <p:nvSpPr>
          <p:cNvPr id="14" name="テキスト ボックス 13">
            <a:extLst>
              <a:ext uri="{FF2B5EF4-FFF2-40B4-BE49-F238E27FC236}">
                <a16:creationId xmlns:a16="http://schemas.microsoft.com/office/drawing/2014/main" id="{1B7C929D-1B27-411A-B169-9CD824DB33C9}"/>
              </a:ext>
            </a:extLst>
          </p:cNvPr>
          <p:cNvSpPr txBox="1"/>
          <p:nvPr userDrawn="1"/>
        </p:nvSpPr>
        <p:spPr>
          <a:xfrm>
            <a:off x="9573655" y="6623714"/>
            <a:ext cx="264280" cy="209138"/>
          </a:xfrm>
          <a:prstGeom prst="rect">
            <a:avLst/>
          </a:prstGeom>
          <a:noFill/>
        </p:spPr>
        <p:txBody>
          <a:bodyPr wrap="none" lIns="33231" tIns="33231" rIns="33231" bIns="33231" rtlCol="0">
            <a:spAutoFit/>
          </a:bodyPr>
          <a:lstStyle/>
          <a:p>
            <a:pPr algn="ctr"/>
            <a:fld id="{989496C2-B50A-F244-A0A1-E3849033C8B1}" type="slidenum">
              <a:rPr lang="en-GB" altLang="ja-JP" sz="923" smtClean="0">
                <a:solidFill>
                  <a:schemeClr val="bg1">
                    <a:lumMod val="50000"/>
                  </a:schemeClr>
                </a:solidFill>
                <a:latin typeface="Meiryo UI" panose="020B0604030504040204" pitchFamily="50" charset="-128"/>
                <a:ea typeface="Meiryo UI" panose="020B0604030504040204" pitchFamily="50" charset="-128"/>
                <a:sym typeface="Meiryo UI" panose="020B0604030504040204" pitchFamily="50" charset="-128"/>
              </a:rPr>
              <a:pPr algn="ctr"/>
              <a:t>‹#›</a:t>
            </a:fld>
            <a:endParaRPr kumimoji="1" lang="ja-JP" altLang="en-US" sz="923" i="1">
              <a:latin typeface="Meiryo UI" panose="020B0604030504040204" pitchFamily="50" charset="-128"/>
              <a:ea typeface="Meiryo UI" panose="020B0604030504040204" pitchFamily="50" charset="-128"/>
              <a:sym typeface="Meiryo UI" panose="020B0604030504040204" pitchFamily="50" charset="-128"/>
            </a:endParaRPr>
          </a:p>
        </p:txBody>
      </p:sp>
      <p:sp>
        <p:nvSpPr>
          <p:cNvPr id="13" name="正方形/長方形 12">
            <a:extLst>
              <a:ext uri="{FF2B5EF4-FFF2-40B4-BE49-F238E27FC236}">
                <a16:creationId xmlns:a16="http://schemas.microsoft.com/office/drawing/2014/main" id="{1FF3247C-30B2-42E4-874A-E927A0D001B8}"/>
              </a:ext>
            </a:extLst>
          </p:cNvPr>
          <p:cNvSpPr/>
          <p:nvPr userDrawn="1"/>
        </p:nvSpPr>
        <p:spPr bwMode="auto">
          <a:xfrm>
            <a:off x="-879585" y="6040398"/>
            <a:ext cx="576000" cy="5760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84406" tIns="42203" rIns="84406" bIns="42203" numCol="1" rtlCol="0" anchor="t" anchorCtr="0" compatLnSpc="1">
            <a:prstTxWarp prst="textNoShape">
              <a:avLst/>
            </a:prstTxWarp>
          </a:bodyPr>
          <a:lstStyle/>
          <a:p>
            <a:pPr marL="0" marR="0" indent="0" algn="l" defTabSz="844083" rtl="0" eaLnBrk="1" fontAlgn="base" latinLnBrk="0" hangingPunct="1">
              <a:lnSpc>
                <a:spcPct val="100000"/>
              </a:lnSpc>
              <a:spcBef>
                <a:spcPts val="0"/>
              </a:spcBef>
              <a:spcAft>
                <a:spcPct val="0"/>
              </a:spcAft>
              <a:buClrTx/>
              <a:buSzTx/>
              <a:buFontTx/>
              <a:buNone/>
              <a:tabLst/>
            </a:pPr>
            <a:endParaRPr kumimoji="0" lang="ja-JP" altLang="en-US" sz="1108" b="1" i="0" u="none" strike="noStrike" cap="none" normalizeH="0" baseline="0">
              <a:ln>
                <a:noFill/>
              </a:ln>
              <a:solidFill>
                <a:schemeClr val="tx1"/>
              </a:solidFill>
              <a:effectLst/>
              <a:latin typeface="Arial" pitchFamily="34" charset="0"/>
              <a:cs typeface="Arial" pitchFamily="34" charset="0"/>
            </a:endParaRPr>
          </a:p>
        </p:txBody>
      </p:sp>
      <p:sp>
        <p:nvSpPr>
          <p:cNvPr id="15" name="正方形/長方形 14">
            <a:extLst>
              <a:ext uri="{FF2B5EF4-FFF2-40B4-BE49-F238E27FC236}">
                <a16:creationId xmlns:a16="http://schemas.microsoft.com/office/drawing/2014/main" id="{33BD1544-1684-4321-860D-D015C4AE49F5}"/>
              </a:ext>
            </a:extLst>
          </p:cNvPr>
          <p:cNvSpPr/>
          <p:nvPr userDrawn="1"/>
        </p:nvSpPr>
        <p:spPr bwMode="auto">
          <a:xfrm>
            <a:off x="-879585" y="4617892"/>
            <a:ext cx="576000" cy="576000"/>
          </a:xfrm>
          <a:prstGeom prst="rect">
            <a:avLst/>
          </a:prstGeom>
          <a:solidFill>
            <a:srgbClr val="5A5A5A"/>
          </a:solidFill>
          <a:ln w="9525" cap="flat" cmpd="sng" algn="ctr">
            <a:noFill/>
            <a:prstDash val="solid"/>
            <a:round/>
            <a:headEnd type="none" w="med" len="med"/>
            <a:tailEnd type="none" w="med" len="med"/>
          </a:ln>
          <a:effectLst/>
        </p:spPr>
        <p:txBody>
          <a:bodyPr vert="horz" wrap="square" lIns="84406" tIns="42203" rIns="84406" bIns="42203" numCol="1" rtlCol="0" anchor="t" anchorCtr="0" compatLnSpc="1">
            <a:prstTxWarp prst="textNoShape">
              <a:avLst/>
            </a:prstTxWarp>
          </a:bodyPr>
          <a:lstStyle/>
          <a:p>
            <a:pPr marL="0" marR="0" indent="0" algn="l" defTabSz="844083" rtl="0" eaLnBrk="1" fontAlgn="base" latinLnBrk="0" hangingPunct="1">
              <a:lnSpc>
                <a:spcPct val="100000"/>
              </a:lnSpc>
              <a:spcBef>
                <a:spcPts val="0"/>
              </a:spcBef>
              <a:spcAft>
                <a:spcPct val="0"/>
              </a:spcAft>
              <a:buClrTx/>
              <a:buSzTx/>
              <a:buFontTx/>
              <a:buNone/>
              <a:tabLst/>
            </a:pPr>
            <a:endParaRPr kumimoji="0" lang="ja-JP" altLang="en-US" sz="1108" b="1" i="0" u="none" strike="noStrike" cap="none" normalizeH="0" baseline="0">
              <a:ln>
                <a:noFill/>
              </a:ln>
              <a:solidFill>
                <a:schemeClr val="tx1"/>
              </a:solidFill>
              <a:effectLst/>
              <a:latin typeface="Arial" pitchFamily="34" charset="0"/>
              <a:cs typeface="Arial" pitchFamily="34" charset="0"/>
            </a:endParaRPr>
          </a:p>
        </p:txBody>
      </p:sp>
      <p:sp>
        <p:nvSpPr>
          <p:cNvPr id="16" name="正方形/長方形 15">
            <a:extLst>
              <a:ext uri="{FF2B5EF4-FFF2-40B4-BE49-F238E27FC236}">
                <a16:creationId xmlns:a16="http://schemas.microsoft.com/office/drawing/2014/main" id="{AB74F4A3-BDB4-4846-8CBA-A7F9A81C9B78}"/>
              </a:ext>
            </a:extLst>
          </p:cNvPr>
          <p:cNvSpPr/>
          <p:nvPr userDrawn="1"/>
        </p:nvSpPr>
        <p:spPr bwMode="auto">
          <a:xfrm>
            <a:off x="-879585" y="2484133"/>
            <a:ext cx="576000" cy="576000"/>
          </a:xfrm>
          <a:prstGeom prst="rect">
            <a:avLst/>
          </a:prstGeom>
          <a:solidFill>
            <a:srgbClr val="A100FF"/>
          </a:solidFill>
          <a:ln w="9525" cap="flat" cmpd="sng" algn="ctr">
            <a:noFill/>
            <a:prstDash val="solid"/>
            <a:round/>
            <a:headEnd type="none" w="med" len="med"/>
            <a:tailEnd type="none" w="med" len="med"/>
          </a:ln>
          <a:effectLst/>
        </p:spPr>
        <p:txBody>
          <a:bodyPr vert="horz" wrap="square" lIns="84406" tIns="42203" rIns="84406" bIns="42203" numCol="1" rtlCol="0" anchor="t" anchorCtr="0" compatLnSpc="1">
            <a:prstTxWarp prst="textNoShape">
              <a:avLst/>
            </a:prstTxWarp>
          </a:bodyPr>
          <a:lstStyle/>
          <a:p>
            <a:pPr marL="0" marR="0" indent="0" algn="l" defTabSz="844083" rtl="0" eaLnBrk="1" fontAlgn="base" latinLnBrk="0" hangingPunct="1">
              <a:lnSpc>
                <a:spcPct val="100000"/>
              </a:lnSpc>
              <a:spcBef>
                <a:spcPts val="0"/>
              </a:spcBef>
              <a:spcAft>
                <a:spcPct val="0"/>
              </a:spcAft>
              <a:buClrTx/>
              <a:buSzTx/>
              <a:buFontTx/>
              <a:buNone/>
              <a:tabLst/>
            </a:pPr>
            <a:endParaRPr kumimoji="0" lang="ja-JP" altLang="en-US" sz="1108" b="1" i="0" u="none" strike="noStrike" cap="none" normalizeH="0" baseline="0">
              <a:ln>
                <a:noFill/>
              </a:ln>
              <a:solidFill>
                <a:schemeClr val="tx1"/>
              </a:solidFill>
              <a:effectLst/>
              <a:latin typeface="Arial" pitchFamily="34" charset="0"/>
              <a:cs typeface="Arial" pitchFamily="34" charset="0"/>
            </a:endParaRPr>
          </a:p>
        </p:txBody>
      </p:sp>
      <p:sp>
        <p:nvSpPr>
          <p:cNvPr id="17" name="正方形/長方形 16">
            <a:extLst>
              <a:ext uri="{FF2B5EF4-FFF2-40B4-BE49-F238E27FC236}">
                <a16:creationId xmlns:a16="http://schemas.microsoft.com/office/drawing/2014/main" id="{D09B2E58-9CBE-41E8-903B-ACFC7D722D04}"/>
              </a:ext>
            </a:extLst>
          </p:cNvPr>
          <p:cNvSpPr/>
          <p:nvPr userDrawn="1"/>
        </p:nvSpPr>
        <p:spPr bwMode="auto">
          <a:xfrm>
            <a:off x="-879585" y="5329145"/>
            <a:ext cx="576000" cy="576000"/>
          </a:xfrm>
          <a:prstGeom prst="rect">
            <a:avLst/>
          </a:prstGeom>
          <a:solidFill>
            <a:srgbClr val="969696"/>
          </a:solidFill>
          <a:ln w="9525" cap="flat" cmpd="sng" algn="ctr">
            <a:noFill/>
            <a:prstDash val="solid"/>
            <a:round/>
            <a:headEnd type="none" w="med" len="med"/>
            <a:tailEnd type="none" w="med" len="med"/>
          </a:ln>
          <a:effectLst/>
        </p:spPr>
        <p:txBody>
          <a:bodyPr vert="horz" wrap="square" lIns="84406" tIns="42203" rIns="84406" bIns="42203" numCol="1" rtlCol="0" anchor="t" anchorCtr="0" compatLnSpc="1">
            <a:prstTxWarp prst="textNoShape">
              <a:avLst/>
            </a:prstTxWarp>
          </a:bodyPr>
          <a:lstStyle/>
          <a:p>
            <a:pPr marL="0" marR="0" indent="0" algn="l" defTabSz="844083" rtl="0" eaLnBrk="1" fontAlgn="base" latinLnBrk="0" hangingPunct="1">
              <a:lnSpc>
                <a:spcPct val="100000"/>
              </a:lnSpc>
              <a:spcBef>
                <a:spcPts val="0"/>
              </a:spcBef>
              <a:spcAft>
                <a:spcPct val="0"/>
              </a:spcAft>
              <a:buClrTx/>
              <a:buSzTx/>
              <a:buFontTx/>
              <a:buNone/>
              <a:tabLst/>
            </a:pPr>
            <a:endParaRPr kumimoji="0" lang="ja-JP" altLang="en-US" sz="1108" b="1" i="0" u="none" strike="noStrike" cap="none" normalizeH="0" baseline="0">
              <a:ln>
                <a:noFill/>
              </a:ln>
              <a:solidFill>
                <a:schemeClr val="tx1"/>
              </a:solidFill>
              <a:effectLst/>
              <a:latin typeface="Arial" pitchFamily="34" charset="0"/>
              <a:cs typeface="Arial" pitchFamily="34" charset="0"/>
            </a:endParaRPr>
          </a:p>
        </p:txBody>
      </p:sp>
      <p:sp>
        <p:nvSpPr>
          <p:cNvPr id="18" name="正方形/長方形 17">
            <a:extLst>
              <a:ext uri="{FF2B5EF4-FFF2-40B4-BE49-F238E27FC236}">
                <a16:creationId xmlns:a16="http://schemas.microsoft.com/office/drawing/2014/main" id="{EF6B4F34-92A9-4805-B332-F2960FA39482}"/>
              </a:ext>
            </a:extLst>
          </p:cNvPr>
          <p:cNvSpPr/>
          <p:nvPr userDrawn="1"/>
        </p:nvSpPr>
        <p:spPr bwMode="auto">
          <a:xfrm>
            <a:off x="-879585" y="3195386"/>
            <a:ext cx="576000" cy="576000"/>
          </a:xfrm>
          <a:prstGeom prst="rect">
            <a:avLst/>
          </a:prstGeom>
          <a:solidFill>
            <a:srgbClr val="008EFF"/>
          </a:solidFill>
          <a:ln w="9525" cap="flat" cmpd="sng" algn="ctr">
            <a:noFill/>
            <a:prstDash val="solid"/>
            <a:round/>
            <a:headEnd type="none" w="med" len="med"/>
            <a:tailEnd type="none" w="med" len="med"/>
          </a:ln>
          <a:effectLst/>
        </p:spPr>
        <p:txBody>
          <a:bodyPr vert="horz" wrap="square" lIns="84406" tIns="42203" rIns="84406" bIns="42203" numCol="1" rtlCol="0" anchor="t" anchorCtr="0" compatLnSpc="1">
            <a:prstTxWarp prst="textNoShape">
              <a:avLst/>
            </a:prstTxWarp>
          </a:bodyPr>
          <a:lstStyle/>
          <a:p>
            <a:pPr marL="0" marR="0" indent="0" algn="l" defTabSz="844083" rtl="0" eaLnBrk="1" fontAlgn="base" latinLnBrk="0" hangingPunct="1">
              <a:lnSpc>
                <a:spcPct val="100000"/>
              </a:lnSpc>
              <a:spcBef>
                <a:spcPts val="0"/>
              </a:spcBef>
              <a:spcAft>
                <a:spcPct val="0"/>
              </a:spcAft>
              <a:buClrTx/>
              <a:buSzTx/>
              <a:buFontTx/>
              <a:buNone/>
              <a:tabLst/>
            </a:pPr>
            <a:endParaRPr kumimoji="0" lang="ja-JP" altLang="en-US" sz="1108" b="1" i="0" u="none" strike="noStrike" cap="none" normalizeH="0" baseline="0">
              <a:ln>
                <a:noFill/>
              </a:ln>
              <a:solidFill>
                <a:schemeClr val="tx1"/>
              </a:solidFill>
              <a:effectLst/>
              <a:latin typeface="Arial" pitchFamily="34" charset="0"/>
              <a:cs typeface="Arial" pitchFamily="34" charset="0"/>
            </a:endParaRPr>
          </a:p>
        </p:txBody>
      </p:sp>
      <p:sp>
        <p:nvSpPr>
          <p:cNvPr id="19" name="正方形/長方形 18">
            <a:extLst>
              <a:ext uri="{FF2B5EF4-FFF2-40B4-BE49-F238E27FC236}">
                <a16:creationId xmlns:a16="http://schemas.microsoft.com/office/drawing/2014/main" id="{6D1A2C38-44A3-429C-82B9-CC651E7387E0}"/>
              </a:ext>
            </a:extLst>
          </p:cNvPr>
          <p:cNvSpPr/>
          <p:nvPr userDrawn="1"/>
        </p:nvSpPr>
        <p:spPr bwMode="auto">
          <a:xfrm>
            <a:off x="-879585" y="3906639"/>
            <a:ext cx="576000" cy="576000"/>
          </a:xfrm>
          <a:prstGeom prst="rect">
            <a:avLst/>
          </a:prstGeom>
          <a:solidFill>
            <a:srgbClr val="8BE1FF"/>
          </a:solidFill>
          <a:ln w="9525" cap="flat" cmpd="sng" algn="ctr">
            <a:noFill/>
            <a:prstDash val="solid"/>
            <a:round/>
            <a:headEnd type="none" w="med" len="med"/>
            <a:tailEnd type="none" w="med" len="med"/>
          </a:ln>
          <a:effectLst/>
        </p:spPr>
        <p:txBody>
          <a:bodyPr vert="horz" wrap="square" lIns="84406" tIns="42203" rIns="84406" bIns="42203" numCol="1" rtlCol="0" anchor="t" anchorCtr="0" compatLnSpc="1">
            <a:prstTxWarp prst="textNoShape">
              <a:avLst/>
            </a:prstTxWarp>
          </a:bodyPr>
          <a:lstStyle/>
          <a:p>
            <a:pPr marL="0" marR="0" indent="0" algn="l" defTabSz="844083" rtl="0" eaLnBrk="1" fontAlgn="base" latinLnBrk="0" hangingPunct="1">
              <a:lnSpc>
                <a:spcPct val="100000"/>
              </a:lnSpc>
              <a:spcBef>
                <a:spcPts val="0"/>
              </a:spcBef>
              <a:spcAft>
                <a:spcPct val="0"/>
              </a:spcAft>
              <a:buClrTx/>
              <a:buSzTx/>
              <a:buFontTx/>
              <a:buNone/>
              <a:tabLst/>
            </a:pPr>
            <a:endParaRPr kumimoji="0" lang="ja-JP" altLang="en-US" sz="1108" b="1" i="0" u="none" strike="noStrike" cap="none" normalizeH="0" baseline="0">
              <a:ln>
                <a:noFill/>
              </a:ln>
              <a:solidFill>
                <a:schemeClr val="tx1"/>
              </a:solidFill>
              <a:effectLst/>
              <a:latin typeface="Arial" pitchFamily="34" charset="0"/>
              <a:cs typeface="Arial" pitchFamily="34" charset="0"/>
            </a:endParaRPr>
          </a:p>
        </p:txBody>
      </p:sp>
      <p:sp>
        <p:nvSpPr>
          <p:cNvPr id="20" name="正方形/長方形 19">
            <a:extLst>
              <a:ext uri="{FF2B5EF4-FFF2-40B4-BE49-F238E27FC236}">
                <a16:creationId xmlns:a16="http://schemas.microsoft.com/office/drawing/2014/main" id="{947E5721-BE2D-4EB2-A9D2-1CC8E1A76E0E}"/>
              </a:ext>
            </a:extLst>
          </p:cNvPr>
          <p:cNvSpPr/>
          <p:nvPr userDrawn="1"/>
        </p:nvSpPr>
        <p:spPr bwMode="auto">
          <a:xfrm>
            <a:off x="-879585" y="1772880"/>
            <a:ext cx="576000" cy="576000"/>
          </a:xfrm>
          <a:prstGeom prst="rect">
            <a:avLst/>
          </a:prstGeom>
          <a:solidFill>
            <a:srgbClr val="460073"/>
          </a:solidFill>
          <a:ln w="9525" cap="flat" cmpd="sng" algn="ctr">
            <a:noFill/>
            <a:prstDash val="solid"/>
            <a:round/>
            <a:headEnd type="none" w="med" len="med"/>
            <a:tailEnd type="none" w="med" len="med"/>
          </a:ln>
          <a:effectLst/>
        </p:spPr>
        <p:txBody>
          <a:bodyPr vert="horz" wrap="square" lIns="84406" tIns="42203" rIns="84406" bIns="42203" numCol="1" rtlCol="0" anchor="t" anchorCtr="0" compatLnSpc="1">
            <a:prstTxWarp prst="textNoShape">
              <a:avLst/>
            </a:prstTxWarp>
          </a:bodyPr>
          <a:lstStyle/>
          <a:p>
            <a:pPr marL="0" marR="0" indent="0" algn="l" defTabSz="844083" rtl="0" eaLnBrk="1" fontAlgn="base" latinLnBrk="0" hangingPunct="1">
              <a:lnSpc>
                <a:spcPct val="100000"/>
              </a:lnSpc>
              <a:spcBef>
                <a:spcPts val="0"/>
              </a:spcBef>
              <a:spcAft>
                <a:spcPct val="0"/>
              </a:spcAft>
              <a:buClrTx/>
              <a:buSzTx/>
              <a:buFontTx/>
              <a:buNone/>
              <a:tabLst/>
            </a:pPr>
            <a:endParaRPr kumimoji="0" lang="ja-JP" altLang="en-US" sz="1108" b="1" i="0" u="none" strike="noStrike" cap="none" normalizeH="0" baseline="0">
              <a:ln>
                <a:noFill/>
              </a:ln>
              <a:solidFill>
                <a:schemeClr val="tx1"/>
              </a:solidFill>
              <a:effectLst/>
              <a:latin typeface="Arial" pitchFamily="34" charset="0"/>
              <a:cs typeface="Arial" pitchFamily="34" charset="0"/>
            </a:endParaRPr>
          </a:p>
        </p:txBody>
      </p:sp>
      <p:sp>
        <p:nvSpPr>
          <p:cNvPr id="21" name="正方形/長方形 20">
            <a:extLst>
              <a:ext uri="{FF2B5EF4-FFF2-40B4-BE49-F238E27FC236}">
                <a16:creationId xmlns:a16="http://schemas.microsoft.com/office/drawing/2014/main" id="{756E8D20-BEB7-4C96-89BA-48F8D11AD94F}"/>
              </a:ext>
            </a:extLst>
          </p:cNvPr>
          <p:cNvSpPr/>
          <p:nvPr userDrawn="1"/>
        </p:nvSpPr>
        <p:spPr bwMode="auto">
          <a:xfrm>
            <a:off x="-1625630" y="2484133"/>
            <a:ext cx="576000" cy="576000"/>
          </a:xfrm>
          <a:prstGeom prst="rect">
            <a:avLst/>
          </a:prstGeom>
          <a:solidFill>
            <a:srgbClr val="D999FF"/>
          </a:solidFill>
          <a:ln w="9525" cap="flat" cmpd="sng" algn="ctr">
            <a:noFill/>
            <a:prstDash val="solid"/>
            <a:round/>
            <a:headEnd type="none" w="med" len="med"/>
            <a:tailEnd type="none" w="med" len="med"/>
          </a:ln>
          <a:effectLst/>
        </p:spPr>
        <p:txBody>
          <a:bodyPr vert="horz" wrap="square" lIns="84406" tIns="42203" rIns="84406" bIns="42203" numCol="1" rtlCol="0" anchor="t" anchorCtr="0" compatLnSpc="1">
            <a:prstTxWarp prst="textNoShape">
              <a:avLst/>
            </a:prstTxWarp>
          </a:bodyPr>
          <a:lstStyle/>
          <a:p>
            <a:pPr marL="0" marR="0" indent="0" algn="l" defTabSz="844083" rtl="0" eaLnBrk="1" fontAlgn="base" latinLnBrk="0" hangingPunct="1">
              <a:lnSpc>
                <a:spcPct val="100000"/>
              </a:lnSpc>
              <a:spcBef>
                <a:spcPts val="0"/>
              </a:spcBef>
              <a:spcAft>
                <a:spcPct val="0"/>
              </a:spcAft>
              <a:buClrTx/>
              <a:buSzTx/>
              <a:buFontTx/>
              <a:buNone/>
              <a:tabLst/>
            </a:pPr>
            <a:endParaRPr kumimoji="0" lang="ja-JP" altLang="en-US" sz="1108" b="1" i="0" u="none" strike="noStrike" cap="none" normalizeH="0" baseline="0">
              <a:ln>
                <a:noFill/>
              </a:ln>
              <a:solidFill>
                <a:schemeClr val="tx1"/>
              </a:solidFill>
              <a:effectLst/>
              <a:latin typeface="Arial" pitchFamily="34" charset="0"/>
              <a:cs typeface="Arial" pitchFamily="34" charset="0"/>
            </a:endParaRPr>
          </a:p>
        </p:txBody>
      </p:sp>
      <p:sp>
        <p:nvSpPr>
          <p:cNvPr id="23" name="正方形/長方形 22">
            <a:extLst>
              <a:ext uri="{FF2B5EF4-FFF2-40B4-BE49-F238E27FC236}">
                <a16:creationId xmlns:a16="http://schemas.microsoft.com/office/drawing/2014/main" id="{E7964D68-78FC-43EE-BB9B-D8D2A401E929}"/>
              </a:ext>
            </a:extLst>
          </p:cNvPr>
          <p:cNvSpPr/>
          <p:nvPr userDrawn="1"/>
        </p:nvSpPr>
        <p:spPr bwMode="auto">
          <a:xfrm>
            <a:off x="-1625630" y="3195386"/>
            <a:ext cx="576000" cy="576000"/>
          </a:xfrm>
          <a:prstGeom prst="rect">
            <a:avLst/>
          </a:prstGeom>
          <a:solidFill>
            <a:srgbClr val="ECCCFF"/>
          </a:solidFill>
          <a:ln w="9525" cap="flat" cmpd="sng" algn="ctr">
            <a:noFill/>
            <a:prstDash val="solid"/>
            <a:round/>
            <a:headEnd type="none" w="med" len="med"/>
            <a:tailEnd type="none" w="med" len="med"/>
          </a:ln>
          <a:effectLst/>
        </p:spPr>
        <p:txBody>
          <a:bodyPr vert="horz" wrap="square" lIns="84406" tIns="42203" rIns="84406" bIns="42203" numCol="1" rtlCol="0" anchor="t" anchorCtr="0" compatLnSpc="1">
            <a:prstTxWarp prst="textNoShape">
              <a:avLst/>
            </a:prstTxWarp>
          </a:bodyPr>
          <a:lstStyle/>
          <a:p>
            <a:pPr marL="0" marR="0" indent="0" algn="l" defTabSz="844083" rtl="0" eaLnBrk="1" fontAlgn="base" latinLnBrk="0" hangingPunct="1">
              <a:lnSpc>
                <a:spcPct val="100000"/>
              </a:lnSpc>
              <a:spcBef>
                <a:spcPts val="0"/>
              </a:spcBef>
              <a:spcAft>
                <a:spcPct val="0"/>
              </a:spcAft>
              <a:buClrTx/>
              <a:buSzTx/>
              <a:buFontTx/>
              <a:buNone/>
              <a:tabLst/>
            </a:pPr>
            <a:endParaRPr kumimoji="0" lang="ja-JP" altLang="en-US" sz="1108" b="1" i="0" u="none" strike="noStrike" cap="none" normalizeH="0" baseline="0">
              <a:ln>
                <a:noFill/>
              </a:ln>
              <a:solidFill>
                <a:schemeClr val="tx1"/>
              </a:solidFill>
              <a:effectLst/>
              <a:latin typeface="Arial" pitchFamily="34" charset="0"/>
              <a:cs typeface="Arial" pitchFamily="34" charset="0"/>
            </a:endParaRPr>
          </a:p>
        </p:txBody>
      </p:sp>
      <p:sp>
        <p:nvSpPr>
          <p:cNvPr id="24" name="正方形/長方形 23">
            <a:extLst>
              <a:ext uri="{FF2B5EF4-FFF2-40B4-BE49-F238E27FC236}">
                <a16:creationId xmlns:a16="http://schemas.microsoft.com/office/drawing/2014/main" id="{6759DB8E-4A2C-4A97-834D-1C44FBA50E1B}"/>
              </a:ext>
            </a:extLst>
          </p:cNvPr>
          <p:cNvSpPr/>
          <p:nvPr userDrawn="1"/>
        </p:nvSpPr>
        <p:spPr bwMode="auto">
          <a:xfrm>
            <a:off x="-1625630" y="1772880"/>
            <a:ext cx="576000" cy="576000"/>
          </a:xfrm>
          <a:prstGeom prst="rect">
            <a:avLst/>
          </a:prstGeom>
          <a:solidFill>
            <a:srgbClr val="A100FF"/>
          </a:solidFill>
          <a:ln w="9525" cap="flat" cmpd="sng" algn="ctr">
            <a:noFill/>
            <a:prstDash val="solid"/>
            <a:round/>
            <a:headEnd type="none" w="med" len="med"/>
            <a:tailEnd type="none" w="med" len="med"/>
          </a:ln>
          <a:effectLst/>
        </p:spPr>
        <p:txBody>
          <a:bodyPr vert="horz" wrap="square" lIns="84406" tIns="42203" rIns="84406" bIns="42203" numCol="1" rtlCol="0" anchor="t" anchorCtr="0" compatLnSpc="1">
            <a:prstTxWarp prst="textNoShape">
              <a:avLst/>
            </a:prstTxWarp>
          </a:bodyPr>
          <a:lstStyle/>
          <a:p>
            <a:pPr marL="0" marR="0" indent="0" algn="l" defTabSz="844083" rtl="0" eaLnBrk="1" fontAlgn="base" latinLnBrk="0" hangingPunct="1">
              <a:lnSpc>
                <a:spcPct val="100000"/>
              </a:lnSpc>
              <a:spcBef>
                <a:spcPts val="0"/>
              </a:spcBef>
              <a:spcAft>
                <a:spcPct val="0"/>
              </a:spcAft>
              <a:buClrTx/>
              <a:buSzTx/>
              <a:buFontTx/>
              <a:buNone/>
              <a:tabLst/>
            </a:pPr>
            <a:endParaRPr kumimoji="0" lang="ja-JP" altLang="en-US" sz="1108" b="1"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7969608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536575" y="2243604"/>
            <a:ext cx="5920015" cy="1385607"/>
          </a:xfrm>
          <a:prstGeom prst="rect">
            <a:avLst/>
          </a:prstGeom>
        </p:spPr>
        <p:txBody>
          <a:bodyPr anchor="ctr">
            <a:normAutofit/>
          </a:bodyPr>
          <a:lstStyle>
            <a:lvl1pPr algn="l">
              <a:defRPr sz="3200">
                <a:solidFill>
                  <a:srgbClr val="1B00A4"/>
                </a:solidFill>
                <a:latin typeface="Meiryo UI" panose="020B0604030504040204" pitchFamily="50" charset="-128"/>
                <a:ea typeface="Meiryo UI" panose="020B0604030504040204" pitchFamily="50" charset="-128"/>
              </a:defRPr>
            </a:lvl1pPr>
          </a:lstStyle>
          <a:p>
            <a:r>
              <a:rPr kumimoji="1" lang="ja-JP" altLang="en-US"/>
              <a:t>マスター タイトルの書式設定</a:t>
            </a:r>
          </a:p>
        </p:txBody>
      </p:sp>
      <p:sp>
        <p:nvSpPr>
          <p:cNvPr id="3" name="サブタイトル 2"/>
          <p:cNvSpPr>
            <a:spLocks noGrp="1"/>
          </p:cNvSpPr>
          <p:nvPr>
            <p:ph type="subTitle" idx="1"/>
          </p:nvPr>
        </p:nvSpPr>
        <p:spPr>
          <a:xfrm>
            <a:off x="536576" y="5283892"/>
            <a:ext cx="4109810" cy="414790"/>
          </a:xfrm>
          <a:prstGeom prst="rect">
            <a:avLst/>
          </a:prstGeom>
        </p:spPr>
        <p:txBody>
          <a:bodyPr/>
          <a:lstStyle>
            <a:lvl1pPr marL="0" indent="0" algn="l">
              <a:buNone/>
              <a:defRPr sz="2000">
                <a:latin typeface="Meiryo UI" panose="020B0604030504040204" pitchFamily="50" charset="-128"/>
                <a:ea typeface="Meiryo UI"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pic>
        <p:nvPicPr>
          <p:cNvPr id="59" name="Picture 4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434" y="6150195"/>
            <a:ext cx="2640329" cy="385951"/>
          </a:xfrm>
          <a:prstGeom prst="rect">
            <a:avLst/>
          </a:prstGeom>
        </p:spPr>
      </p:pic>
      <p:sp>
        <p:nvSpPr>
          <p:cNvPr id="60" name="Freeform 5"/>
          <p:cNvSpPr>
            <a:spLocks/>
          </p:cNvSpPr>
          <p:nvPr/>
        </p:nvSpPr>
        <p:spPr bwMode="auto">
          <a:xfrm>
            <a:off x="2101021" y="5881965"/>
            <a:ext cx="259352" cy="258889"/>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rgbClr val="28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7" name="サブタイトル 2"/>
          <p:cNvSpPr txBox="1">
            <a:spLocks/>
          </p:cNvSpPr>
          <p:nvPr userDrawn="1"/>
        </p:nvSpPr>
        <p:spPr>
          <a:xfrm>
            <a:off x="536574" y="557516"/>
            <a:ext cx="4569733" cy="41479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fontAlgn="auto">
              <a:spcAft>
                <a:spcPts val="0"/>
              </a:spcAft>
            </a:pPr>
            <a:r>
              <a:rPr lang="en-US" altLang="ja-JP" sz="2800"/>
              <a:t>XXX</a:t>
            </a:r>
            <a:r>
              <a:rPr lang="ja-JP" altLang="en-US" sz="2800"/>
              <a:t>御中</a:t>
            </a:r>
          </a:p>
        </p:txBody>
      </p:sp>
    </p:spTree>
    <p:extLst>
      <p:ext uri="{BB962C8B-B14F-4D97-AF65-F5344CB8AC3E}">
        <p14:creationId xmlns:p14="http://schemas.microsoft.com/office/powerpoint/2010/main" val="36936037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5" name="正方形/長方形 8"/>
          <p:cNvSpPr>
            <a:spLocks noChangeArrowheads="1"/>
          </p:cNvSpPr>
          <p:nvPr userDrawn="1"/>
        </p:nvSpPr>
        <p:spPr bwMode="auto">
          <a:xfrm>
            <a:off x="9503528" y="6634163"/>
            <a:ext cx="381836" cy="205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kumimoji="1">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kumimoji="1">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kumimoji="1">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kumimoji="1">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r">
              <a:lnSpc>
                <a:spcPct val="80000"/>
              </a:lnSpc>
              <a:defRPr/>
            </a:pPr>
            <a:fld id="{E4C012DC-BF76-4F34-8738-99BAE85500D2}" type="slidenum">
              <a:rPr kumimoji="0" lang="en-US" altLang="ja-JP" sz="923" smtClean="0">
                <a:latin typeface="Meiryo UI" panose="020B0604030504040204" pitchFamily="50" charset="-128"/>
                <a:ea typeface="Meiryo UI" panose="020B0604030504040204" pitchFamily="50" charset="-128"/>
                <a:cs typeface="Arial" panose="020B0604020202020204" pitchFamily="34" charset="0"/>
              </a:rPr>
              <a:pPr algn="r">
                <a:lnSpc>
                  <a:spcPct val="80000"/>
                </a:lnSpc>
                <a:defRPr/>
              </a:pPr>
              <a:t>‹#›</a:t>
            </a:fld>
            <a:endParaRPr kumimoji="0" lang="en-US" altLang="ja-JP" sz="923">
              <a:latin typeface="Meiryo UI" panose="020B0604030504040204" pitchFamily="50" charset="-128"/>
              <a:ea typeface="Meiryo UI" panose="020B0604030504040204" pitchFamily="50" charset="-128"/>
              <a:cs typeface="Arial" panose="020B0604020202020204" pitchFamily="34" charset="0"/>
            </a:endParaRPr>
          </a:p>
        </p:txBody>
      </p:sp>
      <p:sp>
        <p:nvSpPr>
          <p:cNvPr id="2" name="タイトル 1"/>
          <p:cNvSpPr>
            <a:spLocks noGrp="1"/>
          </p:cNvSpPr>
          <p:nvPr>
            <p:ph type="title"/>
          </p:nvPr>
        </p:nvSpPr>
        <p:spPr>
          <a:xfrm>
            <a:off x="345544" y="28575"/>
            <a:ext cx="8828620" cy="673100"/>
          </a:xfrm>
          <a:prstGeom prst="rect">
            <a:avLst/>
          </a:prstGeom>
        </p:spPr>
        <p:txBody>
          <a:bodyPr anchor="b"/>
          <a:lstStyle>
            <a:lvl1pPr marL="410318" indent="-410318">
              <a:defRPr sz="2400">
                <a:latin typeface="Meiryo UI" panose="020B0604030504040204" pitchFamily="50" charset="-128"/>
                <a:ea typeface="Meiryo UI" panose="020B0604030504040204" pitchFamily="50" charset="-128"/>
              </a:defRPr>
            </a:lvl1pPr>
          </a:lstStyle>
          <a:p>
            <a:r>
              <a:rPr lang="ja-JP" altLang="en-US"/>
              <a:t>マスタ タイトルの書式設定</a:t>
            </a:r>
          </a:p>
        </p:txBody>
      </p:sp>
      <p:sp>
        <p:nvSpPr>
          <p:cNvPr id="3" name="コンテンツ プレースホルダ 2"/>
          <p:cNvSpPr>
            <a:spLocks noGrp="1"/>
          </p:cNvSpPr>
          <p:nvPr>
            <p:ph idx="1"/>
          </p:nvPr>
        </p:nvSpPr>
        <p:spPr>
          <a:xfrm>
            <a:off x="345543" y="692697"/>
            <a:ext cx="9435045" cy="2282825"/>
          </a:xfrm>
          <a:prstGeom prst="rect">
            <a:avLst/>
          </a:prstGeom>
        </p:spPr>
        <p:txBody>
          <a:bodyPr/>
          <a:lstStyle>
            <a:lvl1pPr marL="0" indent="0">
              <a:buFontTx/>
              <a:buNone/>
              <a:defRPr sz="2000">
                <a:latin typeface="Meiryo UI" panose="020B0604030504040204" pitchFamily="50" charset="-128"/>
                <a:ea typeface="Meiryo UI" panose="020B0604030504040204" pitchFamily="50" charset="-128"/>
              </a:defRPr>
            </a:lvl1pPr>
            <a:lvl2pPr marL="457200" indent="0">
              <a:buFontTx/>
              <a:buNone/>
              <a:defRPr sz="1800">
                <a:latin typeface="Meiryo UI" panose="020B0604030504040204" pitchFamily="50" charset="-128"/>
                <a:ea typeface="Meiryo UI" panose="020B0604030504040204" pitchFamily="50" charset="-128"/>
              </a:defRPr>
            </a:lvl2pPr>
            <a:lvl3pPr marL="914400" indent="0">
              <a:buFontTx/>
              <a:buNone/>
              <a:defRPr sz="1600">
                <a:latin typeface="Meiryo UI" panose="020B0604030504040204" pitchFamily="50" charset="-128"/>
                <a:ea typeface="Meiryo UI" panose="020B0604030504040204" pitchFamily="50" charset="-128"/>
              </a:defRPr>
            </a:lvl3pPr>
            <a:lvl4pPr marL="1371600" indent="0">
              <a:buFontTx/>
              <a:buNone/>
              <a:defRPr sz="1400">
                <a:latin typeface="Meiryo UI" panose="020B0604030504040204" pitchFamily="50" charset="-128"/>
                <a:ea typeface="Meiryo UI" panose="020B0604030504040204" pitchFamily="50" charset="-128"/>
              </a:defRPr>
            </a:lvl4pPr>
            <a:lvl5pPr marL="1828800" indent="0">
              <a:buFontTx/>
              <a:buNone/>
              <a:defRPr sz="1400">
                <a:latin typeface="Meiryo UI" panose="020B0604030504040204" pitchFamily="50" charset="-128"/>
                <a:ea typeface="Meiryo UI" panose="020B0604030504040204" pitchFamily="50" charset="-128"/>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cxnSp>
        <p:nvCxnSpPr>
          <p:cNvPr id="9" name="Straight Connector 57"/>
          <p:cNvCxnSpPr/>
          <p:nvPr userDrawn="1"/>
        </p:nvCxnSpPr>
        <p:spPr>
          <a:xfrm>
            <a:off x="345543" y="729152"/>
            <a:ext cx="9555000" cy="0"/>
          </a:xfrm>
          <a:prstGeom prst="line">
            <a:avLst/>
          </a:prstGeom>
          <a:ln>
            <a:solidFill>
              <a:srgbClr val="7030A0"/>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7440004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421408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133"/>
          <p:cNvSpPr>
            <a:spLocks noChangeArrowheads="1"/>
          </p:cNvSpPr>
          <p:nvPr userDrawn="1"/>
        </p:nvSpPr>
        <p:spPr bwMode="auto">
          <a:xfrm>
            <a:off x="0" y="0"/>
            <a:ext cx="9906000" cy="6858000"/>
          </a:xfrm>
          <a:prstGeom prst="rect">
            <a:avLst/>
          </a:prstGeom>
          <a:solidFill>
            <a:srgbClr val="557799"/>
          </a:solidFill>
          <a:ln w="9525">
            <a:noFill/>
            <a:miter lim="800000"/>
            <a:headEnd/>
            <a:tailEnd/>
          </a:ln>
          <a:effectLst/>
        </p:spPr>
        <p:txBody>
          <a:bodyPr wrap="none" anchor="ctr"/>
          <a:lstStyle/>
          <a:p>
            <a:pPr>
              <a:defRPr/>
            </a:pPr>
            <a:endParaRPr lang="en-US" sz="3200">
              <a:latin typeface="Arial" charset="0"/>
            </a:endParaRPr>
          </a:p>
        </p:txBody>
      </p:sp>
      <p:pic>
        <p:nvPicPr>
          <p:cNvPr id="54280" name="Picture 112"/>
          <p:cNvPicPr>
            <a:picLocks noChangeAspect="1" noChangeArrowheads="1"/>
          </p:cNvPicPr>
          <p:nvPr userDrawn="1"/>
        </p:nvPicPr>
        <p:blipFill>
          <a:blip r:embed="rId2" cstate="print"/>
          <a:srcRect/>
          <a:stretch>
            <a:fillRect/>
          </a:stretch>
        </p:blipFill>
        <p:spPr bwMode="gray">
          <a:xfrm>
            <a:off x="302685" y="2149475"/>
            <a:ext cx="4139539" cy="1885950"/>
          </a:xfrm>
          <a:prstGeom prst="rect">
            <a:avLst/>
          </a:prstGeom>
          <a:noFill/>
          <a:ln w="9525">
            <a:noFill/>
            <a:miter lim="800000"/>
            <a:headEnd/>
            <a:tailEnd/>
          </a:ln>
        </p:spPr>
      </p:pic>
    </p:spTree>
    <p:extLst>
      <p:ext uri="{BB962C8B-B14F-4D97-AF65-F5344CB8AC3E}">
        <p14:creationId xmlns:p14="http://schemas.microsoft.com/office/powerpoint/2010/main" val="307496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4.emf"/><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oleObject" Target="../embeddings/oleObject7.bin"/><Relationship Id="rId5" Type="http://schemas.openxmlformats.org/officeDocument/2006/relationships/tags" Target="../tags/tag14.xml"/><Relationship Id="rId4" Type="http://schemas.openxmlformats.org/officeDocument/2006/relationships/tags" Target="../tags/tag13.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slideLayout" Target="../slideLayouts/slideLayout16.xml"/><Relationship Id="rId7" Type="http://schemas.openxmlformats.org/officeDocument/2006/relationships/oleObject" Target="../embeddings/oleObject9.bin"/><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7" Type="http://schemas.openxmlformats.org/officeDocument/2006/relationships/image" Target="../media/image4.emf"/><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oleObject" Target="../embeddings/oleObject11.bin"/><Relationship Id="rId5" Type="http://schemas.openxmlformats.org/officeDocument/2006/relationships/tags" Target="../tags/tag22.xml"/><Relationship Id="rId4" Type="http://schemas.openxmlformats.org/officeDocument/2006/relationships/tags" Target="../tags/tag21.xml"/></Relationships>
</file>

<file path=ppt/slideMasters/_rels/slideMaster5.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slideLayout" Target="../slideLayouts/slideLayout21.xml"/><Relationship Id="rId7" Type="http://schemas.openxmlformats.org/officeDocument/2006/relationships/tags" Target="../tags/tag26.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tags" Target="../tags/tag25.xml"/><Relationship Id="rId5" Type="http://schemas.openxmlformats.org/officeDocument/2006/relationships/theme" Target="../theme/theme5.xml"/><Relationship Id="rId4" Type="http://schemas.openxmlformats.org/officeDocument/2006/relationships/slideLayout" Target="../slideLayouts/slideLayout22.xml"/><Relationship Id="rId9" Type="http://schemas.openxmlformats.org/officeDocument/2006/relationships/image" Target="../media/image4.emf"/></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7" Type="http://schemas.openxmlformats.org/officeDocument/2006/relationships/image" Target="../media/image4.emf"/><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oleObject" Target="../embeddings/oleObject16.bin"/><Relationship Id="rId5" Type="http://schemas.openxmlformats.org/officeDocument/2006/relationships/tags" Target="../tags/tag37.xml"/><Relationship Id="rId4" Type="http://schemas.openxmlformats.org/officeDocument/2006/relationships/tags" Target="../tags/tag36.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slideLayout" Target="../slideLayouts/slideLayout27.xml"/><Relationship Id="rId7" Type="http://schemas.openxmlformats.org/officeDocument/2006/relationships/oleObject" Target="../embeddings/oleObject18.bin"/><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tags" Target="../tags/tag40.xml"/><Relationship Id="rId5" Type="http://schemas.openxmlformats.org/officeDocument/2006/relationships/theme" Target="../theme/theme7.xml"/><Relationship Id="rId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10AF4CF-9C7B-4484-B030-281FD1FC25DB}"/>
              </a:ext>
            </a:extLst>
          </p:cNvPr>
          <p:cNvGraphicFramePr>
            <a:graphicFrameLocks noChangeAspect="1"/>
          </p:cNvGraphicFramePr>
          <p:nvPr userDrawn="1">
            <p:custDataLst>
              <p:tags r:id="rId13"/>
            </p:custDataLst>
            <p:extLst>
              <p:ext uri="{D42A27DB-BD31-4B8C-83A1-F6EECF244321}">
                <p14:modId xmlns:p14="http://schemas.microsoft.com/office/powerpoint/2010/main" val="22322768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14" imgW="395" imgH="396" progId="TCLayout.ActiveDocument.1">
                  <p:embed/>
                </p:oleObj>
              </mc:Choice>
              <mc:Fallback>
                <p:oleObj name="think-cell スライド" r:id="rId14" imgW="395" imgH="396" progId="TCLayout.ActiveDocument.1">
                  <p:embed/>
                  <p:pic>
                    <p:nvPicPr>
                      <p:cNvPr id="3" name="オブジェクト 2" hidden="1">
                        <a:extLst>
                          <a:ext uri="{FF2B5EF4-FFF2-40B4-BE49-F238E27FC236}">
                            <a16:creationId xmlns:a16="http://schemas.microsoft.com/office/drawing/2014/main" id="{810AF4CF-9C7B-4484-B030-281FD1FC25DB}"/>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pic>
        <p:nvPicPr>
          <p:cNvPr id="2" name="Object 1"/>
          <p:cNvPicPr>
            <a:picLocks noChangeAspect="1"/>
          </p:cNvPicPr>
          <p:nvPr/>
        </p:nvPicPr>
        <p:blipFill>
          <a:blip r:embed="rId16"/>
          <a:srcRect/>
          <a:stretch>
            <a:fillRect/>
          </a:stretch>
        </p:blipFill>
        <p:spPr bwMode="auto">
          <a:xfrm>
            <a:off x="1589" y="1590"/>
            <a:ext cx="1587" cy="1587"/>
          </a:xfrm>
          <a:prstGeom prst="rect">
            <a:avLst/>
          </a:prstGeom>
          <a:noFill/>
        </p:spPr>
      </p:pic>
      <p:sp>
        <p:nvSpPr>
          <p:cNvPr id="1028" name="Rectangle 2"/>
          <p:cNvSpPr>
            <a:spLocks noGrp="1" noChangeArrowheads="1"/>
          </p:cNvSpPr>
          <p:nvPr>
            <p:ph type="title"/>
          </p:nvPr>
        </p:nvSpPr>
        <p:spPr bwMode="auto">
          <a:xfrm>
            <a:off x="182565" y="293984"/>
            <a:ext cx="9540874" cy="380480"/>
          </a:xfrm>
          <a:prstGeom prst="rect">
            <a:avLst/>
          </a:prstGeom>
          <a:noFill/>
          <a:ln w="9525">
            <a:noFill/>
            <a:miter lim="800000"/>
            <a:headEnd/>
            <a:tailEnd/>
          </a:ln>
        </p:spPr>
        <p:txBody>
          <a:bodyPr vert="horz" wrap="square" lIns="91440" tIns="36000" rIns="91440" bIns="36000" numCol="1" anchor="b" anchorCtr="0" compatLnSpc="1">
            <a:prstTxWarp prst="textNoShape">
              <a:avLst/>
            </a:prstTxWarp>
            <a:spAutoFit/>
          </a:bodyPr>
          <a:lstStyle/>
          <a:p>
            <a:pPr lvl="0"/>
            <a:endParaRPr lang="en-US" altLang="ja-JP"/>
          </a:p>
        </p:txBody>
      </p:sp>
      <p:sp>
        <p:nvSpPr>
          <p:cNvPr id="1029" name="Rectangle 3"/>
          <p:cNvSpPr>
            <a:spLocks noGrp="1" noChangeArrowheads="1"/>
          </p:cNvSpPr>
          <p:nvPr>
            <p:ph type="body" idx="1"/>
          </p:nvPr>
        </p:nvSpPr>
        <p:spPr bwMode="gray">
          <a:xfrm>
            <a:off x="182564" y="714150"/>
            <a:ext cx="9540876" cy="318924"/>
          </a:xfrm>
          <a:prstGeom prst="rect">
            <a:avLst/>
          </a:prstGeom>
          <a:noFill/>
          <a:ln w="12700" algn="ctr">
            <a:noFill/>
            <a:miter lim="800000"/>
            <a:headEnd/>
            <a:tailEnd/>
          </a:ln>
        </p:spPr>
        <p:txBody>
          <a:bodyPr vert="horz" wrap="square" lIns="90488" tIns="36000" rIns="90488" bIns="36000" numCol="1" anchor="t" anchorCtr="0" compatLnSpc="1">
            <a:prstTxWarp prst="textNoShape">
              <a:avLst/>
            </a:prstTxWarp>
            <a:spAutoFit/>
          </a:bodyPr>
          <a:lstStyle/>
          <a:p>
            <a:pPr lvl="0"/>
            <a:r>
              <a:rPr lang="ja-JP" altLang="en-US"/>
              <a:t>マスタ テキストの書式設定</a:t>
            </a:r>
          </a:p>
        </p:txBody>
      </p:sp>
      <p:sp>
        <p:nvSpPr>
          <p:cNvPr id="6" name="正方形/長方形 5">
            <a:extLst>
              <a:ext uri="{FF2B5EF4-FFF2-40B4-BE49-F238E27FC236}">
                <a16:creationId xmlns:a16="http://schemas.microsoft.com/office/drawing/2014/main" id="{9AA9FDD4-159A-128D-6028-000A104A585C}"/>
              </a:ext>
            </a:extLst>
          </p:cNvPr>
          <p:cNvSpPr/>
          <p:nvPr userDrawn="1"/>
        </p:nvSpPr>
        <p:spPr bwMode="auto">
          <a:xfrm>
            <a:off x="-1545738" y="4736663"/>
            <a:ext cx="576000" cy="576000"/>
          </a:xfrm>
          <a:prstGeom prst="rect">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0" name="正方形/長方形 9">
            <a:extLst>
              <a:ext uri="{FF2B5EF4-FFF2-40B4-BE49-F238E27FC236}">
                <a16:creationId xmlns:a16="http://schemas.microsoft.com/office/drawing/2014/main" id="{C60547AB-B54A-A235-4841-7EE093E9F37C}"/>
              </a:ext>
            </a:extLst>
          </p:cNvPr>
          <p:cNvSpPr/>
          <p:nvPr userDrawn="1"/>
        </p:nvSpPr>
        <p:spPr bwMode="auto">
          <a:xfrm>
            <a:off x="-1545738" y="4021761"/>
            <a:ext cx="576000" cy="576000"/>
          </a:xfrm>
          <a:prstGeom prst="rect">
            <a:avLst/>
          </a:prstGeom>
          <a:solidFill>
            <a:srgbClr val="7900B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3" name="正方形/長方形 12">
            <a:extLst>
              <a:ext uri="{FF2B5EF4-FFF2-40B4-BE49-F238E27FC236}">
                <a16:creationId xmlns:a16="http://schemas.microsoft.com/office/drawing/2014/main" id="{318E9EFC-B8D1-46F3-E5A8-F22056EC45C5}"/>
              </a:ext>
            </a:extLst>
          </p:cNvPr>
          <p:cNvSpPr/>
          <p:nvPr userDrawn="1"/>
        </p:nvSpPr>
        <p:spPr bwMode="auto">
          <a:xfrm>
            <a:off x="-1545738" y="5451565"/>
            <a:ext cx="576000" cy="576000"/>
          </a:xfrm>
          <a:prstGeom prst="rect">
            <a:avLst/>
          </a:prstGeom>
          <a:solidFill>
            <a:schemeClr val="accent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4" name="正方形/長方形 13">
            <a:extLst>
              <a:ext uri="{FF2B5EF4-FFF2-40B4-BE49-F238E27FC236}">
                <a16:creationId xmlns:a16="http://schemas.microsoft.com/office/drawing/2014/main" id="{B27E5DD0-79CC-E689-F0D3-8E2EF4E71059}"/>
              </a:ext>
            </a:extLst>
          </p:cNvPr>
          <p:cNvSpPr/>
          <p:nvPr userDrawn="1"/>
        </p:nvSpPr>
        <p:spPr bwMode="auto">
          <a:xfrm>
            <a:off x="-800538" y="5033918"/>
            <a:ext cx="576000" cy="417647"/>
          </a:xfrm>
          <a:prstGeom prst="rect">
            <a:avLst/>
          </a:prstGeom>
          <a:solidFill>
            <a:srgbClr val="00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5" name="正方形/長方形 14">
            <a:extLst>
              <a:ext uri="{FF2B5EF4-FFF2-40B4-BE49-F238E27FC236}">
                <a16:creationId xmlns:a16="http://schemas.microsoft.com/office/drawing/2014/main" id="{CC194293-A7FD-27F9-2E94-14AE149FA4A5}"/>
              </a:ext>
            </a:extLst>
          </p:cNvPr>
          <p:cNvSpPr/>
          <p:nvPr userDrawn="1"/>
        </p:nvSpPr>
        <p:spPr bwMode="auto">
          <a:xfrm>
            <a:off x="-800538" y="4457919"/>
            <a:ext cx="576000" cy="417647"/>
          </a:xfrm>
          <a:prstGeom prst="rect">
            <a:avLst/>
          </a:prstGeom>
          <a:solidFill>
            <a:srgbClr val="00206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6" name="正方形/長方形 15">
            <a:extLst>
              <a:ext uri="{FF2B5EF4-FFF2-40B4-BE49-F238E27FC236}">
                <a16:creationId xmlns:a16="http://schemas.microsoft.com/office/drawing/2014/main" id="{A1C7DA95-184F-227D-ADE9-46A92B0B67A6}"/>
              </a:ext>
            </a:extLst>
          </p:cNvPr>
          <p:cNvSpPr/>
          <p:nvPr userDrawn="1"/>
        </p:nvSpPr>
        <p:spPr bwMode="auto">
          <a:xfrm>
            <a:off x="-800538" y="5609917"/>
            <a:ext cx="576000" cy="417647"/>
          </a:xfrm>
          <a:prstGeom prst="rect">
            <a:avLst/>
          </a:prstGeom>
          <a:solidFill>
            <a:srgbClr val="C4DB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7" name="正方形/長方形 16">
            <a:extLst>
              <a:ext uri="{FF2B5EF4-FFF2-40B4-BE49-F238E27FC236}">
                <a16:creationId xmlns:a16="http://schemas.microsoft.com/office/drawing/2014/main" id="{AC4F4C8D-20EF-3EAA-F592-BB21E74F08AB}"/>
              </a:ext>
            </a:extLst>
          </p:cNvPr>
          <p:cNvSpPr/>
          <p:nvPr userDrawn="1"/>
        </p:nvSpPr>
        <p:spPr bwMode="auto">
          <a:xfrm>
            <a:off x="-1545738" y="2591957"/>
            <a:ext cx="576000" cy="576000"/>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8" name="正方形/長方形 17">
            <a:extLst>
              <a:ext uri="{FF2B5EF4-FFF2-40B4-BE49-F238E27FC236}">
                <a16:creationId xmlns:a16="http://schemas.microsoft.com/office/drawing/2014/main" id="{33793E3A-CCD2-213C-426E-DD1646B3F7CD}"/>
              </a:ext>
            </a:extLst>
          </p:cNvPr>
          <p:cNvSpPr/>
          <p:nvPr userDrawn="1"/>
        </p:nvSpPr>
        <p:spPr bwMode="auto">
          <a:xfrm>
            <a:off x="-1545738" y="1877055"/>
            <a:ext cx="576000" cy="57600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19" name="正方形/長方形 18">
            <a:extLst>
              <a:ext uri="{FF2B5EF4-FFF2-40B4-BE49-F238E27FC236}">
                <a16:creationId xmlns:a16="http://schemas.microsoft.com/office/drawing/2014/main" id="{72A37E95-470E-0EB0-468C-9DB5F86264CA}"/>
              </a:ext>
            </a:extLst>
          </p:cNvPr>
          <p:cNvSpPr/>
          <p:nvPr userDrawn="1"/>
        </p:nvSpPr>
        <p:spPr bwMode="auto">
          <a:xfrm>
            <a:off x="-1545738" y="3306859"/>
            <a:ext cx="576000" cy="576000"/>
          </a:xfrm>
          <a:prstGeom prst="rect">
            <a:avLst/>
          </a:prstGeom>
          <a:solidFill>
            <a:schemeClr val="accent6">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22" name="正方形/長方形 21">
            <a:extLst>
              <a:ext uri="{FF2B5EF4-FFF2-40B4-BE49-F238E27FC236}">
                <a16:creationId xmlns:a16="http://schemas.microsoft.com/office/drawing/2014/main" id="{0691F453-0BA9-2E79-EE8B-D677FC9D2ACE}"/>
              </a:ext>
            </a:extLst>
          </p:cNvPr>
          <p:cNvSpPr/>
          <p:nvPr userDrawn="1"/>
        </p:nvSpPr>
        <p:spPr bwMode="auto">
          <a:xfrm>
            <a:off x="-800538" y="3306859"/>
            <a:ext cx="576000" cy="576000"/>
          </a:xfrm>
          <a:prstGeom prst="rect">
            <a:avLst/>
          </a:prstGeom>
          <a:solidFill>
            <a:srgbClr val="FFC7C7"/>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23" name="正方形/長方形 22">
            <a:extLst>
              <a:ext uri="{FF2B5EF4-FFF2-40B4-BE49-F238E27FC236}">
                <a16:creationId xmlns:a16="http://schemas.microsoft.com/office/drawing/2014/main" id="{11A0F289-51DE-5DF2-B8A8-E7FC88BA44FE}"/>
              </a:ext>
            </a:extLst>
          </p:cNvPr>
          <p:cNvSpPr/>
          <p:nvPr userDrawn="1"/>
        </p:nvSpPr>
        <p:spPr bwMode="auto">
          <a:xfrm>
            <a:off x="-800538" y="1877055"/>
            <a:ext cx="576000" cy="576000"/>
          </a:xfrm>
          <a:prstGeom prst="rect">
            <a:avLst/>
          </a:prstGeom>
          <a:solidFill>
            <a:srgbClr val="AD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25" name="正方形/長方形 24">
            <a:extLst>
              <a:ext uri="{FF2B5EF4-FFF2-40B4-BE49-F238E27FC236}">
                <a16:creationId xmlns:a16="http://schemas.microsoft.com/office/drawing/2014/main" id="{EF98424A-BC46-08BC-B920-BE882F96D1FF}"/>
              </a:ext>
            </a:extLst>
          </p:cNvPr>
          <p:cNvSpPr/>
          <p:nvPr userDrawn="1"/>
        </p:nvSpPr>
        <p:spPr bwMode="auto">
          <a:xfrm>
            <a:off x="-800538" y="2591957"/>
            <a:ext cx="576000" cy="576000"/>
          </a:xfrm>
          <a:prstGeom prst="rect">
            <a:avLst/>
          </a:prstGeom>
          <a:solidFill>
            <a:srgbClr val="FF2E4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8" name="テキスト ボックス 37">
            <a:extLst>
              <a:ext uri="{FF2B5EF4-FFF2-40B4-BE49-F238E27FC236}">
                <a16:creationId xmlns:a16="http://schemas.microsoft.com/office/drawing/2014/main" id="{43779893-6F79-24C6-A1BF-8899F23FD9A4}"/>
              </a:ext>
            </a:extLst>
          </p:cNvPr>
          <p:cNvSpPr txBox="1"/>
          <p:nvPr userDrawn="1"/>
        </p:nvSpPr>
        <p:spPr>
          <a:xfrm>
            <a:off x="-1545738" y="1424457"/>
            <a:ext cx="576000" cy="313696"/>
          </a:xfrm>
          <a:prstGeom prst="rect">
            <a:avLst/>
          </a:prstGeom>
          <a:noFill/>
        </p:spPr>
        <p:txBody>
          <a:bodyPr wrap="square" lIns="36000" tIns="36000" rIns="36000" bIns="36000" rtlCol="0" anchor="ctr" anchorCtr="0">
            <a:noAutofit/>
          </a:bodyPr>
          <a:lstStyle/>
          <a:p>
            <a:pPr algn="ctr"/>
            <a:r>
              <a:rPr kumimoji="1" lang="ja-JP" altLang="en-US" sz="1200">
                <a:solidFill>
                  <a:schemeClr val="bg1"/>
                </a:solidFill>
                <a:latin typeface="Meiryo UI" panose="020B0604030504040204" pitchFamily="50" charset="-128"/>
                <a:ea typeface="Meiryo UI" panose="020B0604030504040204" pitchFamily="50" charset="-128"/>
              </a:rPr>
              <a:t>基本</a:t>
            </a:r>
          </a:p>
        </p:txBody>
      </p:sp>
      <p:sp>
        <p:nvSpPr>
          <p:cNvPr id="39" name="テキスト ボックス 38">
            <a:extLst>
              <a:ext uri="{FF2B5EF4-FFF2-40B4-BE49-F238E27FC236}">
                <a16:creationId xmlns:a16="http://schemas.microsoft.com/office/drawing/2014/main" id="{70775149-174A-FB69-1413-323EC53DBB5B}"/>
              </a:ext>
            </a:extLst>
          </p:cNvPr>
          <p:cNvSpPr txBox="1"/>
          <p:nvPr userDrawn="1"/>
        </p:nvSpPr>
        <p:spPr>
          <a:xfrm>
            <a:off x="-861018" y="1424457"/>
            <a:ext cx="696960" cy="313696"/>
          </a:xfrm>
          <a:prstGeom prst="rect">
            <a:avLst/>
          </a:prstGeom>
          <a:noFill/>
        </p:spPr>
        <p:txBody>
          <a:bodyPr wrap="square" lIns="36000" tIns="36000" rIns="36000" bIns="36000" rtlCol="0" anchor="ctr" anchorCtr="0">
            <a:noAutofit/>
          </a:bodyPr>
          <a:lstStyle/>
          <a:p>
            <a:pPr algn="ctr"/>
            <a:r>
              <a:rPr kumimoji="1" lang="ja-JP" altLang="en-US" sz="1200">
                <a:solidFill>
                  <a:schemeClr val="bg1"/>
                </a:solidFill>
                <a:latin typeface="Meiryo UI" panose="020B0604030504040204" pitchFamily="50" charset="-128"/>
                <a:ea typeface="Meiryo UI" panose="020B0604030504040204" pitchFamily="50" charset="-128"/>
              </a:rPr>
              <a:t>アクセント</a:t>
            </a:r>
          </a:p>
        </p:txBody>
      </p:sp>
      <p:sp>
        <p:nvSpPr>
          <p:cNvPr id="40" name="テキスト ボックス 39">
            <a:extLst>
              <a:ext uri="{FF2B5EF4-FFF2-40B4-BE49-F238E27FC236}">
                <a16:creationId xmlns:a16="http://schemas.microsoft.com/office/drawing/2014/main" id="{065ACE43-4891-63DC-7A1B-11642E046A11}"/>
              </a:ext>
            </a:extLst>
          </p:cNvPr>
          <p:cNvSpPr txBox="1"/>
          <p:nvPr userDrawn="1"/>
        </p:nvSpPr>
        <p:spPr>
          <a:xfrm>
            <a:off x="-861018" y="4019274"/>
            <a:ext cx="696960" cy="313696"/>
          </a:xfrm>
          <a:prstGeom prst="rect">
            <a:avLst/>
          </a:prstGeom>
          <a:noFill/>
        </p:spPr>
        <p:txBody>
          <a:bodyPr wrap="square" lIns="36000" tIns="36000" rIns="36000" bIns="36000" rtlCol="0" anchor="ctr" anchorCtr="0">
            <a:noAutofit/>
          </a:bodyPr>
          <a:lstStyle/>
          <a:p>
            <a:pPr algn="ctr"/>
            <a:r>
              <a:rPr kumimoji="1" lang="ja-JP" altLang="en-US" sz="1200">
                <a:solidFill>
                  <a:schemeClr val="bg1"/>
                </a:solidFill>
                <a:latin typeface="Meiryo UI" panose="020B0604030504040204" pitchFamily="50" charset="-128"/>
                <a:ea typeface="Meiryo UI" panose="020B0604030504040204" pitchFamily="50" charset="-128"/>
              </a:rPr>
              <a:t>アクセント</a:t>
            </a:r>
            <a:br>
              <a:rPr kumimoji="1" lang="en-US" altLang="ja-JP" sz="1200">
                <a:solidFill>
                  <a:schemeClr val="bg1"/>
                </a:solidFill>
                <a:latin typeface="Meiryo UI" panose="020B0604030504040204" pitchFamily="50" charset="-128"/>
                <a:ea typeface="Meiryo UI" panose="020B0604030504040204" pitchFamily="50" charset="-128"/>
              </a:rPr>
            </a:br>
            <a:r>
              <a:rPr kumimoji="1" lang="en-US" altLang="ja-JP" sz="1200">
                <a:solidFill>
                  <a:schemeClr val="bg1"/>
                </a:solidFill>
                <a:latin typeface="Meiryo UI" panose="020B0604030504040204" pitchFamily="50" charset="-128"/>
                <a:ea typeface="Meiryo UI" panose="020B0604030504040204" pitchFamily="50" charset="-128"/>
              </a:rPr>
              <a:t>(</a:t>
            </a:r>
            <a:r>
              <a:rPr kumimoji="1" lang="ja-JP" altLang="en-US" sz="1200">
                <a:solidFill>
                  <a:schemeClr val="bg1"/>
                </a:solidFill>
                <a:latin typeface="Meiryo UI" panose="020B0604030504040204" pitchFamily="50" charset="-128"/>
                <a:ea typeface="Meiryo UI" panose="020B0604030504040204" pitchFamily="50" charset="-128"/>
              </a:rPr>
              <a:t>サブ</a:t>
            </a:r>
            <a:r>
              <a:rPr kumimoji="1" lang="en-US" altLang="ja-JP" sz="1200">
                <a:solidFill>
                  <a:schemeClr val="bg1"/>
                </a:solidFill>
                <a:latin typeface="Meiryo UI" panose="020B0604030504040204" pitchFamily="50" charset="-128"/>
                <a:ea typeface="Meiryo UI" panose="020B0604030504040204" pitchFamily="50" charset="-128"/>
              </a:rPr>
              <a:t>)</a:t>
            </a:r>
            <a:endParaRPr kumimoji="1" lang="ja-JP" altLang="en-US" sz="120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01765321"/>
      </p:ext>
    </p:extLst>
  </p:cSld>
  <p:clrMap bg1="lt1" tx1="dk1" bg2="lt2" tx2="dk2" accent1="accent1" accent2="accent2" accent3="accent3" accent4="accent4" accent5="accent5" accent6="accent6" hlink="hlink" folHlink="folHlink"/>
  <p:sldLayoutIdLst>
    <p:sldLayoutId id="2147484154" r:id="rId1"/>
    <p:sldLayoutId id="2147484155" r:id="rId2"/>
    <p:sldLayoutId id="2147484156" r:id="rId3"/>
    <p:sldLayoutId id="2147484162" r:id="rId4"/>
    <p:sldLayoutId id="2147484163" r:id="rId5"/>
    <p:sldLayoutId id="2147484164" r:id="rId6"/>
    <p:sldLayoutId id="2147484165" r:id="rId7"/>
    <p:sldLayoutId id="2147484166" r:id="rId8"/>
    <p:sldLayoutId id="2147484167" r:id="rId9"/>
    <p:sldLayoutId id="2147484168" r:id="rId10"/>
    <p:sldLayoutId id="2147484191" r:id="rId11"/>
  </p:sldLayoutIdLst>
  <p:hf hdr="0" dt="0"/>
  <p:txStyles>
    <p:titleStyle>
      <a:lvl1pPr algn="l" rtl="0" eaLnBrk="1" fontAlgn="base" hangingPunct="1">
        <a:spcBef>
          <a:spcPct val="0"/>
        </a:spcBef>
        <a:spcAft>
          <a:spcPct val="0"/>
        </a:spcAft>
        <a:defRPr kumimoji="1" sz="2000" b="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1846" b="1">
          <a:solidFill>
            <a:schemeClr val="tx1"/>
          </a:solidFill>
          <a:latin typeface="Arial" charset="0"/>
          <a:ea typeface="ＭＳ Ｐゴシック" pitchFamily="50" charset="-128"/>
        </a:defRPr>
      </a:lvl2pPr>
      <a:lvl3pPr algn="l" rtl="0" eaLnBrk="1" fontAlgn="base" hangingPunct="1">
        <a:spcBef>
          <a:spcPct val="0"/>
        </a:spcBef>
        <a:spcAft>
          <a:spcPct val="0"/>
        </a:spcAft>
        <a:defRPr kumimoji="1" sz="1846" b="1">
          <a:solidFill>
            <a:schemeClr val="tx1"/>
          </a:solidFill>
          <a:latin typeface="Arial" charset="0"/>
          <a:ea typeface="ＭＳ Ｐゴシック" pitchFamily="50" charset="-128"/>
        </a:defRPr>
      </a:lvl3pPr>
      <a:lvl4pPr algn="l" rtl="0" eaLnBrk="1" fontAlgn="base" hangingPunct="1">
        <a:spcBef>
          <a:spcPct val="0"/>
        </a:spcBef>
        <a:spcAft>
          <a:spcPct val="0"/>
        </a:spcAft>
        <a:defRPr kumimoji="1" sz="1846" b="1">
          <a:solidFill>
            <a:schemeClr val="tx1"/>
          </a:solidFill>
          <a:latin typeface="Arial" charset="0"/>
          <a:ea typeface="ＭＳ Ｐゴシック" pitchFamily="50" charset="-128"/>
        </a:defRPr>
      </a:lvl4pPr>
      <a:lvl5pPr algn="l" rtl="0" eaLnBrk="1" fontAlgn="base" hangingPunct="1">
        <a:spcBef>
          <a:spcPct val="0"/>
        </a:spcBef>
        <a:spcAft>
          <a:spcPct val="0"/>
        </a:spcAft>
        <a:defRPr kumimoji="1" sz="1846" b="1">
          <a:solidFill>
            <a:schemeClr val="tx1"/>
          </a:solidFill>
          <a:latin typeface="Arial" charset="0"/>
          <a:ea typeface="ＭＳ Ｐゴシック" pitchFamily="50" charset="-128"/>
        </a:defRPr>
      </a:lvl5pPr>
      <a:lvl6pPr marL="422039" algn="l" rtl="0" eaLnBrk="1" fontAlgn="base" hangingPunct="1">
        <a:spcBef>
          <a:spcPct val="0"/>
        </a:spcBef>
        <a:spcAft>
          <a:spcPct val="0"/>
        </a:spcAft>
        <a:defRPr kumimoji="1" sz="1846" b="1">
          <a:solidFill>
            <a:schemeClr val="tx1"/>
          </a:solidFill>
          <a:latin typeface="Arial" charset="0"/>
          <a:ea typeface="ＭＳ Ｐゴシック" pitchFamily="50" charset="-128"/>
        </a:defRPr>
      </a:lvl6pPr>
      <a:lvl7pPr marL="844078" algn="l" rtl="0" eaLnBrk="1" fontAlgn="base" hangingPunct="1">
        <a:spcBef>
          <a:spcPct val="0"/>
        </a:spcBef>
        <a:spcAft>
          <a:spcPct val="0"/>
        </a:spcAft>
        <a:defRPr kumimoji="1" sz="1846" b="1">
          <a:solidFill>
            <a:schemeClr val="tx1"/>
          </a:solidFill>
          <a:latin typeface="Arial" charset="0"/>
          <a:ea typeface="ＭＳ Ｐゴシック" pitchFamily="50" charset="-128"/>
        </a:defRPr>
      </a:lvl7pPr>
      <a:lvl8pPr marL="1266117" algn="l" rtl="0" eaLnBrk="1" fontAlgn="base" hangingPunct="1">
        <a:spcBef>
          <a:spcPct val="0"/>
        </a:spcBef>
        <a:spcAft>
          <a:spcPct val="0"/>
        </a:spcAft>
        <a:defRPr kumimoji="1" sz="1846" b="1">
          <a:solidFill>
            <a:schemeClr val="tx1"/>
          </a:solidFill>
          <a:latin typeface="Arial" charset="0"/>
          <a:ea typeface="ＭＳ Ｐゴシック" pitchFamily="50" charset="-128"/>
        </a:defRPr>
      </a:lvl8pPr>
      <a:lvl9pPr marL="1688155" algn="l" rtl="0" eaLnBrk="1" fontAlgn="base" hangingPunct="1">
        <a:spcBef>
          <a:spcPct val="0"/>
        </a:spcBef>
        <a:spcAft>
          <a:spcPct val="0"/>
        </a:spcAft>
        <a:defRPr kumimoji="1" sz="1846" b="1">
          <a:solidFill>
            <a:schemeClr val="tx1"/>
          </a:solidFill>
          <a:latin typeface="Arial" charset="0"/>
          <a:ea typeface="ＭＳ Ｐゴシック" pitchFamily="50" charset="-128"/>
        </a:defRPr>
      </a:lvl9pPr>
    </p:titleStyle>
    <p:bodyStyle>
      <a:lvl1pPr marL="316529" indent="-316529" algn="l" rtl="0" eaLnBrk="1" fontAlgn="base" hangingPunct="1">
        <a:spcBef>
          <a:spcPct val="20000"/>
        </a:spcBef>
        <a:spcAft>
          <a:spcPct val="0"/>
        </a:spcAft>
        <a:buClr>
          <a:srgbClr val="666666"/>
        </a:buClr>
        <a:buSzPct val="90000"/>
        <a:buFont typeface="Times" pitchFamily="18" charset="0"/>
        <a:defRPr kumimoji="1" sz="16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1945" indent="-263775"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2pPr>
      <a:lvl3pPr marL="836751" indent="-155334"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3pPr>
      <a:lvl4pPr marL="1211897" indent="-209555"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4pPr>
      <a:lvl5pPr marL="1531357"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5pPr>
      <a:lvl6pPr marL="1953396"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6pPr>
      <a:lvl7pPr marL="2375434"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7pPr>
      <a:lvl8pPr marL="2797474"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8pPr>
      <a:lvl9pPr marL="3219512"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9pPr>
    </p:bodyStyle>
    <p:otherStyle>
      <a:defPPr>
        <a:defRPr lang="ja-JP"/>
      </a:defPPr>
      <a:lvl1pPr marL="0" algn="l" defTabSz="844078" rtl="0" eaLnBrk="1" latinLnBrk="0" hangingPunct="1">
        <a:defRPr kumimoji="1" sz="1662" kern="1200">
          <a:solidFill>
            <a:schemeClr val="tx1"/>
          </a:solidFill>
          <a:latin typeface="+mn-lt"/>
          <a:ea typeface="+mn-ea"/>
          <a:cs typeface="+mn-cs"/>
        </a:defRPr>
      </a:lvl1pPr>
      <a:lvl2pPr marL="422039" algn="l" defTabSz="844078" rtl="0" eaLnBrk="1" latinLnBrk="0" hangingPunct="1">
        <a:defRPr kumimoji="1" sz="1662" kern="1200">
          <a:solidFill>
            <a:schemeClr val="tx1"/>
          </a:solidFill>
          <a:latin typeface="+mn-lt"/>
          <a:ea typeface="+mn-ea"/>
          <a:cs typeface="+mn-cs"/>
        </a:defRPr>
      </a:lvl2pPr>
      <a:lvl3pPr marL="844078" algn="l" defTabSz="844078" rtl="0" eaLnBrk="1" latinLnBrk="0" hangingPunct="1">
        <a:defRPr kumimoji="1" sz="1662" kern="1200">
          <a:solidFill>
            <a:schemeClr val="tx1"/>
          </a:solidFill>
          <a:latin typeface="+mn-lt"/>
          <a:ea typeface="+mn-ea"/>
          <a:cs typeface="+mn-cs"/>
        </a:defRPr>
      </a:lvl3pPr>
      <a:lvl4pPr marL="1266117" algn="l" defTabSz="844078" rtl="0" eaLnBrk="1" latinLnBrk="0" hangingPunct="1">
        <a:defRPr kumimoji="1" sz="1662" kern="1200">
          <a:solidFill>
            <a:schemeClr val="tx1"/>
          </a:solidFill>
          <a:latin typeface="+mn-lt"/>
          <a:ea typeface="+mn-ea"/>
          <a:cs typeface="+mn-cs"/>
        </a:defRPr>
      </a:lvl4pPr>
      <a:lvl5pPr marL="1688155" algn="l" defTabSz="844078" rtl="0" eaLnBrk="1" latinLnBrk="0" hangingPunct="1">
        <a:defRPr kumimoji="1" sz="1662" kern="1200">
          <a:solidFill>
            <a:schemeClr val="tx1"/>
          </a:solidFill>
          <a:latin typeface="+mn-lt"/>
          <a:ea typeface="+mn-ea"/>
          <a:cs typeface="+mn-cs"/>
        </a:defRPr>
      </a:lvl5pPr>
      <a:lvl6pPr marL="2110195" algn="l" defTabSz="844078" rtl="0" eaLnBrk="1" latinLnBrk="0" hangingPunct="1">
        <a:defRPr kumimoji="1" sz="1662" kern="1200">
          <a:solidFill>
            <a:schemeClr val="tx1"/>
          </a:solidFill>
          <a:latin typeface="+mn-lt"/>
          <a:ea typeface="+mn-ea"/>
          <a:cs typeface="+mn-cs"/>
        </a:defRPr>
      </a:lvl6pPr>
      <a:lvl7pPr marL="2532233" algn="l" defTabSz="844078" rtl="0" eaLnBrk="1" latinLnBrk="0" hangingPunct="1">
        <a:defRPr kumimoji="1" sz="1662" kern="1200">
          <a:solidFill>
            <a:schemeClr val="tx1"/>
          </a:solidFill>
          <a:latin typeface="+mn-lt"/>
          <a:ea typeface="+mn-ea"/>
          <a:cs typeface="+mn-cs"/>
        </a:defRPr>
      </a:lvl7pPr>
      <a:lvl8pPr marL="2954272" algn="l" defTabSz="844078" rtl="0" eaLnBrk="1" latinLnBrk="0" hangingPunct="1">
        <a:defRPr kumimoji="1" sz="1662" kern="1200">
          <a:solidFill>
            <a:schemeClr val="tx1"/>
          </a:solidFill>
          <a:latin typeface="+mn-lt"/>
          <a:ea typeface="+mn-ea"/>
          <a:cs typeface="+mn-cs"/>
        </a:defRPr>
      </a:lvl8pPr>
      <a:lvl9pPr marL="3376311" algn="l" defTabSz="844078" rtl="0" eaLnBrk="1" latinLnBrk="0" hangingPunct="1">
        <a:defRPr kumimoji="1" sz="166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4"/>
            </p:custDataLst>
            <p:extLst>
              <p:ext uri="{D42A27DB-BD31-4B8C-83A1-F6EECF244321}">
                <p14:modId xmlns:p14="http://schemas.microsoft.com/office/powerpoint/2010/main" val="1705828006"/>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6" imgW="470" imgH="469" progId="TCLayout.ActiveDocument.1">
                  <p:embed/>
                </p:oleObj>
              </mc:Choice>
              <mc:Fallback>
                <p:oleObj name="think-cell スライド" r:id="rId6" imgW="470" imgH="469" progId="TCLayout.ActiveDocument.1">
                  <p:embed/>
                  <p:pic>
                    <p:nvPicPr>
                      <p:cNvPr id="2" name="オブジェクト 1" hidden="1"/>
                      <p:cNvPicPr/>
                      <p:nvPr/>
                    </p:nvPicPr>
                    <p:blipFill>
                      <a:blip r:embed="rId7"/>
                      <a:stretch>
                        <a:fillRect/>
                      </a:stretch>
                    </p:blipFill>
                    <p:spPr>
                      <a:xfrm>
                        <a:off x="1590" y="1589"/>
                        <a:ext cx="1587" cy="1587"/>
                      </a:xfrm>
                      <a:prstGeom prst="rect">
                        <a:avLst/>
                      </a:prstGeom>
                    </p:spPr>
                  </p:pic>
                </p:oleObj>
              </mc:Fallback>
            </mc:AlternateContent>
          </a:graphicData>
        </a:graphic>
      </p:graphicFrame>
      <p:sp>
        <p:nvSpPr>
          <p:cNvPr id="5" name="正方形/長方形 4" hidden="1">
            <a:extLst>
              <a:ext uri="{FF2B5EF4-FFF2-40B4-BE49-F238E27FC236}">
                <a16:creationId xmlns:a16="http://schemas.microsoft.com/office/drawing/2014/main" id="{6491AD6F-74F4-4A85-8F0F-8C30A5A0BA9C}"/>
              </a:ext>
            </a:extLst>
          </p:cNvPr>
          <p:cNvSpPr/>
          <p:nvPr userDrawn="1">
            <p:custDataLst>
              <p:tags r:id="rId5"/>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タイトル プレースホルダー 2">
            <a:extLst>
              <a:ext uri="{FF2B5EF4-FFF2-40B4-BE49-F238E27FC236}">
                <a16:creationId xmlns:a16="http://schemas.microsoft.com/office/drawing/2014/main" id="{CDE2699A-871E-4F62-8C18-D1F378566C71}"/>
              </a:ext>
            </a:extLst>
          </p:cNvPr>
          <p:cNvSpPr>
            <a:spLocks noGrp="1"/>
          </p:cNvSpPr>
          <p:nvPr>
            <p:ph type="title"/>
          </p:nvPr>
        </p:nvSpPr>
        <p:spPr>
          <a:xfrm>
            <a:off x="488504" y="476720"/>
            <a:ext cx="8928000" cy="432000"/>
          </a:xfrm>
          <a:prstGeom prst="rect">
            <a:avLst/>
          </a:prstGeom>
        </p:spPr>
        <p:txBody>
          <a:bodyPr vert="horz" lIns="0" tIns="0" rIns="0" bIns="0" rtlCol="0" anchor="ctr">
            <a:normAutofit/>
          </a:bodyPr>
          <a:lstStyle/>
          <a:p>
            <a:pPr lvl="0"/>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146A2FBE-8717-4DDD-97F4-55040C1A4363}"/>
              </a:ext>
            </a:extLst>
          </p:cNvPr>
          <p:cNvSpPr>
            <a:spLocks noGrp="1"/>
          </p:cNvSpPr>
          <p:nvPr>
            <p:ph type="body" idx="1"/>
          </p:nvPr>
        </p:nvSpPr>
        <p:spPr>
          <a:xfrm>
            <a:off x="488504" y="944949"/>
            <a:ext cx="8928000" cy="1454244"/>
          </a:xfrm>
          <a:prstGeom prst="rect">
            <a:avLst/>
          </a:prstGeom>
        </p:spPr>
        <p:txBody>
          <a:bodyPr vert="horz" lIns="0" tIns="0" rIns="0" bIns="0" rtlCol="0">
            <a:spAutoFit/>
          </a:bodyPr>
          <a:lstStyle/>
          <a:p>
            <a:pPr marR="0" lvl="0" defTabSz="990546" latinLnBrk="0">
              <a:lnSpc>
                <a:spcPct val="100000"/>
              </a:lnSpc>
              <a:buClrTx/>
              <a:buSzTx/>
              <a:tabLst/>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a:t>
            </a:r>
            <a:r>
              <a:rPr kumimoji="1" lang="en-US" altLang="ja-JP"/>
              <a:t>4</a:t>
            </a:r>
            <a:r>
              <a:rPr kumimoji="1" lang="ja-JP" altLang="en-US"/>
              <a:t>レベル</a:t>
            </a:r>
          </a:p>
        </p:txBody>
      </p:sp>
      <p:sp>
        <p:nvSpPr>
          <p:cNvPr id="27" name="正方形/長方形 26">
            <a:extLst>
              <a:ext uri="{FF2B5EF4-FFF2-40B4-BE49-F238E27FC236}">
                <a16:creationId xmlns:a16="http://schemas.microsoft.com/office/drawing/2014/main" id="{A574D2C5-6742-F910-1207-5E68CF4841D3}"/>
              </a:ext>
            </a:extLst>
          </p:cNvPr>
          <p:cNvSpPr/>
          <p:nvPr userDrawn="1"/>
        </p:nvSpPr>
        <p:spPr bwMode="auto">
          <a:xfrm>
            <a:off x="-1545738" y="4736663"/>
            <a:ext cx="576000" cy="576000"/>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28" name="正方形/長方形 27">
            <a:extLst>
              <a:ext uri="{FF2B5EF4-FFF2-40B4-BE49-F238E27FC236}">
                <a16:creationId xmlns:a16="http://schemas.microsoft.com/office/drawing/2014/main" id="{4742DD9D-0C41-D4C7-74FE-BC8F4F49D5C5}"/>
              </a:ext>
            </a:extLst>
          </p:cNvPr>
          <p:cNvSpPr/>
          <p:nvPr userDrawn="1"/>
        </p:nvSpPr>
        <p:spPr bwMode="auto">
          <a:xfrm>
            <a:off x="-1545738" y="4021761"/>
            <a:ext cx="576000" cy="576000"/>
          </a:xfrm>
          <a:prstGeom prst="rect">
            <a:avLst/>
          </a:prstGeom>
          <a:solidFill>
            <a:srgbClr val="7900B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29" name="正方形/長方形 28">
            <a:extLst>
              <a:ext uri="{FF2B5EF4-FFF2-40B4-BE49-F238E27FC236}">
                <a16:creationId xmlns:a16="http://schemas.microsoft.com/office/drawing/2014/main" id="{A6260D1C-C40F-90B3-EF90-87BBE1C282FD}"/>
              </a:ext>
            </a:extLst>
          </p:cNvPr>
          <p:cNvSpPr/>
          <p:nvPr userDrawn="1"/>
        </p:nvSpPr>
        <p:spPr bwMode="auto">
          <a:xfrm>
            <a:off x="-1545738" y="5451565"/>
            <a:ext cx="576000" cy="576000"/>
          </a:xfrm>
          <a:prstGeom prst="rect">
            <a:avLst/>
          </a:prstGeom>
          <a:solidFill>
            <a:schemeClr val="accent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0" name="正方形/長方形 29">
            <a:extLst>
              <a:ext uri="{FF2B5EF4-FFF2-40B4-BE49-F238E27FC236}">
                <a16:creationId xmlns:a16="http://schemas.microsoft.com/office/drawing/2014/main" id="{19502F41-2D1D-9C55-7AFC-D868CD3CDF40}"/>
              </a:ext>
            </a:extLst>
          </p:cNvPr>
          <p:cNvSpPr/>
          <p:nvPr userDrawn="1"/>
        </p:nvSpPr>
        <p:spPr bwMode="auto">
          <a:xfrm>
            <a:off x="-800538" y="5033918"/>
            <a:ext cx="576000" cy="417647"/>
          </a:xfrm>
          <a:prstGeom prst="rect">
            <a:avLst/>
          </a:prstGeom>
          <a:solidFill>
            <a:schemeClr val="accent4">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1" name="正方形/長方形 30">
            <a:extLst>
              <a:ext uri="{FF2B5EF4-FFF2-40B4-BE49-F238E27FC236}">
                <a16:creationId xmlns:a16="http://schemas.microsoft.com/office/drawing/2014/main" id="{BA2A89A9-84EB-0552-8EC5-C96F8D4E4453}"/>
              </a:ext>
            </a:extLst>
          </p:cNvPr>
          <p:cNvSpPr/>
          <p:nvPr userDrawn="1"/>
        </p:nvSpPr>
        <p:spPr bwMode="auto">
          <a:xfrm>
            <a:off x="-800538" y="4457919"/>
            <a:ext cx="576000" cy="417647"/>
          </a:xfrm>
          <a:prstGeom prst="rect">
            <a:avLst/>
          </a:prstGeom>
          <a:solidFill>
            <a:srgbClr val="00206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2" name="正方形/長方形 31">
            <a:extLst>
              <a:ext uri="{FF2B5EF4-FFF2-40B4-BE49-F238E27FC236}">
                <a16:creationId xmlns:a16="http://schemas.microsoft.com/office/drawing/2014/main" id="{95F3786F-C19B-747C-87A9-723DB9DE44DE}"/>
              </a:ext>
            </a:extLst>
          </p:cNvPr>
          <p:cNvSpPr/>
          <p:nvPr userDrawn="1"/>
        </p:nvSpPr>
        <p:spPr bwMode="auto">
          <a:xfrm>
            <a:off x="-800538" y="5609917"/>
            <a:ext cx="576000" cy="417647"/>
          </a:xfrm>
          <a:prstGeom prst="rect">
            <a:avLst/>
          </a:prstGeom>
          <a:solidFill>
            <a:srgbClr val="C4DB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3" name="正方形/長方形 32">
            <a:extLst>
              <a:ext uri="{FF2B5EF4-FFF2-40B4-BE49-F238E27FC236}">
                <a16:creationId xmlns:a16="http://schemas.microsoft.com/office/drawing/2014/main" id="{A95069F8-FA14-0856-6005-D352F6FD0C01}"/>
              </a:ext>
            </a:extLst>
          </p:cNvPr>
          <p:cNvSpPr/>
          <p:nvPr userDrawn="1"/>
        </p:nvSpPr>
        <p:spPr bwMode="auto">
          <a:xfrm>
            <a:off x="-1545738" y="2591957"/>
            <a:ext cx="576000" cy="576000"/>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4" name="正方形/長方形 33">
            <a:extLst>
              <a:ext uri="{FF2B5EF4-FFF2-40B4-BE49-F238E27FC236}">
                <a16:creationId xmlns:a16="http://schemas.microsoft.com/office/drawing/2014/main" id="{C5595C5B-E7E2-D20C-25FB-7AD2C0AADDAF}"/>
              </a:ext>
            </a:extLst>
          </p:cNvPr>
          <p:cNvSpPr/>
          <p:nvPr userDrawn="1"/>
        </p:nvSpPr>
        <p:spPr bwMode="auto">
          <a:xfrm>
            <a:off x="-1545738" y="1877055"/>
            <a:ext cx="576000" cy="576000"/>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5" name="正方形/長方形 34">
            <a:extLst>
              <a:ext uri="{FF2B5EF4-FFF2-40B4-BE49-F238E27FC236}">
                <a16:creationId xmlns:a16="http://schemas.microsoft.com/office/drawing/2014/main" id="{D004F099-A8D2-C37E-F6D0-559EBC41F83C}"/>
              </a:ext>
            </a:extLst>
          </p:cNvPr>
          <p:cNvSpPr/>
          <p:nvPr userDrawn="1"/>
        </p:nvSpPr>
        <p:spPr bwMode="auto">
          <a:xfrm>
            <a:off x="-1545738" y="3306859"/>
            <a:ext cx="576000" cy="576000"/>
          </a:xfrm>
          <a:prstGeom prst="rect">
            <a:avLst/>
          </a:prstGeom>
          <a:solidFill>
            <a:schemeClr val="accent6">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6" name="正方形/長方形 35">
            <a:extLst>
              <a:ext uri="{FF2B5EF4-FFF2-40B4-BE49-F238E27FC236}">
                <a16:creationId xmlns:a16="http://schemas.microsoft.com/office/drawing/2014/main" id="{611CEAC6-6F7F-2C30-B92D-08523DCF3CEA}"/>
              </a:ext>
            </a:extLst>
          </p:cNvPr>
          <p:cNvSpPr/>
          <p:nvPr userDrawn="1"/>
        </p:nvSpPr>
        <p:spPr bwMode="auto">
          <a:xfrm>
            <a:off x="-800538" y="3306859"/>
            <a:ext cx="576000" cy="576000"/>
          </a:xfrm>
          <a:prstGeom prst="rect">
            <a:avLst/>
          </a:prstGeom>
          <a:solidFill>
            <a:srgbClr val="FFC7C7"/>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7" name="正方形/長方形 36">
            <a:extLst>
              <a:ext uri="{FF2B5EF4-FFF2-40B4-BE49-F238E27FC236}">
                <a16:creationId xmlns:a16="http://schemas.microsoft.com/office/drawing/2014/main" id="{600E54D4-0B38-B940-36F1-4351AE5CD953}"/>
              </a:ext>
            </a:extLst>
          </p:cNvPr>
          <p:cNvSpPr/>
          <p:nvPr userDrawn="1"/>
        </p:nvSpPr>
        <p:spPr bwMode="auto">
          <a:xfrm>
            <a:off x="-800538" y="1877055"/>
            <a:ext cx="576000" cy="576000"/>
          </a:xfrm>
          <a:prstGeom prst="rect">
            <a:avLst/>
          </a:prstGeom>
          <a:solidFill>
            <a:srgbClr val="AD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8" name="正方形/長方形 37">
            <a:extLst>
              <a:ext uri="{FF2B5EF4-FFF2-40B4-BE49-F238E27FC236}">
                <a16:creationId xmlns:a16="http://schemas.microsoft.com/office/drawing/2014/main" id="{0AF7B2D3-F6E5-A9B9-4073-929AA7330364}"/>
              </a:ext>
            </a:extLst>
          </p:cNvPr>
          <p:cNvSpPr/>
          <p:nvPr userDrawn="1"/>
        </p:nvSpPr>
        <p:spPr bwMode="auto">
          <a:xfrm>
            <a:off x="-800538" y="2591957"/>
            <a:ext cx="576000" cy="576000"/>
          </a:xfrm>
          <a:prstGeom prst="rect">
            <a:avLst/>
          </a:prstGeom>
          <a:solidFill>
            <a:srgbClr val="FF2E4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ts val="0"/>
              </a:spcBef>
              <a:spcAft>
                <a:spcPct val="0"/>
              </a:spcAft>
              <a:buClrTx/>
              <a:buSzTx/>
              <a:buFontTx/>
              <a:buNone/>
              <a:tabLst/>
            </a:pPr>
            <a:endParaRPr kumimoji="0" lang="ja-JP" altLang="en-US" sz="1200" b="1" i="0" u="none" strike="noStrike" cap="none" normalizeH="0" baseline="0">
              <a:ln>
                <a:noFill/>
              </a:ln>
              <a:solidFill>
                <a:schemeClr val="tx1"/>
              </a:solidFill>
              <a:effectLst/>
              <a:latin typeface="Arial" pitchFamily="34" charset="0"/>
              <a:cs typeface="Arial" pitchFamily="34" charset="0"/>
            </a:endParaRPr>
          </a:p>
        </p:txBody>
      </p:sp>
      <p:sp>
        <p:nvSpPr>
          <p:cNvPr id="39" name="テキスト ボックス 38">
            <a:extLst>
              <a:ext uri="{FF2B5EF4-FFF2-40B4-BE49-F238E27FC236}">
                <a16:creationId xmlns:a16="http://schemas.microsoft.com/office/drawing/2014/main" id="{78F1B831-2B75-BDE2-35AD-D230044945CB}"/>
              </a:ext>
            </a:extLst>
          </p:cNvPr>
          <p:cNvSpPr txBox="1"/>
          <p:nvPr userDrawn="1"/>
        </p:nvSpPr>
        <p:spPr>
          <a:xfrm>
            <a:off x="-1545738" y="1424457"/>
            <a:ext cx="576000" cy="313696"/>
          </a:xfrm>
          <a:prstGeom prst="rect">
            <a:avLst/>
          </a:prstGeom>
          <a:noFill/>
        </p:spPr>
        <p:txBody>
          <a:bodyPr wrap="square" lIns="36000" tIns="36000" rIns="36000" bIns="36000" rtlCol="0" anchor="ctr" anchorCtr="0">
            <a:noAutofit/>
          </a:bodyPr>
          <a:lstStyle/>
          <a:p>
            <a:pPr algn="ctr"/>
            <a:r>
              <a:rPr kumimoji="1" lang="ja-JP" altLang="en-US" sz="1200">
                <a:solidFill>
                  <a:schemeClr val="bg1"/>
                </a:solidFill>
                <a:latin typeface="Meiryo UI" panose="020B0604030504040204" pitchFamily="50" charset="-128"/>
                <a:ea typeface="Meiryo UI" panose="020B0604030504040204" pitchFamily="50" charset="-128"/>
              </a:rPr>
              <a:t>基本</a:t>
            </a:r>
          </a:p>
        </p:txBody>
      </p:sp>
      <p:sp>
        <p:nvSpPr>
          <p:cNvPr id="40" name="テキスト ボックス 39">
            <a:extLst>
              <a:ext uri="{FF2B5EF4-FFF2-40B4-BE49-F238E27FC236}">
                <a16:creationId xmlns:a16="http://schemas.microsoft.com/office/drawing/2014/main" id="{687B40BC-057E-E2FC-3CAB-11BC3AEF3403}"/>
              </a:ext>
            </a:extLst>
          </p:cNvPr>
          <p:cNvSpPr txBox="1"/>
          <p:nvPr userDrawn="1"/>
        </p:nvSpPr>
        <p:spPr>
          <a:xfrm>
            <a:off x="-861018" y="1424457"/>
            <a:ext cx="696960" cy="313696"/>
          </a:xfrm>
          <a:prstGeom prst="rect">
            <a:avLst/>
          </a:prstGeom>
          <a:noFill/>
        </p:spPr>
        <p:txBody>
          <a:bodyPr wrap="square" lIns="36000" tIns="36000" rIns="36000" bIns="36000" rtlCol="0" anchor="ctr" anchorCtr="0">
            <a:noAutofit/>
          </a:bodyPr>
          <a:lstStyle/>
          <a:p>
            <a:pPr algn="ctr"/>
            <a:r>
              <a:rPr kumimoji="1" lang="ja-JP" altLang="en-US" sz="1200">
                <a:solidFill>
                  <a:schemeClr val="bg1"/>
                </a:solidFill>
                <a:latin typeface="Meiryo UI" panose="020B0604030504040204" pitchFamily="50" charset="-128"/>
                <a:ea typeface="Meiryo UI" panose="020B0604030504040204" pitchFamily="50" charset="-128"/>
              </a:rPr>
              <a:t>アクセント</a:t>
            </a:r>
          </a:p>
        </p:txBody>
      </p:sp>
      <p:sp>
        <p:nvSpPr>
          <p:cNvPr id="41" name="テキスト ボックス 40">
            <a:extLst>
              <a:ext uri="{FF2B5EF4-FFF2-40B4-BE49-F238E27FC236}">
                <a16:creationId xmlns:a16="http://schemas.microsoft.com/office/drawing/2014/main" id="{52E38DD6-D50B-D6E6-A3E9-FEC77631A075}"/>
              </a:ext>
            </a:extLst>
          </p:cNvPr>
          <p:cNvSpPr txBox="1"/>
          <p:nvPr userDrawn="1"/>
        </p:nvSpPr>
        <p:spPr>
          <a:xfrm>
            <a:off x="-861018" y="4019274"/>
            <a:ext cx="696960" cy="313696"/>
          </a:xfrm>
          <a:prstGeom prst="rect">
            <a:avLst/>
          </a:prstGeom>
          <a:noFill/>
        </p:spPr>
        <p:txBody>
          <a:bodyPr wrap="square" lIns="36000" tIns="36000" rIns="36000" bIns="36000" rtlCol="0" anchor="ctr" anchorCtr="0">
            <a:noAutofit/>
          </a:bodyPr>
          <a:lstStyle/>
          <a:p>
            <a:pPr algn="ctr"/>
            <a:r>
              <a:rPr kumimoji="1" lang="ja-JP" altLang="en-US" sz="1200">
                <a:solidFill>
                  <a:schemeClr val="bg1"/>
                </a:solidFill>
                <a:latin typeface="Meiryo UI" panose="020B0604030504040204" pitchFamily="50" charset="-128"/>
                <a:ea typeface="Meiryo UI" panose="020B0604030504040204" pitchFamily="50" charset="-128"/>
              </a:rPr>
              <a:t>アクセント</a:t>
            </a:r>
            <a:br>
              <a:rPr kumimoji="1" lang="en-US" altLang="ja-JP" sz="1200">
                <a:solidFill>
                  <a:schemeClr val="bg1"/>
                </a:solidFill>
                <a:latin typeface="Meiryo UI" panose="020B0604030504040204" pitchFamily="50" charset="-128"/>
                <a:ea typeface="Meiryo UI" panose="020B0604030504040204" pitchFamily="50" charset="-128"/>
              </a:rPr>
            </a:br>
            <a:r>
              <a:rPr kumimoji="1" lang="en-US" altLang="ja-JP" sz="1200">
                <a:solidFill>
                  <a:schemeClr val="bg1"/>
                </a:solidFill>
                <a:latin typeface="Meiryo UI" panose="020B0604030504040204" pitchFamily="50" charset="-128"/>
                <a:ea typeface="Meiryo UI" panose="020B0604030504040204" pitchFamily="50" charset="-128"/>
              </a:rPr>
              <a:t>(</a:t>
            </a:r>
            <a:r>
              <a:rPr kumimoji="1" lang="ja-JP" altLang="en-US" sz="1200">
                <a:solidFill>
                  <a:schemeClr val="bg1"/>
                </a:solidFill>
                <a:latin typeface="Meiryo UI" panose="020B0604030504040204" pitchFamily="50" charset="-128"/>
                <a:ea typeface="Meiryo UI" panose="020B0604030504040204" pitchFamily="50" charset="-128"/>
              </a:rPr>
              <a:t>サブ</a:t>
            </a:r>
            <a:r>
              <a:rPr kumimoji="1" lang="en-US" altLang="ja-JP" sz="1200">
                <a:solidFill>
                  <a:schemeClr val="bg1"/>
                </a:solidFill>
                <a:latin typeface="Meiryo UI" panose="020B0604030504040204" pitchFamily="50" charset="-128"/>
                <a:ea typeface="Meiryo UI" panose="020B0604030504040204" pitchFamily="50" charset="-128"/>
              </a:rPr>
              <a:t>)</a:t>
            </a:r>
            <a:endParaRPr kumimoji="1" lang="ja-JP" altLang="en-US" sz="120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75854944"/>
      </p:ext>
    </p:extLst>
  </p:cSld>
  <p:clrMap bg1="lt1" tx1="dk1" bg2="lt2" tx2="dk2" accent1="accent1" accent2="accent2" accent3="accent3" accent4="accent4" accent5="accent5" accent6="accent6" hlink="hlink" folHlink="folHlink"/>
  <p:sldLayoutIdLst>
    <p:sldLayoutId id="2147484158" r:id="rId1"/>
    <p:sldLayoutId id="2147484159" r:id="rId2"/>
  </p:sldLayoutIdLst>
  <p:hf sldNum="0" hdr="0" ftr="0" dt="0"/>
  <p:txStyles>
    <p:titleStyle>
      <a:lvl1pPr algn="l" rtl="0" eaLnBrk="1" fontAlgn="base" hangingPunct="1">
        <a:spcBef>
          <a:spcPct val="0"/>
        </a:spcBef>
        <a:spcAft>
          <a:spcPct val="0"/>
        </a:spcAft>
        <a:defRPr kumimoji="1" lang="ja-JP" altLang="en-US" sz="26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767" b="1">
          <a:solidFill>
            <a:schemeClr val="tx1"/>
          </a:solidFill>
          <a:latin typeface="Arial" charset="0"/>
        </a:defRPr>
      </a:lvl2pPr>
      <a:lvl3pPr algn="l" rtl="0" eaLnBrk="1" fontAlgn="base" hangingPunct="1">
        <a:spcBef>
          <a:spcPct val="0"/>
        </a:spcBef>
        <a:spcAft>
          <a:spcPct val="0"/>
        </a:spcAft>
        <a:defRPr kumimoji="1" sz="4767" b="1">
          <a:solidFill>
            <a:schemeClr val="tx1"/>
          </a:solidFill>
          <a:latin typeface="Arial" charset="0"/>
        </a:defRPr>
      </a:lvl3pPr>
      <a:lvl4pPr algn="l" rtl="0" eaLnBrk="1" fontAlgn="base" hangingPunct="1">
        <a:spcBef>
          <a:spcPct val="0"/>
        </a:spcBef>
        <a:spcAft>
          <a:spcPct val="0"/>
        </a:spcAft>
        <a:defRPr kumimoji="1" sz="4767" b="1">
          <a:solidFill>
            <a:schemeClr val="tx1"/>
          </a:solidFill>
          <a:latin typeface="Arial" charset="0"/>
        </a:defRPr>
      </a:lvl4pPr>
      <a:lvl5pPr algn="l" rtl="0" eaLnBrk="1" fontAlgn="base" hangingPunct="1">
        <a:spcBef>
          <a:spcPct val="0"/>
        </a:spcBef>
        <a:spcAft>
          <a:spcPct val="0"/>
        </a:spcAft>
        <a:defRPr kumimoji="1" sz="4767" b="1">
          <a:solidFill>
            <a:schemeClr val="tx1"/>
          </a:solidFill>
          <a:latin typeface="Arial" charset="0"/>
        </a:defRPr>
      </a:lvl5pPr>
      <a:lvl6pPr marL="495273" algn="l" rtl="0" eaLnBrk="1" fontAlgn="base" hangingPunct="1">
        <a:spcBef>
          <a:spcPct val="0"/>
        </a:spcBef>
        <a:spcAft>
          <a:spcPct val="0"/>
        </a:spcAft>
        <a:defRPr kumimoji="1" b="1">
          <a:solidFill>
            <a:schemeClr val="tx1"/>
          </a:solidFill>
          <a:latin typeface="Arial" charset="0"/>
        </a:defRPr>
      </a:lvl6pPr>
      <a:lvl7pPr marL="990546" algn="l" rtl="0" eaLnBrk="1" fontAlgn="base" hangingPunct="1">
        <a:spcBef>
          <a:spcPct val="0"/>
        </a:spcBef>
        <a:spcAft>
          <a:spcPct val="0"/>
        </a:spcAft>
        <a:defRPr kumimoji="1" b="1">
          <a:solidFill>
            <a:schemeClr val="tx1"/>
          </a:solidFill>
          <a:latin typeface="Arial" charset="0"/>
        </a:defRPr>
      </a:lvl7pPr>
      <a:lvl8pPr marL="1485818" algn="l" rtl="0" eaLnBrk="1" fontAlgn="base" hangingPunct="1">
        <a:spcBef>
          <a:spcPct val="0"/>
        </a:spcBef>
        <a:spcAft>
          <a:spcPct val="0"/>
        </a:spcAft>
        <a:defRPr kumimoji="1" b="1">
          <a:solidFill>
            <a:schemeClr val="tx1"/>
          </a:solidFill>
          <a:latin typeface="Arial" charset="0"/>
        </a:defRPr>
      </a:lvl8pPr>
      <a:lvl9pPr marL="1981089" algn="l" rtl="0" eaLnBrk="1" fontAlgn="base" hangingPunct="1">
        <a:spcBef>
          <a:spcPct val="0"/>
        </a:spcBef>
        <a:spcAft>
          <a:spcPct val="0"/>
        </a:spcAft>
        <a:defRPr kumimoji="1" b="1">
          <a:solidFill>
            <a:schemeClr val="tx1"/>
          </a:solidFill>
          <a:latin typeface="Arial" charset="0"/>
        </a:defRPr>
      </a:lvl9pPr>
    </p:titleStyle>
    <p:body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p:bodyStyle>
    <p:otherStyle>
      <a:defPPr>
        <a:defRPr lang="de-DE"/>
      </a:defPPr>
      <a:lvl1pPr marL="0" algn="l" defTabSz="990546" rtl="0" eaLnBrk="1" latinLnBrk="0" hangingPunct="1">
        <a:defRPr kumimoji="1" sz="1951" kern="1200">
          <a:solidFill>
            <a:schemeClr val="tx1"/>
          </a:solidFill>
          <a:latin typeface="+mn-lt"/>
          <a:ea typeface="+mn-ea"/>
          <a:cs typeface="+mn-cs"/>
        </a:defRPr>
      </a:lvl1pPr>
      <a:lvl2pPr marL="495273" algn="l" defTabSz="990546" rtl="0" eaLnBrk="1" latinLnBrk="0" hangingPunct="1">
        <a:defRPr kumimoji="1" sz="1951" kern="1200">
          <a:solidFill>
            <a:schemeClr val="tx1"/>
          </a:solidFill>
          <a:latin typeface="+mn-lt"/>
          <a:ea typeface="+mn-ea"/>
          <a:cs typeface="+mn-cs"/>
        </a:defRPr>
      </a:lvl2pPr>
      <a:lvl3pPr marL="990546" algn="l" defTabSz="990546" rtl="0" eaLnBrk="1" latinLnBrk="0" hangingPunct="1">
        <a:defRPr kumimoji="1" sz="1951" kern="1200">
          <a:solidFill>
            <a:schemeClr val="tx1"/>
          </a:solidFill>
          <a:latin typeface="+mn-lt"/>
          <a:ea typeface="+mn-ea"/>
          <a:cs typeface="+mn-cs"/>
        </a:defRPr>
      </a:lvl3pPr>
      <a:lvl4pPr marL="1485818" algn="l" defTabSz="990546" rtl="0" eaLnBrk="1" latinLnBrk="0" hangingPunct="1">
        <a:defRPr kumimoji="1" sz="1951" kern="1200">
          <a:solidFill>
            <a:schemeClr val="tx1"/>
          </a:solidFill>
          <a:latin typeface="+mn-lt"/>
          <a:ea typeface="+mn-ea"/>
          <a:cs typeface="+mn-cs"/>
        </a:defRPr>
      </a:lvl4pPr>
      <a:lvl5pPr marL="1981089" algn="l" defTabSz="990546" rtl="0" eaLnBrk="1" latinLnBrk="0" hangingPunct="1">
        <a:defRPr kumimoji="1" sz="1951" kern="1200">
          <a:solidFill>
            <a:schemeClr val="tx1"/>
          </a:solidFill>
          <a:latin typeface="+mn-lt"/>
          <a:ea typeface="+mn-ea"/>
          <a:cs typeface="+mn-cs"/>
        </a:defRPr>
      </a:lvl5pPr>
      <a:lvl6pPr marL="2476362" algn="l" defTabSz="990546" rtl="0" eaLnBrk="1" latinLnBrk="0" hangingPunct="1">
        <a:defRPr kumimoji="1" sz="1951" kern="1200">
          <a:solidFill>
            <a:schemeClr val="tx1"/>
          </a:solidFill>
          <a:latin typeface="+mn-lt"/>
          <a:ea typeface="+mn-ea"/>
          <a:cs typeface="+mn-cs"/>
        </a:defRPr>
      </a:lvl6pPr>
      <a:lvl7pPr marL="2971635" algn="l" defTabSz="990546" rtl="0" eaLnBrk="1" latinLnBrk="0" hangingPunct="1">
        <a:defRPr kumimoji="1" sz="1951" kern="1200">
          <a:solidFill>
            <a:schemeClr val="tx1"/>
          </a:solidFill>
          <a:latin typeface="+mn-lt"/>
          <a:ea typeface="+mn-ea"/>
          <a:cs typeface="+mn-cs"/>
        </a:defRPr>
      </a:lvl7pPr>
      <a:lvl8pPr marL="3466907" algn="l" defTabSz="990546" rtl="0" eaLnBrk="1" latinLnBrk="0" hangingPunct="1">
        <a:defRPr kumimoji="1" sz="1951" kern="1200">
          <a:solidFill>
            <a:schemeClr val="tx1"/>
          </a:solidFill>
          <a:latin typeface="+mn-lt"/>
          <a:ea typeface="+mn-ea"/>
          <a:cs typeface="+mn-cs"/>
        </a:defRPr>
      </a:lvl8pPr>
      <a:lvl9pPr marL="3962180" algn="l" defTabSz="990546" rtl="0" eaLnBrk="1" latinLnBrk="0" hangingPunct="1">
        <a:defRPr kumimoji="1" sz="19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308">
          <p15:clr>
            <a:srgbClr val="F26B43"/>
          </p15:clr>
        </p15:guide>
        <p15:guide id="3" pos="5932">
          <p15:clr>
            <a:srgbClr val="F26B43"/>
          </p15:clr>
        </p15:guide>
        <p15:guide id="4" orient="horz" pos="415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5"/>
            </p:custDataLst>
            <p:extLst>
              <p:ext uri="{D42A27DB-BD31-4B8C-83A1-F6EECF244321}">
                <p14:modId xmlns:p14="http://schemas.microsoft.com/office/powerpoint/2010/main" val="1705828006"/>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7" imgW="470" imgH="469" progId="TCLayout.ActiveDocument.1">
                  <p:embed/>
                </p:oleObj>
              </mc:Choice>
              <mc:Fallback>
                <p:oleObj name="think-cell スライド" r:id="rId7" imgW="470" imgH="469" progId="TCLayout.ActiveDocument.1">
                  <p:embed/>
                  <p:pic>
                    <p:nvPicPr>
                      <p:cNvPr id="2" name="オブジェクト 1" hidden="1"/>
                      <p:cNvPicPr/>
                      <p:nvPr/>
                    </p:nvPicPr>
                    <p:blipFill>
                      <a:blip r:embed="rId8"/>
                      <a:stretch>
                        <a:fillRect/>
                      </a:stretch>
                    </p:blipFill>
                    <p:spPr>
                      <a:xfrm>
                        <a:off x="1590" y="1589"/>
                        <a:ext cx="1587" cy="1587"/>
                      </a:xfrm>
                      <a:prstGeom prst="rect">
                        <a:avLst/>
                      </a:prstGeom>
                    </p:spPr>
                  </p:pic>
                </p:oleObj>
              </mc:Fallback>
            </mc:AlternateContent>
          </a:graphicData>
        </a:graphic>
      </p:graphicFrame>
      <p:sp>
        <p:nvSpPr>
          <p:cNvPr id="5" name="正方形/長方形 4" hidden="1">
            <a:extLst>
              <a:ext uri="{FF2B5EF4-FFF2-40B4-BE49-F238E27FC236}">
                <a16:creationId xmlns:a16="http://schemas.microsoft.com/office/drawing/2014/main" id="{6491AD6F-74F4-4A85-8F0F-8C30A5A0BA9C}"/>
              </a:ext>
            </a:extLst>
          </p:cNvPr>
          <p:cNvSpPr/>
          <p:nvPr userDrawn="1">
            <p:custDataLst>
              <p:tags r:id="rId6"/>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タイトル プレースホルダー 2">
            <a:extLst>
              <a:ext uri="{FF2B5EF4-FFF2-40B4-BE49-F238E27FC236}">
                <a16:creationId xmlns:a16="http://schemas.microsoft.com/office/drawing/2014/main" id="{CDE2699A-871E-4F62-8C18-D1F378566C71}"/>
              </a:ext>
            </a:extLst>
          </p:cNvPr>
          <p:cNvSpPr>
            <a:spLocks noGrp="1"/>
          </p:cNvSpPr>
          <p:nvPr>
            <p:ph type="title"/>
          </p:nvPr>
        </p:nvSpPr>
        <p:spPr>
          <a:xfrm>
            <a:off x="488504" y="476720"/>
            <a:ext cx="8928000" cy="432000"/>
          </a:xfrm>
          <a:prstGeom prst="rect">
            <a:avLst/>
          </a:prstGeom>
        </p:spPr>
        <p:txBody>
          <a:bodyPr vert="horz" lIns="0" tIns="0" rIns="0" bIns="0" rtlCol="0" anchor="ctr">
            <a:normAutofit/>
          </a:bodyPr>
          <a:lstStyle/>
          <a:p>
            <a:pPr lvl="0"/>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146A2FBE-8717-4DDD-97F4-55040C1A4363}"/>
              </a:ext>
            </a:extLst>
          </p:cNvPr>
          <p:cNvSpPr>
            <a:spLocks noGrp="1"/>
          </p:cNvSpPr>
          <p:nvPr>
            <p:ph type="body" idx="1"/>
          </p:nvPr>
        </p:nvSpPr>
        <p:spPr>
          <a:xfrm>
            <a:off x="488504" y="944949"/>
            <a:ext cx="8928000" cy="1454244"/>
          </a:xfrm>
          <a:prstGeom prst="rect">
            <a:avLst/>
          </a:prstGeom>
        </p:spPr>
        <p:txBody>
          <a:bodyPr vert="horz" lIns="0" tIns="0" rIns="0" bIns="0" rtlCol="0">
            <a:spAutoFit/>
          </a:bodyPr>
          <a:lstStyle/>
          <a:p>
            <a:pPr marR="0" lvl="0" defTabSz="990546" latinLnBrk="0">
              <a:lnSpc>
                <a:spcPct val="100000"/>
              </a:lnSpc>
              <a:buClrTx/>
              <a:buSzTx/>
              <a:tabLst/>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a:t>
            </a:r>
            <a:r>
              <a:rPr kumimoji="1" lang="en-US" altLang="ja-JP"/>
              <a:t>4</a:t>
            </a:r>
            <a:r>
              <a:rPr kumimoji="1" lang="ja-JP" altLang="en-US"/>
              <a:t>レベル</a:t>
            </a:r>
          </a:p>
        </p:txBody>
      </p:sp>
    </p:spTree>
    <p:extLst>
      <p:ext uri="{BB962C8B-B14F-4D97-AF65-F5344CB8AC3E}">
        <p14:creationId xmlns:p14="http://schemas.microsoft.com/office/powerpoint/2010/main" val="195959668"/>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Lst>
  <p:hf sldNum="0" hdr="0" ftr="0" dt="0"/>
  <p:txStyles>
    <p:titleStyle>
      <a:lvl1pPr algn="l" rtl="0" eaLnBrk="1" fontAlgn="base" hangingPunct="1">
        <a:spcBef>
          <a:spcPct val="0"/>
        </a:spcBef>
        <a:spcAft>
          <a:spcPct val="0"/>
        </a:spcAft>
        <a:defRPr kumimoji="1" lang="ja-JP" altLang="en-US" sz="26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767" b="1">
          <a:solidFill>
            <a:schemeClr val="tx1"/>
          </a:solidFill>
          <a:latin typeface="Arial" charset="0"/>
        </a:defRPr>
      </a:lvl2pPr>
      <a:lvl3pPr algn="l" rtl="0" eaLnBrk="1" fontAlgn="base" hangingPunct="1">
        <a:spcBef>
          <a:spcPct val="0"/>
        </a:spcBef>
        <a:spcAft>
          <a:spcPct val="0"/>
        </a:spcAft>
        <a:defRPr kumimoji="1" sz="4767" b="1">
          <a:solidFill>
            <a:schemeClr val="tx1"/>
          </a:solidFill>
          <a:latin typeface="Arial" charset="0"/>
        </a:defRPr>
      </a:lvl3pPr>
      <a:lvl4pPr algn="l" rtl="0" eaLnBrk="1" fontAlgn="base" hangingPunct="1">
        <a:spcBef>
          <a:spcPct val="0"/>
        </a:spcBef>
        <a:spcAft>
          <a:spcPct val="0"/>
        </a:spcAft>
        <a:defRPr kumimoji="1" sz="4767" b="1">
          <a:solidFill>
            <a:schemeClr val="tx1"/>
          </a:solidFill>
          <a:latin typeface="Arial" charset="0"/>
        </a:defRPr>
      </a:lvl4pPr>
      <a:lvl5pPr algn="l" rtl="0" eaLnBrk="1" fontAlgn="base" hangingPunct="1">
        <a:spcBef>
          <a:spcPct val="0"/>
        </a:spcBef>
        <a:spcAft>
          <a:spcPct val="0"/>
        </a:spcAft>
        <a:defRPr kumimoji="1" sz="4767" b="1">
          <a:solidFill>
            <a:schemeClr val="tx1"/>
          </a:solidFill>
          <a:latin typeface="Arial" charset="0"/>
        </a:defRPr>
      </a:lvl5pPr>
      <a:lvl6pPr marL="495273" algn="l" rtl="0" eaLnBrk="1" fontAlgn="base" hangingPunct="1">
        <a:spcBef>
          <a:spcPct val="0"/>
        </a:spcBef>
        <a:spcAft>
          <a:spcPct val="0"/>
        </a:spcAft>
        <a:defRPr kumimoji="1" b="1">
          <a:solidFill>
            <a:schemeClr val="tx1"/>
          </a:solidFill>
          <a:latin typeface="Arial" charset="0"/>
        </a:defRPr>
      </a:lvl6pPr>
      <a:lvl7pPr marL="990546" algn="l" rtl="0" eaLnBrk="1" fontAlgn="base" hangingPunct="1">
        <a:spcBef>
          <a:spcPct val="0"/>
        </a:spcBef>
        <a:spcAft>
          <a:spcPct val="0"/>
        </a:spcAft>
        <a:defRPr kumimoji="1" b="1">
          <a:solidFill>
            <a:schemeClr val="tx1"/>
          </a:solidFill>
          <a:latin typeface="Arial" charset="0"/>
        </a:defRPr>
      </a:lvl7pPr>
      <a:lvl8pPr marL="1485818" algn="l" rtl="0" eaLnBrk="1" fontAlgn="base" hangingPunct="1">
        <a:spcBef>
          <a:spcPct val="0"/>
        </a:spcBef>
        <a:spcAft>
          <a:spcPct val="0"/>
        </a:spcAft>
        <a:defRPr kumimoji="1" b="1">
          <a:solidFill>
            <a:schemeClr val="tx1"/>
          </a:solidFill>
          <a:latin typeface="Arial" charset="0"/>
        </a:defRPr>
      </a:lvl8pPr>
      <a:lvl9pPr marL="1981089" algn="l" rtl="0" eaLnBrk="1" fontAlgn="base" hangingPunct="1">
        <a:spcBef>
          <a:spcPct val="0"/>
        </a:spcBef>
        <a:spcAft>
          <a:spcPct val="0"/>
        </a:spcAft>
        <a:defRPr kumimoji="1" b="1">
          <a:solidFill>
            <a:schemeClr val="tx1"/>
          </a:solidFill>
          <a:latin typeface="Arial" charset="0"/>
        </a:defRPr>
      </a:lvl9pPr>
    </p:titleStyle>
    <p:body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p:bodyStyle>
    <p:otherStyle>
      <a:defPPr>
        <a:defRPr lang="de-DE"/>
      </a:defPPr>
      <a:lvl1pPr marL="0" algn="l" defTabSz="990546" rtl="0" eaLnBrk="1" latinLnBrk="0" hangingPunct="1">
        <a:defRPr kumimoji="1" sz="1951" kern="1200">
          <a:solidFill>
            <a:schemeClr val="tx1"/>
          </a:solidFill>
          <a:latin typeface="+mn-lt"/>
          <a:ea typeface="+mn-ea"/>
          <a:cs typeface="+mn-cs"/>
        </a:defRPr>
      </a:lvl1pPr>
      <a:lvl2pPr marL="495273" algn="l" defTabSz="990546" rtl="0" eaLnBrk="1" latinLnBrk="0" hangingPunct="1">
        <a:defRPr kumimoji="1" sz="1951" kern="1200">
          <a:solidFill>
            <a:schemeClr val="tx1"/>
          </a:solidFill>
          <a:latin typeface="+mn-lt"/>
          <a:ea typeface="+mn-ea"/>
          <a:cs typeface="+mn-cs"/>
        </a:defRPr>
      </a:lvl2pPr>
      <a:lvl3pPr marL="990546" algn="l" defTabSz="990546" rtl="0" eaLnBrk="1" latinLnBrk="0" hangingPunct="1">
        <a:defRPr kumimoji="1" sz="1951" kern="1200">
          <a:solidFill>
            <a:schemeClr val="tx1"/>
          </a:solidFill>
          <a:latin typeface="+mn-lt"/>
          <a:ea typeface="+mn-ea"/>
          <a:cs typeface="+mn-cs"/>
        </a:defRPr>
      </a:lvl3pPr>
      <a:lvl4pPr marL="1485818" algn="l" defTabSz="990546" rtl="0" eaLnBrk="1" latinLnBrk="0" hangingPunct="1">
        <a:defRPr kumimoji="1" sz="1951" kern="1200">
          <a:solidFill>
            <a:schemeClr val="tx1"/>
          </a:solidFill>
          <a:latin typeface="+mn-lt"/>
          <a:ea typeface="+mn-ea"/>
          <a:cs typeface="+mn-cs"/>
        </a:defRPr>
      </a:lvl4pPr>
      <a:lvl5pPr marL="1981089" algn="l" defTabSz="990546" rtl="0" eaLnBrk="1" latinLnBrk="0" hangingPunct="1">
        <a:defRPr kumimoji="1" sz="1951" kern="1200">
          <a:solidFill>
            <a:schemeClr val="tx1"/>
          </a:solidFill>
          <a:latin typeface="+mn-lt"/>
          <a:ea typeface="+mn-ea"/>
          <a:cs typeface="+mn-cs"/>
        </a:defRPr>
      </a:lvl5pPr>
      <a:lvl6pPr marL="2476362" algn="l" defTabSz="990546" rtl="0" eaLnBrk="1" latinLnBrk="0" hangingPunct="1">
        <a:defRPr kumimoji="1" sz="1951" kern="1200">
          <a:solidFill>
            <a:schemeClr val="tx1"/>
          </a:solidFill>
          <a:latin typeface="+mn-lt"/>
          <a:ea typeface="+mn-ea"/>
          <a:cs typeface="+mn-cs"/>
        </a:defRPr>
      </a:lvl6pPr>
      <a:lvl7pPr marL="2971635" algn="l" defTabSz="990546" rtl="0" eaLnBrk="1" latinLnBrk="0" hangingPunct="1">
        <a:defRPr kumimoji="1" sz="1951" kern="1200">
          <a:solidFill>
            <a:schemeClr val="tx1"/>
          </a:solidFill>
          <a:latin typeface="+mn-lt"/>
          <a:ea typeface="+mn-ea"/>
          <a:cs typeface="+mn-cs"/>
        </a:defRPr>
      </a:lvl7pPr>
      <a:lvl8pPr marL="3466907" algn="l" defTabSz="990546" rtl="0" eaLnBrk="1" latinLnBrk="0" hangingPunct="1">
        <a:defRPr kumimoji="1" sz="1951" kern="1200">
          <a:solidFill>
            <a:schemeClr val="tx1"/>
          </a:solidFill>
          <a:latin typeface="+mn-lt"/>
          <a:ea typeface="+mn-ea"/>
          <a:cs typeface="+mn-cs"/>
        </a:defRPr>
      </a:lvl8pPr>
      <a:lvl9pPr marL="3962180" algn="l" defTabSz="990546" rtl="0" eaLnBrk="1" latinLnBrk="0" hangingPunct="1">
        <a:defRPr kumimoji="1" sz="19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308">
          <p15:clr>
            <a:srgbClr val="F26B43"/>
          </p15:clr>
        </p15:guide>
        <p15:guide id="3" pos="5932">
          <p15:clr>
            <a:srgbClr val="F26B43"/>
          </p15:clr>
        </p15:guide>
        <p15:guide id="4" orient="horz" pos="415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4"/>
            </p:custDataLst>
            <p:extLst>
              <p:ext uri="{D42A27DB-BD31-4B8C-83A1-F6EECF244321}">
                <p14:modId xmlns:p14="http://schemas.microsoft.com/office/powerpoint/2010/main" val="1705828006"/>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6" imgW="470" imgH="469" progId="TCLayout.ActiveDocument.1">
                  <p:embed/>
                </p:oleObj>
              </mc:Choice>
              <mc:Fallback>
                <p:oleObj name="think-cell スライド" r:id="rId6" imgW="470" imgH="469" progId="TCLayout.ActiveDocument.1">
                  <p:embed/>
                  <p:pic>
                    <p:nvPicPr>
                      <p:cNvPr id="2" name="オブジェクト 1" hidden="1"/>
                      <p:cNvPicPr/>
                      <p:nvPr/>
                    </p:nvPicPr>
                    <p:blipFill>
                      <a:blip r:embed="rId7"/>
                      <a:stretch>
                        <a:fillRect/>
                      </a:stretch>
                    </p:blipFill>
                    <p:spPr>
                      <a:xfrm>
                        <a:off x="1590" y="1589"/>
                        <a:ext cx="1587" cy="1587"/>
                      </a:xfrm>
                      <a:prstGeom prst="rect">
                        <a:avLst/>
                      </a:prstGeom>
                    </p:spPr>
                  </p:pic>
                </p:oleObj>
              </mc:Fallback>
            </mc:AlternateContent>
          </a:graphicData>
        </a:graphic>
      </p:graphicFrame>
      <p:sp>
        <p:nvSpPr>
          <p:cNvPr id="5" name="正方形/長方形 4" hidden="1">
            <a:extLst>
              <a:ext uri="{FF2B5EF4-FFF2-40B4-BE49-F238E27FC236}">
                <a16:creationId xmlns:a16="http://schemas.microsoft.com/office/drawing/2014/main" id="{6491AD6F-74F4-4A85-8F0F-8C30A5A0BA9C}"/>
              </a:ext>
            </a:extLst>
          </p:cNvPr>
          <p:cNvSpPr/>
          <p:nvPr userDrawn="1">
            <p:custDataLst>
              <p:tags r:id="rId5"/>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タイトル プレースホルダー 2">
            <a:extLst>
              <a:ext uri="{FF2B5EF4-FFF2-40B4-BE49-F238E27FC236}">
                <a16:creationId xmlns:a16="http://schemas.microsoft.com/office/drawing/2014/main" id="{CDE2699A-871E-4F62-8C18-D1F378566C71}"/>
              </a:ext>
            </a:extLst>
          </p:cNvPr>
          <p:cNvSpPr>
            <a:spLocks noGrp="1"/>
          </p:cNvSpPr>
          <p:nvPr>
            <p:ph type="title"/>
          </p:nvPr>
        </p:nvSpPr>
        <p:spPr>
          <a:xfrm>
            <a:off x="488504" y="476720"/>
            <a:ext cx="8928000" cy="432000"/>
          </a:xfrm>
          <a:prstGeom prst="rect">
            <a:avLst/>
          </a:prstGeom>
        </p:spPr>
        <p:txBody>
          <a:bodyPr vert="horz" lIns="0" tIns="0" rIns="0" bIns="0" rtlCol="0" anchor="ctr">
            <a:normAutofit/>
          </a:bodyPr>
          <a:lstStyle/>
          <a:p>
            <a:pPr lvl="0"/>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146A2FBE-8717-4DDD-97F4-55040C1A4363}"/>
              </a:ext>
            </a:extLst>
          </p:cNvPr>
          <p:cNvSpPr>
            <a:spLocks noGrp="1"/>
          </p:cNvSpPr>
          <p:nvPr>
            <p:ph type="body" idx="1"/>
          </p:nvPr>
        </p:nvSpPr>
        <p:spPr>
          <a:xfrm>
            <a:off x="488504" y="944949"/>
            <a:ext cx="8928000" cy="1454244"/>
          </a:xfrm>
          <a:prstGeom prst="rect">
            <a:avLst/>
          </a:prstGeom>
        </p:spPr>
        <p:txBody>
          <a:bodyPr vert="horz" lIns="0" tIns="0" rIns="0" bIns="0" rtlCol="0">
            <a:spAutoFit/>
          </a:bodyPr>
          <a:lstStyle/>
          <a:p>
            <a:pPr marR="0" lvl="0" defTabSz="990546" latinLnBrk="0">
              <a:lnSpc>
                <a:spcPct val="100000"/>
              </a:lnSpc>
              <a:buClrTx/>
              <a:buSzTx/>
              <a:tabLst/>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a:t>
            </a:r>
            <a:r>
              <a:rPr kumimoji="1" lang="en-US" altLang="ja-JP"/>
              <a:t>4</a:t>
            </a:r>
            <a:r>
              <a:rPr kumimoji="1" lang="ja-JP" altLang="en-US"/>
              <a:t>レベル</a:t>
            </a:r>
          </a:p>
        </p:txBody>
      </p:sp>
    </p:spTree>
    <p:extLst>
      <p:ext uri="{BB962C8B-B14F-4D97-AF65-F5344CB8AC3E}">
        <p14:creationId xmlns:p14="http://schemas.microsoft.com/office/powerpoint/2010/main" val="1891515501"/>
      </p:ext>
    </p:extLst>
  </p:cSld>
  <p:clrMap bg1="lt1" tx1="dk1" bg2="lt2" tx2="dk2" accent1="accent1" accent2="accent2" accent3="accent3" accent4="accent4" accent5="accent5" accent6="accent6" hlink="hlink" folHlink="folHlink"/>
  <p:sldLayoutIdLst>
    <p:sldLayoutId id="2147484175" r:id="rId1"/>
    <p:sldLayoutId id="2147484176" r:id="rId2"/>
  </p:sldLayoutIdLst>
  <p:hf sldNum="0" hdr="0" ftr="0" dt="0"/>
  <p:txStyles>
    <p:titleStyle>
      <a:lvl1pPr algn="l" rtl="0" eaLnBrk="1" fontAlgn="base" hangingPunct="1">
        <a:spcBef>
          <a:spcPct val="0"/>
        </a:spcBef>
        <a:spcAft>
          <a:spcPct val="0"/>
        </a:spcAft>
        <a:defRPr kumimoji="1" lang="ja-JP" altLang="en-US" sz="26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767" b="1">
          <a:solidFill>
            <a:schemeClr val="tx1"/>
          </a:solidFill>
          <a:latin typeface="Arial" charset="0"/>
        </a:defRPr>
      </a:lvl2pPr>
      <a:lvl3pPr algn="l" rtl="0" eaLnBrk="1" fontAlgn="base" hangingPunct="1">
        <a:spcBef>
          <a:spcPct val="0"/>
        </a:spcBef>
        <a:spcAft>
          <a:spcPct val="0"/>
        </a:spcAft>
        <a:defRPr kumimoji="1" sz="4767" b="1">
          <a:solidFill>
            <a:schemeClr val="tx1"/>
          </a:solidFill>
          <a:latin typeface="Arial" charset="0"/>
        </a:defRPr>
      </a:lvl3pPr>
      <a:lvl4pPr algn="l" rtl="0" eaLnBrk="1" fontAlgn="base" hangingPunct="1">
        <a:spcBef>
          <a:spcPct val="0"/>
        </a:spcBef>
        <a:spcAft>
          <a:spcPct val="0"/>
        </a:spcAft>
        <a:defRPr kumimoji="1" sz="4767" b="1">
          <a:solidFill>
            <a:schemeClr val="tx1"/>
          </a:solidFill>
          <a:latin typeface="Arial" charset="0"/>
        </a:defRPr>
      </a:lvl4pPr>
      <a:lvl5pPr algn="l" rtl="0" eaLnBrk="1" fontAlgn="base" hangingPunct="1">
        <a:spcBef>
          <a:spcPct val="0"/>
        </a:spcBef>
        <a:spcAft>
          <a:spcPct val="0"/>
        </a:spcAft>
        <a:defRPr kumimoji="1" sz="4767" b="1">
          <a:solidFill>
            <a:schemeClr val="tx1"/>
          </a:solidFill>
          <a:latin typeface="Arial" charset="0"/>
        </a:defRPr>
      </a:lvl5pPr>
      <a:lvl6pPr marL="495273" algn="l" rtl="0" eaLnBrk="1" fontAlgn="base" hangingPunct="1">
        <a:spcBef>
          <a:spcPct val="0"/>
        </a:spcBef>
        <a:spcAft>
          <a:spcPct val="0"/>
        </a:spcAft>
        <a:defRPr kumimoji="1" b="1">
          <a:solidFill>
            <a:schemeClr val="tx1"/>
          </a:solidFill>
          <a:latin typeface="Arial" charset="0"/>
        </a:defRPr>
      </a:lvl6pPr>
      <a:lvl7pPr marL="990546" algn="l" rtl="0" eaLnBrk="1" fontAlgn="base" hangingPunct="1">
        <a:spcBef>
          <a:spcPct val="0"/>
        </a:spcBef>
        <a:spcAft>
          <a:spcPct val="0"/>
        </a:spcAft>
        <a:defRPr kumimoji="1" b="1">
          <a:solidFill>
            <a:schemeClr val="tx1"/>
          </a:solidFill>
          <a:latin typeface="Arial" charset="0"/>
        </a:defRPr>
      </a:lvl7pPr>
      <a:lvl8pPr marL="1485818" algn="l" rtl="0" eaLnBrk="1" fontAlgn="base" hangingPunct="1">
        <a:spcBef>
          <a:spcPct val="0"/>
        </a:spcBef>
        <a:spcAft>
          <a:spcPct val="0"/>
        </a:spcAft>
        <a:defRPr kumimoji="1" b="1">
          <a:solidFill>
            <a:schemeClr val="tx1"/>
          </a:solidFill>
          <a:latin typeface="Arial" charset="0"/>
        </a:defRPr>
      </a:lvl8pPr>
      <a:lvl9pPr marL="1981089" algn="l" rtl="0" eaLnBrk="1" fontAlgn="base" hangingPunct="1">
        <a:spcBef>
          <a:spcPct val="0"/>
        </a:spcBef>
        <a:spcAft>
          <a:spcPct val="0"/>
        </a:spcAft>
        <a:defRPr kumimoji="1" b="1">
          <a:solidFill>
            <a:schemeClr val="tx1"/>
          </a:solidFill>
          <a:latin typeface="Arial" charset="0"/>
        </a:defRPr>
      </a:lvl9pPr>
    </p:titleStyle>
    <p:body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p:bodyStyle>
    <p:otherStyle>
      <a:defPPr>
        <a:defRPr lang="de-DE"/>
      </a:defPPr>
      <a:lvl1pPr marL="0" algn="l" defTabSz="990546" rtl="0" eaLnBrk="1" latinLnBrk="0" hangingPunct="1">
        <a:defRPr kumimoji="1" sz="1951" kern="1200">
          <a:solidFill>
            <a:schemeClr val="tx1"/>
          </a:solidFill>
          <a:latin typeface="+mn-lt"/>
          <a:ea typeface="+mn-ea"/>
          <a:cs typeface="+mn-cs"/>
        </a:defRPr>
      </a:lvl1pPr>
      <a:lvl2pPr marL="495273" algn="l" defTabSz="990546" rtl="0" eaLnBrk="1" latinLnBrk="0" hangingPunct="1">
        <a:defRPr kumimoji="1" sz="1951" kern="1200">
          <a:solidFill>
            <a:schemeClr val="tx1"/>
          </a:solidFill>
          <a:latin typeface="+mn-lt"/>
          <a:ea typeface="+mn-ea"/>
          <a:cs typeface="+mn-cs"/>
        </a:defRPr>
      </a:lvl2pPr>
      <a:lvl3pPr marL="990546" algn="l" defTabSz="990546" rtl="0" eaLnBrk="1" latinLnBrk="0" hangingPunct="1">
        <a:defRPr kumimoji="1" sz="1951" kern="1200">
          <a:solidFill>
            <a:schemeClr val="tx1"/>
          </a:solidFill>
          <a:latin typeface="+mn-lt"/>
          <a:ea typeface="+mn-ea"/>
          <a:cs typeface="+mn-cs"/>
        </a:defRPr>
      </a:lvl3pPr>
      <a:lvl4pPr marL="1485818" algn="l" defTabSz="990546" rtl="0" eaLnBrk="1" latinLnBrk="0" hangingPunct="1">
        <a:defRPr kumimoji="1" sz="1951" kern="1200">
          <a:solidFill>
            <a:schemeClr val="tx1"/>
          </a:solidFill>
          <a:latin typeface="+mn-lt"/>
          <a:ea typeface="+mn-ea"/>
          <a:cs typeface="+mn-cs"/>
        </a:defRPr>
      </a:lvl4pPr>
      <a:lvl5pPr marL="1981089" algn="l" defTabSz="990546" rtl="0" eaLnBrk="1" latinLnBrk="0" hangingPunct="1">
        <a:defRPr kumimoji="1" sz="1951" kern="1200">
          <a:solidFill>
            <a:schemeClr val="tx1"/>
          </a:solidFill>
          <a:latin typeface="+mn-lt"/>
          <a:ea typeface="+mn-ea"/>
          <a:cs typeface="+mn-cs"/>
        </a:defRPr>
      </a:lvl5pPr>
      <a:lvl6pPr marL="2476362" algn="l" defTabSz="990546" rtl="0" eaLnBrk="1" latinLnBrk="0" hangingPunct="1">
        <a:defRPr kumimoji="1" sz="1951" kern="1200">
          <a:solidFill>
            <a:schemeClr val="tx1"/>
          </a:solidFill>
          <a:latin typeface="+mn-lt"/>
          <a:ea typeface="+mn-ea"/>
          <a:cs typeface="+mn-cs"/>
        </a:defRPr>
      </a:lvl6pPr>
      <a:lvl7pPr marL="2971635" algn="l" defTabSz="990546" rtl="0" eaLnBrk="1" latinLnBrk="0" hangingPunct="1">
        <a:defRPr kumimoji="1" sz="1951" kern="1200">
          <a:solidFill>
            <a:schemeClr val="tx1"/>
          </a:solidFill>
          <a:latin typeface="+mn-lt"/>
          <a:ea typeface="+mn-ea"/>
          <a:cs typeface="+mn-cs"/>
        </a:defRPr>
      </a:lvl7pPr>
      <a:lvl8pPr marL="3466907" algn="l" defTabSz="990546" rtl="0" eaLnBrk="1" latinLnBrk="0" hangingPunct="1">
        <a:defRPr kumimoji="1" sz="1951" kern="1200">
          <a:solidFill>
            <a:schemeClr val="tx1"/>
          </a:solidFill>
          <a:latin typeface="+mn-lt"/>
          <a:ea typeface="+mn-ea"/>
          <a:cs typeface="+mn-cs"/>
        </a:defRPr>
      </a:lvl8pPr>
      <a:lvl9pPr marL="3962180" algn="l" defTabSz="990546" rtl="0" eaLnBrk="1" latinLnBrk="0" hangingPunct="1">
        <a:defRPr kumimoji="1" sz="19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308">
          <p15:clr>
            <a:srgbClr val="F26B43"/>
          </p15:clr>
        </p15:guide>
        <p15:guide id="3" pos="5932">
          <p15:clr>
            <a:srgbClr val="F26B43"/>
          </p15:clr>
        </p15:guide>
        <p15:guide id="4" orient="horz" pos="415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6"/>
            </p:custDataLst>
            <p:extLst>
              <p:ext uri="{D42A27DB-BD31-4B8C-83A1-F6EECF244321}">
                <p14:modId xmlns:p14="http://schemas.microsoft.com/office/powerpoint/2010/main" val="3506940832"/>
              </p:ext>
            </p:extLst>
          </p:nvPr>
        </p:nvGraphicFramePr>
        <p:xfrm>
          <a:off x="1590" y="1589"/>
          <a:ext cx="1587" cy="1587"/>
        </p:xfrm>
        <a:graphic>
          <a:graphicData uri="http://schemas.openxmlformats.org/presentationml/2006/ole">
            <mc:AlternateContent xmlns:mc="http://schemas.openxmlformats.org/markup-compatibility/2006">
              <mc:Choice xmlns:v="urn:schemas-microsoft-com:vml" Requires="v">
                <p:oleObj name="think-cell スライド" r:id="rId8" imgW="470" imgH="469" progId="TCLayout.ActiveDocument.1">
                  <p:embed/>
                </p:oleObj>
              </mc:Choice>
              <mc:Fallback>
                <p:oleObj name="think-cell スライド" r:id="rId8" imgW="470" imgH="469" progId="TCLayout.ActiveDocument.1">
                  <p:embed/>
                  <p:pic>
                    <p:nvPicPr>
                      <p:cNvPr id="2" name="オブジェクト 1" hidden="1"/>
                      <p:cNvPicPr/>
                      <p:nvPr/>
                    </p:nvPicPr>
                    <p:blipFill>
                      <a:blip r:embed="rId9"/>
                      <a:stretch>
                        <a:fillRect/>
                      </a:stretch>
                    </p:blipFill>
                    <p:spPr>
                      <a:xfrm>
                        <a:off x="1590" y="1589"/>
                        <a:ext cx="1587" cy="1587"/>
                      </a:xfrm>
                      <a:prstGeom prst="rect">
                        <a:avLst/>
                      </a:prstGeom>
                    </p:spPr>
                  </p:pic>
                </p:oleObj>
              </mc:Fallback>
            </mc:AlternateContent>
          </a:graphicData>
        </a:graphic>
      </p:graphicFrame>
      <p:sp>
        <p:nvSpPr>
          <p:cNvPr id="5" name="正方形/長方形 4" hidden="1">
            <a:extLst>
              <a:ext uri="{FF2B5EF4-FFF2-40B4-BE49-F238E27FC236}">
                <a16:creationId xmlns:a16="http://schemas.microsoft.com/office/drawing/2014/main" id="{6491AD6F-74F4-4A85-8F0F-8C30A5A0BA9C}"/>
              </a:ext>
            </a:extLst>
          </p:cNvPr>
          <p:cNvSpPr/>
          <p:nvPr userDrawn="1">
            <p:custDataLst>
              <p:tags r:id="rId7"/>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914400" eaLnBrk="1" latinLnBrk="0" hangingPunct="1">
              <a:lnSpc>
                <a:spcPct val="100000"/>
              </a:lnSpc>
              <a:spcBef>
                <a:spcPct val="0"/>
              </a:spcBef>
              <a:spcAft>
                <a:spcPct val="0"/>
              </a:spcAft>
              <a:buClrTx/>
              <a:buSzTx/>
              <a:buFontTx/>
              <a:buNone/>
              <a:tabLst/>
            </a:pPr>
            <a:endParaRPr kumimoji="1" lang="ja-JP" altLang="en-US" sz="26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タイトル プレースホルダー 2">
            <a:extLst>
              <a:ext uri="{FF2B5EF4-FFF2-40B4-BE49-F238E27FC236}">
                <a16:creationId xmlns:a16="http://schemas.microsoft.com/office/drawing/2014/main" id="{CDE2699A-871E-4F62-8C18-D1F378566C71}"/>
              </a:ext>
            </a:extLst>
          </p:cNvPr>
          <p:cNvSpPr>
            <a:spLocks noGrp="1"/>
          </p:cNvSpPr>
          <p:nvPr>
            <p:ph type="title"/>
          </p:nvPr>
        </p:nvSpPr>
        <p:spPr>
          <a:xfrm>
            <a:off x="488504" y="476720"/>
            <a:ext cx="8928000" cy="432000"/>
          </a:xfrm>
          <a:prstGeom prst="rect">
            <a:avLst/>
          </a:prstGeom>
        </p:spPr>
        <p:txBody>
          <a:bodyPr vert="horz" lIns="0" tIns="0" rIns="0" bIns="0" rtlCol="0" anchor="ctr">
            <a:normAutofit/>
          </a:bodyPr>
          <a:lstStyle/>
          <a:p>
            <a:pPr lvl="0"/>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146A2FBE-8717-4DDD-97F4-55040C1A4363}"/>
              </a:ext>
            </a:extLst>
          </p:cNvPr>
          <p:cNvSpPr>
            <a:spLocks noGrp="1"/>
          </p:cNvSpPr>
          <p:nvPr>
            <p:ph type="body" idx="1"/>
          </p:nvPr>
        </p:nvSpPr>
        <p:spPr>
          <a:xfrm>
            <a:off x="488504" y="944949"/>
            <a:ext cx="8928000" cy="1454244"/>
          </a:xfrm>
          <a:prstGeom prst="rect">
            <a:avLst/>
          </a:prstGeom>
        </p:spPr>
        <p:txBody>
          <a:bodyPr vert="horz" lIns="0" tIns="0" rIns="0" bIns="0" rtlCol="0">
            <a:spAutoFit/>
          </a:bodyPr>
          <a:lstStyle/>
          <a:p>
            <a:pPr marR="0" lvl="0" defTabSz="990546" latinLnBrk="0">
              <a:lnSpc>
                <a:spcPct val="100000"/>
              </a:lnSpc>
              <a:buClrTx/>
              <a:buSzTx/>
              <a:tabLst/>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a:t>
            </a:r>
            <a:r>
              <a:rPr kumimoji="1" lang="en-US" altLang="ja-JP"/>
              <a:t>4</a:t>
            </a:r>
            <a:r>
              <a:rPr kumimoji="1" lang="ja-JP" altLang="en-US"/>
              <a:t>レベル</a:t>
            </a:r>
          </a:p>
        </p:txBody>
      </p:sp>
    </p:spTree>
    <p:extLst>
      <p:ext uri="{BB962C8B-B14F-4D97-AF65-F5344CB8AC3E}">
        <p14:creationId xmlns:p14="http://schemas.microsoft.com/office/powerpoint/2010/main" val="2038962174"/>
      </p:ext>
    </p:extLst>
  </p:cSld>
  <p:clrMap bg1="lt1" tx1="dk1" bg2="lt2" tx2="dk2" accent1="accent1" accent2="accent2" accent3="accent3" accent4="accent4" accent5="accent5" accent6="accent6" hlink="hlink" folHlink="folHlink"/>
  <p:sldLayoutIdLst>
    <p:sldLayoutId id="2147484178" r:id="rId1"/>
    <p:sldLayoutId id="2147484179" r:id="rId2"/>
    <p:sldLayoutId id="2147484180" r:id="rId3"/>
    <p:sldLayoutId id="2147484181" r:id="rId4"/>
  </p:sldLayoutIdLst>
  <p:hf sldNum="0" hdr="0" ftr="0" dt="0"/>
  <p:txStyles>
    <p:titleStyle>
      <a:lvl1pPr algn="l" rtl="0" eaLnBrk="1" fontAlgn="base" hangingPunct="1">
        <a:spcBef>
          <a:spcPct val="0"/>
        </a:spcBef>
        <a:spcAft>
          <a:spcPct val="0"/>
        </a:spcAft>
        <a:defRPr kumimoji="1" lang="ja-JP" altLang="en-US" sz="26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767" b="1">
          <a:solidFill>
            <a:schemeClr val="tx1"/>
          </a:solidFill>
          <a:latin typeface="Arial" charset="0"/>
        </a:defRPr>
      </a:lvl2pPr>
      <a:lvl3pPr algn="l" rtl="0" eaLnBrk="1" fontAlgn="base" hangingPunct="1">
        <a:spcBef>
          <a:spcPct val="0"/>
        </a:spcBef>
        <a:spcAft>
          <a:spcPct val="0"/>
        </a:spcAft>
        <a:defRPr kumimoji="1" sz="4767" b="1">
          <a:solidFill>
            <a:schemeClr val="tx1"/>
          </a:solidFill>
          <a:latin typeface="Arial" charset="0"/>
        </a:defRPr>
      </a:lvl3pPr>
      <a:lvl4pPr algn="l" rtl="0" eaLnBrk="1" fontAlgn="base" hangingPunct="1">
        <a:spcBef>
          <a:spcPct val="0"/>
        </a:spcBef>
        <a:spcAft>
          <a:spcPct val="0"/>
        </a:spcAft>
        <a:defRPr kumimoji="1" sz="4767" b="1">
          <a:solidFill>
            <a:schemeClr val="tx1"/>
          </a:solidFill>
          <a:latin typeface="Arial" charset="0"/>
        </a:defRPr>
      </a:lvl4pPr>
      <a:lvl5pPr algn="l" rtl="0" eaLnBrk="1" fontAlgn="base" hangingPunct="1">
        <a:spcBef>
          <a:spcPct val="0"/>
        </a:spcBef>
        <a:spcAft>
          <a:spcPct val="0"/>
        </a:spcAft>
        <a:defRPr kumimoji="1" sz="4767" b="1">
          <a:solidFill>
            <a:schemeClr val="tx1"/>
          </a:solidFill>
          <a:latin typeface="Arial" charset="0"/>
        </a:defRPr>
      </a:lvl5pPr>
      <a:lvl6pPr marL="495273" algn="l" rtl="0" eaLnBrk="1" fontAlgn="base" hangingPunct="1">
        <a:spcBef>
          <a:spcPct val="0"/>
        </a:spcBef>
        <a:spcAft>
          <a:spcPct val="0"/>
        </a:spcAft>
        <a:defRPr kumimoji="1" b="1">
          <a:solidFill>
            <a:schemeClr val="tx1"/>
          </a:solidFill>
          <a:latin typeface="Arial" charset="0"/>
        </a:defRPr>
      </a:lvl6pPr>
      <a:lvl7pPr marL="990546" algn="l" rtl="0" eaLnBrk="1" fontAlgn="base" hangingPunct="1">
        <a:spcBef>
          <a:spcPct val="0"/>
        </a:spcBef>
        <a:spcAft>
          <a:spcPct val="0"/>
        </a:spcAft>
        <a:defRPr kumimoji="1" b="1">
          <a:solidFill>
            <a:schemeClr val="tx1"/>
          </a:solidFill>
          <a:latin typeface="Arial" charset="0"/>
        </a:defRPr>
      </a:lvl7pPr>
      <a:lvl8pPr marL="1485818" algn="l" rtl="0" eaLnBrk="1" fontAlgn="base" hangingPunct="1">
        <a:spcBef>
          <a:spcPct val="0"/>
        </a:spcBef>
        <a:spcAft>
          <a:spcPct val="0"/>
        </a:spcAft>
        <a:defRPr kumimoji="1" b="1">
          <a:solidFill>
            <a:schemeClr val="tx1"/>
          </a:solidFill>
          <a:latin typeface="Arial" charset="0"/>
        </a:defRPr>
      </a:lvl8pPr>
      <a:lvl9pPr marL="1981089" algn="l" rtl="0" eaLnBrk="1" fontAlgn="base" hangingPunct="1">
        <a:spcBef>
          <a:spcPct val="0"/>
        </a:spcBef>
        <a:spcAft>
          <a:spcPct val="0"/>
        </a:spcAft>
        <a:defRPr kumimoji="1" b="1">
          <a:solidFill>
            <a:schemeClr val="tx1"/>
          </a:solidFill>
          <a:latin typeface="Arial" charset="0"/>
        </a:defRPr>
      </a:lvl9pPr>
    </p:titleStyle>
    <p:bodyStyle>
      <a:lvl1pPr marL="0" indent="0" algn="l" rtl="0" eaLnBrk="1" fontAlgn="base" hangingPunct="1">
        <a:lnSpc>
          <a:spcPct val="100000"/>
        </a:lnSpc>
        <a:spcBef>
          <a:spcPts val="600"/>
        </a:spcBef>
        <a:spcAft>
          <a:spcPts val="325"/>
        </a:spcAft>
        <a:buFont typeface="Arial" panose="020B0604020202020204" pitchFamily="34" charset="0"/>
        <a:buNone/>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627063" indent="-268288" algn="l" rtl="0" eaLnBrk="1" fontAlgn="base" hangingPunct="1">
        <a:lnSpc>
          <a:spcPct val="100000"/>
        </a:lnSpc>
        <a:spcBef>
          <a:spcPts val="600"/>
        </a:spcBef>
        <a:spcAft>
          <a:spcPts val="325"/>
        </a:spcAft>
        <a:buFont typeface="Wingdings" panose="05000000000000000000" pitchFamily="2" charset="2"/>
        <a:buChar char="p"/>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85838" indent="-266700" algn="l" rtl="0" eaLnBrk="1" fontAlgn="base" hangingPunct="1">
        <a:lnSpc>
          <a:spcPct val="100000"/>
        </a:lnSpc>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346200" indent="-268288" algn="l" rtl="0" eaLnBrk="1" fontAlgn="base" hangingPunct="1">
        <a:lnSpc>
          <a:spcPct val="100000"/>
        </a:lnSpc>
        <a:spcBef>
          <a:spcPts val="600"/>
        </a:spcBef>
        <a:spcAft>
          <a:spcPts val="325"/>
        </a:spcAft>
        <a:buFont typeface="Meiryo UI" panose="020B0604030504040204" pitchFamily="50" charset="-128"/>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704975" indent="-268288" algn="l" rtl="0" eaLnBrk="1" fontAlgn="base" hangingPunct="1">
        <a:spcBef>
          <a:spcPts val="600"/>
        </a:spcBef>
        <a:spcAft>
          <a:spcPts val="325"/>
        </a:spcAft>
        <a:buFont typeface="Arial" panose="020B0604020202020204" pitchFamily="34" charset="0"/>
        <a:buChar char="–"/>
        <a:defRPr kumimoji="1" lang="ja-JP" altLang="en-US" sz="1800"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723999"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6pPr>
      <a:lvl7pPr marL="3219270"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7pPr>
      <a:lvl8pPr marL="3714543"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8pPr>
      <a:lvl9pPr marL="4209815" indent="-247636" algn="l" defTabSz="990546" rtl="0" eaLnBrk="1" latinLnBrk="0" hangingPunct="1">
        <a:spcBef>
          <a:spcPct val="20000"/>
        </a:spcBef>
        <a:buFont typeface="Arial" pitchFamily="34" charset="0"/>
        <a:buChar char="•"/>
        <a:defRPr kumimoji="1" sz="2167" kern="1200">
          <a:solidFill>
            <a:schemeClr val="tx1"/>
          </a:solidFill>
          <a:latin typeface="+mn-lt"/>
          <a:ea typeface="+mn-ea"/>
          <a:cs typeface="+mn-cs"/>
        </a:defRPr>
      </a:lvl9pPr>
    </p:bodyStyle>
    <p:otherStyle>
      <a:defPPr>
        <a:defRPr lang="de-DE"/>
      </a:defPPr>
      <a:lvl1pPr marL="0" algn="l" defTabSz="990546" rtl="0" eaLnBrk="1" latinLnBrk="0" hangingPunct="1">
        <a:defRPr kumimoji="1" sz="1951" kern="1200">
          <a:solidFill>
            <a:schemeClr val="tx1"/>
          </a:solidFill>
          <a:latin typeface="+mn-lt"/>
          <a:ea typeface="+mn-ea"/>
          <a:cs typeface="+mn-cs"/>
        </a:defRPr>
      </a:lvl1pPr>
      <a:lvl2pPr marL="495273" algn="l" defTabSz="990546" rtl="0" eaLnBrk="1" latinLnBrk="0" hangingPunct="1">
        <a:defRPr kumimoji="1" sz="1951" kern="1200">
          <a:solidFill>
            <a:schemeClr val="tx1"/>
          </a:solidFill>
          <a:latin typeface="+mn-lt"/>
          <a:ea typeface="+mn-ea"/>
          <a:cs typeface="+mn-cs"/>
        </a:defRPr>
      </a:lvl2pPr>
      <a:lvl3pPr marL="990546" algn="l" defTabSz="990546" rtl="0" eaLnBrk="1" latinLnBrk="0" hangingPunct="1">
        <a:defRPr kumimoji="1" sz="1951" kern="1200">
          <a:solidFill>
            <a:schemeClr val="tx1"/>
          </a:solidFill>
          <a:latin typeface="+mn-lt"/>
          <a:ea typeface="+mn-ea"/>
          <a:cs typeface="+mn-cs"/>
        </a:defRPr>
      </a:lvl3pPr>
      <a:lvl4pPr marL="1485818" algn="l" defTabSz="990546" rtl="0" eaLnBrk="1" latinLnBrk="0" hangingPunct="1">
        <a:defRPr kumimoji="1" sz="1951" kern="1200">
          <a:solidFill>
            <a:schemeClr val="tx1"/>
          </a:solidFill>
          <a:latin typeface="+mn-lt"/>
          <a:ea typeface="+mn-ea"/>
          <a:cs typeface="+mn-cs"/>
        </a:defRPr>
      </a:lvl4pPr>
      <a:lvl5pPr marL="1981089" algn="l" defTabSz="990546" rtl="0" eaLnBrk="1" latinLnBrk="0" hangingPunct="1">
        <a:defRPr kumimoji="1" sz="1951" kern="1200">
          <a:solidFill>
            <a:schemeClr val="tx1"/>
          </a:solidFill>
          <a:latin typeface="+mn-lt"/>
          <a:ea typeface="+mn-ea"/>
          <a:cs typeface="+mn-cs"/>
        </a:defRPr>
      </a:lvl5pPr>
      <a:lvl6pPr marL="2476362" algn="l" defTabSz="990546" rtl="0" eaLnBrk="1" latinLnBrk="0" hangingPunct="1">
        <a:defRPr kumimoji="1" sz="1951" kern="1200">
          <a:solidFill>
            <a:schemeClr val="tx1"/>
          </a:solidFill>
          <a:latin typeface="+mn-lt"/>
          <a:ea typeface="+mn-ea"/>
          <a:cs typeface="+mn-cs"/>
        </a:defRPr>
      </a:lvl6pPr>
      <a:lvl7pPr marL="2971635" algn="l" defTabSz="990546" rtl="0" eaLnBrk="1" latinLnBrk="0" hangingPunct="1">
        <a:defRPr kumimoji="1" sz="1951" kern="1200">
          <a:solidFill>
            <a:schemeClr val="tx1"/>
          </a:solidFill>
          <a:latin typeface="+mn-lt"/>
          <a:ea typeface="+mn-ea"/>
          <a:cs typeface="+mn-cs"/>
        </a:defRPr>
      </a:lvl7pPr>
      <a:lvl8pPr marL="3466907" algn="l" defTabSz="990546" rtl="0" eaLnBrk="1" latinLnBrk="0" hangingPunct="1">
        <a:defRPr kumimoji="1" sz="1951" kern="1200">
          <a:solidFill>
            <a:schemeClr val="tx1"/>
          </a:solidFill>
          <a:latin typeface="+mn-lt"/>
          <a:ea typeface="+mn-ea"/>
          <a:cs typeface="+mn-cs"/>
        </a:defRPr>
      </a:lvl8pPr>
      <a:lvl9pPr marL="3962180" algn="l" defTabSz="990546" rtl="0" eaLnBrk="1" latinLnBrk="0" hangingPunct="1">
        <a:defRPr kumimoji="1" sz="19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308">
          <p15:clr>
            <a:srgbClr val="F26B43"/>
          </p15:clr>
        </p15:guide>
        <p15:guide id="3" pos="5932">
          <p15:clr>
            <a:srgbClr val="F26B43"/>
          </p15:clr>
        </p15:guide>
        <p15:guide id="4" orient="horz" pos="415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4"/>
            </p:custDataLst>
            <p:extLst>
              <p:ext uri="{D42A27DB-BD31-4B8C-83A1-F6EECF244321}">
                <p14:modId xmlns:p14="http://schemas.microsoft.com/office/powerpoint/2010/main" val="4199354715"/>
              </p:ext>
            </p:extLst>
          </p:nvPr>
        </p:nvGraphicFramePr>
        <p:xfrm>
          <a:off x="1593" y="1595"/>
          <a:ext cx="1587" cy="1587"/>
        </p:xfrm>
        <a:graphic>
          <a:graphicData uri="http://schemas.openxmlformats.org/presentationml/2006/ole">
            <mc:AlternateContent xmlns:mc="http://schemas.openxmlformats.org/markup-compatibility/2006">
              <mc:Choice xmlns:v="urn:schemas-microsoft-com:vml" Requires="v">
                <p:oleObj name="think-cell スライド" r:id="rId6" imgW="470" imgH="469" progId="TCLayout.ActiveDocument.1">
                  <p:embed/>
                </p:oleObj>
              </mc:Choice>
              <mc:Fallback>
                <p:oleObj name="think-cell スライド" r:id="rId6" imgW="470" imgH="469" progId="TCLayout.ActiveDocument.1">
                  <p:embed/>
                  <p:pic>
                    <p:nvPicPr>
                      <p:cNvPr id="2" name="オブジェクト 1" hidden="1"/>
                      <p:cNvPicPr/>
                      <p:nvPr/>
                    </p:nvPicPr>
                    <p:blipFill>
                      <a:blip r:embed="rId7"/>
                      <a:stretch>
                        <a:fillRect/>
                      </a:stretch>
                    </p:blipFill>
                    <p:spPr>
                      <a:xfrm>
                        <a:off x="1593" y="1595"/>
                        <a:ext cx="1587" cy="1587"/>
                      </a:xfrm>
                      <a:prstGeom prst="rect">
                        <a:avLst/>
                      </a:prstGeom>
                    </p:spPr>
                  </p:pic>
                </p:oleObj>
              </mc:Fallback>
            </mc:AlternateContent>
          </a:graphicData>
        </a:graphic>
      </p:graphicFrame>
      <p:sp>
        <p:nvSpPr>
          <p:cNvPr id="5" name="正方形/長方形 4" hidden="1">
            <a:extLst>
              <a:ext uri="{FF2B5EF4-FFF2-40B4-BE49-F238E27FC236}">
                <a16:creationId xmlns:a16="http://schemas.microsoft.com/office/drawing/2014/main" id="{6491AD6F-74F4-4A85-8F0F-8C30A5A0BA9C}"/>
              </a:ext>
            </a:extLst>
          </p:cNvPr>
          <p:cNvSpPr/>
          <p:nvPr userDrawn="1">
            <p:custDataLst>
              <p:tags r:id="rId5"/>
            </p:custDataLst>
          </p:nvPr>
        </p:nvSpPr>
        <p:spPr bwMode="gray">
          <a:xfrm>
            <a:off x="0" y="0"/>
            <a:ext cx="158750" cy="15875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none" lIns="0" tIns="0" rIns="0" bIns="0" numCol="1" spcCol="0" rtlCol="0" anchor="t" anchorCtr="0" compatLnSpc="1">
            <a:prstTxWarp prst="textNoShape">
              <a:avLst/>
            </a:prstTxWarp>
            <a:noAutofit/>
          </a:bodyPr>
          <a:lstStyle/>
          <a:p>
            <a:pPr marL="0" marR="0" lvl="0" indent="0" algn="ctr" defTabSz="844083" eaLnBrk="1" latinLnBrk="0" hangingPunct="1">
              <a:lnSpc>
                <a:spcPct val="100000"/>
              </a:lnSpc>
              <a:spcBef>
                <a:spcPct val="0"/>
              </a:spcBef>
              <a:spcAft>
                <a:spcPct val="0"/>
              </a:spcAft>
              <a:buClrTx/>
              <a:buSzTx/>
              <a:buFontTx/>
              <a:buNone/>
              <a:tabLst/>
            </a:pPr>
            <a:endParaRPr kumimoji="1" lang="ja-JP" altLang="en-US" sz="2400" b="1" i="0" kern="0" baseline="0">
              <a:solidFill>
                <a:sysClr val="windowText" lastClr="000000"/>
              </a:solidFill>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タイトル プレースホルダー 2">
            <a:extLst>
              <a:ext uri="{FF2B5EF4-FFF2-40B4-BE49-F238E27FC236}">
                <a16:creationId xmlns:a16="http://schemas.microsoft.com/office/drawing/2014/main" id="{CDE2699A-871E-4F62-8C18-D1F378566C71}"/>
              </a:ext>
            </a:extLst>
          </p:cNvPr>
          <p:cNvSpPr>
            <a:spLocks noGrp="1"/>
          </p:cNvSpPr>
          <p:nvPr>
            <p:ph type="title"/>
          </p:nvPr>
        </p:nvSpPr>
        <p:spPr>
          <a:xfrm>
            <a:off x="488507" y="476720"/>
            <a:ext cx="8928000" cy="432000"/>
          </a:xfrm>
          <a:prstGeom prst="rect">
            <a:avLst/>
          </a:prstGeom>
        </p:spPr>
        <p:txBody>
          <a:bodyPr vert="horz" lIns="0" tIns="0" rIns="0" bIns="0" rtlCol="0" anchor="ctr">
            <a:normAutofit/>
          </a:bodyPr>
          <a:lstStyle/>
          <a:p>
            <a:pPr lvl="0"/>
            <a:r>
              <a:rPr kumimoji="1" lang="ja-JP" altLang="en-US"/>
              <a:t>マスター タイトルの書式設定</a:t>
            </a:r>
          </a:p>
        </p:txBody>
      </p:sp>
      <p:sp>
        <p:nvSpPr>
          <p:cNvPr id="4" name="テキスト プレースホルダー 3">
            <a:extLst>
              <a:ext uri="{FF2B5EF4-FFF2-40B4-BE49-F238E27FC236}">
                <a16:creationId xmlns:a16="http://schemas.microsoft.com/office/drawing/2014/main" id="{146A2FBE-8717-4DDD-97F4-55040C1A4363}"/>
              </a:ext>
            </a:extLst>
          </p:cNvPr>
          <p:cNvSpPr>
            <a:spLocks noGrp="1"/>
          </p:cNvSpPr>
          <p:nvPr>
            <p:ph type="body" idx="1"/>
          </p:nvPr>
        </p:nvSpPr>
        <p:spPr>
          <a:xfrm>
            <a:off x="488507" y="944954"/>
            <a:ext cx="8928000" cy="1369349"/>
          </a:xfrm>
          <a:prstGeom prst="rect">
            <a:avLst/>
          </a:prstGeom>
        </p:spPr>
        <p:txBody>
          <a:bodyPr vert="horz" lIns="0" tIns="0" rIns="0" bIns="0" rtlCol="0">
            <a:spAutoFit/>
          </a:bodyPr>
          <a:lstStyle/>
          <a:p>
            <a:pPr marR="0" lvl="0" defTabSz="914373" latinLnBrk="0">
              <a:lnSpc>
                <a:spcPct val="100000"/>
              </a:lnSpc>
              <a:buClrTx/>
              <a:buSzTx/>
              <a:tabLst/>
            </a:pPr>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a:t>
            </a:r>
            <a:r>
              <a:rPr kumimoji="1" lang="en-US" altLang="ja-JP"/>
              <a:t>4</a:t>
            </a:r>
            <a:r>
              <a:rPr kumimoji="1" lang="ja-JP" altLang="en-US"/>
              <a:t>レベル</a:t>
            </a:r>
          </a:p>
        </p:txBody>
      </p:sp>
    </p:spTree>
    <p:extLst>
      <p:ext uri="{BB962C8B-B14F-4D97-AF65-F5344CB8AC3E}">
        <p14:creationId xmlns:p14="http://schemas.microsoft.com/office/powerpoint/2010/main" val="1171616463"/>
      </p:ext>
    </p:extLst>
  </p:cSld>
  <p:clrMap bg1="lt1" tx1="dk1" bg2="lt2" tx2="dk2" accent1="accent1" accent2="accent2" accent3="accent3" accent4="accent4" accent5="accent5" accent6="accent6" hlink="hlink" folHlink="folHlink"/>
  <p:sldLayoutIdLst>
    <p:sldLayoutId id="2147484183" r:id="rId1"/>
    <p:sldLayoutId id="2147484184" r:id="rId2"/>
  </p:sldLayoutIdLst>
  <p:hf sldNum="0" hdr="0" ftr="0" dt="0"/>
  <p:txStyles>
    <p:titleStyle>
      <a:lvl1pPr algn="l" rtl="0" eaLnBrk="1" fontAlgn="base" hangingPunct="1">
        <a:spcBef>
          <a:spcPct val="0"/>
        </a:spcBef>
        <a:spcAft>
          <a:spcPct val="0"/>
        </a:spcAft>
        <a:defRPr kumimoji="1" lang="ja-JP" altLang="en-US" sz="2400" b="1" kern="1200" dirty="0">
          <a:solidFill>
            <a:schemeClr val="tx1"/>
          </a:solidFill>
          <a:latin typeface="Meiryo UI" panose="020B0604030504040204" pitchFamily="50" charset="-128"/>
          <a:ea typeface="Meiryo UI" panose="020B0604030504040204" pitchFamily="50" charset="-128"/>
          <a:cs typeface="+mj-cs"/>
          <a:sym typeface="Meiryo UI" panose="020B0604030504040204" pitchFamily="50" charset="-128"/>
        </a:defRPr>
      </a:lvl1pPr>
      <a:lvl2pPr algn="l" rtl="0" eaLnBrk="1" fontAlgn="base" hangingPunct="1">
        <a:spcBef>
          <a:spcPct val="0"/>
        </a:spcBef>
        <a:spcAft>
          <a:spcPct val="0"/>
        </a:spcAft>
        <a:defRPr kumimoji="1" sz="4400" b="1">
          <a:solidFill>
            <a:schemeClr val="tx1"/>
          </a:solidFill>
          <a:latin typeface="Arial" charset="0"/>
        </a:defRPr>
      </a:lvl2pPr>
      <a:lvl3pPr algn="l" rtl="0" eaLnBrk="1" fontAlgn="base" hangingPunct="1">
        <a:spcBef>
          <a:spcPct val="0"/>
        </a:spcBef>
        <a:spcAft>
          <a:spcPct val="0"/>
        </a:spcAft>
        <a:defRPr kumimoji="1" sz="4400" b="1">
          <a:solidFill>
            <a:schemeClr val="tx1"/>
          </a:solidFill>
          <a:latin typeface="Arial" charset="0"/>
        </a:defRPr>
      </a:lvl3pPr>
      <a:lvl4pPr algn="l" rtl="0" eaLnBrk="1" fontAlgn="base" hangingPunct="1">
        <a:spcBef>
          <a:spcPct val="0"/>
        </a:spcBef>
        <a:spcAft>
          <a:spcPct val="0"/>
        </a:spcAft>
        <a:defRPr kumimoji="1" sz="4400" b="1">
          <a:solidFill>
            <a:schemeClr val="tx1"/>
          </a:solidFill>
          <a:latin typeface="Arial" charset="0"/>
        </a:defRPr>
      </a:lvl4pPr>
      <a:lvl5pPr algn="l" rtl="0" eaLnBrk="1" fontAlgn="base" hangingPunct="1">
        <a:spcBef>
          <a:spcPct val="0"/>
        </a:spcBef>
        <a:spcAft>
          <a:spcPct val="0"/>
        </a:spcAft>
        <a:defRPr kumimoji="1" sz="4400" b="1">
          <a:solidFill>
            <a:schemeClr val="tx1"/>
          </a:solidFill>
          <a:latin typeface="Arial" charset="0"/>
        </a:defRPr>
      </a:lvl5pPr>
      <a:lvl6pPr marL="457187" algn="l" rtl="0" eaLnBrk="1" fontAlgn="base" hangingPunct="1">
        <a:spcBef>
          <a:spcPct val="0"/>
        </a:spcBef>
        <a:spcAft>
          <a:spcPct val="0"/>
        </a:spcAft>
        <a:defRPr kumimoji="1" b="1">
          <a:solidFill>
            <a:schemeClr val="tx1"/>
          </a:solidFill>
          <a:latin typeface="Arial" charset="0"/>
        </a:defRPr>
      </a:lvl6pPr>
      <a:lvl7pPr marL="914373" algn="l" rtl="0" eaLnBrk="1" fontAlgn="base" hangingPunct="1">
        <a:spcBef>
          <a:spcPct val="0"/>
        </a:spcBef>
        <a:spcAft>
          <a:spcPct val="0"/>
        </a:spcAft>
        <a:defRPr kumimoji="1" b="1">
          <a:solidFill>
            <a:schemeClr val="tx1"/>
          </a:solidFill>
          <a:latin typeface="Arial" charset="0"/>
        </a:defRPr>
      </a:lvl7pPr>
      <a:lvl8pPr marL="1371559" algn="l" rtl="0" eaLnBrk="1" fontAlgn="base" hangingPunct="1">
        <a:spcBef>
          <a:spcPct val="0"/>
        </a:spcBef>
        <a:spcAft>
          <a:spcPct val="0"/>
        </a:spcAft>
        <a:defRPr kumimoji="1" b="1">
          <a:solidFill>
            <a:schemeClr val="tx1"/>
          </a:solidFill>
          <a:latin typeface="Arial" charset="0"/>
        </a:defRPr>
      </a:lvl8pPr>
      <a:lvl9pPr marL="1828743" algn="l" rtl="0" eaLnBrk="1" fontAlgn="base" hangingPunct="1">
        <a:spcBef>
          <a:spcPct val="0"/>
        </a:spcBef>
        <a:spcAft>
          <a:spcPct val="0"/>
        </a:spcAft>
        <a:defRPr kumimoji="1" b="1">
          <a:solidFill>
            <a:schemeClr val="tx1"/>
          </a:solidFill>
          <a:latin typeface="Arial" charset="0"/>
        </a:defRPr>
      </a:lvl9pPr>
    </p:titleStyle>
    <p:bodyStyle>
      <a:lvl1pPr marL="0" indent="0" algn="l" rtl="0" eaLnBrk="1" fontAlgn="base" hangingPunct="1">
        <a:lnSpc>
          <a:spcPct val="100000"/>
        </a:lnSpc>
        <a:spcBef>
          <a:spcPts val="554"/>
        </a:spcBef>
        <a:spcAft>
          <a:spcPts val="300"/>
        </a:spcAft>
        <a:buFont typeface="Arial" panose="020B0604020202020204" pitchFamily="34" charset="0"/>
        <a:buNone/>
        <a:defRPr kumimoji="1" lang="ja-JP" altLang="en-US" sz="1662"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1pPr>
      <a:lvl2pPr marL="578842" indent="-247657" algn="l" rtl="0" eaLnBrk="1" fontAlgn="base" hangingPunct="1">
        <a:lnSpc>
          <a:spcPct val="100000"/>
        </a:lnSpc>
        <a:spcBef>
          <a:spcPts val="554"/>
        </a:spcBef>
        <a:spcAft>
          <a:spcPts val="300"/>
        </a:spcAft>
        <a:buFont typeface="Wingdings" panose="05000000000000000000" pitchFamily="2" charset="2"/>
        <a:buChar char="p"/>
        <a:defRPr kumimoji="1" lang="ja-JP" altLang="en-US" sz="1662"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2pPr>
      <a:lvl3pPr marL="910027" indent="-246191" algn="l" rtl="0" eaLnBrk="1" fontAlgn="base" hangingPunct="1">
        <a:lnSpc>
          <a:spcPct val="100000"/>
        </a:lnSpc>
        <a:spcBef>
          <a:spcPts val="554"/>
        </a:spcBef>
        <a:spcAft>
          <a:spcPts val="300"/>
        </a:spcAft>
        <a:buFont typeface="Arial" panose="020B0604020202020204" pitchFamily="34" charset="0"/>
        <a:buChar char="•"/>
        <a:defRPr kumimoji="1" lang="ja-JP" altLang="en-US" sz="1662"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3pPr>
      <a:lvl4pPr marL="1242677" indent="-247657" algn="l" rtl="0" eaLnBrk="1" fontAlgn="base" hangingPunct="1">
        <a:lnSpc>
          <a:spcPct val="100000"/>
        </a:lnSpc>
        <a:spcBef>
          <a:spcPts val="554"/>
        </a:spcBef>
        <a:spcAft>
          <a:spcPts val="300"/>
        </a:spcAft>
        <a:buFont typeface="Meiryo UI" panose="020B0604030504040204" pitchFamily="50" charset="-128"/>
        <a:buChar char="–"/>
        <a:defRPr kumimoji="1" lang="ja-JP" altLang="en-US" sz="1662"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4pPr>
      <a:lvl5pPr marL="1573862" indent="-247657" algn="l" rtl="0" eaLnBrk="1" fontAlgn="base" hangingPunct="1">
        <a:spcBef>
          <a:spcPts val="554"/>
        </a:spcBef>
        <a:spcAft>
          <a:spcPts val="300"/>
        </a:spcAft>
        <a:buFont typeface="Arial" panose="020B0604020202020204" pitchFamily="34" charset="0"/>
        <a:buChar char="–"/>
        <a:defRPr kumimoji="1" lang="ja-JP" altLang="en-US" sz="1662" kern="1200" smtClean="0">
          <a:solidFill>
            <a:schemeClr val="tx1"/>
          </a:solidFill>
          <a:latin typeface="Meiryo UI" panose="020B0604030504040204" pitchFamily="50" charset="-128"/>
          <a:ea typeface="Meiryo UI" panose="020B0604030504040204" pitchFamily="50" charset="-128"/>
          <a:cs typeface="+mn-cs"/>
          <a:sym typeface="Meiryo UI" panose="020B0604030504040204" pitchFamily="50" charset="-128"/>
        </a:defRPr>
      </a:lvl5pPr>
      <a:lvl6pPr marL="2514523" indent="-228593" algn="l" defTabSz="914373"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708" indent="-228593" algn="l" defTabSz="914373"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895" indent="-228593" algn="l" defTabSz="914373"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080" indent="-228593" algn="l" defTabSz="914373"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de-DE"/>
      </a:defPPr>
      <a:lvl1pPr marL="0" algn="l" defTabSz="914373" rtl="0" eaLnBrk="1" latinLnBrk="0" hangingPunct="1">
        <a:defRPr kumimoji="1" sz="1801" kern="1200">
          <a:solidFill>
            <a:schemeClr val="tx1"/>
          </a:solidFill>
          <a:latin typeface="+mn-lt"/>
          <a:ea typeface="+mn-ea"/>
          <a:cs typeface="+mn-cs"/>
        </a:defRPr>
      </a:lvl1pPr>
      <a:lvl2pPr marL="457187" algn="l" defTabSz="914373" rtl="0" eaLnBrk="1" latinLnBrk="0" hangingPunct="1">
        <a:defRPr kumimoji="1" sz="1801" kern="1200">
          <a:solidFill>
            <a:schemeClr val="tx1"/>
          </a:solidFill>
          <a:latin typeface="+mn-lt"/>
          <a:ea typeface="+mn-ea"/>
          <a:cs typeface="+mn-cs"/>
        </a:defRPr>
      </a:lvl2pPr>
      <a:lvl3pPr marL="914373" algn="l" defTabSz="914373" rtl="0" eaLnBrk="1" latinLnBrk="0" hangingPunct="1">
        <a:defRPr kumimoji="1" sz="1801" kern="1200">
          <a:solidFill>
            <a:schemeClr val="tx1"/>
          </a:solidFill>
          <a:latin typeface="+mn-lt"/>
          <a:ea typeface="+mn-ea"/>
          <a:cs typeface="+mn-cs"/>
        </a:defRPr>
      </a:lvl3pPr>
      <a:lvl4pPr marL="1371559" algn="l" defTabSz="914373" rtl="0" eaLnBrk="1" latinLnBrk="0" hangingPunct="1">
        <a:defRPr kumimoji="1" sz="1801" kern="1200">
          <a:solidFill>
            <a:schemeClr val="tx1"/>
          </a:solidFill>
          <a:latin typeface="+mn-lt"/>
          <a:ea typeface="+mn-ea"/>
          <a:cs typeface="+mn-cs"/>
        </a:defRPr>
      </a:lvl4pPr>
      <a:lvl5pPr marL="1828743" algn="l" defTabSz="914373" rtl="0" eaLnBrk="1" latinLnBrk="0" hangingPunct="1">
        <a:defRPr kumimoji="1" sz="1801" kern="1200">
          <a:solidFill>
            <a:schemeClr val="tx1"/>
          </a:solidFill>
          <a:latin typeface="+mn-lt"/>
          <a:ea typeface="+mn-ea"/>
          <a:cs typeface="+mn-cs"/>
        </a:defRPr>
      </a:lvl5pPr>
      <a:lvl6pPr marL="2285930" algn="l" defTabSz="914373" rtl="0" eaLnBrk="1" latinLnBrk="0" hangingPunct="1">
        <a:defRPr kumimoji="1" sz="1801" kern="1200">
          <a:solidFill>
            <a:schemeClr val="tx1"/>
          </a:solidFill>
          <a:latin typeface="+mn-lt"/>
          <a:ea typeface="+mn-ea"/>
          <a:cs typeface="+mn-cs"/>
        </a:defRPr>
      </a:lvl6pPr>
      <a:lvl7pPr marL="2743116" algn="l" defTabSz="914373" rtl="0" eaLnBrk="1" latinLnBrk="0" hangingPunct="1">
        <a:defRPr kumimoji="1" sz="1801" kern="1200">
          <a:solidFill>
            <a:schemeClr val="tx1"/>
          </a:solidFill>
          <a:latin typeface="+mn-lt"/>
          <a:ea typeface="+mn-ea"/>
          <a:cs typeface="+mn-cs"/>
        </a:defRPr>
      </a:lvl7pPr>
      <a:lvl8pPr marL="3200302" algn="l" defTabSz="914373" rtl="0" eaLnBrk="1" latinLnBrk="0" hangingPunct="1">
        <a:defRPr kumimoji="1" sz="1801" kern="1200">
          <a:solidFill>
            <a:schemeClr val="tx1"/>
          </a:solidFill>
          <a:latin typeface="+mn-lt"/>
          <a:ea typeface="+mn-ea"/>
          <a:cs typeface="+mn-cs"/>
        </a:defRPr>
      </a:lvl8pPr>
      <a:lvl9pPr marL="3657488" algn="l" defTabSz="914373" rtl="0" eaLnBrk="1" latinLnBrk="0" hangingPunct="1">
        <a:defRPr kumimoji="1"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213">
          <p15:clr>
            <a:srgbClr val="F26B43"/>
          </p15:clr>
        </p15:guide>
        <p15:guide id="3" pos="4107">
          <p15:clr>
            <a:srgbClr val="F26B43"/>
          </p15:clr>
        </p15:guide>
        <p15:guide id="4" orient="horz" pos="415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7988631-1D94-DC0C-5C5A-A6399C778220}"/>
              </a:ext>
            </a:extLst>
          </p:cNvPr>
          <p:cNvGraphicFramePr>
            <a:graphicFrameLocks noChangeAspect="1"/>
          </p:cNvGraphicFramePr>
          <p:nvPr userDrawn="1">
            <p:custDataLst>
              <p:tags r:id="rId6"/>
            </p:custDataLst>
            <p:extLst>
              <p:ext uri="{D42A27DB-BD31-4B8C-83A1-F6EECF244321}">
                <p14:modId xmlns:p14="http://schemas.microsoft.com/office/powerpoint/2010/main" val="23417140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7" imgW="426" imgH="428" progId="TCLayout.ActiveDocument.1">
                  <p:embed/>
                </p:oleObj>
              </mc:Choice>
              <mc:Fallback>
                <p:oleObj name="think-cell スライド" r:id="rId7" imgW="426" imgH="428" progId="TCLayout.ActiveDocument.1">
                  <p:embed/>
                  <p:pic>
                    <p:nvPicPr>
                      <p:cNvPr id="2" name="think-cell data - do not delete" hidden="1">
                        <a:extLst>
                          <a:ext uri="{FF2B5EF4-FFF2-40B4-BE49-F238E27FC236}">
                            <a16:creationId xmlns:a16="http://schemas.microsoft.com/office/drawing/2014/main" id="{D7988631-1D94-DC0C-5C5A-A6399C778220}"/>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2330250020"/>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3.tmp"/><Relationship Id="rId5" Type="http://schemas.openxmlformats.org/officeDocument/2006/relationships/image" Target="../media/image22.tmp"/><Relationship Id="rId4" Type="http://schemas.openxmlformats.org/officeDocument/2006/relationships/image" Target="../media/image21.tm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3.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tmp"/><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2.tmp"/></Relationships>
</file>

<file path=ppt/slides/_rels/slide37.xml.rels><?xml version="1.0" encoding="UTF-8" standalone="yes"?>
<Relationships xmlns="http://schemas.openxmlformats.org/package/2006/relationships"><Relationship Id="rId3" Type="http://schemas.openxmlformats.org/officeDocument/2006/relationships/image" Target="../media/image33.tmp"/><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4.tmp"/></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テキスト プレースホルダー 20">
            <a:extLst>
              <a:ext uri="{FF2B5EF4-FFF2-40B4-BE49-F238E27FC236}">
                <a16:creationId xmlns:a16="http://schemas.microsoft.com/office/drawing/2014/main" id="{BC779BB2-75D2-4691-A09D-21EF9D21021E}"/>
              </a:ext>
            </a:extLst>
          </p:cNvPr>
          <p:cNvSpPr>
            <a:spLocks noGrp="1"/>
          </p:cNvSpPr>
          <p:nvPr>
            <p:ph type="body" sz="quarter" idx="10"/>
          </p:nvPr>
        </p:nvSpPr>
        <p:spPr>
          <a:xfrm>
            <a:off x="308484" y="5904746"/>
            <a:ext cx="5815710" cy="679430"/>
          </a:xfrm>
        </p:spPr>
        <p:txBody>
          <a:bodyPr/>
          <a:lstStyle/>
          <a:p>
            <a:r>
              <a:rPr lang="en-US" altLang="ja-JP" sz="2000" dirty="0"/>
              <a:t>2025</a:t>
            </a:r>
            <a:r>
              <a:rPr lang="ja-JP" altLang="en-US" sz="2000" dirty="0"/>
              <a:t>年</a:t>
            </a:r>
            <a:r>
              <a:rPr lang="en-US" altLang="ja-JP" sz="2000" dirty="0"/>
              <a:t>8</a:t>
            </a:r>
            <a:r>
              <a:rPr lang="ja-JP" altLang="en-US" sz="2000" dirty="0"/>
              <a:t>月</a:t>
            </a:r>
            <a:r>
              <a:rPr lang="en-US" altLang="ja-JP" sz="2000" dirty="0"/>
              <a:t>22</a:t>
            </a:r>
            <a:r>
              <a:rPr lang="ja-JP" altLang="en-US" sz="2000" dirty="0"/>
              <a:t>日</a:t>
            </a:r>
          </a:p>
          <a:p>
            <a:r>
              <a:rPr lang="ja-JP" altLang="en-US" sz="2000" dirty="0"/>
              <a:t>アクセンチュア株式会社</a:t>
            </a:r>
          </a:p>
        </p:txBody>
      </p:sp>
      <p:sp>
        <p:nvSpPr>
          <p:cNvPr id="20" name="タイトル 19">
            <a:extLst>
              <a:ext uri="{FF2B5EF4-FFF2-40B4-BE49-F238E27FC236}">
                <a16:creationId xmlns:a16="http://schemas.microsoft.com/office/drawing/2014/main" id="{F44F910E-0414-4B7C-A31A-1E1F0B1513D5}"/>
              </a:ext>
            </a:extLst>
          </p:cNvPr>
          <p:cNvSpPr>
            <a:spLocks noGrp="1"/>
          </p:cNvSpPr>
          <p:nvPr>
            <p:ph type="ctrTitle"/>
          </p:nvPr>
        </p:nvSpPr>
        <p:spPr>
          <a:xfrm>
            <a:off x="505441" y="2866342"/>
            <a:ext cx="7396899" cy="1125316"/>
          </a:xfrm>
        </p:spPr>
        <p:txBody>
          <a:bodyPr/>
          <a:lstStyle/>
          <a:p>
            <a:r>
              <a:rPr lang="en-US" altLang="ja-JP" dirty="0"/>
              <a:t>MTBJ/MUSK</a:t>
            </a:r>
            <a:r>
              <a:rPr lang="ja-JP" altLang="en-US" dirty="0"/>
              <a:t>：プロジェクト紹介</a:t>
            </a:r>
            <a:endParaRPr kumimoji="1" lang="ja-JP" altLang="en-US" dirty="0"/>
          </a:p>
        </p:txBody>
      </p:sp>
      <p:sp>
        <p:nvSpPr>
          <p:cNvPr id="4" name="テキスト プレースホルダー 3">
            <a:extLst>
              <a:ext uri="{FF2B5EF4-FFF2-40B4-BE49-F238E27FC236}">
                <a16:creationId xmlns:a16="http://schemas.microsoft.com/office/drawing/2014/main" id="{563359F9-7BD8-3F31-3A5D-F3A901D40164}"/>
              </a:ext>
            </a:extLst>
          </p:cNvPr>
          <p:cNvSpPr>
            <a:spLocks noGrp="1"/>
          </p:cNvSpPr>
          <p:nvPr>
            <p:ph type="body" sz="quarter" idx="12"/>
          </p:nvPr>
        </p:nvSpPr>
        <p:spPr>
          <a:xfrm>
            <a:off x="308484" y="176890"/>
            <a:ext cx="7011464" cy="761250"/>
          </a:xfrm>
        </p:spPr>
        <p:txBody>
          <a:bodyPr anchor="t"/>
          <a:lstStyle/>
          <a:p>
            <a:r>
              <a:rPr lang="en-US" altLang="ja-JP" dirty="0"/>
              <a:t>MUFG</a:t>
            </a:r>
            <a:r>
              <a:rPr lang="ja-JP" altLang="en-US" dirty="0"/>
              <a:t>：プロジェクト紹介勉強会</a:t>
            </a:r>
          </a:p>
        </p:txBody>
      </p:sp>
      <p:sp>
        <p:nvSpPr>
          <p:cNvPr id="3" name="正方形/長方形 2">
            <a:extLst>
              <a:ext uri="{FF2B5EF4-FFF2-40B4-BE49-F238E27FC236}">
                <a16:creationId xmlns:a16="http://schemas.microsoft.com/office/drawing/2014/main" id="{24E0E5D5-7994-8956-0D99-354134BF38D2}"/>
              </a:ext>
            </a:extLst>
          </p:cNvPr>
          <p:cNvSpPr/>
          <p:nvPr/>
        </p:nvSpPr>
        <p:spPr bwMode="auto">
          <a:xfrm>
            <a:off x="6704648" y="243887"/>
            <a:ext cx="2954655" cy="1141000"/>
          </a:xfrm>
          <a:prstGeom prst="rect">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600" b="1" dirty="0">
                <a:solidFill>
                  <a:prstClr val="black"/>
                </a:solidFill>
                <a:latin typeface="Meiryo UI" panose="020B0604030504040204" pitchFamily="50" charset="-128"/>
                <a:ea typeface="Meiryo UI" panose="020B0604030504040204" pitchFamily="50" charset="-128"/>
              </a:rPr>
              <a:t>クライアント</a:t>
            </a:r>
            <a:r>
              <a:rPr kumimoji="1" lang="ja-JP" altLang="en-US" sz="1600" b="1" dirty="0">
                <a:solidFill>
                  <a:prstClr val="black"/>
                </a:solidFill>
                <a:latin typeface="Meiryo UI" panose="020B0604030504040204" pitchFamily="50" charset="-128"/>
                <a:ea typeface="Meiryo UI" panose="020B0604030504040204" pitchFamily="50" charset="-128"/>
              </a:rPr>
              <a:t>情報を含むため、</a:t>
            </a:r>
            <a:endParaRPr kumimoji="1" lang="en-US" altLang="ja-JP" sz="16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1600" b="1" dirty="0">
                <a:solidFill>
                  <a:prstClr val="black"/>
                </a:solidFill>
                <a:latin typeface="Meiryo UI" panose="020B0604030504040204" pitchFamily="50" charset="-128"/>
                <a:ea typeface="Meiryo UI" panose="020B0604030504040204" pitchFamily="50" charset="-128"/>
              </a:rPr>
              <a:t>スクショ＆録画はご遠慮ください</a:t>
            </a:r>
            <a:endParaRPr kumimoji="1" lang="ja-JP" altLang="en-US" sz="1600" b="1"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1692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DAC3EEF2-9520-88CE-5C4B-C5E9415F66B6}"/>
              </a:ext>
            </a:extLst>
          </p:cNvPr>
          <p:cNvSpPr/>
          <p:nvPr/>
        </p:nvSpPr>
        <p:spPr bwMode="auto">
          <a:xfrm>
            <a:off x="1" y="0"/>
            <a:ext cx="9906000" cy="6858000"/>
          </a:xfrm>
          <a:prstGeom prst="rect">
            <a:avLst/>
          </a:prstGeom>
          <a:solidFill>
            <a:schemeClr val="tx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3200" b="1" dirty="0">
                <a:solidFill>
                  <a:schemeClr val="bg1"/>
                </a:solidFill>
                <a:latin typeface="Meiryo UI" panose="020B0604030504040204" pitchFamily="50" charset="-128"/>
                <a:ea typeface="Meiryo UI" panose="020B0604030504040204" pitchFamily="50" charset="-128"/>
              </a:rPr>
              <a:t>いきなりですが・・・</a:t>
            </a:r>
            <a:endParaRPr kumimoji="1" lang="en-US" altLang="ja-JP" sz="3200" b="1" dirty="0">
              <a:solidFill>
                <a:schemeClr val="bg1"/>
              </a:solidFill>
              <a:latin typeface="Meiryo UI" panose="020B0604030504040204" pitchFamily="50" charset="-128"/>
              <a:ea typeface="Meiryo UI" panose="020B0604030504040204" pitchFamily="50" charset="-128"/>
            </a:endParaRPr>
          </a:p>
          <a:p>
            <a:pPr algn="ctr" defTabSz="908410" fontAlgn="base">
              <a:spcAft>
                <a:spcPct val="0"/>
              </a:spcAft>
            </a:pPr>
            <a:endParaRPr lang="en-US" altLang="ja-JP" sz="3200" b="1" dirty="0">
              <a:solidFill>
                <a:schemeClr val="bg1"/>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3200" b="1" dirty="0">
                <a:solidFill>
                  <a:schemeClr val="bg1"/>
                </a:solidFill>
                <a:latin typeface="Meiryo UI" panose="020B0604030504040204" pitchFamily="50" charset="-128"/>
                <a:ea typeface="Meiryo UI" panose="020B0604030504040204" pitchFamily="50" charset="-128"/>
              </a:rPr>
              <a:t>日本マスタートラスト信託銀行を</a:t>
            </a:r>
            <a:endParaRPr kumimoji="1" lang="en-US" altLang="ja-JP" sz="3200" b="1" dirty="0">
              <a:solidFill>
                <a:schemeClr val="bg1"/>
              </a:solidFill>
              <a:latin typeface="Meiryo UI" panose="020B0604030504040204" pitchFamily="50" charset="-128"/>
              <a:ea typeface="Meiryo UI" panose="020B0604030504040204" pitchFamily="50" charset="-128"/>
            </a:endParaRPr>
          </a:p>
          <a:p>
            <a:pPr algn="ctr" defTabSz="908410" fontAlgn="base">
              <a:spcAft>
                <a:spcPct val="0"/>
              </a:spcAft>
            </a:pPr>
            <a:endParaRPr kumimoji="1" lang="en-US" altLang="ja-JP" sz="3200" b="1" dirty="0">
              <a:solidFill>
                <a:schemeClr val="bg1"/>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3200" b="1" dirty="0">
                <a:solidFill>
                  <a:schemeClr val="bg1"/>
                </a:solidFill>
                <a:latin typeface="Meiryo UI" panose="020B0604030504040204" pitchFamily="50" charset="-128"/>
                <a:ea typeface="Meiryo UI" panose="020B0604030504040204" pitchFamily="50" charset="-128"/>
              </a:rPr>
              <a:t>ご存じですか？</a:t>
            </a:r>
            <a:endParaRPr kumimoji="1" lang="en-US" altLang="ja-JP" sz="32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00354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80">
                                          <p:stCondLst>
                                            <p:cond delay="0"/>
                                          </p:stCondLst>
                                        </p:cTn>
                                        <p:tgtEl>
                                          <p:spTgt spid="5">
                                            <p:txEl>
                                              <p:pRg st="0" end="0"/>
                                            </p:txEl>
                                          </p:spTgt>
                                        </p:tgtEl>
                                      </p:cBhvr>
                                    </p:animEffect>
                                    <p:anim calcmode="lin" valueType="num">
                                      <p:cBhvr>
                                        <p:cTn id="8" dur="1822" tmFilter="0,0; 0.14,0.36; 0.43,0.73; 0.71,0.91; 1.0,1.0">
                                          <p:stCondLst>
                                            <p:cond delay="0"/>
                                          </p:stCondLst>
                                        </p:cTn>
                                        <p:tgtEl>
                                          <p:spTgt spid="5">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xEl>
                                              <p:pRg st="0" end="0"/>
                                            </p:txEl>
                                          </p:spTgt>
                                        </p:tgtEl>
                                      </p:cBhvr>
                                      <p:to x="100000" y="60000"/>
                                    </p:animScale>
                                    <p:animScale>
                                      <p:cBhvr>
                                        <p:cTn id="14" dur="166" decel="50000">
                                          <p:stCondLst>
                                            <p:cond delay="676"/>
                                          </p:stCondLst>
                                        </p:cTn>
                                        <p:tgtEl>
                                          <p:spTgt spid="5">
                                            <p:txEl>
                                              <p:pRg st="0" end="0"/>
                                            </p:txEl>
                                          </p:spTgt>
                                        </p:tgtEl>
                                      </p:cBhvr>
                                      <p:to x="100000" y="100000"/>
                                    </p:animScale>
                                    <p:animScale>
                                      <p:cBhvr>
                                        <p:cTn id="15" dur="26">
                                          <p:stCondLst>
                                            <p:cond delay="1312"/>
                                          </p:stCondLst>
                                        </p:cTn>
                                        <p:tgtEl>
                                          <p:spTgt spid="5">
                                            <p:txEl>
                                              <p:pRg st="0" end="0"/>
                                            </p:txEl>
                                          </p:spTgt>
                                        </p:tgtEl>
                                      </p:cBhvr>
                                      <p:to x="100000" y="80000"/>
                                    </p:animScale>
                                    <p:animScale>
                                      <p:cBhvr>
                                        <p:cTn id="16" dur="166" decel="50000">
                                          <p:stCondLst>
                                            <p:cond delay="1338"/>
                                          </p:stCondLst>
                                        </p:cTn>
                                        <p:tgtEl>
                                          <p:spTgt spid="5">
                                            <p:txEl>
                                              <p:pRg st="0" end="0"/>
                                            </p:txEl>
                                          </p:spTgt>
                                        </p:tgtEl>
                                      </p:cBhvr>
                                      <p:to x="100000" y="100000"/>
                                    </p:animScale>
                                    <p:animScale>
                                      <p:cBhvr>
                                        <p:cTn id="17" dur="26">
                                          <p:stCondLst>
                                            <p:cond delay="1642"/>
                                          </p:stCondLst>
                                        </p:cTn>
                                        <p:tgtEl>
                                          <p:spTgt spid="5">
                                            <p:txEl>
                                              <p:pRg st="0" end="0"/>
                                            </p:txEl>
                                          </p:spTgt>
                                        </p:tgtEl>
                                      </p:cBhvr>
                                      <p:to x="100000" y="90000"/>
                                    </p:animScale>
                                    <p:animScale>
                                      <p:cBhvr>
                                        <p:cTn id="18" dur="166" decel="50000">
                                          <p:stCondLst>
                                            <p:cond delay="1668"/>
                                          </p:stCondLst>
                                        </p:cTn>
                                        <p:tgtEl>
                                          <p:spTgt spid="5">
                                            <p:txEl>
                                              <p:pRg st="0" end="0"/>
                                            </p:txEl>
                                          </p:spTgt>
                                        </p:tgtEl>
                                      </p:cBhvr>
                                      <p:to x="100000" y="100000"/>
                                    </p:animScale>
                                    <p:animScale>
                                      <p:cBhvr>
                                        <p:cTn id="19" dur="26">
                                          <p:stCondLst>
                                            <p:cond delay="1808"/>
                                          </p:stCondLst>
                                        </p:cTn>
                                        <p:tgtEl>
                                          <p:spTgt spid="5">
                                            <p:txEl>
                                              <p:pRg st="0" end="0"/>
                                            </p:txEl>
                                          </p:spTgt>
                                        </p:tgtEl>
                                      </p:cBhvr>
                                      <p:to x="100000" y="95000"/>
                                    </p:animScale>
                                    <p:animScale>
                                      <p:cBhvr>
                                        <p:cTn id="20" dur="166" decel="50000">
                                          <p:stCondLst>
                                            <p:cond delay="1834"/>
                                          </p:stCondLst>
                                        </p:cTn>
                                        <p:tgtEl>
                                          <p:spTgt spid="5">
                                            <p:txEl>
                                              <p:pRg st="0" end="0"/>
                                            </p:txEl>
                                          </p:spTgt>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wipe(down)">
                                      <p:cBhvr>
                                        <p:cTn id="23" dur="580">
                                          <p:stCondLst>
                                            <p:cond delay="0"/>
                                          </p:stCondLst>
                                        </p:cTn>
                                        <p:tgtEl>
                                          <p:spTgt spid="5">
                                            <p:txEl>
                                              <p:pRg st="2" end="2"/>
                                            </p:txEl>
                                          </p:spTgt>
                                        </p:tgtEl>
                                      </p:cBhvr>
                                    </p:animEffect>
                                    <p:anim calcmode="lin" valueType="num">
                                      <p:cBhvr>
                                        <p:cTn id="24" dur="1822" tmFilter="0,0; 0.14,0.36; 0.43,0.73; 0.71,0.91; 1.0,1.0">
                                          <p:stCondLst>
                                            <p:cond delay="0"/>
                                          </p:stCondLst>
                                        </p:cTn>
                                        <p:tgtEl>
                                          <p:spTgt spid="5">
                                            <p:txEl>
                                              <p:pRg st="2" end="2"/>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5">
                                            <p:txEl>
                                              <p:pRg st="2" end="2"/>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5">
                                            <p:txEl>
                                              <p:pRg st="2" end="2"/>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5">
                                            <p:txEl>
                                              <p:pRg st="2" end="2"/>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5">
                                            <p:txEl>
                                              <p:pRg st="2" end="2"/>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5">
                                            <p:txEl>
                                              <p:pRg st="2" end="2"/>
                                            </p:txEl>
                                          </p:spTgt>
                                        </p:tgtEl>
                                      </p:cBhvr>
                                      <p:to x="100000" y="60000"/>
                                    </p:animScale>
                                    <p:animScale>
                                      <p:cBhvr>
                                        <p:cTn id="30" dur="166" decel="50000">
                                          <p:stCondLst>
                                            <p:cond delay="676"/>
                                          </p:stCondLst>
                                        </p:cTn>
                                        <p:tgtEl>
                                          <p:spTgt spid="5">
                                            <p:txEl>
                                              <p:pRg st="2" end="2"/>
                                            </p:txEl>
                                          </p:spTgt>
                                        </p:tgtEl>
                                      </p:cBhvr>
                                      <p:to x="100000" y="100000"/>
                                    </p:animScale>
                                    <p:animScale>
                                      <p:cBhvr>
                                        <p:cTn id="31" dur="26">
                                          <p:stCondLst>
                                            <p:cond delay="1312"/>
                                          </p:stCondLst>
                                        </p:cTn>
                                        <p:tgtEl>
                                          <p:spTgt spid="5">
                                            <p:txEl>
                                              <p:pRg st="2" end="2"/>
                                            </p:txEl>
                                          </p:spTgt>
                                        </p:tgtEl>
                                      </p:cBhvr>
                                      <p:to x="100000" y="80000"/>
                                    </p:animScale>
                                    <p:animScale>
                                      <p:cBhvr>
                                        <p:cTn id="32" dur="166" decel="50000">
                                          <p:stCondLst>
                                            <p:cond delay="1338"/>
                                          </p:stCondLst>
                                        </p:cTn>
                                        <p:tgtEl>
                                          <p:spTgt spid="5">
                                            <p:txEl>
                                              <p:pRg st="2" end="2"/>
                                            </p:txEl>
                                          </p:spTgt>
                                        </p:tgtEl>
                                      </p:cBhvr>
                                      <p:to x="100000" y="100000"/>
                                    </p:animScale>
                                    <p:animScale>
                                      <p:cBhvr>
                                        <p:cTn id="33" dur="26">
                                          <p:stCondLst>
                                            <p:cond delay="1642"/>
                                          </p:stCondLst>
                                        </p:cTn>
                                        <p:tgtEl>
                                          <p:spTgt spid="5">
                                            <p:txEl>
                                              <p:pRg st="2" end="2"/>
                                            </p:txEl>
                                          </p:spTgt>
                                        </p:tgtEl>
                                      </p:cBhvr>
                                      <p:to x="100000" y="90000"/>
                                    </p:animScale>
                                    <p:animScale>
                                      <p:cBhvr>
                                        <p:cTn id="34" dur="166" decel="50000">
                                          <p:stCondLst>
                                            <p:cond delay="1668"/>
                                          </p:stCondLst>
                                        </p:cTn>
                                        <p:tgtEl>
                                          <p:spTgt spid="5">
                                            <p:txEl>
                                              <p:pRg st="2" end="2"/>
                                            </p:txEl>
                                          </p:spTgt>
                                        </p:tgtEl>
                                      </p:cBhvr>
                                      <p:to x="100000" y="100000"/>
                                    </p:animScale>
                                    <p:animScale>
                                      <p:cBhvr>
                                        <p:cTn id="35" dur="26">
                                          <p:stCondLst>
                                            <p:cond delay="1808"/>
                                          </p:stCondLst>
                                        </p:cTn>
                                        <p:tgtEl>
                                          <p:spTgt spid="5">
                                            <p:txEl>
                                              <p:pRg st="2" end="2"/>
                                            </p:txEl>
                                          </p:spTgt>
                                        </p:tgtEl>
                                      </p:cBhvr>
                                      <p:to x="100000" y="95000"/>
                                    </p:animScale>
                                    <p:animScale>
                                      <p:cBhvr>
                                        <p:cTn id="36" dur="166" decel="50000">
                                          <p:stCondLst>
                                            <p:cond delay="1834"/>
                                          </p:stCondLst>
                                        </p:cTn>
                                        <p:tgtEl>
                                          <p:spTgt spid="5">
                                            <p:txEl>
                                              <p:pRg st="2" end="2"/>
                                            </p:txEl>
                                          </p:spTgt>
                                        </p:tgtEl>
                                      </p:cBhvr>
                                      <p:to x="100000" y="100000"/>
                                    </p:animScale>
                                  </p:childTnLst>
                                </p:cTn>
                              </p:par>
                              <p:par>
                                <p:cTn id="37" presetID="26" presetClass="entr" presetSubtype="0" fill="hold" nodeType="with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animEffect transition="in" filter="wipe(down)">
                                      <p:cBhvr>
                                        <p:cTn id="39" dur="580">
                                          <p:stCondLst>
                                            <p:cond delay="0"/>
                                          </p:stCondLst>
                                        </p:cTn>
                                        <p:tgtEl>
                                          <p:spTgt spid="5">
                                            <p:txEl>
                                              <p:pRg st="4" end="4"/>
                                            </p:txEl>
                                          </p:spTgt>
                                        </p:tgtEl>
                                      </p:cBhvr>
                                    </p:animEffect>
                                    <p:anim calcmode="lin" valueType="num">
                                      <p:cBhvr>
                                        <p:cTn id="40" dur="1822" tmFilter="0,0; 0.14,0.36; 0.43,0.73; 0.71,0.91; 1.0,1.0">
                                          <p:stCondLst>
                                            <p:cond delay="0"/>
                                          </p:stCondLst>
                                        </p:cTn>
                                        <p:tgtEl>
                                          <p:spTgt spid="5">
                                            <p:txEl>
                                              <p:pRg st="4" end="4"/>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5">
                                            <p:txEl>
                                              <p:pRg st="4" end="4"/>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5">
                                            <p:txEl>
                                              <p:pRg st="4" end="4"/>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5">
                                            <p:txEl>
                                              <p:pRg st="4" end="4"/>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5">
                                            <p:txEl>
                                              <p:pRg st="4" end="4"/>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5">
                                            <p:txEl>
                                              <p:pRg st="4" end="4"/>
                                            </p:txEl>
                                          </p:spTgt>
                                        </p:tgtEl>
                                      </p:cBhvr>
                                      <p:to x="100000" y="60000"/>
                                    </p:animScale>
                                    <p:animScale>
                                      <p:cBhvr>
                                        <p:cTn id="46" dur="166" decel="50000">
                                          <p:stCondLst>
                                            <p:cond delay="676"/>
                                          </p:stCondLst>
                                        </p:cTn>
                                        <p:tgtEl>
                                          <p:spTgt spid="5">
                                            <p:txEl>
                                              <p:pRg st="4" end="4"/>
                                            </p:txEl>
                                          </p:spTgt>
                                        </p:tgtEl>
                                      </p:cBhvr>
                                      <p:to x="100000" y="100000"/>
                                    </p:animScale>
                                    <p:animScale>
                                      <p:cBhvr>
                                        <p:cTn id="47" dur="26">
                                          <p:stCondLst>
                                            <p:cond delay="1312"/>
                                          </p:stCondLst>
                                        </p:cTn>
                                        <p:tgtEl>
                                          <p:spTgt spid="5">
                                            <p:txEl>
                                              <p:pRg st="4" end="4"/>
                                            </p:txEl>
                                          </p:spTgt>
                                        </p:tgtEl>
                                      </p:cBhvr>
                                      <p:to x="100000" y="80000"/>
                                    </p:animScale>
                                    <p:animScale>
                                      <p:cBhvr>
                                        <p:cTn id="48" dur="166" decel="50000">
                                          <p:stCondLst>
                                            <p:cond delay="1338"/>
                                          </p:stCondLst>
                                        </p:cTn>
                                        <p:tgtEl>
                                          <p:spTgt spid="5">
                                            <p:txEl>
                                              <p:pRg st="4" end="4"/>
                                            </p:txEl>
                                          </p:spTgt>
                                        </p:tgtEl>
                                      </p:cBhvr>
                                      <p:to x="100000" y="100000"/>
                                    </p:animScale>
                                    <p:animScale>
                                      <p:cBhvr>
                                        <p:cTn id="49" dur="26">
                                          <p:stCondLst>
                                            <p:cond delay="1642"/>
                                          </p:stCondLst>
                                        </p:cTn>
                                        <p:tgtEl>
                                          <p:spTgt spid="5">
                                            <p:txEl>
                                              <p:pRg st="4" end="4"/>
                                            </p:txEl>
                                          </p:spTgt>
                                        </p:tgtEl>
                                      </p:cBhvr>
                                      <p:to x="100000" y="90000"/>
                                    </p:animScale>
                                    <p:animScale>
                                      <p:cBhvr>
                                        <p:cTn id="50" dur="166" decel="50000">
                                          <p:stCondLst>
                                            <p:cond delay="1668"/>
                                          </p:stCondLst>
                                        </p:cTn>
                                        <p:tgtEl>
                                          <p:spTgt spid="5">
                                            <p:txEl>
                                              <p:pRg st="4" end="4"/>
                                            </p:txEl>
                                          </p:spTgt>
                                        </p:tgtEl>
                                      </p:cBhvr>
                                      <p:to x="100000" y="100000"/>
                                    </p:animScale>
                                    <p:animScale>
                                      <p:cBhvr>
                                        <p:cTn id="51" dur="26">
                                          <p:stCondLst>
                                            <p:cond delay="1808"/>
                                          </p:stCondLst>
                                        </p:cTn>
                                        <p:tgtEl>
                                          <p:spTgt spid="5">
                                            <p:txEl>
                                              <p:pRg st="4" end="4"/>
                                            </p:txEl>
                                          </p:spTgt>
                                        </p:tgtEl>
                                      </p:cBhvr>
                                      <p:to x="100000" y="95000"/>
                                    </p:animScale>
                                    <p:animScale>
                                      <p:cBhvr>
                                        <p:cTn id="52" dur="166" decel="50000">
                                          <p:stCondLst>
                                            <p:cond delay="1834"/>
                                          </p:stCondLst>
                                        </p:cTn>
                                        <p:tgtEl>
                                          <p:spTgt spid="5">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E8C413D8-2A7B-998C-B07A-BCBE04965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731" y="2472709"/>
            <a:ext cx="8154538" cy="1419423"/>
          </a:xfrm>
          <a:prstGeom prst="rect">
            <a:avLst/>
          </a:prstGeom>
        </p:spPr>
      </p:pic>
      <p:sp>
        <p:nvSpPr>
          <p:cNvPr id="7" name="吹き出し: 四角形 6">
            <a:extLst>
              <a:ext uri="{FF2B5EF4-FFF2-40B4-BE49-F238E27FC236}">
                <a16:creationId xmlns:a16="http://schemas.microsoft.com/office/drawing/2014/main" id="{11414640-5193-CBF4-6646-20AA6106D4F4}"/>
              </a:ext>
            </a:extLst>
          </p:cNvPr>
          <p:cNvSpPr/>
          <p:nvPr/>
        </p:nvSpPr>
        <p:spPr bwMode="auto">
          <a:xfrm>
            <a:off x="1602769" y="1571478"/>
            <a:ext cx="3945276" cy="812592"/>
          </a:xfrm>
          <a:prstGeom prst="wedgeRectCallout">
            <a:avLst>
              <a:gd name="adj1" fmla="val -22656"/>
              <a:gd name="adj2" fmla="val 72615"/>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b="1" dirty="0">
                <a:solidFill>
                  <a:prstClr val="black"/>
                </a:solidFill>
                <a:latin typeface="Meiryo UI" panose="020B0604030504040204" pitchFamily="50" charset="-128"/>
                <a:ea typeface="Meiryo UI" panose="020B0604030504040204" pitchFamily="50" charset="-128"/>
              </a:rPr>
              <a:t>ご存じの</a:t>
            </a:r>
            <a:r>
              <a:rPr kumimoji="1" lang="ja-JP" altLang="en-US" b="1" dirty="0">
                <a:solidFill>
                  <a:prstClr val="black"/>
                </a:solidFill>
                <a:latin typeface="Meiryo UI" panose="020B0604030504040204" pitchFamily="50" charset="-128"/>
                <a:ea typeface="Meiryo UI" panose="020B0604030504040204" pitchFamily="50" charset="-128"/>
              </a:rPr>
              <a:t>方はいいね！お願いします</a:t>
            </a:r>
          </a:p>
        </p:txBody>
      </p:sp>
    </p:spTree>
    <p:extLst>
      <p:ext uri="{BB962C8B-B14F-4D97-AF65-F5344CB8AC3E}">
        <p14:creationId xmlns:p14="http://schemas.microsoft.com/office/powerpoint/2010/main" val="26155548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カメラ 1">
            <a:extLst>
              <a:ext uri="{FF2B5EF4-FFF2-40B4-BE49-F238E27FC236}">
                <a16:creationId xmlns:a16="http://schemas.microsoft.com/office/drawing/2014/main" id="{0B9C74DD-96C7-2F17-08DB-786C72A146AD}"/>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7613904" y="3722567"/>
            <a:ext cx="2057400" cy="2057400"/>
          </a:xfrm>
          <a:prstGeom prst="ellipse">
            <a:avLst/>
          </a:prstGeom>
        </p:spPr>
      </p:pic>
      <p:sp>
        <p:nvSpPr>
          <p:cNvPr id="3" name="吹き出し: 四角形 2">
            <a:extLst>
              <a:ext uri="{FF2B5EF4-FFF2-40B4-BE49-F238E27FC236}">
                <a16:creationId xmlns:a16="http://schemas.microsoft.com/office/drawing/2014/main" id="{A3FE6C31-1E05-B613-1397-E157AD38E212}"/>
              </a:ext>
            </a:extLst>
          </p:cNvPr>
          <p:cNvSpPr/>
          <p:nvPr/>
        </p:nvSpPr>
        <p:spPr bwMode="auto">
          <a:xfrm>
            <a:off x="1224929" y="1372508"/>
            <a:ext cx="7456143" cy="2066932"/>
          </a:xfrm>
          <a:prstGeom prst="wedgeRectCallout">
            <a:avLst>
              <a:gd name="adj1" fmla="val 37814"/>
              <a:gd name="adj2" fmla="val 62500"/>
            </a:avLst>
          </a:prstGeom>
          <a:solidFill>
            <a:srgbClr val="A100FF"/>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2400" b="1" dirty="0">
                <a:solidFill>
                  <a:schemeClr val="bg1"/>
                </a:solidFill>
                <a:latin typeface="Meiryo UI" panose="020B0604030504040204" pitchFamily="50" charset="-128"/>
                <a:ea typeface="Meiryo UI" panose="020B0604030504040204" pitchFamily="50" charset="-128"/>
              </a:rPr>
              <a:t>知らなかった方は、</a:t>
            </a:r>
            <a:endParaRPr lang="en-US" altLang="ja-JP" sz="2400" b="1" dirty="0">
              <a:solidFill>
                <a:schemeClr val="bg1"/>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2400" b="1" dirty="0">
                <a:solidFill>
                  <a:schemeClr val="bg1"/>
                </a:solidFill>
                <a:latin typeface="Meiryo UI" panose="020B0604030504040204" pitchFamily="50" charset="-128"/>
                <a:ea typeface="Meiryo UI" panose="020B0604030504040204" pitchFamily="50" charset="-128"/>
              </a:rPr>
              <a:t>ぜひ今日のアカウント紹介で覚えて帰ってください！</a:t>
            </a:r>
          </a:p>
        </p:txBody>
      </p:sp>
      <p:sp>
        <p:nvSpPr>
          <p:cNvPr id="4" name="正方形/長方形 3">
            <a:extLst>
              <a:ext uri="{FF2B5EF4-FFF2-40B4-BE49-F238E27FC236}">
                <a16:creationId xmlns:a16="http://schemas.microsoft.com/office/drawing/2014/main" id="{523D7801-CDF5-FEFE-68B4-310D3639EF56}"/>
              </a:ext>
            </a:extLst>
          </p:cNvPr>
          <p:cNvSpPr/>
          <p:nvPr/>
        </p:nvSpPr>
        <p:spPr bwMode="auto">
          <a:xfrm>
            <a:off x="7648971" y="5837066"/>
            <a:ext cx="1987267" cy="785676"/>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400" b="1" dirty="0">
                <a:solidFill>
                  <a:prstClr val="black"/>
                </a:solidFill>
                <a:latin typeface="Meiryo UI" panose="020B0604030504040204" pitchFamily="50" charset="-128"/>
                <a:ea typeface="Meiryo UI" panose="020B0604030504040204" pitchFamily="50" charset="-128"/>
              </a:rPr>
              <a:t>ナビゲーター</a:t>
            </a:r>
            <a:endParaRPr kumimoji="1" lang="en-US" altLang="ja-JP" sz="14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400" b="1" dirty="0">
                <a:solidFill>
                  <a:prstClr val="black"/>
                </a:solidFill>
                <a:latin typeface="Meiryo UI" panose="020B0604030504040204" pitchFamily="50" charset="-128"/>
                <a:ea typeface="Meiryo UI" panose="020B0604030504040204" pitchFamily="50" charset="-128"/>
              </a:rPr>
              <a:t>マネージングディレクター</a:t>
            </a:r>
            <a:endParaRPr kumimoji="1" lang="en-US" altLang="ja-JP" sz="14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1400" b="1" dirty="0">
                <a:solidFill>
                  <a:prstClr val="black"/>
                </a:solidFill>
                <a:latin typeface="Meiryo UI" panose="020B0604030504040204" pitchFamily="50" charset="-128"/>
                <a:ea typeface="Meiryo UI" panose="020B0604030504040204" pitchFamily="50" charset="-128"/>
              </a:rPr>
              <a:t>谷</a:t>
            </a:r>
            <a:endParaRPr kumimoji="1" lang="ja-JP" altLang="en-US" sz="1400" b="1"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163794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B8FA7-4488-F74D-A04E-A3B5149E44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970909-2135-FF20-1B08-0488223BBE40}"/>
              </a:ext>
            </a:extLst>
          </p:cNvPr>
          <p:cNvSpPr>
            <a:spLocks noGrp="1"/>
          </p:cNvSpPr>
          <p:nvPr>
            <p:ph type="title"/>
          </p:nvPr>
        </p:nvSpPr>
        <p:spPr/>
        <p:txBody>
          <a:bodyPr/>
          <a:lstStyle/>
          <a:p>
            <a:r>
              <a:rPr lang="ja-JP" altLang="en-US" dirty="0"/>
              <a:t>本日のアジェンダ</a:t>
            </a:r>
            <a:endParaRPr kumimoji="1" lang="ja-JP" altLang="en-US" dirty="0"/>
          </a:p>
        </p:txBody>
      </p:sp>
      <p:sp>
        <p:nvSpPr>
          <p:cNvPr id="5" name="正方形/長方形 4">
            <a:extLst>
              <a:ext uri="{FF2B5EF4-FFF2-40B4-BE49-F238E27FC236}">
                <a16:creationId xmlns:a16="http://schemas.microsoft.com/office/drawing/2014/main" id="{1A4AEA59-1CB5-A642-E7E3-8920F99AD3CA}"/>
              </a:ext>
            </a:extLst>
          </p:cNvPr>
          <p:cNvSpPr/>
          <p:nvPr/>
        </p:nvSpPr>
        <p:spPr bwMode="auto">
          <a:xfrm>
            <a:off x="2492339" y="1192976"/>
            <a:ext cx="4921322" cy="5141462"/>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28600"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MTBJ/MUSK</a:t>
            </a:r>
            <a:r>
              <a:rPr kumimoji="1" lang="ja-JP" altLang="en-US" dirty="0">
                <a:solidFill>
                  <a:prstClr val="black"/>
                </a:solidFill>
                <a:latin typeface="Meiryo UI" panose="020B0604030504040204" pitchFamily="50" charset="-128"/>
                <a:ea typeface="Meiryo UI" panose="020B0604030504040204" pitchFamily="50" charset="-128"/>
              </a:rPr>
              <a:t>の概要</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a:t>
            </a:r>
            <a:r>
              <a:rPr lang="ja-JP" altLang="en-US" dirty="0">
                <a:solidFill>
                  <a:prstClr val="black"/>
                </a:solidFill>
                <a:latin typeface="Meiryo UI" panose="020B0604030504040204" pitchFamily="50" charset="-128"/>
                <a:ea typeface="Meiryo UI" panose="020B0604030504040204" pitchFamily="50" charset="-128"/>
              </a:rPr>
              <a:t>とは？</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MUSK</a:t>
            </a:r>
            <a:r>
              <a:rPr lang="ja-JP" altLang="en-US" dirty="0">
                <a:solidFill>
                  <a:prstClr val="black"/>
                </a:solidFill>
                <a:latin typeface="Meiryo UI" panose="020B0604030504040204" pitchFamily="50" charset="-128"/>
                <a:ea typeface="Meiryo UI" panose="020B0604030504040204" pitchFamily="50" charset="-128"/>
              </a:rPr>
              <a:t>とは？</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アカウント紹介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アカウントの概要</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アカウントの特徴</a:t>
            </a:r>
            <a:endParaRPr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ご支援内容の全体像</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プロジェクト①アーキテクチャ戦略</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プロジェクト②業務改善支援</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まとめ</a:t>
            </a:r>
          </a:p>
        </p:txBody>
      </p:sp>
      <p:sp>
        <p:nvSpPr>
          <p:cNvPr id="9" name="テキスト プレースホルダー 8">
            <a:extLst>
              <a:ext uri="{FF2B5EF4-FFF2-40B4-BE49-F238E27FC236}">
                <a16:creationId xmlns:a16="http://schemas.microsoft.com/office/drawing/2014/main" id="{E181753C-4F4A-76AA-8B75-ECB74038C6E8}"/>
              </a:ext>
            </a:extLst>
          </p:cNvPr>
          <p:cNvSpPr>
            <a:spLocks noGrp="1"/>
          </p:cNvSpPr>
          <p:nvPr>
            <p:ph type="body" sz="quarter" idx="13"/>
          </p:nvPr>
        </p:nvSpPr>
        <p:spPr/>
        <p:txBody>
          <a:bodyPr/>
          <a:lstStyle/>
          <a:p>
            <a:r>
              <a:rPr lang="en-US" altLang="ja-JP" dirty="0"/>
              <a:t>MTBJ/MUSK</a:t>
            </a:r>
            <a:r>
              <a:rPr lang="ja-JP" altLang="en-US" dirty="0"/>
              <a:t>：プロジェクト紹介</a:t>
            </a:r>
          </a:p>
        </p:txBody>
      </p:sp>
    </p:spTree>
    <p:extLst>
      <p:ext uri="{BB962C8B-B14F-4D97-AF65-F5344CB8AC3E}">
        <p14:creationId xmlns:p14="http://schemas.microsoft.com/office/powerpoint/2010/main" val="33689962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DA7E3-7A2C-EBB2-BE24-D26422868700}"/>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E108654C-6BCD-5D23-6F61-9659A20D9A52}"/>
              </a:ext>
            </a:extLst>
          </p:cNvPr>
          <p:cNvSpPr/>
          <p:nvPr/>
        </p:nvSpPr>
        <p:spPr bwMode="auto">
          <a:xfrm>
            <a:off x="2989779" y="1796262"/>
            <a:ext cx="4423881"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9E39F85E-1F15-1AB5-AF76-04758DB0AE03}"/>
              </a:ext>
            </a:extLst>
          </p:cNvPr>
          <p:cNvSpPr/>
          <p:nvPr/>
        </p:nvSpPr>
        <p:spPr bwMode="auto">
          <a:xfrm>
            <a:off x="2492339" y="1397286"/>
            <a:ext cx="4921322"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9305DFFE-2AE6-1F13-EDAB-6917255C5B79}"/>
              </a:ext>
            </a:extLst>
          </p:cNvPr>
          <p:cNvSpPr/>
          <p:nvPr/>
        </p:nvSpPr>
        <p:spPr bwMode="auto">
          <a:xfrm>
            <a:off x="2492339" y="1192976"/>
            <a:ext cx="4921322" cy="514146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28600"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MTBJ/MUSK</a:t>
            </a:r>
            <a:r>
              <a:rPr kumimoji="1" lang="ja-JP" altLang="en-US" dirty="0">
                <a:solidFill>
                  <a:prstClr val="black"/>
                </a:solidFill>
                <a:latin typeface="Meiryo UI" panose="020B0604030504040204" pitchFamily="50" charset="-128"/>
                <a:ea typeface="Meiryo UI" panose="020B0604030504040204" pitchFamily="50" charset="-128"/>
              </a:rPr>
              <a:t>の概要</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a:t>
            </a:r>
            <a:r>
              <a:rPr lang="ja-JP" altLang="en-US" dirty="0">
                <a:solidFill>
                  <a:prstClr val="black"/>
                </a:solidFill>
                <a:latin typeface="Meiryo UI" panose="020B0604030504040204" pitchFamily="50" charset="-128"/>
                <a:ea typeface="Meiryo UI" panose="020B0604030504040204" pitchFamily="50" charset="-128"/>
              </a:rPr>
              <a:t>とは？</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MUSK</a:t>
            </a:r>
            <a:r>
              <a:rPr lang="ja-JP" altLang="en-US" dirty="0">
                <a:solidFill>
                  <a:prstClr val="black"/>
                </a:solidFill>
                <a:latin typeface="Meiryo UI" panose="020B0604030504040204" pitchFamily="50" charset="-128"/>
                <a:ea typeface="Meiryo UI" panose="020B0604030504040204" pitchFamily="50" charset="-128"/>
              </a:rPr>
              <a:t>とは？</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アカウント紹介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アカウントの概要</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アカウントの特徴</a:t>
            </a:r>
            <a:endParaRPr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ご支援内容の全体像</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プロジェクト①アーキテクチャ戦略</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プロジェクト②業務改善支援</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まとめ</a:t>
            </a:r>
          </a:p>
        </p:txBody>
      </p:sp>
    </p:spTree>
    <p:extLst>
      <p:ext uri="{BB962C8B-B14F-4D97-AF65-F5344CB8AC3E}">
        <p14:creationId xmlns:p14="http://schemas.microsoft.com/office/powerpoint/2010/main" val="360295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A5755-66A1-E7AA-DFCE-5B26A69042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AE6EAC-F99E-D726-ED31-1583A2062298}"/>
              </a:ext>
            </a:extLst>
          </p:cNvPr>
          <p:cNvSpPr>
            <a:spLocks noGrp="1"/>
          </p:cNvSpPr>
          <p:nvPr>
            <p:ph type="title"/>
          </p:nvPr>
        </p:nvSpPr>
        <p:spPr/>
        <p:txBody>
          <a:bodyPr/>
          <a:lstStyle/>
          <a:p>
            <a:r>
              <a:rPr kumimoji="1" lang="en-US" altLang="ja-JP" dirty="0"/>
              <a:t>1. </a:t>
            </a:r>
            <a:r>
              <a:rPr kumimoji="1" lang="ja-JP" altLang="en-US" dirty="0"/>
              <a:t>資産管理銀行（カストディ）とは？</a:t>
            </a:r>
          </a:p>
        </p:txBody>
      </p:sp>
      <p:sp>
        <p:nvSpPr>
          <p:cNvPr id="3" name="テキスト プレースホルダー 2">
            <a:extLst>
              <a:ext uri="{FF2B5EF4-FFF2-40B4-BE49-F238E27FC236}">
                <a16:creationId xmlns:a16="http://schemas.microsoft.com/office/drawing/2014/main" id="{46581A6B-7B6F-46BB-DEC3-669D03F203C2}"/>
              </a:ext>
            </a:extLst>
          </p:cNvPr>
          <p:cNvSpPr>
            <a:spLocks noGrp="1"/>
          </p:cNvSpPr>
          <p:nvPr>
            <p:ph type="body" idx="12"/>
          </p:nvPr>
        </p:nvSpPr>
        <p:spPr>
          <a:xfrm>
            <a:off x="489000" y="969722"/>
            <a:ext cx="8928000" cy="669414"/>
          </a:xfrm>
        </p:spPr>
        <p:txBody>
          <a:bodyPr/>
          <a:lstStyle/>
          <a:p>
            <a:r>
              <a:rPr lang="ja-JP" altLang="en-US" dirty="0"/>
              <a:t>年金基金などのアセットオーナー（</a:t>
            </a:r>
            <a:r>
              <a:rPr lang="en-US" altLang="ja-JP" dirty="0"/>
              <a:t>AO</a:t>
            </a:r>
            <a:r>
              <a:rPr lang="ja-JP" altLang="en-US" dirty="0"/>
              <a:t>）や運用会社などのアセットマネージャー（</a:t>
            </a:r>
            <a:r>
              <a:rPr lang="en-US" altLang="ja-JP" dirty="0"/>
              <a:t>AM</a:t>
            </a:r>
            <a:r>
              <a:rPr lang="ja-JP" altLang="en-US" dirty="0"/>
              <a:t>）に代わり有価証券など顧客の資産を預かり管理・運用を行う資産管理銀行のことを指します。</a:t>
            </a:r>
            <a:endParaRPr kumimoji="1" lang="ja-JP" altLang="en-US" dirty="0"/>
          </a:p>
        </p:txBody>
      </p:sp>
      <p:sp>
        <p:nvSpPr>
          <p:cNvPr id="4" name="テキスト プレースホルダー 3">
            <a:extLst>
              <a:ext uri="{FF2B5EF4-FFF2-40B4-BE49-F238E27FC236}">
                <a16:creationId xmlns:a16="http://schemas.microsoft.com/office/drawing/2014/main" id="{EE220BBF-DE29-3639-CBA0-BC519D6DA8FF}"/>
              </a:ext>
            </a:extLst>
          </p:cNvPr>
          <p:cNvSpPr>
            <a:spLocks noGrp="1"/>
          </p:cNvSpPr>
          <p:nvPr>
            <p:ph type="body" sz="quarter" idx="13"/>
          </p:nvPr>
        </p:nvSpPr>
        <p:spPr/>
        <p:txBody>
          <a:bodyPr/>
          <a:lstStyle/>
          <a:p>
            <a:r>
              <a:rPr lang="en-US" altLang="ja-JP" dirty="0">
                <a:solidFill>
                  <a:prstClr val="black"/>
                </a:solidFill>
              </a:rPr>
              <a:t>1. MTBJ/MUSK</a:t>
            </a:r>
            <a:r>
              <a:rPr lang="ja-JP" altLang="en-US" dirty="0">
                <a:solidFill>
                  <a:prstClr val="black"/>
                </a:solidFill>
              </a:rPr>
              <a:t>の概要</a:t>
            </a:r>
            <a:endParaRPr lang="en-US" altLang="ja-JP" dirty="0">
              <a:solidFill>
                <a:prstClr val="black"/>
              </a:solidFill>
            </a:endParaRPr>
          </a:p>
        </p:txBody>
      </p:sp>
      <p:sp>
        <p:nvSpPr>
          <p:cNvPr id="46" name="正方形/長方形 45">
            <a:extLst>
              <a:ext uri="{FF2B5EF4-FFF2-40B4-BE49-F238E27FC236}">
                <a16:creationId xmlns:a16="http://schemas.microsoft.com/office/drawing/2014/main" id="{34812225-A4DC-403C-09ED-DDFF6A21B2D2}"/>
              </a:ext>
            </a:extLst>
          </p:cNvPr>
          <p:cNvSpPr/>
          <p:nvPr/>
        </p:nvSpPr>
        <p:spPr bwMode="auto">
          <a:xfrm>
            <a:off x="7482929" y="5565371"/>
            <a:ext cx="2020186" cy="89365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b"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情報ベンダ</a:t>
            </a:r>
            <a:r>
              <a:rPr kumimoji="1"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endPar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22" name="正方形/長方形 21">
            <a:extLst>
              <a:ext uri="{FF2B5EF4-FFF2-40B4-BE49-F238E27FC236}">
                <a16:creationId xmlns:a16="http://schemas.microsoft.com/office/drawing/2014/main" id="{DB71B322-2544-262D-21B0-353259E24397}"/>
              </a:ext>
            </a:extLst>
          </p:cNvPr>
          <p:cNvSpPr/>
          <p:nvPr/>
        </p:nvSpPr>
        <p:spPr bwMode="auto">
          <a:xfrm>
            <a:off x="1481516" y="2923817"/>
            <a:ext cx="2020186" cy="1438586"/>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b" anchorCtr="0" compatLnSpc="1">
            <a:prstTxWarp prst="textNoShape">
              <a:avLst/>
            </a:prstTxWarp>
            <a:noAutofit/>
          </a:bodyPr>
          <a:lstStyle/>
          <a:p>
            <a:pPr marL="0" marR="0" lvl="0" indent="0" algn="r" defTabSz="908410" rtl="0" eaLnBrk="1" fontAlgn="base" latinLnBrk="0" hangingPunct="1">
              <a:lnSpc>
                <a:spcPct val="100000"/>
              </a:lnSpc>
              <a:spcBef>
                <a:spcPts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金融法人</a:t>
            </a:r>
          </a:p>
        </p:txBody>
      </p:sp>
      <p:sp>
        <p:nvSpPr>
          <p:cNvPr id="21" name="正方形/長方形 20">
            <a:extLst>
              <a:ext uri="{FF2B5EF4-FFF2-40B4-BE49-F238E27FC236}">
                <a16:creationId xmlns:a16="http://schemas.microsoft.com/office/drawing/2014/main" id="{3833D921-F068-94B0-C24B-94F3A3B53607}"/>
              </a:ext>
            </a:extLst>
          </p:cNvPr>
          <p:cNvSpPr/>
          <p:nvPr/>
        </p:nvSpPr>
        <p:spPr bwMode="auto">
          <a:xfrm>
            <a:off x="1202116" y="2650767"/>
            <a:ext cx="2020186" cy="1438586"/>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b" anchorCtr="0" compatLnSpc="1">
            <a:prstTxWarp prst="textNoShape">
              <a:avLst/>
            </a:prstTxWarp>
            <a:noAutofit/>
          </a:bodyPr>
          <a:lstStyle/>
          <a:p>
            <a:pPr marL="0" marR="0" lvl="0" indent="0" algn="r" defTabSz="908410" rtl="0" eaLnBrk="1" fontAlgn="base" latinLnBrk="0" hangingPunct="1">
              <a:lnSpc>
                <a:spcPct val="100000"/>
              </a:lnSpc>
              <a:spcBef>
                <a:spcPts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事業法人</a:t>
            </a:r>
          </a:p>
        </p:txBody>
      </p:sp>
      <p:sp>
        <p:nvSpPr>
          <p:cNvPr id="5" name="正方形/長方形 4">
            <a:extLst>
              <a:ext uri="{FF2B5EF4-FFF2-40B4-BE49-F238E27FC236}">
                <a16:creationId xmlns:a16="http://schemas.microsoft.com/office/drawing/2014/main" id="{45F0DA4E-5326-B99E-A5F3-BE99EF8E7B35}"/>
              </a:ext>
            </a:extLst>
          </p:cNvPr>
          <p:cNvSpPr/>
          <p:nvPr/>
        </p:nvSpPr>
        <p:spPr bwMode="auto">
          <a:xfrm>
            <a:off x="881559" y="2365017"/>
            <a:ext cx="2020186" cy="1438586"/>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年金基金</a:t>
            </a:r>
          </a:p>
        </p:txBody>
      </p:sp>
      <p:sp>
        <p:nvSpPr>
          <p:cNvPr id="7" name="正方形/長方形 6">
            <a:extLst>
              <a:ext uri="{FF2B5EF4-FFF2-40B4-BE49-F238E27FC236}">
                <a16:creationId xmlns:a16="http://schemas.microsoft.com/office/drawing/2014/main" id="{D77D2FF4-23B4-D7B0-23BB-D3AA2DD21FC5}"/>
              </a:ext>
            </a:extLst>
          </p:cNvPr>
          <p:cNvSpPr/>
          <p:nvPr/>
        </p:nvSpPr>
        <p:spPr bwMode="auto">
          <a:xfrm>
            <a:off x="1481516" y="4701275"/>
            <a:ext cx="2020186" cy="1438586"/>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運用会社</a:t>
            </a:r>
          </a:p>
        </p:txBody>
      </p:sp>
      <p:sp>
        <p:nvSpPr>
          <p:cNvPr id="9" name="正方形/長方形 8">
            <a:extLst>
              <a:ext uri="{FF2B5EF4-FFF2-40B4-BE49-F238E27FC236}">
                <a16:creationId xmlns:a16="http://schemas.microsoft.com/office/drawing/2014/main" id="{D73A9FCD-B324-E5AD-D755-FDE562CF0086}"/>
              </a:ext>
            </a:extLst>
          </p:cNvPr>
          <p:cNvSpPr/>
          <p:nvPr/>
        </p:nvSpPr>
        <p:spPr bwMode="auto">
          <a:xfrm>
            <a:off x="4482223" y="3812546"/>
            <a:ext cx="2020186" cy="1438586"/>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証券会社</a:t>
            </a:r>
          </a:p>
        </p:txBody>
      </p:sp>
      <p:sp>
        <p:nvSpPr>
          <p:cNvPr id="10" name="正方形/長方形 9">
            <a:extLst>
              <a:ext uri="{FF2B5EF4-FFF2-40B4-BE49-F238E27FC236}">
                <a16:creationId xmlns:a16="http://schemas.microsoft.com/office/drawing/2014/main" id="{855BD121-BA3A-CB4C-FE28-8331679A4C15}"/>
              </a:ext>
            </a:extLst>
          </p:cNvPr>
          <p:cNvSpPr/>
          <p:nvPr/>
        </p:nvSpPr>
        <p:spPr bwMode="auto">
          <a:xfrm>
            <a:off x="7482929" y="3812546"/>
            <a:ext cx="2020186" cy="1438586"/>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カストディ銀行</a:t>
            </a:r>
          </a:p>
        </p:txBody>
      </p:sp>
      <p:cxnSp>
        <p:nvCxnSpPr>
          <p:cNvPr id="12" name="コネクタ: カギ線 11">
            <a:extLst>
              <a:ext uri="{FF2B5EF4-FFF2-40B4-BE49-F238E27FC236}">
                <a16:creationId xmlns:a16="http://schemas.microsoft.com/office/drawing/2014/main" id="{CF8E07DF-CE0B-37C9-634F-F37427D9C992}"/>
              </a:ext>
            </a:extLst>
          </p:cNvPr>
          <p:cNvCxnSpPr>
            <a:cxnSpLocks/>
            <a:stCxn id="22" idx="3"/>
            <a:endCxn id="9" idx="1"/>
          </p:cNvCxnSpPr>
          <p:nvPr/>
        </p:nvCxnSpPr>
        <p:spPr bwMode="auto">
          <a:xfrm>
            <a:off x="3501703" y="3643110"/>
            <a:ext cx="980520" cy="888729"/>
          </a:xfrm>
          <a:prstGeom prst="bentConnector3">
            <a:avLst/>
          </a:prstGeom>
          <a:noFill/>
          <a:ln w="9525" cap="flat" cmpd="sng" algn="ctr">
            <a:solidFill>
              <a:schemeClr val="bg1">
                <a:lumMod val="50000"/>
              </a:schemeClr>
            </a:solidFill>
            <a:prstDash val="solid"/>
            <a:round/>
            <a:headEnd type="none" w="med" len="med"/>
            <a:tailEnd type="triangle"/>
          </a:ln>
          <a:effectLst/>
        </p:spPr>
      </p:cxnSp>
      <p:cxnSp>
        <p:nvCxnSpPr>
          <p:cNvPr id="13" name="コネクタ: カギ線 12">
            <a:extLst>
              <a:ext uri="{FF2B5EF4-FFF2-40B4-BE49-F238E27FC236}">
                <a16:creationId xmlns:a16="http://schemas.microsoft.com/office/drawing/2014/main" id="{82A4E662-669A-A0C8-5073-7401935BD6ED}"/>
              </a:ext>
            </a:extLst>
          </p:cNvPr>
          <p:cNvCxnSpPr>
            <a:cxnSpLocks/>
            <a:stCxn id="7" idx="3"/>
            <a:endCxn id="9" idx="1"/>
          </p:cNvCxnSpPr>
          <p:nvPr/>
        </p:nvCxnSpPr>
        <p:spPr bwMode="auto">
          <a:xfrm flipV="1">
            <a:off x="3501703" y="4531839"/>
            <a:ext cx="980520" cy="888729"/>
          </a:xfrm>
          <a:prstGeom prst="bentConnector3">
            <a:avLst>
              <a:gd name="adj1" fmla="val 50000"/>
            </a:avLst>
          </a:prstGeom>
          <a:noFill/>
          <a:ln w="9525" cap="flat" cmpd="sng" algn="ctr">
            <a:solidFill>
              <a:schemeClr val="bg1">
                <a:lumMod val="50000"/>
              </a:schemeClr>
            </a:solidFill>
            <a:prstDash val="solid"/>
            <a:round/>
            <a:headEnd type="none" w="med" len="med"/>
            <a:tailEnd type="triangle"/>
          </a:ln>
          <a:effectLst/>
        </p:spPr>
      </p:cxnSp>
      <p:cxnSp>
        <p:nvCxnSpPr>
          <p:cNvPr id="17" name="直線矢印コネクタ 16">
            <a:extLst>
              <a:ext uri="{FF2B5EF4-FFF2-40B4-BE49-F238E27FC236}">
                <a16:creationId xmlns:a16="http://schemas.microsoft.com/office/drawing/2014/main" id="{67678597-1859-F791-1A37-219E4EC3807C}"/>
              </a:ext>
            </a:extLst>
          </p:cNvPr>
          <p:cNvCxnSpPr>
            <a:stCxn id="9" idx="3"/>
            <a:endCxn id="10" idx="1"/>
          </p:cNvCxnSpPr>
          <p:nvPr/>
        </p:nvCxnSpPr>
        <p:spPr bwMode="auto">
          <a:xfrm>
            <a:off x="6502409" y="4531839"/>
            <a:ext cx="980519"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8" name="コネクタ: カギ線 17">
            <a:extLst>
              <a:ext uri="{FF2B5EF4-FFF2-40B4-BE49-F238E27FC236}">
                <a16:creationId xmlns:a16="http://schemas.microsoft.com/office/drawing/2014/main" id="{1AC52937-8185-E0BA-F4CB-4C8F89126108}"/>
              </a:ext>
            </a:extLst>
          </p:cNvPr>
          <p:cNvCxnSpPr>
            <a:cxnSpLocks/>
            <a:stCxn id="10" idx="3"/>
            <a:endCxn id="5" idx="0"/>
          </p:cNvCxnSpPr>
          <p:nvPr/>
        </p:nvCxnSpPr>
        <p:spPr bwMode="auto">
          <a:xfrm flipH="1" flipV="1">
            <a:off x="1891652" y="2365017"/>
            <a:ext cx="7611463" cy="2166822"/>
          </a:xfrm>
          <a:prstGeom prst="bentConnector4">
            <a:avLst>
              <a:gd name="adj1" fmla="val -3304"/>
              <a:gd name="adj2" fmla="val 110550"/>
            </a:avLst>
          </a:prstGeom>
          <a:noFill/>
          <a:ln w="9525" cap="flat" cmpd="sng" algn="ctr">
            <a:solidFill>
              <a:schemeClr val="bg1">
                <a:lumMod val="50000"/>
              </a:schemeClr>
            </a:solidFill>
            <a:prstDash val="solid"/>
            <a:round/>
            <a:headEnd type="none" w="med" len="med"/>
            <a:tailEnd type="triangle"/>
          </a:ln>
          <a:effectLst/>
        </p:spPr>
      </p:cxnSp>
      <p:grpSp>
        <p:nvGrpSpPr>
          <p:cNvPr id="11" name="グループ化 10">
            <a:extLst>
              <a:ext uri="{FF2B5EF4-FFF2-40B4-BE49-F238E27FC236}">
                <a16:creationId xmlns:a16="http://schemas.microsoft.com/office/drawing/2014/main" id="{BBF48EF3-0099-BA7F-0F52-794465EE0C6B}"/>
              </a:ext>
            </a:extLst>
          </p:cNvPr>
          <p:cNvGrpSpPr/>
          <p:nvPr/>
        </p:nvGrpSpPr>
        <p:grpSpPr>
          <a:xfrm>
            <a:off x="2245378" y="3178079"/>
            <a:ext cx="483616" cy="487989"/>
            <a:chOff x="2260618" y="3376199"/>
            <a:chExt cx="483616" cy="487989"/>
          </a:xfrm>
        </p:grpSpPr>
        <p:sp>
          <p:nvSpPr>
            <p:cNvPr id="26" name="円弧 25">
              <a:extLst>
                <a:ext uri="{FF2B5EF4-FFF2-40B4-BE49-F238E27FC236}">
                  <a16:creationId xmlns:a16="http://schemas.microsoft.com/office/drawing/2014/main" id="{9B4643E0-C160-7D8C-FC8F-9E98BAFFA747}"/>
                </a:ext>
              </a:extLst>
            </p:cNvPr>
            <p:cNvSpPr/>
            <p:nvPr/>
          </p:nvSpPr>
          <p:spPr bwMode="auto">
            <a:xfrm rot="5400000">
              <a:off x="2358844" y="3554950"/>
              <a:ext cx="296009" cy="322468"/>
            </a:xfrm>
            <a:prstGeom prst="arc">
              <a:avLst>
                <a:gd name="adj1" fmla="val 2863950"/>
                <a:gd name="adj2" fmla="val 1709788"/>
              </a:avLst>
            </a:prstGeom>
            <a:noFill/>
            <a:ln w="9525" cap="flat" cmpd="sng" algn="ctr">
              <a:solidFill>
                <a:schemeClr val="tx1"/>
              </a:solidFill>
              <a:prstDash val="solid"/>
              <a:round/>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816BDEE6-8305-361A-48AF-BDE439F9EF7D}"/>
                </a:ext>
              </a:extLst>
            </p:cNvPr>
            <p:cNvSpPr/>
            <p:nvPr/>
          </p:nvSpPr>
          <p:spPr bwMode="auto">
            <a:xfrm>
              <a:off x="2260618" y="3376199"/>
              <a:ext cx="483616" cy="213836"/>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1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運用</a:t>
              </a:r>
            </a:p>
          </p:txBody>
        </p:sp>
      </p:grpSp>
      <p:grpSp>
        <p:nvGrpSpPr>
          <p:cNvPr id="6" name="グループ化 5">
            <a:extLst>
              <a:ext uri="{FF2B5EF4-FFF2-40B4-BE49-F238E27FC236}">
                <a16:creationId xmlns:a16="http://schemas.microsoft.com/office/drawing/2014/main" id="{FD21DC4E-68A5-EB9D-DF3D-6CA6A17FD4F8}"/>
              </a:ext>
            </a:extLst>
          </p:cNvPr>
          <p:cNvGrpSpPr/>
          <p:nvPr/>
        </p:nvGrpSpPr>
        <p:grpSpPr>
          <a:xfrm>
            <a:off x="964369" y="3421892"/>
            <a:ext cx="822439" cy="252000"/>
            <a:chOff x="979609" y="3620012"/>
            <a:chExt cx="822439" cy="252000"/>
          </a:xfrm>
        </p:grpSpPr>
        <p:sp>
          <p:nvSpPr>
            <p:cNvPr id="28" name="楕円 27">
              <a:extLst>
                <a:ext uri="{FF2B5EF4-FFF2-40B4-BE49-F238E27FC236}">
                  <a16:creationId xmlns:a16="http://schemas.microsoft.com/office/drawing/2014/main" id="{894D1AFA-A2A3-A279-0838-66E5D6CF9BF9}"/>
                </a:ext>
              </a:extLst>
            </p:cNvPr>
            <p:cNvSpPr/>
            <p:nvPr/>
          </p:nvSpPr>
          <p:spPr bwMode="auto">
            <a:xfrm>
              <a:off x="979609" y="3620012"/>
              <a:ext cx="277200" cy="252000"/>
            </a:xfrm>
            <a:prstGeom prst="ellipse">
              <a:avLst/>
            </a:prstGeom>
            <a:solidFill>
              <a:schemeClr val="bg1"/>
            </a:solidFill>
            <a:ln w="6350" cap="flat" cmpd="sng" algn="ctr">
              <a:solidFill>
                <a:schemeClr val="tx1"/>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
          <p:nvSpPr>
            <p:cNvPr id="29" name="正方形/長方形 28">
              <a:extLst>
                <a:ext uri="{FF2B5EF4-FFF2-40B4-BE49-F238E27FC236}">
                  <a16:creationId xmlns:a16="http://schemas.microsoft.com/office/drawing/2014/main" id="{29005491-BBF3-DCAB-7374-E8C07E69AD0D}"/>
                </a:ext>
              </a:extLst>
            </p:cNvPr>
            <p:cNvSpPr/>
            <p:nvPr/>
          </p:nvSpPr>
          <p:spPr bwMode="auto">
            <a:xfrm>
              <a:off x="1219959" y="3639094"/>
              <a:ext cx="582089" cy="213836"/>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1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ファンド</a:t>
              </a:r>
            </a:p>
          </p:txBody>
        </p:sp>
      </p:grpSp>
      <p:grpSp>
        <p:nvGrpSpPr>
          <p:cNvPr id="37" name="グループ化 36">
            <a:extLst>
              <a:ext uri="{FF2B5EF4-FFF2-40B4-BE49-F238E27FC236}">
                <a16:creationId xmlns:a16="http://schemas.microsoft.com/office/drawing/2014/main" id="{FF60D553-0E8B-2858-ADBC-34FC80ADA5D0}"/>
              </a:ext>
            </a:extLst>
          </p:cNvPr>
          <p:cNvGrpSpPr/>
          <p:nvPr/>
        </p:nvGrpSpPr>
        <p:grpSpPr>
          <a:xfrm>
            <a:off x="1622610" y="5820443"/>
            <a:ext cx="1030232" cy="252000"/>
            <a:chOff x="1637850" y="6018563"/>
            <a:chExt cx="1030232" cy="252000"/>
          </a:xfrm>
        </p:grpSpPr>
        <p:sp>
          <p:nvSpPr>
            <p:cNvPr id="31" name="楕円 30">
              <a:extLst>
                <a:ext uri="{FF2B5EF4-FFF2-40B4-BE49-F238E27FC236}">
                  <a16:creationId xmlns:a16="http://schemas.microsoft.com/office/drawing/2014/main" id="{98F9DF4B-31AD-FD88-0586-D4A39E48C296}"/>
                </a:ext>
              </a:extLst>
            </p:cNvPr>
            <p:cNvSpPr/>
            <p:nvPr/>
          </p:nvSpPr>
          <p:spPr bwMode="auto">
            <a:xfrm>
              <a:off x="1637850" y="6018563"/>
              <a:ext cx="277200" cy="252000"/>
            </a:xfrm>
            <a:prstGeom prst="ellipse">
              <a:avLst/>
            </a:prstGeom>
            <a:solidFill>
              <a:schemeClr val="bg1"/>
            </a:solidFill>
            <a:ln w="6350" cap="flat" cmpd="sng" algn="ctr">
              <a:solidFill>
                <a:schemeClr val="tx1"/>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
          <p:nvSpPr>
            <p:cNvPr id="32" name="正方形/長方形 31">
              <a:extLst>
                <a:ext uri="{FF2B5EF4-FFF2-40B4-BE49-F238E27FC236}">
                  <a16:creationId xmlns:a16="http://schemas.microsoft.com/office/drawing/2014/main" id="{B58429F4-D9FB-CEF6-094E-F3B188BDD7D3}"/>
                </a:ext>
              </a:extLst>
            </p:cNvPr>
            <p:cNvSpPr/>
            <p:nvPr/>
          </p:nvSpPr>
          <p:spPr bwMode="auto">
            <a:xfrm>
              <a:off x="1878199" y="6037645"/>
              <a:ext cx="789883" cy="213836"/>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1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投資信託</a:t>
              </a:r>
            </a:p>
          </p:txBody>
        </p:sp>
      </p:grpSp>
      <p:grpSp>
        <p:nvGrpSpPr>
          <p:cNvPr id="42" name="グループ化 41">
            <a:extLst>
              <a:ext uri="{FF2B5EF4-FFF2-40B4-BE49-F238E27FC236}">
                <a16:creationId xmlns:a16="http://schemas.microsoft.com/office/drawing/2014/main" id="{FD291F24-FC58-2B33-543E-DCCE25241E0B}"/>
              </a:ext>
            </a:extLst>
          </p:cNvPr>
          <p:cNvGrpSpPr/>
          <p:nvPr/>
        </p:nvGrpSpPr>
        <p:grpSpPr>
          <a:xfrm>
            <a:off x="2893190" y="5565371"/>
            <a:ext cx="483616" cy="487989"/>
            <a:chOff x="2908430" y="5763491"/>
            <a:chExt cx="483616" cy="487989"/>
          </a:xfrm>
        </p:grpSpPr>
        <p:sp>
          <p:nvSpPr>
            <p:cNvPr id="33" name="円弧 32">
              <a:extLst>
                <a:ext uri="{FF2B5EF4-FFF2-40B4-BE49-F238E27FC236}">
                  <a16:creationId xmlns:a16="http://schemas.microsoft.com/office/drawing/2014/main" id="{44D64892-2FA0-A363-9EFF-B81AE6B963CC}"/>
                </a:ext>
              </a:extLst>
            </p:cNvPr>
            <p:cNvSpPr/>
            <p:nvPr/>
          </p:nvSpPr>
          <p:spPr bwMode="auto">
            <a:xfrm rot="5400000">
              <a:off x="3006656" y="5942242"/>
              <a:ext cx="296009" cy="322468"/>
            </a:xfrm>
            <a:prstGeom prst="arc">
              <a:avLst>
                <a:gd name="adj1" fmla="val 2863950"/>
                <a:gd name="adj2" fmla="val 1709788"/>
              </a:avLst>
            </a:prstGeom>
            <a:noFill/>
            <a:ln w="9525" cap="flat" cmpd="sng" algn="ctr">
              <a:solidFill>
                <a:schemeClr val="tx1"/>
              </a:solidFill>
              <a:prstDash val="solid"/>
              <a:round/>
              <a:headEnd type="non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0345F166-E4BC-3F18-63D3-10DB5814E56E}"/>
                </a:ext>
              </a:extLst>
            </p:cNvPr>
            <p:cNvSpPr/>
            <p:nvPr/>
          </p:nvSpPr>
          <p:spPr bwMode="auto">
            <a:xfrm>
              <a:off x="2908430" y="5763491"/>
              <a:ext cx="483616" cy="213836"/>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1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運用</a:t>
              </a:r>
            </a:p>
          </p:txBody>
        </p:sp>
      </p:grpSp>
      <p:sp>
        <p:nvSpPr>
          <p:cNvPr id="35" name="吹き出し: 四角形 34">
            <a:extLst>
              <a:ext uri="{FF2B5EF4-FFF2-40B4-BE49-F238E27FC236}">
                <a16:creationId xmlns:a16="http://schemas.microsoft.com/office/drawing/2014/main" id="{496B8B43-5F6C-B0CB-5398-F570633A64A5}"/>
              </a:ext>
            </a:extLst>
          </p:cNvPr>
          <p:cNvSpPr/>
          <p:nvPr/>
        </p:nvSpPr>
        <p:spPr bwMode="auto">
          <a:xfrm>
            <a:off x="399033" y="2214459"/>
            <a:ext cx="984502" cy="830788"/>
          </a:xfrm>
          <a:prstGeom prst="wedgeRectCallout">
            <a:avLst>
              <a:gd name="adj1" fmla="val 65016"/>
              <a:gd name="adj2" fmla="val 35748"/>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en-US" altLang="ja-JP" sz="9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GPIF</a:t>
            </a:r>
            <a:r>
              <a:rPr kumimoji="1" lang="ja-JP" altLang="en-US" sz="9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など</a:t>
            </a:r>
            <a:endParaRPr kumimoji="1" lang="en-US" altLang="ja-JP" sz="9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ctr" defTabSz="908410" rtl="0" eaLnBrk="1" fontAlgn="base" latinLnBrk="0" hangingPunct="1">
              <a:lnSpc>
                <a:spcPct val="100000"/>
              </a:lnSpc>
              <a:spcBef>
                <a:spcPts val="0"/>
              </a:spcBef>
              <a:spcAft>
                <a:spcPct val="0"/>
              </a:spcAft>
              <a:buClrTx/>
              <a:buSzTx/>
              <a:buFontTx/>
              <a:buNone/>
              <a:tabLst/>
              <a:defRPr/>
            </a:pPr>
            <a:endPar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我々の支払っている厚生年金をまとめて運用</a:t>
            </a:r>
            <a:endPar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36" name="吹き出し: 四角形 35">
            <a:extLst>
              <a:ext uri="{FF2B5EF4-FFF2-40B4-BE49-F238E27FC236}">
                <a16:creationId xmlns:a16="http://schemas.microsoft.com/office/drawing/2014/main" id="{393700CF-C9DD-88F7-0319-3F402FD97B84}"/>
              </a:ext>
            </a:extLst>
          </p:cNvPr>
          <p:cNvSpPr/>
          <p:nvPr/>
        </p:nvSpPr>
        <p:spPr bwMode="auto">
          <a:xfrm>
            <a:off x="517778" y="4583802"/>
            <a:ext cx="1382032" cy="830788"/>
          </a:xfrm>
          <a:prstGeom prst="wedgeRectCallout">
            <a:avLst>
              <a:gd name="adj1" fmla="val 65016"/>
              <a:gd name="adj2" fmla="val 35748"/>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9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三菱</a:t>
            </a:r>
            <a:r>
              <a:rPr kumimoji="1" lang="en-US" altLang="ja-JP" sz="9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UFJ</a:t>
            </a:r>
          </a:p>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9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アセットマネジメントなど</a:t>
            </a:r>
            <a:endParaRPr kumimoji="1" lang="en-US" altLang="ja-JP" sz="9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ctr" defTabSz="908410" rtl="0" eaLnBrk="1" fontAlgn="base" latinLnBrk="0" hangingPunct="1">
              <a:lnSpc>
                <a:spcPct val="100000"/>
              </a:lnSpc>
              <a:spcBef>
                <a:spcPts val="0"/>
              </a:spcBef>
              <a:spcAft>
                <a:spcPct val="0"/>
              </a:spcAft>
              <a:buClrTx/>
              <a:buSzTx/>
              <a:buFontTx/>
              <a:buNone/>
              <a:tabLst/>
              <a:defRPr/>
            </a:pPr>
            <a:endPar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オルカンなどの投資信託を運用している会社</a:t>
            </a:r>
            <a:endPar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9" name="吹き出し: 四角形 18">
            <a:extLst>
              <a:ext uri="{FF2B5EF4-FFF2-40B4-BE49-F238E27FC236}">
                <a16:creationId xmlns:a16="http://schemas.microsoft.com/office/drawing/2014/main" id="{439D52ED-9949-9FC7-4769-C848058B1DB1}"/>
              </a:ext>
            </a:extLst>
          </p:cNvPr>
          <p:cNvSpPr/>
          <p:nvPr/>
        </p:nvSpPr>
        <p:spPr bwMode="auto">
          <a:xfrm>
            <a:off x="3622127" y="3798103"/>
            <a:ext cx="739671" cy="415394"/>
          </a:xfrm>
          <a:prstGeom prst="wedgeRectCallout">
            <a:avLst>
              <a:gd name="adj1" fmla="val 16031"/>
              <a:gd name="adj2" fmla="val 121736"/>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売買の</a:t>
            </a:r>
            <a:b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発注</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20" name="吹き出し: 四角形 19">
            <a:extLst>
              <a:ext uri="{FF2B5EF4-FFF2-40B4-BE49-F238E27FC236}">
                <a16:creationId xmlns:a16="http://schemas.microsoft.com/office/drawing/2014/main" id="{A37CF8C2-D384-0CFE-DCEF-60769F84B39B}"/>
              </a:ext>
            </a:extLst>
          </p:cNvPr>
          <p:cNvSpPr/>
          <p:nvPr/>
        </p:nvSpPr>
        <p:spPr bwMode="auto">
          <a:xfrm>
            <a:off x="6624825" y="3798103"/>
            <a:ext cx="739671" cy="415394"/>
          </a:xfrm>
          <a:prstGeom prst="wedgeRectCallout">
            <a:avLst>
              <a:gd name="adj1" fmla="val 7532"/>
              <a:gd name="adj2" fmla="val 110271"/>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約定</a:t>
            </a:r>
            <a:b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データ</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23" name="楕円 22">
            <a:extLst>
              <a:ext uri="{FF2B5EF4-FFF2-40B4-BE49-F238E27FC236}">
                <a16:creationId xmlns:a16="http://schemas.microsoft.com/office/drawing/2014/main" id="{D9980A8B-B1A4-F2A5-3EAE-E872A5FBDFD4}"/>
              </a:ext>
            </a:extLst>
          </p:cNvPr>
          <p:cNvSpPr/>
          <p:nvPr/>
        </p:nvSpPr>
        <p:spPr bwMode="auto">
          <a:xfrm>
            <a:off x="7559971" y="4717152"/>
            <a:ext cx="554400" cy="504000"/>
          </a:xfrm>
          <a:prstGeom prst="ellipse">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取引</a:t>
            </a:r>
          </a:p>
        </p:txBody>
      </p:sp>
      <p:sp>
        <p:nvSpPr>
          <p:cNvPr id="24" name="楕円 23">
            <a:extLst>
              <a:ext uri="{FF2B5EF4-FFF2-40B4-BE49-F238E27FC236}">
                <a16:creationId xmlns:a16="http://schemas.microsoft.com/office/drawing/2014/main" id="{64B24076-09D7-45CB-E3BA-28B16D5BFAA7}"/>
              </a:ext>
            </a:extLst>
          </p:cNvPr>
          <p:cNvSpPr/>
          <p:nvPr/>
        </p:nvSpPr>
        <p:spPr bwMode="auto">
          <a:xfrm>
            <a:off x="8211076" y="4717152"/>
            <a:ext cx="554400" cy="504000"/>
          </a:xfrm>
          <a:prstGeom prst="ellipse">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残高</a:t>
            </a:r>
          </a:p>
        </p:txBody>
      </p:sp>
      <p:sp>
        <p:nvSpPr>
          <p:cNvPr id="25" name="楕円 24">
            <a:extLst>
              <a:ext uri="{FF2B5EF4-FFF2-40B4-BE49-F238E27FC236}">
                <a16:creationId xmlns:a16="http://schemas.microsoft.com/office/drawing/2014/main" id="{1BBF5A79-E84E-FFDC-D1E3-2C2C4FEBD960}"/>
              </a:ext>
            </a:extLst>
          </p:cNvPr>
          <p:cNvSpPr/>
          <p:nvPr/>
        </p:nvSpPr>
        <p:spPr bwMode="auto">
          <a:xfrm>
            <a:off x="8862180" y="4717152"/>
            <a:ext cx="554400" cy="504000"/>
          </a:xfrm>
          <a:prstGeom prst="ellipse">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帳簿</a:t>
            </a:r>
            <a:endParaRPr kumimoji="1" lang="en-US" altLang="ja-JP"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管理</a:t>
            </a:r>
          </a:p>
        </p:txBody>
      </p:sp>
      <p:sp>
        <p:nvSpPr>
          <p:cNvPr id="30" name="吹き出し: 四角形 29">
            <a:extLst>
              <a:ext uri="{FF2B5EF4-FFF2-40B4-BE49-F238E27FC236}">
                <a16:creationId xmlns:a16="http://schemas.microsoft.com/office/drawing/2014/main" id="{CD4AF19C-1F99-B9A3-79CB-E2317D6A19B1}"/>
              </a:ext>
            </a:extLst>
          </p:cNvPr>
          <p:cNvSpPr/>
          <p:nvPr/>
        </p:nvSpPr>
        <p:spPr bwMode="auto">
          <a:xfrm>
            <a:off x="7559971" y="4229521"/>
            <a:ext cx="1856609" cy="415394"/>
          </a:xfrm>
          <a:prstGeom prst="wedgeRectCallout">
            <a:avLst>
              <a:gd name="adj1" fmla="val -33664"/>
              <a:gd name="adj2" fmla="val 89634"/>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何をいくらで？</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38" name="吹き出し: 四角形 37">
            <a:extLst>
              <a:ext uri="{FF2B5EF4-FFF2-40B4-BE49-F238E27FC236}">
                <a16:creationId xmlns:a16="http://schemas.microsoft.com/office/drawing/2014/main" id="{7E03243E-AAE8-A022-D380-5B2A9E4DC066}"/>
              </a:ext>
            </a:extLst>
          </p:cNvPr>
          <p:cNvSpPr/>
          <p:nvPr/>
        </p:nvSpPr>
        <p:spPr bwMode="auto">
          <a:xfrm>
            <a:off x="7559971" y="4229521"/>
            <a:ext cx="1856609" cy="415394"/>
          </a:xfrm>
          <a:prstGeom prst="wedgeRectCallout">
            <a:avLst>
              <a:gd name="adj1" fmla="val -2626"/>
              <a:gd name="adj2" fmla="val 91927"/>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今ポートフォリオの</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トータル・内訳はいくら？</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39" name="吹き出し: 四角形 38">
            <a:extLst>
              <a:ext uri="{FF2B5EF4-FFF2-40B4-BE49-F238E27FC236}">
                <a16:creationId xmlns:a16="http://schemas.microsoft.com/office/drawing/2014/main" id="{851AB0FF-24B6-C256-A2FC-1204D5C891BD}"/>
              </a:ext>
            </a:extLst>
          </p:cNvPr>
          <p:cNvSpPr/>
          <p:nvPr/>
        </p:nvSpPr>
        <p:spPr bwMode="auto">
          <a:xfrm>
            <a:off x="7559971" y="4229521"/>
            <a:ext cx="1856609" cy="415394"/>
          </a:xfrm>
          <a:prstGeom prst="wedgeRectCallout">
            <a:avLst>
              <a:gd name="adj1" fmla="val 32927"/>
              <a:gd name="adj2" fmla="val 87341"/>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仕訳した結果</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どういう会計になってる？</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0" name="楕円 39">
            <a:extLst>
              <a:ext uri="{FF2B5EF4-FFF2-40B4-BE49-F238E27FC236}">
                <a16:creationId xmlns:a16="http://schemas.microsoft.com/office/drawing/2014/main" id="{5FFDB343-BD06-3B7C-2360-887E2A1DD472}"/>
              </a:ext>
            </a:extLst>
          </p:cNvPr>
          <p:cNvSpPr/>
          <p:nvPr/>
        </p:nvSpPr>
        <p:spPr bwMode="auto">
          <a:xfrm>
            <a:off x="8211076" y="5641077"/>
            <a:ext cx="554400" cy="504000"/>
          </a:xfrm>
          <a:prstGeom prst="ellipse">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時価</a:t>
            </a:r>
            <a:endParaRPr kumimoji="1" lang="en-US" altLang="ja-JP"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データ</a:t>
            </a:r>
          </a:p>
        </p:txBody>
      </p:sp>
      <p:cxnSp>
        <p:nvCxnSpPr>
          <p:cNvPr id="41" name="直線矢印コネクタ 40">
            <a:extLst>
              <a:ext uri="{FF2B5EF4-FFF2-40B4-BE49-F238E27FC236}">
                <a16:creationId xmlns:a16="http://schemas.microsoft.com/office/drawing/2014/main" id="{4E68035C-68A7-40C4-DE37-F3E0F2DDD653}"/>
              </a:ext>
            </a:extLst>
          </p:cNvPr>
          <p:cNvCxnSpPr>
            <a:cxnSpLocks/>
            <a:stCxn id="40" idx="0"/>
            <a:endCxn id="24" idx="4"/>
          </p:cNvCxnSpPr>
          <p:nvPr/>
        </p:nvCxnSpPr>
        <p:spPr bwMode="auto">
          <a:xfrm flipV="1">
            <a:off x="8488276" y="5221152"/>
            <a:ext cx="0" cy="419925"/>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44" name="フローチャート: データ 43">
            <a:extLst>
              <a:ext uri="{FF2B5EF4-FFF2-40B4-BE49-F238E27FC236}">
                <a16:creationId xmlns:a16="http://schemas.microsoft.com/office/drawing/2014/main" id="{442173FA-EC72-3929-F199-FB5B6738B224}"/>
              </a:ext>
            </a:extLst>
          </p:cNvPr>
          <p:cNvSpPr/>
          <p:nvPr/>
        </p:nvSpPr>
        <p:spPr bwMode="auto">
          <a:xfrm>
            <a:off x="7874381" y="1933455"/>
            <a:ext cx="1157169" cy="397224"/>
          </a:xfrm>
          <a:prstGeom prst="flowChartInputOutpu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会計</a:t>
            </a:r>
            <a:endParaRPr kumimoji="1" lang="en-US" altLang="ja-JP"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データ</a:t>
            </a:r>
          </a:p>
        </p:txBody>
      </p:sp>
      <p:sp>
        <p:nvSpPr>
          <p:cNvPr id="45" name="正方形/長方形 44">
            <a:extLst>
              <a:ext uri="{FF2B5EF4-FFF2-40B4-BE49-F238E27FC236}">
                <a16:creationId xmlns:a16="http://schemas.microsoft.com/office/drawing/2014/main" id="{0D1A0448-2A3D-5E08-9A49-54539D9AC8F1}"/>
              </a:ext>
            </a:extLst>
          </p:cNvPr>
          <p:cNvSpPr/>
          <p:nvPr/>
        </p:nvSpPr>
        <p:spPr bwMode="auto">
          <a:xfrm>
            <a:off x="4218505" y="1893173"/>
            <a:ext cx="2957756" cy="213836"/>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運用状況ごとのレポーティング</a:t>
            </a:r>
          </a:p>
        </p:txBody>
      </p:sp>
      <p:sp>
        <p:nvSpPr>
          <p:cNvPr id="47" name="吹き出し: 四角形 46">
            <a:extLst>
              <a:ext uri="{FF2B5EF4-FFF2-40B4-BE49-F238E27FC236}">
                <a16:creationId xmlns:a16="http://schemas.microsoft.com/office/drawing/2014/main" id="{2E61DF19-3ED8-2A9F-AC96-20DF01D8FFA4}"/>
              </a:ext>
            </a:extLst>
          </p:cNvPr>
          <p:cNvSpPr/>
          <p:nvPr/>
        </p:nvSpPr>
        <p:spPr bwMode="auto">
          <a:xfrm>
            <a:off x="6357338" y="5638203"/>
            <a:ext cx="1231159" cy="426326"/>
          </a:xfrm>
          <a:prstGeom prst="wedgeRectCallout">
            <a:avLst>
              <a:gd name="adj1" fmla="val 94724"/>
              <a:gd name="adj2" fmla="val 18060"/>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kumimoji="1" lang="en-US" altLang="ja-JP" sz="105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Bloomberg</a:t>
            </a:r>
          </a:p>
          <a:p>
            <a:pPr marL="0" marR="0" lvl="0" indent="0" algn="ctr" defTabSz="908410" rtl="0" eaLnBrk="1" fontAlgn="base" latinLnBrk="0" hangingPunct="1">
              <a:lnSpc>
                <a:spcPct val="100000"/>
              </a:lnSpc>
              <a:spcBef>
                <a:spcPts val="0"/>
              </a:spcBef>
              <a:spcAft>
                <a:spcPct val="0"/>
              </a:spcAft>
              <a:buClrTx/>
              <a:buSzTx/>
              <a:buFontTx/>
              <a:buNone/>
              <a:tabLst/>
              <a:defRPr/>
            </a:pPr>
            <a:r>
              <a:rPr kumimoji="1" lang="en-US" altLang="ja-JP" sz="105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Refinitiv</a:t>
            </a:r>
          </a:p>
        </p:txBody>
      </p:sp>
    </p:spTree>
    <p:extLst>
      <p:ext uri="{BB962C8B-B14F-4D97-AF65-F5344CB8AC3E}">
        <p14:creationId xmlns:p14="http://schemas.microsoft.com/office/powerpoint/2010/main" val="36103223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35"/>
                                        </p:tgtEl>
                                      </p:cBhvr>
                                    </p:animEffect>
                                    <p:set>
                                      <p:cBhvr>
                                        <p:cTn id="17" dur="1" fill="hold">
                                          <p:stCondLst>
                                            <p:cond delay="499"/>
                                          </p:stCondLst>
                                        </p:cTn>
                                        <p:tgtEl>
                                          <p:spTgt spid="3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36"/>
                                        </p:tgtEl>
                                      </p:cBhvr>
                                    </p:animEffect>
                                    <p:set>
                                      <p:cBhvr>
                                        <p:cTn id="52" dur="1" fill="hold">
                                          <p:stCondLst>
                                            <p:cond delay="499"/>
                                          </p:stCondLst>
                                        </p:cTn>
                                        <p:tgtEl>
                                          <p:spTgt spid="3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fade">
                                      <p:cBhvr>
                                        <p:cTn id="62" dur="500"/>
                                        <p:tgtEl>
                                          <p:spTgt spid="4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fade">
                                      <p:cBhvr>
                                        <p:cTn id="67" dur="50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500"/>
                                        <p:tgtEl>
                                          <p:spTgt spid="12"/>
                                        </p:tgtEl>
                                      </p:cBhvr>
                                    </p:animEffect>
                                  </p:childTnLst>
                                </p:cTn>
                              </p:par>
                              <p:par>
                                <p:cTn id="73" presetID="10" presetClass="entr" presetSubtype="0" fill="hold" nodeType="with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fade">
                                      <p:cBhvr>
                                        <p:cTn id="75" dur="500"/>
                                        <p:tgtEl>
                                          <p:spTgt spid="1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fade">
                                      <p:cBhvr>
                                        <p:cTn id="85" dur="500"/>
                                        <p:tgtEl>
                                          <p:spTgt spid="10"/>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00"/>
                                        <p:tgtEl>
                                          <p:spTgt spid="20"/>
                                        </p:tgtEl>
                                      </p:cBhvr>
                                    </p:animEffect>
                                  </p:childTnLst>
                                </p:cTn>
                              </p:par>
                              <p:par>
                                <p:cTn id="91" presetID="10" presetClass="entr" presetSubtype="0" fill="hold" nodeType="withEffect">
                                  <p:stCondLst>
                                    <p:cond delay="0"/>
                                  </p:stCondLst>
                                  <p:childTnLst>
                                    <p:set>
                                      <p:cBhvr>
                                        <p:cTn id="92" dur="1" fill="hold">
                                          <p:stCondLst>
                                            <p:cond delay="0"/>
                                          </p:stCondLst>
                                        </p:cTn>
                                        <p:tgtEl>
                                          <p:spTgt spid="17"/>
                                        </p:tgtEl>
                                        <p:attrNameLst>
                                          <p:attrName>style.visibility</p:attrName>
                                        </p:attrNameLst>
                                      </p:cBhvr>
                                      <p:to>
                                        <p:strVal val="visible"/>
                                      </p:to>
                                    </p:set>
                                    <p:animEffect transition="in" filter="fade">
                                      <p:cBhvr>
                                        <p:cTn id="93" dur="500"/>
                                        <p:tgtEl>
                                          <p:spTgt spid="17"/>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500"/>
                                        <p:tgtEl>
                                          <p:spTgt spid="23"/>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fade">
                                      <p:cBhvr>
                                        <p:cTn id="103" dur="500"/>
                                        <p:tgtEl>
                                          <p:spTgt spid="30"/>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xit" presetSubtype="0" fill="hold" grpId="1" nodeType="clickEffect">
                                  <p:stCondLst>
                                    <p:cond delay="0"/>
                                  </p:stCondLst>
                                  <p:childTnLst>
                                    <p:animEffect transition="out" filter="fade">
                                      <p:cBhvr>
                                        <p:cTn id="107" dur="500"/>
                                        <p:tgtEl>
                                          <p:spTgt spid="30"/>
                                        </p:tgtEl>
                                      </p:cBhvr>
                                    </p:animEffect>
                                    <p:set>
                                      <p:cBhvr>
                                        <p:cTn id="108" dur="1" fill="hold">
                                          <p:stCondLst>
                                            <p:cond delay="499"/>
                                          </p:stCondLst>
                                        </p:cTn>
                                        <p:tgtEl>
                                          <p:spTgt spid="30"/>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500"/>
                                        <p:tgtEl>
                                          <p:spTgt spid="24"/>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500"/>
                                        <p:tgtEl>
                                          <p:spTgt spid="38"/>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3" dur="500"/>
                                        <p:tgtEl>
                                          <p:spTgt spid="46"/>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8" dur="500"/>
                                        <p:tgtEl>
                                          <p:spTgt spid="47"/>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xit" presetSubtype="0" fill="hold" grpId="1" nodeType="clickEffect">
                                  <p:stCondLst>
                                    <p:cond delay="0"/>
                                  </p:stCondLst>
                                  <p:childTnLst>
                                    <p:animEffect transition="out" filter="fade">
                                      <p:cBhvr>
                                        <p:cTn id="132" dur="500"/>
                                        <p:tgtEl>
                                          <p:spTgt spid="47"/>
                                        </p:tgtEl>
                                      </p:cBhvr>
                                    </p:animEffect>
                                    <p:set>
                                      <p:cBhvr>
                                        <p:cTn id="133" dur="1" fill="hold">
                                          <p:stCondLst>
                                            <p:cond delay="499"/>
                                          </p:stCondLst>
                                        </p:cTn>
                                        <p:tgtEl>
                                          <p:spTgt spid="47"/>
                                        </p:tgtEl>
                                        <p:attrNameLst>
                                          <p:attrName>style.visibility</p:attrName>
                                        </p:attrNameLst>
                                      </p:cBhvr>
                                      <p:to>
                                        <p:strVal val="hidden"/>
                                      </p:to>
                                    </p:se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40"/>
                                        </p:tgtEl>
                                        <p:attrNameLst>
                                          <p:attrName>style.visibility</p:attrName>
                                        </p:attrNameLst>
                                      </p:cBhvr>
                                      <p:to>
                                        <p:strVal val="visible"/>
                                      </p:to>
                                    </p:set>
                                    <p:animEffect transition="in" filter="fade">
                                      <p:cBhvr>
                                        <p:cTn id="138" dur="500"/>
                                        <p:tgtEl>
                                          <p:spTgt spid="40"/>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41"/>
                                        </p:tgtEl>
                                        <p:attrNameLst>
                                          <p:attrName>style.visibility</p:attrName>
                                        </p:attrNameLst>
                                      </p:cBhvr>
                                      <p:to>
                                        <p:strVal val="visible"/>
                                      </p:to>
                                    </p:set>
                                    <p:animEffect transition="in" filter="fade">
                                      <p:cBhvr>
                                        <p:cTn id="143" dur="500"/>
                                        <p:tgtEl>
                                          <p:spTgt spid="41"/>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xit" presetSubtype="0" fill="hold" grpId="1" nodeType="clickEffect">
                                  <p:stCondLst>
                                    <p:cond delay="0"/>
                                  </p:stCondLst>
                                  <p:childTnLst>
                                    <p:animEffect transition="out" filter="fade">
                                      <p:cBhvr>
                                        <p:cTn id="147" dur="500"/>
                                        <p:tgtEl>
                                          <p:spTgt spid="38"/>
                                        </p:tgtEl>
                                      </p:cBhvr>
                                    </p:animEffect>
                                    <p:set>
                                      <p:cBhvr>
                                        <p:cTn id="148" dur="1" fill="hold">
                                          <p:stCondLst>
                                            <p:cond delay="499"/>
                                          </p:stCondLst>
                                        </p:cTn>
                                        <p:tgtEl>
                                          <p:spTgt spid="38"/>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25"/>
                                        </p:tgtEl>
                                        <p:attrNameLst>
                                          <p:attrName>style.visibility</p:attrName>
                                        </p:attrNameLst>
                                      </p:cBhvr>
                                      <p:to>
                                        <p:strVal val="visible"/>
                                      </p:to>
                                    </p:set>
                                    <p:animEffect transition="in" filter="fade">
                                      <p:cBhvr>
                                        <p:cTn id="153" dur="500"/>
                                        <p:tgtEl>
                                          <p:spTgt spid="25"/>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39"/>
                                        </p:tgtEl>
                                        <p:attrNameLst>
                                          <p:attrName>style.visibility</p:attrName>
                                        </p:attrNameLst>
                                      </p:cBhvr>
                                      <p:to>
                                        <p:strVal val="visible"/>
                                      </p:to>
                                    </p:set>
                                    <p:animEffect transition="in" filter="fade">
                                      <p:cBhvr>
                                        <p:cTn id="158" dur="500"/>
                                        <p:tgtEl>
                                          <p:spTgt spid="39"/>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xit" presetSubtype="0" fill="hold" grpId="1" nodeType="clickEffect">
                                  <p:stCondLst>
                                    <p:cond delay="0"/>
                                  </p:stCondLst>
                                  <p:childTnLst>
                                    <p:animEffect transition="out" filter="fade">
                                      <p:cBhvr>
                                        <p:cTn id="162" dur="500"/>
                                        <p:tgtEl>
                                          <p:spTgt spid="39"/>
                                        </p:tgtEl>
                                      </p:cBhvr>
                                    </p:animEffect>
                                    <p:set>
                                      <p:cBhvr>
                                        <p:cTn id="163" dur="1" fill="hold">
                                          <p:stCondLst>
                                            <p:cond delay="499"/>
                                          </p:stCondLst>
                                        </p:cTn>
                                        <p:tgtEl>
                                          <p:spTgt spid="39"/>
                                        </p:tgtEl>
                                        <p:attrNameLst>
                                          <p:attrName>style.visibility</p:attrName>
                                        </p:attrNameLst>
                                      </p:cBhvr>
                                      <p:to>
                                        <p:strVal val="hidden"/>
                                      </p:to>
                                    </p:se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nodeType="clickEffect">
                                  <p:stCondLst>
                                    <p:cond delay="0"/>
                                  </p:stCondLst>
                                  <p:childTnLst>
                                    <p:set>
                                      <p:cBhvr>
                                        <p:cTn id="167" dur="1" fill="hold">
                                          <p:stCondLst>
                                            <p:cond delay="0"/>
                                          </p:stCondLst>
                                        </p:cTn>
                                        <p:tgtEl>
                                          <p:spTgt spid="18"/>
                                        </p:tgtEl>
                                        <p:attrNameLst>
                                          <p:attrName>style.visibility</p:attrName>
                                        </p:attrNameLst>
                                      </p:cBhvr>
                                      <p:to>
                                        <p:strVal val="visible"/>
                                      </p:to>
                                    </p:set>
                                    <p:animEffect transition="in" filter="fade">
                                      <p:cBhvr>
                                        <p:cTn id="168" dur="500"/>
                                        <p:tgtEl>
                                          <p:spTgt spid="18"/>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grpId="0" nodeType="clickEffect">
                                  <p:stCondLst>
                                    <p:cond delay="0"/>
                                  </p:stCondLst>
                                  <p:childTnLst>
                                    <p:set>
                                      <p:cBhvr>
                                        <p:cTn id="172" dur="1" fill="hold">
                                          <p:stCondLst>
                                            <p:cond delay="0"/>
                                          </p:stCondLst>
                                        </p:cTn>
                                        <p:tgtEl>
                                          <p:spTgt spid="45"/>
                                        </p:tgtEl>
                                        <p:attrNameLst>
                                          <p:attrName>style.visibility</p:attrName>
                                        </p:attrNameLst>
                                      </p:cBhvr>
                                      <p:to>
                                        <p:strVal val="visible"/>
                                      </p:to>
                                    </p:set>
                                    <p:animEffect transition="in" filter="fade">
                                      <p:cBhvr>
                                        <p:cTn id="173" dur="500"/>
                                        <p:tgtEl>
                                          <p:spTgt spid="45"/>
                                        </p:tgtEl>
                                      </p:cBhvr>
                                    </p:animEffect>
                                  </p:childTnLst>
                                </p:cTn>
                              </p:par>
                            </p:childTnLst>
                          </p:cTn>
                        </p:par>
                      </p:childTnLst>
                    </p:cTn>
                  </p:par>
                  <p:par>
                    <p:cTn id="174" fill="hold">
                      <p:stCondLst>
                        <p:cond delay="indefinite"/>
                      </p:stCondLst>
                      <p:childTnLst>
                        <p:par>
                          <p:cTn id="175" fill="hold">
                            <p:stCondLst>
                              <p:cond delay="0"/>
                            </p:stCondLst>
                            <p:childTnLst>
                              <p:par>
                                <p:cTn id="176" presetID="10" presetClass="entr" presetSubtype="0" fill="hold" grpId="0" nodeType="clickEffect">
                                  <p:stCondLst>
                                    <p:cond delay="0"/>
                                  </p:stCondLst>
                                  <p:childTnLst>
                                    <p:set>
                                      <p:cBhvr>
                                        <p:cTn id="177" dur="1" fill="hold">
                                          <p:stCondLst>
                                            <p:cond delay="0"/>
                                          </p:stCondLst>
                                        </p:cTn>
                                        <p:tgtEl>
                                          <p:spTgt spid="44"/>
                                        </p:tgtEl>
                                        <p:attrNameLst>
                                          <p:attrName>style.visibility</p:attrName>
                                        </p:attrNameLst>
                                      </p:cBhvr>
                                      <p:to>
                                        <p:strVal val="visible"/>
                                      </p:to>
                                    </p:set>
                                    <p:animEffect transition="in" filter="fade">
                                      <p:cBhvr>
                                        <p:cTn id="178" dur="500"/>
                                        <p:tgtEl>
                                          <p:spTgt spid="44"/>
                                        </p:tgtEl>
                                      </p:cBhvr>
                                    </p:animEffect>
                                  </p:childTnLst>
                                </p:cTn>
                              </p:par>
                            </p:childTnLst>
                          </p:cTn>
                        </p:par>
                      </p:childTnLst>
                    </p:cTn>
                  </p:par>
                  <p:par>
                    <p:cTn id="179" fill="hold">
                      <p:stCondLst>
                        <p:cond delay="indefinite"/>
                      </p:stCondLst>
                      <p:childTnLst>
                        <p:par>
                          <p:cTn id="180" fill="hold">
                            <p:stCondLst>
                              <p:cond delay="0"/>
                            </p:stCondLst>
                            <p:childTnLst>
                              <p:par>
                                <p:cTn id="181" presetID="10" presetClass="entr" presetSubtype="0" fill="hold" grpId="0" nodeType="clickEffect">
                                  <p:stCondLst>
                                    <p:cond delay="0"/>
                                  </p:stCondLst>
                                  <p:childTnLst>
                                    <p:set>
                                      <p:cBhvr>
                                        <p:cTn id="182" dur="1" fill="hold">
                                          <p:stCondLst>
                                            <p:cond delay="0"/>
                                          </p:stCondLst>
                                        </p:cTn>
                                        <p:tgtEl>
                                          <p:spTgt spid="3">
                                            <p:txEl>
                                              <p:pRg st="0" end="0"/>
                                            </p:txEl>
                                          </p:spTgt>
                                        </p:tgtEl>
                                        <p:attrNameLst>
                                          <p:attrName>style.visibility</p:attrName>
                                        </p:attrNameLst>
                                      </p:cBhvr>
                                      <p:to>
                                        <p:strVal val="visible"/>
                                      </p:to>
                                    </p:set>
                                    <p:animEffect transition="in" filter="fade">
                                      <p:cBhvr>
                                        <p:cTn id="18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6" grpId="0" animBg="1"/>
      <p:bldP spid="22" grpId="0" animBg="1"/>
      <p:bldP spid="21" grpId="0" animBg="1"/>
      <p:bldP spid="5" grpId="0" animBg="1"/>
      <p:bldP spid="7" grpId="0" animBg="1"/>
      <p:bldP spid="9" grpId="0" animBg="1"/>
      <p:bldP spid="10" grpId="0" animBg="1"/>
      <p:bldP spid="35" grpId="0" animBg="1"/>
      <p:bldP spid="35" grpId="1" animBg="1"/>
      <p:bldP spid="36" grpId="0" animBg="1"/>
      <p:bldP spid="36" grpId="1" animBg="1"/>
      <p:bldP spid="19" grpId="0" animBg="1"/>
      <p:bldP spid="20" grpId="0" animBg="1"/>
      <p:bldP spid="23" grpId="0" animBg="1"/>
      <p:bldP spid="24" grpId="0" animBg="1"/>
      <p:bldP spid="25" grpId="0" animBg="1"/>
      <p:bldP spid="30" grpId="0" animBg="1"/>
      <p:bldP spid="30" grpId="1" animBg="1"/>
      <p:bldP spid="38" grpId="0" animBg="1"/>
      <p:bldP spid="38" grpId="1" animBg="1"/>
      <p:bldP spid="39" grpId="0" animBg="1"/>
      <p:bldP spid="39" grpId="1" animBg="1"/>
      <p:bldP spid="40" grpId="0" animBg="1"/>
      <p:bldP spid="44" grpId="0" animBg="1"/>
      <p:bldP spid="45" grpId="0"/>
      <p:bldP spid="47" grpId="0" animBg="1"/>
      <p:bldP spid="47"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384A5-5E7A-3487-657D-2A6563AFA36B}"/>
            </a:ext>
          </a:extLst>
        </p:cNvPr>
        <p:cNvGrpSpPr/>
        <p:nvPr/>
      </p:nvGrpSpPr>
      <p:grpSpPr>
        <a:xfrm>
          <a:off x="0" y="0"/>
          <a:ext cx="0" cy="0"/>
          <a:chOff x="0" y="0"/>
          <a:chExt cx="0" cy="0"/>
        </a:xfrm>
      </p:grpSpPr>
      <p:sp>
        <p:nvSpPr>
          <p:cNvPr id="7" name="吹き出し: 四角形 6">
            <a:extLst>
              <a:ext uri="{FF2B5EF4-FFF2-40B4-BE49-F238E27FC236}">
                <a16:creationId xmlns:a16="http://schemas.microsoft.com/office/drawing/2014/main" id="{EABD8607-2DBC-AB62-5C56-A29C69049C38}"/>
              </a:ext>
            </a:extLst>
          </p:cNvPr>
          <p:cNvSpPr/>
          <p:nvPr/>
        </p:nvSpPr>
        <p:spPr bwMode="auto">
          <a:xfrm>
            <a:off x="1781175" y="5763443"/>
            <a:ext cx="5895975" cy="719293"/>
          </a:xfrm>
          <a:prstGeom prst="wedgeRectCallout">
            <a:avLst>
              <a:gd name="adj1" fmla="val 53965"/>
              <a:gd name="adj2" fmla="val -36816"/>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85750" indent="-285750" defTabSz="908410" fontAlgn="base">
              <a:spcAft>
                <a:spcPct val="0"/>
              </a:spcAft>
              <a:buFont typeface="Arial" panose="020B0604020202020204" pitchFamily="34" charset="0"/>
              <a:buChar char="•"/>
            </a:pPr>
            <a:r>
              <a:rPr lang="en-US" altLang="ja-JP" sz="1600" dirty="0">
                <a:solidFill>
                  <a:prstClr val="black"/>
                </a:solidFill>
                <a:latin typeface="Meiryo UI" panose="020B0604030504040204" pitchFamily="50" charset="-128"/>
                <a:ea typeface="Meiryo UI" panose="020B0604030504040204" pitchFamily="50" charset="-128"/>
              </a:rPr>
              <a:t>MTBJ</a:t>
            </a:r>
            <a:r>
              <a:rPr lang="ja-JP" altLang="en-US" sz="1600" dirty="0">
                <a:solidFill>
                  <a:prstClr val="black"/>
                </a:solidFill>
                <a:latin typeface="Meiryo UI" panose="020B0604030504040204" pitchFamily="50" charset="-128"/>
                <a:ea typeface="Meiryo UI" panose="020B0604030504040204" pitchFamily="50" charset="-128"/>
              </a:rPr>
              <a:t>は、</a:t>
            </a:r>
            <a:r>
              <a:rPr lang="en-US" altLang="ja-JP" sz="1600" dirty="0">
                <a:solidFill>
                  <a:prstClr val="black"/>
                </a:solidFill>
                <a:latin typeface="Meiryo UI" panose="020B0604030504040204" pitchFamily="50" charset="-128"/>
                <a:ea typeface="Meiryo UI" panose="020B0604030504040204" pitchFamily="50" charset="-128"/>
              </a:rPr>
              <a:t>770</a:t>
            </a:r>
            <a:r>
              <a:rPr lang="ja-JP" altLang="en-US" sz="1600" dirty="0">
                <a:solidFill>
                  <a:prstClr val="black"/>
                </a:solidFill>
                <a:latin typeface="Meiryo UI" panose="020B0604030504040204" pitchFamily="50" charset="-128"/>
                <a:ea typeface="Meiryo UI" panose="020B0604030504040204" pitchFamily="50" charset="-128"/>
              </a:rPr>
              <a:t>兆円の帳簿管理している会社</a:t>
            </a:r>
            <a:endParaRPr lang="en-US" altLang="ja-JP" sz="1600" dirty="0">
              <a:solidFill>
                <a:prstClr val="black"/>
              </a:solidFill>
              <a:latin typeface="Meiryo UI" panose="020B0604030504040204" pitchFamily="50" charset="-128"/>
              <a:ea typeface="Meiryo UI" panose="020B0604030504040204" pitchFamily="50" charset="-128"/>
            </a:endParaRPr>
          </a:p>
          <a:p>
            <a:pPr marL="285750" indent="-285750" defTabSz="908410" fontAlgn="base">
              <a:spcAft>
                <a:spcPct val="0"/>
              </a:spcAft>
              <a:buFont typeface="Arial" panose="020B0604020202020204" pitchFamily="34" charset="0"/>
              <a:buChar char="•"/>
            </a:pPr>
            <a:r>
              <a:rPr lang="ja-JP" altLang="en-US" sz="1600" dirty="0">
                <a:solidFill>
                  <a:prstClr val="black"/>
                </a:solidFill>
                <a:latin typeface="Meiryo UI" panose="020B0604030504040204" pitchFamily="50" charset="-128"/>
                <a:ea typeface="Meiryo UI" panose="020B0604030504040204" pitchFamily="50" charset="-128"/>
              </a:rPr>
              <a:t>実は</a:t>
            </a:r>
            <a:r>
              <a:rPr lang="en-US" altLang="ja-JP" sz="1600" dirty="0" err="1">
                <a:solidFill>
                  <a:prstClr val="black"/>
                </a:solidFill>
                <a:latin typeface="Meiryo UI" panose="020B0604030504040204" pitchFamily="50" charset="-128"/>
                <a:ea typeface="Meiryo UI" panose="020B0604030504040204" pitchFamily="50" charset="-128"/>
              </a:rPr>
              <a:t>BigData</a:t>
            </a:r>
            <a:r>
              <a:rPr lang="ja-JP" altLang="en-US" sz="1600" dirty="0">
                <a:solidFill>
                  <a:prstClr val="black"/>
                </a:solidFill>
                <a:latin typeface="Meiryo UI" panose="020B0604030504040204" pitchFamily="50" charset="-128"/>
                <a:ea typeface="Meiryo UI" panose="020B0604030504040204" pitchFamily="50" charset="-128"/>
              </a:rPr>
              <a:t>を保有する会社でその還元・活用がアツい！！</a:t>
            </a:r>
          </a:p>
        </p:txBody>
      </p:sp>
      <p:sp>
        <p:nvSpPr>
          <p:cNvPr id="2" name="タイトル 1">
            <a:extLst>
              <a:ext uri="{FF2B5EF4-FFF2-40B4-BE49-F238E27FC236}">
                <a16:creationId xmlns:a16="http://schemas.microsoft.com/office/drawing/2014/main" id="{0DFA8F20-3B07-D0C3-AD0C-13C7C57DA774}"/>
              </a:ext>
            </a:extLst>
          </p:cNvPr>
          <p:cNvSpPr>
            <a:spLocks noGrp="1"/>
          </p:cNvSpPr>
          <p:nvPr>
            <p:ph type="title"/>
          </p:nvPr>
        </p:nvSpPr>
        <p:spPr/>
        <p:txBody>
          <a:bodyPr/>
          <a:lstStyle/>
          <a:p>
            <a:r>
              <a:rPr lang="en-US" altLang="ja-JP" dirty="0"/>
              <a:t>2. </a:t>
            </a:r>
            <a:r>
              <a:rPr lang="ja-JP" altLang="en-US" dirty="0"/>
              <a:t>日本マスタートラスト信託銀行（</a:t>
            </a:r>
            <a:r>
              <a:rPr lang="en-US" altLang="ja-JP" dirty="0"/>
              <a:t>MTBJ</a:t>
            </a:r>
            <a:r>
              <a:rPr lang="ja-JP" altLang="en-US" dirty="0"/>
              <a:t>）とは？</a:t>
            </a:r>
            <a:endParaRPr kumimoji="1" lang="ja-JP" altLang="en-US" dirty="0"/>
          </a:p>
        </p:txBody>
      </p:sp>
      <p:sp>
        <p:nvSpPr>
          <p:cNvPr id="3" name="テキスト プレースホルダー 2">
            <a:extLst>
              <a:ext uri="{FF2B5EF4-FFF2-40B4-BE49-F238E27FC236}">
                <a16:creationId xmlns:a16="http://schemas.microsoft.com/office/drawing/2014/main" id="{1594FDB1-80BA-44A1-4E23-14F2F3977550}"/>
              </a:ext>
            </a:extLst>
          </p:cNvPr>
          <p:cNvSpPr>
            <a:spLocks noGrp="1"/>
          </p:cNvSpPr>
          <p:nvPr>
            <p:ph type="body" idx="12"/>
          </p:nvPr>
        </p:nvSpPr>
        <p:spPr>
          <a:xfrm>
            <a:off x="488999" y="969722"/>
            <a:ext cx="9131121" cy="669414"/>
          </a:xfrm>
        </p:spPr>
        <p:txBody>
          <a:bodyPr/>
          <a:lstStyle/>
          <a:p>
            <a:r>
              <a:rPr lang="ja-JP" altLang="en-US" dirty="0"/>
              <a:t>日本マスタートラストトラスト信託銀行は、日本で２つしかないカストディで、７７０兆円を管理しています。</a:t>
            </a:r>
            <a:endParaRPr lang="en-US" altLang="ja-JP" dirty="0"/>
          </a:p>
        </p:txBody>
      </p:sp>
      <p:sp>
        <p:nvSpPr>
          <p:cNvPr id="4" name="テキスト プレースホルダー 3">
            <a:extLst>
              <a:ext uri="{FF2B5EF4-FFF2-40B4-BE49-F238E27FC236}">
                <a16:creationId xmlns:a16="http://schemas.microsoft.com/office/drawing/2014/main" id="{627BB87A-0A88-490D-0D01-675C3D8C0D00}"/>
              </a:ext>
            </a:extLst>
          </p:cNvPr>
          <p:cNvSpPr>
            <a:spLocks noGrp="1"/>
          </p:cNvSpPr>
          <p:nvPr>
            <p:ph type="body" sz="quarter" idx="13"/>
          </p:nvPr>
        </p:nvSpPr>
        <p:spPr/>
        <p:txBody>
          <a:bodyPr/>
          <a:lstStyle/>
          <a:p>
            <a:r>
              <a:rPr lang="en-US" altLang="ja-JP" dirty="0">
                <a:solidFill>
                  <a:prstClr val="black"/>
                </a:solidFill>
              </a:rPr>
              <a:t>1. MTBJ/MUSK</a:t>
            </a:r>
            <a:r>
              <a:rPr lang="ja-JP" altLang="en-US" dirty="0">
                <a:solidFill>
                  <a:prstClr val="black"/>
                </a:solidFill>
              </a:rPr>
              <a:t>の概要</a:t>
            </a:r>
            <a:endParaRPr kumimoji="1" lang="ja-JP" altLang="en-US" dirty="0"/>
          </a:p>
        </p:txBody>
      </p:sp>
      <p:pic>
        <p:nvPicPr>
          <p:cNvPr id="14" name="図 13">
            <a:extLst>
              <a:ext uri="{FF2B5EF4-FFF2-40B4-BE49-F238E27FC236}">
                <a16:creationId xmlns:a16="http://schemas.microsoft.com/office/drawing/2014/main" id="{CE4E98C4-C8C6-246F-8BBE-8D173A8843D9}"/>
              </a:ext>
            </a:extLst>
          </p:cNvPr>
          <p:cNvPicPr>
            <a:picLocks noChangeAspect="1"/>
          </p:cNvPicPr>
          <p:nvPr/>
        </p:nvPicPr>
        <p:blipFill>
          <a:blip r:embed="rId3"/>
          <a:stretch>
            <a:fillRect/>
          </a:stretch>
        </p:blipFill>
        <p:spPr>
          <a:xfrm>
            <a:off x="859115" y="1806519"/>
            <a:ext cx="8186777" cy="3789542"/>
          </a:xfrm>
          <a:prstGeom prst="rect">
            <a:avLst/>
          </a:prstGeom>
        </p:spPr>
      </p:pic>
      <p:pic>
        <p:nvPicPr>
          <p:cNvPr id="5" name="カメラ 4">
            <a:extLst>
              <a:ext uri="{FF2B5EF4-FFF2-40B4-BE49-F238E27FC236}">
                <a16:creationId xmlns:a16="http://schemas.microsoft.com/office/drawing/2014/main" id="{F763D8D4-577C-030E-1DB5-21ABDF2A1B84}"/>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7908188" y="5203055"/>
            <a:ext cx="1545755" cy="1545755"/>
          </a:xfrm>
          <a:prstGeom prst="ellipse">
            <a:avLst/>
          </a:prstGeom>
        </p:spPr>
      </p:pic>
    </p:spTree>
    <p:extLst>
      <p:ext uri="{BB962C8B-B14F-4D97-AF65-F5344CB8AC3E}">
        <p14:creationId xmlns:p14="http://schemas.microsoft.com/office/powerpoint/2010/main" val="10383568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201D2-D628-725C-3D39-106A45AC03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B96ED0-6827-40CC-29F0-206FAC4D5F0F}"/>
              </a:ext>
            </a:extLst>
          </p:cNvPr>
          <p:cNvSpPr>
            <a:spLocks noGrp="1"/>
          </p:cNvSpPr>
          <p:nvPr>
            <p:ph type="title"/>
          </p:nvPr>
        </p:nvSpPr>
        <p:spPr/>
        <p:txBody>
          <a:bodyPr/>
          <a:lstStyle/>
          <a:p>
            <a:r>
              <a:rPr lang="ja-JP" altLang="en-US" dirty="0"/>
              <a:t>３</a:t>
            </a:r>
            <a:r>
              <a:rPr kumimoji="1" lang="en-US" altLang="ja-JP" dirty="0"/>
              <a:t>. </a:t>
            </a:r>
            <a:r>
              <a:rPr kumimoji="1" lang="ja-JP" altLang="en-US" dirty="0"/>
              <a:t>どこにあるのか？</a:t>
            </a:r>
          </a:p>
        </p:txBody>
      </p:sp>
      <p:sp>
        <p:nvSpPr>
          <p:cNvPr id="3" name="テキスト プレースホルダー 2">
            <a:extLst>
              <a:ext uri="{FF2B5EF4-FFF2-40B4-BE49-F238E27FC236}">
                <a16:creationId xmlns:a16="http://schemas.microsoft.com/office/drawing/2014/main" id="{68D7560B-4567-253E-A8B2-05A79350969F}"/>
              </a:ext>
            </a:extLst>
          </p:cNvPr>
          <p:cNvSpPr>
            <a:spLocks noGrp="1"/>
          </p:cNvSpPr>
          <p:nvPr>
            <p:ph type="body" idx="12"/>
          </p:nvPr>
        </p:nvSpPr>
        <p:spPr>
          <a:xfrm>
            <a:off x="488999" y="969722"/>
            <a:ext cx="9131121" cy="669414"/>
          </a:xfrm>
        </p:spPr>
        <p:txBody>
          <a:bodyPr/>
          <a:lstStyle/>
          <a:p>
            <a:r>
              <a:rPr lang="en-US" altLang="ja-JP" dirty="0"/>
              <a:t>AIR</a:t>
            </a:r>
            <a:r>
              <a:rPr lang="ja-JP" altLang="en-US" dirty="0"/>
              <a:t>の</a:t>
            </a:r>
            <a:r>
              <a:rPr lang="en-US" altLang="ja-JP" dirty="0"/>
              <a:t>29F/30F/34F/35F</a:t>
            </a:r>
            <a:r>
              <a:rPr lang="ja-JP" altLang="en-US" dirty="0"/>
              <a:t>にあります。</a:t>
            </a:r>
            <a:endParaRPr kumimoji="1" lang="ja-JP" altLang="en-US" dirty="0"/>
          </a:p>
        </p:txBody>
      </p:sp>
      <p:sp>
        <p:nvSpPr>
          <p:cNvPr id="4" name="テキスト プレースホルダー 3">
            <a:extLst>
              <a:ext uri="{FF2B5EF4-FFF2-40B4-BE49-F238E27FC236}">
                <a16:creationId xmlns:a16="http://schemas.microsoft.com/office/drawing/2014/main" id="{47130741-70D1-A731-C5C0-47A846B654E4}"/>
              </a:ext>
            </a:extLst>
          </p:cNvPr>
          <p:cNvSpPr>
            <a:spLocks noGrp="1"/>
          </p:cNvSpPr>
          <p:nvPr>
            <p:ph type="body" sz="quarter" idx="13"/>
          </p:nvPr>
        </p:nvSpPr>
        <p:spPr/>
        <p:txBody>
          <a:bodyPr/>
          <a:lstStyle/>
          <a:p>
            <a:r>
              <a:rPr lang="en-US" altLang="ja-JP" dirty="0">
                <a:solidFill>
                  <a:prstClr val="black"/>
                </a:solidFill>
              </a:rPr>
              <a:t>1. MTBJ/MUSK</a:t>
            </a:r>
            <a:r>
              <a:rPr lang="ja-JP" altLang="en-US" dirty="0">
                <a:solidFill>
                  <a:prstClr val="black"/>
                </a:solidFill>
              </a:rPr>
              <a:t>の概要</a:t>
            </a:r>
            <a:endParaRPr kumimoji="1" lang="ja-JP" altLang="en-US" dirty="0"/>
          </a:p>
        </p:txBody>
      </p:sp>
      <p:pic>
        <p:nvPicPr>
          <p:cNvPr id="14" name="図 13">
            <a:extLst>
              <a:ext uri="{FF2B5EF4-FFF2-40B4-BE49-F238E27FC236}">
                <a16:creationId xmlns:a16="http://schemas.microsoft.com/office/drawing/2014/main" id="{C5E05534-3039-D325-4639-5438CF89BD08}"/>
              </a:ext>
            </a:extLst>
          </p:cNvPr>
          <p:cNvPicPr>
            <a:picLocks noChangeAspect="1"/>
          </p:cNvPicPr>
          <p:nvPr/>
        </p:nvPicPr>
        <p:blipFill>
          <a:blip r:embed="rId3"/>
          <a:srcRect l="16018" r="15913" b="8283"/>
          <a:stretch>
            <a:fillRect/>
          </a:stretch>
        </p:blipFill>
        <p:spPr>
          <a:xfrm>
            <a:off x="508453" y="2131983"/>
            <a:ext cx="4186842" cy="37623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矢印: 右 14">
            <a:extLst>
              <a:ext uri="{FF2B5EF4-FFF2-40B4-BE49-F238E27FC236}">
                <a16:creationId xmlns:a16="http://schemas.microsoft.com/office/drawing/2014/main" id="{EF7C3013-D023-AFD5-8390-FAD1CED0E89A}"/>
              </a:ext>
            </a:extLst>
          </p:cNvPr>
          <p:cNvSpPr/>
          <p:nvPr/>
        </p:nvSpPr>
        <p:spPr bwMode="auto">
          <a:xfrm>
            <a:off x="1630947" y="4831634"/>
            <a:ext cx="551917" cy="373606"/>
          </a:xfrm>
          <a:prstGeom prst="rightArrow">
            <a:avLst/>
          </a:prstGeom>
          <a:solidFill>
            <a:schemeClr val="accent1">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pic>
        <p:nvPicPr>
          <p:cNvPr id="1026" name="Picture 2">
            <a:extLst>
              <a:ext uri="{FF2B5EF4-FFF2-40B4-BE49-F238E27FC236}">
                <a16:creationId xmlns:a16="http://schemas.microsoft.com/office/drawing/2014/main" id="{673575B6-194C-0E36-36C3-DC7E32C0A8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5674" y="2301023"/>
            <a:ext cx="787190" cy="78719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図 19">
            <a:extLst>
              <a:ext uri="{FF2B5EF4-FFF2-40B4-BE49-F238E27FC236}">
                <a16:creationId xmlns:a16="http://schemas.microsoft.com/office/drawing/2014/main" id="{DA5A10A8-65A3-8C4A-9AAB-E6B19E66D86C}"/>
              </a:ext>
            </a:extLst>
          </p:cNvPr>
          <p:cNvPicPr>
            <a:picLocks noChangeAspect="1"/>
          </p:cNvPicPr>
          <p:nvPr/>
        </p:nvPicPr>
        <p:blipFill>
          <a:blip r:embed="rId5"/>
          <a:stretch>
            <a:fillRect/>
          </a:stretch>
        </p:blipFill>
        <p:spPr>
          <a:xfrm>
            <a:off x="5844645" y="2125922"/>
            <a:ext cx="3775475" cy="37623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正方形/長方形 21">
            <a:extLst>
              <a:ext uri="{FF2B5EF4-FFF2-40B4-BE49-F238E27FC236}">
                <a16:creationId xmlns:a16="http://schemas.microsoft.com/office/drawing/2014/main" id="{2ECEF46B-8044-9132-F8F6-56513D2FA39C}"/>
              </a:ext>
            </a:extLst>
          </p:cNvPr>
          <p:cNvSpPr/>
          <p:nvPr/>
        </p:nvSpPr>
        <p:spPr bwMode="auto">
          <a:xfrm>
            <a:off x="5844645" y="6113124"/>
            <a:ext cx="3775475" cy="261940"/>
          </a:xfrm>
          <a:prstGeom prst="rect">
            <a:avLst/>
          </a:prstGeom>
          <a:solidFill>
            <a:schemeClr val="accent1">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400" b="1" dirty="0">
                <a:solidFill>
                  <a:prstClr val="black"/>
                </a:solidFill>
                <a:latin typeface="Meiryo UI" panose="020B0604030504040204" pitchFamily="50" charset="-128"/>
                <a:ea typeface="Meiryo UI" panose="020B0604030504040204" pitchFamily="50" charset="-128"/>
              </a:rPr>
              <a:t>AIC</a:t>
            </a:r>
            <a:endParaRPr kumimoji="1" lang="ja-JP" altLang="en-US" sz="1400" b="1" dirty="0">
              <a:solidFill>
                <a:prstClr val="black"/>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6BC3D11F-8385-994D-F38B-19C6B9A7CC7F}"/>
              </a:ext>
            </a:extLst>
          </p:cNvPr>
          <p:cNvSpPr/>
          <p:nvPr/>
        </p:nvSpPr>
        <p:spPr bwMode="auto">
          <a:xfrm>
            <a:off x="508453" y="6113124"/>
            <a:ext cx="4186842" cy="261940"/>
          </a:xfrm>
          <a:prstGeom prst="rect">
            <a:avLst/>
          </a:prstGeom>
          <a:solidFill>
            <a:schemeClr val="accent1">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400" b="1" dirty="0">
                <a:solidFill>
                  <a:prstClr val="black"/>
                </a:solidFill>
                <a:latin typeface="Meiryo UI" panose="020B0604030504040204" pitchFamily="50" charset="-128"/>
                <a:ea typeface="Meiryo UI" panose="020B0604030504040204" pitchFamily="50" charset="-128"/>
              </a:rPr>
              <a:t>AIR</a:t>
            </a:r>
            <a:endParaRPr kumimoji="1" lang="ja-JP" altLang="en-US" sz="1400" b="1" dirty="0">
              <a:solidFill>
                <a:prstClr val="black"/>
              </a:solidFill>
              <a:latin typeface="Meiryo UI" panose="020B0604030504040204" pitchFamily="50" charset="-128"/>
              <a:ea typeface="Meiryo UI" panose="020B0604030504040204" pitchFamily="50" charset="-128"/>
            </a:endParaRPr>
          </a:p>
        </p:txBody>
      </p:sp>
      <p:grpSp>
        <p:nvGrpSpPr>
          <p:cNvPr id="26" name="グループ化 25">
            <a:extLst>
              <a:ext uri="{FF2B5EF4-FFF2-40B4-BE49-F238E27FC236}">
                <a16:creationId xmlns:a16="http://schemas.microsoft.com/office/drawing/2014/main" id="{B73E714A-5DF4-FA40-9730-E80EB656F793}"/>
              </a:ext>
            </a:extLst>
          </p:cNvPr>
          <p:cNvGrpSpPr/>
          <p:nvPr/>
        </p:nvGrpSpPr>
        <p:grpSpPr>
          <a:xfrm rot="837489">
            <a:off x="4962296" y="5144325"/>
            <a:ext cx="650383" cy="1298838"/>
            <a:chOff x="-2218818" y="4517714"/>
            <a:chExt cx="952225" cy="1298838"/>
          </a:xfrm>
          <a:scene3d>
            <a:camera prst="isometricBottomDown"/>
            <a:lightRig rig="threePt" dir="t"/>
          </a:scene3d>
        </p:grpSpPr>
        <p:sp>
          <p:nvSpPr>
            <p:cNvPr id="8" name="正方形/長方形 7">
              <a:extLst>
                <a:ext uri="{FF2B5EF4-FFF2-40B4-BE49-F238E27FC236}">
                  <a16:creationId xmlns:a16="http://schemas.microsoft.com/office/drawing/2014/main" id="{DAF005BB-FBAE-BB17-B3B4-409F5F19ECD9}"/>
                </a:ext>
              </a:extLst>
            </p:cNvPr>
            <p:cNvSpPr/>
            <p:nvPr/>
          </p:nvSpPr>
          <p:spPr bwMode="auto">
            <a:xfrm>
              <a:off x="-2218818" y="5183587"/>
              <a:ext cx="952225" cy="1335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A1748165-6774-6065-F15E-814305AFA5CD}"/>
                </a:ext>
              </a:extLst>
            </p:cNvPr>
            <p:cNvSpPr/>
            <p:nvPr/>
          </p:nvSpPr>
          <p:spPr bwMode="auto">
            <a:xfrm>
              <a:off x="-2218818" y="5350055"/>
              <a:ext cx="952225" cy="1335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9ECAA812-5A0D-E7C6-ED24-7BD2F86F6521}"/>
                </a:ext>
              </a:extLst>
            </p:cNvPr>
            <p:cNvSpPr/>
            <p:nvPr/>
          </p:nvSpPr>
          <p:spPr bwMode="auto">
            <a:xfrm>
              <a:off x="-2218818" y="5516523"/>
              <a:ext cx="952225" cy="1335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A6FCB213-E22A-C0E4-1EAD-DE0EC30331FF}"/>
                </a:ext>
              </a:extLst>
            </p:cNvPr>
            <p:cNvSpPr/>
            <p:nvPr/>
          </p:nvSpPr>
          <p:spPr bwMode="auto">
            <a:xfrm>
              <a:off x="-2218818" y="5682988"/>
              <a:ext cx="952225" cy="1335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CB133751-7F17-4F08-855C-501DAA4ED2BB}"/>
                </a:ext>
              </a:extLst>
            </p:cNvPr>
            <p:cNvSpPr/>
            <p:nvPr/>
          </p:nvSpPr>
          <p:spPr bwMode="auto">
            <a:xfrm>
              <a:off x="-2218818" y="4517715"/>
              <a:ext cx="952225" cy="1335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1C8B5B61-EB0F-C766-BD94-22F957F005A7}"/>
                </a:ext>
              </a:extLst>
            </p:cNvPr>
            <p:cNvSpPr/>
            <p:nvPr/>
          </p:nvSpPr>
          <p:spPr bwMode="auto">
            <a:xfrm>
              <a:off x="-2218818" y="4684183"/>
              <a:ext cx="952225" cy="1335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8BD76CDC-679B-B844-5904-A1E35FF65B82}"/>
                </a:ext>
              </a:extLst>
            </p:cNvPr>
            <p:cNvSpPr/>
            <p:nvPr/>
          </p:nvSpPr>
          <p:spPr bwMode="auto">
            <a:xfrm>
              <a:off x="-2218818" y="4850651"/>
              <a:ext cx="952225" cy="1335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2B32AD46-1281-1C94-0D9B-17A781B47A0E}"/>
                </a:ext>
              </a:extLst>
            </p:cNvPr>
            <p:cNvSpPr/>
            <p:nvPr/>
          </p:nvSpPr>
          <p:spPr bwMode="auto">
            <a:xfrm>
              <a:off x="-2218818" y="5017119"/>
              <a:ext cx="952225" cy="1335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67E4CC42-4F9F-8C11-4C79-2B1C1F05A964}"/>
                </a:ext>
              </a:extLst>
            </p:cNvPr>
            <p:cNvSpPr/>
            <p:nvPr/>
          </p:nvSpPr>
          <p:spPr bwMode="auto">
            <a:xfrm>
              <a:off x="-2218818" y="4517714"/>
              <a:ext cx="139245" cy="1298837"/>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FC3F1D47-67D9-D9D3-9C3B-7847BEDDAF84}"/>
                </a:ext>
              </a:extLst>
            </p:cNvPr>
            <p:cNvSpPr/>
            <p:nvPr/>
          </p:nvSpPr>
          <p:spPr bwMode="auto">
            <a:xfrm>
              <a:off x="-1405838" y="4517715"/>
              <a:ext cx="139245" cy="1298837"/>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grpSp>
      <p:grpSp>
        <p:nvGrpSpPr>
          <p:cNvPr id="31" name="グループ化 30">
            <a:extLst>
              <a:ext uri="{FF2B5EF4-FFF2-40B4-BE49-F238E27FC236}">
                <a16:creationId xmlns:a16="http://schemas.microsoft.com/office/drawing/2014/main" id="{76E38D3E-9A64-A257-A9B0-1BC59B377533}"/>
              </a:ext>
            </a:extLst>
          </p:cNvPr>
          <p:cNvGrpSpPr/>
          <p:nvPr/>
        </p:nvGrpSpPr>
        <p:grpSpPr>
          <a:xfrm>
            <a:off x="7732382" y="4115455"/>
            <a:ext cx="537492" cy="1680273"/>
            <a:chOff x="7732382" y="4026555"/>
            <a:chExt cx="537492" cy="1680273"/>
          </a:xfrm>
        </p:grpSpPr>
        <p:pic>
          <p:nvPicPr>
            <p:cNvPr id="28" name="グラフィックス 27" descr="スーツとネクタイの男性">
              <a:extLst>
                <a:ext uri="{FF2B5EF4-FFF2-40B4-BE49-F238E27FC236}">
                  <a16:creationId xmlns:a16="http://schemas.microsoft.com/office/drawing/2014/main" id="{418699EC-E201-B1E0-42E0-1A7E45FE2DF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7732382" y="4354753"/>
              <a:ext cx="537492" cy="1352075"/>
            </a:xfrm>
            <a:prstGeom prst="rect">
              <a:avLst/>
            </a:prstGeom>
          </p:spPr>
        </p:pic>
        <p:sp>
          <p:nvSpPr>
            <p:cNvPr id="30" name="楕円 29">
              <a:extLst>
                <a:ext uri="{FF2B5EF4-FFF2-40B4-BE49-F238E27FC236}">
                  <a16:creationId xmlns:a16="http://schemas.microsoft.com/office/drawing/2014/main" id="{C86E32FE-AAED-344D-35D0-EFECBC4857CC}"/>
                </a:ext>
              </a:extLst>
            </p:cNvPr>
            <p:cNvSpPr/>
            <p:nvPr/>
          </p:nvSpPr>
          <p:spPr bwMode="auto">
            <a:xfrm>
              <a:off x="7732382" y="4026555"/>
              <a:ext cx="367268" cy="431550"/>
            </a:xfrm>
            <a:prstGeom prst="ellipse">
              <a:avLst/>
            </a:prstGeom>
            <a:blipFill>
              <a:blip r:embed="rId8"/>
              <a:stretch>
                <a:fillRect l="-52848" t="-7384" r="-21793" b="-47320"/>
              </a:stretch>
            </a:blip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grpSp>
      <p:pic>
        <p:nvPicPr>
          <p:cNvPr id="32" name="図 31">
            <a:extLst>
              <a:ext uri="{FF2B5EF4-FFF2-40B4-BE49-F238E27FC236}">
                <a16:creationId xmlns:a16="http://schemas.microsoft.com/office/drawing/2014/main" id="{58A80EE7-03FC-F36D-66AE-1F65224B70C1}"/>
              </a:ext>
            </a:extLst>
          </p:cNvPr>
          <p:cNvPicPr>
            <a:picLocks noChangeAspect="1"/>
          </p:cNvPicPr>
          <p:nvPr/>
        </p:nvPicPr>
        <p:blipFill>
          <a:blip r:embed="rId9"/>
          <a:srcRect l="19408" t="25143" r="19408" b="32666"/>
          <a:stretch>
            <a:fillRect/>
          </a:stretch>
        </p:blipFill>
        <p:spPr>
          <a:xfrm>
            <a:off x="388103" y="4776596"/>
            <a:ext cx="1218012" cy="494063"/>
          </a:xfrm>
          <a:prstGeom prst="rect">
            <a:avLst/>
          </a:prstGeom>
          <a:effectLst>
            <a:outerShdw blurRad="50800" dist="38100" dir="2700000" algn="tl" rotWithShape="0">
              <a:prstClr val="black">
                <a:alpha val="40000"/>
              </a:prstClr>
            </a:outerShdw>
          </a:effectLst>
        </p:spPr>
      </p:pic>
      <p:sp>
        <p:nvSpPr>
          <p:cNvPr id="33" name="正方形/長方形 32">
            <a:extLst>
              <a:ext uri="{FF2B5EF4-FFF2-40B4-BE49-F238E27FC236}">
                <a16:creationId xmlns:a16="http://schemas.microsoft.com/office/drawing/2014/main" id="{B6BEE06A-4D33-F0C6-EBB2-F96A7A2FE224}"/>
              </a:ext>
            </a:extLst>
          </p:cNvPr>
          <p:cNvSpPr/>
          <p:nvPr/>
        </p:nvSpPr>
        <p:spPr bwMode="auto">
          <a:xfrm>
            <a:off x="2552453" y="4120316"/>
            <a:ext cx="1166355" cy="1737133"/>
          </a:xfrm>
          <a:prstGeom prst="rect">
            <a:avLst/>
          </a:prstGeom>
          <a:solidFill>
            <a:schemeClr val="bg1">
              <a:lumMod val="75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81152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5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1"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grpId="0" nodeType="clickEffect">
                                  <p:stCondLst>
                                    <p:cond delay="0"/>
                                  </p:stCondLst>
                                  <p:childTnLst>
                                    <p:animMotion origin="layout" path="M 2.05128E-6 -2.96296E-6 L 0.06522 -0.34004 " pathEditMode="relative" rAng="0" ptsTypes="AA">
                                      <p:cBhvr>
                                        <p:cTn id="27" dur="2000" fill="hold"/>
                                        <p:tgtEl>
                                          <p:spTgt spid="15"/>
                                        </p:tgtEl>
                                        <p:attrNameLst>
                                          <p:attrName>ppt_x</p:attrName>
                                          <p:attrName>ppt_y</p:attrName>
                                        </p:attrNameLst>
                                      </p:cBhvr>
                                      <p:rCtr x="3253" y="-17014"/>
                                    </p:animMotion>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26"/>
                                        </p:tgtEl>
                                        <p:attrNameLst>
                                          <p:attrName>style.visibility</p:attrName>
                                        </p:attrNameLst>
                                      </p:cBhvr>
                                      <p:to>
                                        <p:strVal val="visible"/>
                                      </p:to>
                                    </p:set>
                                    <p:animEffect transition="in" filter="fade">
                                      <p:cBhvr>
                                        <p:cTn id="32" dur="500"/>
                                        <p:tgtEl>
                                          <p:spTgt spid="1026"/>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 calcmode="lin" valueType="num">
                                      <p:cBhvr additive="base">
                                        <p:cTn id="44" dur="500" fill="hold"/>
                                        <p:tgtEl>
                                          <p:spTgt spid="22"/>
                                        </p:tgtEl>
                                        <p:attrNameLst>
                                          <p:attrName>ppt_x</p:attrName>
                                        </p:attrNameLst>
                                      </p:cBhvr>
                                      <p:tavLst>
                                        <p:tav tm="0">
                                          <p:val>
                                            <p:strVal val="#ppt_x"/>
                                          </p:val>
                                        </p:tav>
                                        <p:tav tm="100000">
                                          <p:val>
                                            <p:strVal val="#ppt_x"/>
                                          </p:val>
                                        </p:tav>
                                      </p:tavLst>
                                    </p:anim>
                                    <p:anim calcmode="lin" valueType="num">
                                      <p:cBhvr additive="base">
                                        <p:cTn id="4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31"/>
                                        </p:tgtEl>
                                        <p:attrNameLst>
                                          <p:attrName>style.visibility</p:attrName>
                                        </p:attrNameLst>
                                      </p:cBhvr>
                                      <p:to>
                                        <p:strVal val="visible"/>
                                      </p:to>
                                    </p:set>
                                    <p:anim calcmode="lin" valueType="num">
                                      <p:cBhvr>
                                        <p:cTn id="55" dur="500" fill="hold"/>
                                        <p:tgtEl>
                                          <p:spTgt spid="31"/>
                                        </p:tgtEl>
                                        <p:attrNameLst>
                                          <p:attrName>ppt_w</p:attrName>
                                        </p:attrNameLst>
                                      </p:cBhvr>
                                      <p:tavLst>
                                        <p:tav tm="0">
                                          <p:val>
                                            <p:fltVal val="0"/>
                                          </p:val>
                                        </p:tav>
                                        <p:tav tm="100000">
                                          <p:val>
                                            <p:strVal val="#ppt_w"/>
                                          </p:val>
                                        </p:tav>
                                      </p:tavLst>
                                    </p:anim>
                                    <p:anim calcmode="lin" valueType="num">
                                      <p:cBhvr>
                                        <p:cTn id="56" dur="500" fill="hold"/>
                                        <p:tgtEl>
                                          <p:spTgt spid="31"/>
                                        </p:tgtEl>
                                        <p:attrNameLst>
                                          <p:attrName>ppt_h</p:attrName>
                                        </p:attrNameLst>
                                      </p:cBhvr>
                                      <p:tavLst>
                                        <p:tav tm="0">
                                          <p:val>
                                            <p:fltVal val="0"/>
                                          </p:val>
                                        </p:tav>
                                        <p:tav tm="100000">
                                          <p:val>
                                            <p:strVal val="#ppt_h"/>
                                          </p:val>
                                        </p:tav>
                                      </p:tavLst>
                                    </p:anim>
                                    <p:animEffect transition="in" filter="fade">
                                      <p:cBhvr>
                                        <p:cTn id="57" dur="500"/>
                                        <p:tgtEl>
                                          <p:spTgt spid="31"/>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path" presetSubtype="0" accel="50000" decel="50000" fill="hold" nodeType="clickEffect">
                                  <p:stCondLst>
                                    <p:cond delay="0"/>
                                  </p:stCondLst>
                                  <p:childTnLst>
                                    <p:animMotion origin="layout" path="M -2.30769E-6 -3.7037E-6 L -0.48541 0.00672 " pathEditMode="relative" rAng="0" ptsTypes="AA">
                                      <p:cBhvr>
                                        <p:cTn id="61" dur="2000" fill="hold"/>
                                        <p:tgtEl>
                                          <p:spTgt spid="31"/>
                                        </p:tgtEl>
                                        <p:attrNameLst>
                                          <p:attrName>ppt_x</p:attrName>
                                          <p:attrName>ppt_y</p:attrName>
                                        </p:attrNameLst>
                                      </p:cBhvr>
                                      <p:rCtr x="-24279" y="324"/>
                                    </p:animMotion>
                                  </p:childTnLst>
                                </p:cTn>
                              </p:par>
                            </p:childTnLst>
                          </p:cTn>
                        </p:par>
                      </p:childTnLst>
                    </p:cTn>
                  </p:par>
                  <p:par>
                    <p:cTn id="62" fill="hold">
                      <p:stCondLst>
                        <p:cond delay="indefinite"/>
                      </p:stCondLst>
                      <p:childTnLst>
                        <p:par>
                          <p:cTn id="63" fill="hold">
                            <p:stCondLst>
                              <p:cond delay="0"/>
                            </p:stCondLst>
                            <p:childTnLst>
                              <p:par>
                                <p:cTn id="64" presetID="16" presetClass="entr" presetSubtype="37" fill="hold" grpId="0" nodeType="click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barn(outVertical)">
                                      <p:cBhvr>
                                        <p:cTn id="66" dur="500"/>
                                        <p:tgtEl>
                                          <p:spTgt spid="33"/>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path" presetSubtype="0" accel="50000" decel="50000" fill="hold" nodeType="clickEffect">
                                  <p:stCondLst>
                                    <p:cond delay="0"/>
                                  </p:stCondLst>
                                  <p:childTnLst>
                                    <p:animMotion origin="layout" path="M -0.48541 0.00672 L -0.4891 -0.32338 " pathEditMode="relative" rAng="0" ptsTypes="AA">
                                      <p:cBhvr>
                                        <p:cTn id="70" dur="2000" fill="hold"/>
                                        <p:tgtEl>
                                          <p:spTgt spid="31"/>
                                        </p:tgtEl>
                                        <p:attrNameLst>
                                          <p:attrName>ppt_x</p:attrName>
                                          <p:attrName>ppt_y</p:attrName>
                                        </p:attrNameLst>
                                      </p:cBhvr>
                                      <p:rCtr x="-192" y="-16505"/>
                                    </p:animMotion>
                                  </p:childTnLst>
                                </p:cTn>
                              </p:par>
                              <p:par>
                                <p:cTn id="71" presetID="42" presetClass="path" presetSubtype="0" accel="50000" decel="50000" fill="hold" grpId="1" nodeType="withEffect">
                                  <p:stCondLst>
                                    <p:cond delay="0"/>
                                  </p:stCondLst>
                                  <p:childTnLst>
                                    <p:animMotion origin="layout" path="M 3.58974E-6 -4.81481E-6 L -0.00064 -0.33472 " pathEditMode="relative" rAng="0" ptsTypes="AA">
                                      <p:cBhvr>
                                        <p:cTn id="72" dur="2000" fill="hold"/>
                                        <p:tgtEl>
                                          <p:spTgt spid="33"/>
                                        </p:tgtEl>
                                        <p:attrNameLst>
                                          <p:attrName>ppt_x</p:attrName>
                                          <p:attrName>ppt_y</p:attrName>
                                        </p:attrNameLst>
                                      </p:cBhvr>
                                      <p:rCtr x="-32" y="-16736"/>
                                    </p:animMotion>
                                  </p:childTnLst>
                                </p:cTn>
                              </p:par>
                            </p:childTnLst>
                          </p:cTn>
                        </p:par>
                      </p:childTnLst>
                    </p:cTn>
                  </p:par>
                  <p:par>
                    <p:cTn id="73" fill="hold">
                      <p:stCondLst>
                        <p:cond delay="indefinite"/>
                      </p:stCondLst>
                      <p:childTnLst>
                        <p:par>
                          <p:cTn id="74" fill="hold">
                            <p:stCondLst>
                              <p:cond delay="0"/>
                            </p:stCondLst>
                            <p:childTnLst>
                              <p:par>
                                <p:cTn id="75" presetID="16" presetClass="exit" presetSubtype="37" fill="hold" grpId="2" nodeType="clickEffect">
                                  <p:stCondLst>
                                    <p:cond delay="0"/>
                                  </p:stCondLst>
                                  <p:childTnLst>
                                    <p:animEffect transition="out" filter="barn(outVertical)">
                                      <p:cBhvr>
                                        <p:cTn id="76" dur="500"/>
                                        <p:tgtEl>
                                          <p:spTgt spid="33"/>
                                        </p:tgtEl>
                                      </p:cBhvr>
                                    </p:animEffect>
                                    <p:set>
                                      <p:cBhvr>
                                        <p:cTn id="77" dur="1" fill="hold">
                                          <p:stCondLst>
                                            <p:cond delay="499"/>
                                          </p:stCondLst>
                                        </p:cTn>
                                        <p:tgtEl>
                                          <p:spTgt spid="3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0" end="0"/>
                                            </p:txEl>
                                          </p:spTgt>
                                        </p:tgtEl>
                                        <p:attrNameLst>
                                          <p:attrName>style.visibility</p:attrName>
                                        </p:attrNameLst>
                                      </p:cBhvr>
                                      <p:to>
                                        <p:strVal val="visible"/>
                                      </p:to>
                                    </p:set>
                                    <p:animEffect transition="in" filter="fade">
                                      <p:cBhvr>
                                        <p:cTn id="8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animBg="1"/>
      <p:bldP spid="15" grpId="1" animBg="1"/>
      <p:bldP spid="22" grpId="0" animBg="1"/>
      <p:bldP spid="23" grpId="0" animBg="1"/>
      <p:bldP spid="33" grpId="0" animBg="1"/>
      <p:bldP spid="33" grpId="1" animBg="1"/>
      <p:bldP spid="33" grpId="2"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0784C-D1D4-06EA-0E1F-D461449DC5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1516D0-AE33-30B2-E933-2B934CFE933A}"/>
              </a:ext>
            </a:extLst>
          </p:cNvPr>
          <p:cNvSpPr>
            <a:spLocks noGrp="1"/>
          </p:cNvSpPr>
          <p:nvPr>
            <p:ph type="title"/>
          </p:nvPr>
        </p:nvSpPr>
        <p:spPr/>
        <p:txBody>
          <a:bodyPr/>
          <a:lstStyle/>
          <a:p>
            <a:r>
              <a:rPr lang="en-US" altLang="ja-JP" dirty="0"/>
              <a:t>4. MUFG</a:t>
            </a:r>
            <a:r>
              <a:rPr lang="ja-JP" altLang="en-US" dirty="0"/>
              <a:t>の中ではどういう位置づけなのか？</a:t>
            </a:r>
            <a:endParaRPr kumimoji="1" lang="ja-JP" altLang="en-US" dirty="0"/>
          </a:p>
        </p:txBody>
      </p:sp>
      <p:sp>
        <p:nvSpPr>
          <p:cNvPr id="3" name="テキスト プレースホルダー 2">
            <a:extLst>
              <a:ext uri="{FF2B5EF4-FFF2-40B4-BE49-F238E27FC236}">
                <a16:creationId xmlns:a16="http://schemas.microsoft.com/office/drawing/2014/main" id="{330EA305-92A9-E365-5484-8C463484ABBF}"/>
              </a:ext>
            </a:extLst>
          </p:cNvPr>
          <p:cNvSpPr>
            <a:spLocks noGrp="1"/>
          </p:cNvSpPr>
          <p:nvPr>
            <p:ph type="body" idx="12"/>
          </p:nvPr>
        </p:nvSpPr>
        <p:spPr>
          <a:xfrm>
            <a:off x="488999" y="969722"/>
            <a:ext cx="9131121" cy="669414"/>
          </a:xfrm>
        </p:spPr>
        <p:txBody>
          <a:bodyPr/>
          <a:lstStyle/>
          <a:p>
            <a:r>
              <a:rPr lang="en-US" altLang="ja-JP" dirty="0"/>
              <a:t>MUFG</a:t>
            </a:r>
            <a:r>
              <a:rPr lang="ja-JP" altLang="en-US" dirty="0"/>
              <a:t>グループの一員である一方で、</a:t>
            </a:r>
            <a:r>
              <a:rPr lang="en-US" altLang="ja-JP" dirty="0"/>
              <a:t>MUTB</a:t>
            </a:r>
            <a:r>
              <a:rPr lang="ja-JP" altLang="en-US" dirty="0"/>
              <a:t>以外に日本生命・明治安田生命・農中信託銀行が株主になっているという構造です。</a:t>
            </a:r>
            <a:endParaRPr kumimoji="1" lang="ja-JP" altLang="en-US" dirty="0"/>
          </a:p>
        </p:txBody>
      </p:sp>
      <p:sp>
        <p:nvSpPr>
          <p:cNvPr id="4" name="テキスト プレースホルダー 3">
            <a:extLst>
              <a:ext uri="{FF2B5EF4-FFF2-40B4-BE49-F238E27FC236}">
                <a16:creationId xmlns:a16="http://schemas.microsoft.com/office/drawing/2014/main" id="{49D9CC0E-F512-3342-B3AE-E229126E4D0A}"/>
              </a:ext>
            </a:extLst>
          </p:cNvPr>
          <p:cNvSpPr>
            <a:spLocks noGrp="1"/>
          </p:cNvSpPr>
          <p:nvPr>
            <p:ph type="body" sz="quarter" idx="13"/>
          </p:nvPr>
        </p:nvSpPr>
        <p:spPr/>
        <p:txBody>
          <a:bodyPr/>
          <a:lstStyle/>
          <a:p>
            <a:r>
              <a:rPr lang="en-US" altLang="ja-JP" dirty="0">
                <a:solidFill>
                  <a:prstClr val="black"/>
                </a:solidFill>
              </a:rPr>
              <a:t>1. MTBJ/MUSK</a:t>
            </a:r>
            <a:r>
              <a:rPr lang="ja-JP" altLang="en-US" dirty="0">
                <a:solidFill>
                  <a:prstClr val="black"/>
                </a:solidFill>
              </a:rPr>
              <a:t>の概要</a:t>
            </a:r>
            <a:endParaRPr kumimoji="1" lang="ja-JP" altLang="en-US" dirty="0"/>
          </a:p>
        </p:txBody>
      </p:sp>
      <p:sp>
        <p:nvSpPr>
          <p:cNvPr id="7" name="正方形/長方形 6">
            <a:extLst>
              <a:ext uri="{FF2B5EF4-FFF2-40B4-BE49-F238E27FC236}">
                <a16:creationId xmlns:a16="http://schemas.microsoft.com/office/drawing/2014/main" id="{64319A1A-204C-6E17-E3F4-C8961D89A0BD}"/>
              </a:ext>
            </a:extLst>
          </p:cNvPr>
          <p:cNvSpPr/>
          <p:nvPr/>
        </p:nvSpPr>
        <p:spPr bwMode="auto">
          <a:xfrm>
            <a:off x="410661" y="2240432"/>
            <a:ext cx="2999508" cy="66941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600" dirty="0">
                <a:solidFill>
                  <a:prstClr val="black"/>
                </a:solidFill>
                <a:latin typeface="Meiryo UI" panose="020B0604030504040204" pitchFamily="50" charset="-128"/>
                <a:ea typeface="Meiryo UI" panose="020B0604030504040204" pitchFamily="50" charset="-128"/>
              </a:rPr>
              <a:t>MUFG</a:t>
            </a:r>
            <a:endParaRPr kumimoji="1" lang="ja-JP" altLang="en-US" sz="1600" dirty="0">
              <a:solidFill>
                <a:prstClr val="black"/>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6BA13C35-3EC1-A753-F6EB-386E1350B339}"/>
              </a:ext>
            </a:extLst>
          </p:cNvPr>
          <p:cNvSpPr/>
          <p:nvPr/>
        </p:nvSpPr>
        <p:spPr bwMode="auto">
          <a:xfrm>
            <a:off x="410661" y="3571798"/>
            <a:ext cx="967977" cy="66941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600" dirty="0">
                <a:solidFill>
                  <a:prstClr val="black"/>
                </a:solidFill>
                <a:latin typeface="Meiryo UI" panose="020B0604030504040204" pitchFamily="50" charset="-128"/>
                <a:ea typeface="Meiryo UI" panose="020B0604030504040204" pitchFamily="50" charset="-128"/>
              </a:rPr>
              <a:t>MUBK</a:t>
            </a:r>
            <a:endParaRPr kumimoji="1" lang="ja-JP" altLang="en-US" sz="1600" dirty="0">
              <a:solidFill>
                <a:prstClr val="black"/>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84EA7E9C-A531-7846-882A-63D2C86453D0}"/>
              </a:ext>
            </a:extLst>
          </p:cNvPr>
          <p:cNvSpPr/>
          <p:nvPr/>
        </p:nvSpPr>
        <p:spPr bwMode="auto">
          <a:xfrm>
            <a:off x="1426426" y="3571798"/>
            <a:ext cx="1983743" cy="66941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600" dirty="0">
                <a:solidFill>
                  <a:prstClr val="black"/>
                </a:solidFill>
                <a:latin typeface="Meiryo UI" panose="020B0604030504040204" pitchFamily="50" charset="-128"/>
                <a:ea typeface="Meiryo UI" panose="020B0604030504040204" pitchFamily="50" charset="-128"/>
              </a:rPr>
              <a:t>MUTB</a:t>
            </a:r>
            <a:endParaRPr kumimoji="1" lang="ja-JP" altLang="en-US" sz="1600" dirty="0">
              <a:solidFill>
                <a:prstClr val="black"/>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65BEC18C-4670-E934-2F5A-89E8A6DC87F1}"/>
              </a:ext>
            </a:extLst>
          </p:cNvPr>
          <p:cNvSpPr/>
          <p:nvPr/>
        </p:nvSpPr>
        <p:spPr bwMode="auto">
          <a:xfrm>
            <a:off x="2442192" y="4903162"/>
            <a:ext cx="4015271" cy="1034867"/>
          </a:xfrm>
          <a:prstGeom prst="rect">
            <a:avLst/>
          </a:prstGeom>
          <a:solidFill>
            <a:schemeClr val="bg1"/>
          </a:solidFill>
          <a:ln w="19050" cap="flat" cmpd="sng" algn="ctr">
            <a:solidFill>
              <a:srgbClr val="C00000"/>
            </a:solid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algn="ctr" defTabSz="908410" fontAlgn="base">
              <a:spcAft>
                <a:spcPct val="0"/>
              </a:spcAft>
            </a:pPr>
            <a:r>
              <a:rPr kumimoji="1" lang="en-US" altLang="ja-JP" sz="1600" dirty="0">
                <a:solidFill>
                  <a:prstClr val="black"/>
                </a:solidFill>
                <a:latin typeface="Meiryo UI" panose="020B0604030504040204" pitchFamily="50" charset="-128"/>
                <a:ea typeface="Meiryo UI" panose="020B0604030504040204" pitchFamily="50" charset="-128"/>
              </a:rPr>
              <a:t>MTBJ</a:t>
            </a:r>
            <a:endParaRPr kumimoji="1" lang="ja-JP" altLang="en-US" sz="1600" dirty="0">
              <a:solidFill>
                <a:prstClr val="black"/>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B40EEE50-B61F-E8C3-24CD-0B61988F76AF}"/>
              </a:ext>
            </a:extLst>
          </p:cNvPr>
          <p:cNvSpPr/>
          <p:nvPr/>
        </p:nvSpPr>
        <p:spPr bwMode="auto">
          <a:xfrm>
            <a:off x="410661" y="4903162"/>
            <a:ext cx="967977" cy="1034867"/>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algn="ctr" defTabSz="908410" fontAlgn="base">
              <a:spcAft>
                <a:spcPct val="0"/>
              </a:spcAft>
            </a:pPr>
            <a:r>
              <a:rPr kumimoji="1" lang="en-US" altLang="ja-JP" sz="1600" dirty="0">
                <a:solidFill>
                  <a:prstClr val="black"/>
                </a:solidFill>
                <a:latin typeface="Meiryo UI" panose="020B0604030504040204" pitchFamily="50" charset="-128"/>
                <a:ea typeface="Meiryo UI" panose="020B0604030504040204" pitchFamily="50" charset="-128"/>
              </a:rPr>
              <a:t>MUIT</a:t>
            </a:r>
            <a:endParaRPr kumimoji="1" lang="ja-JP" altLang="en-US" sz="1600" dirty="0">
              <a:solidFill>
                <a:prstClr val="black"/>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66C041AF-7704-399B-A847-ED9D31EB811E}"/>
              </a:ext>
            </a:extLst>
          </p:cNvPr>
          <p:cNvSpPr/>
          <p:nvPr/>
        </p:nvSpPr>
        <p:spPr bwMode="auto">
          <a:xfrm>
            <a:off x="1426426" y="4903162"/>
            <a:ext cx="967977" cy="1034867"/>
          </a:xfrm>
          <a:prstGeom prst="rect">
            <a:avLst/>
          </a:prstGeom>
          <a:solidFill>
            <a:schemeClr val="bg1"/>
          </a:solidFill>
          <a:ln w="19050" cap="flat" cmpd="sng" algn="ctr">
            <a:solidFill>
              <a:srgbClr val="00B050"/>
            </a:solid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algn="ctr" defTabSz="908410" fontAlgn="base">
              <a:spcAft>
                <a:spcPct val="0"/>
              </a:spcAft>
            </a:pPr>
            <a:r>
              <a:rPr kumimoji="1" lang="en-US" altLang="ja-JP" sz="1600" dirty="0">
                <a:solidFill>
                  <a:prstClr val="black"/>
                </a:solidFill>
                <a:latin typeface="Meiryo UI" panose="020B0604030504040204" pitchFamily="50" charset="-128"/>
                <a:ea typeface="Meiryo UI" panose="020B0604030504040204" pitchFamily="50" charset="-128"/>
              </a:rPr>
              <a:t>MUSK</a:t>
            </a:r>
            <a:endParaRPr kumimoji="1" lang="ja-JP" altLang="en-US" sz="1600" dirty="0">
              <a:solidFill>
                <a:prstClr val="black"/>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E478C539-1860-0D1C-9280-D75993D65F3D}"/>
              </a:ext>
            </a:extLst>
          </p:cNvPr>
          <p:cNvSpPr/>
          <p:nvPr/>
        </p:nvSpPr>
        <p:spPr bwMode="auto">
          <a:xfrm>
            <a:off x="3457957" y="3571798"/>
            <a:ext cx="967977" cy="66941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600" dirty="0">
                <a:solidFill>
                  <a:prstClr val="black"/>
                </a:solidFill>
                <a:latin typeface="Meiryo UI" panose="020B0604030504040204" pitchFamily="50" charset="-128"/>
                <a:ea typeface="Meiryo UI" panose="020B0604030504040204" pitchFamily="50" charset="-128"/>
              </a:rPr>
              <a:t>日本生命</a:t>
            </a:r>
            <a:endParaRPr kumimoji="1" lang="ja-JP" altLang="en-US" sz="1600" dirty="0">
              <a:solidFill>
                <a:prstClr val="black"/>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F3170E29-52D0-3A22-FDFE-763C51E8EA88}"/>
              </a:ext>
            </a:extLst>
          </p:cNvPr>
          <p:cNvSpPr/>
          <p:nvPr/>
        </p:nvSpPr>
        <p:spPr bwMode="auto">
          <a:xfrm>
            <a:off x="4473722" y="3571798"/>
            <a:ext cx="967977" cy="66941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600" dirty="0">
                <a:solidFill>
                  <a:prstClr val="black"/>
                </a:solidFill>
                <a:latin typeface="Meiryo UI" panose="020B0604030504040204" pitchFamily="50" charset="-128"/>
                <a:ea typeface="Meiryo UI" panose="020B0604030504040204" pitchFamily="50" charset="-128"/>
              </a:rPr>
              <a:t>明治安田</a:t>
            </a:r>
            <a:endParaRPr kumimoji="1" lang="en-US" altLang="ja-JP" sz="16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600" dirty="0">
                <a:solidFill>
                  <a:prstClr val="black"/>
                </a:solidFill>
                <a:latin typeface="Meiryo UI" panose="020B0604030504040204" pitchFamily="50" charset="-128"/>
                <a:ea typeface="Meiryo UI" panose="020B0604030504040204" pitchFamily="50" charset="-128"/>
              </a:rPr>
              <a:t>生命</a:t>
            </a:r>
          </a:p>
        </p:txBody>
      </p:sp>
      <p:sp>
        <p:nvSpPr>
          <p:cNvPr id="17" name="正方形/長方形 16">
            <a:extLst>
              <a:ext uri="{FF2B5EF4-FFF2-40B4-BE49-F238E27FC236}">
                <a16:creationId xmlns:a16="http://schemas.microsoft.com/office/drawing/2014/main" id="{A59FA608-BBD9-B928-E314-41106483AA80}"/>
              </a:ext>
            </a:extLst>
          </p:cNvPr>
          <p:cNvSpPr/>
          <p:nvPr/>
        </p:nvSpPr>
        <p:spPr bwMode="auto">
          <a:xfrm>
            <a:off x="5489486" y="3571798"/>
            <a:ext cx="967977" cy="66941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600" dirty="0">
                <a:solidFill>
                  <a:prstClr val="black"/>
                </a:solidFill>
                <a:latin typeface="Meiryo UI" panose="020B0604030504040204" pitchFamily="50" charset="-128"/>
                <a:ea typeface="Meiryo UI" panose="020B0604030504040204" pitchFamily="50" charset="-128"/>
              </a:rPr>
              <a:t>農中信託</a:t>
            </a:r>
            <a:endParaRPr kumimoji="1" lang="ja-JP" altLang="en-US" sz="1600" dirty="0">
              <a:solidFill>
                <a:prstClr val="black"/>
              </a:solidFill>
              <a:latin typeface="Meiryo UI" panose="020B0604030504040204" pitchFamily="50" charset="-128"/>
              <a:ea typeface="Meiryo UI" panose="020B0604030504040204" pitchFamily="50" charset="-128"/>
            </a:endParaRPr>
          </a:p>
        </p:txBody>
      </p:sp>
      <p:cxnSp>
        <p:nvCxnSpPr>
          <p:cNvPr id="25" name="直線コネクタ 24">
            <a:extLst>
              <a:ext uri="{FF2B5EF4-FFF2-40B4-BE49-F238E27FC236}">
                <a16:creationId xmlns:a16="http://schemas.microsoft.com/office/drawing/2014/main" id="{6F74AF91-6BC7-796F-317D-0778DF5447BA}"/>
              </a:ext>
            </a:extLst>
          </p:cNvPr>
          <p:cNvCxnSpPr>
            <a:cxnSpLocks/>
          </p:cNvCxnSpPr>
          <p:nvPr/>
        </p:nvCxnSpPr>
        <p:spPr bwMode="auto">
          <a:xfrm flipV="1">
            <a:off x="905283" y="2909846"/>
            <a:ext cx="0" cy="661952"/>
          </a:xfrm>
          <a:prstGeom prst="line">
            <a:avLst/>
          </a:prstGeom>
          <a:noFill/>
          <a:ln w="9525" cap="flat" cmpd="sng" algn="ctr">
            <a:solidFill>
              <a:schemeClr val="bg1">
                <a:lumMod val="50000"/>
              </a:schemeClr>
            </a:solidFill>
            <a:prstDash val="solid"/>
            <a:round/>
            <a:headEnd type="none" w="med" len="med"/>
            <a:tailEnd type="none"/>
          </a:ln>
          <a:effectLst/>
        </p:spPr>
      </p:cxnSp>
      <p:cxnSp>
        <p:nvCxnSpPr>
          <p:cNvPr id="27" name="直線コネクタ 26">
            <a:extLst>
              <a:ext uri="{FF2B5EF4-FFF2-40B4-BE49-F238E27FC236}">
                <a16:creationId xmlns:a16="http://schemas.microsoft.com/office/drawing/2014/main" id="{754C4151-E27C-66B2-D023-50363045DB7A}"/>
              </a:ext>
            </a:extLst>
          </p:cNvPr>
          <p:cNvCxnSpPr>
            <a:cxnSpLocks/>
            <a:stCxn id="11" idx="0"/>
            <a:endCxn id="8" idx="2"/>
          </p:cNvCxnSpPr>
          <p:nvPr/>
        </p:nvCxnSpPr>
        <p:spPr bwMode="auto">
          <a:xfrm flipV="1">
            <a:off x="894650" y="4241212"/>
            <a:ext cx="0" cy="661950"/>
          </a:xfrm>
          <a:prstGeom prst="line">
            <a:avLst/>
          </a:prstGeom>
          <a:noFill/>
          <a:ln w="9525" cap="flat" cmpd="sng" algn="ctr">
            <a:solidFill>
              <a:schemeClr val="bg1">
                <a:lumMod val="50000"/>
              </a:schemeClr>
            </a:solidFill>
            <a:prstDash val="solid"/>
            <a:round/>
            <a:headEnd type="none" w="med" len="med"/>
            <a:tailEnd type="none"/>
          </a:ln>
          <a:effectLst/>
        </p:spPr>
      </p:cxnSp>
      <p:cxnSp>
        <p:nvCxnSpPr>
          <p:cNvPr id="30" name="直線コネクタ 29">
            <a:extLst>
              <a:ext uri="{FF2B5EF4-FFF2-40B4-BE49-F238E27FC236}">
                <a16:creationId xmlns:a16="http://schemas.microsoft.com/office/drawing/2014/main" id="{DF336AA7-5157-7E64-7036-FE29575C4883}"/>
              </a:ext>
            </a:extLst>
          </p:cNvPr>
          <p:cNvCxnSpPr>
            <a:cxnSpLocks/>
          </p:cNvCxnSpPr>
          <p:nvPr/>
        </p:nvCxnSpPr>
        <p:spPr bwMode="auto">
          <a:xfrm flipH="1" flipV="1">
            <a:off x="2418297" y="2909846"/>
            <a:ext cx="0" cy="661952"/>
          </a:xfrm>
          <a:prstGeom prst="line">
            <a:avLst/>
          </a:prstGeom>
          <a:noFill/>
          <a:ln w="9525" cap="flat" cmpd="sng" algn="ctr">
            <a:solidFill>
              <a:schemeClr val="bg1">
                <a:lumMod val="50000"/>
              </a:schemeClr>
            </a:solidFill>
            <a:prstDash val="solid"/>
            <a:round/>
            <a:headEnd type="none" w="med" len="med"/>
            <a:tailEnd type="none"/>
          </a:ln>
          <a:effectLst/>
        </p:spPr>
      </p:cxnSp>
      <p:cxnSp>
        <p:nvCxnSpPr>
          <p:cNvPr id="33" name="直線コネクタ 32">
            <a:extLst>
              <a:ext uri="{FF2B5EF4-FFF2-40B4-BE49-F238E27FC236}">
                <a16:creationId xmlns:a16="http://schemas.microsoft.com/office/drawing/2014/main" id="{F4C477EA-47D3-2B48-6B1B-01DE1C37F222}"/>
              </a:ext>
            </a:extLst>
          </p:cNvPr>
          <p:cNvCxnSpPr>
            <a:cxnSpLocks/>
          </p:cNvCxnSpPr>
          <p:nvPr/>
        </p:nvCxnSpPr>
        <p:spPr bwMode="auto">
          <a:xfrm flipH="1">
            <a:off x="1910415" y="4241212"/>
            <a:ext cx="0" cy="661951"/>
          </a:xfrm>
          <a:prstGeom prst="line">
            <a:avLst/>
          </a:prstGeom>
          <a:noFill/>
          <a:ln w="9525" cap="flat" cmpd="sng" algn="ctr">
            <a:solidFill>
              <a:schemeClr val="bg1">
                <a:lumMod val="50000"/>
              </a:schemeClr>
            </a:solidFill>
            <a:prstDash val="solid"/>
            <a:round/>
            <a:headEnd type="none" w="med" len="med"/>
            <a:tailEnd type="none"/>
          </a:ln>
          <a:effectLst/>
        </p:spPr>
      </p:cxnSp>
      <p:cxnSp>
        <p:nvCxnSpPr>
          <p:cNvPr id="37" name="直線コネクタ 36">
            <a:extLst>
              <a:ext uri="{FF2B5EF4-FFF2-40B4-BE49-F238E27FC236}">
                <a16:creationId xmlns:a16="http://schemas.microsoft.com/office/drawing/2014/main" id="{99907EC0-1475-EFD1-339D-B923F2C5BC34}"/>
              </a:ext>
            </a:extLst>
          </p:cNvPr>
          <p:cNvCxnSpPr>
            <a:cxnSpLocks/>
          </p:cNvCxnSpPr>
          <p:nvPr/>
        </p:nvCxnSpPr>
        <p:spPr bwMode="auto">
          <a:xfrm>
            <a:off x="2981829" y="4241212"/>
            <a:ext cx="0" cy="661951"/>
          </a:xfrm>
          <a:prstGeom prst="line">
            <a:avLst/>
          </a:prstGeom>
          <a:noFill/>
          <a:ln w="9525" cap="flat" cmpd="sng" algn="ctr">
            <a:solidFill>
              <a:schemeClr val="bg1">
                <a:lumMod val="50000"/>
              </a:schemeClr>
            </a:solidFill>
            <a:prstDash val="solid"/>
            <a:round/>
            <a:headEnd type="none" w="med" len="med"/>
            <a:tailEnd type="none"/>
          </a:ln>
          <a:effectLst/>
        </p:spPr>
      </p:cxnSp>
      <p:cxnSp>
        <p:nvCxnSpPr>
          <p:cNvPr id="40" name="直線コネクタ 39">
            <a:extLst>
              <a:ext uri="{FF2B5EF4-FFF2-40B4-BE49-F238E27FC236}">
                <a16:creationId xmlns:a16="http://schemas.microsoft.com/office/drawing/2014/main" id="{FA37D148-82F6-50DB-21F9-044B86629B44}"/>
              </a:ext>
            </a:extLst>
          </p:cNvPr>
          <p:cNvCxnSpPr>
            <a:cxnSpLocks/>
          </p:cNvCxnSpPr>
          <p:nvPr/>
        </p:nvCxnSpPr>
        <p:spPr bwMode="auto">
          <a:xfrm>
            <a:off x="3941946" y="4241212"/>
            <a:ext cx="0" cy="661951"/>
          </a:xfrm>
          <a:prstGeom prst="line">
            <a:avLst/>
          </a:prstGeom>
          <a:noFill/>
          <a:ln w="9525" cap="flat" cmpd="sng" algn="ctr">
            <a:solidFill>
              <a:schemeClr val="bg1">
                <a:lumMod val="50000"/>
              </a:schemeClr>
            </a:solidFill>
            <a:prstDash val="solid"/>
            <a:round/>
            <a:headEnd type="none" w="med" len="med"/>
            <a:tailEnd type="none"/>
          </a:ln>
          <a:effectLst/>
        </p:spPr>
      </p:cxnSp>
      <p:cxnSp>
        <p:nvCxnSpPr>
          <p:cNvPr id="41" name="直線コネクタ 40">
            <a:extLst>
              <a:ext uri="{FF2B5EF4-FFF2-40B4-BE49-F238E27FC236}">
                <a16:creationId xmlns:a16="http://schemas.microsoft.com/office/drawing/2014/main" id="{488E8DE6-A56F-BC4E-5F7B-4DEFDF360E14}"/>
              </a:ext>
            </a:extLst>
          </p:cNvPr>
          <p:cNvCxnSpPr>
            <a:cxnSpLocks/>
          </p:cNvCxnSpPr>
          <p:nvPr/>
        </p:nvCxnSpPr>
        <p:spPr bwMode="auto">
          <a:xfrm flipH="1">
            <a:off x="4957710" y="4241212"/>
            <a:ext cx="0" cy="661951"/>
          </a:xfrm>
          <a:prstGeom prst="line">
            <a:avLst/>
          </a:prstGeom>
          <a:noFill/>
          <a:ln w="9525" cap="flat" cmpd="sng" algn="ctr">
            <a:solidFill>
              <a:schemeClr val="bg1">
                <a:lumMod val="50000"/>
              </a:schemeClr>
            </a:solidFill>
            <a:prstDash val="solid"/>
            <a:round/>
            <a:headEnd type="none" w="med" len="med"/>
            <a:tailEnd type="none"/>
          </a:ln>
          <a:effectLst/>
        </p:spPr>
      </p:cxnSp>
      <p:cxnSp>
        <p:nvCxnSpPr>
          <p:cNvPr id="42" name="直線コネクタ 41">
            <a:extLst>
              <a:ext uri="{FF2B5EF4-FFF2-40B4-BE49-F238E27FC236}">
                <a16:creationId xmlns:a16="http://schemas.microsoft.com/office/drawing/2014/main" id="{CD556149-CFD0-25E8-2C25-F8887769AC4F}"/>
              </a:ext>
            </a:extLst>
          </p:cNvPr>
          <p:cNvCxnSpPr>
            <a:cxnSpLocks/>
          </p:cNvCxnSpPr>
          <p:nvPr/>
        </p:nvCxnSpPr>
        <p:spPr bwMode="auto">
          <a:xfrm flipH="1">
            <a:off x="5973474" y="4241212"/>
            <a:ext cx="0" cy="661951"/>
          </a:xfrm>
          <a:prstGeom prst="line">
            <a:avLst/>
          </a:prstGeom>
          <a:noFill/>
          <a:ln w="9525" cap="flat" cmpd="sng" algn="ctr">
            <a:solidFill>
              <a:schemeClr val="bg1">
                <a:lumMod val="50000"/>
              </a:schemeClr>
            </a:solidFill>
            <a:prstDash val="solid"/>
            <a:round/>
            <a:headEnd type="none" w="med" len="med"/>
            <a:tailEnd type="none"/>
          </a:ln>
          <a:effectLst/>
        </p:spPr>
      </p:cxnSp>
      <p:sp>
        <p:nvSpPr>
          <p:cNvPr id="49" name="四角形: 角を丸くする 48">
            <a:extLst>
              <a:ext uri="{FF2B5EF4-FFF2-40B4-BE49-F238E27FC236}">
                <a16:creationId xmlns:a16="http://schemas.microsoft.com/office/drawing/2014/main" id="{65DBA39F-4E38-D77F-07FD-F56D3429FA7D}"/>
              </a:ext>
            </a:extLst>
          </p:cNvPr>
          <p:cNvSpPr/>
          <p:nvPr/>
        </p:nvSpPr>
        <p:spPr bwMode="auto">
          <a:xfrm>
            <a:off x="2667685" y="4430580"/>
            <a:ext cx="628288" cy="275752"/>
          </a:xfrm>
          <a:prstGeom prst="round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46.5%</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0" name="四角形: 角を丸くする 49">
            <a:extLst>
              <a:ext uri="{FF2B5EF4-FFF2-40B4-BE49-F238E27FC236}">
                <a16:creationId xmlns:a16="http://schemas.microsoft.com/office/drawing/2014/main" id="{DB6EB31D-CBD4-EFF6-7B58-501551CDB1B5}"/>
              </a:ext>
            </a:extLst>
          </p:cNvPr>
          <p:cNvSpPr/>
          <p:nvPr/>
        </p:nvSpPr>
        <p:spPr bwMode="auto">
          <a:xfrm>
            <a:off x="3627801" y="4430580"/>
            <a:ext cx="628288" cy="275752"/>
          </a:xfrm>
          <a:prstGeom prst="round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33.5</a:t>
            </a:r>
            <a:r>
              <a:rPr kumimoji="1" lang="en-US" altLang="ja-JP" sz="1050" dirty="0">
                <a:solidFill>
                  <a:prstClr val="black"/>
                </a:solidFill>
                <a:latin typeface="Meiryo UI" panose="020B0604030504040204" pitchFamily="50" charset="-128"/>
                <a:ea typeface="Meiryo UI" panose="020B0604030504040204" pitchFamily="50" charset="-128"/>
              </a:rPr>
              <a:t>%</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1" name="四角形: 角を丸くする 50">
            <a:extLst>
              <a:ext uri="{FF2B5EF4-FFF2-40B4-BE49-F238E27FC236}">
                <a16:creationId xmlns:a16="http://schemas.microsoft.com/office/drawing/2014/main" id="{D1D26947-FA06-6C76-6712-C8ABC27226A2}"/>
              </a:ext>
            </a:extLst>
          </p:cNvPr>
          <p:cNvSpPr/>
          <p:nvPr/>
        </p:nvSpPr>
        <p:spPr bwMode="auto">
          <a:xfrm>
            <a:off x="4643566" y="4430580"/>
            <a:ext cx="628288" cy="275752"/>
          </a:xfrm>
          <a:prstGeom prst="round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10</a:t>
            </a:r>
            <a:r>
              <a:rPr kumimoji="1" lang="en-US" altLang="ja-JP" sz="1050" dirty="0">
                <a:solidFill>
                  <a:prstClr val="black"/>
                </a:solidFill>
                <a:latin typeface="Meiryo UI" panose="020B0604030504040204" pitchFamily="50" charset="-128"/>
                <a:ea typeface="Meiryo UI" panose="020B0604030504040204" pitchFamily="50" charset="-128"/>
              </a:rPr>
              <a:t>.0%</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2" name="四角形: 角を丸くする 51">
            <a:extLst>
              <a:ext uri="{FF2B5EF4-FFF2-40B4-BE49-F238E27FC236}">
                <a16:creationId xmlns:a16="http://schemas.microsoft.com/office/drawing/2014/main" id="{2D1230EF-1BD3-68CF-56AB-50D5AB2DCD0C}"/>
              </a:ext>
            </a:extLst>
          </p:cNvPr>
          <p:cNvSpPr/>
          <p:nvPr/>
        </p:nvSpPr>
        <p:spPr bwMode="auto">
          <a:xfrm>
            <a:off x="5659329" y="4430580"/>
            <a:ext cx="628288" cy="275752"/>
          </a:xfrm>
          <a:prstGeom prst="round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10</a:t>
            </a:r>
            <a:r>
              <a:rPr kumimoji="1" lang="en-US" altLang="ja-JP" sz="1050" dirty="0">
                <a:solidFill>
                  <a:prstClr val="black"/>
                </a:solidFill>
                <a:latin typeface="Meiryo UI" panose="020B0604030504040204" pitchFamily="50" charset="-128"/>
                <a:ea typeface="Meiryo UI" panose="020B0604030504040204" pitchFamily="50" charset="-128"/>
              </a:rPr>
              <a:t>.0%</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3" name="四角形: 角を丸くする 52">
            <a:extLst>
              <a:ext uri="{FF2B5EF4-FFF2-40B4-BE49-F238E27FC236}">
                <a16:creationId xmlns:a16="http://schemas.microsoft.com/office/drawing/2014/main" id="{463B090C-C97E-42E1-5B9E-13B65CF1C219}"/>
              </a:ext>
            </a:extLst>
          </p:cNvPr>
          <p:cNvSpPr/>
          <p:nvPr/>
        </p:nvSpPr>
        <p:spPr bwMode="auto">
          <a:xfrm>
            <a:off x="1597463" y="4430580"/>
            <a:ext cx="628288" cy="275752"/>
          </a:xfrm>
          <a:prstGeom prst="round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100%</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4" name="四角形: 角を丸くする 53">
            <a:extLst>
              <a:ext uri="{FF2B5EF4-FFF2-40B4-BE49-F238E27FC236}">
                <a16:creationId xmlns:a16="http://schemas.microsoft.com/office/drawing/2014/main" id="{1DC544F2-EF69-F7AF-DBA9-64119F11E0FC}"/>
              </a:ext>
            </a:extLst>
          </p:cNvPr>
          <p:cNvSpPr/>
          <p:nvPr/>
        </p:nvSpPr>
        <p:spPr bwMode="auto">
          <a:xfrm>
            <a:off x="599161" y="4430580"/>
            <a:ext cx="628288" cy="275752"/>
          </a:xfrm>
          <a:prstGeom prst="round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100%</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grpSp>
        <p:nvGrpSpPr>
          <p:cNvPr id="56" name="グループ化 55">
            <a:extLst>
              <a:ext uri="{FF2B5EF4-FFF2-40B4-BE49-F238E27FC236}">
                <a16:creationId xmlns:a16="http://schemas.microsoft.com/office/drawing/2014/main" id="{6C39095C-27F6-9F87-94CA-F86D7D650F5B}"/>
              </a:ext>
            </a:extLst>
          </p:cNvPr>
          <p:cNvGrpSpPr/>
          <p:nvPr/>
        </p:nvGrpSpPr>
        <p:grpSpPr>
          <a:xfrm>
            <a:off x="410661" y="1637333"/>
            <a:ext cx="6046802" cy="237641"/>
            <a:chOff x="619124" y="1823770"/>
            <a:chExt cx="2762266" cy="347930"/>
          </a:xfrm>
        </p:grpSpPr>
        <p:cxnSp>
          <p:nvCxnSpPr>
            <p:cNvPr id="57" name="直線コネクタ 56">
              <a:extLst>
                <a:ext uri="{FF2B5EF4-FFF2-40B4-BE49-F238E27FC236}">
                  <a16:creationId xmlns:a16="http://schemas.microsoft.com/office/drawing/2014/main" id="{208C1611-7A2A-0295-0DF6-1BD02193D651}"/>
                </a:ext>
              </a:extLst>
            </p:cNvPr>
            <p:cNvCxnSpPr/>
            <p:nvPr/>
          </p:nvCxnSpPr>
          <p:spPr bwMode="auto">
            <a:xfrm>
              <a:off x="619125" y="2171700"/>
              <a:ext cx="2762265" cy="0"/>
            </a:xfrm>
            <a:prstGeom prst="line">
              <a:avLst/>
            </a:prstGeom>
            <a:noFill/>
            <a:ln w="9525" cap="flat" cmpd="sng" algn="ctr">
              <a:solidFill>
                <a:schemeClr val="bg1">
                  <a:lumMod val="50000"/>
                </a:schemeClr>
              </a:solidFill>
              <a:prstDash val="solid"/>
              <a:round/>
              <a:headEnd type="none" w="med" len="med"/>
              <a:tailEnd type="none"/>
            </a:ln>
            <a:effectLst/>
          </p:spPr>
        </p:cxnSp>
        <p:sp>
          <p:nvSpPr>
            <p:cNvPr id="58" name="正方形/長方形 57">
              <a:extLst>
                <a:ext uri="{FF2B5EF4-FFF2-40B4-BE49-F238E27FC236}">
                  <a16:creationId xmlns:a16="http://schemas.microsoft.com/office/drawing/2014/main" id="{D06833CF-ACE9-17BC-5534-01F6D2EB9B12}"/>
                </a:ext>
              </a:extLst>
            </p:cNvPr>
            <p:cNvSpPr/>
            <p:nvPr/>
          </p:nvSpPr>
          <p:spPr bwMode="auto">
            <a:xfrm>
              <a:off x="619124" y="1823770"/>
              <a:ext cx="2762265" cy="347930"/>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400" dirty="0">
                  <a:solidFill>
                    <a:prstClr val="black"/>
                  </a:solidFill>
                  <a:latin typeface="Meiryo UI" panose="020B0604030504040204" pitchFamily="50" charset="-128"/>
                  <a:ea typeface="Meiryo UI" panose="020B0604030504040204" pitchFamily="50" charset="-128"/>
                </a:rPr>
                <a:t>MTBJ</a:t>
              </a:r>
              <a:r>
                <a:rPr kumimoji="1" lang="ja-JP" altLang="en-US" sz="1400" dirty="0">
                  <a:solidFill>
                    <a:prstClr val="black"/>
                  </a:solidFill>
                  <a:latin typeface="Meiryo UI" panose="020B0604030504040204" pitchFamily="50" charset="-128"/>
                  <a:ea typeface="Meiryo UI" panose="020B0604030504040204" pitchFamily="50" charset="-128"/>
                </a:rPr>
                <a:t>の位置づけ</a:t>
              </a:r>
            </a:p>
          </p:txBody>
        </p:sp>
      </p:grpSp>
      <p:grpSp>
        <p:nvGrpSpPr>
          <p:cNvPr id="59" name="グループ化 58">
            <a:extLst>
              <a:ext uri="{FF2B5EF4-FFF2-40B4-BE49-F238E27FC236}">
                <a16:creationId xmlns:a16="http://schemas.microsoft.com/office/drawing/2014/main" id="{AD7512F3-5569-4F24-25AF-48929DA5F264}"/>
              </a:ext>
            </a:extLst>
          </p:cNvPr>
          <p:cNvGrpSpPr/>
          <p:nvPr/>
        </p:nvGrpSpPr>
        <p:grpSpPr>
          <a:xfrm>
            <a:off x="6690360" y="1637333"/>
            <a:ext cx="2929760" cy="237641"/>
            <a:chOff x="619124" y="1823770"/>
            <a:chExt cx="2762266" cy="347930"/>
          </a:xfrm>
        </p:grpSpPr>
        <p:cxnSp>
          <p:nvCxnSpPr>
            <p:cNvPr id="60" name="直線コネクタ 59">
              <a:extLst>
                <a:ext uri="{FF2B5EF4-FFF2-40B4-BE49-F238E27FC236}">
                  <a16:creationId xmlns:a16="http://schemas.microsoft.com/office/drawing/2014/main" id="{6B76DD34-9624-520A-B2AD-1016DA2BCA50}"/>
                </a:ext>
              </a:extLst>
            </p:cNvPr>
            <p:cNvCxnSpPr/>
            <p:nvPr/>
          </p:nvCxnSpPr>
          <p:spPr bwMode="auto">
            <a:xfrm>
              <a:off x="619125" y="2171700"/>
              <a:ext cx="2762265" cy="0"/>
            </a:xfrm>
            <a:prstGeom prst="line">
              <a:avLst/>
            </a:prstGeom>
            <a:noFill/>
            <a:ln w="9525" cap="flat" cmpd="sng" algn="ctr">
              <a:solidFill>
                <a:schemeClr val="bg1">
                  <a:lumMod val="50000"/>
                </a:schemeClr>
              </a:solidFill>
              <a:prstDash val="solid"/>
              <a:round/>
              <a:headEnd type="none" w="med" len="med"/>
              <a:tailEnd type="none"/>
            </a:ln>
            <a:effectLst/>
          </p:spPr>
        </p:cxnSp>
        <p:sp>
          <p:nvSpPr>
            <p:cNvPr id="61" name="正方形/長方形 60">
              <a:extLst>
                <a:ext uri="{FF2B5EF4-FFF2-40B4-BE49-F238E27FC236}">
                  <a16:creationId xmlns:a16="http://schemas.microsoft.com/office/drawing/2014/main" id="{0B671BC5-B782-9626-57DA-116B48C9B304}"/>
                </a:ext>
              </a:extLst>
            </p:cNvPr>
            <p:cNvSpPr/>
            <p:nvPr/>
          </p:nvSpPr>
          <p:spPr bwMode="auto">
            <a:xfrm>
              <a:off x="619124" y="1823770"/>
              <a:ext cx="2762265" cy="347930"/>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400" dirty="0">
                  <a:solidFill>
                    <a:prstClr val="black"/>
                  </a:solidFill>
                  <a:latin typeface="Meiryo UI" panose="020B0604030504040204" pitchFamily="50" charset="-128"/>
                  <a:ea typeface="Meiryo UI" panose="020B0604030504040204" pitchFamily="50" charset="-128"/>
                </a:rPr>
                <a:t>ポイント</a:t>
              </a:r>
            </a:p>
          </p:txBody>
        </p:sp>
      </p:grpSp>
      <p:pic>
        <p:nvPicPr>
          <p:cNvPr id="73" name="グラフィックス 72" descr="オフィス ワーカー (男性) 単色塗りつぶし">
            <a:extLst>
              <a:ext uri="{FF2B5EF4-FFF2-40B4-BE49-F238E27FC236}">
                <a16:creationId xmlns:a16="http://schemas.microsoft.com/office/drawing/2014/main" id="{797D993D-7278-5C02-E248-588B4C3056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84638" y="3680371"/>
            <a:ext cx="426575" cy="426575"/>
          </a:xfrm>
          <a:prstGeom prst="rect">
            <a:avLst/>
          </a:prstGeom>
        </p:spPr>
      </p:pic>
      <p:sp>
        <p:nvSpPr>
          <p:cNvPr id="5" name="正方形/長方形 4">
            <a:extLst>
              <a:ext uri="{FF2B5EF4-FFF2-40B4-BE49-F238E27FC236}">
                <a16:creationId xmlns:a16="http://schemas.microsoft.com/office/drawing/2014/main" id="{9970D576-82B6-B217-3FE8-9CA7241A6040}"/>
              </a:ext>
            </a:extLst>
          </p:cNvPr>
          <p:cNvSpPr/>
          <p:nvPr/>
        </p:nvSpPr>
        <p:spPr bwMode="auto">
          <a:xfrm>
            <a:off x="6690359" y="2355962"/>
            <a:ext cx="2929759" cy="1100302"/>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400" dirty="0">
                <a:solidFill>
                  <a:prstClr val="black"/>
                </a:solidFill>
                <a:latin typeface="Meiryo UI" panose="020B0604030504040204" pitchFamily="50" charset="-128"/>
                <a:ea typeface="Meiryo UI" panose="020B0604030504040204" pitchFamily="50" charset="-128"/>
              </a:rPr>
              <a:t>MUFG</a:t>
            </a:r>
            <a:r>
              <a:rPr kumimoji="1" lang="ja-JP" altLang="en-US" sz="1400" dirty="0">
                <a:solidFill>
                  <a:prstClr val="black"/>
                </a:solidFill>
                <a:latin typeface="Meiryo UI" panose="020B0604030504040204" pitchFamily="50" charset="-128"/>
                <a:ea typeface="Meiryo UI" panose="020B0604030504040204" pitchFamily="50" charset="-128"/>
              </a:rPr>
              <a:t>グループの</a:t>
            </a:r>
            <a:r>
              <a:rPr lang="ja-JP" altLang="en-US" sz="1400" dirty="0">
                <a:solidFill>
                  <a:prstClr val="black"/>
                </a:solidFill>
                <a:latin typeface="Meiryo UI" panose="020B0604030504040204" pitchFamily="50" charset="-128"/>
                <a:ea typeface="Meiryo UI" panose="020B0604030504040204" pitchFamily="50" charset="-128"/>
              </a:rPr>
              <a:t>一員であり、</a:t>
            </a:r>
            <a:endParaRPr lang="en-US" altLang="ja-JP" sz="14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en-US" altLang="ja-JP" sz="1400" dirty="0">
                <a:solidFill>
                  <a:prstClr val="black"/>
                </a:solidFill>
                <a:latin typeface="Meiryo UI" panose="020B0604030504040204" pitchFamily="50" charset="-128"/>
                <a:ea typeface="Meiryo UI" panose="020B0604030504040204" pitchFamily="50" charset="-128"/>
              </a:rPr>
              <a:t>MUTB</a:t>
            </a:r>
            <a:r>
              <a:rPr lang="ja-JP" altLang="en-US" sz="1400" dirty="0">
                <a:solidFill>
                  <a:prstClr val="black"/>
                </a:solidFill>
                <a:latin typeface="Meiryo UI" panose="020B0604030504040204" pitchFamily="50" charset="-128"/>
                <a:ea typeface="Meiryo UI" panose="020B0604030504040204" pitchFamily="50" charset="-128"/>
              </a:rPr>
              <a:t>の配下の会社である</a:t>
            </a:r>
            <a:endParaRPr lang="en-US" altLang="ja-JP" sz="1400" dirty="0">
              <a:solidFill>
                <a:prstClr val="black"/>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340E70C0-C6E6-CC89-2727-28BE5EF838F6}"/>
              </a:ext>
            </a:extLst>
          </p:cNvPr>
          <p:cNvSpPr/>
          <p:nvPr/>
        </p:nvSpPr>
        <p:spPr bwMode="auto">
          <a:xfrm>
            <a:off x="6690359" y="3569337"/>
            <a:ext cx="2929759" cy="1100302"/>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400" dirty="0">
                <a:solidFill>
                  <a:prstClr val="black"/>
                </a:solidFill>
                <a:latin typeface="Meiryo UI" panose="020B0604030504040204" pitchFamily="50" charset="-128"/>
                <a:ea typeface="Meiryo UI" panose="020B0604030504040204" pitchFamily="50" charset="-128"/>
              </a:rPr>
              <a:t>ただし、株主は、</a:t>
            </a:r>
            <a:r>
              <a:rPr kumimoji="1" lang="en-US" altLang="ja-JP" sz="1400" dirty="0">
                <a:solidFill>
                  <a:prstClr val="black"/>
                </a:solidFill>
                <a:latin typeface="Meiryo UI" panose="020B0604030504040204" pitchFamily="50" charset="-128"/>
                <a:ea typeface="Meiryo UI" panose="020B0604030504040204" pitchFamily="50" charset="-128"/>
              </a:rPr>
              <a:t>MUTB</a:t>
            </a:r>
            <a:r>
              <a:rPr kumimoji="1" lang="ja-JP" altLang="en-US" sz="1400" dirty="0">
                <a:solidFill>
                  <a:prstClr val="black"/>
                </a:solidFill>
                <a:latin typeface="Meiryo UI" panose="020B0604030504040204" pitchFamily="50" charset="-128"/>
                <a:ea typeface="Meiryo UI" panose="020B0604030504040204" pitchFamily="50" charset="-128"/>
              </a:rPr>
              <a:t>以外に</a:t>
            </a:r>
            <a:endParaRPr kumimoji="1" lang="en-US" altLang="ja-JP" sz="14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1400" dirty="0">
                <a:solidFill>
                  <a:prstClr val="black"/>
                </a:solidFill>
                <a:latin typeface="Meiryo UI" panose="020B0604030504040204" pitchFamily="50" charset="-128"/>
                <a:ea typeface="Meiryo UI" panose="020B0604030504040204" pitchFamily="50" charset="-128"/>
              </a:rPr>
              <a:t>日本生命・明治安田生命・</a:t>
            </a:r>
            <a:endParaRPr lang="en-US" altLang="ja-JP" sz="14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400" dirty="0">
                <a:solidFill>
                  <a:prstClr val="black"/>
                </a:solidFill>
                <a:latin typeface="Meiryo UI" panose="020B0604030504040204" pitchFamily="50" charset="-128"/>
                <a:ea typeface="Meiryo UI" panose="020B0604030504040204" pitchFamily="50" charset="-128"/>
              </a:rPr>
              <a:t>農中信託銀行がいる</a:t>
            </a:r>
          </a:p>
        </p:txBody>
      </p:sp>
      <p:sp>
        <p:nvSpPr>
          <p:cNvPr id="14" name="正方形/長方形 13">
            <a:extLst>
              <a:ext uri="{FF2B5EF4-FFF2-40B4-BE49-F238E27FC236}">
                <a16:creationId xmlns:a16="http://schemas.microsoft.com/office/drawing/2014/main" id="{03A6071C-A50B-2AE8-BD49-5E788AD367BC}"/>
              </a:ext>
            </a:extLst>
          </p:cNvPr>
          <p:cNvSpPr/>
          <p:nvPr/>
        </p:nvSpPr>
        <p:spPr bwMode="auto">
          <a:xfrm>
            <a:off x="6690359" y="4782712"/>
            <a:ext cx="2929759" cy="1100302"/>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400" dirty="0">
                <a:solidFill>
                  <a:prstClr val="black"/>
                </a:solidFill>
                <a:latin typeface="Meiryo UI" panose="020B0604030504040204" pitchFamily="50" charset="-128"/>
                <a:ea typeface="Meiryo UI" panose="020B0604030504040204" pitchFamily="50" charset="-128"/>
              </a:rPr>
              <a:t>MUTB</a:t>
            </a:r>
            <a:r>
              <a:rPr kumimoji="1" lang="ja-JP" altLang="en-US" sz="1400" dirty="0">
                <a:solidFill>
                  <a:prstClr val="black"/>
                </a:solidFill>
                <a:latin typeface="Meiryo UI" panose="020B0604030504040204" pitchFamily="50" charset="-128"/>
                <a:ea typeface="Meiryo UI" panose="020B0604030504040204" pitchFamily="50" charset="-128"/>
              </a:rPr>
              <a:t>からの出向者が多く、</a:t>
            </a:r>
            <a:endParaRPr kumimoji="1" lang="en-US" altLang="ja-JP" sz="14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en-US" altLang="ja-JP" sz="1400" dirty="0">
                <a:solidFill>
                  <a:prstClr val="black"/>
                </a:solidFill>
                <a:latin typeface="Meiryo UI" panose="020B0604030504040204" pitchFamily="50" charset="-128"/>
                <a:ea typeface="Meiryo UI" panose="020B0604030504040204" pitchFamily="50" charset="-128"/>
              </a:rPr>
              <a:t>ACN</a:t>
            </a:r>
            <a:r>
              <a:rPr lang="ja-JP" altLang="en-US" sz="1400" dirty="0">
                <a:solidFill>
                  <a:prstClr val="black"/>
                </a:solidFill>
                <a:latin typeface="Meiryo UI" panose="020B0604030504040204" pitchFamily="50" charset="-128"/>
                <a:ea typeface="Meiryo UI" panose="020B0604030504040204" pitchFamily="50" charset="-128"/>
              </a:rPr>
              <a:t>と一緒に</a:t>
            </a:r>
            <a:r>
              <a:rPr lang="en-US" altLang="ja-JP" sz="1400" dirty="0">
                <a:solidFill>
                  <a:prstClr val="black"/>
                </a:solidFill>
                <a:latin typeface="Meiryo UI" panose="020B0604030504040204" pitchFamily="50" charset="-128"/>
                <a:ea typeface="Meiryo UI" panose="020B0604030504040204" pitchFamily="50" charset="-128"/>
              </a:rPr>
              <a:t>LEAP</a:t>
            </a:r>
            <a:r>
              <a:rPr lang="ja-JP" altLang="en-US" sz="1400" dirty="0">
                <a:solidFill>
                  <a:prstClr val="black"/>
                </a:solidFill>
                <a:latin typeface="Meiryo UI" panose="020B0604030504040204" pitchFamily="50" charset="-128"/>
                <a:ea typeface="Meiryo UI" panose="020B0604030504040204" pitchFamily="50" charset="-128"/>
              </a:rPr>
              <a:t>（モダナイ）を</a:t>
            </a:r>
            <a:r>
              <a:rPr lang="en-US" altLang="ja-JP" sz="1400" dirty="0">
                <a:solidFill>
                  <a:prstClr val="black"/>
                </a:solidFill>
                <a:latin typeface="Meiryo UI" panose="020B0604030504040204" pitchFamily="50" charset="-128"/>
                <a:ea typeface="Meiryo UI" panose="020B0604030504040204" pitchFamily="50" charset="-128"/>
              </a:rPr>
              <a:t>MUTB</a:t>
            </a:r>
            <a:r>
              <a:rPr lang="ja-JP" altLang="en-US" sz="1400" dirty="0">
                <a:solidFill>
                  <a:prstClr val="black"/>
                </a:solidFill>
                <a:latin typeface="Meiryo UI" panose="020B0604030504040204" pitchFamily="50" charset="-128"/>
                <a:ea typeface="Meiryo UI" panose="020B0604030504040204" pitchFamily="50" charset="-128"/>
              </a:rPr>
              <a:t>でやっていた方が</a:t>
            </a:r>
            <a:endParaRPr lang="en-US" altLang="ja-JP" sz="14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400" dirty="0">
                <a:solidFill>
                  <a:prstClr val="black"/>
                </a:solidFill>
                <a:latin typeface="Meiryo UI" panose="020B0604030504040204" pitchFamily="50" charset="-128"/>
                <a:ea typeface="Meiryo UI" panose="020B0604030504040204" pitchFamily="50" charset="-128"/>
              </a:rPr>
              <a:t>常務として今一緒に</a:t>
            </a:r>
            <a:r>
              <a:rPr lang="en-US" altLang="ja-JP" sz="1400" dirty="0">
                <a:solidFill>
                  <a:prstClr val="black"/>
                </a:solidFill>
                <a:latin typeface="Meiryo UI" panose="020B0604030504040204" pitchFamily="50" charset="-128"/>
                <a:ea typeface="Meiryo UI" panose="020B0604030504040204" pitchFamily="50" charset="-128"/>
              </a:rPr>
              <a:t>ACN</a:t>
            </a:r>
            <a:r>
              <a:rPr lang="ja-JP" altLang="en-US" sz="1400" dirty="0">
                <a:solidFill>
                  <a:prstClr val="black"/>
                </a:solidFill>
                <a:latin typeface="Meiryo UI" panose="020B0604030504040204" pitchFamily="50" charset="-128"/>
                <a:ea typeface="Meiryo UI" panose="020B0604030504040204" pitchFamily="50" charset="-128"/>
              </a:rPr>
              <a:t>とやっている</a:t>
            </a:r>
            <a:endParaRPr kumimoji="1" lang="ja-JP" altLang="en-US" sz="1400" dirty="0">
              <a:solidFill>
                <a:prstClr val="black"/>
              </a:solidFill>
              <a:latin typeface="Meiryo UI" panose="020B0604030504040204" pitchFamily="50" charset="-128"/>
              <a:ea typeface="Meiryo UI" panose="020B0604030504040204" pitchFamily="50" charset="-128"/>
            </a:endParaRPr>
          </a:p>
        </p:txBody>
      </p:sp>
      <p:sp>
        <p:nvSpPr>
          <p:cNvPr id="15" name="楕円 14">
            <a:extLst>
              <a:ext uri="{FF2B5EF4-FFF2-40B4-BE49-F238E27FC236}">
                <a16:creationId xmlns:a16="http://schemas.microsoft.com/office/drawing/2014/main" id="{C4219E7F-4DB3-C849-927B-00412497AE9A}"/>
              </a:ext>
            </a:extLst>
          </p:cNvPr>
          <p:cNvSpPr/>
          <p:nvPr/>
        </p:nvSpPr>
        <p:spPr bwMode="auto">
          <a:xfrm>
            <a:off x="6509236" y="2188397"/>
            <a:ext cx="360000" cy="360000"/>
          </a:xfrm>
          <a:prstGeom prst="ellipse">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400" b="1" dirty="0">
                <a:solidFill>
                  <a:prstClr val="black"/>
                </a:solidFill>
                <a:latin typeface="Meiryo UI" panose="020B0604030504040204" pitchFamily="50" charset="-128"/>
                <a:ea typeface="Meiryo UI" panose="020B0604030504040204" pitchFamily="50" charset="-128"/>
              </a:rPr>
              <a:t>１</a:t>
            </a:r>
          </a:p>
        </p:txBody>
      </p:sp>
      <p:sp>
        <p:nvSpPr>
          <p:cNvPr id="18" name="楕円 17">
            <a:extLst>
              <a:ext uri="{FF2B5EF4-FFF2-40B4-BE49-F238E27FC236}">
                <a16:creationId xmlns:a16="http://schemas.microsoft.com/office/drawing/2014/main" id="{28FDFB41-5E8A-F963-CE2D-F5CA83F1585F}"/>
              </a:ext>
            </a:extLst>
          </p:cNvPr>
          <p:cNvSpPr/>
          <p:nvPr/>
        </p:nvSpPr>
        <p:spPr bwMode="auto">
          <a:xfrm>
            <a:off x="6509236" y="3388759"/>
            <a:ext cx="360000" cy="360000"/>
          </a:xfrm>
          <a:prstGeom prst="ellipse">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400" b="1" dirty="0">
                <a:solidFill>
                  <a:prstClr val="black"/>
                </a:solidFill>
                <a:latin typeface="Meiryo UI" panose="020B0604030504040204" pitchFamily="50" charset="-128"/>
                <a:ea typeface="Meiryo UI" panose="020B0604030504040204" pitchFamily="50" charset="-128"/>
              </a:rPr>
              <a:t>2</a:t>
            </a:r>
            <a:endParaRPr kumimoji="1" lang="ja-JP" altLang="en-US" sz="1400" b="1" dirty="0">
              <a:solidFill>
                <a:prstClr val="black"/>
              </a:solidFill>
              <a:latin typeface="Meiryo UI" panose="020B0604030504040204" pitchFamily="50" charset="-128"/>
              <a:ea typeface="Meiryo UI" panose="020B0604030504040204" pitchFamily="50" charset="-128"/>
            </a:endParaRPr>
          </a:p>
        </p:txBody>
      </p:sp>
      <p:sp>
        <p:nvSpPr>
          <p:cNvPr id="19" name="楕円 18">
            <a:extLst>
              <a:ext uri="{FF2B5EF4-FFF2-40B4-BE49-F238E27FC236}">
                <a16:creationId xmlns:a16="http://schemas.microsoft.com/office/drawing/2014/main" id="{B9D7914F-16A0-D365-D5A4-FEE2BFC1B243}"/>
              </a:ext>
            </a:extLst>
          </p:cNvPr>
          <p:cNvSpPr/>
          <p:nvPr/>
        </p:nvSpPr>
        <p:spPr bwMode="auto">
          <a:xfrm>
            <a:off x="6509236" y="4630225"/>
            <a:ext cx="360000" cy="360000"/>
          </a:xfrm>
          <a:prstGeom prst="ellipse">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400" b="1" dirty="0">
                <a:solidFill>
                  <a:prstClr val="black"/>
                </a:solidFill>
                <a:latin typeface="Meiryo UI" panose="020B0604030504040204" pitchFamily="50" charset="-128"/>
                <a:ea typeface="Meiryo UI" panose="020B0604030504040204" pitchFamily="50" charset="-128"/>
              </a:rPr>
              <a:t>3</a:t>
            </a:r>
            <a:endParaRPr kumimoji="1" lang="ja-JP" altLang="en-US" sz="1400" b="1"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529854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2.5641E-7 -2.59259E-6 L 0.13894 0.24584 " pathEditMode="relative" rAng="0" ptsTypes="AA">
                                      <p:cBhvr>
                                        <p:cTn id="11" dur="2000" fill="hold"/>
                                        <p:tgtEl>
                                          <p:spTgt spid="73"/>
                                        </p:tgtEl>
                                        <p:attrNameLst>
                                          <p:attrName>ppt_x</p:attrName>
                                          <p:attrName>ppt_y</p:attrName>
                                        </p:attrNameLst>
                                      </p:cBhvr>
                                      <p:rCtr x="6939" y="1229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733BF-3CFE-6FE5-59DE-F42EC12CEA3A}"/>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3BDB833D-F813-9700-9DB1-ED78F689186E}"/>
              </a:ext>
            </a:extLst>
          </p:cNvPr>
          <p:cNvSpPr/>
          <p:nvPr/>
        </p:nvSpPr>
        <p:spPr bwMode="auto">
          <a:xfrm>
            <a:off x="2989779" y="2207223"/>
            <a:ext cx="4423881"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5C60F851-C8E6-8C03-F174-ED28B744C6D4}"/>
              </a:ext>
            </a:extLst>
          </p:cNvPr>
          <p:cNvSpPr/>
          <p:nvPr/>
        </p:nvSpPr>
        <p:spPr bwMode="auto">
          <a:xfrm>
            <a:off x="2492339" y="1397286"/>
            <a:ext cx="4921322"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C53FED52-BA16-E58D-4266-B3E97BE36B9A}"/>
              </a:ext>
            </a:extLst>
          </p:cNvPr>
          <p:cNvSpPr>
            <a:spLocks noGrp="1"/>
          </p:cNvSpPr>
          <p:nvPr>
            <p:ph type="title"/>
          </p:nvPr>
        </p:nvSpPr>
        <p:spPr/>
        <p:txBody>
          <a:bodyPr/>
          <a:lstStyle/>
          <a:p>
            <a:r>
              <a:rPr lang="ja-JP" altLang="en-US" dirty="0"/>
              <a:t>本日のアジェンダ</a:t>
            </a:r>
            <a:endParaRPr kumimoji="1" lang="ja-JP" altLang="en-US" dirty="0"/>
          </a:p>
        </p:txBody>
      </p:sp>
      <p:sp>
        <p:nvSpPr>
          <p:cNvPr id="5" name="正方形/長方形 4">
            <a:extLst>
              <a:ext uri="{FF2B5EF4-FFF2-40B4-BE49-F238E27FC236}">
                <a16:creationId xmlns:a16="http://schemas.microsoft.com/office/drawing/2014/main" id="{2205D8ED-0DC5-6A0B-A349-A06B76C73022}"/>
              </a:ext>
            </a:extLst>
          </p:cNvPr>
          <p:cNvSpPr/>
          <p:nvPr/>
        </p:nvSpPr>
        <p:spPr bwMode="auto">
          <a:xfrm>
            <a:off x="2492339" y="1192976"/>
            <a:ext cx="4921322" cy="514146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28600"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MTBJ/MUSK</a:t>
            </a:r>
            <a:r>
              <a:rPr kumimoji="1" lang="ja-JP" altLang="en-US" dirty="0">
                <a:solidFill>
                  <a:prstClr val="black"/>
                </a:solidFill>
                <a:latin typeface="Meiryo UI" panose="020B0604030504040204" pitchFamily="50" charset="-128"/>
                <a:ea typeface="Meiryo UI" panose="020B0604030504040204" pitchFamily="50" charset="-128"/>
              </a:rPr>
              <a:t>の概要</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a:t>
            </a:r>
            <a:r>
              <a:rPr lang="ja-JP" altLang="en-US" dirty="0">
                <a:solidFill>
                  <a:prstClr val="black"/>
                </a:solidFill>
                <a:latin typeface="Meiryo UI" panose="020B0604030504040204" pitchFamily="50" charset="-128"/>
                <a:ea typeface="Meiryo UI" panose="020B0604030504040204" pitchFamily="50" charset="-128"/>
              </a:rPr>
              <a:t>とは？</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MUSK</a:t>
            </a:r>
            <a:r>
              <a:rPr lang="ja-JP" altLang="en-US" dirty="0">
                <a:solidFill>
                  <a:prstClr val="black"/>
                </a:solidFill>
                <a:latin typeface="Meiryo UI" panose="020B0604030504040204" pitchFamily="50" charset="-128"/>
                <a:ea typeface="Meiryo UI" panose="020B0604030504040204" pitchFamily="50" charset="-128"/>
              </a:rPr>
              <a:t>とは？</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アカウント紹介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アカウントの概要</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アカウントの特徴</a:t>
            </a:r>
            <a:endParaRPr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ご支援内容の全体像</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プロジェクト①アーキテクチャ戦略</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プロジェクト②業務改善支援</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まとめ</a:t>
            </a:r>
          </a:p>
        </p:txBody>
      </p:sp>
      <p:sp>
        <p:nvSpPr>
          <p:cNvPr id="9" name="テキスト プレースホルダー 8">
            <a:extLst>
              <a:ext uri="{FF2B5EF4-FFF2-40B4-BE49-F238E27FC236}">
                <a16:creationId xmlns:a16="http://schemas.microsoft.com/office/drawing/2014/main" id="{74895B9E-F99F-C2DB-1118-7FA8B5156881}"/>
              </a:ext>
            </a:extLst>
          </p:cNvPr>
          <p:cNvSpPr>
            <a:spLocks noGrp="1"/>
          </p:cNvSpPr>
          <p:nvPr>
            <p:ph type="body" sz="quarter" idx="13"/>
          </p:nvPr>
        </p:nvSpPr>
        <p:spPr/>
        <p:txBody>
          <a:bodyPr/>
          <a:lstStyle/>
          <a:p>
            <a:r>
              <a:rPr lang="en-US" altLang="ja-JP" dirty="0"/>
              <a:t>MTBJ/MUSK</a:t>
            </a:r>
            <a:r>
              <a:rPr lang="ja-JP" altLang="en-US" dirty="0"/>
              <a:t>：プロジェクト紹介</a:t>
            </a:r>
          </a:p>
        </p:txBody>
      </p:sp>
    </p:spTree>
    <p:extLst>
      <p:ext uri="{BB962C8B-B14F-4D97-AF65-F5344CB8AC3E}">
        <p14:creationId xmlns:p14="http://schemas.microsoft.com/office/powerpoint/2010/main" val="42562978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9BE6-6609-9F60-53EE-11AB938043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7D8EFC-BB0C-25DC-5D92-4D240F23A074}"/>
              </a:ext>
            </a:extLst>
          </p:cNvPr>
          <p:cNvSpPr>
            <a:spLocks noGrp="1"/>
          </p:cNvSpPr>
          <p:nvPr>
            <p:ph type="title"/>
          </p:nvPr>
        </p:nvSpPr>
        <p:spPr/>
        <p:txBody>
          <a:bodyPr/>
          <a:lstStyle/>
          <a:p>
            <a:r>
              <a:rPr lang="en-US" altLang="ja-JP" dirty="0"/>
              <a:t>1. </a:t>
            </a:r>
            <a:r>
              <a:rPr lang="ja-JP" altLang="en-US" dirty="0"/>
              <a:t>三菱</a:t>
            </a:r>
            <a:r>
              <a:rPr lang="en-US" altLang="ja-JP" dirty="0"/>
              <a:t>UFJ</a:t>
            </a:r>
            <a:r>
              <a:rPr lang="ja-JP" altLang="en-US" dirty="0"/>
              <a:t>トラストシステム株式会社（</a:t>
            </a:r>
            <a:r>
              <a:rPr lang="en-US" altLang="ja-JP" dirty="0"/>
              <a:t>MUSK</a:t>
            </a:r>
            <a:r>
              <a:rPr lang="ja-JP" altLang="en-US" dirty="0"/>
              <a:t>）とは？</a:t>
            </a:r>
            <a:endParaRPr kumimoji="1" lang="ja-JP" altLang="en-US" dirty="0"/>
          </a:p>
        </p:txBody>
      </p:sp>
      <p:sp>
        <p:nvSpPr>
          <p:cNvPr id="3" name="テキスト プレースホルダー 2">
            <a:extLst>
              <a:ext uri="{FF2B5EF4-FFF2-40B4-BE49-F238E27FC236}">
                <a16:creationId xmlns:a16="http://schemas.microsoft.com/office/drawing/2014/main" id="{E1887922-C14A-AB07-B1C3-98A51CCC0803}"/>
              </a:ext>
            </a:extLst>
          </p:cNvPr>
          <p:cNvSpPr>
            <a:spLocks noGrp="1"/>
          </p:cNvSpPr>
          <p:nvPr>
            <p:ph type="body" idx="12"/>
          </p:nvPr>
        </p:nvSpPr>
        <p:spPr>
          <a:xfrm>
            <a:off x="488999" y="969722"/>
            <a:ext cx="9131121" cy="669414"/>
          </a:xfrm>
        </p:spPr>
        <p:txBody>
          <a:bodyPr/>
          <a:lstStyle/>
          <a:p>
            <a:r>
              <a:rPr lang="en-US" altLang="ja-JP" dirty="0"/>
              <a:t>MUTB</a:t>
            </a:r>
            <a:r>
              <a:rPr lang="ja-JP" altLang="en-US" dirty="0"/>
              <a:t>配下のシステム開発を担っている会社です（</a:t>
            </a:r>
            <a:r>
              <a:rPr lang="en-US" altLang="ja-JP" dirty="0"/>
              <a:t>MUBK</a:t>
            </a:r>
            <a:r>
              <a:rPr lang="ja-JP" altLang="en-US" dirty="0"/>
              <a:t>でいうと</a:t>
            </a:r>
            <a:r>
              <a:rPr lang="en-US" altLang="ja-JP" dirty="0"/>
              <a:t>MUIT</a:t>
            </a:r>
            <a:r>
              <a:rPr lang="ja-JP" altLang="en-US" dirty="0"/>
              <a:t>に相当する会社）。</a:t>
            </a:r>
            <a:endParaRPr kumimoji="1" lang="ja-JP" altLang="en-US" dirty="0"/>
          </a:p>
        </p:txBody>
      </p:sp>
      <p:sp>
        <p:nvSpPr>
          <p:cNvPr id="4" name="テキスト プレースホルダー 3">
            <a:extLst>
              <a:ext uri="{FF2B5EF4-FFF2-40B4-BE49-F238E27FC236}">
                <a16:creationId xmlns:a16="http://schemas.microsoft.com/office/drawing/2014/main" id="{DD86AF5B-699F-5953-5212-15255D4B2323}"/>
              </a:ext>
            </a:extLst>
          </p:cNvPr>
          <p:cNvSpPr>
            <a:spLocks noGrp="1"/>
          </p:cNvSpPr>
          <p:nvPr>
            <p:ph type="body" sz="quarter" idx="13"/>
          </p:nvPr>
        </p:nvSpPr>
        <p:spPr/>
        <p:txBody>
          <a:bodyPr/>
          <a:lstStyle/>
          <a:p>
            <a:r>
              <a:rPr lang="en-US" altLang="ja-JP" dirty="0">
                <a:solidFill>
                  <a:prstClr val="black"/>
                </a:solidFill>
              </a:rPr>
              <a:t>1. MTBJ/MUSK</a:t>
            </a:r>
            <a:r>
              <a:rPr lang="ja-JP" altLang="en-US" dirty="0">
                <a:solidFill>
                  <a:prstClr val="black"/>
                </a:solidFill>
              </a:rPr>
              <a:t>の概要</a:t>
            </a:r>
            <a:endParaRPr kumimoji="1" lang="ja-JP" altLang="en-US" dirty="0"/>
          </a:p>
        </p:txBody>
      </p:sp>
      <p:grpSp>
        <p:nvGrpSpPr>
          <p:cNvPr id="15" name="グループ化 14">
            <a:extLst>
              <a:ext uri="{FF2B5EF4-FFF2-40B4-BE49-F238E27FC236}">
                <a16:creationId xmlns:a16="http://schemas.microsoft.com/office/drawing/2014/main" id="{A4313428-1089-416A-360A-21CD1109CAAF}"/>
              </a:ext>
            </a:extLst>
          </p:cNvPr>
          <p:cNvGrpSpPr/>
          <p:nvPr/>
        </p:nvGrpSpPr>
        <p:grpSpPr>
          <a:xfrm>
            <a:off x="4904659" y="1570100"/>
            <a:ext cx="4715461" cy="4921535"/>
            <a:chOff x="488999" y="1570100"/>
            <a:chExt cx="4201113" cy="4921535"/>
          </a:xfrm>
        </p:grpSpPr>
        <p:pic>
          <p:nvPicPr>
            <p:cNvPr id="8" name="図 7" descr="文字と写真のスクリーンショット&#10;&#10;AI 生成コンテンツは誤りを含む可能性があります。">
              <a:extLst>
                <a:ext uri="{FF2B5EF4-FFF2-40B4-BE49-F238E27FC236}">
                  <a16:creationId xmlns:a16="http://schemas.microsoft.com/office/drawing/2014/main" id="{2FE7ABC2-50C7-A2D6-59F9-4943167468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999" y="1570100"/>
              <a:ext cx="4201112" cy="2273760"/>
            </a:xfrm>
            <a:prstGeom prst="rect">
              <a:avLst/>
            </a:prstGeom>
          </p:spPr>
        </p:pic>
        <p:pic>
          <p:nvPicPr>
            <p:cNvPr id="10" name="図 9" descr="グラフィカル ユーザー インターフェイス, テキスト&#10;&#10;AI 生成コンテンツは誤りを含む可能性があります。">
              <a:extLst>
                <a:ext uri="{FF2B5EF4-FFF2-40B4-BE49-F238E27FC236}">
                  <a16:creationId xmlns:a16="http://schemas.microsoft.com/office/drawing/2014/main" id="{4A9BE1E1-5B9D-419D-F4A2-9481BDC831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999" y="4123393"/>
              <a:ext cx="4201113" cy="1099321"/>
            </a:xfrm>
            <a:prstGeom prst="rect">
              <a:avLst/>
            </a:prstGeom>
          </p:spPr>
        </p:pic>
        <p:pic>
          <p:nvPicPr>
            <p:cNvPr id="12" name="図 11" descr="グラフィカル ユーザー インターフェイス&#10;&#10;AI 生成コンテンツは誤りを含む可能性があります。">
              <a:extLst>
                <a:ext uri="{FF2B5EF4-FFF2-40B4-BE49-F238E27FC236}">
                  <a16:creationId xmlns:a16="http://schemas.microsoft.com/office/drawing/2014/main" id="{C9AAE0E4-9C9D-0194-5974-B6023B6C8C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999" y="5502246"/>
              <a:ext cx="4201112" cy="989389"/>
            </a:xfrm>
            <a:prstGeom prst="rect">
              <a:avLst/>
            </a:prstGeom>
          </p:spPr>
        </p:pic>
        <p:sp>
          <p:nvSpPr>
            <p:cNvPr id="13" name="楕円 12">
              <a:extLst>
                <a:ext uri="{FF2B5EF4-FFF2-40B4-BE49-F238E27FC236}">
                  <a16:creationId xmlns:a16="http://schemas.microsoft.com/office/drawing/2014/main" id="{38D90A1D-355F-A519-6C3E-775634E9F0B7}"/>
                </a:ext>
              </a:extLst>
            </p:cNvPr>
            <p:cNvSpPr/>
            <p:nvPr/>
          </p:nvSpPr>
          <p:spPr bwMode="auto">
            <a:xfrm>
              <a:off x="2409555" y="3803626"/>
              <a:ext cx="360000" cy="360000"/>
            </a:xfrm>
            <a:prstGeom prst="ellipse">
              <a:avLst/>
            </a:prstGeom>
            <a:solidFill>
              <a:schemeClr val="bg1"/>
            </a:solidFill>
            <a:ln w="6350" cap="flat" cmpd="sng" algn="ctr">
              <a:solidFill>
                <a:schemeClr val="tx1"/>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600" b="1" dirty="0">
                  <a:solidFill>
                    <a:prstClr val="black"/>
                  </a:solidFill>
                  <a:latin typeface="Meiryo UI" panose="020B0604030504040204" pitchFamily="50" charset="-128"/>
                  <a:ea typeface="Meiryo UI" panose="020B0604030504040204" pitchFamily="50" charset="-128"/>
                </a:rPr>
                <a:t>×</a:t>
              </a:r>
              <a:endParaRPr kumimoji="1" lang="ja-JP" altLang="en-US" sz="1600" b="1" dirty="0">
                <a:solidFill>
                  <a:prstClr val="black"/>
                </a:solidFill>
                <a:latin typeface="Meiryo UI" panose="020B0604030504040204" pitchFamily="50" charset="-128"/>
                <a:ea typeface="Meiryo UI" panose="020B0604030504040204" pitchFamily="50" charset="-128"/>
              </a:endParaRPr>
            </a:p>
          </p:txBody>
        </p:sp>
        <p:sp>
          <p:nvSpPr>
            <p:cNvPr id="14" name="楕円 13">
              <a:extLst>
                <a:ext uri="{FF2B5EF4-FFF2-40B4-BE49-F238E27FC236}">
                  <a16:creationId xmlns:a16="http://schemas.microsoft.com/office/drawing/2014/main" id="{D146F507-2355-3D2D-97CD-288EABC2E7B9}"/>
                </a:ext>
              </a:extLst>
            </p:cNvPr>
            <p:cNvSpPr/>
            <p:nvPr/>
          </p:nvSpPr>
          <p:spPr bwMode="auto">
            <a:xfrm>
              <a:off x="2409555" y="5182480"/>
              <a:ext cx="360000" cy="360000"/>
            </a:xfrm>
            <a:prstGeom prst="ellipse">
              <a:avLst/>
            </a:prstGeom>
            <a:solidFill>
              <a:schemeClr val="bg1"/>
            </a:solidFill>
            <a:ln w="6350" cap="flat" cmpd="sng" algn="ctr">
              <a:solidFill>
                <a:schemeClr val="tx1"/>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600" b="1" dirty="0">
                  <a:solidFill>
                    <a:prstClr val="black"/>
                  </a:solidFill>
                  <a:latin typeface="Meiryo UI" panose="020B0604030504040204" pitchFamily="50" charset="-128"/>
                  <a:ea typeface="Meiryo UI" panose="020B0604030504040204" pitchFamily="50" charset="-128"/>
                </a:rPr>
                <a:t>×</a:t>
              </a:r>
              <a:endParaRPr kumimoji="1" lang="ja-JP" altLang="en-US" sz="1600" b="1" dirty="0">
                <a:solidFill>
                  <a:prstClr val="black"/>
                </a:solidFill>
                <a:latin typeface="Meiryo UI" panose="020B0604030504040204" pitchFamily="50" charset="-128"/>
                <a:ea typeface="Meiryo UI" panose="020B0604030504040204" pitchFamily="50" charset="-128"/>
              </a:endParaRPr>
            </a:p>
          </p:txBody>
        </p:sp>
      </p:grpSp>
      <p:pic>
        <p:nvPicPr>
          <p:cNvPr id="17" name="図 16" descr="テーブル&#10;&#10;AI 生成コンテンツは誤りを含む可能性があります。">
            <a:extLst>
              <a:ext uri="{FF2B5EF4-FFF2-40B4-BE49-F238E27FC236}">
                <a16:creationId xmlns:a16="http://schemas.microsoft.com/office/drawing/2014/main" id="{56C7B8A8-4D78-3020-F85D-18F8F4E59F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9000" y="1570100"/>
            <a:ext cx="4321126" cy="2382775"/>
          </a:xfrm>
          <a:prstGeom prst="rect">
            <a:avLst/>
          </a:prstGeom>
        </p:spPr>
      </p:pic>
      <p:sp>
        <p:nvSpPr>
          <p:cNvPr id="18" name="正方形/長方形 17">
            <a:extLst>
              <a:ext uri="{FF2B5EF4-FFF2-40B4-BE49-F238E27FC236}">
                <a16:creationId xmlns:a16="http://schemas.microsoft.com/office/drawing/2014/main" id="{602C941E-8AAF-6D24-FDA0-816B75DF5D1E}"/>
              </a:ext>
            </a:extLst>
          </p:cNvPr>
          <p:cNvSpPr/>
          <p:nvPr/>
        </p:nvSpPr>
        <p:spPr bwMode="auto">
          <a:xfrm>
            <a:off x="8105775" y="1681163"/>
            <a:ext cx="1320254" cy="1085850"/>
          </a:xfrm>
          <a:prstGeom prst="rect">
            <a:avLst/>
          </a:prstGeom>
          <a:noFill/>
          <a:ln w="19050" cap="flat" cmpd="sng" algn="ctr">
            <a:solidFill>
              <a:srgbClr val="A100FF"/>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19" name="吹き出し: 四角形 18">
            <a:extLst>
              <a:ext uri="{FF2B5EF4-FFF2-40B4-BE49-F238E27FC236}">
                <a16:creationId xmlns:a16="http://schemas.microsoft.com/office/drawing/2014/main" id="{44736B1B-8F7E-C8FF-69D0-0299DC2E6D2C}"/>
              </a:ext>
            </a:extLst>
          </p:cNvPr>
          <p:cNvSpPr/>
          <p:nvPr/>
        </p:nvSpPr>
        <p:spPr bwMode="auto">
          <a:xfrm>
            <a:off x="8260080" y="1257300"/>
            <a:ext cx="1074420" cy="373760"/>
          </a:xfrm>
          <a:prstGeom prst="wedgeRectCallout">
            <a:avLst/>
          </a:prstGeom>
          <a:solidFill>
            <a:schemeClr val="bg1"/>
          </a:solidFill>
          <a:ln w="19050" cap="flat" cmpd="sng" algn="ctr">
            <a:solidFill>
              <a:srgbClr val="A100FF"/>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MTBJ</a:t>
            </a:r>
            <a:r>
              <a:rPr kumimoji="1" lang="ja-JP" altLang="en-US" sz="1050" dirty="0">
                <a:solidFill>
                  <a:prstClr val="black"/>
                </a:solidFill>
                <a:latin typeface="Meiryo UI" panose="020B0604030504040204" pitchFamily="50" charset="-128"/>
                <a:ea typeface="Meiryo UI" panose="020B0604030504040204" pitchFamily="50" charset="-128"/>
              </a:rPr>
              <a:t>はここ！</a:t>
            </a:r>
          </a:p>
        </p:txBody>
      </p:sp>
      <p:sp>
        <p:nvSpPr>
          <p:cNvPr id="20" name="正方形/長方形 19">
            <a:extLst>
              <a:ext uri="{FF2B5EF4-FFF2-40B4-BE49-F238E27FC236}">
                <a16:creationId xmlns:a16="http://schemas.microsoft.com/office/drawing/2014/main" id="{395C87E3-A9B9-DDD0-D784-990D44E0B199}"/>
              </a:ext>
            </a:extLst>
          </p:cNvPr>
          <p:cNvSpPr/>
          <p:nvPr/>
        </p:nvSpPr>
        <p:spPr bwMode="auto">
          <a:xfrm>
            <a:off x="5307330" y="1681163"/>
            <a:ext cx="1320254" cy="1085850"/>
          </a:xfrm>
          <a:prstGeom prst="rect">
            <a:avLst/>
          </a:prstGeom>
          <a:noFill/>
          <a:ln w="19050" cap="flat" cmpd="sng" algn="ctr">
            <a:solidFill>
              <a:srgbClr val="A100FF"/>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21" name="吹き出し: 四角形 20">
            <a:extLst>
              <a:ext uri="{FF2B5EF4-FFF2-40B4-BE49-F238E27FC236}">
                <a16:creationId xmlns:a16="http://schemas.microsoft.com/office/drawing/2014/main" id="{1BFB2B68-049B-97E0-37A0-140D7FB7D77B}"/>
              </a:ext>
            </a:extLst>
          </p:cNvPr>
          <p:cNvSpPr/>
          <p:nvPr/>
        </p:nvSpPr>
        <p:spPr bwMode="auto">
          <a:xfrm>
            <a:off x="5394960" y="1257300"/>
            <a:ext cx="1074420" cy="373760"/>
          </a:xfrm>
          <a:prstGeom prst="wedgeRectCallout">
            <a:avLst/>
          </a:prstGeom>
          <a:solidFill>
            <a:schemeClr val="bg1"/>
          </a:solidFill>
          <a:ln w="19050" cap="flat" cmpd="sng" algn="ctr">
            <a:solidFill>
              <a:srgbClr val="A100FF"/>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050" dirty="0">
                <a:solidFill>
                  <a:prstClr val="black"/>
                </a:solidFill>
                <a:latin typeface="Meiryo UI" panose="020B0604030504040204" pitchFamily="50" charset="-128"/>
                <a:ea typeface="Meiryo UI" panose="020B0604030504040204" pitchFamily="50" charset="-128"/>
              </a:rPr>
              <a:t>ちなみに</a:t>
            </a:r>
            <a:r>
              <a:rPr lang="en-US" altLang="ja-JP" sz="1050" dirty="0">
                <a:solidFill>
                  <a:prstClr val="black"/>
                </a:solidFill>
                <a:latin typeface="Meiryo UI" panose="020B0604030504040204" pitchFamily="50" charset="-128"/>
                <a:ea typeface="Meiryo UI" panose="020B0604030504040204" pitchFamily="50" charset="-128"/>
              </a:rPr>
              <a:t>MUTB</a:t>
            </a:r>
            <a:r>
              <a:rPr lang="ja-JP" altLang="en-US" sz="1050" dirty="0">
                <a:solidFill>
                  <a:prstClr val="black"/>
                </a:solidFill>
                <a:latin typeface="Meiryo UI" panose="020B0604030504040204" pitchFamily="50" charset="-128"/>
                <a:ea typeface="Meiryo UI" panose="020B0604030504040204" pitchFamily="50" charset="-128"/>
              </a:rPr>
              <a:t>の</a:t>
            </a:r>
            <a:endParaRPr lang="en-US" altLang="ja-JP" sz="105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BEST</a:t>
            </a:r>
            <a:r>
              <a:rPr kumimoji="1" lang="ja-JP" altLang="en-US" sz="1050" dirty="0">
                <a:solidFill>
                  <a:prstClr val="black"/>
                </a:solidFill>
                <a:latin typeface="Meiryo UI" panose="020B0604030504040204" pitchFamily="50" charset="-128"/>
                <a:ea typeface="Meiryo UI" panose="020B0604030504040204" pitchFamily="50" charset="-128"/>
              </a:rPr>
              <a:t>はここ！</a:t>
            </a:r>
          </a:p>
        </p:txBody>
      </p:sp>
    </p:spTree>
    <p:extLst>
      <p:ext uri="{BB962C8B-B14F-4D97-AF65-F5344CB8AC3E}">
        <p14:creationId xmlns:p14="http://schemas.microsoft.com/office/powerpoint/2010/main" val="3724405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EE07F-DBA0-409A-F30C-A50BCB03C3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B7CA0A-40FB-63BD-F631-7365C07212F8}"/>
              </a:ext>
            </a:extLst>
          </p:cNvPr>
          <p:cNvSpPr>
            <a:spLocks noGrp="1"/>
          </p:cNvSpPr>
          <p:nvPr>
            <p:ph type="title"/>
          </p:nvPr>
        </p:nvSpPr>
        <p:spPr/>
        <p:txBody>
          <a:bodyPr/>
          <a:lstStyle/>
          <a:p>
            <a:r>
              <a:rPr lang="en-US" altLang="ja-JP" dirty="0"/>
              <a:t>2. MTBJ</a:t>
            </a:r>
            <a:r>
              <a:rPr lang="ja-JP" altLang="en-US" dirty="0"/>
              <a:t>とどんな関係があるのか？</a:t>
            </a:r>
            <a:endParaRPr kumimoji="1" lang="ja-JP" altLang="en-US" dirty="0"/>
          </a:p>
        </p:txBody>
      </p:sp>
      <p:sp>
        <p:nvSpPr>
          <p:cNvPr id="3" name="テキスト プレースホルダー 2">
            <a:extLst>
              <a:ext uri="{FF2B5EF4-FFF2-40B4-BE49-F238E27FC236}">
                <a16:creationId xmlns:a16="http://schemas.microsoft.com/office/drawing/2014/main" id="{81726233-61E2-8C48-A9C9-43C2A1001A83}"/>
              </a:ext>
            </a:extLst>
          </p:cNvPr>
          <p:cNvSpPr>
            <a:spLocks noGrp="1"/>
          </p:cNvSpPr>
          <p:nvPr>
            <p:ph type="body" idx="12"/>
          </p:nvPr>
        </p:nvSpPr>
        <p:spPr>
          <a:xfrm>
            <a:off x="488999" y="969722"/>
            <a:ext cx="9131121" cy="669414"/>
          </a:xfrm>
        </p:spPr>
        <p:txBody>
          <a:bodyPr/>
          <a:lstStyle/>
          <a:p>
            <a:r>
              <a:rPr kumimoji="1" lang="en-US" altLang="ja-JP" dirty="0"/>
              <a:t>MTBJ</a:t>
            </a:r>
            <a:r>
              <a:rPr lang="ja-JP" altLang="en-US" dirty="0"/>
              <a:t>とは資本関係がないので、計算代行手数料としてお金を支払ってシステム開発や運用を委託している。</a:t>
            </a:r>
            <a:endParaRPr lang="en-US" altLang="ja-JP" dirty="0"/>
          </a:p>
          <a:p>
            <a:r>
              <a:rPr kumimoji="1" lang="ja-JP" altLang="en-US" dirty="0"/>
              <a:t>つまり、</a:t>
            </a:r>
            <a:r>
              <a:rPr kumimoji="1" lang="en-US" altLang="ja-JP" dirty="0"/>
              <a:t>MTBJ</a:t>
            </a:r>
            <a:r>
              <a:rPr kumimoji="1" lang="ja-JP" altLang="en-US" dirty="0"/>
              <a:t>からみて</a:t>
            </a:r>
            <a:r>
              <a:rPr lang="ja-JP" altLang="en-US" dirty="0"/>
              <a:t>、我々と同様に</a:t>
            </a:r>
            <a:r>
              <a:rPr lang="en-US" altLang="ja-JP" dirty="0"/>
              <a:t>BP</a:t>
            </a:r>
            <a:r>
              <a:rPr lang="ja-JP" altLang="en-US" dirty="0"/>
              <a:t>の位置づけられます。</a:t>
            </a:r>
            <a:endParaRPr kumimoji="1" lang="en-US" altLang="ja-JP" dirty="0"/>
          </a:p>
        </p:txBody>
      </p:sp>
      <p:sp>
        <p:nvSpPr>
          <p:cNvPr id="4" name="テキスト プレースホルダー 3">
            <a:extLst>
              <a:ext uri="{FF2B5EF4-FFF2-40B4-BE49-F238E27FC236}">
                <a16:creationId xmlns:a16="http://schemas.microsoft.com/office/drawing/2014/main" id="{B87A1B71-8598-99DC-77B7-7204AB67B1BB}"/>
              </a:ext>
            </a:extLst>
          </p:cNvPr>
          <p:cNvSpPr>
            <a:spLocks noGrp="1"/>
          </p:cNvSpPr>
          <p:nvPr>
            <p:ph type="body" sz="quarter" idx="13"/>
          </p:nvPr>
        </p:nvSpPr>
        <p:spPr/>
        <p:txBody>
          <a:bodyPr/>
          <a:lstStyle/>
          <a:p>
            <a:r>
              <a:rPr lang="en-US" altLang="ja-JP" dirty="0">
                <a:solidFill>
                  <a:prstClr val="black"/>
                </a:solidFill>
              </a:rPr>
              <a:t>1. MTBJ/MUSK</a:t>
            </a:r>
            <a:r>
              <a:rPr lang="ja-JP" altLang="en-US" dirty="0">
                <a:solidFill>
                  <a:prstClr val="black"/>
                </a:solidFill>
              </a:rPr>
              <a:t>の概要</a:t>
            </a:r>
            <a:endParaRPr kumimoji="1" lang="ja-JP" altLang="en-US" dirty="0"/>
          </a:p>
        </p:txBody>
      </p:sp>
      <p:grpSp>
        <p:nvGrpSpPr>
          <p:cNvPr id="26" name="グループ化 25">
            <a:extLst>
              <a:ext uri="{FF2B5EF4-FFF2-40B4-BE49-F238E27FC236}">
                <a16:creationId xmlns:a16="http://schemas.microsoft.com/office/drawing/2014/main" id="{44AB8148-C7B5-5159-C5BC-8B7FAE7588E7}"/>
              </a:ext>
            </a:extLst>
          </p:cNvPr>
          <p:cNvGrpSpPr/>
          <p:nvPr/>
        </p:nvGrpSpPr>
        <p:grpSpPr>
          <a:xfrm>
            <a:off x="5249318" y="2986671"/>
            <a:ext cx="4167183" cy="1655281"/>
            <a:chOff x="5249318" y="2578454"/>
            <a:chExt cx="4167183" cy="1368001"/>
          </a:xfrm>
        </p:grpSpPr>
        <p:sp>
          <p:nvSpPr>
            <p:cNvPr id="27" name="正方形/長方形 493">
              <a:extLst>
                <a:ext uri="{FF2B5EF4-FFF2-40B4-BE49-F238E27FC236}">
                  <a16:creationId xmlns:a16="http://schemas.microsoft.com/office/drawing/2014/main" id="{52573E32-8B67-EE08-B38C-E063377E148A}"/>
                </a:ext>
              </a:extLst>
            </p:cNvPr>
            <p:cNvSpPr>
              <a:spLocks noChangeArrowheads="1"/>
            </p:cNvSpPr>
            <p:nvPr/>
          </p:nvSpPr>
          <p:spPr bwMode="auto">
            <a:xfrm>
              <a:off x="5249318" y="2606619"/>
              <a:ext cx="1296000" cy="288000"/>
            </a:xfrm>
            <a:prstGeom prst="rect">
              <a:avLst/>
            </a:prstGeom>
            <a:solidFill>
              <a:sysClr val="window" lastClr="FFFFFF"/>
            </a:solidFill>
            <a:ln w="6350" algn="ctr">
              <a:solidFill>
                <a:srgbClr val="A100FF"/>
              </a:solidFill>
              <a:miter lim="800000"/>
              <a:headEnd/>
              <a:tailEnd/>
            </a:ln>
            <a:effectLst/>
          </p:spPr>
          <p:txBody>
            <a:bodyPr wrap="none" lIns="72000" tIns="72000" rIns="72000" bIns="7200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400" b="0" i="0" u="none" strike="noStrike" kern="0" cap="none" spc="0" normalizeH="0" baseline="0" noProof="0">
                  <a:ln>
                    <a:noFill/>
                  </a:ln>
                  <a:solidFill>
                    <a:prstClr val="black"/>
                  </a:solidFill>
                  <a:effectLst/>
                  <a:uLnTx/>
                  <a:uFillTx/>
                  <a:cs typeface="Meiryo UI" panose="020B0604030504040204" pitchFamily="50" charset="-128"/>
                </a:rPr>
                <a:t>MTBJ</a:t>
              </a:r>
              <a:endParaRPr kumimoji="0" lang="ja-JP" altLang="en-US" sz="140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28" name="正方形/長方形 493">
              <a:extLst>
                <a:ext uri="{FF2B5EF4-FFF2-40B4-BE49-F238E27FC236}">
                  <a16:creationId xmlns:a16="http://schemas.microsoft.com/office/drawing/2014/main" id="{860FBAAA-F110-3E4F-59C5-233310A2380C}"/>
                </a:ext>
              </a:extLst>
            </p:cNvPr>
            <p:cNvSpPr>
              <a:spLocks noChangeArrowheads="1"/>
            </p:cNvSpPr>
            <p:nvPr/>
          </p:nvSpPr>
          <p:spPr bwMode="auto">
            <a:xfrm>
              <a:off x="5249318" y="3300533"/>
              <a:ext cx="1296000" cy="288000"/>
            </a:xfrm>
            <a:prstGeom prst="rect">
              <a:avLst/>
            </a:prstGeom>
            <a:solidFill>
              <a:sysClr val="window" lastClr="FFFFFF"/>
            </a:solidFill>
            <a:ln w="6350" algn="ctr">
              <a:solidFill>
                <a:srgbClr val="A100FF"/>
              </a:solidFill>
              <a:miter lim="800000"/>
              <a:headEnd/>
              <a:tailEnd/>
            </a:ln>
            <a:effectLst/>
          </p:spPr>
          <p:txBody>
            <a:bodyPr wrap="none" lIns="72000" tIns="72000" rIns="72000" bIns="7200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400" b="0" i="0" u="none" strike="noStrike" kern="0" cap="none" spc="0" normalizeH="0" baseline="0" noProof="0">
                  <a:ln>
                    <a:noFill/>
                  </a:ln>
                  <a:solidFill>
                    <a:prstClr val="black"/>
                  </a:solidFill>
                  <a:effectLst/>
                  <a:uLnTx/>
                  <a:uFillTx/>
                  <a:cs typeface="Meiryo UI" panose="020B0604030504040204" pitchFamily="50" charset="-128"/>
                </a:rPr>
                <a:t>MUSK</a:t>
              </a:r>
              <a:endParaRPr kumimoji="0" lang="ja-JP" altLang="en-US" sz="1400" b="0" i="0" u="none" strike="noStrike" kern="0" cap="none" spc="0" normalizeH="0" baseline="0" noProof="0">
                <a:ln>
                  <a:noFill/>
                </a:ln>
                <a:solidFill>
                  <a:prstClr val="black"/>
                </a:solidFill>
                <a:effectLst/>
                <a:uLnTx/>
                <a:uFillTx/>
                <a:cs typeface="Meiryo UI" panose="020B0604030504040204" pitchFamily="50" charset="-128"/>
              </a:endParaRPr>
            </a:p>
          </p:txBody>
        </p:sp>
        <p:cxnSp>
          <p:nvCxnSpPr>
            <p:cNvPr id="29" name="直線矢印コネクタ 28">
              <a:extLst>
                <a:ext uri="{FF2B5EF4-FFF2-40B4-BE49-F238E27FC236}">
                  <a16:creationId xmlns:a16="http://schemas.microsoft.com/office/drawing/2014/main" id="{2E59E3F9-3D72-F5EB-198C-782E9F22F5C5}"/>
                </a:ext>
              </a:extLst>
            </p:cNvPr>
            <p:cNvCxnSpPr>
              <a:cxnSpLocks/>
            </p:cNvCxnSpPr>
            <p:nvPr/>
          </p:nvCxnSpPr>
          <p:spPr>
            <a:xfrm>
              <a:off x="5563943" y="2894619"/>
              <a:ext cx="0" cy="405914"/>
            </a:xfrm>
            <a:prstGeom prst="straightConnector1">
              <a:avLst/>
            </a:prstGeom>
            <a:noFill/>
            <a:ln w="12700" cap="flat" cmpd="sng" algn="ctr">
              <a:solidFill>
                <a:srgbClr val="44546A"/>
              </a:solidFill>
              <a:prstDash val="solid"/>
              <a:tailEnd type="triangle"/>
            </a:ln>
            <a:effectLst/>
          </p:spPr>
        </p:cxnSp>
        <p:cxnSp>
          <p:nvCxnSpPr>
            <p:cNvPr id="30" name="直線矢印コネクタ 29">
              <a:extLst>
                <a:ext uri="{FF2B5EF4-FFF2-40B4-BE49-F238E27FC236}">
                  <a16:creationId xmlns:a16="http://schemas.microsoft.com/office/drawing/2014/main" id="{2CBAFABD-25FF-058B-8D67-08912D960DDF}"/>
                </a:ext>
              </a:extLst>
            </p:cNvPr>
            <p:cNvCxnSpPr>
              <a:cxnSpLocks/>
              <a:stCxn id="28" idx="0"/>
              <a:endCxn id="27" idx="2"/>
            </p:cNvCxnSpPr>
            <p:nvPr/>
          </p:nvCxnSpPr>
          <p:spPr>
            <a:xfrm flipV="1">
              <a:off x="5897318" y="2894619"/>
              <a:ext cx="0" cy="405914"/>
            </a:xfrm>
            <a:prstGeom prst="straightConnector1">
              <a:avLst/>
            </a:prstGeom>
            <a:noFill/>
            <a:ln w="12700" cap="flat" cmpd="sng" algn="ctr">
              <a:solidFill>
                <a:srgbClr val="44546A"/>
              </a:solidFill>
              <a:prstDash val="solid"/>
              <a:tailEnd type="triangle"/>
            </a:ln>
            <a:effectLst/>
          </p:spPr>
        </p:cxnSp>
        <p:cxnSp>
          <p:nvCxnSpPr>
            <p:cNvPr id="31" name="直線矢印コネクタ 30">
              <a:extLst>
                <a:ext uri="{FF2B5EF4-FFF2-40B4-BE49-F238E27FC236}">
                  <a16:creationId xmlns:a16="http://schemas.microsoft.com/office/drawing/2014/main" id="{26464090-E2AE-DB51-6C20-271FB8243A38}"/>
                </a:ext>
              </a:extLst>
            </p:cNvPr>
            <p:cNvCxnSpPr>
              <a:cxnSpLocks/>
            </p:cNvCxnSpPr>
            <p:nvPr/>
          </p:nvCxnSpPr>
          <p:spPr>
            <a:xfrm>
              <a:off x="6240218" y="2894619"/>
              <a:ext cx="0" cy="405914"/>
            </a:xfrm>
            <a:prstGeom prst="straightConnector1">
              <a:avLst/>
            </a:prstGeom>
            <a:noFill/>
            <a:ln w="12700" cap="flat" cmpd="sng" algn="ctr">
              <a:solidFill>
                <a:srgbClr val="44546A"/>
              </a:solidFill>
              <a:prstDash val="solid"/>
              <a:tailEnd type="triangle"/>
            </a:ln>
            <a:effectLst/>
          </p:spPr>
        </p:cxnSp>
        <p:sp>
          <p:nvSpPr>
            <p:cNvPr id="32" name="円柱 31">
              <a:extLst>
                <a:ext uri="{FF2B5EF4-FFF2-40B4-BE49-F238E27FC236}">
                  <a16:creationId xmlns:a16="http://schemas.microsoft.com/office/drawing/2014/main" id="{58D9F477-398E-B9D6-9656-36E71B8FE1AD}"/>
                </a:ext>
              </a:extLst>
            </p:cNvPr>
            <p:cNvSpPr/>
            <p:nvPr/>
          </p:nvSpPr>
          <p:spPr bwMode="auto">
            <a:xfrm>
              <a:off x="5671793" y="3666023"/>
              <a:ext cx="463044" cy="280432"/>
            </a:xfrm>
            <a:prstGeom prst="can">
              <a:avLst/>
            </a:prstGeom>
            <a:solidFill>
              <a:sysClr val="window" lastClr="FFFFFF"/>
            </a:solidFill>
            <a:ln w="6350" algn="ctr">
              <a:solidFill>
                <a:srgbClr val="A100FF"/>
              </a:solid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ja-JP" altLang="en-US" sz="1400" b="0" i="0" u="none" strike="noStrike" kern="0" cap="none" spc="0" normalizeH="0" baseline="0" noProof="0">
                  <a:ln>
                    <a:noFill/>
                  </a:ln>
                  <a:solidFill>
                    <a:prstClr val="black"/>
                  </a:solidFill>
                  <a:effectLst/>
                  <a:uLnTx/>
                  <a:uFillTx/>
                  <a:cs typeface="Meiryo UI" panose="020B0604030504040204" pitchFamily="50" charset="-128"/>
                </a:rPr>
                <a:t>資産</a:t>
              </a:r>
            </a:p>
          </p:txBody>
        </p:sp>
        <p:sp>
          <p:nvSpPr>
            <p:cNvPr id="33" name="楕円 32">
              <a:extLst>
                <a:ext uri="{FF2B5EF4-FFF2-40B4-BE49-F238E27FC236}">
                  <a16:creationId xmlns:a16="http://schemas.microsoft.com/office/drawing/2014/main" id="{785FA441-661A-8929-D71A-8F2DF20587F1}"/>
                </a:ext>
              </a:extLst>
            </p:cNvPr>
            <p:cNvSpPr/>
            <p:nvPr/>
          </p:nvSpPr>
          <p:spPr bwMode="auto">
            <a:xfrm>
              <a:off x="5493792" y="3030900"/>
              <a:ext cx="144000" cy="144000"/>
            </a:xfrm>
            <a:prstGeom prst="ellipse">
              <a:avLst/>
            </a:prstGeom>
            <a:solidFill>
              <a:sysClr val="window" lastClr="FFFFFF"/>
            </a:solidFill>
            <a:ln w="6350" algn="ctr">
              <a:solidFill>
                <a:sysClr val="windowText" lastClr="000000"/>
              </a:solid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050" b="0" i="0" u="none" strike="noStrike" kern="0" cap="none" spc="0" normalizeH="0" baseline="0" noProof="0">
                  <a:ln>
                    <a:noFill/>
                  </a:ln>
                  <a:solidFill>
                    <a:prstClr val="black"/>
                  </a:solidFill>
                  <a:effectLst/>
                  <a:uLnTx/>
                  <a:uFillTx/>
                  <a:cs typeface="Meiryo UI" panose="020B0604030504040204" pitchFamily="50" charset="-128"/>
                </a:rPr>
                <a:t>2</a:t>
              </a:r>
              <a:endParaRPr kumimoji="0" lang="ja-JP" altLang="en-US" sz="105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34" name="楕円 33">
              <a:extLst>
                <a:ext uri="{FF2B5EF4-FFF2-40B4-BE49-F238E27FC236}">
                  <a16:creationId xmlns:a16="http://schemas.microsoft.com/office/drawing/2014/main" id="{106A56D4-C00F-2C89-E3D0-7A3D80538129}"/>
                </a:ext>
              </a:extLst>
            </p:cNvPr>
            <p:cNvSpPr/>
            <p:nvPr/>
          </p:nvSpPr>
          <p:spPr bwMode="auto">
            <a:xfrm>
              <a:off x="5820817" y="3030900"/>
              <a:ext cx="144000" cy="144000"/>
            </a:xfrm>
            <a:prstGeom prst="ellipse">
              <a:avLst/>
            </a:prstGeom>
            <a:solidFill>
              <a:sysClr val="window" lastClr="FFFFFF"/>
            </a:solidFill>
            <a:ln w="6350" algn="ctr">
              <a:solidFill>
                <a:sysClr val="windowText" lastClr="000000"/>
              </a:solid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050" b="0" i="0" u="none" strike="noStrike" kern="0" cap="none" spc="0" normalizeH="0" baseline="0" noProof="0">
                  <a:ln>
                    <a:noFill/>
                  </a:ln>
                  <a:solidFill>
                    <a:prstClr val="black"/>
                  </a:solidFill>
                  <a:effectLst/>
                  <a:uLnTx/>
                  <a:uFillTx/>
                  <a:cs typeface="Meiryo UI" panose="020B0604030504040204" pitchFamily="50" charset="-128"/>
                </a:rPr>
                <a:t>3</a:t>
              </a:r>
              <a:endParaRPr kumimoji="0" lang="ja-JP" altLang="en-US" sz="105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35" name="楕円 34">
              <a:extLst>
                <a:ext uri="{FF2B5EF4-FFF2-40B4-BE49-F238E27FC236}">
                  <a16:creationId xmlns:a16="http://schemas.microsoft.com/office/drawing/2014/main" id="{3C8D794E-5D6D-62C4-E39C-B3FDA891DCA5}"/>
                </a:ext>
              </a:extLst>
            </p:cNvPr>
            <p:cNvSpPr/>
            <p:nvPr/>
          </p:nvSpPr>
          <p:spPr bwMode="auto">
            <a:xfrm>
              <a:off x="6166892" y="3030900"/>
              <a:ext cx="144000" cy="144000"/>
            </a:xfrm>
            <a:prstGeom prst="ellipse">
              <a:avLst/>
            </a:prstGeom>
            <a:solidFill>
              <a:sysClr val="window" lastClr="FFFFFF"/>
            </a:solidFill>
            <a:ln w="6350" algn="ctr">
              <a:solidFill>
                <a:sysClr val="windowText" lastClr="000000"/>
              </a:solid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050" b="0" i="0" u="none" strike="noStrike" kern="0" cap="none" spc="0" normalizeH="0" baseline="0" noProof="0">
                  <a:ln>
                    <a:noFill/>
                  </a:ln>
                  <a:solidFill>
                    <a:prstClr val="black"/>
                  </a:solidFill>
                  <a:effectLst/>
                  <a:uLnTx/>
                  <a:uFillTx/>
                  <a:cs typeface="Arial" charset="0"/>
                </a:rPr>
                <a:t>4</a:t>
              </a:r>
              <a:endParaRPr kumimoji="0" lang="ja-JP" altLang="en-US" sz="1050" b="0" i="0" u="none" strike="noStrike" kern="0" cap="none" spc="0" normalizeH="0" baseline="0" noProof="0">
                <a:ln>
                  <a:noFill/>
                </a:ln>
                <a:solidFill>
                  <a:prstClr val="black"/>
                </a:solidFill>
                <a:effectLst/>
                <a:uLnTx/>
                <a:uFillTx/>
                <a:cs typeface="Arial" charset="0"/>
              </a:endParaRPr>
            </a:p>
          </p:txBody>
        </p:sp>
        <p:sp>
          <p:nvSpPr>
            <p:cNvPr id="36" name="正方形/長方形 9">
              <a:extLst>
                <a:ext uri="{FF2B5EF4-FFF2-40B4-BE49-F238E27FC236}">
                  <a16:creationId xmlns:a16="http://schemas.microsoft.com/office/drawing/2014/main" id="{26C64562-8448-AC58-56A0-1511DDE90325}"/>
                </a:ext>
              </a:extLst>
            </p:cNvPr>
            <p:cNvSpPr/>
            <p:nvPr/>
          </p:nvSpPr>
          <p:spPr>
            <a:xfrm>
              <a:off x="6685874" y="2578454"/>
              <a:ext cx="2730627" cy="1368000"/>
            </a:xfrm>
            <a:prstGeom prst="rect">
              <a:avLst/>
            </a:prstGeom>
            <a:solidFill>
              <a:sysClr val="window" lastClr="FFFFFF"/>
            </a:solidFill>
            <a:ln w="9525">
              <a:solidFill>
                <a:sysClr val="window" lastClr="FFFFFF"/>
              </a:solidFill>
              <a:miter lim="800000"/>
              <a:headEnd/>
              <a:tailEnd/>
            </a:ln>
          </p:spPr>
          <p:txBody>
            <a:bodyPr wrap="square" lIns="90488" tIns="44450" rIns="90488" bIns="44450">
              <a:noAutofit/>
            </a:bodyPr>
            <a:lstStyle/>
            <a:p>
              <a:pPr marL="180975" marR="0" lvl="1" indent="-180975" defTabSz="914400" eaLnBrk="1" fontAlgn="base" latinLnBrk="0" hangingPunct="1">
                <a:lnSpc>
                  <a:spcPct val="100000"/>
                </a:lnSpc>
                <a:spcBef>
                  <a:spcPts val="300"/>
                </a:spcBef>
                <a:spcAft>
                  <a:spcPct val="0"/>
                </a:spcAft>
                <a:buClr>
                  <a:prstClr val="black"/>
                </a:buClr>
                <a:buSzTx/>
                <a:buFont typeface="+mj-ea"/>
                <a:buAutoNum type="circleNumDbPlain"/>
                <a:tabLst/>
                <a:defRPr/>
              </a:pPr>
              <a:r>
                <a:rPr kumimoji="0" lang="ja-JP" altLang="en-US" sz="1100" b="0" i="0" u="none" strike="noStrike" kern="0" cap="none" spc="0" normalizeH="0" baseline="0" noProof="0" dirty="0">
                  <a:ln>
                    <a:noFill/>
                  </a:ln>
                  <a:solidFill>
                    <a:prstClr val="black"/>
                  </a:solidFill>
                  <a:effectLst/>
                  <a:uLnTx/>
                  <a:uFillTx/>
                  <a:cs typeface="Meiryo UI" panose="020B0604030504040204" pitchFamily="50" charset="-128"/>
                </a:rPr>
                <a:t>開発したソフトウェア資産（知財等含む）は</a:t>
              </a:r>
              <a:r>
                <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rPr>
                <a:t>MUSK</a:t>
              </a:r>
              <a:r>
                <a:rPr kumimoji="0" lang="ja-JP" altLang="en-US" sz="1100" b="0" i="0" u="none" strike="noStrike" kern="0" cap="none" spc="0" normalizeH="0" baseline="0" noProof="0" dirty="0">
                  <a:ln>
                    <a:noFill/>
                  </a:ln>
                  <a:solidFill>
                    <a:prstClr val="black"/>
                  </a:solidFill>
                  <a:effectLst/>
                  <a:uLnTx/>
                  <a:uFillTx/>
                  <a:cs typeface="Meiryo UI" panose="020B0604030504040204" pitchFamily="50" charset="-128"/>
                </a:rPr>
                <a:t>が所有する前提</a:t>
              </a:r>
              <a:endPar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endParaRPr>
            </a:p>
            <a:p>
              <a:pPr marL="180975" marR="0" lvl="1" indent="-180975" defTabSz="914400" eaLnBrk="1" fontAlgn="base" latinLnBrk="0" hangingPunct="1">
                <a:lnSpc>
                  <a:spcPct val="100000"/>
                </a:lnSpc>
                <a:spcBef>
                  <a:spcPts val="300"/>
                </a:spcBef>
                <a:spcAft>
                  <a:spcPct val="0"/>
                </a:spcAft>
                <a:buClr>
                  <a:prstClr val="black"/>
                </a:buClr>
                <a:buSzTx/>
                <a:buFont typeface="+mj-ea"/>
                <a:buAutoNum type="circleNumDbPlain"/>
                <a:tabLst/>
                <a:defRPr/>
              </a:pPr>
              <a:r>
                <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rPr>
                <a:t>MTBJ</a:t>
              </a:r>
              <a:r>
                <a:rPr kumimoji="0" lang="ja-JP" altLang="en-US" sz="1100" b="0" i="0" u="none" strike="noStrike" kern="0" cap="none" spc="0" normalizeH="0" baseline="0" noProof="0" dirty="0">
                  <a:ln>
                    <a:noFill/>
                  </a:ln>
                  <a:solidFill>
                    <a:prstClr val="black"/>
                  </a:solidFill>
                  <a:effectLst/>
                  <a:uLnTx/>
                  <a:uFillTx/>
                  <a:cs typeface="Meiryo UI" panose="020B0604030504040204" pitchFamily="50" charset="-128"/>
                </a:rPr>
                <a:t>から</a:t>
              </a:r>
              <a:r>
                <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rPr>
                <a:t>MUSK</a:t>
              </a:r>
              <a:r>
                <a:rPr kumimoji="0" lang="ja-JP" altLang="en-US" sz="1100" b="0" i="0" u="none" strike="noStrike" kern="0" cap="none" spc="0" normalizeH="0" baseline="0" noProof="0" dirty="0">
                  <a:ln>
                    <a:noFill/>
                  </a:ln>
                  <a:solidFill>
                    <a:prstClr val="black"/>
                  </a:solidFill>
                  <a:effectLst/>
                  <a:uLnTx/>
                  <a:uFillTx/>
                  <a:cs typeface="Meiryo UI" panose="020B0604030504040204" pitchFamily="50" charset="-128"/>
                </a:rPr>
                <a:t>に開発を依頼（ただし開発時に費用は払わず）</a:t>
              </a:r>
              <a:endPar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endParaRPr>
            </a:p>
            <a:p>
              <a:pPr marL="180975" marR="0" lvl="1" indent="-180975" defTabSz="914400" eaLnBrk="1" fontAlgn="base" latinLnBrk="0" hangingPunct="1">
                <a:lnSpc>
                  <a:spcPct val="100000"/>
                </a:lnSpc>
                <a:spcBef>
                  <a:spcPts val="300"/>
                </a:spcBef>
                <a:spcAft>
                  <a:spcPct val="0"/>
                </a:spcAft>
                <a:buClr>
                  <a:prstClr val="black"/>
                </a:buClr>
                <a:buSzTx/>
                <a:buFont typeface="+mj-ea"/>
                <a:buAutoNum type="circleNumDbPlain"/>
                <a:tabLst/>
                <a:defRPr/>
              </a:pPr>
              <a:r>
                <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rPr>
                <a:t>MUSK</a:t>
              </a:r>
              <a:r>
                <a:rPr kumimoji="0" lang="ja-JP" altLang="en-US" sz="1100" b="0" i="0" u="none" strike="noStrike" kern="0" cap="none" spc="0" normalizeH="0" baseline="0" noProof="0" dirty="0">
                  <a:ln>
                    <a:noFill/>
                  </a:ln>
                  <a:solidFill>
                    <a:prstClr val="black"/>
                  </a:solidFill>
                  <a:effectLst/>
                  <a:uLnTx/>
                  <a:uFillTx/>
                  <a:cs typeface="Meiryo UI" panose="020B0604030504040204" pitchFamily="50" charset="-128"/>
                </a:rPr>
                <a:t>は開発したシステムの利用をサービスとして</a:t>
              </a:r>
              <a:r>
                <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rPr>
                <a:t>MTBJ</a:t>
              </a:r>
              <a:r>
                <a:rPr kumimoji="0" lang="ja-JP" altLang="en-US" sz="1100" b="0" i="0" u="none" strike="noStrike" kern="0" cap="none" spc="0" normalizeH="0" baseline="0" noProof="0" dirty="0">
                  <a:ln>
                    <a:noFill/>
                  </a:ln>
                  <a:solidFill>
                    <a:prstClr val="black"/>
                  </a:solidFill>
                  <a:effectLst/>
                  <a:uLnTx/>
                  <a:uFillTx/>
                  <a:cs typeface="Meiryo UI" panose="020B0604030504040204" pitchFamily="50" charset="-128"/>
                </a:rPr>
                <a:t>に提供</a:t>
              </a:r>
              <a:endPar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endParaRPr>
            </a:p>
            <a:p>
              <a:pPr marL="180975" marR="0" lvl="1" indent="-180975" defTabSz="914400" eaLnBrk="1" fontAlgn="base" latinLnBrk="0" hangingPunct="1">
                <a:lnSpc>
                  <a:spcPct val="100000"/>
                </a:lnSpc>
                <a:spcBef>
                  <a:spcPts val="300"/>
                </a:spcBef>
                <a:spcAft>
                  <a:spcPct val="0"/>
                </a:spcAft>
                <a:buClr>
                  <a:prstClr val="black"/>
                </a:buClr>
                <a:buSzTx/>
                <a:buFont typeface="+mj-ea"/>
                <a:buAutoNum type="circleNumDbPlain"/>
                <a:tabLst/>
                <a:defRPr/>
              </a:pPr>
              <a:r>
                <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rPr>
                <a:t>MTBJ</a:t>
              </a:r>
              <a:r>
                <a:rPr kumimoji="0" lang="ja-JP" altLang="en-US" sz="1100" b="0" i="0" u="none" strike="noStrike" kern="0" cap="none" spc="0" normalizeH="0" baseline="0" noProof="0" dirty="0">
                  <a:ln>
                    <a:noFill/>
                  </a:ln>
                  <a:solidFill>
                    <a:prstClr val="black"/>
                  </a:solidFill>
                  <a:effectLst/>
                  <a:uLnTx/>
                  <a:uFillTx/>
                  <a:cs typeface="Meiryo UI" panose="020B0604030504040204" pitchFamily="50" charset="-128"/>
                </a:rPr>
                <a:t>は開発にかかった費用、および運用費用を、計算代行手数料として</a:t>
              </a:r>
              <a:r>
                <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rPr>
                <a:t>MTBJ</a:t>
              </a:r>
              <a:r>
                <a:rPr kumimoji="0" lang="ja-JP" altLang="en-US" sz="1100" b="0" i="0" u="none" strike="noStrike" kern="0" cap="none" spc="0" normalizeH="0" baseline="0" noProof="0" dirty="0">
                  <a:ln>
                    <a:noFill/>
                  </a:ln>
                  <a:solidFill>
                    <a:prstClr val="black"/>
                  </a:solidFill>
                  <a:effectLst/>
                  <a:uLnTx/>
                  <a:uFillTx/>
                  <a:cs typeface="Meiryo UI" panose="020B0604030504040204" pitchFamily="50" charset="-128"/>
                </a:rPr>
                <a:t>に支払い</a:t>
              </a:r>
              <a:endParaRPr kumimoji="0" lang="en-US" altLang="ja-JP" sz="1100" b="0" i="0" u="none" strike="noStrike" kern="0" cap="none" spc="0" normalizeH="0" baseline="0" noProof="0" dirty="0">
                <a:ln>
                  <a:noFill/>
                </a:ln>
                <a:solidFill>
                  <a:prstClr val="black"/>
                </a:solidFill>
                <a:effectLst/>
                <a:uLnTx/>
                <a:uFillTx/>
                <a:cs typeface="Meiryo UI" panose="020B0604030504040204" pitchFamily="50" charset="-128"/>
              </a:endParaRPr>
            </a:p>
          </p:txBody>
        </p:sp>
        <p:sp>
          <p:nvSpPr>
            <p:cNvPr id="37" name="楕円 36">
              <a:extLst>
                <a:ext uri="{FF2B5EF4-FFF2-40B4-BE49-F238E27FC236}">
                  <a16:creationId xmlns:a16="http://schemas.microsoft.com/office/drawing/2014/main" id="{922E27E5-6C0F-B9D0-08E6-7C4FFCC24FCB}"/>
                </a:ext>
              </a:extLst>
            </p:cNvPr>
            <p:cNvSpPr/>
            <p:nvPr/>
          </p:nvSpPr>
          <p:spPr bwMode="auto">
            <a:xfrm>
              <a:off x="6166892" y="3726225"/>
              <a:ext cx="144000" cy="144000"/>
            </a:xfrm>
            <a:prstGeom prst="ellipse">
              <a:avLst/>
            </a:prstGeom>
            <a:solidFill>
              <a:sysClr val="window" lastClr="FFFFFF"/>
            </a:solidFill>
            <a:ln w="6350" algn="ctr">
              <a:solidFill>
                <a:sysClr val="windowText" lastClr="000000"/>
              </a:solid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050" b="0" i="0" u="none" strike="noStrike" kern="0" cap="none" spc="0" normalizeH="0" baseline="0" noProof="0">
                  <a:ln>
                    <a:noFill/>
                  </a:ln>
                  <a:solidFill>
                    <a:prstClr val="black"/>
                  </a:solidFill>
                  <a:effectLst/>
                  <a:uLnTx/>
                  <a:uFillTx/>
                  <a:cs typeface="Meiryo UI" panose="020B0604030504040204" pitchFamily="50" charset="-128"/>
                </a:rPr>
                <a:t>1</a:t>
              </a:r>
              <a:endParaRPr kumimoji="0" lang="ja-JP" altLang="en-US" sz="1050" b="0" i="0" u="none" strike="noStrike" kern="0" cap="none" spc="0" normalizeH="0" baseline="0" noProof="0">
                <a:ln>
                  <a:noFill/>
                </a:ln>
                <a:solidFill>
                  <a:prstClr val="black"/>
                </a:solidFill>
                <a:effectLst/>
                <a:uLnTx/>
                <a:uFillTx/>
                <a:cs typeface="Meiryo UI" panose="020B0604030504040204" pitchFamily="50" charset="-128"/>
              </a:endParaRPr>
            </a:p>
          </p:txBody>
        </p:sp>
      </p:grpSp>
      <p:grpSp>
        <p:nvGrpSpPr>
          <p:cNvPr id="25" name="グループ化 24">
            <a:extLst>
              <a:ext uri="{FF2B5EF4-FFF2-40B4-BE49-F238E27FC236}">
                <a16:creationId xmlns:a16="http://schemas.microsoft.com/office/drawing/2014/main" id="{BCF71CF7-19A7-1AC6-E71E-C5EB5C702936}"/>
              </a:ext>
            </a:extLst>
          </p:cNvPr>
          <p:cNvGrpSpPr/>
          <p:nvPr/>
        </p:nvGrpSpPr>
        <p:grpSpPr>
          <a:xfrm>
            <a:off x="743857" y="2298854"/>
            <a:ext cx="4092827" cy="3030914"/>
            <a:chOff x="743857" y="2146454"/>
            <a:chExt cx="4092827" cy="3030914"/>
          </a:xfrm>
        </p:grpSpPr>
        <p:sp>
          <p:nvSpPr>
            <p:cNvPr id="5" name="正方形/長方形 493">
              <a:extLst>
                <a:ext uri="{FF2B5EF4-FFF2-40B4-BE49-F238E27FC236}">
                  <a16:creationId xmlns:a16="http://schemas.microsoft.com/office/drawing/2014/main" id="{42BFC6F3-E711-210E-EC3E-A0D66644696E}"/>
                </a:ext>
              </a:extLst>
            </p:cNvPr>
            <p:cNvSpPr>
              <a:spLocks noChangeArrowheads="1"/>
            </p:cNvSpPr>
            <p:nvPr/>
          </p:nvSpPr>
          <p:spPr bwMode="auto">
            <a:xfrm>
              <a:off x="743857" y="2984654"/>
              <a:ext cx="1296000" cy="432000"/>
            </a:xfrm>
            <a:prstGeom prst="rect">
              <a:avLst/>
            </a:prstGeom>
            <a:solidFill>
              <a:sysClr val="window" lastClr="FFFFFF"/>
            </a:solidFill>
            <a:ln w="6350" algn="ctr">
              <a:solidFill>
                <a:srgbClr val="A100FF"/>
              </a:solidFill>
              <a:miter lim="800000"/>
              <a:headEnd/>
              <a:tailEnd/>
            </a:ln>
            <a:effectLst/>
          </p:spPr>
          <p:txBody>
            <a:bodyPr wrap="none" lIns="72000" tIns="72000" rIns="72000" bIns="7200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MUTB</a:t>
              </a:r>
              <a:endParaRPr kumimoji="0" lang="ja-JP" altLang="en-US" sz="120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6" name="正方形/長方形 493">
              <a:extLst>
                <a:ext uri="{FF2B5EF4-FFF2-40B4-BE49-F238E27FC236}">
                  <a16:creationId xmlns:a16="http://schemas.microsoft.com/office/drawing/2014/main" id="{504D5C41-2A62-6B5C-5808-6AB6DC22CDBA}"/>
                </a:ext>
              </a:extLst>
            </p:cNvPr>
            <p:cNvSpPr>
              <a:spLocks noChangeArrowheads="1"/>
            </p:cNvSpPr>
            <p:nvPr/>
          </p:nvSpPr>
          <p:spPr bwMode="auto">
            <a:xfrm>
              <a:off x="1247857" y="3899054"/>
              <a:ext cx="792000" cy="432000"/>
            </a:xfrm>
            <a:prstGeom prst="rect">
              <a:avLst/>
            </a:prstGeom>
            <a:solidFill>
              <a:sysClr val="window" lastClr="FFFFFF"/>
            </a:solidFill>
            <a:ln w="6350" algn="ctr">
              <a:solidFill>
                <a:srgbClr val="A100FF"/>
              </a:solidFill>
              <a:miter lim="800000"/>
              <a:headEnd/>
              <a:tailEnd/>
            </a:ln>
            <a:effectLst/>
          </p:spPr>
          <p:txBody>
            <a:bodyPr wrap="none" lIns="72000" tIns="72000" rIns="72000" bIns="7200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MTBJ</a:t>
              </a:r>
              <a:endParaRPr kumimoji="0" lang="ja-JP" altLang="en-US" sz="120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7" name="正方形/長方形 493">
              <a:extLst>
                <a:ext uri="{FF2B5EF4-FFF2-40B4-BE49-F238E27FC236}">
                  <a16:creationId xmlns:a16="http://schemas.microsoft.com/office/drawing/2014/main" id="{893F0331-7A5A-F8B6-953E-2B902573B72B}"/>
                </a:ext>
              </a:extLst>
            </p:cNvPr>
            <p:cNvSpPr>
              <a:spLocks noChangeArrowheads="1"/>
            </p:cNvSpPr>
            <p:nvPr/>
          </p:nvSpPr>
          <p:spPr bwMode="auto">
            <a:xfrm>
              <a:off x="743857" y="4745368"/>
              <a:ext cx="1296000" cy="432000"/>
            </a:xfrm>
            <a:prstGeom prst="rect">
              <a:avLst/>
            </a:prstGeom>
            <a:solidFill>
              <a:sysClr val="window" lastClr="FFFFFF"/>
            </a:solidFill>
            <a:ln w="6350" algn="ctr">
              <a:solidFill>
                <a:srgbClr val="A100FF"/>
              </a:solidFill>
              <a:miter lim="800000"/>
              <a:headEnd/>
              <a:tailEnd/>
            </a:ln>
            <a:effectLst/>
          </p:spPr>
          <p:txBody>
            <a:bodyPr wrap="none" lIns="72000" tIns="72000" rIns="72000" bIns="7200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MUSK</a:t>
              </a:r>
              <a:endParaRPr kumimoji="0" lang="ja-JP" altLang="en-US" sz="120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8" name="正方形/長方形 493">
              <a:extLst>
                <a:ext uri="{FF2B5EF4-FFF2-40B4-BE49-F238E27FC236}">
                  <a16:creationId xmlns:a16="http://schemas.microsoft.com/office/drawing/2014/main" id="{2C3C8FCD-5D31-BFC9-C806-98D9B5DAAD65}"/>
                </a:ext>
              </a:extLst>
            </p:cNvPr>
            <p:cNvSpPr>
              <a:spLocks noChangeArrowheads="1"/>
            </p:cNvSpPr>
            <p:nvPr/>
          </p:nvSpPr>
          <p:spPr bwMode="auto">
            <a:xfrm>
              <a:off x="2206359" y="2984654"/>
              <a:ext cx="792000" cy="432000"/>
            </a:xfrm>
            <a:prstGeom prst="rect">
              <a:avLst/>
            </a:prstGeom>
            <a:solidFill>
              <a:sysClr val="window" lastClr="FFFFFF"/>
            </a:solidFill>
            <a:ln w="6350" algn="ctr">
              <a:solidFill>
                <a:srgbClr val="A100FF"/>
              </a:solidFill>
              <a:miter lim="800000"/>
              <a:headEnd/>
              <a:tailEnd/>
            </a:ln>
            <a:effectLst/>
          </p:spPr>
          <p:txBody>
            <a:bodyPr wrap="none" lIns="72000" tIns="72000" rIns="72000" bIns="7200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ja-JP" altLang="en-US" sz="1200" b="0" i="0" u="none" strike="noStrike" kern="0" cap="none" spc="0" normalizeH="0" baseline="0" noProof="0">
                  <a:ln>
                    <a:noFill/>
                  </a:ln>
                  <a:solidFill>
                    <a:prstClr val="black"/>
                  </a:solidFill>
                  <a:effectLst/>
                  <a:uLnTx/>
                  <a:uFillTx/>
                  <a:cs typeface="Meiryo UI" panose="020B0604030504040204" pitchFamily="50" charset="-128"/>
                </a:rPr>
                <a:t>日生</a:t>
              </a:r>
            </a:p>
          </p:txBody>
        </p:sp>
        <p:sp>
          <p:nvSpPr>
            <p:cNvPr id="9" name="正方形/長方形 493">
              <a:extLst>
                <a:ext uri="{FF2B5EF4-FFF2-40B4-BE49-F238E27FC236}">
                  <a16:creationId xmlns:a16="http://schemas.microsoft.com/office/drawing/2014/main" id="{D4B3BFFC-AED6-009D-61D7-828CF06A8F8A}"/>
                </a:ext>
              </a:extLst>
            </p:cNvPr>
            <p:cNvSpPr>
              <a:spLocks noChangeArrowheads="1"/>
            </p:cNvSpPr>
            <p:nvPr/>
          </p:nvSpPr>
          <p:spPr bwMode="auto">
            <a:xfrm>
              <a:off x="3139809" y="2984654"/>
              <a:ext cx="792000" cy="432000"/>
            </a:xfrm>
            <a:prstGeom prst="rect">
              <a:avLst/>
            </a:prstGeom>
            <a:solidFill>
              <a:sysClr val="window" lastClr="FFFFFF"/>
            </a:solidFill>
            <a:ln w="6350" algn="ctr">
              <a:solidFill>
                <a:srgbClr val="A100FF"/>
              </a:solidFill>
              <a:miter lim="800000"/>
              <a:headEnd/>
              <a:tailEnd/>
            </a:ln>
            <a:effectLst/>
          </p:spPr>
          <p:txBody>
            <a:bodyPr wrap="none" lIns="72000" tIns="72000" rIns="72000" bIns="7200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ja-JP" altLang="en-US" sz="1200" b="0" i="0" u="none" strike="noStrike" kern="0" cap="none" spc="0" normalizeH="0" baseline="0" noProof="0">
                  <a:ln>
                    <a:noFill/>
                  </a:ln>
                  <a:solidFill>
                    <a:prstClr val="black"/>
                  </a:solidFill>
                  <a:effectLst/>
                  <a:uLnTx/>
                  <a:uFillTx/>
                  <a:cs typeface="Meiryo UI" panose="020B0604030504040204" pitchFamily="50" charset="-128"/>
                </a:rPr>
                <a:t>明治安田</a:t>
              </a:r>
            </a:p>
          </p:txBody>
        </p:sp>
        <p:sp>
          <p:nvSpPr>
            <p:cNvPr id="10" name="正方形/長方形 493">
              <a:extLst>
                <a:ext uri="{FF2B5EF4-FFF2-40B4-BE49-F238E27FC236}">
                  <a16:creationId xmlns:a16="http://schemas.microsoft.com/office/drawing/2014/main" id="{093983CA-C7A5-0A53-5590-BD6707C8FFAF}"/>
                </a:ext>
              </a:extLst>
            </p:cNvPr>
            <p:cNvSpPr>
              <a:spLocks noChangeArrowheads="1"/>
            </p:cNvSpPr>
            <p:nvPr/>
          </p:nvSpPr>
          <p:spPr bwMode="auto">
            <a:xfrm>
              <a:off x="4044684" y="2984654"/>
              <a:ext cx="792000" cy="432000"/>
            </a:xfrm>
            <a:prstGeom prst="rect">
              <a:avLst/>
            </a:prstGeom>
            <a:solidFill>
              <a:sysClr val="window" lastClr="FFFFFF"/>
            </a:solidFill>
            <a:ln w="6350" algn="ctr">
              <a:solidFill>
                <a:srgbClr val="A100FF"/>
              </a:solidFill>
              <a:miter lim="800000"/>
              <a:headEnd/>
              <a:tailEnd/>
            </a:ln>
            <a:effectLst/>
          </p:spPr>
          <p:txBody>
            <a:bodyPr wrap="none" lIns="72000" tIns="72000" rIns="72000" bIns="7200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ja-JP" altLang="en-US" sz="1200" b="0" i="0" u="none" strike="noStrike" kern="0" cap="none" spc="0" normalizeH="0" baseline="0" noProof="0">
                  <a:ln>
                    <a:noFill/>
                  </a:ln>
                  <a:solidFill>
                    <a:prstClr val="black"/>
                  </a:solidFill>
                  <a:effectLst/>
                  <a:uLnTx/>
                  <a:uFillTx/>
                  <a:cs typeface="Meiryo UI" panose="020B0604030504040204" pitchFamily="50" charset="-128"/>
                </a:rPr>
                <a:t>農中</a:t>
              </a:r>
            </a:p>
          </p:txBody>
        </p:sp>
        <p:cxnSp>
          <p:nvCxnSpPr>
            <p:cNvPr id="11" name="直線コネクタ 10">
              <a:extLst>
                <a:ext uri="{FF2B5EF4-FFF2-40B4-BE49-F238E27FC236}">
                  <a16:creationId xmlns:a16="http://schemas.microsoft.com/office/drawing/2014/main" id="{8F2FBC29-556B-E211-9ACA-F424EC5D8CD8}"/>
                </a:ext>
              </a:extLst>
            </p:cNvPr>
            <p:cNvCxnSpPr>
              <a:cxnSpLocks/>
            </p:cNvCxnSpPr>
            <p:nvPr/>
          </p:nvCxnSpPr>
          <p:spPr>
            <a:xfrm>
              <a:off x="975932" y="3416654"/>
              <a:ext cx="0" cy="1328714"/>
            </a:xfrm>
            <a:prstGeom prst="line">
              <a:avLst/>
            </a:prstGeom>
            <a:noFill/>
            <a:ln w="12700" cap="flat" cmpd="sng" algn="ctr">
              <a:solidFill>
                <a:srgbClr val="44546A"/>
              </a:solidFill>
              <a:prstDash val="solid"/>
            </a:ln>
            <a:effectLst/>
          </p:spPr>
        </p:cxnSp>
        <p:cxnSp>
          <p:nvCxnSpPr>
            <p:cNvPr id="12" name="直線コネクタ 11">
              <a:extLst>
                <a:ext uri="{FF2B5EF4-FFF2-40B4-BE49-F238E27FC236}">
                  <a16:creationId xmlns:a16="http://schemas.microsoft.com/office/drawing/2014/main" id="{D25860B5-0020-87BD-F228-A659A6183783}"/>
                </a:ext>
              </a:extLst>
            </p:cNvPr>
            <p:cNvCxnSpPr>
              <a:cxnSpLocks/>
              <a:endCxn id="6" idx="0"/>
            </p:cNvCxnSpPr>
            <p:nvPr/>
          </p:nvCxnSpPr>
          <p:spPr>
            <a:xfrm>
              <a:off x="1643857" y="3416654"/>
              <a:ext cx="1" cy="482400"/>
            </a:xfrm>
            <a:prstGeom prst="line">
              <a:avLst/>
            </a:prstGeom>
            <a:noFill/>
            <a:ln w="12700" cap="flat" cmpd="sng" algn="ctr">
              <a:solidFill>
                <a:srgbClr val="44546A"/>
              </a:solidFill>
              <a:prstDash val="solid"/>
            </a:ln>
            <a:effectLst/>
          </p:spPr>
        </p:cxnSp>
        <p:cxnSp>
          <p:nvCxnSpPr>
            <p:cNvPr id="13" name="直線コネクタ 39">
              <a:extLst>
                <a:ext uri="{FF2B5EF4-FFF2-40B4-BE49-F238E27FC236}">
                  <a16:creationId xmlns:a16="http://schemas.microsoft.com/office/drawing/2014/main" id="{3C390F30-55A1-B56F-784B-EAE5D06A642E}"/>
                </a:ext>
              </a:extLst>
            </p:cNvPr>
            <p:cNvCxnSpPr>
              <a:cxnSpLocks/>
              <a:stCxn id="8" idx="2"/>
              <a:endCxn id="6" idx="3"/>
            </p:cNvCxnSpPr>
            <p:nvPr/>
          </p:nvCxnSpPr>
          <p:spPr>
            <a:xfrm rot="5400000">
              <a:off x="1971908" y="3484603"/>
              <a:ext cx="698400" cy="562502"/>
            </a:xfrm>
            <a:prstGeom prst="bentConnector2">
              <a:avLst/>
            </a:prstGeom>
            <a:noFill/>
            <a:ln w="12700" cap="flat" cmpd="sng" algn="ctr">
              <a:solidFill>
                <a:srgbClr val="44546A"/>
              </a:solidFill>
              <a:prstDash val="solid"/>
            </a:ln>
            <a:effectLst/>
          </p:spPr>
        </p:cxnSp>
        <p:cxnSp>
          <p:nvCxnSpPr>
            <p:cNvPr id="14" name="直線コネクタ 39">
              <a:extLst>
                <a:ext uri="{FF2B5EF4-FFF2-40B4-BE49-F238E27FC236}">
                  <a16:creationId xmlns:a16="http://schemas.microsoft.com/office/drawing/2014/main" id="{776D3B37-E4EC-C0CB-49A7-E9B187CCA880}"/>
                </a:ext>
              </a:extLst>
            </p:cNvPr>
            <p:cNvCxnSpPr>
              <a:cxnSpLocks/>
              <a:stCxn id="9" idx="2"/>
              <a:endCxn id="6" idx="3"/>
            </p:cNvCxnSpPr>
            <p:nvPr/>
          </p:nvCxnSpPr>
          <p:spPr>
            <a:xfrm rot="5400000">
              <a:off x="2438633" y="3017878"/>
              <a:ext cx="698400" cy="1495952"/>
            </a:xfrm>
            <a:prstGeom prst="bentConnector2">
              <a:avLst/>
            </a:prstGeom>
            <a:noFill/>
            <a:ln w="12700" cap="flat" cmpd="sng" algn="ctr">
              <a:solidFill>
                <a:srgbClr val="44546A"/>
              </a:solidFill>
              <a:prstDash val="solid"/>
            </a:ln>
            <a:effectLst/>
          </p:spPr>
        </p:cxnSp>
        <p:cxnSp>
          <p:nvCxnSpPr>
            <p:cNvPr id="15" name="直線コネクタ 39">
              <a:extLst>
                <a:ext uri="{FF2B5EF4-FFF2-40B4-BE49-F238E27FC236}">
                  <a16:creationId xmlns:a16="http://schemas.microsoft.com/office/drawing/2014/main" id="{91B6FFE1-B07C-9696-2270-568AD29986F9}"/>
                </a:ext>
              </a:extLst>
            </p:cNvPr>
            <p:cNvCxnSpPr>
              <a:cxnSpLocks/>
              <a:stCxn id="10" idx="2"/>
              <a:endCxn id="6" idx="3"/>
            </p:cNvCxnSpPr>
            <p:nvPr/>
          </p:nvCxnSpPr>
          <p:spPr>
            <a:xfrm rot="5400000">
              <a:off x="2891071" y="2565442"/>
              <a:ext cx="698400" cy="2400827"/>
            </a:xfrm>
            <a:prstGeom prst="bentConnector2">
              <a:avLst/>
            </a:prstGeom>
            <a:noFill/>
            <a:ln w="12700" cap="flat" cmpd="sng" algn="ctr">
              <a:solidFill>
                <a:srgbClr val="44546A"/>
              </a:solidFill>
              <a:prstDash val="solid"/>
            </a:ln>
            <a:effectLst/>
          </p:spPr>
        </p:cxnSp>
        <p:sp>
          <p:nvSpPr>
            <p:cNvPr id="16" name="正方形/長方形 493">
              <a:extLst>
                <a:ext uri="{FF2B5EF4-FFF2-40B4-BE49-F238E27FC236}">
                  <a16:creationId xmlns:a16="http://schemas.microsoft.com/office/drawing/2014/main" id="{1093EDDD-8051-C087-1097-71518AFD15C6}"/>
                </a:ext>
              </a:extLst>
            </p:cNvPr>
            <p:cNvSpPr>
              <a:spLocks noChangeArrowheads="1"/>
            </p:cNvSpPr>
            <p:nvPr/>
          </p:nvSpPr>
          <p:spPr bwMode="auto">
            <a:xfrm>
              <a:off x="743857" y="2146454"/>
              <a:ext cx="1296000" cy="432000"/>
            </a:xfrm>
            <a:prstGeom prst="rect">
              <a:avLst/>
            </a:prstGeom>
            <a:solidFill>
              <a:sysClr val="window" lastClr="FFFFFF"/>
            </a:solidFill>
            <a:ln w="6350" algn="ctr">
              <a:solidFill>
                <a:srgbClr val="A100FF"/>
              </a:solidFill>
              <a:miter lim="800000"/>
              <a:headEnd/>
              <a:tailEnd/>
            </a:ln>
            <a:effectLst/>
          </p:spPr>
          <p:txBody>
            <a:bodyPr wrap="none" lIns="72000" tIns="72000" rIns="72000" bIns="7200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MUFG</a:t>
              </a:r>
              <a:endParaRPr kumimoji="0" lang="ja-JP" altLang="en-US" sz="1200" b="0" i="0" u="none" strike="noStrike" kern="0" cap="none" spc="0" normalizeH="0" baseline="0" noProof="0">
                <a:ln>
                  <a:noFill/>
                </a:ln>
                <a:solidFill>
                  <a:prstClr val="black"/>
                </a:solidFill>
                <a:effectLst/>
                <a:uLnTx/>
                <a:uFillTx/>
                <a:cs typeface="Meiryo UI" panose="020B0604030504040204" pitchFamily="50" charset="-128"/>
              </a:endParaRPr>
            </a:p>
          </p:txBody>
        </p:sp>
        <p:cxnSp>
          <p:nvCxnSpPr>
            <p:cNvPr id="17" name="直線コネクタ 16">
              <a:extLst>
                <a:ext uri="{FF2B5EF4-FFF2-40B4-BE49-F238E27FC236}">
                  <a16:creationId xmlns:a16="http://schemas.microsoft.com/office/drawing/2014/main" id="{FE8E9BBE-9699-EE85-1E47-0E2AFFCDABAF}"/>
                </a:ext>
              </a:extLst>
            </p:cNvPr>
            <p:cNvCxnSpPr>
              <a:cxnSpLocks/>
              <a:stCxn id="16" idx="2"/>
              <a:endCxn id="5" idx="0"/>
            </p:cNvCxnSpPr>
            <p:nvPr/>
          </p:nvCxnSpPr>
          <p:spPr>
            <a:xfrm>
              <a:off x="1391857" y="2578454"/>
              <a:ext cx="0" cy="406200"/>
            </a:xfrm>
            <a:prstGeom prst="line">
              <a:avLst/>
            </a:prstGeom>
            <a:noFill/>
            <a:ln w="12700" cap="flat" cmpd="sng" algn="ctr">
              <a:solidFill>
                <a:srgbClr val="44546A"/>
              </a:solidFill>
              <a:prstDash val="solid"/>
            </a:ln>
            <a:effectLst/>
          </p:spPr>
        </p:cxnSp>
        <p:sp>
          <p:nvSpPr>
            <p:cNvPr id="18" name="正方形/長方形 17">
              <a:extLst>
                <a:ext uri="{FF2B5EF4-FFF2-40B4-BE49-F238E27FC236}">
                  <a16:creationId xmlns:a16="http://schemas.microsoft.com/office/drawing/2014/main" id="{95CA65E0-B4C7-22F2-C18D-C0F5565CF553}"/>
                </a:ext>
              </a:extLst>
            </p:cNvPr>
            <p:cNvSpPr/>
            <p:nvPr/>
          </p:nvSpPr>
          <p:spPr bwMode="auto">
            <a:xfrm>
              <a:off x="1186815" y="2653665"/>
              <a:ext cx="432000" cy="252000"/>
            </a:xfrm>
            <a:prstGeom prst="rect">
              <a:avLst/>
            </a:prstGeom>
            <a:solidFill>
              <a:sysClr val="window" lastClr="FFFFFF"/>
            </a:solidFill>
            <a:ln w="6350" algn="ctr">
              <a:no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100%</a:t>
              </a:r>
              <a:endParaRPr kumimoji="0" lang="ja-JP" altLang="en-US" sz="120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19" name="正方形/長方形 18">
              <a:extLst>
                <a:ext uri="{FF2B5EF4-FFF2-40B4-BE49-F238E27FC236}">
                  <a16:creationId xmlns:a16="http://schemas.microsoft.com/office/drawing/2014/main" id="{673345D8-DD1D-F868-EB33-8578E5334144}"/>
                </a:ext>
              </a:extLst>
            </p:cNvPr>
            <p:cNvSpPr/>
            <p:nvPr/>
          </p:nvSpPr>
          <p:spPr bwMode="auto">
            <a:xfrm>
              <a:off x="758190" y="3539490"/>
              <a:ext cx="432000" cy="252000"/>
            </a:xfrm>
            <a:prstGeom prst="rect">
              <a:avLst/>
            </a:prstGeom>
            <a:solidFill>
              <a:sysClr val="window" lastClr="FFFFFF"/>
            </a:solidFill>
            <a:ln w="6350" algn="ctr">
              <a:no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100%</a:t>
              </a:r>
              <a:endParaRPr kumimoji="0" lang="ja-JP" altLang="en-US" sz="120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20" name="正方形/長方形 19">
              <a:extLst>
                <a:ext uri="{FF2B5EF4-FFF2-40B4-BE49-F238E27FC236}">
                  <a16:creationId xmlns:a16="http://schemas.microsoft.com/office/drawing/2014/main" id="{46F8C0E5-D85D-C5AC-E9E1-48CF9D6C5EB8}"/>
                </a:ext>
              </a:extLst>
            </p:cNvPr>
            <p:cNvSpPr/>
            <p:nvPr/>
          </p:nvSpPr>
          <p:spPr bwMode="auto">
            <a:xfrm>
              <a:off x="1428115" y="3539490"/>
              <a:ext cx="432000" cy="252000"/>
            </a:xfrm>
            <a:prstGeom prst="rect">
              <a:avLst/>
            </a:prstGeom>
            <a:solidFill>
              <a:sysClr val="window" lastClr="FFFFFF"/>
            </a:solidFill>
            <a:ln w="6350" algn="ctr">
              <a:no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46.5%</a:t>
              </a:r>
              <a:endParaRPr kumimoji="0" lang="ja-JP" altLang="en-US" sz="120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21" name="正方形/長方形 20">
              <a:extLst>
                <a:ext uri="{FF2B5EF4-FFF2-40B4-BE49-F238E27FC236}">
                  <a16:creationId xmlns:a16="http://schemas.microsoft.com/office/drawing/2014/main" id="{833868E4-4D7B-F8CA-4E3B-10574D5879D9}"/>
                </a:ext>
              </a:extLst>
            </p:cNvPr>
            <p:cNvSpPr/>
            <p:nvPr/>
          </p:nvSpPr>
          <p:spPr bwMode="auto">
            <a:xfrm>
              <a:off x="2386359" y="3539490"/>
              <a:ext cx="432000" cy="252000"/>
            </a:xfrm>
            <a:prstGeom prst="rect">
              <a:avLst/>
            </a:prstGeom>
            <a:solidFill>
              <a:sysClr val="window" lastClr="FFFFFF"/>
            </a:solidFill>
            <a:ln w="6350" algn="ctr">
              <a:no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33.5%</a:t>
              </a:r>
              <a:endParaRPr kumimoji="0" lang="ja-JP" altLang="en-US" sz="120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22" name="正方形/長方形 21">
              <a:extLst>
                <a:ext uri="{FF2B5EF4-FFF2-40B4-BE49-F238E27FC236}">
                  <a16:creationId xmlns:a16="http://schemas.microsoft.com/office/drawing/2014/main" id="{5B98B67F-4E96-06DC-968D-DF423560264D}"/>
                </a:ext>
              </a:extLst>
            </p:cNvPr>
            <p:cNvSpPr/>
            <p:nvPr/>
          </p:nvSpPr>
          <p:spPr bwMode="auto">
            <a:xfrm>
              <a:off x="3319809" y="3539490"/>
              <a:ext cx="432000" cy="252000"/>
            </a:xfrm>
            <a:prstGeom prst="rect">
              <a:avLst/>
            </a:prstGeom>
            <a:solidFill>
              <a:sysClr val="window" lastClr="FFFFFF"/>
            </a:solidFill>
            <a:ln w="6350" algn="ctr">
              <a:no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10%</a:t>
              </a:r>
              <a:endParaRPr kumimoji="0" lang="ja-JP" altLang="en-US" sz="1200" b="0" i="0" u="none" strike="noStrike" kern="0" cap="none" spc="0" normalizeH="0" baseline="0" noProof="0">
                <a:ln>
                  <a:noFill/>
                </a:ln>
                <a:solidFill>
                  <a:prstClr val="black"/>
                </a:solidFill>
                <a:effectLst/>
                <a:uLnTx/>
                <a:uFillTx/>
                <a:cs typeface="Meiryo UI" panose="020B0604030504040204" pitchFamily="50" charset="-128"/>
              </a:endParaRPr>
            </a:p>
          </p:txBody>
        </p:sp>
        <p:sp>
          <p:nvSpPr>
            <p:cNvPr id="23" name="正方形/長方形 22">
              <a:extLst>
                <a:ext uri="{FF2B5EF4-FFF2-40B4-BE49-F238E27FC236}">
                  <a16:creationId xmlns:a16="http://schemas.microsoft.com/office/drawing/2014/main" id="{DD9C26B3-B609-5962-CC90-2C0C25AE533A}"/>
                </a:ext>
              </a:extLst>
            </p:cNvPr>
            <p:cNvSpPr/>
            <p:nvPr/>
          </p:nvSpPr>
          <p:spPr bwMode="auto">
            <a:xfrm>
              <a:off x="4224684" y="3539490"/>
              <a:ext cx="432000" cy="252000"/>
            </a:xfrm>
            <a:prstGeom prst="rect">
              <a:avLst/>
            </a:prstGeom>
            <a:solidFill>
              <a:sysClr val="window" lastClr="FFFFFF"/>
            </a:solidFill>
            <a:ln w="6350" algn="ctr">
              <a:noFill/>
              <a:miter lim="800000"/>
              <a:headEnd/>
              <a:tailEnd/>
            </a:ln>
            <a:effectLst/>
          </p:spPr>
          <p:txBody>
            <a:bodyPr wrap="none" lIns="72000" tIns="72000" rIns="72000" bIns="72000" rtlCol="0" anchor="ctr"/>
            <a:lstStyle/>
            <a:p>
              <a:pPr marL="0" marR="0" lvl="0" indent="0" algn="ctr"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10%</a:t>
              </a:r>
              <a:endParaRPr kumimoji="0" lang="ja-JP" altLang="en-US" sz="1200" b="0" i="0" u="none" strike="noStrike" kern="0" cap="none" spc="0" normalizeH="0" baseline="0" noProof="0">
                <a:ln>
                  <a:noFill/>
                </a:ln>
                <a:solidFill>
                  <a:prstClr val="black"/>
                </a:solidFill>
                <a:effectLst/>
                <a:uLnTx/>
                <a:uFillTx/>
                <a:cs typeface="Meiryo UI" panose="020B0604030504040204" pitchFamily="50" charset="-128"/>
              </a:endParaRPr>
            </a:p>
          </p:txBody>
        </p:sp>
        <p:cxnSp>
          <p:nvCxnSpPr>
            <p:cNvPr id="24" name="直線コネクタ 23">
              <a:extLst>
                <a:ext uri="{FF2B5EF4-FFF2-40B4-BE49-F238E27FC236}">
                  <a16:creationId xmlns:a16="http://schemas.microsoft.com/office/drawing/2014/main" id="{4E5D2153-9282-B916-CF8F-64E6AA461FDD}"/>
                </a:ext>
              </a:extLst>
            </p:cNvPr>
            <p:cNvCxnSpPr>
              <a:cxnSpLocks/>
              <a:stCxn id="6" idx="2"/>
            </p:cNvCxnSpPr>
            <p:nvPr/>
          </p:nvCxnSpPr>
          <p:spPr>
            <a:xfrm>
              <a:off x="1643857" y="4331054"/>
              <a:ext cx="0" cy="432000"/>
            </a:xfrm>
            <a:prstGeom prst="line">
              <a:avLst/>
            </a:prstGeom>
            <a:noFill/>
            <a:ln w="12700" cap="flat" cmpd="sng" algn="ctr">
              <a:solidFill>
                <a:sysClr val="window" lastClr="FFFFFF">
                  <a:lumMod val="75000"/>
                </a:sysClr>
              </a:solidFill>
              <a:prstDash val="dash"/>
            </a:ln>
            <a:effectLst/>
          </p:spPr>
        </p:cxnSp>
        <p:sp>
          <p:nvSpPr>
            <p:cNvPr id="38" name="正方形/長方形 37">
              <a:extLst>
                <a:ext uri="{FF2B5EF4-FFF2-40B4-BE49-F238E27FC236}">
                  <a16:creationId xmlns:a16="http://schemas.microsoft.com/office/drawing/2014/main" id="{4D3FED67-E84E-3865-30F4-825E038D37CC}"/>
                </a:ext>
              </a:extLst>
            </p:cNvPr>
            <p:cNvSpPr/>
            <p:nvPr/>
          </p:nvSpPr>
          <p:spPr bwMode="auto">
            <a:xfrm>
              <a:off x="1520189" y="4421518"/>
              <a:ext cx="432000" cy="216000"/>
            </a:xfrm>
            <a:prstGeom prst="rect">
              <a:avLst/>
            </a:prstGeom>
            <a:solidFill>
              <a:sysClr val="window" lastClr="FFFFFF"/>
            </a:solidFill>
            <a:ln w="6350" algn="ctr">
              <a:noFill/>
              <a:miter lim="800000"/>
              <a:headEnd/>
              <a:tailEnd/>
            </a:ln>
            <a:effectLst/>
          </p:spPr>
          <p:txBody>
            <a:bodyPr wrap="none" lIns="72000" tIns="72000" rIns="72000" bIns="72000" rtlCol="0" anchor="ctr"/>
            <a:lstStyle/>
            <a:p>
              <a:pPr marL="0" marR="0" lvl="0" indent="0" defTabSz="844083" eaLnBrk="1" fontAlgn="auto" latinLnBrk="0" hangingPunct="1">
                <a:lnSpc>
                  <a:spcPct val="100000"/>
                </a:lnSpc>
                <a:spcBef>
                  <a:spcPts val="0"/>
                </a:spcBef>
                <a:spcAft>
                  <a:spcPts val="0"/>
                </a:spcAft>
                <a:buClr>
                  <a:srgbClr val="003399"/>
                </a:buClr>
                <a:buSzTx/>
                <a:buFontTx/>
                <a:buNone/>
                <a:tabLst/>
                <a:defRPr/>
              </a:pPr>
              <a:r>
                <a:rPr kumimoji="0" lang="en-US" altLang="ja-JP" sz="1200" b="0" i="0" u="none" strike="noStrike" kern="0" cap="none" spc="0" normalizeH="0" baseline="0" noProof="0">
                  <a:ln>
                    <a:noFill/>
                  </a:ln>
                  <a:solidFill>
                    <a:prstClr val="black"/>
                  </a:solidFill>
                  <a:effectLst/>
                  <a:uLnTx/>
                  <a:uFillTx/>
                  <a:cs typeface="Meiryo UI" panose="020B0604030504040204" pitchFamily="50" charset="-128"/>
                </a:rPr>
                <a:t>×</a:t>
              </a:r>
              <a:r>
                <a:rPr kumimoji="0" lang="ja-JP" altLang="en-US" sz="1200" b="0" i="0" u="none" strike="noStrike" kern="0" cap="none" spc="0" normalizeH="0" baseline="0" noProof="0">
                  <a:ln>
                    <a:noFill/>
                  </a:ln>
                  <a:solidFill>
                    <a:prstClr val="black"/>
                  </a:solidFill>
                  <a:effectLst/>
                  <a:uLnTx/>
                  <a:uFillTx/>
                  <a:cs typeface="Meiryo UI" panose="020B0604030504040204" pitchFamily="50" charset="-128"/>
                </a:rPr>
                <a:t>資本関係なし</a:t>
              </a:r>
            </a:p>
          </p:txBody>
        </p:sp>
      </p:grpSp>
      <p:grpSp>
        <p:nvGrpSpPr>
          <p:cNvPr id="39" name="グループ化 38">
            <a:extLst>
              <a:ext uri="{FF2B5EF4-FFF2-40B4-BE49-F238E27FC236}">
                <a16:creationId xmlns:a16="http://schemas.microsoft.com/office/drawing/2014/main" id="{3FB8F723-40D0-292A-D345-53D07F9A2189}"/>
              </a:ext>
            </a:extLst>
          </p:cNvPr>
          <p:cNvGrpSpPr/>
          <p:nvPr/>
        </p:nvGrpSpPr>
        <p:grpSpPr>
          <a:xfrm>
            <a:off x="488504" y="1644953"/>
            <a:ext cx="4348180" cy="237641"/>
            <a:chOff x="619124" y="1823770"/>
            <a:chExt cx="2762266" cy="347930"/>
          </a:xfrm>
        </p:grpSpPr>
        <p:cxnSp>
          <p:nvCxnSpPr>
            <p:cNvPr id="40" name="直線コネクタ 39">
              <a:extLst>
                <a:ext uri="{FF2B5EF4-FFF2-40B4-BE49-F238E27FC236}">
                  <a16:creationId xmlns:a16="http://schemas.microsoft.com/office/drawing/2014/main" id="{0A17FB9A-8D40-0BAB-B4C3-C09BD5D9114D}"/>
                </a:ext>
              </a:extLst>
            </p:cNvPr>
            <p:cNvCxnSpPr/>
            <p:nvPr/>
          </p:nvCxnSpPr>
          <p:spPr bwMode="auto">
            <a:xfrm>
              <a:off x="619125" y="2171700"/>
              <a:ext cx="2762265" cy="0"/>
            </a:xfrm>
            <a:prstGeom prst="line">
              <a:avLst/>
            </a:prstGeom>
            <a:noFill/>
            <a:ln w="9525" cap="flat" cmpd="sng" algn="ctr">
              <a:solidFill>
                <a:schemeClr val="bg1">
                  <a:lumMod val="50000"/>
                </a:schemeClr>
              </a:solidFill>
              <a:prstDash val="solid"/>
              <a:round/>
              <a:headEnd type="none" w="med" len="med"/>
              <a:tailEnd type="none"/>
            </a:ln>
            <a:effectLst/>
          </p:spPr>
        </p:cxnSp>
        <p:sp>
          <p:nvSpPr>
            <p:cNvPr id="41" name="正方形/長方形 40">
              <a:extLst>
                <a:ext uri="{FF2B5EF4-FFF2-40B4-BE49-F238E27FC236}">
                  <a16:creationId xmlns:a16="http://schemas.microsoft.com/office/drawing/2014/main" id="{BF7B51CF-5367-45DF-7C44-F85573E7DA00}"/>
                </a:ext>
              </a:extLst>
            </p:cNvPr>
            <p:cNvSpPr/>
            <p:nvPr/>
          </p:nvSpPr>
          <p:spPr bwMode="auto">
            <a:xfrm>
              <a:off x="619124" y="1823770"/>
              <a:ext cx="2762265" cy="347930"/>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400" dirty="0">
                  <a:solidFill>
                    <a:prstClr val="black"/>
                  </a:solidFill>
                  <a:latin typeface="Meiryo UI" panose="020B0604030504040204" pitchFamily="50" charset="-128"/>
                  <a:ea typeface="Meiryo UI" panose="020B0604030504040204" pitchFamily="50" charset="-128"/>
                </a:rPr>
                <a:t>MTBJ</a:t>
              </a:r>
              <a:r>
                <a:rPr lang="ja-JP" altLang="en-US" sz="1400" dirty="0">
                  <a:solidFill>
                    <a:prstClr val="black"/>
                  </a:solidFill>
                  <a:latin typeface="Meiryo UI" panose="020B0604030504040204" pitchFamily="50" charset="-128"/>
                  <a:ea typeface="Meiryo UI" panose="020B0604030504040204" pitchFamily="50" charset="-128"/>
                </a:rPr>
                <a:t>と</a:t>
              </a:r>
              <a:r>
                <a:rPr lang="en-US" altLang="ja-JP" sz="1400" dirty="0">
                  <a:solidFill>
                    <a:prstClr val="black"/>
                  </a:solidFill>
                  <a:latin typeface="Meiryo UI" panose="020B0604030504040204" pitchFamily="50" charset="-128"/>
                  <a:ea typeface="Meiryo UI" panose="020B0604030504040204" pitchFamily="50" charset="-128"/>
                </a:rPr>
                <a:t>MUSK</a:t>
              </a:r>
              <a:r>
                <a:rPr lang="ja-JP" altLang="en-US" sz="1400" dirty="0">
                  <a:solidFill>
                    <a:prstClr val="black"/>
                  </a:solidFill>
                  <a:latin typeface="Meiryo UI" panose="020B0604030504040204" pitchFamily="50" charset="-128"/>
                  <a:ea typeface="Meiryo UI" panose="020B0604030504040204" pitchFamily="50" charset="-128"/>
                </a:rPr>
                <a:t>の関係</a:t>
              </a:r>
              <a:endParaRPr kumimoji="1" lang="ja-JP" altLang="en-US" sz="1400" dirty="0">
                <a:solidFill>
                  <a:prstClr val="black"/>
                </a:solidFill>
                <a:latin typeface="Meiryo UI" panose="020B0604030504040204" pitchFamily="50" charset="-128"/>
                <a:ea typeface="Meiryo UI" panose="020B0604030504040204" pitchFamily="50" charset="-128"/>
              </a:endParaRPr>
            </a:p>
          </p:txBody>
        </p:sp>
      </p:grpSp>
      <p:grpSp>
        <p:nvGrpSpPr>
          <p:cNvPr id="42" name="グループ化 41">
            <a:extLst>
              <a:ext uri="{FF2B5EF4-FFF2-40B4-BE49-F238E27FC236}">
                <a16:creationId xmlns:a16="http://schemas.microsoft.com/office/drawing/2014/main" id="{F5FE7D7C-5C56-F676-6809-3CC488088837}"/>
              </a:ext>
            </a:extLst>
          </p:cNvPr>
          <p:cNvGrpSpPr/>
          <p:nvPr/>
        </p:nvGrpSpPr>
        <p:grpSpPr>
          <a:xfrm>
            <a:off x="5271940" y="1644953"/>
            <a:ext cx="4348180" cy="237641"/>
            <a:chOff x="619124" y="1823770"/>
            <a:chExt cx="2762266" cy="347930"/>
          </a:xfrm>
        </p:grpSpPr>
        <p:cxnSp>
          <p:nvCxnSpPr>
            <p:cNvPr id="43" name="直線コネクタ 42">
              <a:extLst>
                <a:ext uri="{FF2B5EF4-FFF2-40B4-BE49-F238E27FC236}">
                  <a16:creationId xmlns:a16="http://schemas.microsoft.com/office/drawing/2014/main" id="{A2EEE16A-F0AF-9921-1CC6-E19E49D8C8F5}"/>
                </a:ext>
              </a:extLst>
            </p:cNvPr>
            <p:cNvCxnSpPr/>
            <p:nvPr/>
          </p:nvCxnSpPr>
          <p:spPr bwMode="auto">
            <a:xfrm>
              <a:off x="619125" y="2171700"/>
              <a:ext cx="2762265" cy="0"/>
            </a:xfrm>
            <a:prstGeom prst="line">
              <a:avLst/>
            </a:prstGeom>
            <a:noFill/>
            <a:ln w="9525" cap="flat" cmpd="sng" algn="ctr">
              <a:solidFill>
                <a:schemeClr val="bg1">
                  <a:lumMod val="50000"/>
                </a:schemeClr>
              </a:solidFill>
              <a:prstDash val="solid"/>
              <a:round/>
              <a:headEnd type="none" w="med" len="med"/>
              <a:tailEnd type="none"/>
            </a:ln>
            <a:effectLst/>
          </p:spPr>
        </p:cxnSp>
        <p:sp>
          <p:nvSpPr>
            <p:cNvPr id="44" name="正方形/長方形 43">
              <a:extLst>
                <a:ext uri="{FF2B5EF4-FFF2-40B4-BE49-F238E27FC236}">
                  <a16:creationId xmlns:a16="http://schemas.microsoft.com/office/drawing/2014/main" id="{B8709D65-8E19-41A7-BA2D-1CC7864AFDE7}"/>
                </a:ext>
              </a:extLst>
            </p:cNvPr>
            <p:cNvSpPr/>
            <p:nvPr/>
          </p:nvSpPr>
          <p:spPr bwMode="auto">
            <a:xfrm>
              <a:off x="619124" y="1823770"/>
              <a:ext cx="2762265" cy="347930"/>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400" dirty="0">
                  <a:solidFill>
                    <a:prstClr val="black"/>
                  </a:solidFill>
                  <a:latin typeface="Meiryo UI" panose="020B0604030504040204" pitchFamily="50" charset="-128"/>
                  <a:ea typeface="Meiryo UI" panose="020B0604030504040204" pitchFamily="50" charset="-128"/>
                </a:rPr>
                <a:t>MUSK</a:t>
              </a:r>
              <a:r>
                <a:rPr kumimoji="1" lang="ja-JP" altLang="en-US" sz="1400" dirty="0">
                  <a:solidFill>
                    <a:prstClr val="black"/>
                  </a:solidFill>
                  <a:latin typeface="Meiryo UI" panose="020B0604030504040204" pitchFamily="50" charset="-128"/>
                  <a:ea typeface="Meiryo UI" panose="020B0604030504040204" pitchFamily="50" charset="-128"/>
                </a:rPr>
                <a:t>との契約関係</a:t>
              </a:r>
            </a:p>
          </p:txBody>
        </p:sp>
      </p:grpSp>
      <p:sp>
        <p:nvSpPr>
          <p:cNvPr id="45" name="正方形/長方形 44">
            <a:extLst>
              <a:ext uri="{FF2B5EF4-FFF2-40B4-BE49-F238E27FC236}">
                <a16:creationId xmlns:a16="http://schemas.microsoft.com/office/drawing/2014/main" id="{37975183-A4AE-0F06-E36D-9011E4B0E681}"/>
              </a:ext>
            </a:extLst>
          </p:cNvPr>
          <p:cNvSpPr/>
          <p:nvPr/>
        </p:nvSpPr>
        <p:spPr bwMode="auto">
          <a:xfrm>
            <a:off x="488504" y="5772290"/>
            <a:ext cx="4348178" cy="698858"/>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85750" indent="-285750" algn="ctr" defTabSz="908410" fontAlgn="base">
              <a:spcAft>
                <a:spcPct val="0"/>
              </a:spcAft>
              <a:buFont typeface="Wingdings" panose="05000000000000000000" pitchFamily="2" charset="2"/>
              <a:buChar char="ü"/>
            </a:pPr>
            <a:r>
              <a:rPr lang="en-US" altLang="ja-JP" sz="1400" dirty="0">
                <a:solidFill>
                  <a:prstClr val="black"/>
                </a:solidFill>
                <a:latin typeface="Meiryo UI" panose="020B0604030504040204" pitchFamily="50" charset="-128"/>
                <a:ea typeface="Meiryo UI" panose="020B0604030504040204" pitchFamily="50" charset="-128"/>
              </a:rPr>
              <a:t>MUTB</a:t>
            </a:r>
            <a:r>
              <a:rPr lang="ja-JP" altLang="en-US" sz="1400" dirty="0">
                <a:solidFill>
                  <a:prstClr val="black"/>
                </a:solidFill>
                <a:latin typeface="Meiryo UI" panose="020B0604030504040204" pitchFamily="50" charset="-128"/>
                <a:ea typeface="Meiryo UI" panose="020B0604030504040204" pitchFamily="50" charset="-128"/>
              </a:rPr>
              <a:t>とは資本関係があるが、</a:t>
            </a:r>
            <a:r>
              <a:rPr lang="en-US" altLang="ja-JP" sz="1400" dirty="0">
                <a:solidFill>
                  <a:prstClr val="black"/>
                </a:solidFill>
                <a:latin typeface="Meiryo UI" panose="020B0604030504040204" pitchFamily="50" charset="-128"/>
                <a:ea typeface="Meiryo UI" panose="020B0604030504040204" pitchFamily="50" charset="-128"/>
              </a:rPr>
              <a:t>MTBJ</a:t>
            </a:r>
            <a:r>
              <a:rPr lang="ja-JP" altLang="en-US" sz="1400" dirty="0">
                <a:solidFill>
                  <a:prstClr val="black"/>
                </a:solidFill>
                <a:latin typeface="Meiryo UI" panose="020B0604030504040204" pitchFamily="50" charset="-128"/>
                <a:ea typeface="Meiryo UI" panose="020B0604030504040204" pitchFamily="50" charset="-128"/>
              </a:rPr>
              <a:t>とは資本関係が</a:t>
            </a:r>
            <a:br>
              <a:rPr lang="en-US" altLang="ja-JP" sz="1400" dirty="0">
                <a:solidFill>
                  <a:prstClr val="black"/>
                </a:solidFill>
                <a:latin typeface="Meiryo UI" panose="020B0604030504040204" pitchFamily="50" charset="-128"/>
                <a:ea typeface="Meiryo UI" panose="020B0604030504040204" pitchFamily="50" charset="-128"/>
              </a:rPr>
            </a:br>
            <a:r>
              <a:rPr lang="ja-JP" altLang="en-US" sz="1400" dirty="0">
                <a:solidFill>
                  <a:prstClr val="black"/>
                </a:solidFill>
                <a:latin typeface="Meiryo UI" panose="020B0604030504040204" pitchFamily="50" charset="-128"/>
                <a:ea typeface="Meiryo UI" panose="020B0604030504040204" pitchFamily="50" charset="-128"/>
              </a:rPr>
              <a:t>なく、</a:t>
            </a:r>
            <a:r>
              <a:rPr lang="en-US" altLang="ja-JP" sz="1400" dirty="0">
                <a:solidFill>
                  <a:prstClr val="black"/>
                </a:solidFill>
                <a:latin typeface="Meiryo UI" panose="020B0604030504040204" pitchFamily="50" charset="-128"/>
                <a:ea typeface="Meiryo UI" panose="020B0604030504040204" pitchFamily="50" charset="-128"/>
              </a:rPr>
              <a:t>MTBJ</a:t>
            </a:r>
            <a:r>
              <a:rPr lang="ja-JP" altLang="en-US" sz="1400" dirty="0">
                <a:solidFill>
                  <a:prstClr val="black"/>
                </a:solidFill>
                <a:latin typeface="Meiryo UI" panose="020B0604030504040204" pitchFamily="50" charset="-128"/>
                <a:ea typeface="Meiryo UI" panose="020B0604030504040204" pitchFamily="50" charset="-128"/>
              </a:rPr>
              <a:t>からみた場合、我々と同じ</a:t>
            </a:r>
            <a:r>
              <a:rPr lang="en-US" altLang="ja-JP" sz="1400" dirty="0">
                <a:solidFill>
                  <a:prstClr val="black"/>
                </a:solidFill>
                <a:latin typeface="Meiryo UI" panose="020B0604030504040204" pitchFamily="50" charset="-128"/>
                <a:ea typeface="Meiryo UI" panose="020B0604030504040204" pitchFamily="50" charset="-128"/>
              </a:rPr>
              <a:t>BP</a:t>
            </a:r>
            <a:r>
              <a:rPr lang="ja-JP" altLang="en-US" sz="1400" dirty="0">
                <a:solidFill>
                  <a:prstClr val="black"/>
                </a:solidFill>
                <a:latin typeface="Meiryo UI" panose="020B0604030504040204" pitchFamily="50" charset="-128"/>
                <a:ea typeface="Meiryo UI" panose="020B0604030504040204" pitchFamily="50" charset="-128"/>
              </a:rPr>
              <a:t>の位置づけ</a:t>
            </a:r>
            <a:endParaRPr lang="en-US" altLang="ja-JP" sz="1400" dirty="0">
              <a:solidFill>
                <a:prstClr val="black"/>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58E196A5-5C49-AA23-9952-40A3C54AE980}"/>
              </a:ext>
            </a:extLst>
          </p:cNvPr>
          <p:cNvSpPr/>
          <p:nvPr/>
        </p:nvSpPr>
        <p:spPr bwMode="auto">
          <a:xfrm>
            <a:off x="5271942" y="5772290"/>
            <a:ext cx="4348178" cy="698858"/>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marL="285750" indent="-285750" defTabSz="908410" fontAlgn="base">
              <a:spcAft>
                <a:spcPct val="0"/>
              </a:spcAft>
              <a:buFont typeface="Wingdings" panose="05000000000000000000" pitchFamily="2" charset="2"/>
              <a:buChar char="ü"/>
            </a:pPr>
            <a:r>
              <a:rPr lang="ja-JP" altLang="en-US" sz="1400" dirty="0">
                <a:solidFill>
                  <a:prstClr val="black"/>
                </a:solidFill>
                <a:latin typeface="Meiryo UI" panose="020B0604030504040204" pitchFamily="50" charset="-128"/>
                <a:ea typeface="Meiryo UI" panose="020B0604030504040204" pitchFamily="50" charset="-128"/>
              </a:rPr>
              <a:t>このような構造であるため、契約上、複雑な関係性が</a:t>
            </a:r>
            <a:br>
              <a:rPr lang="en-US" altLang="ja-JP" sz="1400" dirty="0">
                <a:solidFill>
                  <a:prstClr val="black"/>
                </a:solidFill>
                <a:latin typeface="Meiryo UI" panose="020B0604030504040204" pitchFamily="50" charset="-128"/>
                <a:ea typeface="Meiryo UI" panose="020B0604030504040204" pitchFamily="50" charset="-128"/>
              </a:rPr>
            </a:br>
            <a:r>
              <a:rPr lang="ja-JP" altLang="en-US" sz="1400" dirty="0">
                <a:solidFill>
                  <a:prstClr val="black"/>
                </a:solidFill>
                <a:latin typeface="Meiryo UI" panose="020B0604030504040204" pitchFamily="50" charset="-128"/>
                <a:ea typeface="Meiryo UI" panose="020B0604030504040204" pitchFamily="50" charset="-128"/>
              </a:rPr>
              <a:t>ある</a:t>
            </a:r>
            <a:endParaRPr lang="en-US" altLang="ja-JP" sz="1400"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90693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73A0E-5ED9-19F8-C2C0-79DBD504D004}"/>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6D961E95-7365-F07F-A190-92F5BE826815}"/>
              </a:ext>
            </a:extLst>
          </p:cNvPr>
          <p:cNvPicPr>
            <a:picLocks noChangeAspect="1"/>
          </p:cNvPicPr>
          <p:nvPr/>
        </p:nvPicPr>
        <p:blipFill>
          <a:blip r:embed="rId3"/>
          <a:stretch>
            <a:fillRect/>
          </a:stretch>
        </p:blipFill>
        <p:spPr>
          <a:xfrm>
            <a:off x="866167" y="2095927"/>
            <a:ext cx="3775475" cy="3871161"/>
          </a:xfrm>
          <a:prstGeom prst="rect">
            <a:avLst/>
          </a:prstGeom>
        </p:spPr>
      </p:pic>
      <p:sp>
        <p:nvSpPr>
          <p:cNvPr id="2" name="タイトル 1">
            <a:extLst>
              <a:ext uri="{FF2B5EF4-FFF2-40B4-BE49-F238E27FC236}">
                <a16:creationId xmlns:a16="http://schemas.microsoft.com/office/drawing/2014/main" id="{CBD5E646-3366-8089-44A2-409B0E1D0DE9}"/>
              </a:ext>
            </a:extLst>
          </p:cNvPr>
          <p:cNvSpPr>
            <a:spLocks noGrp="1"/>
          </p:cNvSpPr>
          <p:nvPr>
            <p:ph type="title"/>
          </p:nvPr>
        </p:nvSpPr>
        <p:spPr/>
        <p:txBody>
          <a:bodyPr/>
          <a:lstStyle/>
          <a:p>
            <a:r>
              <a:rPr lang="ja-JP" altLang="en-US" dirty="0"/>
              <a:t>３</a:t>
            </a:r>
            <a:r>
              <a:rPr lang="en-US" altLang="ja-JP" dirty="0"/>
              <a:t>. </a:t>
            </a:r>
            <a:r>
              <a:rPr lang="ja-JP" altLang="en-US" dirty="0"/>
              <a:t>どこにあるのか？</a:t>
            </a:r>
            <a:endParaRPr kumimoji="1" lang="ja-JP" altLang="en-US" dirty="0"/>
          </a:p>
        </p:txBody>
      </p:sp>
      <p:sp>
        <p:nvSpPr>
          <p:cNvPr id="3" name="テキスト プレースホルダー 2">
            <a:extLst>
              <a:ext uri="{FF2B5EF4-FFF2-40B4-BE49-F238E27FC236}">
                <a16:creationId xmlns:a16="http://schemas.microsoft.com/office/drawing/2014/main" id="{6B635720-09E5-99BB-8627-77E21B66E4C8}"/>
              </a:ext>
            </a:extLst>
          </p:cNvPr>
          <p:cNvSpPr>
            <a:spLocks noGrp="1"/>
          </p:cNvSpPr>
          <p:nvPr>
            <p:ph type="body" idx="12"/>
          </p:nvPr>
        </p:nvSpPr>
        <p:spPr>
          <a:xfrm>
            <a:off x="488999" y="969722"/>
            <a:ext cx="9131121" cy="669414"/>
          </a:xfrm>
        </p:spPr>
        <p:txBody>
          <a:bodyPr/>
          <a:lstStyle/>
          <a:p>
            <a:r>
              <a:rPr lang="ja-JP" altLang="en-US" dirty="0"/>
              <a:t>品川駅近くの港南にあります。</a:t>
            </a:r>
            <a:endParaRPr kumimoji="1" lang="ja-JP" altLang="en-US" dirty="0"/>
          </a:p>
        </p:txBody>
      </p:sp>
      <p:sp>
        <p:nvSpPr>
          <p:cNvPr id="4" name="テキスト プレースホルダー 3">
            <a:extLst>
              <a:ext uri="{FF2B5EF4-FFF2-40B4-BE49-F238E27FC236}">
                <a16:creationId xmlns:a16="http://schemas.microsoft.com/office/drawing/2014/main" id="{A7AD7BCF-AD4A-CBC4-0CBF-105BA17E401B}"/>
              </a:ext>
            </a:extLst>
          </p:cNvPr>
          <p:cNvSpPr>
            <a:spLocks noGrp="1"/>
          </p:cNvSpPr>
          <p:nvPr>
            <p:ph type="body" sz="quarter" idx="13"/>
          </p:nvPr>
        </p:nvSpPr>
        <p:spPr/>
        <p:txBody>
          <a:bodyPr/>
          <a:lstStyle/>
          <a:p>
            <a:r>
              <a:rPr lang="en-US" altLang="ja-JP" dirty="0">
                <a:solidFill>
                  <a:prstClr val="black"/>
                </a:solidFill>
              </a:rPr>
              <a:t>1. MTBJ/MUSK</a:t>
            </a:r>
            <a:r>
              <a:rPr lang="ja-JP" altLang="en-US" dirty="0">
                <a:solidFill>
                  <a:prstClr val="black"/>
                </a:solidFill>
              </a:rPr>
              <a:t>の概要</a:t>
            </a:r>
            <a:endParaRPr kumimoji="1" lang="ja-JP" altLang="en-US" dirty="0"/>
          </a:p>
        </p:txBody>
      </p:sp>
      <p:pic>
        <p:nvPicPr>
          <p:cNvPr id="7" name="図 6">
            <a:extLst>
              <a:ext uri="{FF2B5EF4-FFF2-40B4-BE49-F238E27FC236}">
                <a16:creationId xmlns:a16="http://schemas.microsoft.com/office/drawing/2014/main" id="{35F94376-99AC-69C0-7C29-1CB95B79B62B}"/>
              </a:ext>
            </a:extLst>
          </p:cNvPr>
          <p:cNvPicPr>
            <a:picLocks noChangeAspect="1"/>
          </p:cNvPicPr>
          <p:nvPr/>
        </p:nvPicPr>
        <p:blipFill>
          <a:blip r:embed="rId4"/>
          <a:stretch>
            <a:fillRect/>
          </a:stretch>
        </p:blipFill>
        <p:spPr>
          <a:xfrm>
            <a:off x="5341069" y="2095928"/>
            <a:ext cx="3750067" cy="3871161"/>
          </a:xfrm>
          <a:prstGeom prst="rect">
            <a:avLst/>
          </a:prstGeom>
        </p:spPr>
      </p:pic>
      <p:pic>
        <p:nvPicPr>
          <p:cNvPr id="12" name="カメラ 11">
            <a:extLst>
              <a:ext uri="{FF2B5EF4-FFF2-40B4-BE49-F238E27FC236}">
                <a16:creationId xmlns:a16="http://schemas.microsoft.com/office/drawing/2014/main" id="{56A272F1-FC81-8B2A-EB6E-DE827AEF9A8F}"/>
              </a:ext>
            </a:extLst>
          </p:cNvPr>
          <p:cNvPicPr>
            <a:picLocks noChangeAspect="1"/>
            <a:extLst>
              <a:ext uri="{51228E76-BA90-4043-B771-695A4F85340A}">
                <alf:liveFeedProps xmlns:alf="http://schemas.microsoft.com/office/drawing/2021/livefeed"/>
              </a:ext>
            </a:extLst>
          </p:cNvPicPr>
          <p:nvPr/>
        </p:nvPicPr>
        <p:blipFill>
          <a:blip r:embed="rId5">
            <a:extLst>
              <a:ext uri="{96DAC541-7B7A-43D3-8B79-37D633B846F1}">
                <asvg:svgBlip xmlns:asvg="http://schemas.microsoft.com/office/drawing/2016/SVG/main" r:embed="rId6"/>
              </a:ext>
            </a:extLst>
          </a:blip>
          <a:stretch>
            <a:fillRect/>
          </a:stretch>
        </p:blipFill>
        <p:spPr>
          <a:xfrm>
            <a:off x="1565748" y="4166280"/>
            <a:ext cx="721106" cy="721106"/>
          </a:xfrm>
          <a:prstGeom prst="ellipse">
            <a:avLst/>
          </a:prstGeom>
        </p:spPr>
      </p:pic>
      <p:pic>
        <p:nvPicPr>
          <p:cNvPr id="10" name="グラフィックス 9" descr="タクシー 単色塗りつぶし">
            <a:extLst>
              <a:ext uri="{FF2B5EF4-FFF2-40B4-BE49-F238E27FC236}">
                <a16:creationId xmlns:a16="http://schemas.microsoft.com/office/drawing/2014/main" id="{3339CB42-32CE-54F1-4BDD-9C2890C9844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93358" y="4987039"/>
            <a:ext cx="1960098" cy="1960098"/>
          </a:xfrm>
          <a:prstGeom prst="rect">
            <a:avLst/>
          </a:prstGeom>
        </p:spPr>
      </p:pic>
      <p:sp>
        <p:nvSpPr>
          <p:cNvPr id="5" name="正方形/長方形 4">
            <a:extLst>
              <a:ext uri="{FF2B5EF4-FFF2-40B4-BE49-F238E27FC236}">
                <a16:creationId xmlns:a16="http://schemas.microsoft.com/office/drawing/2014/main" id="{2A1EFC36-C65E-55C1-AF2A-752ED3AEB5FE}"/>
              </a:ext>
            </a:extLst>
          </p:cNvPr>
          <p:cNvSpPr/>
          <p:nvPr/>
        </p:nvSpPr>
        <p:spPr bwMode="auto">
          <a:xfrm>
            <a:off x="5341069" y="6113124"/>
            <a:ext cx="3750067" cy="261940"/>
          </a:xfrm>
          <a:prstGeom prst="rect">
            <a:avLst/>
          </a:prstGeom>
          <a:solidFill>
            <a:schemeClr val="accent1">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400" b="1" dirty="0">
                <a:solidFill>
                  <a:prstClr val="black"/>
                </a:solidFill>
                <a:latin typeface="Meiryo UI" panose="020B0604030504040204" pitchFamily="50" charset="-128"/>
                <a:ea typeface="Meiryo UI" panose="020B0604030504040204" pitchFamily="50" charset="-128"/>
              </a:rPr>
              <a:t>港南（最寄りは品川駅）</a:t>
            </a:r>
          </a:p>
        </p:txBody>
      </p:sp>
      <p:sp>
        <p:nvSpPr>
          <p:cNvPr id="6" name="正方形/長方形 5">
            <a:extLst>
              <a:ext uri="{FF2B5EF4-FFF2-40B4-BE49-F238E27FC236}">
                <a16:creationId xmlns:a16="http://schemas.microsoft.com/office/drawing/2014/main" id="{91076F65-4A60-CEC6-0B74-F3D06D0311C9}"/>
              </a:ext>
            </a:extLst>
          </p:cNvPr>
          <p:cNvSpPr/>
          <p:nvPr/>
        </p:nvSpPr>
        <p:spPr bwMode="auto">
          <a:xfrm>
            <a:off x="866167" y="6113124"/>
            <a:ext cx="3775475" cy="261940"/>
          </a:xfrm>
          <a:prstGeom prst="rect">
            <a:avLst/>
          </a:prstGeom>
          <a:solidFill>
            <a:schemeClr val="accent1">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400" b="1" dirty="0">
                <a:solidFill>
                  <a:prstClr val="black"/>
                </a:solidFill>
                <a:latin typeface="Meiryo UI" panose="020B0604030504040204" pitchFamily="50" charset="-128"/>
                <a:ea typeface="Meiryo UI" panose="020B0604030504040204" pitchFamily="50" charset="-128"/>
              </a:rPr>
              <a:t>AIR</a:t>
            </a:r>
            <a:endParaRPr kumimoji="1" lang="ja-JP" altLang="en-US" sz="1400" b="1"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795584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path" presetSubtype="0" accel="50000" decel="50000" fill="hold" nodeType="clickEffect">
                                  <p:stCondLst>
                                    <p:cond delay="0"/>
                                  </p:stCondLst>
                                  <p:childTnLst>
                                    <p:animMotion origin="layout" path="M 1.28205E-6 2.59259E-6 L 0.28942 -0.03704 " pathEditMode="relative" rAng="0" ptsTypes="AA">
                                      <p:cBhvr>
                                        <p:cTn id="33" dur="2000" fill="hold"/>
                                        <p:tgtEl>
                                          <p:spTgt spid="10"/>
                                        </p:tgtEl>
                                        <p:attrNameLst>
                                          <p:attrName>ppt_x</p:attrName>
                                          <p:attrName>ppt_y</p:attrName>
                                        </p:attrNameLst>
                                      </p:cBhvr>
                                      <p:rCtr x="14471" y="-1852"/>
                                    </p:animMotion>
                                  </p:childTnLst>
                                </p:cTn>
                              </p:par>
                            </p:childTnLst>
                          </p:cTn>
                        </p:par>
                      </p:childTnLst>
                    </p:cTn>
                  </p:par>
                  <p:par>
                    <p:cTn id="34" fill="hold">
                      <p:stCondLst>
                        <p:cond delay="indefinite"/>
                      </p:stCondLst>
                      <p:childTnLst>
                        <p:par>
                          <p:cTn id="35" fill="hold">
                            <p:stCondLst>
                              <p:cond delay="0"/>
                            </p:stCondLst>
                            <p:childTnLst>
                              <p:par>
                                <p:cTn id="36" presetID="42" presetClass="path" presetSubtype="0" accel="50000" decel="50000" fill="hold" nodeType="clickEffect">
                                  <p:stCondLst>
                                    <p:cond delay="0"/>
                                  </p:stCondLst>
                                  <p:childTnLst>
                                    <p:animMotion origin="layout" path="M -1.02564E-6 -3.7037E-6 L -0.00144 0.16412 " pathEditMode="relative" rAng="0" ptsTypes="AA">
                                      <p:cBhvr>
                                        <p:cTn id="37" dur="2000" fill="hold"/>
                                        <p:tgtEl>
                                          <p:spTgt spid="12"/>
                                        </p:tgtEl>
                                        <p:attrNameLst>
                                          <p:attrName>ppt_x</p:attrName>
                                          <p:attrName>ppt_y</p:attrName>
                                        </p:attrNameLst>
                                      </p:cBhvr>
                                      <p:rCtr x="-80" y="8194"/>
                                    </p:animMotion>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decel="50000" fill="hold" nodeType="clickEffect">
                                  <p:stCondLst>
                                    <p:cond delay="0"/>
                                  </p:stCondLst>
                                  <p:childTnLst>
                                    <p:animMotion origin="layout" path="M 0.01298 0.17292 L 0.54199 0.15949 " pathEditMode="relative" rAng="0" ptsTypes="AA">
                                      <p:cBhvr>
                                        <p:cTn id="41" dur="2000" fill="hold"/>
                                        <p:tgtEl>
                                          <p:spTgt spid="12"/>
                                        </p:tgtEl>
                                        <p:attrNameLst>
                                          <p:attrName>ppt_x</p:attrName>
                                          <p:attrName>ppt_y</p:attrName>
                                        </p:attrNameLst>
                                      </p:cBhvr>
                                      <p:rCtr x="26442" y="-671"/>
                                    </p:animMotion>
                                  </p:childTnLst>
                                </p:cTn>
                              </p:par>
                              <p:par>
                                <p:cTn id="42" presetID="42" presetClass="path" presetSubtype="0" accel="50000" decel="50000" fill="hold" nodeType="withEffect">
                                  <p:stCondLst>
                                    <p:cond delay="0"/>
                                  </p:stCondLst>
                                  <p:childTnLst>
                                    <p:animMotion origin="layout" path="M 0.28942 -0.03704 L 0.81843 -0.05046 " pathEditMode="relative" rAng="0" ptsTypes="AA">
                                      <p:cBhvr>
                                        <p:cTn id="43" dur="2000" fill="hold"/>
                                        <p:tgtEl>
                                          <p:spTgt spid="10"/>
                                        </p:tgtEl>
                                        <p:attrNameLst>
                                          <p:attrName>ppt_x</p:attrName>
                                          <p:attrName>ppt_y</p:attrName>
                                        </p:attrNameLst>
                                      </p:cBhvr>
                                      <p:rCtr x="26058" y="-648"/>
                                    </p:animMotion>
                                  </p:childTnLst>
                                </p:cTn>
                              </p:par>
                            </p:childTnLst>
                          </p:cTn>
                        </p:par>
                      </p:childTnLst>
                    </p:cTn>
                  </p:par>
                  <p:par>
                    <p:cTn id="44" fill="hold">
                      <p:stCondLst>
                        <p:cond delay="indefinite"/>
                      </p:stCondLst>
                      <p:childTnLst>
                        <p:par>
                          <p:cTn id="45" fill="hold">
                            <p:stCondLst>
                              <p:cond delay="0"/>
                            </p:stCondLst>
                            <p:childTnLst>
                              <p:par>
                                <p:cTn id="46" presetID="42" presetClass="path" presetSubtype="0" accel="50000" decel="50000" fill="hold" nodeType="clickEffect">
                                  <p:stCondLst>
                                    <p:cond delay="0"/>
                                  </p:stCondLst>
                                  <p:childTnLst>
                                    <p:animMotion origin="layout" path="M 0.54199 0.15949 L 0.54615 -0.00069 " pathEditMode="relative" rAng="0" ptsTypes="AA">
                                      <p:cBhvr>
                                        <p:cTn id="47" dur="2000" fill="hold"/>
                                        <p:tgtEl>
                                          <p:spTgt spid="12"/>
                                        </p:tgtEl>
                                        <p:attrNameLst>
                                          <p:attrName>ppt_x</p:attrName>
                                          <p:attrName>ppt_y</p:attrName>
                                        </p:attrNameLst>
                                      </p:cBhvr>
                                      <p:rCtr x="208" y="-8102"/>
                                    </p:animMotion>
                                  </p:childTnLst>
                                </p:cTn>
                              </p:par>
                              <p:par>
                                <p:cTn id="48" presetID="42" presetClass="path" presetSubtype="0" accel="50000" decel="50000" fill="hold" nodeType="withEffect">
                                  <p:stCondLst>
                                    <p:cond delay="0"/>
                                  </p:stCondLst>
                                  <p:childTnLst>
                                    <p:animMotion origin="layout" path="M 0.81843 -0.05047 L 1.25401 -0.04885 " pathEditMode="relative" rAng="0" ptsTypes="AA">
                                      <p:cBhvr>
                                        <p:cTn id="49" dur="2000" fill="hold"/>
                                        <p:tgtEl>
                                          <p:spTgt spid="10"/>
                                        </p:tgtEl>
                                        <p:attrNameLst>
                                          <p:attrName>ppt_x</p:attrName>
                                          <p:attrName>ppt_y</p:attrName>
                                        </p:attrNameLst>
                                      </p:cBhvr>
                                      <p:rCtr x="21779" y="69"/>
                                    </p:animMotion>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xEl>
                                              <p:pRg st="0" end="0"/>
                                            </p:txEl>
                                          </p:spTgt>
                                        </p:tgtEl>
                                        <p:attrNameLst>
                                          <p:attrName>style.visibility</p:attrName>
                                        </p:attrNameLst>
                                      </p:cBhvr>
                                      <p:to>
                                        <p:strVal val="visible"/>
                                      </p:to>
                                    </p:set>
                                    <p:animEffect transition="in" filter="fade">
                                      <p:cBhvr>
                                        <p:cTn id="5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カメラ 5">
            <a:extLst>
              <a:ext uri="{FF2B5EF4-FFF2-40B4-BE49-F238E27FC236}">
                <a16:creationId xmlns:a16="http://schemas.microsoft.com/office/drawing/2014/main" id="{965C3B1B-B08C-423B-84ED-369DB23AA41F}"/>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6604254" y="3870579"/>
            <a:ext cx="2057400" cy="2057400"/>
          </a:xfrm>
          <a:prstGeom prst="ellipse">
            <a:avLst/>
          </a:prstGeom>
        </p:spPr>
      </p:pic>
      <p:sp>
        <p:nvSpPr>
          <p:cNvPr id="7" name="吹き出し: 四角形 6">
            <a:extLst>
              <a:ext uri="{FF2B5EF4-FFF2-40B4-BE49-F238E27FC236}">
                <a16:creationId xmlns:a16="http://schemas.microsoft.com/office/drawing/2014/main" id="{9A27B168-3385-FC80-0F4B-B26903BE031D}"/>
              </a:ext>
            </a:extLst>
          </p:cNvPr>
          <p:cNvSpPr/>
          <p:nvPr/>
        </p:nvSpPr>
        <p:spPr bwMode="auto">
          <a:xfrm>
            <a:off x="2552700" y="2409825"/>
            <a:ext cx="4181475" cy="1838325"/>
          </a:xfrm>
          <a:prstGeom prst="wedgeRectCallout">
            <a:avLst>
              <a:gd name="adj1" fmla="val 60033"/>
              <a:gd name="adj2" fmla="val 35039"/>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2000" b="1" dirty="0">
                <a:solidFill>
                  <a:prstClr val="black"/>
                </a:solidFill>
                <a:latin typeface="Meiryo UI" panose="020B0604030504040204" pitchFamily="50" charset="-128"/>
                <a:ea typeface="Meiryo UI" panose="020B0604030504040204" pitchFamily="50" charset="-128"/>
              </a:rPr>
              <a:t>ここまでで</a:t>
            </a:r>
            <a:endParaRPr kumimoji="1" lang="en-US" altLang="ja-JP" sz="20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2000" b="1" dirty="0">
                <a:solidFill>
                  <a:prstClr val="black"/>
                </a:solidFill>
                <a:latin typeface="Meiryo UI" panose="020B0604030504040204" pitchFamily="50" charset="-128"/>
                <a:ea typeface="Meiryo UI" panose="020B0604030504040204" pitchFamily="50" charset="-128"/>
              </a:rPr>
              <a:t>山田</a:t>
            </a:r>
            <a:r>
              <a:rPr kumimoji="1" lang="en-US" altLang="ja-JP" sz="2000" b="1" dirty="0">
                <a:solidFill>
                  <a:prstClr val="black"/>
                </a:solidFill>
                <a:latin typeface="Meiryo UI" panose="020B0604030504040204" pitchFamily="50" charset="-128"/>
                <a:ea typeface="Meiryo UI" panose="020B0604030504040204" pitchFamily="50" charset="-128"/>
              </a:rPr>
              <a:t>MD</a:t>
            </a:r>
            <a:r>
              <a:rPr kumimoji="1" lang="ja-JP" altLang="en-US" sz="2000" b="1" dirty="0">
                <a:solidFill>
                  <a:prstClr val="black"/>
                </a:solidFill>
                <a:latin typeface="Meiryo UI" panose="020B0604030504040204" pitchFamily="50" charset="-128"/>
                <a:ea typeface="Meiryo UI" panose="020B0604030504040204" pitchFamily="50" charset="-128"/>
              </a:rPr>
              <a:t>なにか補足ありますか？</a:t>
            </a:r>
          </a:p>
        </p:txBody>
      </p:sp>
    </p:spTree>
    <p:extLst>
      <p:ext uri="{BB962C8B-B14F-4D97-AF65-F5344CB8AC3E}">
        <p14:creationId xmlns:p14="http://schemas.microsoft.com/office/powerpoint/2010/main" val="1635346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9EBB1-42D8-65C3-9FAA-06147AD8B266}"/>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3E5E25B1-04D5-524F-5ACD-3AE20C183334}"/>
              </a:ext>
            </a:extLst>
          </p:cNvPr>
          <p:cNvSpPr/>
          <p:nvPr/>
        </p:nvSpPr>
        <p:spPr bwMode="auto">
          <a:xfrm>
            <a:off x="-759638" y="2855316"/>
            <a:ext cx="11244300" cy="1147369"/>
          </a:xfrm>
          <a:prstGeom prst="rect">
            <a:avLst/>
          </a:prstGeom>
          <a:solidFill>
            <a:srgbClr val="A055F5"/>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3600" b="1" dirty="0">
                <a:solidFill>
                  <a:schemeClr val="bg1"/>
                </a:solidFill>
                <a:latin typeface="Meiryo UI" panose="020B0604030504040204" pitchFamily="50" charset="-128"/>
                <a:ea typeface="Meiryo UI" panose="020B0604030504040204" pitchFamily="50" charset="-128"/>
              </a:rPr>
              <a:t>Q</a:t>
            </a:r>
            <a:r>
              <a:rPr kumimoji="1" lang="ja-JP" altLang="en-US" sz="3600" b="1" dirty="0">
                <a:solidFill>
                  <a:schemeClr val="bg1"/>
                </a:solidFill>
                <a:latin typeface="Meiryo UI" panose="020B0604030504040204" pitchFamily="50" charset="-128"/>
                <a:ea typeface="Meiryo UI" panose="020B0604030504040204" pitchFamily="50" charset="-128"/>
              </a:rPr>
              <a:t>＆</a:t>
            </a:r>
            <a:r>
              <a:rPr kumimoji="1" lang="en-US" altLang="ja-JP" sz="3600" b="1" dirty="0">
                <a:solidFill>
                  <a:schemeClr val="bg1"/>
                </a:solidFill>
                <a:latin typeface="Meiryo UI" panose="020B0604030504040204" pitchFamily="50" charset="-128"/>
                <a:ea typeface="Meiryo UI" panose="020B0604030504040204" pitchFamily="50" charset="-128"/>
              </a:rPr>
              <a:t>A</a:t>
            </a:r>
            <a:endParaRPr kumimoji="1" lang="ja-JP" altLang="en-US" sz="36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74247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E8080-C62D-7310-3E43-6E1168B68785}"/>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6B3848D2-D053-B1A1-5A4F-2145E5C36A11}"/>
              </a:ext>
            </a:extLst>
          </p:cNvPr>
          <p:cNvSpPr/>
          <p:nvPr/>
        </p:nvSpPr>
        <p:spPr bwMode="auto">
          <a:xfrm>
            <a:off x="2989779" y="3029157"/>
            <a:ext cx="4423881"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5C4EC485-E1C2-663E-9941-BE68AC1394FE}"/>
              </a:ext>
            </a:extLst>
          </p:cNvPr>
          <p:cNvSpPr/>
          <p:nvPr/>
        </p:nvSpPr>
        <p:spPr bwMode="auto">
          <a:xfrm>
            <a:off x="2492339" y="2630180"/>
            <a:ext cx="4921322"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084FD0BD-3C75-30BB-8333-ACB2EC556DC3}"/>
              </a:ext>
            </a:extLst>
          </p:cNvPr>
          <p:cNvSpPr/>
          <p:nvPr/>
        </p:nvSpPr>
        <p:spPr bwMode="auto">
          <a:xfrm>
            <a:off x="2492339" y="1192976"/>
            <a:ext cx="4921322" cy="514146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28600"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MTBJ/MUSK</a:t>
            </a:r>
            <a:r>
              <a:rPr kumimoji="1" lang="ja-JP" altLang="en-US" dirty="0">
                <a:solidFill>
                  <a:prstClr val="black"/>
                </a:solidFill>
                <a:latin typeface="Meiryo UI" panose="020B0604030504040204" pitchFamily="50" charset="-128"/>
                <a:ea typeface="Meiryo UI" panose="020B0604030504040204" pitchFamily="50" charset="-128"/>
              </a:rPr>
              <a:t>の概要</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a:t>
            </a:r>
            <a:r>
              <a:rPr lang="ja-JP" altLang="en-US" dirty="0">
                <a:solidFill>
                  <a:prstClr val="black"/>
                </a:solidFill>
                <a:latin typeface="Meiryo UI" panose="020B0604030504040204" pitchFamily="50" charset="-128"/>
                <a:ea typeface="Meiryo UI" panose="020B0604030504040204" pitchFamily="50" charset="-128"/>
              </a:rPr>
              <a:t>とは？</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MUSK</a:t>
            </a:r>
            <a:r>
              <a:rPr lang="ja-JP" altLang="en-US" dirty="0">
                <a:solidFill>
                  <a:prstClr val="black"/>
                </a:solidFill>
                <a:latin typeface="Meiryo UI" panose="020B0604030504040204" pitchFamily="50" charset="-128"/>
                <a:ea typeface="Meiryo UI" panose="020B0604030504040204" pitchFamily="50" charset="-128"/>
              </a:rPr>
              <a:t>とは？</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アカウント紹介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アカウントの概要</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アカウントの特徴</a:t>
            </a:r>
            <a:endParaRPr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ご支援内容の全体像</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プロジェクト①アーキテクチャ戦略</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プロジェクト②業務改善支援</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まとめ</a:t>
            </a:r>
          </a:p>
        </p:txBody>
      </p:sp>
    </p:spTree>
    <p:extLst>
      <p:ext uri="{BB962C8B-B14F-4D97-AF65-F5344CB8AC3E}">
        <p14:creationId xmlns:p14="http://schemas.microsoft.com/office/powerpoint/2010/main" val="1438195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CF312-4389-B550-9935-9A2CABE4B73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92D42F-05AB-E5AA-7343-1E496B9386CF}"/>
              </a:ext>
            </a:extLst>
          </p:cNvPr>
          <p:cNvSpPr>
            <a:spLocks noGrp="1"/>
          </p:cNvSpPr>
          <p:nvPr>
            <p:ph type="title"/>
          </p:nvPr>
        </p:nvSpPr>
        <p:spPr>
          <a:xfrm>
            <a:off x="488504" y="568613"/>
            <a:ext cx="8928000" cy="373311"/>
          </a:xfrm>
        </p:spPr>
        <p:txBody>
          <a:bodyPr/>
          <a:lstStyle/>
          <a:p>
            <a:r>
              <a:rPr lang="en-US" altLang="ja-JP" dirty="0"/>
              <a:t>1. MTBJ/MUSK</a:t>
            </a:r>
            <a:r>
              <a:rPr lang="ja-JP" altLang="en-US" dirty="0"/>
              <a:t>の取り組み事項</a:t>
            </a:r>
            <a:endParaRPr kumimoji="1" lang="ja-JP" altLang="en-US" dirty="0"/>
          </a:p>
        </p:txBody>
      </p:sp>
      <p:sp>
        <p:nvSpPr>
          <p:cNvPr id="3" name="テキスト プレースホルダー 2">
            <a:extLst>
              <a:ext uri="{FF2B5EF4-FFF2-40B4-BE49-F238E27FC236}">
                <a16:creationId xmlns:a16="http://schemas.microsoft.com/office/drawing/2014/main" id="{16F2BB07-D0FA-860D-965C-1F8E037D30FB}"/>
              </a:ext>
            </a:extLst>
          </p:cNvPr>
          <p:cNvSpPr>
            <a:spLocks noGrp="1"/>
          </p:cNvSpPr>
          <p:nvPr>
            <p:ph type="body" idx="12"/>
          </p:nvPr>
        </p:nvSpPr>
        <p:spPr>
          <a:xfrm>
            <a:off x="488999" y="969722"/>
            <a:ext cx="9131121" cy="669414"/>
          </a:xfrm>
        </p:spPr>
        <p:txBody>
          <a:bodyPr/>
          <a:lstStyle/>
          <a:p>
            <a:r>
              <a:rPr lang="en-US" altLang="ja-JP" dirty="0"/>
              <a:t>MTBJ</a:t>
            </a:r>
            <a:r>
              <a:rPr lang="ja-JP" altLang="en-US" dirty="0"/>
              <a:t>ではアーキテクチャ戦略プログラムを中心に様々な取り組みを並走して進めていて</a:t>
            </a:r>
            <a:r>
              <a:rPr lang="en-US" altLang="ja-JP" dirty="0"/>
              <a:t>ACN</a:t>
            </a:r>
            <a:r>
              <a:rPr lang="ja-JP" altLang="en-US" dirty="0"/>
              <a:t>も参画しています。</a:t>
            </a:r>
            <a:endParaRPr lang="en-US" altLang="ja-JP" dirty="0"/>
          </a:p>
          <a:p>
            <a:r>
              <a:rPr kumimoji="1" lang="ja-JP" altLang="en-US" dirty="0"/>
              <a:t>（とにかくいろんなことをいっぱいやってます）</a:t>
            </a:r>
          </a:p>
        </p:txBody>
      </p:sp>
      <p:sp>
        <p:nvSpPr>
          <p:cNvPr id="4" name="テキスト プレースホルダー 3">
            <a:extLst>
              <a:ext uri="{FF2B5EF4-FFF2-40B4-BE49-F238E27FC236}">
                <a16:creationId xmlns:a16="http://schemas.microsoft.com/office/drawing/2014/main" id="{A25BF196-9D5B-2731-55CC-FFB6F0D2F945}"/>
              </a:ext>
            </a:extLst>
          </p:cNvPr>
          <p:cNvSpPr>
            <a:spLocks noGrp="1"/>
          </p:cNvSpPr>
          <p:nvPr>
            <p:ph type="body" sz="quarter" idx="13"/>
          </p:nvPr>
        </p:nvSpPr>
        <p:spPr/>
        <p:txBody>
          <a:bodyPr/>
          <a:lstStyle/>
          <a:p>
            <a:r>
              <a:rPr kumimoji="1" lang="en-US" altLang="ja-JP" dirty="0"/>
              <a:t>2. </a:t>
            </a:r>
            <a:r>
              <a:rPr kumimoji="1" lang="ja-JP" altLang="en-US" dirty="0"/>
              <a:t>アカウント紹介</a:t>
            </a:r>
          </a:p>
        </p:txBody>
      </p:sp>
      <p:grpSp>
        <p:nvGrpSpPr>
          <p:cNvPr id="32" name="グループ化 31">
            <a:extLst>
              <a:ext uri="{FF2B5EF4-FFF2-40B4-BE49-F238E27FC236}">
                <a16:creationId xmlns:a16="http://schemas.microsoft.com/office/drawing/2014/main" id="{22D4B518-F491-FBF9-4454-0DECD0FCE77B}"/>
              </a:ext>
            </a:extLst>
          </p:cNvPr>
          <p:cNvGrpSpPr/>
          <p:nvPr/>
        </p:nvGrpSpPr>
        <p:grpSpPr>
          <a:xfrm>
            <a:off x="488503" y="1856408"/>
            <a:ext cx="9131121" cy="4430088"/>
            <a:chOff x="488503" y="1637333"/>
            <a:chExt cx="9131121" cy="4430088"/>
          </a:xfrm>
        </p:grpSpPr>
        <p:grpSp>
          <p:nvGrpSpPr>
            <p:cNvPr id="12" name="グループ化 11">
              <a:extLst>
                <a:ext uri="{FF2B5EF4-FFF2-40B4-BE49-F238E27FC236}">
                  <a16:creationId xmlns:a16="http://schemas.microsoft.com/office/drawing/2014/main" id="{BD98F7A6-47FF-AD91-9534-22516DDA7400}"/>
                </a:ext>
              </a:extLst>
            </p:cNvPr>
            <p:cNvGrpSpPr/>
            <p:nvPr/>
          </p:nvGrpSpPr>
          <p:grpSpPr>
            <a:xfrm>
              <a:off x="488503" y="1637333"/>
              <a:ext cx="9131121" cy="237641"/>
              <a:chOff x="619124" y="1823770"/>
              <a:chExt cx="2762266" cy="347930"/>
            </a:xfrm>
          </p:grpSpPr>
          <p:cxnSp>
            <p:nvCxnSpPr>
              <p:cNvPr id="13" name="直線コネクタ 12">
                <a:extLst>
                  <a:ext uri="{FF2B5EF4-FFF2-40B4-BE49-F238E27FC236}">
                    <a16:creationId xmlns:a16="http://schemas.microsoft.com/office/drawing/2014/main" id="{BF049116-2FBC-E708-7F23-691A24FF75A4}"/>
                  </a:ext>
                </a:extLst>
              </p:cNvPr>
              <p:cNvCxnSpPr/>
              <p:nvPr/>
            </p:nvCxnSpPr>
            <p:spPr bwMode="auto">
              <a:xfrm>
                <a:off x="619125" y="2171700"/>
                <a:ext cx="2762265" cy="0"/>
              </a:xfrm>
              <a:prstGeom prst="line">
                <a:avLst/>
              </a:prstGeom>
              <a:noFill/>
              <a:ln w="9525" cap="flat" cmpd="sng" algn="ctr">
                <a:solidFill>
                  <a:schemeClr val="bg1">
                    <a:lumMod val="50000"/>
                  </a:schemeClr>
                </a:solidFill>
                <a:prstDash val="solid"/>
                <a:round/>
                <a:headEnd type="none" w="med" len="med"/>
                <a:tailEnd type="none"/>
              </a:ln>
              <a:effectLst/>
            </p:spPr>
          </p:cxnSp>
          <p:sp>
            <p:nvSpPr>
              <p:cNvPr id="14" name="正方形/長方形 13">
                <a:extLst>
                  <a:ext uri="{FF2B5EF4-FFF2-40B4-BE49-F238E27FC236}">
                    <a16:creationId xmlns:a16="http://schemas.microsoft.com/office/drawing/2014/main" id="{06EA5EC2-F13B-A6D6-5A55-1CC2C1192909}"/>
                  </a:ext>
                </a:extLst>
              </p:cNvPr>
              <p:cNvSpPr/>
              <p:nvPr/>
            </p:nvSpPr>
            <p:spPr bwMode="auto">
              <a:xfrm>
                <a:off x="619124" y="1823770"/>
                <a:ext cx="2762265" cy="347930"/>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400" dirty="0">
                    <a:solidFill>
                      <a:prstClr val="black"/>
                    </a:solidFill>
                    <a:latin typeface="Meiryo UI" panose="020B0604030504040204" pitchFamily="50" charset="-128"/>
                    <a:ea typeface="Meiryo UI" panose="020B0604030504040204" pitchFamily="50" charset="-128"/>
                  </a:rPr>
                  <a:t>取り組み事項</a:t>
                </a:r>
              </a:p>
            </p:txBody>
          </p:sp>
        </p:grpSp>
        <p:sp>
          <p:nvSpPr>
            <p:cNvPr id="6" name="正方形/長方形 5">
              <a:extLst>
                <a:ext uri="{FF2B5EF4-FFF2-40B4-BE49-F238E27FC236}">
                  <a16:creationId xmlns:a16="http://schemas.microsoft.com/office/drawing/2014/main" id="{9F5FE6EF-2EE0-F68E-58CF-A8316ABAE32D}"/>
                </a:ext>
              </a:extLst>
            </p:cNvPr>
            <p:cNvSpPr/>
            <p:nvPr/>
          </p:nvSpPr>
          <p:spPr bwMode="auto">
            <a:xfrm>
              <a:off x="488999" y="2038397"/>
              <a:ext cx="791924" cy="119650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050" dirty="0">
                  <a:solidFill>
                    <a:prstClr val="black"/>
                  </a:solidFill>
                  <a:latin typeface="Meiryo UI" panose="020B0604030504040204" pitchFamily="50" charset="-128"/>
                  <a:ea typeface="Meiryo UI" panose="020B0604030504040204" pitchFamily="50" charset="-128"/>
                </a:rPr>
                <a:t>ビジネス</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D2BB9D61-31FA-EAFF-7DB7-7B5927CEC8E1}"/>
                </a:ext>
              </a:extLst>
            </p:cNvPr>
            <p:cNvSpPr/>
            <p:nvPr/>
          </p:nvSpPr>
          <p:spPr bwMode="auto">
            <a:xfrm>
              <a:off x="488999" y="3454655"/>
              <a:ext cx="791924" cy="119650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業務</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BF0168A5-7A43-7286-5DCD-EB78227252B3}"/>
                </a:ext>
              </a:extLst>
            </p:cNvPr>
            <p:cNvSpPr/>
            <p:nvPr/>
          </p:nvSpPr>
          <p:spPr bwMode="auto">
            <a:xfrm>
              <a:off x="488999" y="4870913"/>
              <a:ext cx="791924" cy="119650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システム</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153CBA64-2745-CF83-825A-1904DF8C916A}"/>
                </a:ext>
              </a:extLst>
            </p:cNvPr>
            <p:cNvSpPr/>
            <p:nvPr/>
          </p:nvSpPr>
          <p:spPr bwMode="auto">
            <a:xfrm>
              <a:off x="1628775" y="2038396"/>
              <a:ext cx="2394585" cy="4029020"/>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アーキテクチャ戦略プログラム</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2D1D2943-DAA3-31D0-A87F-AE8DD6C0C1E5}"/>
                </a:ext>
              </a:extLst>
            </p:cNvPr>
            <p:cNvSpPr/>
            <p:nvPr/>
          </p:nvSpPr>
          <p:spPr bwMode="auto">
            <a:xfrm>
              <a:off x="1767352" y="2499005"/>
              <a:ext cx="926220" cy="34641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200" b="1" dirty="0">
                  <a:solidFill>
                    <a:prstClr val="black"/>
                  </a:solidFill>
                  <a:latin typeface="Meiryo UI" panose="020B0604030504040204" pitchFamily="50" charset="-128"/>
                  <a:ea typeface="Meiryo UI" panose="020B0604030504040204" pitchFamily="50" charset="-128"/>
                </a:rPr>
                <a:t>データ</a:t>
              </a:r>
              <a:br>
                <a:rPr lang="en-US" altLang="ja-JP" sz="1200" b="1" dirty="0">
                  <a:solidFill>
                    <a:prstClr val="black"/>
                  </a:solidFill>
                  <a:latin typeface="Meiryo UI" panose="020B0604030504040204" pitchFamily="50" charset="-128"/>
                  <a:ea typeface="Meiryo UI" panose="020B0604030504040204" pitchFamily="50" charset="-128"/>
                </a:rPr>
              </a:br>
              <a:r>
                <a:rPr lang="ja-JP" altLang="en-US" sz="1200" b="1" dirty="0">
                  <a:solidFill>
                    <a:prstClr val="black"/>
                  </a:solidFill>
                  <a:latin typeface="Meiryo UI" panose="020B0604030504040204" pitchFamily="50" charset="-128"/>
                  <a:ea typeface="Meiryo UI" panose="020B0604030504040204" pitchFamily="50" charset="-128"/>
                </a:rPr>
                <a:t>マネジメントサービス</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FDDECDA6-A837-5623-B556-54476AC5014A}"/>
                </a:ext>
              </a:extLst>
            </p:cNvPr>
            <p:cNvSpPr/>
            <p:nvPr/>
          </p:nvSpPr>
          <p:spPr bwMode="auto">
            <a:xfrm>
              <a:off x="2960872" y="3454655"/>
              <a:ext cx="926220" cy="2508513"/>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モダナイ</a:t>
              </a:r>
              <a:br>
                <a:rPr kumimoji="1" lang="en-US" altLang="ja-JP" sz="1200" b="1" dirty="0">
                  <a:solidFill>
                    <a:prstClr val="black"/>
                  </a:solidFill>
                  <a:latin typeface="Meiryo UI" panose="020B0604030504040204" pitchFamily="50" charset="-128"/>
                  <a:ea typeface="Meiryo UI" panose="020B0604030504040204" pitchFamily="50" charset="-128"/>
                </a:rPr>
              </a:br>
              <a:r>
                <a:rPr kumimoji="1" lang="ja-JP" altLang="en-US" sz="1200" b="1" dirty="0">
                  <a:solidFill>
                    <a:prstClr val="black"/>
                  </a:solidFill>
                  <a:latin typeface="Meiryo UI" panose="020B0604030504040204" pitchFamily="50" charset="-128"/>
                  <a:ea typeface="Meiryo UI" panose="020B0604030504040204" pitchFamily="50" charset="-128"/>
                </a:rPr>
                <a:t>ゼーション</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C2FD266A-80FA-E275-A5F2-56FB292C6D6B}"/>
                </a:ext>
              </a:extLst>
            </p:cNvPr>
            <p:cNvSpPr/>
            <p:nvPr/>
          </p:nvSpPr>
          <p:spPr bwMode="auto">
            <a:xfrm>
              <a:off x="4154392" y="3454655"/>
              <a:ext cx="926220" cy="2508513"/>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オペレジ</a:t>
              </a:r>
              <a:endParaRPr kumimoji="1" lang="en-US" altLang="ja-JP" sz="12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1200" b="1" dirty="0">
                  <a:solidFill>
                    <a:prstClr val="black"/>
                  </a:solidFill>
                  <a:latin typeface="Meiryo UI" panose="020B0604030504040204" pitchFamily="50" charset="-128"/>
                  <a:ea typeface="Meiryo UI" panose="020B0604030504040204" pitchFamily="50" charset="-128"/>
                </a:rPr>
                <a:t>施策</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A6B65F31-8215-AC38-03DD-91C83219F493}"/>
                </a:ext>
              </a:extLst>
            </p:cNvPr>
            <p:cNvSpPr/>
            <p:nvPr/>
          </p:nvSpPr>
          <p:spPr bwMode="auto">
            <a:xfrm>
              <a:off x="6541432" y="2038396"/>
              <a:ext cx="926220" cy="2612767"/>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業務改善</a:t>
              </a:r>
              <a:endParaRPr kumimoji="1" lang="en-US" altLang="ja-JP" sz="12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en-US" altLang="ja-JP" sz="1200" b="1" dirty="0">
                  <a:solidFill>
                    <a:prstClr val="black"/>
                  </a:solidFill>
                  <a:latin typeface="Meiryo UI" panose="020B0604030504040204" pitchFamily="50" charset="-128"/>
                  <a:ea typeface="Meiryo UI" panose="020B0604030504040204" pitchFamily="50" charset="-128"/>
                </a:rPr>
                <a:t>(BPR)</a:t>
              </a:r>
            </a:p>
          </p:txBody>
        </p:sp>
        <p:sp>
          <p:nvSpPr>
            <p:cNvPr id="21" name="正方形/長方形 20">
              <a:extLst>
                <a:ext uri="{FF2B5EF4-FFF2-40B4-BE49-F238E27FC236}">
                  <a16:creationId xmlns:a16="http://schemas.microsoft.com/office/drawing/2014/main" id="{B6F1A342-AB79-360E-5516-3E7BBF06D331}"/>
                </a:ext>
              </a:extLst>
            </p:cNvPr>
            <p:cNvSpPr/>
            <p:nvPr/>
          </p:nvSpPr>
          <p:spPr bwMode="auto">
            <a:xfrm>
              <a:off x="7734954" y="2038397"/>
              <a:ext cx="926220" cy="2612767"/>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200" b="1" dirty="0">
                  <a:solidFill>
                    <a:prstClr val="black"/>
                  </a:solidFill>
                  <a:latin typeface="Meiryo UI" panose="020B0604030504040204" pitchFamily="50" charset="-128"/>
                  <a:ea typeface="Meiryo UI" panose="020B0604030504040204" pitchFamily="50" charset="-128"/>
                </a:rPr>
                <a:t>DX</a:t>
              </a:r>
              <a:r>
                <a:rPr kumimoji="1" lang="ja-JP" altLang="en-US" sz="1200" b="1" dirty="0">
                  <a:solidFill>
                    <a:prstClr val="black"/>
                  </a:solidFill>
                  <a:latin typeface="Meiryo UI" panose="020B0604030504040204" pitchFamily="50" charset="-128"/>
                  <a:ea typeface="Meiryo UI" panose="020B0604030504040204" pitchFamily="50" charset="-128"/>
                </a:rPr>
                <a:t>戦略</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76A2CED4-2C20-9BC4-03D7-2B4C618AF414}"/>
                </a:ext>
              </a:extLst>
            </p:cNvPr>
            <p:cNvSpPr/>
            <p:nvPr/>
          </p:nvSpPr>
          <p:spPr bwMode="auto">
            <a:xfrm>
              <a:off x="8928474" y="3907498"/>
              <a:ext cx="632621" cy="29082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1191608D-48D0-F8F2-94F3-F64E8B08101E}"/>
                </a:ext>
              </a:extLst>
            </p:cNvPr>
            <p:cNvSpPr/>
            <p:nvPr/>
          </p:nvSpPr>
          <p:spPr bwMode="auto">
            <a:xfrm>
              <a:off x="1767352" y="2499005"/>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B</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grpSp>
          <p:nvGrpSpPr>
            <p:cNvPr id="31" name="グループ化 30">
              <a:extLst>
                <a:ext uri="{FF2B5EF4-FFF2-40B4-BE49-F238E27FC236}">
                  <a16:creationId xmlns:a16="http://schemas.microsoft.com/office/drawing/2014/main" id="{1060AE3C-A779-86F9-AC61-1FC3B1715646}"/>
                </a:ext>
              </a:extLst>
            </p:cNvPr>
            <p:cNvGrpSpPr/>
            <p:nvPr/>
          </p:nvGrpSpPr>
          <p:grpSpPr>
            <a:xfrm>
              <a:off x="5347912" y="2499005"/>
              <a:ext cx="926220" cy="2152158"/>
              <a:chOff x="2960872" y="2499005"/>
              <a:chExt cx="926220" cy="2152158"/>
            </a:xfrm>
          </p:grpSpPr>
          <p:sp>
            <p:nvSpPr>
              <p:cNvPr id="18" name="正方形/長方形 17">
                <a:extLst>
                  <a:ext uri="{FF2B5EF4-FFF2-40B4-BE49-F238E27FC236}">
                    <a16:creationId xmlns:a16="http://schemas.microsoft.com/office/drawing/2014/main" id="{A489F631-E4A7-6F0B-2E3F-ABBB0B2D2DE5}"/>
                  </a:ext>
                </a:extLst>
              </p:cNvPr>
              <p:cNvSpPr/>
              <p:nvPr/>
            </p:nvSpPr>
            <p:spPr bwMode="auto">
              <a:xfrm>
                <a:off x="2960872" y="2499005"/>
                <a:ext cx="926220" cy="215215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生保</a:t>
                </a:r>
                <a:r>
                  <a:rPr kumimoji="1" lang="en-US" altLang="ja-JP" sz="1200" b="1" dirty="0">
                    <a:solidFill>
                      <a:prstClr val="black"/>
                    </a:solidFill>
                    <a:latin typeface="Meiryo UI" panose="020B0604030504040204" pitchFamily="50" charset="-128"/>
                    <a:ea typeface="Meiryo UI" panose="020B0604030504040204" pitchFamily="50" charset="-128"/>
                  </a:rPr>
                  <a:t>BPO</a:t>
                </a:r>
              </a:p>
            </p:txBody>
          </p:sp>
          <p:sp>
            <p:nvSpPr>
              <p:cNvPr id="26" name="正方形/長方形 25">
                <a:extLst>
                  <a:ext uri="{FF2B5EF4-FFF2-40B4-BE49-F238E27FC236}">
                    <a16:creationId xmlns:a16="http://schemas.microsoft.com/office/drawing/2014/main" id="{3847C943-E5B0-7EDA-67CD-DC633200440B}"/>
                  </a:ext>
                </a:extLst>
              </p:cNvPr>
              <p:cNvSpPr/>
              <p:nvPr/>
            </p:nvSpPr>
            <p:spPr bwMode="auto">
              <a:xfrm>
                <a:off x="2960872" y="2499005"/>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E</a:t>
                </a:r>
              </a:p>
            </p:txBody>
          </p:sp>
        </p:grpSp>
        <p:sp>
          <p:nvSpPr>
            <p:cNvPr id="27" name="正方形/長方形 26">
              <a:extLst>
                <a:ext uri="{FF2B5EF4-FFF2-40B4-BE49-F238E27FC236}">
                  <a16:creationId xmlns:a16="http://schemas.microsoft.com/office/drawing/2014/main" id="{0CE252F6-DAD1-EE64-D72D-5F1930178F01}"/>
                </a:ext>
              </a:extLst>
            </p:cNvPr>
            <p:cNvSpPr/>
            <p:nvPr/>
          </p:nvSpPr>
          <p:spPr bwMode="auto">
            <a:xfrm>
              <a:off x="2960872" y="3454655"/>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C</a:t>
              </a:r>
            </a:p>
          </p:txBody>
        </p:sp>
        <p:sp>
          <p:nvSpPr>
            <p:cNvPr id="28" name="正方形/長方形 27">
              <a:extLst>
                <a:ext uri="{FF2B5EF4-FFF2-40B4-BE49-F238E27FC236}">
                  <a16:creationId xmlns:a16="http://schemas.microsoft.com/office/drawing/2014/main" id="{6CE26D5D-29A7-C811-28CF-1A3EF5FD6AEF}"/>
                </a:ext>
              </a:extLst>
            </p:cNvPr>
            <p:cNvSpPr/>
            <p:nvPr/>
          </p:nvSpPr>
          <p:spPr bwMode="auto">
            <a:xfrm>
              <a:off x="4154392" y="3454655"/>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D</a:t>
              </a:r>
            </a:p>
          </p:txBody>
        </p:sp>
        <p:sp>
          <p:nvSpPr>
            <p:cNvPr id="29" name="正方形/長方形 28">
              <a:extLst>
                <a:ext uri="{FF2B5EF4-FFF2-40B4-BE49-F238E27FC236}">
                  <a16:creationId xmlns:a16="http://schemas.microsoft.com/office/drawing/2014/main" id="{FC1A6AC4-1768-20B9-E09F-18FB0930D5EA}"/>
                </a:ext>
              </a:extLst>
            </p:cNvPr>
            <p:cNvSpPr/>
            <p:nvPr/>
          </p:nvSpPr>
          <p:spPr bwMode="auto">
            <a:xfrm>
              <a:off x="6541432" y="2038396"/>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F</a:t>
              </a:r>
            </a:p>
          </p:txBody>
        </p:sp>
        <p:sp>
          <p:nvSpPr>
            <p:cNvPr id="30" name="正方形/長方形 29">
              <a:extLst>
                <a:ext uri="{FF2B5EF4-FFF2-40B4-BE49-F238E27FC236}">
                  <a16:creationId xmlns:a16="http://schemas.microsoft.com/office/drawing/2014/main" id="{F3A1F4A6-1FD0-8240-5D89-94B23BAD366D}"/>
                </a:ext>
              </a:extLst>
            </p:cNvPr>
            <p:cNvSpPr/>
            <p:nvPr/>
          </p:nvSpPr>
          <p:spPr bwMode="auto">
            <a:xfrm>
              <a:off x="7734954" y="2038397"/>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G</a:t>
              </a:r>
            </a:p>
          </p:txBody>
        </p:sp>
      </p:grpSp>
      <p:sp>
        <p:nvSpPr>
          <p:cNvPr id="33" name="正方形/長方形 32">
            <a:extLst>
              <a:ext uri="{FF2B5EF4-FFF2-40B4-BE49-F238E27FC236}">
                <a16:creationId xmlns:a16="http://schemas.microsoft.com/office/drawing/2014/main" id="{44CC0694-EF2D-B94A-E51E-895102A24723}"/>
              </a:ext>
            </a:extLst>
          </p:cNvPr>
          <p:cNvSpPr/>
          <p:nvPr/>
        </p:nvSpPr>
        <p:spPr bwMode="auto">
          <a:xfrm>
            <a:off x="1628775" y="2257471"/>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A</a:t>
            </a:r>
          </a:p>
        </p:txBody>
      </p:sp>
    </p:spTree>
    <p:extLst>
      <p:ext uri="{BB962C8B-B14F-4D97-AF65-F5344CB8AC3E}">
        <p14:creationId xmlns:p14="http://schemas.microsoft.com/office/powerpoint/2010/main" val="2970130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0492D-FC28-1C3C-123D-83EDA220147E}"/>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900F5546-F398-1735-DDFC-EF9469FFA26F}"/>
              </a:ext>
            </a:extLst>
          </p:cNvPr>
          <p:cNvSpPr/>
          <p:nvPr/>
        </p:nvSpPr>
        <p:spPr bwMode="auto">
          <a:xfrm>
            <a:off x="2989779" y="3460671"/>
            <a:ext cx="4423881"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ECFB9DF2-D3B2-E329-3702-523CE727FEEF}"/>
              </a:ext>
            </a:extLst>
          </p:cNvPr>
          <p:cNvSpPr/>
          <p:nvPr/>
        </p:nvSpPr>
        <p:spPr bwMode="auto">
          <a:xfrm>
            <a:off x="2492339" y="2630180"/>
            <a:ext cx="4921322"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0800E14B-D65E-A05D-83A1-E9C2689E9289}"/>
              </a:ext>
            </a:extLst>
          </p:cNvPr>
          <p:cNvSpPr/>
          <p:nvPr/>
        </p:nvSpPr>
        <p:spPr bwMode="auto">
          <a:xfrm>
            <a:off x="2492339" y="1192976"/>
            <a:ext cx="4921322" cy="514146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28600"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MTBJ/MUSK</a:t>
            </a:r>
            <a:r>
              <a:rPr kumimoji="1" lang="ja-JP" altLang="en-US" dirty="0">
                <a:solidFill>
                  <a:prstClr val="black"/>
                </a:solidFill>
                <a:latin typeface="Meiryo UI" panose="020B0604030504040204" pitchFamily="50" charset="-128"/>
                <a:ea typeface="Meiryo UI" panose="020B0604030504040204" pitchFamily="50" charset="-128"/>
              </a:rPr>
              <a:t>の概要</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a:t>
            </a:r>
            <a:r>
              <a:rPr lang="ja-JP" altLang="en-US" dirty="0">
                <a:solidFill>
                  <a:prstClr val="black"/>
                </a:solidFill>
                <a:latin typeface="Meiryo UI" panose="020B0604030504040204" pitchFamily="50" charset="-128"/>
                <a:ea typeface="Meiryo UI" panose="020B0604030504040204" pitchFamily="50" charset="-128"/>
              </a:rPr>
              <a:t>とは？</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MUSK</a:t>
            </a:r>
            <a:r>
              <a:rPr lang="ja-JP" altLang="en-US" dirty="0">
                <a:solidFill>
                  <a:prstClr val="black"/>
                </a:solidFill>
                <a:latin typeface="Meiryo UI" panose="020B0604030504040204" pitchFamily="50" charset="-128"/>
                <a:ea typeface="Meiryo UI" panose="020B0604030504040204" pitchFamily="50" charset="-128"/>
              </a:rPr>
              <a:t>とは？</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アカウント紹介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アカウントの概要</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アカウントの特徴</a:t>
            </a:r>
            <a:endParaRPr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ご支援内容の全体像</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プロジェクト①アーキテクチャ戦略</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プロジェクト②業務改善支援</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まとめ</a:t>
            </a:r>
          </a:p>
        </p:txBody>
      </p:sp>
    </p:spTree>
    <p:extLst>
      <p:ext uri="{BB962C8B-B14F-4D97-AF65-F5344CB8AC3E}">
        <p14:creationId xmlns:p14="http://schemas.microsoft.com/office/powerpoint/2010/main" val="1840014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AF627-7480-1A6C-7256-94AC3AE0BE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BA48B9-238F-DE0A-2575-8C782BCC3C8D}"/>
              </a:ext>
            </a:extLst>
          </p:cNvPr>
          <p:cNvSpPr>
            <a:spLocks noGrp="1"/>
          </p:cNvSpPr>
          <p:nvPr>
            <p:ph type="title"/>
          </p:nvPr>
        </p:nvSpPr>
        <p:spPr/>
        <p:txBody>
          <a:bodyPr/>
          <a:lstStyle/>
          <a:p>
            <a:r>
              <a:rPr lang="en-US" altLang="ja-JP" dirty="0"/>
              <a:t>1. </a:t>
            </a:r>
            <a:r>
              <a:rPr lang="ja-JP" altLang="en-US" dirty="0"/>
              <a:t>アカウントの体制</a:t>
            </a:r>
            <a:endParaRPr kumimoji="1" lang="ja-JP" altLang="en-US" dirty="0"/>
          </a:p>
        </p:txBody>
      </p:sp>
      <p:sp>
        <p:nvSpPr>
          <p:cNvPr id="4" name="テキスト プレースホルダー 3">
            <a:extLst>
              <a:ext uri="{FF2B5EF4-FFF2-40B4-BE49-F238E27FC236}">
                <a16:creationId xmlns:a16="http://schemas.microsoft.com/office/drawing/2014/main" id="{6FAC9FAB-14AA-FDA8-1F83-87748ED13728}"/>
              </a:ext>
            </a:extLst>
          </p:cNvPr>
          <p:cNvSpPr>
            <a:spLocks noGrp="1"/>
          </p:cNvSpPr>
          <p:nvPr>
            <p:ph type="body" sz="quarter" idx="13"/>
          </p:nvPr>
        </p:nvSpPr>
        <p:spPr/>
        <p:txBody>
          <a:bodyPr/>
          <a:lstStyle/>
          <a:p>
            <a:r>
              <a:rPr kumimoji="1" lang="en-US" altLang="ja-JP" dirty="0"/>
              <a:t>2. </a:t>
            </a:r>
            <a:r>
              <a:rPr kumimoji="1" lang="ja-JP" altLang="en-US" dirty="0"/>
              <a:t>アカウント紹介</a:t>
            </a:r>
          </a:p>
        </p:txBody>
      </p:sp>
      <p:sp>
        <p:nvSpPr>
          <p:cNvPr id="84" name="テキスト プレースホルダー 83">
            <a:extLst>
              <a:ext uri="{FF2B5EF4-FFF2-40B4-BE49-F238E27FC236}">
                <a16:creationId xmlns:a16="http://schemas.microsoft.com/office/drawing/2014/main" id="{2E661A84-0A3A-32EC-B152-80F078E34E2A}"/>
              </a:ext>
            </a:extLst>
          </p:cNvPr>
          <p:cNvSpPr>
            <a:spLocks noGrp="1"/>
          </p:cNvSpPr>
          <p:nvPr>
            <p:ph type="body" idx="12"/>
          </p:nvPr>
        </p:nvSpPr>
        <p:spPr/>
        <p:txBody>
          <a:bodyPr/>
          <a:lstStyle/>
          <a:p>
            <a:r>
              <a:rPr lang="ja-JP" altLang="en-US" dirty="0"/>
              <a:t>現在、アカウントは、</a:t>
            </a:r>
            <a:r>
              <a:rPr lang="en-US" altLang="ja-JP" dirty="0"/>
              <a:t>CAL</a:t>
            </a:r>
            <a:r>
              <a:rPr lang="ja-JP" altLang="en-US" dirty="0"/>
              <a:t>の早川さん配下で５ライン</a:t>
            </a:r>
            <a:r>
              <a:rPr lang="en-US" altLang="ja-JP" dirty="0"/>
              <a:t>11</a:t>
            </a:r>
            <a:r>
              <a:rPr lang="ja-JP" altLang="en-US" dirty="0"/>
              <a:t>プロジェクトになっています。</a:t>
            </a:r>
          </a:p>
        </p:txBody>
      </p:sp>
      <p:sp>
        <p:nvSpPr>
          <p:cNvPr id="5" name="正方形/長方形 4">
            <a:extLst>
              <a:ext uri="{FF2B5EF4-FFF2-40B4-BE49-F238E27FC236}">
                <a16:creationId xmlns:a16="http://schemas.microsoft.com/office/drawing/2014/main" id="{EB31EC09-0199-ABE4-6DDF-E7CAE50579C8}"/>
              </a:ext>
            </a:extLst>
          </p:cNvPr>
          <p:cNvSpPr/>
          <p:nvPr/>
        </p:nvSpPr>
        <p:spPr>
          <a:xfrm>
            <a:off x="6309535" y="2197745"/>
            <a:ext cx="3519481" cy="3943780"/>
          </a:xfrm>
          <a:prstGeom prst="rect">
            <a:avLst/>
          </a:prstGeom>
          <a:solidFill>
            <a:srgbClr val="D2FEDA">
              <a:alpha val="50000"/>
            </a:srgbClr>
          </a:solidFill>
          <a:ln w="6350" cap="flat" cmpd="sng" algn="ctr">
            <a:noFill/>
            <a:prstDash val="solid"/>
            <a:miter lim="800000"/>
          </a:ln>
          <a:effectLst/>
        </p:spPr>
        <p:txBody>
          <a:bodyPr rot="0" spcFirstLastPara="0" vertOverflow="overflow" horzOverflow="overflow" vert="horz" wrap="none" lIns="72000" tIns="72000" rIns="72000" bIns="72000" numCol="1" spcCol="0" rtlCol="0" fromWordArt="0" anchor="t" anchorCtr="0" forceAA="0" compatLnSpc="1">
            <a:prstTxWarp prst="textNoShape">
              <a:avLst/>
            </a:prstTxWarp>
            <a:noAutofit/>
          </a:bodyPr>
          <a:lstStyle/>
          <a:p>
            <a:pPr algn="l" fontAlgn="auto">
              <a:spcBef>
                <a:spcPts val="600"/>
              </a:spcBef>
              <a:spcAft>
                <a:spcPts val="0"/>
              </a:spcAft>
              <a:buClr>
                <a:prstClr val="black"/>
              </a:buClr>
              <a:tabLst>
                <a:tab pos="180975" algn="l"/>
              </a:tabLst>
            </a:pPr>
            <a:r>
              <a:rPr lang="ja-JP" altLang="en-US" sz="1000" kern="0" dirty="0">
                <a:latin typeface="Meiryo UI" panose="020B0604030504040204" pitchFamily="50" charset="-128"/>
                <a:ea typeface="Meiryo UI" panose="020B0604030504040204" pitchFamily="50" charset="-128"/>
              </a:rPr>
              <a:t>⑤谷ライン</a:t>
            </a:r>
            <a:br>
              <a:rPr lang="en-US" altLang="ja-JP" sz="1000" kern="0" dirty="0">
                <a:latin typeface="Meiryo UI" panose="020B0604030504040204" pitchFamily="50" charset="-128"/>
                <a:ea typeface="Meiryo UI" panose="020B0604030504040204" pitchFamily="50" charset="-128"/>
              </a:rPr>
            </a:br>
            <a:endParaRPr kumimoji="1" lang="ja-JP" altLang="en-US" sz="1000" kern="0" dirty="0">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43F1EEA1-9CB8-B33F-315B-602E3760BA86}"/>
              </a:ext>
            </a:extLst>
          </p:cNvPr>
          <p:cNvSpPr/>
          <p:nvPr/>
        </p:nvSpPr>
        <p:spPr>
          <a:xfrm>
            <a:off x="5448108" y="2197745"/>
            <a:ext cx="835884" cy="3943780"/>
          </a:xfrm>
          <a:prstGeom prst="rect">
            <a:avLst/>
          </a:prstGeom>
          <a:solidFill>
            <a:schemeClr val="accent2">
              <a:lumMod val="20000"/>
              <a:lumOff val="80000"/>
              <a:alpha val="49804"/>
            </a:schemeClr>
          </a:solidFill>
          <a:ln w="6350" cap="flat" cmpd="sng" algn="ctr">
            <a:noFill/>
            <a:prstDash val="solid"/>
            <a:miter lim="800000"/>
          </a:ln>
          <a:effectLst/>
        </p:spPr>
        <p:txBody>
          <a:bodyPr rot="0" spcFirstLastPara="0" vertOverflow="overflow" horzOverflow="overflow" vert="horz" wrap="none" lIns="72000" tIns="72000" rIns="72000" bIns="72000" numCol="1" spcCol="0" rtlCol="0" fromWordArt="0" anchor="t" anchorCtr="0" forceAA="0" compatLnSpc="1">
            <a:prstTxWarp prst="textNoShape">
              <a:avLst/>
            </a:prstTxWarp>
            <a:noAutofit/>
          </a:bodyPr>
          <a:lstStyle/>
          <a:p>
            <a:pPr algn="l" fontAlgn="auto">
              <a:spcBef>
                <a:spcPts val="600"/>
              </a:spcBef>
              <a:spcAft>
                <a:spcPts val="0"/>
              </a:spcAft>
              <a:buClr>
                <a:prstClr val="black"/>
              </a:buClr>
              <a:tabLst>
                <a:tab pos="180975" algn="l"/>
              </a:tabLst>
            </a:pPr>
            <a:r>
              <a:rPr lang="ja-JP" altLang="en-US" sz="1000" kern="0" dirty="0">
                <a:latin typeface="Meiryo UI" panose="020B0604030504040204" pitchFamily="50" charset="-128"/>
                <a:ea typeface="Meiryo UI" panose="020B0604030504040204" pitchFamily="50" charset="-128"/>
              </a:rPr>
              <a:t>④平山ライン</a:t>
            </a:r>
            <a:br>
              <a:rPr lang="en-US" altLang="ja-JP" sz="1000" kern="0" dirty="0">
                <a:latin typeface="Meiryo UI" panose="020B0604030504040204" pitchFamily="50" charset="-128"/>
                <a:ea typeface="Meiryo UI" panose="020B0604030504040204" pitchFamily="50" charset="-128"/>
              </a:rPr>
            </a:br>
            <a:r>
              <a:rPr lang="ja-JP" altLang="en-US" sz="1000" kern="0" dirty="0">
                <a:latin typeface="Meiryo UI" panose="020B0604030504040204" pitchFamily="50" charset="-128"/>
                <a:ea typeface="Meiryo UI" panose="020B0604030504040204" pitchFamily="50" charset="-128"/>
              </a:rPr>
              <a:t>　 </a:t>
            </a:r>
            <a:endParaRPr kumimoji="1" lang="ja-JP" altLang="en-US" sz="1000" kern="0" dirty="0">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DDB6AA84-EDFD-757D-344D-C8737634EB94}"/>
              </a:ext>
            </a:extLst>
          </p:cNvPr>
          <p:cNvSpPr/>
          <p:nvPr/>
        </p:nvSpPr>
        <p:spPr>
          <a:xfrm>
            <a:off x="1965406" y="2197745"/>
            <a:ext cx="3457157" cy="3943780"/>
          </a:xfrm>
          <a:prstGeom prst="rect">
            <a:avLst/>
          </a:prstGeom>
          <a:solidFill>
            <a:schemeClr val="accent3">
              <a:lumMod val="20000"/>
              <a:lumOff val="80000"/>
              <a:alpha val="50000"/>
            </a:schemeClr>
          </a:solidFill>
          <a:ln w="6350" cap="flat" cmpd="sng" algn="ctr">
            <a:noFill/>
            <a:prstDash val="solid"/>
            <a:miter lim="800000"/>
          </a:ln>
          <a:effectLst/>
        </p:spPr>
        <p:txBody>
          <a:bodyPr rot="0" spcFirstLastPara="0" vertOverflow="overflow" horzOverflow="overflow" vert="horz" wrap="none" lIns="72000" tIns="72000" rIns="72000" bIns="72000" numCol="1" spcCol="0" rtlCol="0" fromWordArt="0" anchor="t" anchorCtr="0" forceAA="0" compatLnSpc="1">
            <a:prstTxWarp prst="textNoShape">
              <a:avLst/>
            </a:prstTxWarp>
            <a:noAutofit/>
          </a:bodyPr>
          <a:lstStyle/>
          <a:p>
            <a:pPr algn="l" fontAlgn="auto">
              <a:spcBef>
                <a:spcPts val="600"/>
              </a:spcBef>
              <a:spcAft>
                <a:spcPts val="0"/>
              </a:spcAft>
              <a:buClr>
                <a:prstClr val="black"/>
              </a:buClr>
              <a:tabLst>
                <a:tab pos="180975" algn="l"/>
              </a:tabLst>
            </a:pPr>
            <a:r>
              <a:rPr kumimoji="1" lang="ja-JP" altLang="en-US" sz="1000" kern="0" dirty="0">
                <a:latin typeface="Meiryo UI" panose="020B0604030504040204" pitchFamily="50" charset="-128"/>
                <a:ea typeface="Meiryo UI" panose="020B0604030504040204" pitchFamily="50" charset="-128"/>
              </a:rPr>
              <a:t>③山田ライン</a:t>
            </a:r>
            <a:br>
              <a:rPr kumimoji="1" lang="en-US" altLang="ja-JP" sz="1000" kern="0" dirty="0">
                <a:latin typeface="Meiryo UI" panose="020B0604030504040204" pitchFamily="50" charset="-128"/>
                <a:ea typeface="Meiryo UI" panose="020B0604030504040204" pitchFamily="50" charset="-128"/>
              </a:rPr>
            </a:br>
            <a:r>
              <a:rPr kumimoji="1" lang="ja-JP" altLang="en-US" sz="1000" kern="0" dirty="0">
                <a:latin typeface="Meiryo UI" panose="020B0604030504040204" pitchFamily="50" charset="-128"/>
                <a:ea typeface="Meiryo UI" panose="020B0604030504040204" pitchFamily="50" charset="-128"/>
              </a:rPr>
              <a:t>　</a:t>
            </a:r>
          </a:p>
        </p:txBody>
      </p:sp>
      <p:sp>
        <p:nvSpPr>
          <p:cNvPr id="8" name="正方形/長方形 7">
            <a:extLst>
              <a:ext uri="{FF2B5EF4-FFF2-40B4-BE49-F238E27FC236}">
                <a16:creationId xmlns:a16="http://schemas.microsoft.com/office/drawing/2014/main" id="{06FBAD68-5692-F616-1C3F-1CB3B3CCEDCA}"/>
              </a:ext>
            </a:extLst>
          </p:cNvPr>
          <p:cNvSpPr/>
          <p:nvPr/>
        </p:nvSpPr>
        <p:spPr>
          <a:xfrm>
            <a:off x="1096659" y="2197745"/>
            <a:ext cx="843202" cy="3943780"/>
          </a:xfrm>
          <a:prstGeom prst="rect">
            <a:avLst/>
          </a:prstGeom>
          <a:solidFill>
            <a:srgbClr val="FFE0D1">
              <a:alpha val="49804"/>
            </a:srgbClr>
          </a:solidFill>
          <a:ln w="6350" cap="flat" cmpd="sng" algn="ctr">
            <a:noFill/>
            <a:prstDash val="solid"/>
            <a:miter lim="800000"/>
          </a:ln>
          <a:effectLst/>
        </p:spPr>
        <p:txBody>
          <a:bodyPr rot="0" spcFirstLastPara="0" vertOverflow="overflow" horzOverflow="overflow" vert="horz" wrap="none" lIns="72000" tIns="72000" rIns="72000" bIns="72000" numCol="1" spcCol="0" rtlCol="0" fromWordArt="0" anchor="t" anchorCtr="0" forceAA="0" compatLnSpc="1">
            <a:prstTxWarp prst="textNoShape">
              <a:avLst/>
            </a:prstTxWarp>
            <a:noAutofit/>
          </a:bodyPr>
          <a:lstStyle/>
          <a:p>
            <a:pPr algn="l" fontAlgn="auto">
              <a:spcBef>
                <a:spcPts val="600"/>
              </a:spcBef>
              <a:spcAft>
                <a:spcPts val="0"/>
              </a:spcAft>
              <a:buClr>
                <a:prstClr val="black"/>
              </a:buClr>
              <a:tabLst>
                <a:tab pos="180975" algn="l"/>
              </a:tabLst>
            </a:pPr>
            <a:r>
              <a:rPr kumimoji="1" lang="ja-JP" altLang="en-US" sz="1000" kern="0" dirty="0">
                <a:latin typeface="Meiryo UI" panose="020B0604030504040204" pitchFamily="50" charset="-128"/>
                <a:ea typeface="Meiryo UI" panose="020B0604030504040204" pitchFamily="50" charset="-128"/>
              </a:rPr>
              <a:t>②野崎ライン</a:t>
            </a:r>
          </a:p>
        </p:txBody>
      </p:sp>
      <p:sp>
        <p:nvSpPr>
          <p:cNvPr id="9" name="正方形/長方形 8">
            <a:extLst>
              <a:ext uri="{FF2B5EF4-FFF2-40B4-BE49-F238E27FC236}">
                <a16:creationId xmlns:a16="http://schemas.microsoft.com/office/drawing/2014/main" id="{47B5B66B-0FF9-1D0F-1202-28B56267A8F0}"/>
              </a:ext>
            </a:extLst>
          </p:cNvPr>
          <p:cNvSpPr/>
          <p:nvPr/>
        </p:nvSpPr>
        <p:spPr>
          <a:xfrm>
            <a:off x="227912" y="2197745"/>
            <a:ext cx="843202" cy="3943780"/>
          </a:xfrm>
          <a:prstGeom prst="rect">
            <a:avLst/>
          </a:prstGeom>
          <a:solidFill>
            <a:srgbClr val="FFF4D1">
              <a:alpha val="50000"/>
            </a:srgbClr>
          </a:solidFill>
          <a:ln w="6350" cap="flat" cmpd="sng" algn="ctr">
            <a:noFill/>
            <a:prstDash val="solid"/>
            <a:miter lim="800000"/>
          </a:ln>
          <a:effectLst/>
        </p:spPr>
        <p:txBody>
          <a:bodyPr rot="0" spcFirstLastPara="0" vertOverflow="overflow" horzOverflow="overflow" vert="horz" wrap="none" lIns="72000" tIns="72000" rIns="72000" bIns="72000" numCol="1" spcCol="0" rtlCol="0" fromWordArt="0" anchor="t" anchorCtr="0" forceAA="0" compatLnSpc="1">
            <a:prstTxWarp prst="textNoShape">
              <a:avLst/>
            </a:prstTxWarp>
            <a:noAutofit/>
          </a:bodyPr>
          <a:lstStyle/>
          <a:p>
            <a:pPr algn="l" fontAlgn="auto">
              <a:spcBef>
                <a:spcPts val="600"/>
              </a:spcBef>
              <a:spcAft>
                <a:spcPts val="0"/>
              </a:spcAft>
              <a:buClr>
                <a:prstClr val="black"/>
              </a:buClr>
              <a:tabLst>
                <a:tab pos="180975" algn="l"/>
              </a:tabLst>
            </a:pPr>
            <a:r>
              <a:rPr kumimoji="1" lang="ja-JP" altLang="en-US" sz="1000" kern="0" dirty="0">
                <a:latin typeface="Meiryo UI" panose="020B0604030504040204" pitchFamily="50" charset="-128"/>
                <a:ea typeface="Meiryo UI" panose="020B0604030504040204" pitchFamily="50" charset="-128"/>
              </a:rPr>
              <a:t>①早川ライン</a:t>
            </a:r>
          </a:p>
        </p:txBody>
      </p:sp>
      <p:sp>
        <p:nvSpPr>
          <p:cNvPr id="85" name="正方形/長方形 84">
            <a:extLst>
              <a:ext uri="{FF2B5EF4-FFF2-40B4-BE49-F238E27FC236}">
                <a16:creationId xmlns:a16="http://schemas.microsoft.com/office/drawing/2014/main" id="{312C59CD-6F83-C933-9083-A78A8B14D8A3}"/>
              </a:ext>
            </a:extLst>
          </p:cNvPr>
          <p:cNvSpPr/>
          <p:nvPr/>
        </p:nvSpPr>
        <p:spPr>
          <a:xfrm>
            <a:off x="276273" y="5437625"/>
            <a:ext cx="760899" cy="625671"/>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prstClr val="black"/>
                </a:solidFill>
                <a:latin typeface="Meiryo UI"/>
                <a:ea typeface="Meiryo UI"/>
              </a:rPr>
              <a:t>PgMO</a:t>
            </a:r>
            <a:br>
              <a:rPr lang="en-US" altLang="ja-JP" sz="1000">
                <a:solidFill>
                  <a:prstClr val="black"/>
                </a:solidFill>
                <a:latin typeface="Meiryo UI"/>
                <a:ea typeface="Meiryo UI"/>
              </a:rPr>
            </a:br>
            <a:r>
              <a:rPr lang="ja-JP" altLang="en-US" sz="1000">
                <a:solidFill>
                  <a:prstClr val="black"/>
                </a:solidFill>
                <a:latin typeface="Meiryo UI"/>
                <a:ea typeface="Meiryo UI"/>
              </a:rPr>
              <a:t>業務支援</a:t>
            </a:r>
            <a:endParaRPr lang="en-US" altLang="ja-JP" sz="1000">
              <a:solidFill>
                <a:prstClr val="black"/>
              </a:solidFill>
              <a:latin typeface="Meiryo UI"/>
              <a:ea typeface="Meiryo UI"/>
            </a:endParaRPr>
          </a:p>
        </p:txBody>
      </p:sp>
      <p:sp>
        <p:nvSpPr>
          <p:cNvPr id="86" name="正方形/長方形 85">
            <a:extLst>
              <a:ext uri="{FF2B5EF4-FFF2-40B4-BE49-F238E27FC236}">
                <a16:creationId xmlns:a16="http://schemas.microsoft.com/office/drawing/2014/main" id="{35D456C9-C2F8-A5E7-3D4D-362349084A5D}"/>
              </a:ext>
            </a:extLst>
          </p:cNvPr>
          <p:cNvSpPr/>
          <p:nvPr/>
        </p:nvSpPr>
        <p:spPr>
          <a:xfrm>
            <a:off x="1141503" y="5437625"/>
            <a:ext cx="760899" cy="625671"/>
          </a:xfrm>
          <a:prstGeom prst="rect">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prstClr val="black"/>
                </a:solidFill>
                <a:latin typeface="Meiryo UI"/>
                <a:ea typeface="Meiryo UI"/>
              </a:rPr>
              <a:t>RTB分科会</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eiryo UI"/>
              </a:rPr>
              <a:t>技術検証</a:t>
            </a:r>
            <a:endParaRPr lang="en-US" altLang="ja-JP" sz="1000">
              <a:solidFill>
                <a:prstClr val="black"/>
              </a:solidFill>
              <a:latin typeface="Meiryo UI"/>
              <a:ea typeface="Meiryo UI"/>
            </a:endParaRPr>
          </a:p>
        </p:txBody>
      </p:sp>
      <p:sp>
        <p:nvSpPr>
          <p:cNvPr id="87" name="正方形/長方形 86">
            <a:extLst>
              <a:ext uri="{FF2B5EF4-FFF2-40B4-BE49-F238E27FC236}">
                <a16:creationId xmlns:a16="http://schemas.microsoft.com/office/drawing/2014/main" id="{E2419AE1-663D-48EE-AF3E-6593B0D360D1}"/>
              </a:ext>
            </a:extLst>
          </p:cNvPr>
          <p:cNvSpPr/>
          <p:nvPr/>
        </p:nvSpPr>
        <p:spPr>
          <a:xfrm>
            <a:off x="2879129" y="5437625"/>
            <a:ext cx="760899" cy="625671"/>
          </a:xfrm>
          <a:prstGeom prst="rect">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prstClr val="black"/>
                </a:solidFill>
                <a:latin typeface="Meiryo UI"/>
                <a:ea typeface="Meiryo UI"/>
              </a:rPr>
              <a:t>IS</a:t>
            </a:r>
            <a:r>
              <a:rPr lang="ja-JP" altLang="en-US" sz="1000">
                <a:solidFill>
                  <a:prstClr val="black"/>
                </a:solidFill>
                <a:latin typeface="Meiryo UI"/>
                <a:ea typeface="Meiryo UI"/>
              </a:rPr>
              <a:t>部内</a:t>
            </a:r>
            <a:endParaRPr lang="en-US" altLang="ja-JP" sz="1000">
              <a:solidFill>
                <a:prstClr val="black"/>
              </a:solidFill>
              <a:latin typeface="Meiryo UI"/>
              <a:ea typeface="Meiryo U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eiryo UI"/>
              </a:rPr>
              <a:t>横断</a:t>
            </a:r>
            <a:r>
              <a:rPr lang="en-US" altLang="ja-JP" sz="1000">
                <a:solidFill>
                  <a:prstClr val="black"/>
                </a:solidFill>
                <a:latin typeface="Meiryo UI"/>
                <a:ea typeface="Meiryo UI"/>
              </a:rPr>
              <a:t>PMO</a:t>
            </a:r>
            <a:r>
              <a:rPr lang="ja-JP" altLang="en-US" sz="1000">
                <a:solidFill>
                  <a:prstClr val="black"/>
                </a:solidFill>
                <a:latin typeface="Meiryo UI"/>
                <a:ea typeface="Meiryo UI"/>
              </a:rPr>
              <a:t>支援</a:t>
            </a:r>
            <a:endParaRPr lang="en-US" altLang="ja-JP" sz="1000">
              <a:solidFill>
                <a:prstClr val="black"/>
              </a:solidFill>
              <a:latin typeface="Meiryo UI"/>
              <a:ea typeface="Meiryo UI"/>
            </a:endParaRPr>
          </a:p>
        </p:txBody>
      </p:sp>
      <p:sp>
        <p:nvSpPr>
          <p:cNvPr id="88" name="正方形/長方形 87">
            <a:extLst>
              <a:ext uri="{FF2B5EF4-FFF2-40B4-BE49-F238E27FC236}">
                <a16:creationId xmlns:a16="http://schemas.microsoft.com/office/drawing/2014/main" id="{F0D85E7B-B570-54E8-99B2-1A87F5CE9BA3}"/>
              </a:ext>
            </a:extLst>
          </p:cNvPr>
          <p:cNvSpPr/>
          <p:nvPr/>
        </p:nvSpPr>
        <p:spPr>
          <a:xfrm>
            <a:off x="2010316" y="5437625"/>
            <a:ext cx="760899" cy="625671"/>
          </a:xfrm>
          <a:prstGeom prst="rect">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prstClr val="black"/>
                </a:solidFill>
                <a:latin typeface="Meiryo UI"/>
                <a:ea typeface="Meiryo UI"/>
              </a:rPr>
              <a:t>RTB</a:t>
            </a:r>
            <a:r>
              <a:rPr lang="ja-JP" altLang="en-US" sz="1000">
                <a:solidFill>
                  <a:prstClr val="black"/>
                </a:solidFill>
                <a:latin typeface="Meiryo UI"/>
                <a:ea typeface="Meiryo UI"/>
              </a:rPr>
              <a:t>分科会</a:t>
            </a:r>
            <a:endParaRPr lang="en-US" altLang="ja-JP" sz="1000">
              <a:solidFill>
                <a:prstClr val="black"/>
              </a:solidFill>
              <a:latin typeface="Meiryo UI"/>
              <a:ea typeface="Meiryo U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eiryo UI"/>
              </a:rPr>
              <a:t>検討テーマ支援</a:t>
            </a:r>
            <a:endParaRPr lang="en-US" altLang="ja-JP" sz="1000">
              <a:solidFill>
                <a:prstClr val="black"/>
              </a:solidFill>
              <a:latin typeface="Meiryo UI"/>
              <a:ea typeface="Meiryo UI"/>
            </a:endParaRPr>
          </a:p>
        </p:txBody>
      </p:sp>
      <p:sp>
        <p:nvSpPr>
          <p:cNvPr id="89" name="正方形/長方形 88">
            <a:extLst>
              <a:ext uri="{FF2B5EF4-FFF2-40B4-BE49-F238E27FC236}">
                <a16:creationId xmlns:a16="http://schemas.microsoft.com/office/drawing/2014/main" id="{274F2232-138B-FD88-219A-8D5E1AE25346}"/>
              </a:ext>
            </a:extLst>
          </p:cNvPr>
          <p:cNvSpPr/>
          <p:nvPr/>
        </p:nvSpPr>
        <p:spPr>
          <a:xfrm>
            <a:off x="3747942" y="5437625"/>
            <a:ext cx="760899" cy="625671"/>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00">
                <a:solidFill>
                  <a:schemeClr val="tx1"/>
                </a:solidFill>
              </a:rPr>
              <a:t>博多拠点</a:t>
            </a:r>
            <a:endParaRPr lang="en-US" altLang="ja-JP" sz="10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00">
                <a:solidFill>
                  <a:schemeClr val="tx1"/>
                </a:solidFill>
              </a:rPr>
              <a:t>設立支援</a:t>
            </a:r>
            <a:endParaRPr lang="en-US" altLang="ja-JP" sz="1000">
              <a:solidFill>
                <a:schemeClr val="tx1"/>
              </a:solidFill>
              <a:latin typeface="Meiryo UI"/>
              <a:ea typeface="Meiryo UI"/>
            </a:endParaRPr>
          </a:p>
        </p:txBody>
      </p:sp>
      <p:sp>
        <p:nvSpPr>
          <p:cNvPr id="90" name="正方形/長方形 89">
            <a:extLst>
              <a:ext uri="{FF2B5EF4-FFF2-40B4-BE49-F238E27FC236}">
                <a16:creationId xmlns:a16="http://schemas.microsoft.com/office/drawing/2014/main" id="{C55CAEB6-49CD-58F4-64B9-0EC613E50885}"/>
              </a:ext>
            </a:extLst>
          </p:cNvPr>
          <p:cNvSpPr/>
          <p:nvPr/>
        </p:nvSpPr>
        <p:spPr>
          <a:xfrm>
            <a:off x="4616755" y="5437625"/>
            <a:ext cx="760899" cy="625671"/>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データ</a:t>
            </a:r>
            <a:br>
              <a:rPr kumimoji="1" lang="en-US"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マネジメント</a:t>
            </a:r>
            <a:br>
              <a:rPr kumimoji="1" lang="en-US"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開発</a:t>
            </a:r>
            <a:r>
              <a:rPr kumimoji="1" lang="en-US" altLang="ja-JP" sz="1000" b="0" i="0" u="none" strike="noStrike" kern="1200" cap="none" spc="0" normalizeH="0" baseline="0" noProof="0">
                <a:ln>
                  <a:noFill/>
                </a:ln>
                <a:solidFill>
                  <a:prstClr val="black"/>
                </a:solidFill>
                <a:effectLst/>
                <a:uLnTx/>
                <a:uFillTx/>
                <a:latin typeface="Meiryo UI"/>
                <a:ea typeface="Meiryo UI"/>
                <a:cs typeface="+mn-cs"/>
              </a:rPr>
              <a:t>PMO</a:t>
            </a: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支援</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91" name="正方形/長方形 90">
            <a:extLst>
              <a:ext uri="{FF2B5EF4-FFF2-40B4-BE49-F238E27FC236}">
                <a16:creationId xmlns:a16="http://schemas.microsoft.com/office/drawing/2014/main" id="{EF6BD8F3-1D18-354F-5824-4387BB297D63}"/>
              </a:ext>
            </a:extLst>
          </p:cNvPr>
          <p:cNvSpPr/>
          <p:nvPr/>
        </p:nvSpPr>
        <p:spPr>
          <a:xfrm>
            <a:off x="5490928" y="5437625"/>
            <a:ext cx="760899" cy="625671"/>
          </a:xfrm>
          <a:prstGeom prst="rect">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データ</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a:p>
            <a:pPr algn="ct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マネジメント</a:t>
            </a:r>
            <a:br>
              <a:rPr kumimoji="1" lang="en-US"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開発支援</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92" name="正方形/長方形 91">
            <a:extLst>
              <a:ext uri="{FF2B5EF4-FFF2-40B4-BE49-F238E27FC236}">
                <a16:creationId xmlns:a16="http://schemas.microsoft.com/office/drawing/2014/main" id="{9206AC33-ABD8-4B9F-47D4-72A4D0CF9437}"/>
              </a:ext>
            </a:extLst>
          </p:cNvPr>
          <p:cNvSpPr/>
          <p:nvPr/>
        </p:nvSpPr>
        <p:spPr>
          <a:xfrm>
            <a:off x="8102424" y="5437625"/>
            <a:ext cx="760899" cy="625671"/>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業務企画推進部</a:t>
            </a:r>
            <a:br>
              <a:rPr kumimoji="1" lang="en-US" altLang="ja-JP" sz="10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企画支援</a:t>
            </a:r>
          </a:p>
        </p:txBody>
      </p:sp>
      <p:sp>
        <p:nvSpPr>
          <p:cNvPr id="93" name="正方形/長方形 92">
            <a:extLst>
              <a:ext uri="{FF2B5EF4-FFF2-40B4-BE49-F238E27FC236}">
                <a16:creationId xmlns:a16="http://schemas.microsoft.com/office/drawing/2014/main" id="{A3C8679D-0BE2-FB39-9957-57AF08207955}"/>
              </a:ext>
            </a:extLst>
          </p:cNvPr>
          <p:cNvSpPr/>
          <p:nvPr/>
        </p:nvSpPr>
        <p:spPr>
          <a:xfrm>
            <a:off x="8971237" y="5437625"/>
            <a:ext cx="760899" cy="625671"/>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業務改善</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支援</a:t>
            </a:r>
          </a:p>
        </p:txBody>
      </p:sp>
      <p:sp>
        <p:nvSpPr>
          <p:cNvPr id="94" name="正方形/長方形 93">
            <a:extLst>
              <a:ext uri="{FF2B5EF4-FFF2-40B4-BE49-F238E27FC236}">
                <a16:creationId xmlns:a16="http://schemas.microsoft.com/office/drawing/2014/main" id="{ECAE823D-F625-8C92-8782-3B8D7B91B12F}"/>
              </a:ext>
            </a:extLst>
          </p:cNvPr>
          <p:cNvSpPr/>
          <p:nvPr/>
        </p:nvSpPr>
        <p:spPr>
          <a:xfrm>
            <a:off x="7233611" y="5437625"/>
            <a:ext cx="760899" cy="625671"/>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生保</a:t>
            </a:r>
            <a:r>
              <a:rPr kumimoji="1" lang="en-US" altLang="ja-JP" sz="1000" b="0" i="0" u="none" strike="noStrike" kern="1200" cap="none" spc="0" normalizeH="0" baseline="0" noProof="0">
                <a:ln>
                  <a:noFill/>
                </a:ln>
                <a:solidFill>
                  <a:prstClr val="black"/>
                </a:solidFill>
                <a:effectLst/>
                <a:uLnTx/>
                <a:uFillTx/>
                <a:latin typeface="Meiryo UI"/>
                <a:ea typeface="Meiryo UI"/>
                <a:cs typeface="+mn-cs"/>
              </a:rPr>
              <a:t>BPO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eiryo UI"/>
                <a:ea typeface="Meiryo UI"/>
                <a:cs typeface="+mn-cs"/>
              </a:rPr>
              <a:t>PMO</a:t>
            </a:r>
            <a:endParaRPr kumimoji="1" lang="ja-JP" alt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95" name="正方形/長方形 94">
            <a:extLst>
              <a:ext uri="{FF2B5EF4-FFF2-40B4-BE49-F238E27FC236}">
                <a16:creationId xmlns:a16="http://schemas.microsoft.com/office/drawing/2014/main" id="{BE2D02A7-7248-5976-7872-E994D5017F34}"/>
              </a:ext>
            </a:extLst>
          </p:cNvPr>
          <p:cNvSpPr/>
          <p:nvPr/>
        </p:nvSpPr>
        <p:spPr>
          <a:xfrm>
            <a:off x="272690" y="4519160"/>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lang="ja-JP" altLang="en-US" sz="600">
                <a:solidFill>
                  <a:prstClr val="white">
                    <a:lumMod val="50000"/>
                  </a:prstClr>
                </a:solidFill>
                <a:latin typeface="Meiryo UI"/>
                <a:ea typeface="Meiryo UI"/>
              </a:rPr>
              <a:t>ビジネス</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lang="ja-JP" altLang="en-US" sz="600">
                <a:solidFill>
                  <a:prstClr val="white">
                    <a:lumMod val="50000"/>
                  </a:prstClr>
                </a:solidFill>
                <a:latin typeface="Meiryo UI"/>
                <a:ea typeface="Meiryo UI"/>
              </a:rPr>
              <a:t>マネージャー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r>
              <a:rPr lang="ja-JP" altLang="en-US" sz="900">
                <a:solidFill>
                  <a:srgbClr val="000000"/>
                </a:solidFill>
                <a:latin typeface="Meiryo UI" panose="020B0604030504040204" pitchFamily="50" charset="-128"/>
                <a:ea typeface="Meiryo UI" panose="020B0604030504040204" pitchFamily="50" charset="-128"/>
              </a:rPr>
              <a:t>河原林</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lang="ja-JP" altLang="en-US" sz="900">
                <a:solidFill>
                  <a:srgbClr val="000000"/>
                </a:solidFill>
                <a:latin typeface="Meiryo UI" panose="020B0604030504040204" pitchFamily="50" charset="-128"/>
                <a:ea typeface="Meiryo UI" panose="020B0604030504040204" pitchFamily="50" charset="-128"/>
              </a:rPr>
              <a:t>皓平</a:t>
            </a:r>
            <a:endPar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6" name="正方形/長方形 95">
            <a:extLst>
              <a:ext uri="{FF2B5EF4-FFF2-40B4-BE49-F238E27FC236}">
                <a16:creationId xmlns:a16="http://schemas.microsoft.com/office/drawing/2014/main" id="{10E0CEDE-EAB9-6C6C-6B46-4B007431A43D}"/>
              </a:ext>
            </a:extLst>
          </p:cNvPr>
          <p:cNvSpPr/>
          <p:nvPr/>
        </p:nvSpPr>
        <p:spPr>
          <a:xfrm>
            <a:off x="1141503" y="4519160"/>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lang="ja-JP" altLang="en-US" sz="600">
                <a:solidFill>
                  <a:prstClr val="white">
                    <a:lumMod val="50000"/>
                  </a:prstClr>
                </a:solidFill>
                <a:latin typeface="Meiryo UI"/>
                <a:ea typeface="Meiryo UI"/>
              </a:rPr>
              <a:t>テクノロジー</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lang="ja-JP" altLang="en-US" sz="600">
                <a:solidFill>
                  <a:prstClr val="white">
                    <a:lumMod val="50000"/>
                  </a:prstClr>
                </a:solidFill>
                <a:latin typeface="Meiryo UI"/>
                <a:ea typeface="Meiryo UI"/>
              </a:rPr>
              <a:t>マネージャー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古庄　克幸</a:t>
            </a:r>
          </a:p>
        </p:txBody>
      </p:sp>
      <p:sp>
        <p:nvSpPr>
          <p:cNvPr id="97" name="正方形/長方形 96">
            <a:extLst>
              <a:ext uri="{FF2B5EF4-FFF2-40B4-BE49-F238E27FC236}">
                <a16:creationId xmlns:a16="http://schemas.microsoft.com/office/drawing/2014/main" id="{5783E537-5CFD-0CFB-FFCE-A67467F24342}"/>
              </a:ext>
            </a:extLst>
          </p:cNvPr>
          <p:cNvSpPr/>
          <p:nvPr/>
        </p:nvSpPr>
        <p:spPr>
          <a:xfrm>
            <a:off x="2010316" y="4519160"/>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ビジネス</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lang="ja-JP" altLang="en-US" sz="600">
                <a:solidFill>
                  <a:prstClr val="white">
                    <a:lumMod val="50000"/>
                  </a:prstClr>
                </a:solidFill>
                <a:latin typeface="Meiryo UI"/>
                <a:ea typeface="Meiryo UI"/>
              </a:rPr>
              <a:t>マネージャー</a:t>
            </a:r>
            <a:endParaRPr lang="en-US" altLang="ja-JP" sz="600">
              <a:solidFill>
                <a:prstClr val="black"/>
              </a:solidFill>
              <a:latin typeface="Meiryo UI"/>
              <a:ea typeface="Meiryo UI"/>
            </a:endParaRPr>
          </a:p>
          <a:p>
            <a:r>
              <a:rPr lang="ja-JP" altLang="en-US" sz="900">
                <a:solidFill>
                  <a:srgbClr val="000000"/>
                </a:solidFill>
                <a:latin typeface="Meiryo UI" panose="020B0604030504040204" pitchFamily="50" charset="-128"/>
                <a:ea typeface="Meiryo UI" panose="020B0604030504040204" pitchFamily="50" charset="-128"/>
              </a:rPr>
              <a:t>木村　統志 </a:t>
            </a:r>
            <a:endPar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8" name="正方形/長方形 97">
            <a:extLst>
              <a:ext uri="{FF2B5EF4-FFF2-40B4-BE49-F238E27FC236}">
                <a16:creationId xmlns:a16="http://schemas.microsoft.com/office/drawing/2014/main" id="{2D2B98E1-F5E5-AC25-9BFB-223696B515D1}"/>
              </a:ext>
            </a:extLst>
          </p:cNvPr>
          <p:cNvSpPr/>
          <p:nvPr/>
        </p:nvSpPr>
        <p:spPr>
          <a:xfrm>
            <a:off x="2879129" y="4519160"/>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ビジネス</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lang="ja-JP" altLang="en-US" sz="600">
                <a:solidFill>
                  <a:prstClr val="white">
                    <a:lumMod val="50000"/>
                  </a:prstClr>
                </a:solidFill>
                <a:latin typeface="Meiryo UI"/>
                <a:ea typeface="Meiryo UI"/>
              </a:rPr>
              <a:t>マネージャー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r>
              <a:rPr lang="ja-JP" altLang="en-US" sz="900">
                <a:solidFill>
                  <a:srgbClr val="000000"/>
                </a:solidFill>
                <a:latin typeface="Meiryo UI" panose="020B0604030504040204" pitchFamily="50" charset="-128"/>
                <a:ea typeface="Meiryo UI" panose="020B0604030504040204" pitchFamily="50" charset="-128"/>
              </a:rPr>
              <a:t>吉田</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昌太</a:t>
            </a:r>
            <a:endPar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9" name="正方形/長方形 98">
            <a:extLst>
              <a:ext uri="{FF2B5EF4-FFF2-40B4-BE49-F238E27FC236}">
                <a16:creationId xmlns:a16="http://schemas.microsoft.com/office/drawing/2014/main" id="{9E0850CB-37BE-9FBB-6E1B-FB3C77E20A6A}"/>
              </a:ext>
            </a:extLst>
          </p:cNvPr>
          <p:cNvSpPr/>
          <p:nvPr/>
        </p:nvSpPr>
        <p:spPr>
          <a:xfrm>
            <a:off x="4616755" y="4519160"/>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lang="ja-JP" altLang="en-US" sz="600">
                <a:solidFill>
                  <a:prstClr val="white">
                    <a:lumMod val="50000"/>
                  </a:prstClr>
                </a:solidFill>
                <a:latin typeface="Meiryo UI"/>
                <a:ea typeface="Meiryo UI"/>
              </a:rPr>
              <a:t>テクノロジー</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endParaRPr lang="en-US" altLang="ja-JP" sz="600">
              <a:solidFill>
                <a:prstClr val="white">
                  <a:lumMod val="50000"/>
                </a:prstClr>
              </a:solidFill>
              <a:latin typeface="Meiryo UI"/>
              <a:ea typeface="Meiryo UI"/>
            </a:endParaRPr>
          </a:p>
          <a:p>
            <a:r>
              <a:rPr lang="ja-JP" altLang="en-US" sz="600">
                <a:solidFill>
                  <a:prstClr val="white">
                    <a:lumMod val="50000"/>
                  </a:prstClr>
                </a:solidFill>
                <a:latin typeface="Meiryo UI"/>
                <a:ea typeface="Meiryo UI"/>
              </a:rPr>
              <a:t>マネージャー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中島　拓哉</a:t>
            </a:r>
          </a:p>
        </p:txBody>
      </p:sp>
      <p:sp>
        <p:nvSpPr>
          <p:cNvPr id="100" name="正方形/長方形 99">
            <a:extLst>
              <a:ext uri="{FF2B5EF4-FFF2-40B4-BE49-F238E27FC236}">
                <a16:creationId xmlns:a16="http://schemas.microsoft.com/office/drawing/2014/main" id="{466D8A89-40C0-B3F3-4027-332C0249210F}"/>
              </a:ext>
            </a:extLst>
          </p:cNvPr>
          <p:cNvSpPr/>
          <p:nvPr/>
        </p:nvSpPr>
        <p:spPr>
          <a:xfrm>
            <a:off x="5485568" y="4519160"/>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lang="ja-JP" altLang="en-US" sz="600">
                <a:solidFill>
                  <a:prstClr val="white">
                    <a:lumMod val="50000"/>
                  </a:prstClr>
                </a:solidFill>
                <a:latin typeface="Meiryo UI"/>
                <a:ea typeface="Meiryo UI"/>
              </a:rPr>
              <a:t>テクノロジー</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lang="ja-JP" altLang="en-US" sz="600">
                <a:solidFill>
                  <a:prstClr val="white">
                    <a:lumMod val="50000"/>
                  </a:prstClr>
                </a:solidFill>
                <a:latin typeface="Meiryo UI"/>
                <a:ea typeface="Meiryo UI"/>
              </a:rPr>
              <a:t>マネージャー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r>
              <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４名</a:t>
            </a:r>
          </a:p>
        </p:txBody>
      </p:sp>
      <p:sp>
        <p:nvSpPr>
          <p:cNvPr id="101" name="正方形/長方形 100">
            <a:extLst>
              <a:ext uri="{FF2B5EF4-FFF2-40B4-BE49-F238E27FC236}">
                <a16:creationId xmlns:a16="http://schemas.microsoft.com/office/drawing/2014/main" id="{023CD19C-924C-71A3-F8D6-3D6058DBBA58}"/>
              </a:ext>
            </a:extLst>
          </p:cNvPr>
          <p:cNvSpPr/>
          <p:nvPr/>
        </p:nvSpPr>
        <p:spPr>
          <a:xfrm>
            <a:off x="272690" y="3600693"/>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ビジネス</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lang="ja-JP" altLang="en-US" sz="600">
                <a:solidFill>
                  <a:prstClr val="white">
                    <a:lumMod val="50000"/>
                  </a:prstClr>
                </a:solidFill>
                <a:latin typeface="Meiryo UI"/>
                <a:ea typeface="Meiryo UI"/>
              </a:rPr>
              <a:t>プリンシパル・ディレクター</a:t>
            </a:r>
            <a:endParaRPr lang="en-US" altLang="ja-JP" sz="600">
              <a:solidFill>
                <a:prstClr val="white">
                  <a:lumMod val="50000"/>
                </a:prstClr>
              </a:solidFill>
              <a:latin typeface="Meiryo UI"/>
              <a:ea typeface="Meiryo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a:solidFill>
                  <a:prstClr val="black"/>
                </a:solidFill>
                <a:latin typeface="Meiryo UI"/>
                <a:ea typeface="Meiryo UI"/>
              </a:rPr>
              <a:t>五十嵐</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　常浩 </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2" name="正方形/長方形 101">
            <a:extLst>
              <a:ext uri="{FF2B5EF4-FFF2-40B4-BE49-F238E27FC236}">
                <a16:creationId xmlns:a16="http://schemas.microsoft.com/office/drawing/2014/main" id="{85D2FDA0-83E5-D0CA-BE91-7741BBC8D9B1}"/>
              </a:ext>
            </a:extLst>
          </p:cNvPr>
          <p:cNvSpPr/>
          <p:nvPr/>
        </p:nvSpPr>
        <p:spPr>
          <a:xfrm>
            <a:off x="1141503" y="3600693"/>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lang="ja-JP" altLang="en-US" sz="600">
                <a:solidFill>
                  <a:prstClr val="white">
                    <a:lumMod val="50000"/>
                  </a:prstClr>
                </a:solidFill>
                <a:latin typeface="Meiryo UI"/>
                <a:ea typeface="Meiryo UI"/>
              </a:rPr>
              <a:t>テクノロジー</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シニア</a:t>
            </a:r>
            <a:r>
              <a:rPr lang="ja-JP" altLang="en-US" sz="600">
                <a:solidFill>
                  <a:prstClr val="white">
                    <a:lumMod val="50000"/>
                  </a:prstClr>
                </a:solidFill>
                <a:latin typeface="Meiryo UI"/>
                <a:ea typeface="Meiryo UI"/>
              </a:rPr>
              <a:t>・マネージャー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菊川　浩</a:t>
            </a:r>
            <a:endPar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03" name="正方形/長方形 102">
            <a:extLst>
              <a:ext uri="{FF2B5EF4-FFF2-40B4-BE49-F238E27FC236}">
                <a16:creationId xmlns:a16="http://schemas.microsoft.com/office/drawing/2014/main" id="{6563F3A4-BD92-AAE2-53D4-96EDCFAC88C8}"/>
              </a:ext>
            </a:extLst>
          </p:cNvPr>
          <p:cNvSpPr/>
          <p:nvPr/>
        </p:nvSpPr>
        <p:spPr>
          <a:xfrm>
            <a:off x="2444723" y="3600693"/>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ビジネス</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シニア</a:t>
            </a:r>
            <a:r>
              <a:rPr lang="ja-JP" altLang="en-US" sz="600">
                <a:solidFill>
                  <a:prstClr val="white">
                    <a:lumMod val="50000"/>
                  </a:prstClr>
                </a:solidFill>
                <a:latin typeface="Meiryo UI"/>
                <a:ea typeface="Meiryo UI"/>
              </a:rPr>
              <a:t>・マネージャー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a:solidFill>
                  <a:prstClr val="black"/>
                </a:solidFill>
                <a:latin typeface="Meiryo UI"/>
                <a:ea typeface="Meiryo UI"/>
              </a:rPr>
              <a:t>黒川</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　友紀</a:t>
            </a:r>
            <a:endPar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04" name="正方形/長方形 103">
            <a:extLst>
              <a:ext uri="{FF2B5EF4-FFF2-40B4-BE49-F238E27FC236}">
                <a16:creationId xmlns:a16="http://schemas.microsoft.com/office/drawing/2014/main" id="{A3C9318C-6933-5E4F-FA9D-EFEBFE930DBA}"/>
              </a:ext>
            </a:extLst>
          </p:cNvPr>
          <p:cNvSpPr/>
          <p:nvPr/>
        </p:nvSpPr>
        <p:spPr>
          <a:xfrm>
            <a:off x="4616755" y="3600693"/>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ビジネス</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プリンシパル・ディレクター</a:t>
            </a:r>
            <a:endPar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五十嵐　常浩 </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5" name="正方形/長方形 104">
            <a:extLst>
              <a:ext uri="{FF2B5EF4-FFF2-40B4-BE49-F238E27FC236}">
                <a16:creationId xmlns:a16="http://schemas.microsoft.com/office/drawing/2014/main" id="{20CC87EB-CBEE-2F6D-4FA3-BA53E9BFE045}"/>
              </a:ext>
            </a:extLst>
          </p:cNvPr>
          <p:cNvSpPr/>
          <p:nvPr/>
        </p:nvSpPr>
        <p:spPr>
          <a:xfrm>
            <a:off x="5485568" y="3600693"/>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lang="ja-JP" altLang="en-US" sz="600">
                <a:solidFill>
                  <a:prstClr val="white">
                    <a:lumMod val="50000"/>
                  </a:prstClr>
                </a:solidFill>
                <a:latin typeface="Meiryo UI"/>
                <a:ea typeface="Meiryo UI"/>
              </a:rPr>
              <a:t>テクノロジー</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lang="ja-JP" altLang="en-US" sz="600">
                <a:solidFill>
                  <a:prstClr val="white">
                    <a:lumMod val="50000"/>
                  </a:prstClr>
                </a:solidFill>
                <a:latin typeface="Meiryo UI"/>
                <a:ea typeface="Meiryo UI"/>
              </a:rPr>
              <a:t>アソシエイト・ディレクター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r>
              <a:rPr lang="ja-JP" altLang="en-US" sz="900">
                <a:solidFill>
                  <a:srgbClr val="000000"/>
                </a:solidFill>
                <a:latin typeface="Meiryo UI" panose="020B0604030504040204" pitchFamily="50" charset="-128"/>
                <a:ea typeface="Meiryo UI" panose="020B0604030504040204" pitchFamily="50" charset="-128"/>
              </a:rPr>
              <a:t>新井</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浩</a:t>
            </a:r>
            <a:endPar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06" name="正方形/長方形 105">
            <a:extLst>
              <a:ext uri="{FF2B5EF4-FFF2-40B4-BE49-F238E27FC236}">
                <a16:creationId xmlns:a16="http://schemas.microsoft.com/office/drawing/2014/main" id="{6EF29CCC-0BDE-C834-D7CB-C709A14CC3E5}"/>
              </a:ext>
            </a:extLst>
          </p:cNvPr>
          <p:cNvSpPr/>
          <p:nvPr/>
        </p:nvSpPr>
        <p:spPr>
          <a:xfrm>
            <a:off x="7233611" y="3600693"/>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prstClr val="white">
                    <a:lumMod val="50000"/>
                  </a:prstClr>
                </a:solidFill>
                <a:effectLst/>
                <a:uLnTx/>
                <a:uFillTx/>
                <a:latin typeface="Meiryo UI"/>
                <a:ea typeface="Meiryo UI"/>
                <a:cs typeface="+mn-cs"/>
              </a:rPr>
              <a:t>ビジネス</a:t>
            </a:r>
            <a:br>
              <a:rPr kumimoji="1" lang="en-US" altLang="ja-JP" sz="7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7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7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700" b="0" i="0" u="none" strike="noStrike" kern="1200" cap="none" spc="0" normalizeH="0" baseline="0" noProof="0">
                <a:ln>
                  <a:noFill/>
                </a:ln>
                <a:solidFill>
                  <a:prstClr val="white">
                    <a:lumMod val="50000"/>
                  </a:prstClr>
                </a:solidFill>
                <a:effectLst/>
                <a:uLnTx/>
                <a:uFillTx/>
                <a:latin typeface="Meiryo UI"/>
                <a:ea typeface="Meiryo UI"/>
                <a:cs typeface="+mn-cs"/>
              </a:rPr>
              <a:t>シニア・マネージャー</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利光　真人</a:t>
            </a:r>
            <a:endPar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07" name="正方形/長方形 106">
            <a:extLst>
              <a:ext uri="{FF2B5EF4-FFF2-40B4-BE49-F238E27FC236}">
                <a16:creationId xmlns:a16="http://schemas.microsoft.com/office/drawing/2014/main" id="{DAC4A06A-D696-5E30-057B-62A4DC55289C}"/>
              </a:ext>
            </a:extLst>
          </p:cNvPr>
          <p:cNvSpPr/>
          <p:nvPr/>
        </p:nvSpPr>
        <p:spPr>
          <a:xfrm>
            <a:off x="272690" y="2682227"/>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金融サービス本部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マネージング・ディレクター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早川　逸平</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8" name="正方形/長方形 107">
            <a:extLst>
              <a:ext uri="{FF2B5EF4-FFF2-40B4-BE49-F238E27FC236}">
                <a16:creationId xmlns:a16="http://schemas.microsoft.com/office/drawing/2014/main" id="{05F38DBD-2BB2-1068-AFD3-2506846CB7BD}"/>
              </a:ext>
            </a:extLst>
          </p:cNvPr>
          <p:cNvSpPr/>
          <p:nvPr/>
        </p:nvSpPr>
        <p:spPr>
          <a:xfrm>
            <a:off x="1141503" y="2682227"/>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lang="ja-JP" altLang="en-US" sz="600">
                <a:solidFill>
                  <a:prstClr val="white">
                    <a:lumMod val="50000"/>
                  </a:prstClr>
                </a:solidFill>
                <a:latin typeface="Meiryo UI"/>
                <a:ea typeface="Meiryo UI"/>
              </a:rPr>
              <a:t>テクノロジー</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マネージング</a:t>
            </a:r>
            <a:r>
              <a:rPr lang="ja-JP" altLang="en-US" sz="600">
                <a:solidFill>
                  <a:prstClr val="white">
                    <a:lumMod val="50000"/>
                  </a:prstClr>
                </a:solidFill>
                <a:latin typeface="Meiryo UI"/>
                <a:ea typeface="Meiryo UI"/>
              </a:rPr>
              <a:t>・ディレクター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野崎　浩俊</a:t>
            </a:r>
          </a:p>
        </p:txBody>
      </p:sp>
      <p:sp>
        <p:nvSpPr>
          <p:cNvPr id="109" name="正方形/長方形 108">
            <a:extLst>
              <a:ext uri="{FF2B5EF4-FFF2-40B4-BE49-F238E27FC236}">
                <a16:creationId xmlns:a16="http://schemas.microsoft.com/office/drawing/2014/main" id="{10490C0C-1A91-4DA9-6B04-11A10D2B5445}"/>
              </a:ext>
            </a:extLst>
          </p:cNvPr>
          <p:cNvSpPr/>
          <p:nvPr/>
        </p:nvSpPr>
        <p:spPr>
          <a:xfrm>
            <a:off x="3313536" y="2682227"/>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ビジネス</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マネージング</a:t>
            </a:r>
            <a:r>
              <a:rPr lang="ja-JP" altLang="en-US" sz="600">
                <a:solidFill>
                  <a:prstClr val="white">
                    <a:lumMod val="50000"/>
                  </a:prstClr>
                </a:solidFill>
                <a:latin typeface="Meiryo UI"/>
                <a:ea typeface="Meiryo UI"/>
              </a:rPr>
              <a:t>・ディレクター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a:solidFill>
                  <a:prstClr val="black"/>
                </a:solidFill>
                <a:latin typeface="Meiryo UI"/>
                <a:ea typeface="Meiryo UI"/>
              </a:rPr>
              <a:t>山田</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　健二</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0" name="正方形/長方形 109">
            <a:extLst>
              <a:ext uri="{FF2B5EF4-FFF2-40B4-BE49-F238E27FC236}">
                <a16:creationId xmlns:a16="http://schemas.microsoft.com/office/drawing/2014/main" id="{7A6E9206-5BD2-17C6-232B-9A9B8186555B}"/>
              </a:ext>
            </a:extLst>
          </p:cNvPr>
          <p:cNvSpPr/>
          <p:nvPr/>
        </p:nvSpPr>
        <p:spPr>
          <a:xfrm>
            <a:off x="5485568" y="2682227"/>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テクノロジー</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マネージング・ディレクター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平山　英介</a:t>
            </a:r>
            <a:endPar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11" name="正方形/長方形 110">
            <a:extLst>
              <a:ext uri="{FF2B5EF4-FFF2-40B4-BE49-F238E27FC236}">
                <a16:creationId xmlns:a16="http://schemas.microsoft.com/office/drawing/2014/main" id="{660D9566-E035-7715-1700-F258A4349776}"/>
              </a:ext>
            </a:extLst>
          </p:cNvPr>
          <p:cNvSpPr/>
          <p:nvPr/>
        </p:nvSpPr>
        <p:spPr>
          <a:xfrm>
            <a:off x="7657601" y="2682227"/>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pPr>
              <a:defRPr/>
            </a:pP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ビジネス</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マネージング</a:t>
            </a:r>
            <a:r>
              <a:rPr lang="ja-JP" altLang="en-US" sz="600">
                <a:solidFill>
                  <a:prstClr val="white">
                    <a:lumMod val="50000"/>
                  </a:prstClr>
                </a:solidFill>
                <a:latin typeface="Meiryo UI"/>
                <a:ea typeface="Meiryo UI"/>
              </a:rPr>
              <a:t>・ディレクター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谷　征洋</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112" name="直線コネクタ 111">
            <a:extLst>
              <a:ext uri="{FF2B5EF4-FFF2-40B4-BE49-F238E27FC236}">
                <a16:creationId xmlns:a16="http://schemas.microsoft.com/office/drawing/2014/main" id="{0EAF3533-6F86-28A1-BFCE-51A82675D779}"/>
              </a:ext>
            </a:extLst>
          </p:cNvPr>
          <p:cNvCxnSpPr>
            <a:cxnSpLocks/>
            <a:stCxn id="95" idx="2"/>
            <a:endCxn id="85" idx="0"/>
          </p:cNvCxnSpPr>
          <p:nvPr/>
        </p:nvCxnSpPr>
        <p:spPr>
          <a:xfrm>
            <a:off x="653139" y="5029133"/>
            <a:ext cx="3584" cy="408492"/>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直線コネクタ 112">
            <a:extLst>
              <a:ext uri="{FF2B5EF4-FFF2-40B4-BE49-F238E27FC236}">
                <a16:creationId xmlns:a16="http://schemas.microsoft.com/office/drawing/2014/main" id="{DEB33A45-0865-9635-6C18-A41B34EB8BA7}"/>
              </a:ext>
            </a:extLst>
          </p:cNvPr>
          <p:cNvCxnSpPr>
            <a:cxnSpLocks/>
            <a:stCxn id="96" idx="2"/>
            <a:endCxn id="86" idx="0"/>
          </p:cNvCxnSpPr>
          <p:nvPr/>
        </p:nvCxnSpPr>
        <p:spPr>
          <a:xfrm>
            <a:off x="1521952" y="5029132"/>
            <a:ext cx="1" cy="408493"/>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AF0EFC9D-AFC9-900D-F2D0-B77586D9E387}"/>
              </a:ext>
            </a:extLst>
          </p:cNvPr>
          <p:cNvCxnSpPr>
            <a:cxnSpLocks/>
            <a:stCxn id="97" idx="2"/>
            <a:endCxn id="88" idx="0"/>
          </p:cNvCxnSpPr>
          <p:nvPr/>
        </p:nvCxnSpPr>
        <p:spPr>
          <a:xfrm>
            <a:off x="2390765" y="5029133"/>
            <a:ext cx="1" cy="408492"/>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直線コネクタ 114">
            <a:extLst>
              <a:ext uri="{FF2B5EF4-FFF2-40B4-BE49-F238E27FC236}">
                <a16:creationId xmlns:a16="http://schemas.microsoft.com/office/drawing/2014/main" id="{FC37EF01-74C8-1D2C-D23A-5D46712C90A1}"/>
              </a:ext>
            </a:extLst>
          </p:cNvPr>
          <p:cNvCxnSpPr>
            <a:cxnSpLocks/>
            <a:stCxn id="98" idx="2"/>
            <a:endCxn id="87" idx="0"/>
          </p:cNvCxnSpPr>
          <p:nvPr/>
        </p:nvCxnSpPr>
        <p:spPr>
          <a:xfrm>
            <a:off x="3259578" y="5029132"/>
            <a:ext cx="1" cy="408493"/>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直線コネクタ 115">
            <a:extLst>
              <a:ext uri="{FF2B5EF4-FFF2-40B4-BE49-F238E27FC236}">
                <a16:creationId xmlns:a16="http://schemas.microsoft.com/office/drawing/2014/main" id="{BEAA6954-C2AC-2320-7EE4-2D3EAE3B870B}"/>
              </a:ext>
            </a:extLst>
          </p:cNvPr>
          <p:cNvCxnSpPr>
            <a:cxnSpLocks/>
            <a:stCxn id="122" idx="2"/>
            <a:endCxn id="89" idx="0"/>
          </p:cNvCxnSpPr>
          <p:nvPr/>
        </p:nvCxnSpPr>
        <p:spPr>
          <a:xfrm>
            <a:off x="4128391" y="4110666"/>
            <a:ext cx="1" cy="1326959"/>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直線コネクタ 116">
            <a:extLst>
              <a:ext uri="{FF2B5EF4-FFF2-40B4-BE49-F238E27FC236}">
                <a16:creationId xmlns:a16="http://schemas.microsoft.com/office/drawing/2014/main" id="{92AA9C58-8BB3-7CDD-DA32-FC633A346103}"/>
              </a:ext>
            </a:extLst>
          </p:cNvPr>
          <p:cNvCxnSpPr>
            <a:cxnSpLocks/>
            <a:stCxn id="99" idx="2"/>
            <a:endCxn id="90" idx="0"/>
          </p:cNvCxnSpPr>
          <p:nvPr/>
        </p:nvCxnSpPr>
        <p:spPr>
          <a:xfrm>
            <a:off x="4997204" y="5029133"/>
            <a:ext cx="1" cy="408492"/>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5AD03CDC-620A-D061-84ED-CCE8E53BF82C}"/>
              </a:ext>
            </a:extLst>
          </p:cNvPr>
          <p:cNvCxnSpPr>
            <a:cxnSpLocks/>
            <a:stCxn id="100" idx="2"/>
            <a:endCxn id="91" idx="0"/>
          </p:cNvCxnSpPr>
          <p:nvPr/>
        </p:nvCxnSpPr>
        <p:spPr>
          <a:xfrm>
            <a:off x="5866017" y="5029132"/>
            <a:ext cx="5361" cy="408493"/>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275C5FD4-3643-FEDA-2A55-10B8D74D48F9}"/>
              </a:ext>
            </a:extLst>
          </p:cNvPr>
          <p:cNvCxnSpPr>
            <a:cxnSpLocks/>
            <a:stCxn id="102" idx="2"/>
            <a:endCxn id="96" idx="0"/>
          </p:cNvCxnSpPr>
          <p:nvPr/>
        </p:nvCxnSpPr>
        <p:spPr>
          <a:xfrm>
            <a:off x="1521952" y="4110666"/>
            <a:ext cx="0" cy="408494"/>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E1DED897-02E6-8A2B-653E-5F59776B1F0E}"/>
              </a:ext>
            </a:extLst>
          </p:cNvPr>
          <p:cNvCxnSpPr>
            <a:cxnSpLocks/>
            <a:stCxn id="101" idx="2"/>
            <a:endCxn id="95" idx="0"/>
          </p:cNvCxnSpPr>
          <p:nvPr/>
        </p:nvCxnSpPr>
        <p:spPr>
          <a:xfrm>
            <a:off x="653139" y="4110666"/>
            <a:ext cx="0" cy="408494"/>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3F58922A-0B77-6FFC-D488-AA9D2700E60F}"/>
              </a:ext>
            </a:extLst>
          </p:cNvPr>
          <p:cNvCxnSpPr>
            <a:cxnSpLocks/>
            <a:stCxn id="107" idx="2"/>
            <a:endCxn id="101" idx="0"/>
          </p:cNvCxnSpPr>
          <p:nvPr/>
        </p:nvCxnSpPr>
        <p:spPr>
          <a:xfrm>
            <a:off x="653139" y="3192200"/>
            <a:ext cx="0" cy="408494"/>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2" name="正方形/長方形 121">
            <a:extLst>
              <a:ext uri="{FF2B5EF4-FFF2-40B4-BE49-F238E27FC236}">
                <a16:creationId xmlns:a16="http://schemas.microsoft.com/office/drawing/2014/main" id="{A14B59DF-E464-B182-804E-8EDC446BFF88}"/>
              </a:ext>
            </a:extLst>
          </p:cNvPr>
          <p:cNvSpPr/>
          <p:nvPr/>
        </p:nvSpPr>
        <p:spPr>
          <a:xfrm>
            <a:off x="3747942" y="3600693"/>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ビジネス</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シニア</a:t>
            </a:r>
            <a:r>
              <a:rPr lang="ja-JP" altLang="en-US" sz="600">
                <a:solidFill>
                  <a:prstClr val="white">
                    <a:lumMod val="50000"/>
                  </a:prstClr>
                </a:solidFill>
                <a:latin typeface="Meiryo UI"/>
                <a:ea typeface="Meiryo UI"/>
              </a:rPr>
              <a:t>・マネージャー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下川原　温</a:t>
            </a:r>
            <a:endPar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123" name="コネクタ: カギ線 122">
            <a:extLst>
              <a:ext uri="{FF2B5EF4-FFF2-40B4-BE49-F238E27FC236}">
                <a16:creationId xmlns:a16="http://schemas.microsoft.com/office/drawing/2014/main" id="{FDE3D121-BCF7-E013-9520-68B1E607453D}"/>
              </a:ext>
            </a:extLst>
          </p:cNvPr>
          <p:cNvCxnSpPr>
            <a:cxnSpLocks/>
            <a:stCxn id="98" idx="0"/>
            <a:endCxn id="103" idx="2"/>
          </p:cNvCxnSpPr>
          <p:nvPr/>
        </p:nvCxnSpPr>
        <p:spPr>
          <a:xfrm rot="16200000" flipV="1">
            <a:off x="2838129" y="4097710"/>
            <a:ext cx="408494" cy="434406"/>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コネクタ: カギ線 123">
            <a:extLst>
              <a:ext uri="{FF2B5EF4-FFF2-40B4-BE49-F238E27FC236}">
                <a16:creationId xmlns:a16="http://schemas.microsoft.com/office/drawing/2014/main" id="{B8C0E374-E293-1415-A464-9C5D58152A19}"/>
              </a:ext>
            </a:extLst>
          </p:cNvPr>
          <p:cNvCxnSpPr>
            <a:cxnSpLocks/>
            <a:stCxn id="97" idx="0"/>
            <a:endCxn id="103" idx="2"/>
          </p:cNvCxnSpPr>
          <p:nvPr/>
        </p:nvCxnSpPr>
        <p:spPr>
          <a:xfrm rot="5400000" flipH="1" flipV="1">
            <a:off x="2403722" y="4097710"/>
            <a:ext cx="408494" cy="434407"/>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コネクタ: カギ線 124">
            <a:extLst>
              <a:ext uri="{FF2B5EF4-FFF2-40B4-BE49-F238E27FC236}">
                <a16:creationId xmlns:a16="http://schemas.microsoft.com/office/drawing/2014/main" id="{4E70E2D4-3BFF-4CFA-3261-FEE804FA410D}"/>
              </a:ext>
            </a:extLst>
          </p:cNvPr>
          <p:cNvCxnSpPr>
            <a:cxnSpLocks/>
            <a:stCxn id="103" idx="0"/>
            <a:endCxn id="109" idx="2"/>
          </p:cNvCxnSpPr>
          <p:nvPr/>
        </p:nvCxnSpPr>
        <p:spPr>
          <a:xfrm rot="5400000" flipH="1" flipV="1">
            <a:off x="3055332" y="2962041"/>
            <a:ext cx="408494" cy="868813"/>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コネクタ: カギ線 125">
            <a:extLst>
              <a:ext uri="{FF2B5EF4-FFF2-40B4-BE49-F238E27FC236}">
                <a16:creationId xmlns:a16="http://schemas.microsoft.com/office/drawing/2014/main" id="{41C7AAFB-DC2D-8D9C-A0CE-C9308BB3B7A7}"/>
              </a:ext>
            </a:extLst>
          </p:cNvPr>
          <p:cNvCxnSpPr>
            <a:cxnSpLocks/>
            <a:stCxn id="104" idx="0"/>
            <a:endCxn id="109" idx="2"/>
          </p:cNvCxnSpPr>
          <p:nvPr/>
        </p:nvCxnSpPr>
        <p:spPr>
          <a:xfrm rot="16200000" flipV="1">
            <a:off x="4141349" y="2744837"/>
            <a:ext cx="408494" cy="1303219"/>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コネクタ: カギ線 126">
            <a:extLst>
              <a:ext uri="{FF2B5EF4-FFF2-40B4-BE49-F238E27FC236}">
                <a16:creationId xmlns:a16="http://schemas.microsoft.com/office/drawing/2014/main" id="{6B442E31-7B7A-A41C-E03F-BFC23A04597C}"/>
              </a:ext>
            </a:extLst>
          </p:cNvPr>
          <p:cNvCxnSpPr>
            <a:cxnSpLocks/>
            <a:stCxn id="122" idx="0"/>
            <a:endCxn id="109" idx="2"/>
          </p:cNvCxnSpPr>
          <p:nvPr/>
        </p:nvCxnSpPr>
        <p:spPr>
          <a:xfrm rot="16200000" flipV="1">
            <a:off x="3706942" y="3179244"/>
            <a:ext cx="408494" cy="434406"/>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直線コネクタ 127">
            <a:extLst>
              <a:ext uri="{FF2B5EF4-FFF2-40B4-BE49-F238E27FC236}">
                <a16:creationId xmlns:a16="http://schemas.microsoft.com/office/drawing/2014/main" id="{3E8F787A-B8B9-BBA2-FAAA-EE6BAF77C055}"/>
              </a:ext>
            </a:extLst>
          </p:cNvPr>
          <p:cNvCxnSpPr>
            <a:cxnSpLocks/>
            <a:stCxn id="108" idx="2"/>
            <a:endCxn id="102" idx="0"/>
          </p:cNvCxnSpPr>
          <p:nvPr/>
        </p:nvCxnSpPr>
        <p:spPr>
          <a:xfrm>
            <a:off x="1521952" y="3192200"/>
            <a:ext cx="0" cy="408494"/>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直線コネクタ 128">
            <a:extLst>
              <a:ext uri="{FF2B5EF4-FFF2-40B4-BE49-F238E27FC236}">
                <a16:creationId xmlns:a16="http://schemas.microsoft.com/office/drawing/2014/main" id="{844D6C79-BF0C-B941-FE0E-2A7283922BF5}"/>
              </a:ext>
            </a:extLst>
          </p:cNvPr>
          <p:cNvCxnSpPr>
            <a:cxnSpLocks/>
            <a:stCxn id="110" idx="2"/>
            <a:endCxn id="105" idx="0"/>
          </p:cNvCxnSpPr>
          <p:nvPr/>
        </p:nvCxnSpPr>
        <p:spPr>
          <a:xfrm>
            <a:off x="5866017" y="3192200"/>
            <a:ext cx="0" cy="408494"/>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直線コネクタ 129">
            <a:extLst>
              <a:ext uri="{FF2B5EF4-FFF2-40B4-BE49-F238E27FC236}">
                <a16:creationId xmlns:a16="http://schemas.microsoft.com/office/drawing/2014/main" id="{85851E03-E803-000E-C15D-2F6EC742D18A}"/>
              </a:ext>
            </a:extLst>
          </p:cNvPr>
          <p:cNvCxnSpPr>
            <a:cxnSpLocks/>
            <a:stCxn id="105" idx="2"/>
            <a:endCxn id="100" idx="0"/>
          </p:cNvCxnSpPr>
          <p:nvPr/>
        </p:nvCxnSpPr>
        <p:spPr>
          <a:xfrm>
            <a:off x="5866017" y="4110666"/>
            <a:ext cx="0" cy="408494"/>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直線コネクタ 130">
            <a:extLst>
              <a:ext uri="{FF2B5EF4-FFF2-40B4-BE49-F238E27FC236}">
                <a16:creationId xmlns:a16="http://schemas.microsoft.com/office/drawing/2014/main" id="{5DA68FCF-4808-9A39-78A9-8084C7ECF852}"/>
              </a:ext>
            </a:extLst>
          </p:cNvPr>
          <p:cNvCxnSpPr>
            <a:cxnSpLocks/>
            <a:stCxn id="104" idx="2"/>
            <a:endCxn id="99" idx="0"/>
          </p:cNvCxnSpPr>
          <p:nvPr/>
        </p:nvCxnSpPr>
        <p:spPr>
          <a:xfrm>
            <a:off x="4997204" y="4110666"/>
            <a:ext cx="0" cy="408494"/>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コネクタ: カギ線 131">
            <a:extLst>
              <a:ext uri="{FF2B5EF4-FFF2-40B4-BE49-F238E27FC236}">
                <a16:creationId xmlns:a16="http://schemas.microsoft.com/office/drawing/2014/main" id="{26995E98-CAC6-7C16-8707-7B70F28F4F5D}"/>
              </a:ext>
            </a:extLst>
          </p:cNvPr>
          <p:cNvCxnSpPr>
            <a:cxnSpLocks/>
            <a:stCxn id="92" idx="0"/>
            <a:endCxn id="111" idx="2"/>
          </p:cNvCxnSpPr>
          <p:nvPr/>
        </p:nvCxnSpPr>
        <p:spPr>
          <a:xfrm rot="16200000" flipV="1">
            <a:off x="7137750" y="4092501"/>
            <a:ext cx="2245425" cy="444824"/>
          </a:xfrm>
          <a:prstGeom prst="bentConnector3">
            <a:avLst>
              <a:gd name="adj1" fmla="val 90327"/>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コネクタ: カギ線 133">
            <a:extLst>
              <a:ext uri="{FF2B5EF4-FFF2-40B4-BE49-F238E27FC236}">
                <a16:creationId xmlns:a16="http://schemas.microsoft.com/office/drawing/2014/main" id="{5381D45D-F860-596D-938C-411CE62808F1}"/>
              </a:ext>
            </a:extLst>
          </p:cNvPr>
          <p:cNvCxnSpPr>
            <a:cxnSpLocks/>
            <a:stCxn id="106" idx="0"/>
            <a:endCxn id="111" idx="2"/>
          </p:cNvCxnSpPr>
          <p:nvPr/>
        </p:nvCxnSpPr>
        <p:spPr>
          <a:xfrm rot="5400000" flipH="1" flipV="1">
            <a:off x="7621809" y="3184452"/>
            <a:ext cx="408493" cy="423990"/>
          </a:xfrm>
          <a:prstGeom prst="bentConnector3">
            <a:avLst>
              <a:gd name="adj1" fmla="val 4348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コネクタ: カギ線 134">
            <a:extLst>
              <a:ext uri="{FF2B5EF4-FFF2-40B4-BE49-F238E27FC236}">
                <a16:creationId xmlns:a16="http://schemas.microsoft.com/office/drawing/2014/main" id="{788D3C79-D7B4-CDDB-18BA-435D4EED6DF0}"/>
              </a:ext>
            </a:extLst>
          </p:cNvPr>
          <p:cNvCxnSpPr>
            <a:cxnSpLocks/>
            <a:stCxn id="161" idx="0"/>
            <a:endCxn id="111" idx="2"/>
          </p:cNvCxnSpPr>
          <p:nvPr/>
        </p:nvCxnSpPr>
        <p:spPr>
          <a:xfrm rot="5400000" flipH="1" flipV="1">
            <a:off x="6733711" y="3214822"/>
            <a:ext cx="1326960" cy="1281717"/>
          </a:xfrm>
          <a:prstGeom prst="bentConnector3">
            <a:avLst>
              <a:gd name="adj1" fmla="val 8313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コネクタ: カギ線 135">
            <a:extLst>
              <a:ext uri="{FF2B5EF4-FFF2-40B4-BE49-F238E27FC236}">
                <a16:creationId xmlns:a16="http://schemas.microsoft.com/office/drawing/2014/main" id="{B4862E73-1FEE-F5EA-D3F6-4E2EB0836BB9}"/>
              </a:ext>
            </a:extLst>
          </p:cNvPr>
          <p:cNvCxnSpPr>
            <a:cxnSpLocks/>
            <a:stCxn id="93" idx="0"/>
            <a:endCxn id="111" idx="2"/>
          </p:cNvCxnSpPr>
          <p:nvPr/>
        </p:nvCxnSpPr>
        <p:spPr>
          <a:xfrm rot="16200000" flipV="1">
            <a:off x="7572157" y="3658094"/>
            <a:ext cx="2245425" cy="1313637"/>
          </a:xfrm>
          <a:prstGeom prst="bentConnector3">
            <a:avLst>
              <a:gd name="adj1" fmla="val 90299"/>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7" name="正方形/長方形 136">
            <a:extLst>
              <a:ext uri="{FF2B5EF4-FFF2-40B4-BE49-F238E27FC236}">
                <a16:creationId xmlns:a16="http://schemas.microsoft.com/office/drawing/2014/main" id="{4DC90EBD-FB7E-81E6-68CA-895889E3A2E6}"/>
              </a:ext>
            </a:extLst>
          </p:cNvPr>
          <p:cNvSpPr/>
          <p:nvPr/>
        </p:nvSpPr>
        <p:spPr>
          <a:xfrm>
            <a:off x="4616756" y="1546584"/>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金融サービス本部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マネージング・ディレクター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早川　逸平</a:t>
            </a:r>
            <a:endParaRPr kumimoji="1" lang="en-US" altLang="ja-JP" sz="9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138" name="コネクタ: カギ線 137">
            <a:extLst>
              <a:ext uri="{FF2B5EF4-FFF2-40B4-BE49-F238E27FC236}">
                <a16:creationId xmlns:a16="http://schemas.microsoft.com/office/drawing/2014/main" id="{B89EB7EB-1493-CEE5-082D-156C71A184D1}"/>
              </a:ext>
            </a:extLst>
          </p:cNvPr>
          <p:cNvCxnSpPr>
            <a:cxnSpLocks/>
            <a:stCxn id="107" idx="0"/>
            <a:endCxn id="137" idx="2"/>
          </p:cNvCxnSpPr>
          <p:nvPr/>
        </p:nvCxnSpPr>
        <p:spPr>
          <a:xfrm rot="5400000" flipH="1" flipV="1">
            <a:off x="2512338" y="197359"/>
            <a:ext cx="625670" cy="4344066"/>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コネクタ: カギ線 138">
            <a:extLst>
              <a:ext uri="{FF2B5EF4-FFF2-40B4-BE49-F238E27FC236}">
                <a16:creationId xmlns:a16="http://schemas.microsoft.com/office/drawing/2014/main" id="{C9CEBE75-1F5D-EDE6-C575-91A744AB08FE}"/>
              </a:ext>
            </a:extLst>
          </p:cNvPr>
          <p:cNvCxnSpPr>
            <a:cxnSpLocks/>
            <a:stCxn id="108" idx="0"/>
            <a:endCxn id="137" idx="2"/>
          </p:cNvCxnSpPr>
          <p:nvPr/>
        </p:nvCxnSpPr>
        <p:spPr>
          <a:xfrm rot="5400000" flipH="1" flipV="1">
            <a:off x="2946744" y="631766"/>
            <a:ext cx="625670" cy="3475253"/>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コネクタ: カギ線 139">
            <a:extLst>
              <a:ext uri="{FF2B5EF4-FFF2-40B4-BE49-F238E27FC236}">
                <a16:creationId xmlns:a16="http://schemas.microsoft.com/office/drawing/2014/main" id="{838E0A28-CDD2-9740-E71D-2F0522982915}"/>
              </a:ext>
            </a:extLst>
          </p:cNvPr>
          <p:cNvCxnSpPr>
            <a:cxnSpLocks/>
            <a:stCxn id="109" idx="0"/>
            <a:endCxn id="137" idx="2"/>
          </p:cNvCxnSpPr>
          <p:nvPr/>
        </p:nvCxnSpPr>
        <p:spPr>
          <a:xfrm rot="5400000" flipH="1" flipV="1">
            <a:off x="4032761" y="1717782"/>
            <a:ext cx="625670" cy="1303220"/>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コネクタ: カギ線 140">
            <a:extLst>
              <a:ext uri="{FF2B5EF4-FFF2-40B4-BE49-F238E27FC236}">
                <a16:creationId xmlns:a16="http://schemas.microsoft.com/office/drawing/2014/main" id="{697BAB1F-FD39-146C-829F-0FCEBBCE9EBF}"/>
              </a:ext>
            </a:extLst>
          </p:cNvPr>
          <p:cNvCxnSpPr>
            <a:cxnSpLocks/>
            <a:stCxn id="110" idx="0"/>
            <a:endCxn id="137" idx="2"/>
          </p:cNvCxnSpPr>
          <p:nvPr/>
        </p:nvCxnSpPr>
        <p:spPr>
          <a:xfrm rot="16200000" flipV="1">
            <a:off x="5118777" y="1934986"/>
            <a:ext cx="625670" cy="868812"/>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コネクタ: カギ線 141">
            <a:extLst>
              <a:ext uri="{FF2B5EF4-FFF2-40B4-BE49-F238E27FC236}">
                <a16:creationId xmlns:a16="http://schemas.microsoft.com/office/drawing/2014/main" id="{F490B741-CB4E-6F1F-6F45-3E38B1003ADD}"/>
              </a:ext>
            </a:extLst>
          </p:cNvPr>
          <p:cNvCxnSpPr>
            <a:cxnSpLocks/>
            <a:stCxn id="111" idx="0"/>
            <a:endCxn id="137" idx="2"/>
          </p:cNvCxnSpPr>
          <p:nvPr/>
        </p:nvCxnSpPr>
        <p:spPr>
          <a:xfrm rot="16200000" flipV="1">
            <a:off x="6204794" y="848969"/>
            <a:ext cx="625670" cy="3040845"/>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43" name="グループ化 142">
            <a:extLst>
              <a:ext uri="{FF2B5EF4-FFF2-40B4-BE49-F238E27FC236}">
                <a16:creationId xmlns:a16="http://schemas.microsoft.com/office/drawing/2014/main" id="{76F7F31B-DBC8-B040-18A3-CEEF29FC9231}"/>
              </a:ext>
            </a:extLst>
          </p:cNvPr>
          <p:cNvGrpSpPr/>
          <p:nvPr/>
        </p:nvGrpSpPr>
        <p:grpSpPr>
          <a:xfrm>
            <a:off x="8777028" y="1406857"/>
            <a:ext cx="993630" cy="547939"/>
            <a:chOff x="-817092" y="733148"/>
            <a:chExt cx="993630" cy="602733"/>
          </a:xfrm>
        </p:grpSpPr>
        <p:sp>
          <p:nvSpPr>
            <p:cNvPr id="144" name="正方形/長方形 143">
              <a:extLst>
                <a:ext uri="{FF2B5EF4-FFF2-40B4-BE49-F238E27FC236}">
                  <a16:creationId xmlns:a16="http://schemas.microsoft.com/office/drawing/2014/main" id="{DE358085-9E53-5DF4-4028-5931B84A6FE6}"/>
                </a:ext>
              </a:extLst>
            </p:cNvPr>
            <p:cNvSpPr/>
            <p:nvPr/>
          </p:nvSpPr>
          <p:spPr>
            <a:xfrm>
              <a:off x="-817092" y="796609"/>
              <a:ext cx="993630" cy="539272"/>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noAutofit/>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1200" cap="none" spc="0" normalizeH="0" baseline="0" noProof="0">
                <a:ln>
                  <a:noFill/>
                </a:ln>
                <a:solidFill>
                  <a:prstClr val="black"/>
                </a:solidFill>
                <a:effectLst/>
                <a:uLnTx/>
                <a:uFillTx/>
                <a:latin typeface="Meiryo UI"/>
                <a:ea typeface="Meiryo UI"/>
                <a:cs typeface="+mn-cs"/>
              </a:endParaRPr>
            </a:p>
          </p:txBody>
        </p:sp>
        <p:sp>
          <p:nvSpPr>
            <p:cNvPr id="145" name="正方形/長方形 144">
              <a:extLst>
                <a:ext uri="{FF2B5EF4-FFF2-40B4-BE49-F238E27FC236}">
                  <a16:creationId xmlns:a16="http://schemas.microsoft.com/office/drawing/2014/main" id="{5C784AE2-8748-AD86-A061-874C06FF310F}"/>
                </a:ext>
              </a:extLst>
            </p:cNvPr>
            <p:cNvSpPr/>
            <p:nvPr/>
          </p:nvSpPr>
          <p:spPr>
            <a:xfrm>
              <a:off x="-757730" y="1086790"/>
              <a:ext cx="113104" cy="156804"/>
            </a:xfrm>
            <a:prstGeom prst="rect">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ja-JP" sz="1050">
                <a:solidFill>
                  <a:prstClr val="black"/>
                </a:solidFill>
                <a:latin typeface="Meiryo UI"/>
                <a:ea typeface="Meiryo UI"/>
              </a:endParaRPr>
            </a:p>
          </p:txBody>
        </p:sp>
        <p:sp>
          <p:nvSpPr>
            <p:cNvPr id="146" name="正方形/長方形 145">
              <a:extLst>
                <a:ext uri="{FF2B5EF4-FFF2-40B4-BE49-F238E27FC236}">
                  <a16:creationId xmlns:a16="http://schemas.microsoft.com/office/drawing/2014/main" id="{33A7951F-6A9A-4B55-AB18-CC98D0A40FE5}"/>
                </a:ext>
              </a:extLst>
            </p:cNvPr>
            <p:cNvSpPr/>
            <p:nvPr/>
          </p:nvSpPr>
          <p:spPr>
            <a:xfrm>
              <a:off x="-757730" y="894243"/>
              <a:ext cx="113104" cy="156804"/>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1200" cap="none" spc="0" normalizeH="0" baseline="0" noProof="0">
                <a:ln>
                  <a:noFill/>
                </a:ln>
                <a:solidFill>
                  <a:prstClr val="black"/>
                </a:solidFill>
                <a:effectLst/>
                <a:uLnTx/>
                <a:uFillTx/>
                <a:latin typeface="Meiryo UI"/>
                <a:ea typeface="Meiryo UI"/>
                <a:cs typeface="+mn-cs"/>
              </a:endParaRPr>
            </a:p>
          </p:txBody>
        </p:sp>
        <p:sp>
          <p:nvSpPr>
            <p:cNvPr id="147" name="正方形/長方形 146">
              <a:extLst>
                <a:ext uri="{FF2B5EF4-FFF2-40B4-BE49-F238E27FC236}">
                  <a16:creationId xmlns:a16="http://schemas.microsoft.com/office/drawing/2014/main" id="{E33238D7-169F-C6A3-5B0A-B07D3C3F0F67}"/>
                </a:ext>
              </a:extLst>
            </p:cNvPr>
            <p:cNvSpPr/>
            <p:nvPr/>
          </p:nvSpPr>
          <p:spPr>
            <a:xfrm>
              <a:off x="-595313" y="1086790"/>
              <a:ext cx="704851" cy="15680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50">
                  <a:solidFill>
                    <a:prstClr val="black"/>
                  </a:solidFill>
                  <a:latin typeface="Meiryo UI"/>
                  <a:ea typeface="Meiryo UI"/>
                </a:rPr>
                <a:t>MUSK</a:t>
              </a:r>
              <a:r>
                <a:rPr lang="ja-JP" altLang="en-US" sz="1050">
                  <a:solidFill>
                    <a:prstClr val="black"/>
                  </a:solidFill>
                  <a:latin typeface="Meiryo UI"/>
                  <a:ea typeface="Meiryo UI"/>
                </a:rPr>
                <a:t>契約</a:t>
              </a:r>
              <a:endParaRPr lang="en-US" altLang="ja-JP" sz="1050">
                <a:solidFill>
                  <a:prstClr val="black"/>
                </a:solidFill>
                <a:latin typeface="Meiryo UI"/>
                <a:ea typeface="Meiryo UI"/>
              </a:endParaRPr>
            </a:p>
          </p:txBody>
        </p:sp>
        <p:sp>
          <p:nvSpPr>
            <p:cNvPr id="148" name="正方形/長方形 147">
              <a:extLst>
                <a:ext uri="{FF2B5EF4-FFF2-40B4-BE49-F238E27FC236}">
                  <a16:creationId xmlns:a16="http://schemas.microsoft.com/office/drawing/2014/main" id="{93B04341-59E4-BACF-FAD6-5AEF68443FAB}"/>
                </a:ext>
              </a:extLst>
            </p:cNvPr>
            <p:cNvSpPr/>
            <p:nvPr/>
          </p:nvSpPr>
          <p:spPr>
            <a:xfrm>
              <a:off x="-595313" y="894243"/>
              <a:ext cx="704850" cy="15680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prstClr val="black"/>
                  </a:solidFill>
                  <a:effectLst/>
                  <a:uLnTx/>
                  <a:uFillTx/>
                  <a:latin typeface="Meiryo UI"/>
                  <a:ea typeface="Meiryo UI"/>
                  <a:cs typeface="+mn-cs"/>
                </a:rPr>
                <a:t>MTBJ</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契約</a:t>
              </a:r>
            </a:p>
          </p:txBody>
        </p:sp>
        <p:sp>
          <p:nvSpPr>
            <p:cNvPr id="149" name="正方形/長方形 148">
              <a:extLst>
                <a:ext uri="{FF2B5EF4-FFF2-40B4-BE49-F238E27FC236}">
                  <a16:creationId xmlns:a16="http://schemas.microsoft.com/office/drawing/2014/main" id="{E09DD062-C08B-17D2-A820-8FF1C5C558CE}"/>
                </a:ext>
              </a:extLst>
            </p:cNvPr>
            <p:cNvSpPr/>
            <p:nvPr/>
          </p:nvSpPr>
          <p:spPr>
            <a:xfrm>
              <a:off x="-757730" y="733148"/>
              <a:ext cx="316600" cy="129098"/>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凡例</a:t>
              </a:r>
            </a:p>
          </p:txBody>
        </p:sp>
      </p:grpSp>
      <p:sp>
        <p:nvSpPr>
          <p:cNvPr id="150" name="正方形/長方形 149">
            <a:extLst>
              <a:ext uri="{FF2B5EF4-FFF2-40B4-BE49-F238E27FC236}">
                <a16:creationId xmlns:a16="http://schemas.microsoft.com/office/drawing/2014/main" id="{FF620741-AF59-E5E9-B15A-2B2234439BAE}"/>
              </a:ext>
            </a:extLst>
          </p:cNvPr>
          <p:cNvSpPr/>
          <p:nvPr/>
        </p:nvSpPr>
        <p:spPr>
          <a:xfrm>
            <a:off x="276273" y="5437625"/>
            <a:ext cx="180000" cy="164759"/>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800" b="1">
                <a:solidFill>
                  <a:prstClr val="black"/>
                </a:solidFill>
                <a:latin typeface="Meiryo UI"/>
                <a:ea typeface="Meiryo UI"/>
              </a:rPr>
              <a:t>１</a:t>
            </a:r>
            <a:endParaRPr lang="en-US" altLang="ja-JP" sz="800" b="1">
              <a:solidFill>
                <a:prstClr val="black"/>
              </a:solidFill>
              <a:latin typeface="Meiryo UI"/>
              <a:ea typeface="Meiryo UI"/>
            </a:endParaRPr>
          </a:p>
        </p:txBody>
      </p:sp>
      <p:sp>
        <p:nvSpPr>
          <p:cNvPr id="151" name="正方形/長方形 150">
            <a:extLst>
              <a:ext uri="{FF2B5EF4-FFF2-40B4-BE49-F238E27FC236}">
                <a16:creationId xmlns:a16="http://schemas.microsoft.com/office/drawing/2014/main" id="{D86F77B1-8860-623E-113A-A0F2DF2EA11E}"/>
              </a:ext>
            </a:extLst>
          </p:cNvPr>
          <p:cNvSpPr/>
          <p:nvPr/>
        </p:nvSpPr>
        <p:spPr>
          <a:xfrm>
            <a:off x="1144728" y="5437625"/>
            <a:ext cx="180000" cy="164759"/>
          </a:xfrm>
          <a:prstGeom prst="rect">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b="1">
                <a:solidFill>
                  <a:prstClr val="black"/>
                </a:solidFill>
                <a:latin typeface="Meiryo UI"/>
                <a:ea typeface="Meiryo UI"/>
              </a:rPr>
              <a:t>2</a:t>
            </a:r>
          </a:p>
        </p:txBody>
      </p:sp>
      <p:sp>
        <p:nvSpPr>
          <p:cNvPr id="152" name="正方形/長方形 151">
            <a:extLst>
              <a:ext uri="{FF2B5EF4-FFF2-40B4-BE49-F238E27FC236}">
                <a16:creationId xmlns:a16="http://schemas.microsoft.com/office/drawing/2014/main" id="{A49AA49D-3EF1-11A4-2DE9-65121019AC24}"/>
              </a:ext>
            </a:extLst>
          </p:cNvPr>
          <p:cNvSpPr/>
          <p:nvPr/>
        </p:nvSpPr>
        <p:spPr>
          <a:xfrm>
            <a:off x="2013183" y="5437625"/>
            <a:ext cx="180000" cy="164759"/>
          </a:xfrm>
          <a:prstGeom prst="rect">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b="1">
                <a:solidFill>
                  <a:prstClr val="black"/>
                </a:solidFill>
                <a:latin typeface="Meiryo UI"/>
                <a:ea typeface="Meiryo UI"/>
              </a:rPr>
              <a:t>3</a:t>
            </a:r>
          </a:p>
        </p:txBody>
      </p:sp>
      <p:sp>
        <p:nvSpPr>
          <p:cNvPr id="153" name="正方形/長方形 152">
            <a:extLst>
              <a:ext uri="{FF2B5EF4-FFF2-40B4-BE49-F238E27FC236}">
                <a16:creationId xmlns:a16="http://schemas.microsoft.com/office/drawing/2014/main" id="{44536DE0-C6ED-E486-2D7E-D563D89C4EDE}"/>
              </a:ext>
            </a:extLst>
          </p:cNvPr>
          <p:cNvSpPr/>
          <p:nvPr/>
        </p:nvSpPr>
        <p:spPr>
          <a:xfrm>
            <a:off x="2881638" y="5437625"/>
            <a:ext cx="180000" cy="164759"/>
          </a:xfrm>
          <a:prstGeom prst="rect">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b="1">
                <a:solidFill>
                  <a:prstClr val="black"/>
                </a:solidFill>
                <a:latin typeface="Meiryo UI"/>
                <a:ea typeface="Meiryo UI"/>
              </a:rPr>
              <a:t>4</a:t>
            </a:r>
          </a:p>
        </p:txBody>
      </p:sp>
      <p:sp>
        <p:nvSpPr>
          <p:cNvPr id="154" name="正方形/長方形 153">
            <a:extLst>
              <a:ext uri="{FF2B5EF4-FFF2-40B4-BE49-F238E27FC236}">
                <a16:creationId xmlns:a16="http://schemas.microsoft.com/office/drawing/2014/main" id="{350491DA-A229-F974-183A-7C24E7C248BD}"/>
              </a:ext>
            </a:extLst>
          </p:cNvPr>
          <p:cNvSpPr/>
          <p:nvPr/>
        </p:nvSpPr>
        <p:spPr>
          <a:xfrm>
            <a:off x="3750093" y="5437625"/>
            <a:ext cx="180000" cy="164759"/>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b="1">
                <a:solidFill>
                  <a:prstClr val="black"/>
                </a:solidFill>
                <a:latin typeface="Meiryo UI"/>
                <a:ea typeface="Meiryo UI"/>
              </a:rPr>
              <a:t>5</a:t>
            </a:r>
          </a:p>
        </p:txBody>
      </p:sp>
      <p:sp>
        <p:nvSpPr>
          <p:cNvPr id="155" name="正方形/長方形 154">
            <a:extLst>
              <a:ext uri="{FF2B5EF4-FFF2-40B4-BE49-F238E27FC236}">
                <a16:creationId xmlns:a16="http://schemas.microsoft.com/office/drawing/2014/main" id="{A96DD306-7026-A588-7542-310CA0F022D9}"/>
              </a:ext>
            </a:extLst>
          </p:cNvPr>
          <p:cNvSpPr/>
          <p:nvPr/>
        </p:nvSpPr>
        <p:spPr>
          <a:xfrm>
            <a:off x="4618548" y="5437625"/>
            <a:ext cx="180000" cy="164759"/>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b="1">
                <a:solidFill>
                  <a:prstClr val="black"/>
                </a:solidFill>
                <a:latin typeface="Meiryo UI"/>
                <a:ea typeface="Meiryo UI"/>
              </a:rPr>
              <a:t>6</a:t>
            </a:r>
          </a:p>
        </p:txBody>
      </p:sp>
      <p:sp>
        <p:nvSpPr>
          <p:cNvPr id="156" name="正方形/長方形 155">
            <a:extLst>
              <a:ext uri="{FF2B5EF4-FFF2-40B4-BE49-F238E27FC236}">
                <a16:creationId xmlns:a16="http://schemas.microsoft.com/office/drawing/2014/main" id="{C67FB9C3-D016-5CF4-4D2E-37E7B0EA398B}"/>
              </a:ext>
            </a:extLst>
          </p:cNvPr>
          <p:cNvSpPr/>
          <p:nvPr/>
        </p:nvSpPr>
        <p:spPr>
          <a:xfrm>
            <a:off x="5487003" y="5437625"/>
            <a:ext cx="180000" cy="164759"/>
          </a:xfrm>
          <a:prstGeom prst="rect">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b="1">
                <a:solidFill>
                  <a:prstClr val="black"/>
                </a:solidFill>
                <a:latin typeface="Meiryo UI"/>
                <a:ea typeface="Meiryo UI"/>
              </a:rPr>
              <a:t>7</a:t>
            </a:r>
          </a:p>
        </p:txBody>
      </p:sp>
      <p:sp>
        <p:nvSpPr>
          <p:cNvPr id="157" name="正方形/長方形 156">
            <a:extLst>
              <a:ext uri="{FF2B5EF4-FFF2-40B4-BE49-F238E27FC236}">
                <a16:creationId xmlns:a16="http://schemas.microsoft.com/office/drawing/2014/main" id="{432787DC-4F03-8D99-3E3D-7ABF8866F28A}"/>
              </a:ext>
            </a:extLst>
          </p:cNvPr>
          <p:cNvSpPr/>
          <p:nvPr/>
        </p:nvSpPr>
        <p:spPr>
          <a:xfrm>
            <a:off x="7234688" y="5437625"/>
            <a:ext cx="180000" cy="164759"/>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b="1">
                <a:solidFill>
                  <a:prstClr val="black"/>
                </a:solidFill>
                <a:latin typeface="Meiryo UI"/>
                <a:ea typeface="Meiryo UI"/>
              </a:rPr>
              <a:t>9</a:t>
            </a:r>
          </a:p>
        </p:txBody>
      </p:sp>
      <p:sp>
        <p:nvSpPr>
          <p:cNvPr id="158" name="正方形/長方形 157">
            <a:extLst>
              <a:ext uri="{FF2B5EF4-FFF2-40B4-BE49-F238E27FC236}">
                <a16:creationId xmlns:a16="http://schemas.microsoft.com/office/drawing/2014/main" id="{33D09880-8C1D-8F52-09F5-7F643FC5F6EA}"/>
              </a:ext>
            </a:extLst>
          </p:cNvPr>
          <p:cNvSpPr/>
          <p:nvPr/>
        </p:nvSpPr>
        <p:spPr>
          <a:xfrm>
            <a:off x="8103143" y="5437625"/>
            <a:ext cx="180000" cy="164759"/>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b="1">
                <a:solidFill>
                  <a:prstClr val="black"/>
                </a:solidFill>
                <a:latin typeface="Meiryo UI"/>
                <a:ea typeface="Meiryo UI"/>
              </a:rPr>
              <a:t>10</a:t>
            </a:r>
          </a:p>
        </p:txBody>
      </p:sp>
      <p:sp>
        <p:nvSpPr>
          <p:cNvPr id="159" name="正方形/長方形 158">
            <a:extLst>
              <a:ext uri="{FF2B5EF4-FFF2-40B4-BE49-F238E27FC236}">
                <a16:creationId xmlns:a16="http://schemas.microsoft.com/office/drawing/2014/main" id="{53E2A55F-0F50-AD25-EBCE-6D860618F160}"/>
              </a:ext>
            </a:extLst>
          </p:cNvPr>
          <p:cNvSpPr/>
          <p:nvPr/>
        </p:nvSpPr>
        <p:spPr>
          <a:xfrm>
            <a:off x="8971598" y="5437625"/>
            <a:ext cx="180000" cy="164759"/>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b="1">
                <a:solidFill>
                  <a:prstClr val="black"/>
                </a:solidFill>
                <a:latin typeface="Meiryo UI"/>
                <a:ea typeface="Meiryo UI"/>
              </a:rPr>
              <a:t>11</a:t>
            </a:r>
          </a:p>
        </p:txBody>
      </p:sp>
      <p:sp>
        <p:nvSpPr>
          <p:cNvPr id="160" name="正方形/長方形 159">
            <a:extLst>
              <a:ext uri="{FF2B5EF4-FFF2-40B4-BE49-F238E27FC236}">
                <a16:creationId xmlns:a16="http://schemas.microsoft.com/office/drawing/2014/main" id="{A773BC79-1E0D-3CCB-A059-BC5EFA3ABE18}"/>
              </a:ext>
            </a:extLst>
          </p:cNvPr>
          <p:cNvSpPr/>
          <p:nvPr/>
        </p:nvSpPr>
        <p:spPr>
          <a:xfrm>
            <a:off x="6375883" y="5437625"/>
            <a:ext cx="760899" cy="625671"/>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データビジネス</a:t>
            </a: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prstClr val="black"/>
                </a:solidFill>
                <a:latin typeface="Meiryo UI"/>
                <a:ea typeface="Meiryo UI"/>
              </a:rPr>
              <a:t>PM</a:t>
            </a:r>
            <a:r>
              <a:rPr lang="ja-JP" altLang="en-US" sz="1000">
                <a:solidFill>
                  <a:prstClr val="black"/>
                </a:solidFill>
                <a:latin typeface="Meiryo UI"/>
                <a:ea typeface="Meiryo UI"/>
              </a:rPr>
              <a:t>・</a:t>
            </a:r>
            <a:r>
              <a:rPr lang="en-US" altLang="ja-JP" sz="1000">
                <a:solidFill>
                  <a:prstClr val="black"/>
                </a:solidFill>
                <a:latin typeface="Meiryo UI"/>
                <a:ea typeface="Meiryo UI"/>
              </a:rPr>
              <a:t>PL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補佐支援</a:t>
            </a:r>
          </a:p>
        </p:txBody>
      </p:sp>
      <p:sp>
        <p:nvSpPr>
          <p:cNvPr id="161" name="正方形/長方形 160">
            <a:extLst>
              <a:ext uri="{FF2B5EF4-FFF2-40B4-BE49-F238E27FC236}">
                <a16:creationId xmlns:a16="http://schemas.microsoft.com/office/drawing/2014/main" id="{C71D8F65-8C4F-C019-6F41-04B8E206D42E}"/>
              </a:ext>
            </a:extLst>
          </p:cNvPr>
          <p:cNvSpPr/>
          <p:nvPr/>
        </p:nvSpPr>
        <p:spPr>
          <a:xfrm>
            <a:off x="6375884" y="4519160"/>
            <a:ext cx="760898" cy="5099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10800" tIns="10800" rIns="10800" bIns="10800" rtlCol="0" anchor="ctr">
            <a:noAutofit/>
          </a:bodyPr>
          <a:lstStyle/>
          <a:p>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ビジネス</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kumimoji="1" lang="ja-JP" altLang="en-US" sz="600" b="0" i="0" u="none" strike="noStrike" kern="1200" cap="none" spc="0" normalizeH="0" baseline="0" noProof="0">
                <a:ln>
                  <a:noFill/>
                </a:ln>
                <a:solidFill>
                  <a:prstClr val="white">
                    <a:lumMod val="50000"/>
                  </a:prstClr>
                </a:solidFill>
                <a:effectLst/>
                <a:uLnTx/>
                <a:uFillTx/>
                <a:latin typeface="Meiryo UI"/>
                <a:ea typeface="Meiryo UI"/>
                <a:cs typeface="+mn-cs"/>
              </a:rPr>
              <a:t>コンサルティング本部</a:t>
            </a:r>
            <a:br>
              <a:rPr kumimoji="1" lang="en-US" altLang="ja-JP" sz="600" b="0" i="0" u="none" strike="noStrike" kern="1200" cap="none" spc="0" normalizeH="0" baseline="0" noProof="0">
                <a:ln>
                  <a:noFill/>
                </a:ln>
                <a:solidFill>
                  <a:prstClr val="white">
                    <a:lumMod val="50000"/>
                  </a:prstClr>
                </a:solidFill>
                <a:effectLst/>
                <a:uLnTx/>
                <a:uFillTx/>
                <a:latin typeface="Meiryo UI"/>
                <a:ea typeface="Meiryo UI"/>
                <a:cs typeface="+mn-cs"/>
              </a:rPr>
            </a:br>
            <a:r>
              <a:rPr lang="ja-JP" altLang="en-US" sz="600">
                <a:solidFill>
                  <a:prstClr val="white">
                    <a:lumMod val="50000"/>
                  </a:prstClr>
                </a:solidFill>
                <a:latin typeface="Meiryo UI"/>
                <a:ea typeface="Meiryo UI"/>
              </a:rPr>
              <a:t>マネージャー</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a:p>
            <a:r>
              <a:rPr lang="ja-JP" altLang="en-US" sz="900">
                <a:solidFill>
                  <a:srgbClr val="000000"/>
                </a:solidFill>
                <a:latin typeface="Meiryo UI" panose="020B0604030504040204" pitchFamily="50" charset="-128"/>
                <a:ea typeface="Meiryo UI" panose="020B0604030504040204" pitchFamily="50" charset="-128"/>
              </a:rPr>
              <a:t>丸橋</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康治</a:t>
            </a:r>
            <a:endPar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162" name="直線コネクタ 161">
            <a:extLst>
              <a:ext uri="{FF2B5EF4-FFF2-40B4-BE49-F238E27FC236}">
                <a16:creationId xmlns:a16="http://schemas.microsoft.com/office/drawing/2014/main" id="{117124A1-F16E-2658-2FCA-0ABEC6B7EDE0}"/>
              </a:ext>
            </a:extLst>
          </p:cNvPr>
          <p:cNvCxnSpPr>
            <a:cxnSpLocks/>
            <a:stCxn id="161" idx="2"/>
            <a:endCxn id="160" idx="0"/>
          </p:cNvCxnSpPr>
          <p:nvPr/>
        </p:nvCxnSpPr>
        <p:spPr>
          <a:xfrm>
            <a:off x="6756333" y="5029132"/>
            <a:ext cx="0" cy="408493"/>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3" name="正方形/長方形 162">
            <a:extLst>
              <a:ext uri="{FF2B5EF4-FFF2-40B4-BE49-F238E27FC236}">
                <a16:creationId xmlns:a16="http://schemas.microsoft.com/office/drawing/2014/main" id="{1F40F724-5BCF-3B86-27CE-1D7F78DD7C79}"/>
              </a:ext>
            </a:extLst>
          </p:cNvPr>
          <p:cNvSpPr/>
          <p:nvPr/>
        </p:nvSpPr>
        <p:spPr>
          <a:xfrm>
            <a:off x="6375883" y="5437625"/>
            <a:ext cx="180000" cy="164759"/>
          </a:xfrm>
          <a:prstGeom prst="rect">
            <a:avLst/>
          </a:prstGeom>
          <a:solidFill>
            <a:srgbClr val="FFDDD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b="1">
                <a:solidFill>
                  <a:prstClr val="black"/>
                </a:solidFill>
                <a:latin typeface="Meiryo UI"/>
                <a:ea typeface="Meiryo UI"/>
              </a:rPr>
              <a:t>8</a:t>
            </a:r>
          </a:p>
        </p:txBody>
      </p:sp>
      <p:grpSp>
        <p:nvGrpSpPr>
          <p:cNvPr id="180" name="グループ化 179">
            <a:extLst>
              <a:ext uri="{FF2B5EF4-FFF2-40B4-BE49-F238E27FC236}">
                <a16:creationId xmlns:a16="http://schemas.microsoft.com/office/drawing/2014/main" id="{7C22F0EE-2EEA-DC9A-3C74-50FAD1F17C25}"/>
              </a:ext>
            </a:extLst>
          </p:cNvPr>
          <p:cNvGrpSpPr/>
          <p:nvPr/>
        </p:nvGrpSpPr>
        <p:grpSpPr>
          <a:xfrm>
            <a:off x="276273" y="6335118"/>
            <a:ext cx="759600" cy="153381"/>
            <a:chOff x="276273" y="6475064"/>
            <a:chExt cx="759600" cy="153381"/>
          </a:xfrm>
        </p:grpSpPr>
        <p:cxnSp>
          <p:nvCxnSpPr>
            <p:cNvPr id="174" name="直線矢印コネクタ 173">
              <a:extLst>
                <a:ext uri="{FF2B5EF4-FFF2-40B4-BE49-F238E27FC236}">
                  <a16:creationId xmlns:a16="http://schemas.microsoft.com/office/drawing/2014/main" id="{2449F6AE-4448-6345-6DD4-01412B5E9569}"/>
                </a:ext>
              </a:extLst>
            </p:cNvPr>
            <p:cNvCxnSpPr>
              <a:cxnSpLocks/>
            </p:cNvCxnSpPr>
            <p:nvPr/>
          </p:nvCxnSpPr>
          <p:spPr bwMode="auto">
            <a:xfrm>
              <a:off x="276273" y="6539054"/>
              <a:ext cx="7596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168" name="正方形/長方形 167">
              <a:extLst>
                <a:ext uri="{FF2B5EF4-FFF2-40B4-BE49-F238E27FC236}">
                  <a16:creationId xmlns:a16="http://schemas.microsoft.com/office/drawing/2014/main" id="{34FDF08F-09A4-A015-D848-59D237B6DF5A}"/>
                </a:ext>
              </a:extLst>
            </p:cNvPr>
            <p:cNvSpPr/>
            <p:nvPr/>
          </p:nvSpPr>
          <p:spPr bwMode="auto">
            <a:xfrm>
              <a:off x="579355" y="6475064"/>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B</a:t>
              </a:r>
            </a:p>
          </p:txBody>
        </p:sp>
      </p:grpSp>
      <p:grpSp>
        <p:nvGrpSpPr>
          <p:cNvPr id="176" name="グループ化 175">
            <a:extLst>
              <a:ext uri="{FF2B5EF4-FFF2-40B4-BE49-F238E27FC236}">
                <a16:creationId xmlns:a16="http://schemas.microsoft.com/office/drawing/2014/main" id="{40EA47F7-BB26-A803-B57F-1E0C515F7C58}"/>
              </a:ext>
            </a:extLst>
          </p:cNvPr>
          <p:cNvGrpSpPr/>
          <p:nvPr/>
        </p:nvGrpSpPr>
        <p:grpSpPr>
          <a:xfrm>
            <a:off x="276273" y="6643339"/>
            <a:ext cx="759600" cy="153381"/>
            <a:chOff x="276273" y="6643339"/>
            <a:chExt cx="759600" cy="153381"/>
          </a:xfrm>
        </p:grpSpPr>
        <p:cxnSp>
          <p:nvCxnSpPr>
            <p:cNvPr id="175" name="直線矢印コネクタ 174">
              <a:extLst>
                <a:ext uri="{FF2B5EF4-FFF2-40B4-BE49-F238E27FC236}">
                  <a16:creationId xmlns:a16="http://schemas.microsoft.com/office/drawing/2014/main" id="{A4EF87DF-FAFE-3613-5741-3F19F791D830}"/>
                </a:ext>
              </a:extLst>
            </p:cNvPr>
            <p:cNvCxnSpPr>
              <a:cxnSpLocks/>
            </p:cNvCxnSpPr>
            <p:nvPr/>
          </p:nvCxnSpPr>
          <p:spPr bwMode="auto">
            <a:xfrm>
              <a:off x="276273" y="6720029"/>
              <a:ext cx="7596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169" name="正方形/長方形 168">
              <a:extLst>
                <a:ext uri="{FF2B5EF4-FFF2-40B4-BE49-F238E27FC236}">
                  <a16:creationId xmlns:a16="http://schemas.microsoft.com/office/drawing/2014/main" id="{F0D30B75-20C2-ED1B-815D-3EFC5246DC0D}"/>
                </a:ext>
              </a:extLst>
            </p:cNvPr>
            <p:cNvSpPr/>
            <p:nvPr/>
          </p:nvSpPr>
          <p:spPr bwMode="auto">
            <a:xfrm>
              <a:off x="579355" y="6643339"/>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D</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grpSp>
      <p:grpSp>
        <p:nvGrpSpPr>
          <p:cNvPr id="182" name="グループ化 181">
            <a:extLst>
              <a:ext uri="{FF2B5EF4-FFF2-40B4-BE49-F238E27FC236}">
                <a16:creationId xmlns:a16="http://schemas.microsoft.com/office/drawing/2014/main" id="{44EA847A-E7C9-5556-F782-D1EF4AF5AA48}"/>
              </a:ext>
            </a:extLst>
          </p:cNvPr>
          <p:cNvGrpSpPr/>
          <p:nvPr/>
        </p:nvGrpSpPr>
        <p:grpSpPr>
          <a:xfrm>
            <a:off x="276272" y="6138514"/>
            <a:ext cx="759600" cy="153381"/>
            <a:chOff x="276272" y="6138514"/>
            <a:chExt cx="759600" cy="153381"/>
          </a:xfrm>
        </p:grpSpPr>
        <p:cxnSp>
          <p:nvCxnSpPr>
            <p:cNvPr id="171" name="直線矢印コネクタ 170">
              <a:extLst>
                <a:ext uri="{FF2B5EF4-FFF2-40B4-BE49-F238E27FC236}">
                  <a16:creationId xmlns:a16="http://schemas.microsoft.com/office/drawing/2014/main" id="{20C3772E-23FE-46ED-ACBC-06D990899027}"/>
                </a:ext>
              </a:extLst>
            </p:cNvPr>
            <p:cNvCxnSpPr>
              <a:cxnSpLocks/>
            </p:cNvCxnSpPr>
            <p:nvPr/>
          </p:nvCxnSpPr>
          <p:spPr bwMode="auto">
            <a:xfrm>
              <a:off x="276272" y="6215204"/>
              <a:ext cx="7596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164" name="正方形/長方形 163">
              <a:extLst>
                <a:ext uri="{FF2B5EF4-FFF2-40B4-BE49-F238E27FC236}">
                  <a16:creationId xmlns:a16="http://schemas.microsoft.com/office/drawing/2014/main" id="{6AEA524E-2A27-6763-13D3-3320161750C5}"/>
                </a:ext>
              </a:extLst>
            </p:cNvPr>
            <p:cNvSpPr/>
            <p:nvPr/>
          </p:nvSpPr>
          <p:spPr bwMode="auto">
            <a:xfrm>
              <a:off x="579355" y="6138514"/>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A</a:t>
              </a:r>
            </a:p>
          </p:txBody>
        </p:sp>
      </p:grpSp>
      <p:grpSp>
        <p:nvGrpSpPr>
          <p:cNvPr id="181" name="グループ化 180">
            <a:extLst>
              <a:ext uri="{FF2B5EF4-FFF2-40B4-BE49-F238E27FC236}">
                <a16:creationId xmlns:a16="http://schemas.microsoft.com/office/drawing/2014/main" id="{1A133C12-14FC-4982-3207-D34AEE5A7980}"/>
              </a:ext>
            </a:extLst>
          </p:cNvPr>
          <p:cNvGrpSpPr/>
          <p:nvPr/>
        </p:nvGrpSpPr>
        <p:grpSpPr>
          <a:xfrm>
            <a:off x="276272" y="6475064"/>
            <a:ext cx="3362400" cy="153381"/>
            <a:chOff x="276272" y="6306789"/>
            <a:chExt cx="3362400" cy="153381"/>
          </a:xfrm>
        </p:grpSpPr>
        <p:cxnSp>
          <p:nvCxnSpPr>
            <p:cNvPr id="172" name="直線矢印コネクタ 171">
              <a:extLst>
                <a:ext uri="{FF2B5EF4-FFF2-40B4-BE49-F238E27FC236}">
                  <a16:creationId xmlns:a16="http://schemas.microsoft.com/office/drawing/2014/main" id="{985DECA2-5A5E-95A0-9EA4-E61D62B883C1}"/>
                </a:ext>
              </a:extLst>
            </p:cNvPr>
            <p:cNvCxnSpPr>
              <a:cxnSpLocks/>
            </p:cNvCxnSpPr>
            <p:nvPr/>
          </p:nvCxnSpPr>
          <p:spPr bwMode="auto">
            <a:xfrm>
              <a:off x="276272" y="6383479"/>
              <a:ext cx="33624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167" name="正方形/長方形 166">
              <a:extLst>
                <a:ext uri="{FF2B5EF4-FFF2-40B4-BE49-F238E27FC236}">
                  <a16:creationId xmlns:a16="http://schemas.microsoft.com/office/drawing/2014/main" id="{75F5BFC4-B1A9-BDD9-F63B-38FA87CF1494}"/>
                </a:ext>
              </a:extLst>
            </p:cNvPr>
            <p:cNvSpPr/>
            <p:nvPr/>
          </p:nvSpPr>
          <p:spPr bwMode="auto">
            <a:xfrm>
              <a:off x="1878991" y="6306789"/>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C</a:t>
              </a:r>
            </a:p>
          </p:txBody>
        </p:sp>
      </p:grpSp>
      <p:grpSp>
        <p:nvGrpSpPr>
          <p:cNvPr id="177" name="グループ化 176">
            <a:extLst>
              <a:ext uri="{FF2B5EF4-FFF2-40B4-BE49-F238E27FC236}">
                <a16:creationId xmlns:a16="http://schemas.microsoft.com/office/drawing/2014/main" id="{71BCE53E-B188-B886-85F2-403DA339E0AF}"/>
              </a:ext>
            </a:extLst>
          </p:cNvPr>
          <p:cNvGrpSpPr/>
          <p:nvPr/>
        </p:nvGrpSpPr>
        <p:grpSpPr>
          <a:xfrm>
            <a:off x="2011615" y="6643339"/>
            <a:ext cx="759600" cy="153381"/>
            <a:chOff x="276273" y="6643339"/>
            <a:chExt cx="759600" cy="153381"/>
          </a:xfrm>
        </p:grpSpPr>
        <p:cxnSp>
          <p:nvCxnSpPr>
            <p:cNvPr id="178" name="直線矢印コネクタ 177">
              <a:extLst>
                <a:ext uri="{FF2B5EF4-FFF2-40B4-BE49-F238E27FC236}">
                  <a16:creationId xmlns:a16="http://schemas.microsoft.com/office/drawing/2014/main" id="{463DEDFB-2D97-8BC4-C7EF-06F5CB4E66FA}"/>
                </a:ext>
              </a:extLst>
            </p:cNvPr>
            <p:cNvCxnSpPr>
              <a:cxnSpLocks/>
            </p:cNvCxnSpPr>
            <p:nvPr/>
          </p:nvCxnSpPr>
          <p:spPr bwMode="auto">
            <a:xfrm>
              <a:off x="276273" y="6720029"/>
              <a:ext cx="7596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179" name="正方形/長方形 178">
              <a:extLst>
                <a:ext uri="{FF2B5EF4-FFF2-40B4-BE49-F238E27FC236}">
                  <a16:creationId xmlns:a16="http://schemas.microsoft.com/office/drawing/2014/main" id="{91B38E0F-40D4-4BB9-C21B-CA5D8E975D41}"/>
                </a:ext>
              </a:extLst>
            </p:cNvPr>
            <p:cNvSpPr/>
            <p:nvPr/>
          </p:nvSpPr>
          <p:spPr bwMode="auto">
            <a:xfrm>
              <a:off x="579355" y="6643339"/>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D</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grpSp>
      <p:grpSp>
        <p:nvGrpSpPr>
          <p:cNvPr id="183" name="グループ化 182">
            <a:extLst>
              <a:ext uri="{FF2B5EF4-FFF2-40B4-BE49-F238E27FC236}">
                <a16:creationId xmlns:a16="http://schemas.microsoft.com/office/drawing/2014/main" id="{391AEBEF-20D7-9C09-9183-E9CE76BB5C5B}"/>
              </a:ext>
            </a:extLst>
          </p:cNvPr>
          <p:cNvGrpSpPr/>
          <p:nvPr/>
        </p:nvGrpSpPr>
        <p:grpSpPr>
          <a:xfrm>
            <a:off x="3749241" y="6138514"/>
            <a:ext cx="759600" cy="153381"/>
            <a:chOff x="276272" y="6138514"/>
            <a:chExt cx="759600" cy="153381"/>
          </a:xfrm>
        </p:grpSpPr>
        <p:cxnSp>
          <p:nvCxnSpPr>
            <p:cNvPr id="184" name="直線矢印コネクタ 183">
              <a:extLst>
                <a:ext uri="{FF2B5EF4-FFF2-40B4-BE49-F238E27FC236}">
                  <a16:creationId xmlns:a16="http://schemas.microsoft.com/office/drawing/2014/main" id="{A9FCD117-B822-6237-2549-D7D64FFF43E9}"/>
                </a:ext>
              </a:extLst>
            </p:cNvPr>
            <p:cNvCxnSpPr>
              <a:cxnSpLocks/>
            </p:cNvCxnSpPr>
            <p:nvPr/>
          </p:nvCxnSpPr>
          <p:spPr bwMode="auto">
            <a:xfrm>
              <a:off x="276272" y="6215204"/>
              <a:ext cx="7596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185" name="正方形/長方形 184">
              <a:extLst>
                <a:ext uri="{FF2B5EF4-FFF2-40B4-BE49-F238E27FC236}">
                  <a16:creationId xmlns:a16="http://schemas.microsoft.com/office/drawing/2014/main" id="{59B4D9A7-9E30-B59A-3F72-87384AB31601}"/>
                </a:ext>
              </a:extLst>
            </p:cNvPr>
            <p:cNvSpPr/>
            <p:nvPr/>
          </p:nvSpPr>
          <p:spPr bwMode="auto">
            <a:xfrm>
              <a:off x="579355" y="6138514"/>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F</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grpSp>
      <p:grpSp>
        <p:nvGrpSpPr>
          <p:cNvPr id="186" name="グループ化 185">
            <a:extLst>
              <a:ext uri="{FF2B5EF4-FFF2-40B4-BE49-F238E27FC236}">
                <a16:creationId xmlns:a16="http://schemas.microsoft.com/office/drawing/2014/main" id="{A815A737-3C59-F01A-2E84-5E434AC0EBD5}"/>
              </a:ext>
            </a:extLst>
          </p:cNvPr>
          <p:cNvGrpSpPr/>
          <p:nvPr/>
        </p:nvGrpSpPr>
        <p:grpSpPr>
          <a:xfrm>
            <a:off x="8972536" y="6138514"/>
            <a:ext cx="759600" cy="153381"/>
            <a:chOff x="276272" y="6138514"/>
            <a:chExt cx="759600" cy="153381"/>
          </a:xfrm>
        </p:grpSpPr>
        <p:cxnSp>
          <p:nvCxnSpPr>
            <p:cNvPr id="187" name="直線矢印コネクタ 186">
              <a:extLst>
                <a:ext uri="{FF2B5EF4-FFF2-40B4-BE49-F238E27FC236}">
                  <a16:creationId xmlns:a16="http://schemas.microsoft.com/office/drawing/2014/main" id="{58CD2AF4-6D58-98AF-C790-97516C58F02F}"/>
                </a:ext>
              </a:extLst>
            </p:cNvPr>
            <p:cNvCxnSpPr>
              <a:cxnSpLocks/>
            </p:cNvCxnSpPr>
            <p:nvPr/>
          </p:nvCxnSpPr>
          <p:spPr bwMode="auto">
            <a:xfrm>
              <a:off x="276272" y="6215204"/>
              <a:ext cx="7596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188" name="正方形/長方形 187">
              <a:extLst>
                <a:ext uri="{FF2B5EF4-FFF2-40B4-BE49-F238E27FC236}">
                  <a16:creationId xmlns:a16="http://schemas.microsoft.com/office/drawing/2014/main" id="{633897A4-4390-F0A6-751C-071D6ADE4EC8}"/>
                </a:ext>
              </a:extLst>
            </p:cNvPr>
            <p:cNvSpPr/>
            <p:nvPr/>
          </p:nvSpPr>
          <p:spPr bwMode="auto">
            <a:xfrm>
              <a:off x="579355" y="6138514"/>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F</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grpSp>
      <p:grpSp>
        <p:nvGrpSpPr>
          <p:cNvPr id="190" name="グループ化 189">
            <a:extLst>
              <a:ext uri="{FF2B5EF4-FFF2-40B4-BE49-F238E27FC236}">
                <a16:creationId xmlns:a16="http://schemas.microsoft.com/office/drawing/2014/main" id="{605BDC55-8D48-37B4-E99F-4618F76CC62C}"/>
              </a:ext>
            </a:extLst>
          </p:cNvPr>
          <p:cNvGrpSpPr/>
          <p:nvPr/>
        </p:nvGrpSpPr>
        <p:grpSpPr>
          <a:xfrm>
            <a:off x="4616755" y="6335118"/>
            <a:ext cx="2512708" cy="153381"/>
            <a:chOff x="276272" y="6306789"/>
            <a:chExt cx="3362400" cy="153381"/>
          </a:xfrm>
        </p:grpSpPr>
        <p:cxnSp>
          <p:nvCxnSpPr>
            <p:cNvPr id="191" name="直線矢印コネクタ 190">
              <a:extLst>
                <a:ext uri="{FF2B5EF4-FFF2-40B4-BE49-F238E27FC236}">
                  <a16:creationId xmlns:a16="http://schemas.microsoft.com/office/drawing/2014/main" id="{54EFFA95-50FF-5384-DF1A-232990D3D402}"/>
                </a:ext>
              </a:extLst>
            </p:cNvPr>
            <p:cNvCxnSpPr>
              <a:cxnSpLocks/>
            </p:cNvCxnSpPr>
            <p:nvPr/>
          </p:nvCxnSpPr>
          <p:spPr bwMode="auto">
            <a:xfrm>
              <a:off x="276272" y="6383479"/>
              <a:ext cx="33624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192" name="正方形/長方形 191">
              <a:extLst>
                <a:ext uri="{FF2B5EF4-FFF2-40B4-BE49-F238E27FC236}">
                  <a16:creationId xmlns:a16="http://schemas.microsoft.com/office/drawing/2014/main" id="{EF902E25-42BD-B328-38D5-6CB3024A9E9E}"/>
                </a:ext>
              </a:extLst>
            </p:cNvPr>
            <p:cNvSpPr/>
            <p:nvPr/>
          </p:nvSpPr>
          <p:spPr bwMode="auto">
            <a:xfrm>
              <a:off x="1878991" y="6306789"/>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C</a:t>
              </a:r>
            </a:p>
          </p:txBody>
        </p:sp>
      </p:grpSp>
      <p:grpSp>
        <p:nvGrpSpPr>
          <p:cNvPr id="193" name="グループ化 192">
            <a:extLst>
              <a:ext uri="{FF2B5EF4-FFF2-40B4-BE49-F238E27FC236}">
                <a16:creationId xmlns:a16="http://schemas.microsoft.com/office/drawing/2014/main" id="{32DCE59E-C822-3DB0-A8DA-5F0FE7144188}"/>
              </a:ext>
            </a:extLst>
          </p:cNvPr>
          <p:cNvGrpSpPr/>
          <p:nvPr/>
        </p:nvGrpSpPr>
        <p:grpSpPr>
          <a:xfrm>
            <a:off x="8102424" y="6335118"/>
            <a:ext cx="759600" cy="153381"/>
            <a:chOff x="276272" y="6138514"/>
            <a:chExt cx="759600" cy="153381"/>
          </a:xfrm>
        </p:grpSpPr>
        <p:cxnSp>
          <p:nvCxnSpPr>
            <p:cNvPr id="194" name="直線矢印コネクタ 193">
              <a:extLst>
                <a:ext uri="{FF2B5EF4-FFF2-40B4-BE49-F238E27FC236}">
                  <a16:creationId xmlns:a16="http://schemas.microsoft.com/office/drawing/2014/main" id="{F764EFA8-ECF4-55F5-EEEE-BC49ADD01AC6}"/>
                </a:ext>
              </a:extLst>
            </p:cNvPr>
            <p:cNvCxnSpPr>
              <a:cxnSpLocks/>
            </p:cNvCxnSpPr>
            <p:nvPr/>
          </p:nvCxnSpPr>
          <p:spPr bwMode="auto">
            <a:xfrm>
              <a:off x="276272" y="6215204"/>
              <a:ext cx="7596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195" name="正方形/長方形 194">
              <a:extLst>
                <a:ext uri="{FF2B5EF4-FFF2-40B4-BE49-F238E27FC236}">
                  <a16:creationId xmlns:a16="http://schemas.microsoft.com/office/drawing/2014/main" id="{9E3869B8-EF68-8BD9-561D-01CDE2428CF5}"/>
                </a:ext>
              </a:extLst>
            </p:cNvPr>
            <p:cNvSpPr/>
            <p:nvPr/>
          </p:nvSpPr>
          <p:spPr bwMode="auto">
            <a:xfrm>
              <a:off x="579355" y="6138514"/>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C</a:t>
              </a:r>
            </a:p>
          </p:txBody>
        </p:sp>
      </p:grpSp>
      <p:grpSp>
        <p:nvGrpSpPr>
          <p:cNvPr id="196" name="グループ化 195">
            <a:extLst>
              <a:ext uri="{FF2B5EF4-FFF2-40B4-BE49-F238E27FC236}">
                <a16:creationId xmlns:a16="http://schemas.microsoft.com/office/drawing/2014/main" id="{F033F15A-E354-F04A-F55C-5D90BE4D5D6B}"/>
              </a:ext>
            </a:extLst>
          </p:cNvPr>
          <p:cNvGrpSpPr/>
          <p:nvPr/>
        </p:nvGrpSpPr>
        <p:grpSpPr>
          <a:xfrm>
            <a:off x="7233611" y="6138514"/>
            <a:ext cx="759600" cy="153381"/>
            <a:chOff x="276272" y="6138514"/>
            <a:chExt cx="759600" cy="153381"/>
          </a:xfrm>
        </p:grpSpPr>
        <p:cxnSp>
          <p:nvCxnSpPr>
            <p:cNvPr id="197" name="直線矢印コネクタ 196">
              <a:extLst>
                <a:ext uri="{FF2B5EF4-FFF2-40B4-BE49-F238E27FC236}">
                  <a16:creationId xmlns:a16="http://schemas.microsoft.com/office/drawing/2014/main" id="{B7C09165-4E8A-8BE6-3F76-BDA7C2126E90}"/>
                </a:ext>
              </a:extLst>
            </p:cNvPr>
            <p:cNvCxnSpPr>
              <a:cxnSpLocks/>
            </p:cNvCxnSpPr>
            <p:nvPr/>
          </p:nvCxnSpPr>
          <p:spPr bwMode="auto">
            <a:xfrm>
              <a:off x="276272" y="6215204"/>
              <a:ext cx="7596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198" name="正方形/長方形 197">
              <a:extLst>
                <a:ext uri="{FF2B5EF4-FFF2-40B4-BE49-F238E27FC236}">
                  <a16:creationId xmlns:a16="http://schemas.microsoft.com/office/drawing/2014/main" id="{7A5A6F7C-37F8-5B0E-1B20-E82F17D059A8}"/>
                </a:ext>
              </a:extLst>
            </p:cNvPr>
            <p:cNvSpPr/>
            <p:nvPr/>
          </p:nvSpPr>
          <p:spPr bwMode="auto">
            <a:xfrm>
              <a:off x="579355" y="6138514"/>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E</a:t>
              </a:r>
            </a:p>
          </p:txBody>
        </p:sp>
      </p:grpSp>
      <p:grpSp>
        <p:nvGrpSpPr>
          <p:cNvPr id="199" name="グループ化 198">
            <a:extLst>
              <a:ext uri="{FF2B5EF4-FFF2-40B4-BE49-F238E27FC236}">
                <a16:creationId xmlns:a16="http://schemas.microsoft.com/office/drawing/2014/main" id="{85A74BB4-90FC-5301-EACC-8BB708E575C3}"/>
              </a:ext>
            </a:extLst>
          </p:cNvPr>
          <p:cNvGrpSpPr/>
          <p:nvPr/>
        </p:nvGrpSpPr>
        <p:grpSpPr>
          <a:xfrm>
            <a:off x="8102424" y="6643339"/>
            <a:ext cx="759600" cy="153381"/>
            <a:chOff x="276272" y="6138514"/>
            <a:chExt cx="759600" cy="153381"/>
          </a:xfrm>
        </p:grpSpPr>
        <p:cxnSp>
          <p:nvCxnSpPr>
            <p:cNvPr id="200" name="直線矢印コネクタ 199">
              <a:extLst>
                <a:ext uri="{FF2B5EF4-FFF2-40B4-BE49-F238E27FC236}">
                  <a16:creationId xmlns:a16="http://schemas.microsoft.com/office/drawing/2014/main" id="{52F3BDBD-A0A1-50D1-3B0D-A503FD507A82}"/>
                </a:ext>
              </a:extLst>
            </p:cNvPr>
            <p:cNvCxnSpPr>
              <a:cxnSpLocks/>
            </p:cNvCxnSpPr>
            <p:nvPr/>
          </p:nvCxnSpPr>
          <p:spPr bwMode="auto">
            <a:xfrm>
              <a:off x="276272" y="6215204"/>
              <a:ext cx="759600" cy="0"/>
            </a:xfrm>
            <a:prstGeom prst="straightConnector1">
              <a:avLst/>
            </a:prstGeom>
            <a:noFill/>
            <a:ln w="9525" cap="flat" cmpd="sng" algn="ctr">
              <a:solidFill>
                <a:schemeClr val="bg1">
                  <a:lumMod val="50000"/>
                </a:schemeClr>
              </a:solidFill>
              <a:prstDash val="solid"/>
              <a:round/>
              <a:headEnd type="arrow" w="med" len="med"/>
              <a:tailEnd type="arrow" w="med" len="med"/>
            </a:ln>
            <a:effectLst/>
          </p:spPr>
        </p:cxnSp>
        <p:sp>
          <p:nvSpPr>
            <p:cNvPr id="201" name="正方形/長方形 200">
              <a:extLst>
                <a:ext uri="{FF2B5EF4-FFF2-40B4-BE49-F238E27FC236}">
                  <a16:creationId xmlns:a16="http://schemas.microsoft.com/office/drawing/2014/main" id="{FB1F2A5E-3B40-3246-E397-FC2975068C8A}"/>
                </a:ext>
              </a:extLst>
            </p:cNvPr>
            <p:cNvSpPr/>
            <p:nvPr/>
          </p:nvSpPr>
          <p:spPr bwMode="auto">
            <a:xfrm>
              <a:off x="579355" y="6138514"/>
              <a:ext cx="154735" cy="15338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G</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grpSp>
      <p:cxnSp>
        <p:nvCxnSpPr>
          <p:cNvPr id="14" name="直線コネクタ 13">
            <a:extLst>
              <a:ext uri="{FF2B5EF4-FFF2-40B4-BE49-F238E27FC236}">
                <a16:creationId xmlns:a16="http://schemas.microsoft.com/office/drawing/2014/main" id="{273D689B-4948-266A-70B0-6ED8E738C634}"/>
              </a:ext>
            </a:extLst>
          </p:cNvPr>
          <p:cNvCxnSpPr>
            <a:cxnSpLocks/>
            <a:stCxn id="106" idx="2"/>
            <a:endCxn id="94" idx="0"/>
          </p:cNvCxnSpPr>
          <p:nvPr/>
        </p:nvCxnSpPr>
        <p:spPr>
          <a:xfrm>
            <a:off x="7614060" y="4110666"/>
            <a:ext cx="1" cy="1326959"/>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3190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6C96A-D298-C7CC-7009-BE7BEA8C60CB}"/>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27DD6B-EC2B-AD96-4E85-304915D45EAD}"/>
              </a:ext>
            </a:extLst>
          </p:cNvPr>
          <p:cNvSpPr/>
          <p:nvPr/>
        </p:nvSpPr>
        <p:spPr bwMode="auto">
          <a:xfrm>
            <a:off x="2989779" y="3861360"/>
            <a:ext cx="4423881"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4A7874FB-4BF7-2E49-3A44-1F0D6CD5B691}"/>
              </a:ext>
            </a:extLst>
          </p:cNvPr>
          <p:cNvSpPr/>
          <p:nvPr/>
        </p:nvSpPr>
        <p:spPr bwMode="auto">
          <a:xfrm>
            <a:off x="2492339" y="2630180"/>
            <a:ext cx="4921322"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A9156EE7-3F53-6323-32A6-F51C0124DC52}"/>
              </a:ext>
            </a:extLst>
          </p:cNvPr>
          <p:cNvSpPr/>
          <p:nvPr/>
        </p:nvSpPr>
        <p:spPr bwMode="auto">
          <a:xfrm>
            <a:off x="2492339" y="1192976"/>
            <a:ext cx="4921322" cy="514146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28600"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MTBJ/MUSK</a:t>
            </a:r>
            <a:r>
              <a:rPr kumimoji="1" lang="ja-JP" altLang="en-US" dirty="0">
                <a:solidFill>
                  <a:prstClr val="black"/>
                </a:solidFill>
                <a:latin typeface="Meiryo UI" panose="020B0604030504040204" pitchFamily="50" charset="-128"/>
                <a:ea typeface="Meiryo UI" panose="020B0604030504040204" pitchFamily="50" charset="-128"/>
              </a:rPr>
              <a:t>の概要</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a:t>
            </a:r>
            <a:r>
              <a:rPr lang="ja-JP" altLang="en-US" dirty="0">
                <a:solidFill>
                  <a:prstClr val="black"/>
                </a:solidFill>
                <a:latin typeface="Meiryo UI" panose="020B0604030504040204" pitchFamily="50" charset="-128"/>
                <a:ea typeface="Meiryo UI" panose="020B0604030504040204" pitchFamily="50" charset="-128"/>
              </a:rPr>
              <a:t>とは？</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MUSK</a:t>
            </a:r>
            <a:r>
              <a:rPr lang="ja-JP" altLang="en-US" dirty="0">
                <a:solidFill>
                  <a:prstClr val="black"/>
                </a:solidFill>
                <a:latin typeface="Meiryo UI" panose="020B0604030504040204" pitchFamily="50" charset="-128"/>
                <a:ea typeface="Meiryo UI" panose="020B0604030504040204" pitchFamily="50" charset="-128"/>
              </a:rPr>
              <a:t>とは？</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アカウント紹介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アカウントの概要</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アカウントの特徴</a:t>
            </a:r>
            <a:endParaRPr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ご支援内容の全体像</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プロジェクト①アーキテクチャ戦略</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プロジェクト②業務改善支援</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まとめ</a:t>
            </a:r>
          </a:p>
        </p:txBody>
      </p:sp>
    </p:spTree>
    <p:extLst>
      <p:ext uri="{BB962C8B-B14F-4D97-AF65-F5344CB8AC3E}">
        <p14:creationId xmlns:p14="http://schemas.microsoft.com/office/powerpoint/2010/main" val="3046438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74261-FC2D-CBFC-8149-A727434F033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7FC750-22FF-2C17-138C-72853D8C5140}"/>
              </a:ext>
            </a:extLst>
          </p:cNvPr>
          <p:cNvSpPr>
            <a:spLocks noGrp="1"/>
          </p:cNvSpPr>
          <p:nvPr>
            <p:ph type="title"/>
          </p:nvPr>
        </p:nvSpPr>
        <p:spPr/>
        <p:txBody>
          <a:bodyPr/>
          <a:lstStyle/>
          <a:p>
            <a:r>
              <a:rPr lang="en-US" altLang="ja-JP" dirty="0"/>
              <a:t>1</a:t>
            </a:r>
            <a:r>
              <a:rPr kumimoji="1" lang="en-US" altLang="ja-JP" dirty="0"/>
              <a:t>. </a:t>
            </a:r>
            <a:r>
              <a:rPr kumimoji="1" lang="ja-JP" altLang="en-US" dirty="0"/>
              <a:t>アカウントの特徴</a:t>
            </a:r>
          </a:p>
        </p:txBody>
      </p:sp>
      <p:sp>
        <p:nvSpPr>
          <p:cNvPr id="3" name="テキスト プレースホルダー 2">
            <a:extLst>
              <a:ext uri="{FF2B5EF4-FFF2-40B4-BE49-F238E27FC236}">
                <a16:creationId xmlns:a16="http://schemas.microsoft.com/office/drawing/2014/main" id="{B2A6C2E2-1108-4416-3C49-D6112C25801B}"/>
              </a:ext>
            </a:extLst>
          </p:cNvPr>
          <p:cNvSpPr>
            <a:spLocks noGrp="1"/>
          </p:cNvSpPr>
          <p:nvPr>
            <p:ph type="body" idx="12"/>
          </p:nvPr>
        </p:nvSpPr>
        <p:spPr>
          <a:xfrm>
            <a:off x="488999" y="969722"/>
            <a:ext cx="9131121" cy="669414"/>
          </a:xfrm>
        </p:spPr>
        <p:txBody>
          <a:bodyPr/>
          <a:lstStyle/>
          <a:p>
            <a:r>
              <a:rPr lang="en-US" altLang="ja-JP" dirty="0"/>
              <a:t>MTBJ/MUSK</a:t>
            </a:r>
            <a:r>
              <a:rPr lang="ja-JP" altLang="en-US" dirty="0"/>
              <a:t>アカウントは、</a:t>
            </a:r>
            <a:r>
              <a:rPr lang="en-US" altLang="ja-JP" dirty="0"/>
              <a:t>MTBJ</a:t>
            </a:r>
            <a:r>
              <a:rPr lang="ja-JP" altLang="en-US" dirty="0"/>
              <a:t>が「</a:t>
            </a:r>
            <a:r>
              <a:rPr lang="ja-JP" altLang="en-US" b="1" dirty="0"/>
              <a:t>資産管理</a:t>
            </a:r>
            <a:r>
              <a:rPr lang="ja-JP" altLang="en-US" dirty="0"/>
              <a:t> </a:t>
            </a:r>
            <a:r>
              <a:rPr lang="ja-JP" altLang="en-US" b="1" dirty="0"/>
              <a:t>銀行</a:t>
            </a:r>
            <a:r>
              <a:rPr lang="ja-JP" altLang="en-US" dirty="0"/>
              <a:t> 」という位置づけなので、</a:t>
            </a:r>
            <a:r>
              <a:rPr lang="en-US" altLang="ja-JP" dirty="0"/>
              <a:t>Banking</a:t>
            </a:r>
            <a:r>
              <a:rPr lang="ja-JP" altLang="en-US" dirty="0"/>
              <a:t>と</a:t>
            </a:r>
            <a:r>
              <a:rPr lang="en-US" altLang="ja-JP" dirty="0"/>
              <a:t>Capital Markets</a:t>
            </a:r>
            <a:r>
              <a:rPr lang="ja-JP" altLang="en-US" dirty="0"/>
              <a:t>のメンバーの両方がコラボして進めており、全体的に若いメンバーも多く活躍している現場です。</a:t>
            </a:r>
            <a:endParaRPr lang="en-US" altLang="ja-JP" dirty="0"/>
          </a:p>
          <a:p>
            <a:endParaRPr kumimoji="1" lang="ja-JP" altLang="en-US" dirty="0"/>
          </a:p>
        </p:txBody>
      </p:sp>
      <p:sp>
        <p:nvSpPr>
          <p:cNvPr id="4" name="テキスト プレースホルダー 3">
            <a:extLst>
              <a:ext uri="{FF2B5EF4-FFF2-40B4-BE49-F238E27FC236}">
                <a16:creationId xmlns:a16="http://schemas.microsoft.com/office/drawing/2014/main" id="{C52A0F0E-ED4F-49B6-5302-148B8812E54E}"/>
              </a:ext>
            </a:extLst>
          </p:cNvPr>
          <p:cNvSpPr>
            <a:spLocks noGrp="1"/>
          </p:cNvSpPr>
          <p:nvPr>
            <p:ph type="body" sz="quarter" idx="13"/>
          </p:nvPr>
        </p:nvSpPr>
        <p:spPr/>
        <p:txBody>
          <a:bodyPr/>
          <a:lstStyle/>
          <a:p>
            <a:r>
              <a:rPr kumimoji="1" lang="en-US" altLang="ja-JP" dirty="0"/>
              <a:t>2. </a:t>
            </a:r>
            <a:r>
              <a:rPr kumimoji="1" lang="ja-JP" altLang="en-US" dirty="0"/>
              <a:t>アカウント紹介</a:t>
            </a:r>
          </a:p>
        </p:txBody>
      </p:sp>
      <p:sp>
        <p:nvSpPr>
          <p:cNvPr id="5" name="正方形/長方形 4">
            <a:extLst>
              <a:ext uri="{FF2B5EF4-FFF2-40B4-BE49-F238E27FC236}">
                <a16:creationId xmlns:a16="http://schemas.microsoft.com/office/drawing/2014/main" id="{8C3362E8-583D-EB8A-E3F7-BF26E5996239}"/>
              </a:ext>
            </a:extLst>
          </p:cNvPr>
          <p:cNvSpPr/>
          <p:nvPr/>
        </p:nvSpPr>
        <p:spPr bwMode="auto">
          <a:xfrm>
            <a:off x="488504" y="1854486"/>
            <a:ext cx="4537581" cy="443490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algn="ctr" defTabSz="908410" fontAlgn="base">
              <a:spcAft>
                <a:spcPct val="0"/>
              </a:spcAft>
            </a:pPr>
            <a:r>
              <a:rPr kumimoji="1" lang="ja-JP" altLang="en-US" sz="2000" b="1" dirty="0">
                <a:solidFill>
                  <a:prstClr val="black"/>
                </a:solidFill>
                <a:latin typeface="Meiryo UI" panose="020B0604030504040204" pitchFamily="50" charset="-128"/>
                <a:ea typeface="Meiryo UI" panose="020B0604030504040204" pitchFamily="50" charset="-128"/>
              </a:rPr>
              <a:t>ポイント</a:t>
            </a:r>
            <a:r>
              <a:rPr lang="ja-JP" altLang="en-US" sz="2000" b="1" dirty="0">
                <a:solidFill>
                  <a:prstClr val="black"/>
                </a:solidFill>
                <a:latin typeface="Meiryo UI" panose="020B0604030504040204" pitchFamily="50" charset="-128"/>
                <a:ea typeface="Meiryo UI" panose="020B0604030504040204" pitchFamily="50" charset="-128"/>
              </a:rPr>
              <a:t>１</a:t>
            </a:r>
            <a:endParaRPr lang="en-US" altLang="ja-JP" sz="20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endParaRPr lang="en-US" altLang="ja-JP" sz="20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en-US" altLang="ja-JP" sz="2000" b="1" u="sng" dirty="0">
                <a:solidFill>
                  <a:prstClr val="black"/>
                </a:solidFill>
                <a:latin typeface="Meiryo UI" panose="020B0604030504040204" pitchFamily="50" charset="-128"/>
                <a:ea typeface="Meiryo UI" panose="020B0604030504040204" pitchFamily="50" charset="-128"/>
              </a:rPr>
              <a:t>The BCM</a:t>
            </a:r>
            <a:r>
              <a:rPr lang="ja-JP" altLang="en-US" sz="2000" b="1" u="sng" dirty="0">
                <a:solidFill>
                  <a:prstClr val="black"/>
                </a:solidFill>
                <a:latin typeface="Meiryo UI" panose="020B0604030504040204" pitchFamily="50" charset="-128"/>
                <a:ea typeface="Meiryo UI" panose="020B0604030504040204" pitchFamily="50" charset="-128"/>
              </a:rPr>
              <a:t>アカウント！</a:t>
            </a:r>
            <a:endParaRPr lang="en-US" altLang="ja-JP" sz="1050" b="1" u="sng"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endParaRPr kumimoji="1" lang="en-US" altLang="ja-JP" sz="2000" b="1" dirty="0">
              <a:solidFill>
                <a:prstClr val="black"/>
              </a:solidFill>
              <a:latin typeface="Meiryo UI" panose="020B0604030504040204" pitchFamily="50" charset="-128"/>
              <a:ea typeface="Meiryo UI" panose="020B0604030504040204" pitchFamily="50" charset="-128"/>
            </a:endParaRPr>
          </a:p>
        </p:txBody>
      </p:sp>
      <p:grpSp>
        <p:nvGrpSpPr>
          <p:cNvPr id="9" name="グループ化 8">
            <a:extLst>
              <a:ext uri="{FF2B5EF4-FFF2-40B4-BE49-F238E27FC236}">
                <a16:creationId xmlns:a16="http://schemas.microsoft.com/office/drawing/2014/main" id="{2F8426C3-8A42-BD16-0D13-A457CEB47EBE}"/>
              </a:ext>
            </a:extLst>
          </p:cNvPr>
          <p:cNvGrpSpPr/>
          <p:nvPr/>
        </p:nvGrpSpPr>
        <p:grpSpPr>
          <a:xfrm>
            <a:off x="1156227" y="3219068"/>
            <a:ext cx="3202134" cy="1705737"/>
            <a:chOff x="1219200" y="3641653"/>
            <a:chExt cx="2646392" cy="1409700"/>
          </a:xfrm>
        </p:grpSpPr>
        <p:sp>
          <p:nvSpPr>
            <p:cNvPr id="7" name="楕円 6">
              <a:extLst>
                <a:ext uri="{FF2B5EF4-FFF2-40B4-BE49-F238E27FC236}">
                  <a16:creationId xmlns:a16="http://schemas.microsoft.com/office/drawing/2014/main" id="{DB3EB9ED-E861-168D-80E0-BB03AF2E9434}"/>
                </a:ext>
              </a:extLst>
            </p:cNvPr>
            <p:cNvSpPr/>
            <p:nvPr/>
          </p:nvSpPr>
          <p:spPr bwMode="auto">
            <a:xfrm>
              <a:off x="1219200" y="3641653"/>
              <a:ext cx="1485900" cy="1409700"/>
            </a:xfrm>
            <a:prstGeom prst="ellipse">
              <a:avLst/>
            </a:prstGeom>
            <a:solidFill>
              <a:schemeClr val="accent4">
                <a:lumMod val="20000"/>
                <a:lumOff val="80000"/>
                <a:alpha val="43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600" dirty="0">
                  <a:solidFill>
                    <a:prstClr val="black"/>
                  </a:solidFill>
                  <a:latin typeface="Meiryo UI" panose="020B0604030504040204" pitchFamily="50" charset="-128"/>
                  <a:ea typeface="Meiryo UI" panose="020B0604030504040204" pitchFamily="50" charset="-128"/>
                </a:rPr>
                <a:t>Banking</a:t>
              </a:r>
              <a:endParaRPr kumimoji="1" lang="ja-JP" altLang="en-US" sz="1600" dirty="0">
                <a:solidFill>
                  <a:prstClr val="black"/>
                </a:solidFill>
                <a:latin typeface="Meiryo UI" panose="020B0604030504040204" pitchFamily="50" charset="-128"/>
                <a:ea typeface="Meiryo UI" panose="020B0604030504040204" pitchFamily="50" charset="-128"/>
              </a:endParaRPr>
            </a:p>
          </p:txBody>
        </p:sp>
        <p:sp>
          <p:nvSpPr>
            <p:cNvPr id="8" name="楕円 7">
              <a:extLst>
                <a:ext uri="{FF2B5EF4-FFF2-40B4-BE49-F238E27FC236}">
                  <a16:creationId xmlns:a16="http://schemas.microsoft.com/office/drawing/2014/main" id="{89B3B47B-3D4D-85ED-9A3A-E4DBFBD1D695}"/>
                </a:ext>
              </a:extLst>
            </p:cNvPr>
            <p:cNvSpPr/>
            <p:nvPr/>
          </p:nvSpPr>
          <p:spPr bwMode="auto">
            <a:xfrm>
              <a:off x="2379692" y="3641653"/>
              <a:ext cx="1485900" cy="1409700"/>
            </a:xfrm>
            <a:prstGeom prst="ellipse">
              <a:avLst/>
            </a:prstGeom>
            <a:solidFill>
              <a:srgbClr val="FFC7C7">
                <a:alpha val="43000"/>
              </a:srgb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600" dirty="0">
                  <a:solidFill>
                    <a:prstClr val="black"/>
                  </a:solidFill>
                  <a:latin typeface="Meiryo UI" panose="020B0604030504040204" pitchFamily="50" charset="-128"/>
                  <a:ea typeface="Meiryo UI" panose="020B0604030504040204" pitchFamily="50" charset="-128"/>
                </a:rPr>
                <a:t>Capital</a:t>
              </a:r>
            </a:p>
            <a:p>
              <a:pPr algn="ctr" defTabSz="908410" fontAlgn="base">
                <a:spcAft>
                  <a:spcPct val="0"/>
                </a:spcAft>
              </a:pPr>
              <a:r>
                <a:rPr lang="en-US" altLang="ja-JP" sz="1600" dirty="0">
                  <a:solidFill>
                    <a:prstClr val="black"/>
                  </a:solidFill>
                  <a:latin typeface="Meiryo UI" panose="020B0604030504040204" pitchFamily="50" charset="-128"/>
                  <a:ea typeface="Meiryo UI" panose="020B0604030504040204" pitchFamily="50" charset="-128"/>
                </a:rPr>
                <a:t>Markets</a:t>
              </a:r>
            </a:p>
          </p:txBody>
        </p:sp>
      </p:grpSp>
      <p:sp>
        <p:nvSpPr>
          <p:cNvPr id="10" name="正方形/長方形 9">
            <a:extLst>
              <a:ext uri="{FF2B5EF4-FFF2-40B4-BE49-F238E27FC236}">
                <a16:creationId xmlns:a16="http://schemas.microsoft.com/office/drawing/2014/main" id="{588DFE61-CE55-5BC8-05EF-3A2C88E7EFBA}"/>
              </a:ext>
            </a:extLst>
          </p:cNvPr>
          <p:cNvSpPr/>
          <p:nvPr/>
        </p:nvSpPr>
        <p:spPr bwMode="auto">
          <a:xfrm>
            <a:off x="882261" y="5494634"/>
            <a:ext cx="3750067" cy="450255"/>
          </a:xfrm>
          <a:prstGeom prst="rect">
            <a:avLst/>
          </a:prstGeom>
          <a:solidFill>
            <a:srgbClr val="E6DCFF"/>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200" dirty="0">
                <a:solidFill>
                  <a:prstClr val="black"/>
                </a:solidFill>
                <a:latin typeface="Meiryo UI" panose="020B0604030504040204" pitchFamily="50" charset="-128"/>
                <a:ea typeface="Meiryo UI" panose="020B0604030504040204" pitchFamily="50" charset="-128"/>
              </a:rPr>
              <a:t>Banking</a:t>
            </a:r>
            <a:r>
              <a:rPr lang="ja-JP" altLang="en-US" sz="1200" dirty="0">
                <a:solidFill>
                  <a:prstClr val="black"/>
                </a:solidFill>
                <a:latin typeface="Meiryo UI" panose="020B0604030504040204" pitchFamily="50" charset="-128"/>
                <a:ea typeface="Meiryo UI" panose="020B0604030504040204" pitchFamily="50" charset="-128"/>
              </a:rPr>
              <a:t>と</a:t>
            </a:r>
            <a:r>
              <a:rPr lang="en-US" altLang="ja-JP" sz="1200" dirty="0">
                <a:solidFill>
                  <a:prstClr val="black"/>
                </a:solidFill>
                <a:latin typeface="Meiryo UI" panose="020B0604030504040204" pitchFamily="50" charset="-128"/>
                <a:ea typeface="Meiryo UI" panose="020B0604030504040204" pitchFamily="50" charset="-128"/>
              </a:rPr>
              <a:t>Capital Markets</a:t>
            </a:r>
            <a:r>
              <a:rPr lang="ja-JP" altLang="en-US" sz="1200" dirty="0">
                <a:solidFill>
                  <a:prstClr val="black"/>
                </a:solidFill>
                <a:latin typeface="Meiryo UI" panose="020B0604030504040204" pitchFamily="50" charset="-128"/>
                <a:ea typeface="Meiryo UI" panose="020B0604030504040204" pitchFamily="50" charset="-128"/>
              </a:rPr>
              <a:t>のメンバーの両方がいる</a:t>
            </a:r>
            <a:endParaRPr lang="en-US" altLang="ja-JP" sz="1200" dirty="0">
              <a:solidFill>
                <a:prstClr val="black"/>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52AD17E1-ADDE-FBCF-F9C5-C17151C814E6}"/>
              </a:ext>
            </a:extLst>
          </p:cNvPr>
          <p:cNvSpPr/>
          <p:nvPr/>
        </p:nvSpPr>
        <p:spPr bwMode="auto">
          <a:xfrm>
            <a:off x="5082539" y="1854486"/>
            <a:ext cx="4537581" cy="4434901"/>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algn="ctr" defTabSz="908410" fontAlgn="base">
              <a:spcAft>
                <a:spcPct val="0"/>
              </a:spcAft>
            </a:pPr>
            <a:r>
              <a:rPr kumimoji="1" lang="ja-JP" altLang="en-US" sz="2000" b="1" dirty="0">
                <a:solidFill>
                  <a:prstClr val="black"/>
                </a:solidFill>
                <a:latin typeface="Meiryo UI" panose="020B0604030504040204" pitchFamily="50" charset="-128"/>
                <a:ea typeface="Meiryo UI" panose="020B0604030504040204" pitchFamily="50" charset="-128"/>
              </a:rPr>
              <a:t>ポイント２</a:t>
            </a:r>
            <a:endParaRPr lang="en-US" altLang="ja-JP" sz="20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endParaRPr lang="en-US" altLang="ja-JP" sz="20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2000" b="1" u="sng" dirty="0">
                <a:solidFill>
                  <a:prstClr val="black"/>
                </a:solidFill>
                <a:latin typeface="Meiryo UI" panose="020B0604030504040204" pitchFamily="50" charset="-128"/>
                <a:ea typeface="Meiryo UI" panose="020B0604030504040204" pitchFamily="50" charset="-128"/>
              </a:rPr>
              <a:t>若いメンバーが活躍！</a:t>
            </a:r>
            <a:endParaRPr lang="en-US" altLang="ja-JP" sz="1050" b="1" u="sng"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endParaRPr kumimoji="1" lang="en-US" altLang="ja-JP" sz="2000" b="1" dirty="0">
              <a:solidFill>
                <a:prstClr val="black"/>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6A71EF75-F351-38F0-81C5-19C67D75D0CD}"/>
              </a:ext>
            </a:extLst>
          </p:cNvPr>
          <p:cNvSpPr/>
          <p:nvPr/>
        </p:nvSpPr>
        <p:spPr bwMode="auto">
          <a:xfrm>
            <a:off x="5801715" y="3550965"/>
            <a:ext cx="3099229" cy="2005417"/>
          </a:xfrm>
          <a:prstGeom prst="rect">
            <a:avLst/>
          </a:prstGeom>
          <a:solidFill>
            <a:srgbClr val="E6DCFF"/>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400" dirty="0">
                <a:solidFill>
                  <a:prstClr val="black"/>
                </a:solidFill>
                <a:latin typeface="Meiryo UI" panose="020B0604030504040204" pitchFamily="50" charset="-128"/>
                <a:ea typeface="Meiryo UI" panose="020B0604030504040204" pitchFamily="50" charset="-128"/>
              </a:rPr>
              <a:t>難易度が高いプロジェクトが多い中、</a:t>
            </a:r>
            <a:endParaRPr lang="en-US" altLang="ja-JP" sz="14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1400" dirty="0">
                <a:solidFill>
                  <a:prstClr val="black"/>
                </a:solidFill>
                <a:latin typeface="Meiryo UI" panose="020B0604030504040204" pitchFamily="50" charset="-128"/>
                <a:ea typeface="Meiryo UI" panose="020B0604030504040204" pitchFamily="50" charset="-128"/>
              </a:rPr>
              <a:t>比較的若いメンバーが活躍している</a:t>
            </a:r>
            <a:endParaRPr lang="en-US" altLang="ja-JP" sz="1400"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45117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A8273-9767-3202-E1C1-32C275114F6B}"/>
            </a:ext>
          </a:extLst>
        </p:cNvPr>
        <p:cNvGrpSpPr/>
        <p:nvPr/>
      </p:nvGrpSpPr>
      <p:grpSpPr>
        <a:xfrm>
          <a:off x="0" y="0"/>
          <a:ext cx="0" cy="0"/>
          <a:chOff x="0" y="0"/>
          <a:chExt cx="0" cy="0"/>
        </a:xfrm>
      </p:grpSpPr>
      <p:sp>
        <p:nvSpPr>
          <p:cNvPr id="22" name="正方形/長方形 21">
            <a:extLst>
              <a:ext uri="{FF2B5EF4-FFF2-40B4-BE49-F238E27FC236}">
                <a16:creationId xmlns:a16="http://schemas.microsoft.com/office/drawing/2014/main" id="{EF7BAB1A-0745-145C-237C-609325A0395B}"/>
              </a:ext>
            </a:extLst>
          </p:cNvPr>
          <p:cNvSpPr/>
          <p:nvPr/>
        </p:nvSpPr>
        <p:spPr bwMode="auto">
          <a:xfrm>
            <a:off x="7476740" y="1666934"/>
            <a:ext cx="595901" cy="3959743"/>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b="1" dirty="0">
                <a:solidFill>
                  <a:prstClr val="black"/>
                </a:solidFill>
                <a:latin typeface="Meiryo UI" panose="020B0604030504040204" pitchFamily="50" charset="-128"/>
                <a:ea typeface="Meiryo UI" panose="020B0604030504040204" pitchFamily="50" charset="-128"/>
              </a:rPr>
              <a:t>50+</a:t>
            </a:r>
          </a:p>
        </p:txBody>
      </p:sp>
      <p:sp>
        <p:nvSpPr>
          <p:cNvPr id="2" name="タイトル 1">
            <a:extLst>
              <a:ext uri="{FF2B5EF4-FFF2-40B4-BE49-F238E27FC236}">
                <a16:creationId xmlns:a16="http://schemas.microsoft.com/office/drawing/2014/main" id="{B67BE28B-9183-B9CC-E233-4E4FE8843855}"/>
              </a:ext>
            </a:extLst>
          </p:cNvPr>
          <p:cNvSpPr>
            <a:spLocks noGrp="1"/>
          </p:cNvSpPr>
          <p:nvPr>
            <p:ph type="title"/>
          </p:nvPr>
        </p:nvSpPr>
        <p:spPr/>
        <p:txBody>
          <a:bodyPr/>
          <a:lstStyle/>
          <a:p>
            <a:r>
              <a:rPr kumimoji="1" lang="en-US" altLang="ja-JP" dirty="0"/>
              <a:t>2. </a:t>
            </a:r>
            <a:r>
              <a:rPr kumimoji="1" lang="ja-JP" altLang="en-US" dirty="0"/>
              <a:t>急成長中のアカウントです！</a:t>
            </a:r>
          </a:p>
        </p:txBody>
      </p:sp>
      <p:sp>
        <p:nvSpPr>
          <p:cNvPr id="3" name="テキスト プレースホルダー 2">
            <a:extLst>
              <a:ext uri="{FF2B5EF4-FFF2-40B4-BE49-F238E27FC236}">
                <a16:creationId xmlns:a16="http://schemas.microsoft.com/office/drawing/2014/main" id="{A209FD26-43FC-7AD6-4719-72A26BE44E5D}"/>
              </a:ext>
            </a:extLst>
          </p:cNvPr>
          <p:cNvSpPr>
            <a:spLocks noGrp="1"/>
          </p:cNvSpPr>
          <p:nvPr>
            <p:ph type="body" idx="12"/>
          </p:nvPr>
        </p:nvSpPr>
        <p:spPr>
          <a:xfrm>
            <a:off x="488999" y="969722"/>
            <a:ext cx="9131121" cy="669414"/>
          </a:xfrm>
        </p:spPr>
        <p:txBody>
          <a:bodyPr/>
          <a:lstStyle/>
          <a:p>
            <a:r>
              <a:rPr lang="ja-JP" altLang="en-US" dirty="0"/>
              <a:t>昨年の今頃アカウントが立ち上がり、すでに５０人を超えそうな勢いになってきており、</a:t>
            </a:r>
            <a:r>
              <a:rPr kumimoji="1" lang="ja-JP" altLang="en-US" dirty="0"/>
              <a:t>クライアントから新案件や増員の依頼があるため、さらに増える見込みです。</a:t>
            </a:r>
          </a:p>
        </p:txBody>
      </p:sp>
      <p:sp>
        <p:nvSpPr>
          <p:cNvPr id="4" name="テキスト プレースホルダー 3">
            <a:extLst>
              <a:ext uri="{FF2B5EF4-FFF2-40B4-BE49-F238E27FC236}">
                <a16:creationId xmlns:a16="http://schemas.microsoft.com/office/drawing/2014/main" id="{178F748F-184A-9707-EBAB-87E8D670B2DB}"/>
              </a:ext>
            </a:extLst>
          </p:cNvPr>
          <p:cNvSpPr>
            <a:spLocks noGrp="1"/>
          </p:cNvSpPr>
          <p:nvPr>
            <p:ph type="body" sz="quarter" idx="13"/>
          </p:nvPr>
        </p:nvSpPr>
        <p:spPr/>
        <p:txBody>
          <a:bodyPr/>
          <a:lstStyle/>
          <a:p>
            <a:r>
              <a:rPr kumimoji="1" lang="en-US" altLang="ja-JP" dirty="0"/>
              <a:t>2. </a:t>
            </a:r>
            <a:r>
              <a:rPr kumimoji="1" lang="ja-JP" altLang="en-US" dirty="0"/>
              <a:t>アカウント紹介</a:t>
            </a:r>
          </a:p>
        </p:txBody>
      </p:sp>
      <p:sp>
        <p:nvSpPr>
          <p:cNvPr id="5" name="正方形/長方形 4">
            <a:extLst>
              <a:ext uri="{FF2B5EF4-FFF2-40B4-BE49-F238E27FC236}">
                <a16:creationId xmlns:a16="http://schemas.microsoft.com/office/drawing/2014/main" id="{044D627F-153F-EB8F-B4A9-FA7F3C87AF03}"/>
              </a:ext>
            </a:extLst>
          </p:cNvPr>
          <p:cNvSpPr/>
          <p:nvPr/>
        </p:nvSpPr>
        <p:spPr bwMode="auto">
          <a:xfrm>
            <a:off x="670901" y="5301024"/>
            <a:ext cx="595901" cy="325653"/>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b="1" dirty="0">
                <a:solidFill>
                  <a:prstClr val="black"/>
                </a:solidFill>
                <a:latin typeface="Meiryo UI" panose="020B0604030504040204" pitchFamily="50" charset="-128"/>
                <a:ea typeface="Meiryo UI" panose="020B0604030504040204" pitchFamily="50" charset="-128"/>
              </a:rPr>
              <a:t>5</a:t>
            </a:r>
            <a:endParaRPr kumimoji="1" lang="ja-JP" altLang="en-US" b="1" dirty="0">
              <a:solidFill>
                <a:prstClr val="black"/>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43FE38A7-DD4F-363E-277D-9CEC612D5880}"/>
              </a:ext>
            </a:extLst>
          </p:cNvPr>
          <p:cNvSpPr/>
          <p:nvPr/>
        </p:nvSpPr>
        <p:spPr bwMode="auto">
          <a:xfrm>
            <a:off x="2360545" y="4628155"/>
            <a:ext cx="595901" cy="998523"/>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b="1" dirty="0">
                <a:solidFill>
                  <a:prstClr val="black"/>
                </a:solidFill>
                <a:latin typeface="Meiryo UI" panose="020B0604030504040204" pitchFamily="50" charset="-128"/>
                <a:ea typeface="Meiryo UI" panose="020B0604030504040204" pitchFamily="50" charset="-128"/>
              </a:rPr>
              <a:t>15</a:t>
            </a:r>
            <a:endParaRPr kumimoji="1" lang="ja-JP" altLang="en-US" b="1" dirty="0">
              <a:solidFill>
                <a:prstClr val="black"/>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07D11B02-E780-4F96-0C1C-6B8D5086AF28}"/>
              </a:ext>
            </a:extLst>
          </p:cNvPr>
          <p:cNvSpPr/>
          <p:nvPr/>
        </p:nvSpPr>
        <p:spPr bwMode="auto">
          <a:xfrm>
            <a:off x="4103450" y="3955286"/>
            <a:ext cx="595901" cy="1671392"/>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b="1" dirty="0">
                <a:solidFill>
                  <a:prstClr val="black"/>
                </a:solidFill>
                <a:latin typeface="Meiryo UI" panose="020B0604030504040204" pitchFamily="50" charset="-128"/>
                <a:ea typeface="Meiryo UI" panose="020B0604030504040204" pitchFamily="50" charset="-128"/>
              </a:rPr>
              <a:t>24</a:t>
            </a:r>
            <a:endParaRPr kumimoji="1" lang="ja-JP" altLang="en-US" b="1" dirty="0">
              <a:solidFill>
                <a:prstClr val="black"/>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9E39435D-F96A-68DA-C5B8-57193E8C5544}"/>
              </a:ext>
            </a:extLst>
          </p:cNvPr>
          <p:cNvSpPr/>
          <p:nvPr/>
        </p:nvSpPr>
        <p:spPr bwMode="auto">
          <a:xfrm>
            <a:off x="5822607" y="2562225"/>
            <a:ext cx="595901" cy="3064452"/>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b="1" dirty="0">
                <a:solidFill>
                  <a:prstClr val="black"/>
                </a:solidFill>
                <a:latin typeface="Meiryo UI" panose="020B0604030504040204" pitchFamily="50" charset="-128"/>
                <a:ea typeface="Meiryo UI" panose="020B0604030504040204" pitchFamily="50" charset="-128"/>
              </a:rPr>
              <a:t>44</a:t>
            </a:r>
            <a:endParaRPr kumimoji="1" lang="ja-JP" altLang="en-US" b="1" dirty="0">
              <a:solidFill>
                <a:prstClr val="black"/>
              </a:solidFill>
              <a:latin typeface="Meiryo UI" panose="020B0604030504040204" pitchFamily="50" charset="-128"/>
              <a:ea typeface="Meiryo UI" panose="020B0604030504040204" pitchFamily="50" charset="-128"/>
            </a:endParaRPr>
          </a:p>
        </p:txBody>
      </p:sp>
      <p:cxnSp>
        <p:nvCxnSpPr>
          <p:cNvPr id="12" name="直線矢印コネクタ 11">
            <a:extLst>
              <a:ext uri="{FF2B5EF4-FFF2-40B4-BE49-F238E27FC236}">
                <a16:creationId xmlns:a16="http://schemas.microsoft.com/office/drawing/2014/main" id="{B98FE982-A636-55EB-9D9C-A8C4130AEBF4}"/>
              </a:ext>
            </a:extLst>
          </p:cNvPr>
          <p:cNvCxnSpPr>
            <a:cxnSpLocks/>
            <a:stCxn id="5" idx="0"/>
            <a:endCxn id="22" idx="0"/>
          </p:cNvCxnSpPr>
          <p:nvPr/>
        </p:nvCxnSpPr>
        <p:spPr bwMode="auto">
          <a:xfrm flipV="1">
            <a:off x="968852" y="1666934"/>
            <a:ext cx="6805839" cy="3634090"/>
          </a:xfrm>
          <a:prstGeom prst="straightConnector1">
            <a:avLst/>
          </a:prstGeom>
          <a:noFill/>
          <a:ln w="76200" cap="flat" cmpd="sng" algn="ctr">
            <a:solidFill>
              <a:schemeClr val="accent2">
                <a:lumMod val="50000"/>
              </a:schemeClr>
            </a:solidFill>
            <a:prstDash val="solid"/>
            <a:round/>
            <a:headEnd type="none" w="med" len="med"/>
            <a:tailEnd type="triangle"/>
          </a:ln>
          <a:effectLst/>
        </p:spPr>
      </p:cxnSp>
      <p:sp>
        <p:nvSpPr>
          <p:cNvPr id="11" name="正方形/長方形 10">
            <a:extLst>
              <a:ext uri="{FF2B5EF4-FFF2-40B4-BE49-F238E27FC236}">
                <a16:creationId xmlns:a16="http://schemas.microsoft.com/office/drawing/2014/main" id="{5C82BF28-80D8-A759-BA54-463D3B486303}"/>
              </a:ext>
            </a:extLst>
          </p:cNvPr>
          <p:cNvSpPr/>
          <p:nvPr/>
        </p:nvSpPr>
        <p:spPr bwMode="auto">
          <a:xfrm>
            <a:off x="488999" y="5674597"/>
            <a:ext cx="959704" cy="459503"/>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2024/07</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3BE9837B-4509-6BAF-9175-796FB6AF5B73}"/>
              </a:ext>
            </a:extLst>
          </p:cNvPr>
          <p:cNvSpPr/>
          <p:nvPr/>
        </p:nvSpPr>
        <p:spPr bwMode="auto">
          <a:xfrm>
            <a:off x="2178643" y="5674597"/>
            <a:ext cx="959704" cy="459503"/>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2024/10</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9E82EF1A-F995-AFB0-8F1E-AE41984C69C7}"/>
              </a:ext>
            </a:extLst>
          </p:cNvPr>
          <p:cNvSpPr/>
          <p:nvPr/>
        </p:nvSpPr>
        <p:spPr bwMode="auto">
          <a:xfrm>
            <a:off x="3921548" y="5674597"/>
            <a:ext cx="959704" cy="459503"/>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2025/01</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8A349C24-970D-67A0-37D9-D230C6EBA566}"/>
              </a:ext>
            </a:extLst>
          </p:cNvPr>
          <p:cNvSpPr/>
          <p:nvPr/>
        </p:nvSpPr>
        <p:spPr bwMode="auto">
          <a:xfrm>
            <a:off x="5640705" y="5674597"/>
            <a:ext cx="959704" cy="459503"/>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2025/07</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24" name="吹き出し: 四角形 23">
            <a:extLst>
              <a:ext uri="{FF2B5EF4-FFF2-40B4-BE49-F238E27FC236}">
                <a16:creationId xmlns:a16="http://schemas.microsoft.com/office/drawing/2014/main" id="{64533717-76B2-4E27-28DC-4EDCD84EB669}"/>
              </a:ext>
            </a:extLst>
          </p:cNvPr>
          <p:cNvSpPr/>
          <p:nvPr/>
        </p:nvSpPr>
        <p:spPr bwMode="auto">
          <a:xfrm>
            <a:off x="8072641" y="1223742"/>
            <a:ext cx="1577021" cy="830788"/>
          </a:xfrm>
          <a:prstGeom prst="wedgeRectCallout">
            <a:avLst>
              <a:gd name="adj1" fmla="val -67997"/>
              <a:gd name="adj2" fmla="val 39187"/>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0" marR="0" lvl="0" indent="0" algn="ctr" defTabSz="908410" rtl="0" eaLnBrk="1" fontAlgn="base" latinLnBrk="0" hangingPunct="1">
              <a:lnSpc>
                <a:spcPct val="100000"/>
              </a:lnSpc>
              <a:spcBef>
                <a:spcPts val="0"/>
              </a:spcBef>
              <a:spcAft>
                <a:spcPct val="0"/>
              </a:spcAft>
              <a:buClrTx/>
              <a:buSzTx/>
              <a:buFontTx/>
              <a:buNone/>
              <a:tabLst/>
              <a:defRPr/>
            </a:pPr>
            <a:r>
              <a:rPr lang="ja-JP" altLang="en-US" sz="1200" dirty="0">
                <a:solidFill>
                  <a:prstClr val="black"/>
                </a:solidFill>
                <a:latin typeface="Meiryo UI" panose="020B0604030504040204" pitchFamily="50" charset="-128"/>
                <a:ea typeface="Meiryo UI" panose="020B0604030504040204" pitchFamily="50" charset="-128"/>
              </a:rPr>
              <a:t>クライアントから</a:t>
            </a:r>
            <a:endParaRPr lang="en-US" altLang="ja-JP" sz="1200" dirty="0">
              <a:solidFill>
                <a:prstClr val="black"/>
              </a:solidFill>
              <a:latin typeface="Meiryo UI" panose="020B0604030504040204" pitchFamily="50" charset="-128"/>
              <a:ea typeface="Meiryo UI" panose="020B0604030504040204" pitchFamily="50" charset="-128"/>
            </a:endParaRPr>
          </a:p>
          <a:p>
            <a:pPr marL="0" marR="0" lvl="0" indent="0" algn="ctr" defTabSz="908410" rtl="0" eaLnBrk="1" fontAlgn="base" latinLnBrk="0" hangingPunct="1">
              <a:lnSpc>
                <a:spcPct val="100000"/>
              </a:lnSpc>
              <a:spcBef>
                <a:spcPts val="0"/>
              </a:spcBef>
              <a:spcAft>
                <a:spcPct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rPr>
              <a:t>新案件や増員の依頼があり</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a:p>
            <a:pPr marL="0" marR="0" lvl="0" indent="0" algn="ctr" defTabSz="908410" rtl="0" eaLnBrk="1" fontAlgn="base" latinLnBrk="0" hangingPunct="1">
              <a:lnSpc>
                <a:spcPct val="100000"/>
              </a:lnSpc>
              <a:spcBef>
                <a:spcPts val="0"/>
              </a:spcBef>
              <a:spcAft>
                <a:spcPct val="0"/>
              </a:spcAft>
              <a:buClrTx/>
              <a:buSzTx/>
              <a:buFontTx/>
              <a:buNone/>
              <a:tabLst/>
              <a:defRPr/>
            </a:pPr>
            <a:r>
              <a:rPr lang="ja-JP" altLang="en-US" sz="1200" dirty="0">
                <a:solidFill>
                  <a:prstClr val="black"/>
                </a:solidFill>
                <a:latin typeface="Meiryo UI" panose="020B0604030504040204" pitchFamily="50" charset="-128"/>
                <a:ea typeface="Meiryo UI" panose="020B0604030504040204" pitchFamily="50" charset="-128"/>
              </a:rPr>
              <a:t>更に増える見込み！</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1183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childTnLst>
                          </p:cTn>
                        </p:par>
                        <p:par>
                          <p:cTn id="21" fill="hold">
                            <p:stCondLst>
                              <p:cond delay="1000"/>
                            </p:stCondLst>
                            <p:childTnLst>
                              <p:par>
                                <p:cTn id="22" presetID="22" presetClass="entr" presetSubtype="4"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childTnLst>
                          </p:cTn>
                        </p:par>
                        <p:par>
                          <p:cTn id="25" fill="hold">
                            <p:stCondLst>
                              <p:cond delay="1500"/>
                            </p:stCondLst>
                            <p:childTnLst>
                              <p:par>
                                <p:cTn id="26" presetID="22" presetClass="entr" presetSubtype="4"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childTnLst>
                          </p:cTn>
                        </p:par>
                        <p:par>
                          <p:cTn id="29" fill="hold">
                            <p:stCondLst>
                              <p:cond delay="2000"/>
                            </p:stCondLst>
                            <p:childTnLst>
                              <p:par>
                                <p:cTn id="30" presetID="22" presetClass="entr" presetSubtype="4"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par>
                          <p:cTn id="33" fill="hold">
                            <p:stCondLst>
                              <p:cond delay="2500"/>
                            </p:stCondLst>
                            <p:childTnLst>
                              <p:par>
                                <p:cTn id="34" presetID="22" presetClass="entr" presetSubtype="4" fill="hold" grpId="0"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down)">
                                      <p:cBhvr>
                                        <p:cTn id="36" dur="500"/>
                                        <p:tgtEl>
                                          <p:spTgt spid="22"/>
                                        </p:tgtEl>
                                      </p:cBhvr>
                                    </p:animEffect>
                                  </p:childTnLst>
                                </p:cTn>
                              </p:par>
                            </p:childTnLst>
                          </p:cTn>
                        </p:par>
                        <p:par>
                          <p:cTn id="37" fill="hold">
                            <p:stCondLst>
                              <p:cond delay="3000"/>
                            </p:stCondLst>
                            <p:childTnLst>
                              <p:par>
                                <p:cTn id="38" presetID="2" presetClass="entr" presetSubtype="12"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ppt_x</p:attrName>
                                        </p:attrNameLst>
                                      </p:cBhvr>
                                      <p:tavLst>
                                        <p:tav tm="0">
                                          <p:val>
                                            <p:strVal val="0-#ppt_w/2"/>
                                          </p:val>
                                        </p:tav>
                                        <p:tav tm="100000">
                                          <p:val>
                                            <p:strVal val="#ppt_x"/>
                                          </p:val>
                                        </p:tav>
                                      </p:tavLst>
                                    </p:anim>
                                    <p:anim calcmode="lin" valueType="num">
                                      <p:cBhvr additive="base">
                                        <p:cTn id="41" dur="500" fill="hold"/>
                                        <p:tgtEl>
                                          <p:spTgt spid="12"/>
                                        </p:tgtEl>
                                        <p:attrNameLst>
                                          <p:attrName>ppt_y</p:attrName>
                                        </p:attrNameLst>
                                      </p:cBhvr>
                                      <p:tavLst>
                                        <p:tav tm="0">
                                          <p:val>
                                            <p:strVal val="1+#ppt_h/2"/>
                                          </p:val>
                                        </p:tav>
                                        <p:tav tm="100000">
                                          <p:val>
                                            <p:strVal val="#ppt_y"/>
                                          </p:val>
                                        </p:tav>
                                      </p:tavLst>
                                    </p:anim>
                                  </p:childTnLst>
                                </p:cTn>
                              </p:par>
                            </p:childTnLst>
                          </p:cTn>
                        </p:par>
                        <p:par>
                          <p:cTn id="42" fill="hold">
                            <p:stCondLst>
                              <p:cond delay="3500"/>
                            </p:stCondLst>
                            <p:childTnLst>
                              <p:par>
                                <p:cTn id="43" presetID="22" presetClass="entr" presetSubtype="4" fill="hold" grpId="0" nodeType="after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down)">
                                      <p:cBhvr>
                                        <p:cTn id="4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5" grpId="0" animBg="1"/>
      <p:bldP spid="6" grpId="0" animBg="1"/>
      <p:bldP spid="7" grpId="0" animBg="1"/>
      <p:bldP spid="9" grpId="0" animBg="1"/>
      <p:bldP spid="11" grpId="0" animBg="1"/>
      <p:bldP spid="14" grpId="0" animBg="1"/>
      <p:bldP spid="15" grpId="0" animBg="1"/>
      <p:bldP spid="17" grpId="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1E2C9-FEED-8B99-1CCE-EC9F4819CDE3}"/>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4E48EA6F-61FA-9607-202D-92FAFBCA76B9}"/>
              </a:ext>
            </a:extLst>
          </p:cNvPr>
          <p:cNvSpPr/>
          <p:nvPr/>
        </p:nvSpPr>
        <p:spPr bwMode="auto">
          <a:xfrm>
            <a:off x="-759638" y="2855316"/>
            <a:ext cx="11244300" cy="1147369"/>
          </a:xfrm>
          <a:prstGeom prst="rect">
            <a:avLst/>
          </a:prstGeom>
          <a:solidFill>
            <a:srgbClr val="A055F5"/>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3600" b="1" dirty="0">
                <a:solidFill>
                  <a:schemeClr val="bg1"/>
                </a:solidFill>
                <a:latin typeface="Meiryo UI" panose="020B0604030504040204" pitchFamily="50" charset="-128"/>
                <a:ea typeface="Meiryo UI" panose="020B0604030504040204" pitchFamily="50" charset="-128"/>
              </a:rPr>
              <a:t>Q</a:t>
            </a:r>
            <a:r>
              <a:rPr kumimoji="1" lang="ja-JP" altLang="en-US" sz="3600" b="1" dirty="0">
                <a:solidFill>
                  <a:schemeClr val="bg1"/>
                </a:solidFill>
                <a:latin typeface="Meiryo UI" panose="020B0604030504040204" pitchFamily="50" charset="-128"/>
                <a:ea typeface="Meiryo UI" panose="020B0604030504040204" pitchFamily="50" charset="-128"/>
              </a:rPr>
              <a:t>＆</a:t>
            </a:r>
            <a:r>
              <a:rPr kumimoji="1" lang="en-US" altLang="ja-JP" sz="3600" b="1" dirty="0">
                <a:solidFill>
                  <a:schemeClr val="bg1"/>
                </a:solidFill>
                <a:latin typeface="Meiryo UI" panose="020B0604030504040204" pitchFamily="50" charset="-128"/>
                <a:ea typeface="Meiryo UI" panose="020B0604030504040204" pitchFamily="50" charset="-128"/>
              </a:rPr>
              <a:t>A</a:t>
            </a:r>
            <a:endParaRPr kumimoji="1" lang="ja-JP" altLang="en-US" sz="36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30725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11D92-ABAA-CAEC-5E26-464704E43E5A}"/>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F1DFA5C0-74C3-5298-5F0D-2125E60280AF}"/>
              </a:ext>
            </a:extLst>
          </p:cNvPr>
          <p:cNvSpPr/>
          <p:nvPr/>
        </p:nvSpPr>
        <p:spPr bwMode="auto">
          <a:xfrm>
            <a:off x="2989779" y="4673016"/>
            <a:ext cx="4423881"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124ED18E-59E3-5731-A4CD-CEDAED58A259}"/>
              </a:ext>
            </a:extLst>
          </p:cNvPr>
          <p:cNvSpPr/>
          <p:nvPr/>
        </p:nvSpPr>
        <p:spPr bwMode="auto">
          <a:xfrm>
            <a:off x="2492339" y="4294592"/>
            <a:ext cx="4921322"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900BBEC2-D606-D0A0-1AF0-E4E5FD16B93D}"/>
              </a:ext>
            </a:extLst>
          </p:cNvPr>
          <p:cNvSpPr/>
          <p:nvPr/>
        </p:nvSpPr>
        <p:spPr bwMode="auto">
          <a:xfrm>
            <a:off x="2492339" y="1192976"/>
            <a:ext cx="4921322" cy="514146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28600"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MTBJ/MUSK</a:t>
            </a:r>
            <a:r>
              <a:rPr kumimoji="1" lang="ja-JP" altLang="en-US" dirty="0">
                <a:solidFill>
                  <a:prstClr val="black"/>
                </a:solidFill>
                <a:latin typeface="Meiryo UI" panose="020B0604030504040204" pitchFamily="50" charset="-128"/>
                <a:ea typeface="Meiryo UI" panose="020B0604030504040204" pitchFamily="50" charset="-128"/>
              </a:rPr>
              <a:t>の概要</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a:t>
            </a:r>
            <a:r>
              <a:rPr lang="ja-JP" altLang="en-US" dirty="0">
                <a:solidFill>
                  <a:prstClr val="black"/>
                </a:solidFill>
                <a:latin typeface="Meiryo UI" panose="020B0604030504040204" pitchFamily="50" charset="-128"/>
                <a:ea typeface="Meiryo UI" panose="020B0604030504040204" pitchFamily="50" charset="-128"/>
              </a:rPr>
              <a:t>とは？</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MUSK</a:t>
            </a:r>
            <a:r>
              <a:rPr lang="ja-JP" altLang="en-US" dirty="0">
                <a:solidFill>
                  <a:prstClr val="black"/>
                </a:solidFill>
                <a:latin typeface="Meiryo UI" panose="020B0604030504040204" pitchFamily="50" charset="-128"/>
                <a:ea typeface="Meiryo UI" panose="020B0604030504040204" pitchFamily="50" charset="-128"/>
              </a:rPr>
              <a:t>とは？</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アカウント紹介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アカウントの概要</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アカウントの特徴</a:t>
            </a:r>
            <a:endParaRPr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ご支援内容の全体像</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プロジェクト①アーキテクチャ戦略</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プロジェクト②業務改善支援</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まとめ</a:t>
            </a:r>
          </a:p>
        </p:txBody>
      </p:sp>
    </p:spTree>
    <p:extLst>
      <p:ext uri="{BB962C8B-B14F-4D97-AF65-F5344CB8AC3E}">
        <p14:creationId xmlns:p14="http://schemas.microsoft.com/office/powerpoint/2010/main" val="770208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BD071-9167-0225-A3D4-8B5B8C50063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7C5A17-F5B9-8C6A-48BE-2CBBAF9AE2B8}"/>
              </a:ext>
            </a:extLst>
          </p:cNvPr>
          <p:cNvSpPr>
            <a:spLocks noGrp="1"/>
          </p:cNvSpPr>
          <p:nvPr>
            <p:ph type="title"/>
          </p:nvPr>
        </p:nvSpPr>
        <p:spPr/>
        <p:txBody>
          <a:bodyPr/>
          <a:lstStyle/>
          <a:p>
            <a:r>
              <a:rPr kumimoji="1" lang="en-US" altLang="ja-JP" dirty="0"/>
              <a:t>1. </a:t>
            </a:r>
            <a:r>
              <a:rPr kumimoji="1" lang="ja-JP" altLang="en-US" dirty="0"/>
              <a:t>ご支援の全体像（再掲）</a:t>
            </a:r>
          </a:p>
        </p:txBody>
      </p:sp>
      <p:sp>
        <p:nvSpPr>
          <p:cNvPr id="3" name="テキスト プレースホルダー 2">
            <a:extLst>
              <a:ext uri="{FF2B5EF4-FFF2-40B4-BE49-F238E27FC236}">
                <a16:creationId xmlns:a16="http://schemas.microsoft.com/office/drawing/2014/main" id="{CD3152FE-2035-2045-2901-0CF8777F3394}"/>
              </a:ext>
            </a:extLst>
          </p:cNvPr>
          <p:cNvSpPr>
            <a:spLocks noGrp="1"/>
          </p:cNvSpPr>
          <p:nvPr>
            <p:ph type="body" idx="12"/>
          </p:nvPr>
        </p:nvSpPr>
        <p:spPr>
          <a:xfrm>
            <a:off x="488999" y="969722"/>
            <a:ext cx="9131121" cy="669414"/>
          </a:xfrm>
        </p:spPr>
        <p:txBody>
          <a:bodyPr/>
          <a:lstStyle/>
          <a:p>
            <a:r>
              <a:rPr kumimoji="1" lang="ja-JP" altLang="en-US" dirty="0"/>
              <a:t>本日は、①アーキテクチャ戦略と②</a:t>
            </a:r>
            <a:r>
              <a:rPr lang="ja-JP" altLang="en-US" dirty="0"/>
              <a:t>業務改善　の２つのプロジェクトをご紹介します。</a:t>
            </a:r>
            <a:endParaRPr kumimoji="1" lang="ja-JP" altLang="en-US" dirty="0"/>
          </a:p>
        </p:txBody>
      </p:sp>
      <p:sp>
        <p:nvSpPr>
          <p:cNvPr id="4" name="テキスト プレースホルダー 3">
            <a:extLst>
              <a:ext uri="{FF2B5EF4-FFF2-40B4-BE49-F238E27FC236}">
                <a16:creationId xmlns:a16="http://schemas.microsoft.com/office/drawing/2014/main" id="{00D154E0-67D6-7DA9-BBF7-11224EB2B00B}"/>
              </a:ext>
            </a:extLst>
          </p:cNvPr>
          <p:cNvSpPr>
            <a:spLocks noGrp="1"/>
          </p:cNvSpPr>
          <p:nvPr>
            <p:ph type="body" sz="quarter" idx="13"/>
          </p:nvPr>
        </p:nvSpPr>
        <p:spPr/>
        <p:txBody>
          <a:bodyPr/>
          <a:lstStyle/>
          <a:p>
            <a:r>
              <a:rPr kumimoji="1" lang="en-US" altLang="ja-JP" dirty="0"/>
              <a:t>3. </a:t>
            </a:r>
            <a:r>
              <a:rPr kumimoji="1" lang="ja-JP" altLang="en-US" dirty="0"/>
              <a:t>プロジェクト紹介</a:t>
            </a:r>
          </a:p>
        </p:txBody>
      </p:sp>
      <p:grpSp>
        <p:nvGrpSpPr>
          <p:cNvPr id="6" name="グループ化 5">
            <a:extLst>
              <a:ext uri="{FF2B5EF4-FFF2-40B4-BE49-F238E27FC236}">
                <a16:creationId xmlns:a16="http://schemas.microsoft.com/office/drawing/2014/main" id="{F5107808-2946-C3C2-56FE-2ACFF5C388AA}"/>
              </a:ext>
            </a:extLst>
          </p:cNvPr>
          <p:cNvGrpSpPr/>
          <p:nvPr/>
        </p:nvGrpSpPr>
        <p:grpSpPr>
          <a:xfrm>
            <a:off x="488503" y="1637333"/>
            <a:ext cx="9131121" cy="237641"/>
            <a:chOff x="619124" y="1823770"/>
            <a:chExt cx="2762266" cy="347930"/>
          </a:xfrm>
        </p:grpSpPr>
        <p:cxnSp>
          <p:nvCxnSpPr>
            <p:cNvPr id="7" name="直線コネクタ 6">
              <a:extLst>
                <a:ext uri="{FF2B5EF4-FFF2-40B4-BE49-F238E27FC236}">
                  <a16:creationId xmlns:a16="http://schemas.microsoft.com/office/drawing/2014/main" id="{A03E38EA-F1DD-D08B-DD8B-DEB53DDDDE2E}"/>
                </a:ext>
              </a:extLst>
            </p:cNvPr>
            <p:cNvCxnSpPr/>
            <p:nvPr/>
          </p:nvCxnSpPr>
          <p:spPr bwMode="auto">
            <a:xfrm>
              <a:off x="619125" y="2171700"/>
              <a:ext cx="2762265" cy="0"/>
            </a:xfrm>
            <a:prstGeom prst="line">
              <a:avLst/>
            </a:prstGeom>
            <a:noFill/>
            <a:ln w="9525" cap="flat" cmpd="sng" algn="ctr">
              <a:solidFill>
                <a:schemeClr val="bg1">
                  <a:lumMod val="50000"/>
                </a:schemeClr>
              </a:solidFill>
              <a:prstDash val="solid"/>
              <a:round/>
              <a:headEnd type="none" w="med" len="med"/>
              <a:tailEnd type="none"/>
            </a:ln>
            <a:effectLst/>
          </p:spPr>
        </p:cxnSp>
        <p:sp>
          <p:nvSpPr>
            <p:cNvPr id="8" name="正方形/長方形 7">
              <a:extLst>
                <a:ext uri="{FF2B5EF4-FFF2-40B4-BE49-F238E27FC236}">
                  <a16:creationId xmlns:a16="http://schemas.microsoft.com/office/drawing/2014/main" id="{8D5FA98E-7915-DD88-F2B7-9191FE2F117D}"/>
                </a:ext>
              </a:extLst>
            </p:cNvPr>
            <p:cNvSpPr/>
            <p:nvPr/>
          </p:nvSpPr>
          <p:spPr bwMode="auto">
            <a:xfrm>
              <a:off x="619124" y="1823770"/>
              <a:ext cx="2762265" cy="347930"/>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400" dirty="0">
                  <a:solidFill>
                    <a:prstClr val="black"/>
                  </a:solidFill>
                  <a:latin typeface="Meiryo UI" panose="020B0604030504040204" pitchFamily="50" charset="-128"/>
                  <a:ea typeface="Meiryo UI" panose="020B0604030504040204" pitchFamily="50" charset="-128"/>
                </a:rPr>
                <a:t>取り組み事項</a:t>
              </a:r>
            </a:p>
          </p:txBody>
        </p:sp>
      </p:grpSp>
      <p:sp>
        <p:nvSpPr>
          <p:cNvPr id="9" name="正方形/長方形 8">
            <a:extLst>
              <a:ext uri="{FF2B5EF4-FFF2-40B4-BE49-F238E27FC236}">
                <a16:creationId xmlns:a16="http://schemas.microsoft.com/office/drawing/2014/main" id="{C3C4E17A-C878-3316-08E7-D79BB630E92A}"/>
              </a:ext>
            </a:extLst>
          </p:cNvPr>
          <p:cNvSpPr/>
          <p:nvPr/>
        </p:nvSpPr>
        <p:spPr bwMode="auto">
          <a:xfrm>
            <a:off x="488999" y="2257472"/>
            <a:ext cx="791924" cy="119650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050" dirty="0">
                <a:solidFill>
                  <a:prstClr val="black"/>
                </a:solidFill>
                <a:latin typeface="Meiryo UI" panose="020B0604030504040204" pitchFamily="50" charset="-128"/>
                <a:ea typeface="Meiryo UI" panose="020B0604030504040204" pitchFamily="50" charset="-128"/>
              </a:rPr>
              <a:t>ビジネス</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B008FDC2-2422-5AE8-FBB1-0EFC65120276}"/>
              </a:ext>
            </a:extLst>
          </p:cNvPr>
          <p:cNvSpPr/>
          <p:nvPr/>
        </p:nvSpPr>
        <p:spPr bwMode="auto">
          <a:xfrm>
            <a:off x="488999" y="3673730"/>
            <a:ext cx="791924" cy="119650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業務</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87CEDC6E-5D07-4338-57AF-23505499CACD}"/>
              </a:ext>
            </a:extLst>
          </p:cNvPr>
          <p:cNvSpPr/>
          <p:nvPr/>
        </p:nvSpPr>
        <p:spPr bwMode="auto">
          <a:xfrm>
            <a:off x="488999" y="5089988"/>
            <a:ext cx="791924" cy="119650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システム</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DAECBC01-D627-0281-F628-FC9FB8798715}"/>
              </a:ext>
            </a:extLst>
          </p:cNvPr>
          <p:cNvSpPr/>
          <p:nvPr/>
        </p:nvSpPr>
        <p:spPr bwMode="auto">
          <a:xfrm>
            <a:off x="1628775" y="2257471"/>
            <a:ext cx="2394585" cy="4029020"/>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アーキテクチャ戦略プログラム</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1BBF238B-3B21-B462-1C3D-B90179DC6BBD}"/>
              </a:ext>
            </a:extLst>
          </p:cNvPr>
          <p:cNvSpPr/>
          <p:nvPr/>
        </p:nvSpPr>
        <p:spPr bwMode="auto">
          <a:xfrm>
            <a:off x="1767352" y="2718080"/>
            <a:ext cx="926220" cy="34641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200" b="1" dirty="0">
                <a:solidFill>
                  <a:prstClr val="black"/>
                </a:solidFill>
                <a:latin typeface="Meiryo UI" panose="020B0604030504040204" pitchFamily="50" charset="-128"/>
                <a:ea typeface="Meiryo UI" panose="020B0604030504040204" pitchFamily="50" charset="-128"/>
              </a:rPr>
              <a:t>データ</a:t>
            </a:r>
            <a:br>
              <a:rPr lang="en-US" altLang="ja-JP" sz="1200" b="1" dirty="0">
                <a:solidFill>
                  <a:prstClr val="black"/>
                </a:solidFill>
                <a:latin typeface="Meiryo UI" panose="020B0604030504040204" pitchFamily="50" charset="-128"/>
                <a:ea typeface="Meiryo UI" panose="020B0604030504040204" pitchFamily="50" charset="-128"/>
              </a:rPr>
            </a:br>
            <a:r>
              <a:rPr lang="ja-JP" altLang="en-US" sz="1200" b="1" dirty="0">
                <a:solidFill>
                  <a:prstClr val="black"/>
                </a:solidFill>
                <a:latin typeface="Meiryo UI" panose="020B0604030504040204" pitchFamily="50" charset="-128"/>
                <a:ea typeface="Meiryo UI" panose="020B0604030504040204" pitchFamily="50" charset="-128"/>
              </a:rPr>
              <a:t>マネジメントサービス</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EC649A77-0B1D-D35E-7B67-94004DB4611C}"/>
              </a:ext>
            </a:extLst>
          </p:cNvPr>
          <p:cNvSpPr/>
          <p:nvPr/>
        </p:nvSpPr>
        <p:spPr bwMode="auto">
          <a:xfrm>
            <a:off x="2960872" y="3673730"/>
            <a:ext cx="926220" cy="2508513"/>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モダナイ</a:t>
            </a:r>
            <a:br>
              <a:rPr kumimoji="1" lang="en-US" altLang="ja-JP" sz="1200" b="1" dirty="0">
                <a:solidFill>
                  <a:prstClr val="black"/>
                </a:solidFill>
                <a:latin typeface="Meiryo UI" panose="020B0604030504040204" pitchFamily="50" charset="-128"/>
                <a:ea typeface="Meiryo UI" panose="020B0604030504040204" pitchFamily="50" charset="-128"/>
              </a:rPr>
            </a:br>
            <a:r>
              <a:rPr kumimoji="1" lang="ja-JP" altLang="en-US" sz="1200" b="1" dirty="0">
                <a:solidFill>
                  <a:prstClr val="black"/>
                </a:solidFill>
                <a:latin typeface="Meiryo UI" panose="020B0604030504040204" pitchFamily="50" charset="-128"/>
                <a:ea typeface="Meiryo UI" panose="020B0604030504040204" pitchFamily="50" charset="-128"/>
              </a:rPr>
              <a:t>ゼーション</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3A8B18E8-336A-4E48-5FCD-57F768BCEDD6}"/>
              </a:ext>
            </a:extLst>
          </p:cNvPr>
          <p:cNvSpPr/>
          <p:nvPr/>
        </p:nvSpPr>
        <p:spPr bwMode="auto">
          <a:xfrm>
            <a:off x="4154392" y="3673730"/>
            <a:ext cx="926220" cy="2508513"/>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オペレジ</a:t>
            </a:r>
            <a:endParaRPr kumimoji="1" lang="en-US" altLang="ja-JP" sz="12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1200" b="1" dirty="0">
                <a:solidFill>
                  <a:prstClr val="black"/>
                </a:solidFill>
                <a:latin typeface="Meiryo UI" panose="020B0604030504040204" pitchFamily="50" charset="-128"/>
                <a:ea typeface="Meiryo UI" panose="020B0604030504040204" pitchFamily="50" charset="-128"/>
              </a:rPr>
              <a:t>施策</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32031049-FFE8-C1BC-9FA3-E4855489F3C3}"/>
              </a:ext>
            </a:extLst>
          </p:cNvPr>
          <p:cNvSpPr/>
          <p:nvPr/>
        </p:nvSpPr>
        <p:spPr bwMode="auto">
          <a:xfrm>
            <a:off x="6541432" y="2257471"/>
            <a:ext cx="926220" cy="2612767"/>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業務改善</a:t>
            </a:r>
            <a:endParaRPr kumimoji="1" lang="en-US" altLang="ja-JP" sz="12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en-US" altLang="ja-JP" sz="1200" b="1" dirty="0">
                <a:solidFill>
                  <a:prstClr val="black"/>
                </a:solidFill>
                <a:latin typeface="Meiryo UI" panose="020B0604030504040204" pitchFamily="50" charset="-128"/>
                <a:ea typeface="Meiryo UI" panose="020B0604030504040204" pitchFamily="50" charset="-128"/>
              </a:rPr>
              <a:t>(BPR)</a:t>
            </a:r>
          </a:p>
        </p:txBody>
      </p:sp>
      <p:sp>
        <p:nvSpPr>
          <p:cNvPr id="17" name="正方形/長方形 16">
            <a:extLst>
              <a:ext uri="{FF2B5EF4-FFF2-40B4-BE49-F238E27FC236}">
                <a16:creationId xmlns:a16="http://schemas.microsoft.com/office/drawing/2014/main" id="{4F917C3C-356E-3D9F-2D8D-A4678A8432DF}"/>
              </a:ext>
            </a:extLst>
          </p:cNvPr>
          <p:cNvSpPr/>
          <p:nvPr/>
        </p:nvSpPr>
        <p:spPr bwMode="auto">
          <a:xfrm>
            <a:off x="7734954" y="2257472"/>
            <a:ext cx="926220" cy="2612767"/>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200" b="1" dirty="0">
                <a:solidFill>
                  <a:prstClr val="black"/>
                </a:solidFill>
                <a:latin typeface="Meiryo UI" panose="020B0604030504040204" pitchFamily="50" charset="-128"/>
                <a:ea typeface="Meiryo UI" panose="020B0604030504040204" pitchFamily="50" charset="-128"/>
              </a:rPr>
              <a:t>DX</a:t>
            </a:r>
            <a:r>
              <a:rPr kumimoji="1" lang="ja-JP" altLang="en-US" sz="1200" b="1" dirty="0">
                <a:solidFill>
                  <a:prstClr val="black"/>
                </a:solidFill>
                <a:latin typeface="Meiryo UI" panose="020B0604030504040204" pitchFamily="50" charset="-128"/>
                <a:ea typeface="Meiryo UI" panose="020B0604030504040204" pitchFamily="50" charset="-128"/>
              </a:rPr>
              <a:t>戦略</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43022B3F-1373-A79B-35DC-69C35F34DD34}"/>
              </a:ext>
            </a:extLst>
          </p:cNvPr>
          <p:cNvSpPr/>
          <p:nvPr/>
        </p:nvSpPr>
        <p:spPr bwMode="auto">
          <a:xfrm>
            <a:off x="8928474" y="4126573"/>
            <a:ext cx="632621" cy="29082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74081F22-52AF-4692-D993-791B92B94968}"/>
              </a:ext>
            </a:extLst>
          </p:cNvPr>
          <p:cNvSpPr/>
          <p:nvPr/>
        </p:nvSpPr>
        <p:spPr bwMode="auto">
          <a:xfrm>
            <a:off x="1767352" y="2718080"/>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B</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grpSp>
        <p:nvGrpSpPr>
          <p:cNvPr id="20" name="グループ化 19">
            <a:extLst>
              <a:ext uri="{FF2B5EF4-FFF2-40B4-BE49-F238E27FC236}">
                <a16:creationId xmlns:a16="http://schemas.microsoft.com/office/drawing/2014/main" id="{3D380C0C-4694-7975-EC38-25347FA52DAC}"/>
              </a:ext>
            </a:extLst>
          </p:cNvPr>
          <p:cNvGrpSpPr/>
          <p:nvPr/>
        </p:nvGrpSpPr>
        <p:grpSpPr>
          <a:xfrm>
            <a:off x="5347912" y="2718080"/>
            <a:ext cx="926220" cy="2152158"/>
            <a:chOff x="2960872" y="2499005"/>
            <a:chExt cx="926220" cy="2152158"/>
          </a:xfrm>
        </p:grpSpPr>
        <p:sp>
          <p:nvSpPr>
            <p:cNvPr id="21" name="正方形/長方形 20">
              <a:extLst>
                <a:ext uri="{FF2B5EF4-FFF2-40B4-BE49-F238E27FC236}">
                  <a16:creationId xmlns:a16="http://schemas.microsoft.com/office/drawing/2014/main" id="{E207C333-67E1-BB88-B5E9-20916094C9CD}"/>
                </a:ext>
              </a:extLst>
            </p:cNvPr>
            <p:cNvSpPr/>
            <p:nvPr/>
          </p:nvSpPr>
          <p:spPr bwMode="auto">
            <a:xfrm>
              <a:off x="2960872" y="2499005"/>
              <a:ext cx="926220" cy="215215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生保</a:t>
              </a:r>
              <a:r>
                <a:rPr kumimoji="1" lang="en-US" altLang="ja-JP" sz="1200" b="1" dirty="0">
                  <a:solidFill>
                    <a:prstClr val="black"/>
                  </a:solidFill>
                  <a:latin typeface="Meiryo UI" panose="020B0604030504040204" pitchFamily="50" charset="-128"/>
                  <a:ea typeface="Meiryo UI" panose="020B0604030504040204" pitchFamily="50" charset="-128"/>
                </a:rPr>
                <a:t>BPO</a:t>
              </a:r>
            </a:p>
          </p:txBody>
        </p:sp>
        <p:sp>
          <p:nvSpPr>
            <p:cNvPr id="22" name="正方形/長方形 21">
              <a:extLst>
                <a:ext uri="{FF2B5EF4-FFF2-40B4-BE49-F238E27FC236}">
                  <a16:creationId xmlns:a16="http://schemas.microsoft.com/office/drawing/2014/main" id="{C25A170F-9413-8A50-403D-50999DDE6DEA}"/>
                </a:ext>
              </a:extLst>
            </p:cNvPr>
            <p:cNvSpPr/>
            <p:nvPr/>
          </p:nvSpPr>
          <p:spPr bwMode="auto">
            <a:xfrm>
              <a:off x="2960872" y="2499005"/>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E</a:t>
              </a:r>
            </a:p>
          </p:txBody>
        </p:sp>
      </p:grpSp>
      <p:sp>
        <p:nvSpPr>
          <p:cNvPr id="23" name="正方形/長方形 22">
            <a:extLst>
              <a:ext uri="{FF2B5EF4-FFF2-40B4-BE49-F238E27FC236}">
                <a16:creationId xmlns:a16="http://schemas.microsoft.com/office/drawing/2014/main" id="{DFA0F536-E6A9-76FB-0266-16996B787DC8}"/>
              </a:ext>
            </a:extLst>
          </p:cNvPr>
          <p:cNvSpPr/>
          <p:nvPr/>
        </p:nvSpPr>
        <p:spPr bwMode="auto">
          <a:xfrm>
            <a:off x="2960872" y="3673730"/>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C</a:t>
            </a:r>
          </a:p>
        </p:txBody>
      </p:sp>
      <p:sp>
        <p:nvSpPr>
          <p:cNvPr id="24" name="正方形/長方形 23">
            <a:extLst>
              <a:ext uri="{FF2B5EF4-FFF2-40B4-BE49-F238E27FC236}">
                <a16:creationId xmlns:a16="http://schemas.microsoft.com/office/drawing/2014/main" id="{46157F75-9E9A-D83F-B9FB-C9F6C15B7F3D}"/>
              </a:ext>
            </a:extLst>
          </p:cNvPr>
          <p:cNvSpPr/>
          <p:nvPr/>
        </p:nvSpPr>
        <p:spPr bwMode="auto">
          <a:xfrm>
            <a:off x="4154392" y="3673730"/>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D</a:t>
            </a:r>
          </a:p>
        </p:txBody>
      </p:sp>
      <p:sp>
        <p:nvSpPr>
          <p:cNvPr id="25" name="正方形/長方形 24">
            <a:extLst>
              <a:ext uri="{FF2B5EF4-FFF2-40B4-BE49-F238E27FC236}">
                <a16:creationId xmlns:a16="http://schemas.microsoft.com/office/drawing/2014/main" id="{7B514142-3B1E-9B88-14C2-16A9D30EB6BE}"/>
              </a:ext>
            </a:extLst>
          </p:cNvPr>
          <p:cNvSpPr/>
          <p:nvPr/>
        </p:nvSpPr>
        <p:spPr bwMode="auto">
          <a:xfrm>
            <a:off x="6541432" y="2257471"/>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F</a:t>
            </a:r>
          </a:p>
        </p:txBody>
      </p:sp>
      <p:sp>
        <p:nvSpPr>
          <p:cNvPr id="26" name="正方形/長方形 25">
            <a:extLst>
              <a:ext uri="{FF2B5EF4-FFF2-40B4-BE49-F238E27FC236}">
                <a16:creationId xmlns:a16="http://schemas.microsoft.com/office/drawing/2014/main" id="{A4460EFD-DEC0-C489-D550-D65EFDD15AF4}"/>
              </a:ext>
            </a:extLst>
          </p:cNvPr>
          <p:cNvSpPr/>
          <p:nvPr/>
        </p:nvSpPr>
        <p:spPr bwMode="auto">
          <a:xfrm>
            <a:off x="7734954" y="2257472"/>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G</a:t>
            </a:r>
          </a:p>
        </p:txBody>
      </p:sp>
      <p:sp>
        <p:nvSpPr>
          <p:cNvPr id="34" name="正方形/長方形 33">
            <a:extLst>
              <a:ext uri="{FF2B5EF4-FFF2-40B4-BE49-F238E27FC236}">
                <a16:creationId xmlns:a16="http://schemas.microsoft.com/office/drawing/2014/main" id="{B92500AB-9289-F86A-8E4E-21341B9EAE71}"/>
              </a:ext>
            </a:extLst>
          </p:cNvPr>
          <p:cNvSpPr/>
          <p:nvPr/>
        </p:nvSpPr>
        <p:spPr bwMode="auto">
          <a:xfrm>
            <a:off x="1628775" y="2257471"/>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A</a:t>
            </a:r>
          </a:p>
        </p:txBody>
      </p:sp>
      <p:sp>
        <p:nvSpPr>
          <p:cNvPr id="36" name="正方形/長方形 35">
            <a:extLst>
              <a:ext uri="{FF2B5EF4-FFF2-40B4-BE49-F238E27FC236}">
                <a16:creationId xmlns:a16="http://schemas.microsoft.com/office/drawing/2014/main" id="{ED613CD6-A65A-ADFD-E649-1C755734CBD4}"/>
              </a:ext>
            </a:extLst>
          </p:cNvPr>
          <p:cNvSpPr/>
          <p:nvPr/>
        </p:nvSpPr>
        <p:spPr bwMode="auto">
          <a:xfrm>
            <a:off x="1548223" y="2162178"/>
            <a:ext cx="3633377" cy="4117396"/>
          </a:xfrm>
          <a:prstGeom prst="rect">
            <a:avLst/>
          </a:prstGeom>
          <a:noFill/>
          <a:ln w="28575" cap="flat" cmpd="sng" algn="ctr">
            <a:solidFill>
              <a:schemeClr val="accent2">
                <a:lumMod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2A9FE289-B417-E403-E618-024423E715AB}"/>
              </a:ext>
            </a:extLst>
          </p:cNvPr>
          <p:cNvSpPr/>
          <p:nvPr/>
        </p:nvSpPr>
        <p:spPr bwMode="auto">
          <a:xfrm>
            <a:off x="6453599" y="2162178"/>
            <a:ext cx="1180368" cy="2847971"/>
          </a:xfrm>
          <a:prstGeom prst="rect">
            <a:avLst/>
          </a:prstGeom>
          <a:noFill/>
          <a:ln w="28575" cap="flat" cmpd="sng" algn="ctr">
            <a:solidFill>
              <a:schemeClr val="accent2">
                <a:lumMod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8" name="楕円 37">
            <a:extLst>
              <a:ext uri="{FF2B5EF4-FFF2-40B4-BE49-F238E27FC236}">
                <a16:creationId xmlns:a16="http://schemas.microsoft.com/office/drawing/2014/main" id="{62DE603C-1879-7FA6-376B-B237374BF5D6}"/>
              </a:ext>
            </a:extLst>
          </p:cNvPr>
          <p:cNvSpPr/>
          <p:nvPr/>
        </p:nvSpPr>
        <p:spPr bwMode="auto">
          <a:xfrm>
            <a:off x="6337786" y="2039172"/>
            <a:ext cx="252000" cy="252000"/>
          </a:xfrm>
          <a:prstGeom prst="ellipse">
            <a:avLst/>
          </a:prstGeom>
          <a:solidFill>
            <a:schemeClr val="accent2">
              <a:lumMod val="5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400" b="1" dirty="0">
                <a:solidFill>
                  <a:schemeClr val="bg1"/>
                </a:solidFill>
                <a:latin typeface="Meiryo UI" panose="020B0604030504040204" pitchFamily="50" charset="-128"/>
                <a:ea typeface="Meiryo UI" panose="020B0604030504040204" pitchFamily="50" charset="-128"/>
              </a:rPr>
              <a:t>２</a:t>
            </a:r>
            <a:endParaRPr kumimoji="1" lang="ja-JP" altLang="en-US" sz="1400" b="1" dirty="0">
              <a:solidFill>
                <a:schemeClr val="bg1"/>
              </a:solidFill>
              <a:latin typeface="Meiryo UI" panose="020B0604030504040204" pitchFamily="50" charset="-128"/>
              <a:ea typeface="Meiryo UI" panose="020B0604030504040204" pitchFamily="50" charset="-128"/>
            </a:endParaRPr>
          </a:p>
        </p:txBody>
      </p:sp>
      <p:sp>
        <p:nvSpPr>
          <p:cNvPr id="39" name="楕円 38">
            <a:extLst>
              <a:ext uri="{FF2B5EF4-FFF2-40B4-BE49-F238E27FC236}">
                <a16:creationId xmlns:a16="http://schemas.microsoft.com/office/drawing/2014/main" id="{5918CFF6-2940-1B26-1DDF-BFAB8799754B}"/>
              </a:ext>
            </a:extLst>
          </p:cNvPr>
          <p:cNvSpPr/>
          <p:nvPr/>
        </p:nvSpPr>
        <p:spPr bwMode="auto">
          <a:xfrm>
            <a:off x="1420678" y="2041918"/>
            <a:ext cx="252000" cy="252000"/>
          </a:xfrm>
          <a:prstGeom prst="ellipse">
            <a:avLst/>
          </a:prstGeom>
          <a:solidFill>
            <a:schemeClr val="accent2">
              <a:lumMod val="5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400" b="1" dirty="0">
                <a:solidFill>
                  <a:schemeClr val="bg1"/>
                </a:solidFill>
                <a:latin typeface="Meiryo UI" panose="020B0604030504040204" pitchFamily="50" charset="-128"/>
                <a:ea typeface="Meiryo UI" panose="020B0604030504040204" pitchFamily="50" charset="-128"/>
              </a:rPr>
              <a:t>１</a:t>
            </a:r>
          </a:p>
        </p:txBody>
      </p:sp>
    </p:spTree>
    <p:extLst>
      <p:ext uri="{BB962C8B-B14F-4D97-AF65-F5344CB8AC3E}">
        <p14:creationId xmlns:p14="http://schemas.microsoft.com/office/powerpoint/2010/main" val="976760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2235F-522B-4D84-CC79-B2048B97924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FE365090-3056-0CBF-DC72-91DA9805F4F9}"/>
              </a:ext>
            </a:extLst>
          </p:cNvPr>
          <p:cNvSpPr/>
          <p:nvPr/>
        </p:nvSpPr>
        <p:spPr bwMode="auto">
          <a:xfrm>
            <a:off x="2989779" y="5094254"/>
            <a:ext cx="4423881"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6474C979-6A20-6677-E9F3-D67E7044C9C7}"/>
              </a:ext>
            </a:extLst>
          </p:cNvPr>
          <p:cNvSpPr/>
          <p:nvPr/>
        </p:nvSpPr>
        <p:spPr bwMode="auto">
          <a:xfrm>
            <a:off x="2492339" y="4294592"/>
            <a:ext cx="4921322"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CB9D7880-2BAC-1A05-7EA4-ACCC3872F568}"/>
              </a:ext>
            </a:extLst>
          </p:cNvPr>
          <p:cNvSpPr/>
          <p:nvPr/>
        </p:nvSpPr>
        <p:spPr bwMode="auto">
          <a:xfrm>
            <a:off x="2492339" y="1192976"/>
            <a:ext cx="4921322" cy="514146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28600"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MTBJ/MUSK</a:t>
            </a:r>
            <a:r>
              <a:rPr kumimoji="1" lang="ja-JP" altLang="en-US" dirty="0">
                <a:solidFill>
                  <a:prstClr val="black"/>
                </a:solidFill>
                <a:latin typeface="Meiryo UI" panose="020B0604030504040204" pitchFamily="50" charset="-128"/>
                <a:ea typeface="Meiryo UI" panose="020B0604030504040204" pitchFamily="50" charset="-128"/>
              </a:rPr>
              <a:t>の概要</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a:t>
            </a:r>
            <a:r>
              <a:rPr lang="ja-JP" altLang="en-US" dirty="0">
                <a:solidFill>
                  <a:prstClr val="black"/>
                </a:solidFill>
                <a:latin typeface="Meiryo UI" panose="020B0604030504040204" pitchFamily="50" charset="-128"/>
                <a:ea typeface="Meiryo UI" panose="020B0604030504040204" pitchFamily="50" charset="-128"/>
              </a:rPr>
              <a:t>とは？</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MUSK</a:t>
            </a:r>
            <a:r>
              <a:rPr lang="ja-JP" altLang="en-US" dirty="0">
                <a:solidFill>
                  <a:prstClr val="black"/>
                </a:solidFill>
                <a:latin typeface="Meiryo UI" panose="020B0604030504040204" pitchFamily="50" charset="-128"/>
                <a:ea typeface="Meiryo UI" panose="020B0604030504040204" pitchFamily="50" charset="-128"/>
              </a:rPr>
              <a:t>とは？</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アカウント紹介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アカウントの概要</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アカウントの特徴</a:t>
            </a:r>
            <a:endParaRPr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ご支援内容の全体像</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プロジェクト①アーキテクチャ戦略</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プロジェクト②業務改善支援</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まとめ</a:t>
            </a:r>
          </a:p>
        </p:txBody>
      </p:sp>
    </p:spTree>
    <p:extLst>
      <p:ext uri="{BB962C8B-B14F-4D97-AF65-F5344CB8AC3E}">
        <p14:creationId xmlns:p14="http://schemas.microsoft.com/office/powerpoint/2010/main" val="923542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5C06FE-3709-71A0-4C32-1A750D971C47}"/>
              </a:ext>
            </a:extLst>
          </p:cNvPr>
          <p:cNvSpPr>
            <a:spLocks noGrp="1"/>
          </p:cNvSpPr>
          <p:nvPr>
            <p:ph type="title"/>
          </p:nvPr>
        </p:nvSpPr>
        <p:spPr/>
        <p:txBody>
          <a:bodyPr/>
          <a:lstStyle/>
          <a:p>
            <a:r>
              <a:rPr lang="en-US" altLang="ja-JP" dirty="0"/>
              <a:t>1. </a:t>
            </a:r>
            <a:r>
              <a:rPr lang="ja-JP" altLang="en-US" dirty="0"/>
              <a:t>プロジェクトの概要～①取り組みの考え方</a:t>
            </a:r>
            <a:endParaRPr kumimoji="1" lang="ja-JP" altLang="en-US" dirty="0"/>
          </a:p>
        </p:txBody>
      </p:sp>
      <p:sp>
        <p:nvSpPr>
          <p:cNvPr id="3" name="テキスト プレースホルダー 2">
            <a:extLst>
              <a:ext uri="{FF2B5EF4-FFF2-40B4-BE49-F238E27FC236}">
                <a16:creationId xmlns:a16="http://schemas.microsoft.com/office/drawing/2014/main" id="{D7987706-DFCE-E8E8-C155-94F3F6076D85}"/>
              </a:ext>
            </a:extLst>
          </p:cNvPr>
          <p:cNvSpPr>
            <a:spLocks noGrp="1"/>
          </p:cNvSpPr>
          <p:nvPr>
            <p:ph type="body" idx="12"/>
          </p:nvPr>
        </p:nvSpPr>
        <p:spPr/>
        <p:txBody>
          <a:bodyPr/>
          <a:lstStyle/>
          <a:p>
            <a:r>
              <a:rPr kumimoji="1" lang="ja-JP" altLang="en-US" dirty="0"/>
              <a:t>アーキテクチャ戦略プログラムは、世界標準である</a:t>
            </a:r>
            <a:r>
              <a:rPr kumimoji="1" lang="en-US" altLang="ja-JP" dirty="0"/>
              <a:t>RTB</a:t>
            </a:r>
            <a:r>
              <a:rPr kumimoji="1" lang="ja-JP" altLang="en-US" dirty="0"/>
              <a:t>と</a:t>
            </a:r>
            <a:r>
              <a:rPr kumimoji="1" lang="en-US" altLang="ja-JP" dirty="0"/>
              <a:t>CTB</a:t>
            </a:r>
            <a:r>
              <a:rPr lang="ja-JP" altLang="en-US" dirty="0"/>
              <a:t>の概念を取り入れて、この２軸でプログラムを推進しています。</a:t>
            </a:r>
            <a:endParaRPr kumimoji="1" lang="ja-JP" altLang="en-US" dirty="0"/>
          </a:p>
        </p:txBody>
      </p:sp>
      <p:sp>
        <p:nvSpPr>
          <p:cNvPr id="4" name="テキスト プレースホルダー 3">
            <a:extLst>
              <a:ext uri="{FF2B5EF4-FFF2-40B4-BE49-F238E27FC236}">
                <a16:creationId xmlns:a16="http://schemas.microsoft.com/office/drawing/2014/main" id="{390052E8-30D5-61F9-B382-DCE3D1619FB2}"/>
              </a:ext>
            </a:extLst>
          </p:cNvPr>
          <p:cNvSpPr>
            <a:spLocks noGrp="1"/>
          </p:cNvSpPr>
          <p:nvPr>
            <p:ph type="body" sz="quarter" idx="13"/>
          </p:nvPr>
        </p:nvSpPr>
        <p:spPr/>
        <p:txBody>
          <a:bodyPr/>
          <a:lstStyle/>
          <a:p>
            <a:r>
              <a:rPr lang="en-US" altLang="ja-JP" dirty="0"/>
              <a:t>3. </a:t>
            </a:r>
            <a:r>
              <a:rPr lang="ja-JP" altLang="en-US" dirty="0"/>
              <a:t>プロジェクト① アーキテクチャ戦略</a:t>
            </a:r>
            <a:endParaRPr kumimoji="1" lang="ja-JP" altLang="en-US" dirty="0"/>
          </a:p>
        </p:txBody>
      </p:sp>
      <p:sp>
        <p:nvSpPr>
          <p:cNvPr id="10" name="正方形/長方形 9">
            <a:extLst>
              <a:ext uri="{FF2B5EF4-FFF2-40B4-BE49-F238E27FC236}">
                <a16:creationId xmlns:a16="http://schemas.microsoft.com/office/drawing/2014/main" id="{D16B8F63-3573-0EA6-58FC-9EA80290F413}"/>
              </a:ext>
            </a:extLst>
          </p:cNvPr>
          <p:cNvSpPr/>
          <p:nvPr/>
        </p:nvSpPr>
        <p:spPr bwMode="auto">
          <a:xfrm>
            <a:off x="488504" y="2455521"/>
            <a:ext cx="9004817" cy="3524036"/>
          </a:xfrm>
          <a:prstGeom prst="rect">
            <a:avLst/>
          </a:prstGeom>
          <a:solidFill>
            <a:schemeClr val="bg1"/>
          </a:solidFill>
          <a:ln w="38100" cap="flat" cmpd="sng" algn="ctr">
            <a:solidFill>
              <a:schemeClr val="accent2">
                <a:lumMod val="60000"/>
                <a:lumOff val="4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600" u="sng" dirty="0">
              <a:solidFill>
                <a:prstClr val="black"/>
              </a:solidFill>
              <a:latin typeface="Meiryo UI" panose="020B0604030504040204" pitchFamily="50" charset="-128"/>
              <a:ea typeface="Meiryo UI" panose="020B0604030504040204" pitchFamily="50" charset="-128"/>
            </a:endParaRPr>
          </a:p>
        </p:txBody>
      </p:sp>
      <p:grpSp>
        <p:nvGrpSpPr>
          <p:cNvPr id="13" name="グループ化 12">
            <a:extLst>
              <a:ext uri="{FF2B5EF4-FFF2-40B4-BE49-F238E27FC236}">
                <a16:creationId xmlns:a16="http://schemas.microsoft.com/office/drawing/2014/main" id="{A32EA04C-56BE-5E89-3CB5-7708A6B74EC8}"/>
              </a:ext>
            </a:extLst>
          </p:cNvPr>
          <p:cNvGrpSpPr/>
          <p:nvPr/>
        </p:nvGrpSpPr>
        <p:grpSpPr>
          <a:xfrm>
            <a:off x="1196940" y="3014374"/>
            <a:ext cx="3411020" cy="2472024"/>
            <a:chOff x="1196940" y="3014374"/>
            <a:chExt cx="3411020" cy="2472024"/>
          </a:xfrm>
        </p:grpSpPr>
        <p:sp>
          <p:nvSpPr>
            <p:cNvPr id="6" name="正方形/長方形 5">
              <a:extLst>
                <a:ext uri="{FF2B5EF4-FFF2-40B4-BE49-F238E27FC236}">
                  <a16:creationId xmlns:a16="http://schemas.microsoft.com/office/drawing/2014/main" id="{57499D0A-D46F-5C52-6E69-B1BF73E3EF90}"/>
                </a:ext>
              </a:extLst>
            </p:cNvPr>
            <p:cNvSpPr/>
            <p:nvPr/>
          </p:nvSpPr>
          <p:spPr bwMode="auto">
            <a:xfrm>
              <a:off x="1196940" y="3369921"/>
              <a:ext cx="3411020" cy="2116477"/>
            </a:xfrm>
            <a:prstGeom prst="rect">
              <a:avLst/>
            </a:prstGeom>
            <a:solidFill>
              <a:schemeClr val="bg1"/>
            </a:solidFill>
            <a:ln w="28575" cap="flat" cmpd="sng" algn="ctr">
              <a:solidFill>
                <a:srgbClr val="FF0000"/>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600" b="1" i="1" u="sng" dirty="0">
                  <a:solidFill>
                    <a:prstClr val="black"/>
                  </a:solidFill>
                  <a:latin typeface="Meiryo UI" panose="020B0604030504040204" pitchFamily="50" charset="-128"/>
                  <a:ea typeface="Meiryo UI" panose="020B0604030504040204" pitchFamily="50" charset="-128"/>
                </a:rPr>
                <a:t>現業維持のための</a:t>
              </a:r>
              <a:r>
                <a:rPr lang="en-US" altLang="ja-JP" sz="1600" b="1" i="1" u="sng" dirty="0">
                  <a:solidFill>
                    <a:prstClr val="black"/>
                  </a:solidFill>
                  <a:latin typeface="Meiryo UI" panose="020B0604030504040204" pitchFamily="50" charset="-128"/>
                  <a:ea typeface="Meiryo UI" panose="020B0604030504040204" pitchFamily="50" charset="-128"/>
                </a:rPr>
                <a:t>IT</a:t>
              </a:r>
              <a:r>
                <a:rPr lang="ja-JP" altLang="en-US" sz="1600" b="1" i="1" u="sng" dirty="0">
                  <a:solidFill>
                    <a:prstClr val="black"/>
                  </a:solidFill>
                  <a:latin typeface="Meiryo UI" panose="020B0604030504040204" pitchFamily="50" charset="-128"/>
                  <a:ea typeface="Meiryo UI" panose="020B0604030504040204" pitchFamily="50" charset="-128"/>
                </a:rPr>
                <a:t>投資</a:t>
              </a:r>
              <a:endParaRPr kumimoji="1" lang="ja-JP" altLang="en-US" sz="1600" b="1" i="1" u="sng" dirty="0">
                <a:solidFill>
                  <a:prstClr val="black"/>
                </a:solidFill>
                <a:latin typeface="Meiryo UI" panose="020B0604030504040204" pitchFamily="50" charset="-128"/>
                <a:ea typeface="Meiryo UI" panose="020B0604030504040204" pitchFamily="50" charset="-128"/>
              </a:endParaRPr>
            </a:p>
          </p:txBody>
        </p:sp>
        <p:sp>
          <p:nvSpPr>
            <p:cNvPr id="8" name="四角形: 角を丸くする 7">
              <a:extLst>
                <a:ext uri="{FF2B5EF4-FFF2-40B4-BE49-F238E27FC236}">
                  <a16:creationId xmlns:a16="http://schemas.microsoft.com/office/drawing/2014/main" id="{BF728301-A0FC-1D5E-8E12-8FC789966BE6}"/>
                </a:ext>
              </a:extLst>
            </p:cNvPr>
            <p:cNvSpPr/>
            <p:nvPr/>
          </p:nvSpPr>
          <p:spPr bwMode="auto">
            <a:xfrm>
              <a:off x="1582822" y="3014374"/>
              <a:ext cx="2639256" cy="711095"/>
            </a:xfrm>
            <a:prstGeom prst="roundRect">
              <a:avLst/>
            </a:prstGeom>
            <a:solidFill>
              <a:srgbClr val="FF0000"/>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600" dirty="0">
                  <a:solidFill>
                    <a:schemeClr val="bg1"/>
                  </a:solidFill>
                  <a:latin typeface="Meiryo UI" panose="020B0604030504040204" pitchFamily="50" charset="-128"/>
                  <a:ea typeface="Meiryo UI" panose="020B0604030504040204" pitchFamily="50" charset="-128"/>
                </a:rPr>
                <a:t>RTB</a:t>
              </a:r>
            </a:p>
            <a:p>
              <a:pPr algn="ctr" defTabSz="908410" fontAlgn="base">
                <a:spcAft>
                  <a:spcPct val="0"/>
                </a:spcAft>
              </a:pPr>
              <a:r>
                <a:rPr lang="ja-JP" altLang="en-US" sz="1600" dirty="0">
                  <a:solidFill>
                    <a:schemeClr val="bg1"/>
                  </a:solidFill>
                  <a:latin typeface="Meiryo UI" panose="020B0604030504040204" pitchFamily="50" charset="-128"/>
                  <a:ea typeface="Meiryo UI" panose="020B0604030504040204" pitchFamily="50" charset="-128"/>
                </a:rPr>
                <a:t>（</a:t>
              </a:r>
              <a:r>
                <a:rPr lang="en-US" altLang="ja-JP" sz="1600" dirty="0">
                  <a:solidFill>
                    <a:schemeClr val="bg1"/>
                  </a:solidFill>
                  <a:latin typeface="Meiryo UI" panose="020B0604030504040204" pitchFamily="50" charset="-128"/>
                  <a:ea typeface="Meiryo UI" panose="020B0604030504040204" pitchFamily="50" charset="-128"/>
                </a:rPr>
                <a:t>Run the Bank</a:t>
              </a:r>
              <a:r>
                <a:rPr lang="ja-JP" altLang="en-US" sz="1600" dirty="0">
                  <a:solidFill>
                    <a:schemeClr val="bg1"/>
                  </a:solidFill>
                  <a:latin typeface="Meiryo UI" panose="020B0604030504040204" pitchFamily="50" charset="-128"/>
                  <a:ea typeface="Meiryo UI" panose="020B0604030504040204" pitchFamily="50" charset="-128"/>
                </a:rPr>
                <a:t>）</a:t>
              </a:r>
              <a:endParaRPr kumimoji="1" lang="ja-JP" altLang="en-US" sz="1600" dirty="0">
                <a:solidFill>
                  <a:schemeClr val="bg1"/>
                </a:solidFill>
                <a:latin typeface="Meiryo UI" panose="020B0604030504040204" pitchFamily="50" charset="-128"/>
                <a:ea typeface="Meiryo UI" panose="020B0604030504040204" pitchFamily="50" charset="-128"/>
              </a:endParaRPr>
            </a:p>
          </p:txBody>
        </p:sp>
      </p:grpSp>
      <p:grpSp>
        <p:nvGrpSpPr>
          <p:cNvPr id="5" name="グループ化 4">
            <a:extLst>
              <a:ext uri="{FF2B5EF4-FFF2-40B4-BE49-F238E27FC236}">
                <a16:creationId xmlns:a16="http://schemas.microsoft.com/office/drawing/2014/main" id="{C9543333-C2B9-B61E-9973-ACEB361AD990}"/>
              </a:ext>
            </a:extLst>
          </p:cNvPr>
          <p:cNvGrpSpPr/>
          <p:nvPr/>
        </p:nvGrpSpPr>
        <p:grpSpPr>
          <a:xfrm>
            <a:off x="5279205" y="3014374"/>
            <a:ext cx="3411020" cy="2472024"/>
            <a:chOff x="5279205" y="3014374"/>
            <a:chExt cx="3411020" cy="2472024"/>
          </a:xfrm>
        </p:grpSpPr>
        <p:sp>
          <p:nvSpPr>
            <p:cNvPr id="7" name="正方形/長方形 6">
              <a:extLst>
                <a:ext uri="{FF2B5EF4-FFF2-40B4-BE49-F238E27FC236}">
                  <a16:creationId xmlns:a16="http://schemas.microsoft.com/office/drawing/2014/main" id="{3ECF4BB5-C461-38FE-7162-9A522462792E}"/>
                </a:ext>
              </a:extLst>
            </p:cNvPr>
            <p:cNvSpPr/>
            <p:nvPr/>
          </p:nvSpPr>
          <p:spPr bwMode="auto">
            <a:xfrm>
              <a:off x="5279205" y="3369921"/>
              <a:ext cx="3411020" cy="2116477"/>
            </a:xfrm>
            <a:prstGeom prst="rect">
              <a:avLst/>
            </a:prstGeom>
            <a:solidFill>
              <a:schemeClr val="bg1"/>
            </a:solidFill>
            <a:ln w="28575" cap="flat" cmpd="sng" algn="ctr">
              <a:solidFill>
                <a:srgbClr val="00B0F0"/>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600" b="1" i="1" u="sng" dirty="0">
                  <a:solidFill>
                    <a:prstClr val="black"/>
                  </a:solidFill>
                  <a:latin typeface="Meiryo UI" panose="020B0604030504040204" pitchFamily="50" charset="-128"/>
                  <a:ea typeface="Meiryo UI" panose="020B0604030504040204" pitchFamily="50" charset="-128"/>
                </a:rPr>
                <a:t>事業変革のための</a:t>
              </a:r>
              <a:r>
                <a:rPr kumimoji="1" lang="en-US" altLang="ja-JP" sz="1600" b="1" i="1" u="sng" dirty="0">
                  <a:solidFill>
                    <a:prstClr val="black"/>
                  </a:solidFill>
                  <a:latin typeface="Meiryo UI" panose="020B0604030504040204" pitchFamily="50" charset="-128"/>
                  <a:ea typeface="Meiryo UI" panose="020B0604030504040204" pitchFamily="50" charset="-128"/>
                </a:rPr>
                <a:t>IT</a:t>
              </a:r>
              <a:r>
                <a:rPr kumimoji="1" lang="ja-JP" altLang="en-US" sz="1600" b="1" i="1" u="sng" dirty="0">
                  <a:solidFill>
                    <a:prstClr val="black"/>
                  </a:solidFill>
                  <a:latin typeface="Meiryo UI" panose="020B0604030504040204" pitchFamily="50" charset="-128"/>
                  <a:ea typeface="Meiryo UI" panose="020B0604030504040204" pitchFamily="50" charset="-128"/>
                </a:rPr>
                <a:t>投資</a:t>
              </a:r>
            </a:p>
          </p:txBody>
        </p:sp>
        <p:sp>
          <p:nvSpPr>
            <p:cNvPr id="9" name="四角形: 角を丸くする 8">
              <a:extLst>
                <a:ext uri="{FF2B5EF4-FFF2-40B4-BE49-F238E27FC236}">
                  <a16:creationId xmlns:a16="http://schemas.microsoft.com/office/drawing/2014/main" id="{4D4E0969-AE25-ED3B-BD2E-D051F260031C}"/>
                </a:ext>
              </a:extLst>
            </p:cNvPr>
            <p:cNvSpPr/>
            <p:nvPr/>
          </p:nvSpPr>
          <p:spPr bwMode="auto">
            <a:xfrm>
              <a:off x="5665087" y="3014374"/>
              <a:ext cx="2639256" cy="711095"/>
            </a:xfrm>
            <a:prstGeom prst="roundRect">
              <a:avLst/>
            </a:prstGeom>
            <a:solidFill>
              <a:srgbClr val="00B0F0"/>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600" dirty="0">
                  <a:solidFill>
                    <a:schemeClr val="bg1"/>
                  </a:solidFill>
                  <a:latin typeface="Meiryo UI" panose="020B0604030504040204" pitchFamily="50" charset="-128"/>
                  <a:ea typeface="Meiryo UI" panose="020B0604030504040204" pitchFamily="50" charset="-128"/>
                </a:rPr>
                <a:t>CTB</a:t>
              </a:r>
              <a:endParaRPr kumimoji="1" lang="en-US" altLang="ja-JP" sz="1600" dirty="0">
                <a:solidFill>
                  <a:schemeClr val="bg1"/>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1600" dirty="0">
                  <a:solidFill>
                    <a:schemeClr val="bg1"/>
                  </a:solidFill>
                  <a:latin typeface="Meiryo UI" panose="020B0604030504040204" pitchFamily="50" charset="-128"/>
                  <a:ea typeface="Meiryo UI" panose="020B0604030504040204" pitchFamily="50" charset="-128"/>
                </a:rPr>
                <a:t>（</a:t>
              </a:r>
              <a:r>
                <a:rPr lang="en-US" altLang="ja-JP" sz="1600" dirty="0">
                  <a:solidFill>
                    <a:schemeClr val="bg1"/>
                  </a:solidFill>
                  <a:latin typeface="Meiryo UI" panose="020B0604030504040204" pitchFamily="50" charset="-128"/>
                  <a:ea typeface="Meiryo UI" panose="020B0604030504040204" pitchFamily="50" charset="-128"/>
                </a:rPr>
                <a:t>Change the Bank</a:t>
              </a:r>
              <a:r>
                <a:rPr lang="ja-JP" altLang="en-US" sz="1600" dirty="0">
                  <a:solidFill>
                    <a:schemeClr val="bg1"/>
                  </a:solidFill>
                  <a:latin typeface="Meiryo UI" panose="020B0604030504040204" pitchFamily="50" charset="-128"/>
                  <a:ea typeface="Meiryo UI" panose="020B0604030504040204" pitchFamily="50" charset="-128"/>
                </a:rPr>
                <a:t>）</a:t>
              </a:r>
              <a:endParaRPr kumimoji="1" lang="ja-JP" altLang="en-US" sz="1600" dirty="0">
                <a:solidFill>
                  <a:schemeClr val="bg1"/>
                </a:solidFill>
                <a:latin typeface="Meiryo UI" panose="020B0604030504040204" pitchFamily="50" charset="-128"/>
                <a:ea typeface="Meiryo UI" panose="020B0604030504040204" pitchFamily="50" charset="-128"/>
              </a:endParaRPr>
            </a:p>
          </p:txBody>
        </p:sp>
      </p:grpSp>
      <p:sp>
        <p:nvSpPr>
          <p:cNvPr id="11" name="四角形: 角を丸くする 10">
            <a:extLst>
              <a:ext uri="{FF2B5EF4-FFF2-40B4-BE49-F238E27FC236}">
                <a16:creationId xmlns:a16="http://schemas.microsoft.com/office/drawing/2014/main" id="{BF697193-A2FA-E9AF-ABE5-35B50A31C758}"/>
              </a:ext>
            </a:extLst>
          </p:cNvPr>
          <p:cNvSpPr/>
          <p:nvPr/>
        </p:nvSpPr>
        <p:spPr bwMode="auto">
          <a:xfrm>
            <a:off x="3355754" y="2152899"/>
            <a:ext cx="3193500" cy="587682"/>
          </a:xfrm>
          <a:prstGeom prst="roundRect">
            <a:avLst/>
          </a:prstGeom>
          <a:solidFill>
            <a:schemeClr val="accent2">
              <a:lumMod val="60000"/>
              <a:lumOff val="40000"/>
            </a:schemeClr>
          </a:solidFill>
          <a:ln w="6350" cap="flat" cmpd="sng" algn="ctr">
            <a:solidFill>
              <a:schemeClr val="accent2">
                <a:lumMod val="60000"/>
                <a:lumOff val="4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600" b="1" dirty="0">
                <a:solidFill>
                  <a:schemeClr val="bg1"/>
                </a:solidFill>
                <a:latin typeface="Meiryo UI" panose="020B0604030504040204" pitchFamily="50" charset="-128"/>
                <a:ea typeface="Meiryo UI" panose="020B0604030504040204" pitchFamily="50" charset="-128"/>
              </a:rPr>
              <a:t>アーキテクチャ戦略プログラム</a:t>
            </a:r>
          </a:p>
        </p:txBody>
      </p:sp>
    </p:spTree>
    <p:extLst>
      <p:ext uri="{BB962C8B-B14F-4D97-AF65-F5344CB8AC3E}">
        <p14:creationId xmlns:p14="http://schemas.microsoft.com/office/powerpoint/2010/main" val="41212601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5C4B4-E922-AF61-DDC6-04C245B58F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1231BDD-8D14-2CA7-194E-AC50D0B1A56A}"/>
              </a:ext>
            </a:extLst>
          </p:cNvPr>
          <p:cNvSpPr>
            <a:spLocks noGrp="1"/>
          </p:cNvSpPr>
          <p:nvPr>
            <p:ph type="title"/>
          </p:nvPr>
        </p:nvSpPr>
        <p:spPr>
          <a:xfrm>
            <a:off x="488504" y="568613"/>
            <a:ext cx="8928000" cy="373311"/>
          </a:xfrm>
        </p:spPr>
        <p:txBody>
          <a:bodyPr/>
          <a:lstStyle/>
          <a:p>
            <a:r>
              <a:rPr lang="en-US" altLang="ja-JP" dirty="0"/>
              <a:t>1</a:t>
            </a:r>
            <a:r>
              <a:rPr kumimoji="1" lang="en-US" altLang="ja-JP" dirty="0"/>
              <a:t>. </a:t>
            </a:r>
            <a:r>
              <a:rPr kumimoji="1" lang="ja-JP" altLang="en-US" dirty="0"/>
              <a:t>プロジェクトの概要～②</a:t>
            </a:r>
            <a:r>
              <a:rPr lang="ja-JP" altLang="en-US" dirty="0"/>
              <a:t>そもそもアーキテクチャ戦略とは？</a:t>
            </a:r>
            <a:endParaRPr kumimoji="1" lang="ja-JP" altLang="en-US" dirty="0"/>
          </a:p>
        </p:txBody>
      </p:sp>
      <p:sp>
        <p:nvSpPr>
          <p:cNvPr id="3" name="テキスト プレースホルダー 2">
            <a:extLst>
              <a:ext uri="{FF2B5EF4-FFF2-40B4-BE49-F238E27FC236}">
                <a16:creationId xmlns:a16="http://schemas.microsoft.com/office/drawing/2014/main" id="{23778744-66D4-409D-26F1-CA98EBDBAE6A}"/>
              </a:ext>
            </a:extLst>
          </p:cNvPr>
          <p:cNvSpPr>
            <a:spLocks noGrp="1"/>
          </p:cNvSpPr>
          <p:nvPr>
            <p:ph type="body" idx="12"/>
          </p:nvPr>
        </p:nvSpPr>
        <p:spPr>
          <a:xfrm>
            <a:off x="488999" y="969722"/>
            <a:ext cx="9131121" cy="669414"/>
          </a:xfrm>
        </p:spPr>
        <p:txBody>
          <a:bodyPr/>
          <a:lstStyle/>
          <a:p>
            <a:r>
              <a:rPr lang="ja-JP" altLang="en-US" dirty="0"/>
              <a:t>アーキテクチャ戦略は、大きく３つのテーマでプログラムを構成しています。</a:t>
            </a:r>
            <a:endParaRPr kumimoji="1" lang="ja-JP" altLang="en-US" dirty="0"/>
          </a:p>
        </p:txBody>
      </p:sp>
      <p:sp>
        <p:nvSpPr>
          <p:cNvPr id="4" name="テキスト プレースホルダー 3">
            <a:extLst>
              <a:ext uri="{FF2B5EF4-FFF2-40B4-BE49-F238E27FC236}">
                <a16:creationId xmlns:a16="http://schemas.microsoft.com/office/drawing/2014/main" id="{8952FDCE-4521-9AF6-8FC7-F6CCA1EB42DE}"/>
              </a:ext>
            </a:extLst>
          </p:cNvPr>
          <p:cNvSpPr>
            <a:spLocks noGrp="1"/>
          </p:cNvSpPr>
          <p:nvPr>
            <p:ph type="body" sz="quarter" idx="13"/>
          </p:nvPr>
        </p:nvSpPr>
        <p:spPr>
          <a:xfrm>
            <a:off x="488504" y="179588"/>
            <a:ext cx="8928000" cy="373311"/>
          </a:xfrm>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sp>
        <p:nvSpPr>
          <p:cNvPr id="9" name="正方形/長方形 8">
            <a:extLst>
              <a:ext uri="{FF2B5EF4-FFF2-40B4-BE49-F238E27FC236}">
                <a16:creationId xmlns:a16="http://schemas.microsoft.com/office/drawing/2014/main" id="{4F2FE0BF-8905-97E7-4E27-9B70DD51F305}"/>
              </a:ext>
            </a:extLst>
          </p:cNvPr>
          <p:cNvSpPr/>
          <p:nvPr/>
        </p:nvSpPr>
        <p:spPr>
          <a:xfrm>
            <a:off x="490383" y="1641471"/>
            <a:ext cx="2841074" cy="231348"/>
          </a:xfrm>
          <a:prstGeom prst="rect">
            <a:avLst/>
          </a:prstGeom>
          <a:solidFill>
            <a:srgbClr val="FFFFFF">
              <a:lumMod val="85000"/>
            </a:srgbClr>
          </a:solidFill>
          <a:ln w="9525" cap="flat" cmpd="sng" algn="ctr">
            <a:solidFill>
              <a:srgbClr val="FFFFFF">
                <a:lumMod val="65000"/>
              </a:srgbClr>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900" b="1" i="0" u="none" strike="noStrike" kern="0" cap="none" spc="0" normalizeH="0" baseline="0" noProof="0">
                <a:ln>
                  <a:noFill/>
                </a:ln>
                <a:solidFill>
                  <a:srgbClr val="000000"/>
                </a:solidFill>
                <a:effectLst/>
                <a:uLnTx/>
                <a:uFillTx/>
                <a:latin typeface="+mn-ea"/>
                <a:cs typeface="+mn-cs"/>
              </a:rPr>
              <a:t>背景</a:t>
            </a:r>
            <a:endParaRPr kumimoji="0" lang="en-US" altLang="ja-JP" sz="900" b="1" i="0" u="none" strike="noStrike" kern="0" cap="none" spc="0" normalizeH="0" baseline="0" noProof="0">
              <a:ln>
                <a:noFill/>
              </a:ln>
              <a:solidFill>
                <a:srgbClr val="000000"/>
              </a:solidFill>
              <a:effectLst/>
              <a:uLnTx/>
              <a:uFillTx/>
              <a:latin typeface="+mn-ea"/>
              <a:cs typeface="+mn-cs"/>
            </a:endParaRPr>
          </a:p>
        </p:txBody>
      </p:sp>
      <p:sp>
        <p:nvSpPr>
          <p:cNvPr id="10" name="正方形/長方形 9">
            <a:extLst>
              <a:ext uri="{FF2B5EF4-FFF2-40B4-BE49-F238E27FC236}">
                <a16:creationId xmlns:a16="http://schemas.microsoft.com/office/drawing/2014/main" id="{68BAC13D-370F-08C7-B229-EFDFC494569A}"/>
              </a:ext>
            </a:extLst>
          </p:cNvPr>
          <p:cNvSpPr/>
          <p:nvPr/>
        </p:nvSpPr>
        <p:spPr>
          <a:xfrm>
            <a:off x="3619527" y="1641471"/>
            <a:ext cx="3790923" cy="231348"/>
          </a:xfrm>
          <a:prstGeom prst="rect">
            <a:avLst/>
          </a:prstGeom>
          <a:solidFill>
            <a:srgbClr val="002060"/>
          </a:solidFill>
          <a:ln w="9525" cap="flat" cmpd="sng" algn="ctr">
            <a:solidFill>
              <a:srgbClr val="FFFFFF">
                <a:lumMod val="65000"/>
              </a:srgbClr>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900" b="1" i="0" u="none" strike="noStrike" kern="0" cap="none" spc="0" normalizeH="0" baseline="0" noProof="0" dirty="0">
                <a:ln>
                  <a:noFill/>
                </a:ln>
                <a:solidFill>
                  <a:srgbClr val="FFFFFF"/>
                </a:solidFill>
                <a:effectLst/>
                <a:uLnTx/>
                <a:uFillTx/>
                <a:latin typeface="+mn-ea"/>
                <a:cs typeface="+mn-cs"/>
              </a:rPr>
              <a:t>対応範囲</a:t>
            </a:r>
            <a:endParaRPr kumimoji="0" lang="en-US" altLang="ja-JP" sz="900" b="1" i="0" u="none" strike="noStrike" kern="0" cap="none" spc="0" normalizeH="0" baseline="0" noProof="0" dirty="0">
              <a:ln>
                <a:noFill/>
              </a:ln>
              <a:solidFill>
                <a:srgbClr val="FFFFFF"/>
              </a:solidFill>
              <a:effectLst/>
              <a:uLnTx/>
              <a:uFillTx/>
              <a:latin typeface="+mn-ea"/>
              <a:cs typeface="+mn-cs"/>
            </a:endParaRPr>
          </a:p>
        </p:txBody>
      </p:sp>
      <p:sp>
        <p:nvSpPr>
          <p:cNvPr id="7" name="正方形/長方形 6">
            <a:extLst>
              <a:ext uri="{FF2B5EF4-FFF2-40B4-BE49-F238E27FC236}">
                <a16:creationId xmlns:a16="http://schemas.microsoft.com/office/drawing/2014/main" id="{2D698B69-67EA-9350-AA82-93549BAA4F4B}"/>
              </a:ext>
            </a:extLst>
          </p:cNvPr>
          <p:cNvSpPr/>
          <p:nvPr/>
        </p:nvSpPr>
        <p:spPr>
          <a:xfrm>
            <a:off x="3619525" y="3806151"/>
            <a:ext cx="3788377" cy="1229645"/>
          </a:xfrm>
          <a:prstGeom prst="rect">
            <a:avLst/>
          </a:prstGeom>
          <a:solidFill>
            <a:srgbClr val="FFFFFF"/>
          </a:solidFill>
          <a:ln w="9525" cap="flat" cmpd="sng" algn="ctr">
            <a:solidFill>
              <a:srgbClr val="FFFFFF">
                <a:lumMod val="50000"/>
              </a:srgbClr>
            </a:solidFill>
            <a:prstDash val="solid"/>
          </a:ln>
          <a:effectLst/>
        </p:spPr>
        <p:txBody>
          <a:bodyPr lIns="72000" tIns="0" rIns="72000" bIns="0" rtlCol="0" anchor="ctr" anchorCtr="0"/>
          <a:lstStyle/>
          <a:p>
            <a:pPr marL="187325" marR="0" lvl="1" indent="-187325" defTabSz="995363" eaLnBrk="0" fontAlgn="base" latinLnBrk="0" hangingPunct="0">
              <a:lnSpc>
                <a:spcPct val="100000"/>
              </a:lnSpc>
              <a:spcBef>
                <a:spcPct val="0"/>
              </a:spcBef>
              <a:spcAft>
                <a:spcPct val="0"/>
              </a:spcAft>
              <a:buClrTx/>
              <a:buSzTx/>
              <a:buFont typeface="Arial" panose="020B0604020202020204" pitchFamily="34" charset="0"/>
              <a:buChar char="•"/>
              <a:tabLst>
                <a:tab pos="452438" algn="l"/>
              </a:tabLst>
              <a:defRPr/>
            </a:pPr>
            <a:r>
              <a:rPr kumimoji="0" lang="ja-JP" altLang="en-US" sz="1000" b="0" i="0" u="none" strike="noStrike" kern="0" cap="none" spc="0" normalizeH="0" baseline="0" noProof="0">
                <a:ln>
                  <a:noFill/>
                </a:ln>
                <a:solidFill>
                  <a:srgbClr val="000000"/>
                </a:solidFill>
                <a:effectLst/>
                <a:uLnTx/>
                <a:uFillTx/>
                <a:latin typeface="+mn-ea"/>
                <a:cs typeface="+mn-cs"/>
              </a:rPr>
              <a:t>当社の外国証券領域は現在の業量では業務が逼迫しており、これから更なる業量拡大・決済サイクル短縮に耐えられる状況ではない。外国証券システムの機能拡張に加え、海外拠点でのオペレーションを見据えた業務環境構築</a:t>
            </a:r>
            <a:endParaRPr kumimoji="0" lang="en-US" altLang="ja-JP" sz="1000" b="0" i="0" u="none" strike="noStrike" kern="0" cap="none" spc="0" normalizeH="0" baseline="0" noProof="0">
              <a:ln>
                <a:noFill/>
              </a:ln>
              <a:solidFill>
                <a:srgbClr val="000000"/>
              </a:solidFill>
              <a:effectLst/>
              <a:uLnTx/>
              <a:uFillTx/>
              <a:latin typeface="+mn-ea"/>
              <a:cs typeface="+mn-cs"/>
            </a:endParaRPr>
          </a:p>
          <a:p>
            <a:pPr marL="187325" marR="0" lvl="1" indent="-187325" defTabSz="995363" eaLnBrk="0" fontAlgn="base" latinLnBrk="0" hangingPunct="0">
              <a:lnSpc>
                <a:spcPct val="100000"/>
              </a:lnSpc>
              <a:spcBef>
                <a:spcPct val="0"/>
              </a:spcBef>
              <a:spcAft>
                <a:spcPct val="0"/>
              </a:spcAft>
              <a:buClrTx/>
              <a:buSzTx/>
              <a:buFont typeface="Arial" panose="020B0604020202020204" pitchFamily="34" charset="0"/>
              <a:buChar char="•"/>
              <a:tabLst>
                <a:tab pos="452438" algn="l"/>
              </a:tabLst>
              <a:defRPr/>
            </a:pPr>
            <a:r>
              <a:rPr kumimoji="0" lang="ja-JP" altLang="en-US" sz="1000" b="0" i="0" u="none" strike="noStrike" kern="0" cap="none" spc="0" normalizeH="0" baseline="0" noProof="0">
                <a:ln>
                  <a:noFill/>
                </a:ln>
                <a:solidFill>
                  <a:srgbClr val="000000"/>
                </a:solidFill>
                <a:effectLst/>
                <a:uLnTx/>
                <a:uFillTx/>
                <a:latin typeface="+mn-ea"/>
                <a:cs typeface="+mn-cs"/>
              </a:rPr>
              <a:t>デジタルアセット、排出権取引、あるいは将来国内籍組合事業に参入した場合、様々な原資産を保有することが想定される。新しい資産が登場しても最低限の残高管理、会計、情報開示ができるような商品受入の柔軟性を具備</a:t>
            </a:r>
            <a:endParaRPr kumimoji="0" lang="en-US" altLang="ja-JP" sz="1000" b="0" i="0" u="none" strike="noStrike" kern="0" cap="none" spc="0" normalizeH="0" baseline="0" noProof="0">
              <a:ln>
                <a:noFill/>
              </a:ln>
              <a:solidFill>
                <a:srgbClr val="000000"/>
              </a:solidFill>
              <a:effectLst/>
              <a:uLnTx/>
              <a:uFillTx/>
              <a:latin typeface="+mn-ea"/>
              <a:cs typeface="+mn-cs"/>
            </a:endParaRPr>
          </a:p>
        </p:txBody>
      </p:sp>
      <p:sp>
        <p:nvSpPr>
          <p:cNvPr id="8" name="正方形/長方形 7">
            <a:extLst>
              <a:ext uri="{FF2B5EF4-FFF2-40B4-BE49-F238E27FC236}">
                <a16:creationId xmlns:a16="http://schemas.microsoft.com/office/drawing/2014/main" id="{FDD3EBFB-34B5-7742-F34B-17B91118B703}"/>
              </a:ext>
            </a:extLst>
          </p:cNvPr>
          <p:cNvSpPr/>
          <p:nvPr/>
        </p:nvSpPr>
        <p:spPr>
          <a:xfrm>
            <a:off x="3619525" y="5371178"/>
            <a:ext cx="3788377" cy="1229646"/>
          </a:xfrm>
          <a:prstGeom prst="rect">
            <a:avLst/>
          </a:prstGeom>
          <a:solidFill>
            <a:srgbClr val="FFFFFF"/>
          </a:solidFill>
          <a:ln w="9525" cap="flat" cmpd="sng" algn="ctr">
            <a:solidFill>
              <a:srgbClr val="FFFFFF">
                <a:lumMod val="50000"/>
              </a:srgbClr>
            </a:solidFill>
            <a:prstDash val="solid"/>
          </a:ln>
          <a:effectLst/>
        </p:spPr>
        <p:txBody>
          <a:bodyPr lIns="72000" tIns="0" rIns="72000" bIns="0" rtlCol="0" anchor="ctr" anchorCtr="0"/>
          <a:lstStyle/>
          <a:p>
            <a:pPr marL="171450" marR="0" lvl="0" indent="-171450" defTabSz="995363"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000" b="0" i="0" u="none" strike="noStrike" kern="0" cap="none" spc="0" normalizeH="0" baseline="0" noProof="0">
                <a:ln>
                  <a:noFill/>
                </a:ln>
                <a:solidFill>
                  <a:srgbClr val="000000"/>
                </a:solidFill>
                <a:effectLst/>
                <a:uLnTx/>
                <a:uFillTx/>
                <a:latin typeface="+mn-ea"/>
                <a:cs typeface="+mn-cs"/>
              </a:rPr>
              <a:t>①有識者の枯渇については本</a:t>
            </a:r>
            <a:r>
              <a:rPr kumimoji="0" lang="en-US" altLang="ja-JP" sz="1000" b="0" i="0" u="none" strike="noStrike" kern="0" cap="none" spc="0" normalizeH="0" baseline="0" noProof="0">
                <a:ln>
                  <a:noFill/>
                </a:ln>
                <a:solidFill>
                  <a:srgbClr val="000000"/>
                </a:solidFill>
                <a:effectLst/>
                <a:uLnTx/>
                <a:uFillTx/>
                <a:latin typeface="+mn-ea"/>
                <a:cs typeface="+mn-cs"/>
              </a:rPr>
              <a:t>PJ</a:t>
            </a:r>
            <a:r>
              <a:rPr kumimoji="0" lang="ja-JP" altLang="en-US" sz="1000" b="0" i="0" u="none" strike="noStrike" kern="0" cap="none" spc="0" normalizeH="0" baseline="0" noProof="0">
                <a:ln>
                  <a:noFill/>
                </a:ln>
                <a:solidFill>
                  <a:srgbClr val="000000"/>
                </a:solidFill>
                <a:effectLst/>
                <a:uLnTx/>
                <a:uFillTx/>
                <a:latin typeface="+mn-ea"/>
                <a:cs typeface="+mn-cs"/>
              </a:rPr>
              <a:t>を通じて有識者を再生産</a:t>
            </a:r>
            <a:endParaRPr kumimoji="0" lang="en-US" altLang="ja-JP" sz="1000" b="0" i="0" u="none" strike="noStrike" kern="0" cap="none" spc="0" normalizeH="0" baseline="0" noProof="0">
              <a:ln>
                <a:noFill/>
              </a:ln>
              <a:solidFill>
                <a:srgbClr val="000000"/>
              </a:solidFill>
              <a:effectLst/>
              <a:uLnTx/>
              <a:uFillTx/>
              <a:latin typeface="+mn-ea"/>
              <a:cs typeface="+mn-cs"/>
            </a:endParaRPr>
          </a:p>
          <a:p>
            <a:pPr marL="171450" marR="0" lvl="0" indent="-171450" defTabSz="995363"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000" b="0" i="0" u="none" strike="noStrike" kern="0" cap="none" spc="0" normalizeH="0" baseline="0" noProof="0">
                <a:ln>
                  <a:noFill/>
                </a:ln>
                <a:solidFill>
                  <a:srgbClr val="000000"/>
                </a:solidFill>
                <a:effectLst/>
                <a:uLnTx/>
                <a:uFillTx/>
                <a:latin typeface="+mn-ea"/>
                <a:cs typeface="+mn-cs"/>
              </a:rPr>
              <a:t>②製品・技術リスクについてはレガシー技術、社内独自技術の維持リスクを評価したうえで、クリティカルなリスクが存在する製品・技術については時限を正しくとらえ、それまでにモダナイゼーションを達成</a:t>
            </a:r>
            <a:endParaRPr kumimoji="0" lang="en-US" altLang="ja-JP" sz="1000" b="0" i="0" u="none" strike="noStrike" kern="0" cap="none" spc="0" normalizeH="0" baseline="0" noProof="0">
              <a:ln>
                <a:noFill/>
              </a:ln>
              <a:solidFill>
                <a:srgbClr val="000000"/>
              </a:solidFill>
              <a:effectLst/>
              <a:uLnTx/>
              <a:uFillTx/>
              <a:latin typeface="+mn-ea"/>
              <a:cs typeface="+mn-cs"/>
            </a:endParaRPr>
          </a:p>
          <a:p>
            <a:pPr marL="363538" marR="0" lvl="1" indent="-187325" defTabSz="995363" eaLnBrk="0" fontAlgn="base" latinLnBrk="0" hangingPunct="0">
              <a:lnSpc>
                <a:spcPct val="100000"/>
              </a:lnSpc>
              <a:spcBef>
                <a:spcPct val="0"/>
              </a:spcBef>
              <a:spcAft>
                <a:spcPct val="0"/>
              </a:spcAft>
              <a:buClrTx/>
              <a:buSzTx/>
              <a:buFont typeface="Arial" panose="020B0604020202020204" pitchFamily="34" charset="0"/>
              <a:buChar char="•"/>
              <a:tabLst>
                <a:tab pos="452438" algn="l"/>
              </a:tabLst>
              <a:defRPr/>
            </a:pPr>
            <a:r>
              <a:rPr kumimoji="0" lang="ja-JP" altLang="en-US" sz="1000" b="0" i="0" u="none" strike="noStrike" kern="0" cap="none" spc="0" normalizeH="0" baseline="0" noProof="0">
                <a:ln>
                  <a:noFill/>
                </a:ln>
                <a:solidFill>
                  <a:srgbClr val="000000"/>
                </a:solidFill>
                <a:effectLst/>
                <a:uLnTx/>
                <a:uFillTx/>
                <a:latin typeface="+mn-ea"/>
                <a:cs typeface="+mn-cs"/>
              </a:rPr>
              <a:t>③価格高騰リスクについていは、</a:t>
            </a:r>
            <a:r>
              <a:rPr kumimoji="0" lang="en-US" altLang="ja-JP" sz="1000" b="0" i="0" u="none" strike="noStrike" kern="0" cap="none" spc="0" normalizeH="0" baseline="0" noProof="0">
                <a:ln>
                  <a:noFill/>
                </a:ln>
                <a:solidFill>
                  <a:srgbClr val="000000"/>
                </a:solidFill>
                <a:effectLst/>
                <a:uLnTx/>
                <a:uFillTx/>
                <a:latin typeface="+mn-ea"/>
                <a:cs typeface="+mn-cs"/>
              </a:rPr>
              <a:t>MUFG</a:t>
            </a:r>
            <a:r>
              <a:rPr kumimoji="0" lang="ja-JP" altLang="en-US" sz="1000" b="0" i="0" u="none" strike="noStrike" kern="0" cap="none" spc="0" normalizeH="0" baseline="0" noProof="0">
                <a:ln>
                  <a:noFill/>
                </a:ln>
                <a:solidFill>
                  <a:srgbClr val="000000"/>
                </a:solidFill>
                <a:effectLst/>
                <a:uLnTx/>
                <a:uFillTx/>
                <a:latin typeface="+mn-ea"/>
                <a:cs typeface="+mn-cs"/>
              </a:rPr>
              <a:t>／</a:t>
            </a:r>
            <a:r>
              <a:rPr kumimoji="0" lang="en-US" altLang="ja-JP" sz="1000" b="0" i="0" u="none" strike="noStrike" kern="0" cap="none" spc="0" normalizeH="0" baseline="0" noProof="0">
                <a:ln>
                  <a:noFill/>
                </a:ln>
                <a:solidFill>
                  <a:srgbClr val="000000"/>
                </a:solidFill>
                <a:effectLst/>
                <a:uLnTx/>
                <a:uFillTx/>
                <a:latin typeface="+mn-ea"/>
                <a:cs typeface="+mn-cs"/>
              </a:rPr>
              <a:t>MUTB</a:t>
            </a:r>
            <a:r>
              <a:rPr kumimoji="0" lang="ja-JP" altLang="en-US" sz="1000" b="0" i="0" u="none" strike="noStrike" kern="0" cap="none" spc="0" normalizeH="0" baseline="0" noProof="0">
                <a:ln>
                  <a:noFill/>
                </a:ln>
                <a:solidFill>
                  <a:srgbClr val="000000"/>
                </a:solidFill>
                <a:effectLst/>
                <a:uLnTx/>
                <a:uFillTx/>
                <a:latin typeface="+mn-ea"/>
                <a:cs typeface="+mn-cs"/>
              </a:rPr>
              <a:t>のオープン化の取組と平仄をとりながら当社もオープン化を進めていく方針とし、、リスク抑止を優先とした移行プランを計画・実行</a:t>
            </a:r>
            <a:endParaRPr kumimoji="0" lang="en-US" altLang="ja-JP" sz="1000" b="0" i="0" u="none" strike="noStrike" kern="0" cap="none" spc="0" normalizeH="0" baseline="0" noProof="0">
              <a:ln>
                <a:noFill/>
              </a:ln>
              <a:solidFill>
                <a:srgbClr val="000000"/>
              </a:solidFill>
              <a:effectLst/>
              <a:uLnTx/>
              <a:uFillTx/>
              <a:latin typeface="+mn-ea"/>
              <a:cs typeface="+mn-cs"/>
            </a:endParaRPr>
          </a:p>
        </p:txBody>
      </p:sp>
      <p:sp>
        <p:nvSpPr>
          <p:cNvPr id="11" name="二等辺三角形 10">
            <a:extLst>
              <a:ext uri="{FF2B5EF4-FFF2-40B4-BE49-F238E27FC236}">
                <a16:creationId xmlns:a16="http://schemas.microsoft.com/office/drawing/2014/main" id="{825BD291-598A-8675-1CE0-49DA8FC9A7C4}"/>
              </a:ext>
            </a:extLst>
          </p:cNvPr>
          <p:cNvSpPr/>
          <p:nvPr/>
        </p:nvSpPr>
        <p:spPr>
          <a:xfrm rot="5400000">
            <a:off x="3343481" y="2775731"/>
            <a:ext cx="262639" cy="178090"/>
          </a:xfrm>
          <a:prstGeom prst="triangle">
            <a:avLst/>
          </a:prstGeom>
          <a:solidFill>
            <a:srgbClr val="FFFFFF">
              <a:lumMod val="50000"/>
            </a:srgbClr>
          </a:solidFill>
          <a:ln w="9525" cap="flat" cmpd="sng" algn="ctr">
            <a:noFill/>
            <a:prstDash val="solid"/>
          </a:ln>
          <a:effectLst/>
        </p:spPr>
        <p:txBody>
          <a:bodyPr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endParaRPr kumimoji="0" lang="ja-JP" altLang="en-US" sz="1000" b="0" i="0" u="none" strike="noStrike" kern="0" cap="none" spc="0" normalizeH="0" baseline="0" noProof="0">
              <a:ln>
                <a:noFill/>
              </a:ln>
              <a:solidFill>
                <a:srgbClr val="FFFFFF"/>
              </a:solidFill>
              <a:effectLst/>
              <a:uLnTx/>
              <a:uFillTx/>
              <a:latin typeface="+mn-ea"/>
              <a:cs typeface="+mn-cs"/>
            </a:endParaRPr>
          </a:p>
        </p:txBody>
      </p:sp>
      <p:sp>
        <p:nvSpPr>
          <p:cNvPr id="12" name="正方形/長方形 11">
            <a:extLst>
              <a:ext uri="{FF2B5EF4-FFF2-40B4-BE49-F238E27FC236}">
                <a16:creationId xmlns:a16="http://schemas.microsoft.com/office/drawing/2014/main" id="{67CB5BE8-FD75-8CFC-098A-BB2412CB5BB9}"/>
              </a:ext>
            </a:extLst>
          </p:cNvPr>
          <p:cNvSpPr/>
          <p:nvPr/>
        </p:nvSpPr>
        <p:spPr>
          <a:xfrm>
            <a:off x="488999" y="2242162"/>
            <a:ext cx="2841074" cy="1239951"/>
          </a:xfrm>
          <a:prstGeom prst="rect">
            <a:avLst/>
          </a:prstGeom>
          <a:solidFill>
            <a:srgbClr val="FFFFFF"/>
          </a:solidFill>
          <a:ln w="9525" cap="flat" cmpd="sng" algn="ctr">
            <a:solidFill>
              <a:srgbClr val="FFFFFF">
                <a:lumMod val="50000"/>
              </a:srgbClr>
            </a:solidFill>
            <a:prstDash val="solid"/>
          </a:ln>
          <a:effectLst/>
        </p:spPr>
        <p:txBody>
          <a:bodyPr lIns="72000" tIns="0" rIns="72000" bIns="0" rtlCol="0" anchor="ctr" anchorCtr="0"/>
          <a:lstStyle/>
          <a:p>
            <a:pPr marL="171450" marR="0" lvl="0" indent="-171450" defTabSz="995363"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1000" b="0" i="0" u="none" strike="noStrike" kern="0" cap="none" spc="0" normalizeH="0" baseline="0" noProof="0" dirty="0">
                <a:ln>
                  <a:noFill/>
                </a:ln>
                <a:solidFill>
                  <a:srgbClr val="000000"/>
                </a:solidFill>
                <a:effectLst/>
                <a:uLnTx/>
                <a:uFillTx/>
                <a:latin typeface="+mn-ea"/>
                <a:cs typeface="+mn-cs"/>
              </a:rPr>
              <a:t>MTBJ</a:t>
            </a:r>
            <a:r>
              <a:rPr kumimoji="0" lang="ja-JP" altLang="en-US" sz="1000" b="0" i="0" u="none" strike="noStrike" kern="0" cap="none" spc="0" normalizeH="0" baseline="0" noProof="0" dirty="0">
                <a:ln>
                  <a:noFill/>
                </a:ln>
                <a:solidFill>
                  <a:srgbClr val="000000"/>
                </a:solidFill>
                <a:effectLst/>
                <a:uLnTx/>
                <a:uFillTx/>
                <a:latin typeface="+mn-ea"/>
                <a:cs typeface="+mn-cs"/>
              </a:rPr>
              <a:t>のコア事業である有価証券管理ビジネスは足元</a:t>
            </a:r>
            <a:r>
              <a:rPr kumimoji="0" lang="en-US" altLang="ja-JP" sz="1000" b="0" i="0" u="none" strike="noStrike" kern="0" cap="none" spc="0" normalizeH="0" baseline="0" noProof="0" dirty="0">
                <a:ln>
                  <a:noFill/>
                </a:ln>
                <a:solidFill>
                  <a:srgbClr val="000000"/>
                </a:solidFill>
                <a:effectLst/>
                <a:uLnTx/>
                <a:uFillTx/>
                <a:latin typeface="+mn-ea"/>
                <a:cs typeface="+mn-cs"/>
              </a:rPr>
              <a:t>10</a:t>
            </a:r>
            <a:r>
              <a:rPr kumimoji="0" lang="ja-JP" altLang="en-US" sz="1000" b="0" i="0" u="none" strike="noStrike" kern="0" cap="none" spc="0" normalizeH="0" baseline="0" noProof="0" dirty="0">
                <a:ln>
                  <a:noFill/>
                </a:ln>
                <a:solidFill>
                  <a:srgbClr val="000000"/>
                </a:solidFill>
                <a:effectLst/>
                <a:uLnTx/>
                <a:uFillTx/>
                <a:latin typeface="+mn-ea"/>
                <a:cs typeface="+mn-cs"/>
              </a:rPr>
              <a:t>年は投信の資金流入等で安泰だとしても、</a:t>
            </a:r>
            <a:r>
              <a:rPr kumimoji="0" lang="en-US" altLang="ja-JP" sz="1000" b="0" i="0" u="none" strike="noStrike" kern="0" cap="none" spc="0" normalizeH="0" baseline="0" noProof="0" dirty="0">
                <a:ln>
                  <a:noFill/>
                </a:ln>
                <a:solidFill>
                  <a:srgbClr val="000000"/>
                </a:solidFill>
                <a:effectLst/>
                <a:uLnTx/>
                <a:uFillTx/>
                <a:latin typeface="+mn-ea"/>
                <a:cs typeface="+mn-cs"/>
              </a:rPr>
              <a:t>20-30</a:t>
            </a:r>
            <a:r>
              <a:rPr kumimoji="0" lang="ja-JP" altLang="en-US" sz="1000" b="0" i="0" u="none" strike="noStrike" kern="0" cap="none" spc="0" normalizeH="0" baseline="0" noProof="0" dirty="0">
                <a:ln>
                  <a:noFill/>
                </a:ln>
                <a:solidFill>
                  <a:srgbClr val="000000"/>
                </a:solidFill>
                <a:effectLst/>
                <a:uLnTx/>
                <a:uFillTx/>
                <a:latin typeface="+mn-ea"/>
                <a:cs typeface="+mn-cs"/>
              </a:rPr>
              <a:t>年後は年金の資金流出等により先細りしていく公算が大きい</a:t>
            </a:r>
          </a:p>
          <a:p>
            <a:pPr marL="171450" marR="0" lvl="0" indent="-171450" defTabSz="995363"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000" b="1" i="0" u="sng" strike="noStrike" kern="0" cap="none" spc="0" normalizeH="0" baseline="0" noProof="0" dirty="0">
                <a:ln>
                  <a:noFill/>
                </a:ln>
                <a:solidFill>
                  <a:schemeClr val="accent2"/>
                </a:solidFill>
                <a:effectLst/>
                <a:uLnTx/>
                <a:uFillTx/>
                <a:latin typeface="+mn-ea"/>
                <a:cs typeface="+mn-cs"/>
              </a:rPr>
              <a:t>海外グロカスはアセットオーナーやアセットマネージャーのデータに対する課題解決</a:t>
            </a:r>
            <a:r>
              <a:rPr kumimoji="0" lang="ja-JP" altLang="en-US" sz="1000" b="0" i="0" u="none" strike="noStrike" kern="0" cap="none" spc="0" normalizeH="0" baseline="0" noProof="0" dirty="0">
                <a:ln>
                  <a:noFill/>
                </a:ln>
                <a:solidFill>
                  <a:srgbClr val="000000"/>
                </a:solidFill>
                <a:effectLst/>
                <a:uLnTx/>
                <a:uFillTx/>
                <a:latin typeface="+mn-ea"/>
                <a:cs typeface="+mn-cs"/>
              </a:rPr>
              <a:t>を競ってサービス展開。最近では本邦の当社顧客に対しても積極的にセールス活動を展開</a:t>
            </a:r>
          </a:p>
        </p:txBody>
      </p:sp>
      <p:sp>
        <p:nvSpPr>
          <p:cNvPr id="13" name="正方形/長方形 12">
            <a:extLst>
              <a:ext uri="{FF2B5EF4-FFF2-40B4-BE49-F238E27FC236}">
                <a16:creationId xmlns:a16="http://schemas.microsoft.com/office/drawing/2014/main" id="{BEB69ECE-976E-D94B-DA53-4EF23E054592}"/>
              </a:ext>
            </a:extLst>
          </p:cNvPr>
          <p:cNvSpPr/>
          <p:nvPr/>
        </p:nvSpPr>
        <p:spPr>
          <a:xfrm>
            <a:off x="489000" y="3805629"/>
            <a:ext cx="2841074" cy="1230686"/>
          </a:xfrm>
          <a:prstGeom prst="rect">
            <a:avLst/>
          </a:prstGeom>
          <a:solidFill>
            <a:srgbClr val="FFFFFF"/>
          </a:solidFill>
          <a:ln w="9525" cap="flat" cmpd="sng" algn="ctr">
            <a:solidFill>
              <a:srgbClr val="FFFFFF">
                <a:lumMod val="50000"/>
              </a:srgbClr>
            </a:solidFill>
            <a:prstDash val="solid"/>
          </a:ln>
          <a:effectLst/>
        </p:spPr>
        <p:txBody>
          <a:bodyPr lIns="72000" tIns="0" rIns="72000" bIns="0" rtlCol="0" anchor="ctr" anchorCtr="0"/>
          <a:lstStyle/>
          <a:p>
            <a:pPr marL="171450" marR="0" lvl="0" indent="-171450" defTabSz="995363"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000" b="0" i="0" u="none" strike="noStrike" kern="0" cap="none" spc="0" normalizeH="0" baseline="0" noProof="0" dirty="0">
                <a:ln>
                  <a:noFill/>
                </a:ln>
                <a:solidFill>
                  <a:srgbClr val="000000"/>
                </a:solidFill>
                <a:effectLst/>
                <a:uLnTx/>
                <a:uFillTx/>
                <a:latin typeface="+mn-ea"/>
                <a:cs typeface="+mn-cs"/>
              </a:rPr>
              <a:t>政府の</a:t>
            </a:r>
            <a:r>
              <a:rPr kumimoji="0" lang="en-US" altLang="ja-JP" sz="1000" b="0" i="0" u="none" strike="noStrike" kern="0" cap="none" spc="0" normalizeH="0" baseline="0" noProof="0" dirty="0">
                <a:ln>
                  <a:noFill/>
                </a:ln>
                <a:solidFill>
                  <a:srgbClr val="000000"/>
                </a:solidFill>
                <a:effectLst/>
                <a:uLnTx/>
                <a:uFillTx/>
                <a:latin typeface="+mn-ea"/>
                <a:cs typeface="+mn-cs"/>
              </a:rPr>
              <a:t>『</a:t>
            </a:r>
            <a:r>
              <a:rPr kumimoji="0" lang="ja-JP" altLang="en-US" sz="1000" b="0" i="0" u="none" strike="noStrike" kern="0" cap="none" spc="0" normalizeH="0" baseline="0" noProof="0" dirty="0">
                <a:ln>
                  <a:noFill/>
                </a:ln>
                <a:solidFill>
                  <a:srgbClr val="000000"/>
                </a:solidFill>
                <a:effectLst/>
                <a:uLnTx/>
                <a:uFillTx/>
                <a:latin typeface="+mn-ea"/>
                <a:cs typeface="+mn-cs"/>
              </a:rPr>
              <a:t>資産運用立国</a:t>
            </a:r>
            <a:r>
              <a:rPr kumimoji="0" lang="en-US" altLang="ja-JP" sz="1000" b="0" i="0" u="none" strike="noStrike" kern="0" cap="none" spc="0" normalizeH="0" baseline="0" noProof="0" dirty="0">
                <a:ln>
                  <a:noFill/>
                </a:ln>
                <a:solidFill>
                  <a:srgbClr val="000000"/>
                </a:solidFill>
                <a:effectLst/>
                <a:uLnTx/>
                <a:uFillTx/>
                <a:latin typeface="+mn-ea"/>
                <a:cs typeface="+mn-cs"/>
              </a:rPr>
              <a:t>』</a:t>
            </a:r>
            <a:r>
              <a:rPr kumimoji="0" lang="ja-JP" altLang="en-US" sz="1000" b="0" i="0" u="none" strike="noStrike" kern="0" cap="none" spc="0" normalizeH="0" baseline="0" noProof="0" dirty="0">
                <a:ln>
                  <a:noFill/>
                </a:ln>
                <a:solidFill>
                  <a:srgbClr val="000000"/>
                </a:solidFill>
                <a:effectLst/>
                <a:uLnTx/>
                <a:uFillTx/>
                <a:latin typeface="+mn-ea"/>
                <a:cs typeface="+mn-cs"/>
              </a:rPr>
              <a:t>実現プランのもと、本邦投資家は運用高度化として外国証券、オルタナティブ投資を活発化させる見通し</a:t>
            </a:r>
          </a:p>
          <a:p>
            <a:pPr marL="171450" marR="0" lvl="0" indent="-171450" defTabSz="995363"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000" b="0" i="0" u="none" strike="noStrike" kern="0" cap="none" spc="0" normalizeH="0" baseline="0" noProof="0" dirty="0">
                <a:ln>
                  <a:noFill/>
                </a:ln>
                <a:solidFill>
                  <a:srgbClr val="000000"/>
                </a:solidFill>
                <a:effectLst/>
                <a:uLnTx/>
                <a:uFillTx/>
                <a:latin typeface="+mn-ea"/>
                <a:cs typeface="+mn-cs"/>
              </a:rPr>
              <a:t>市場制度は、</a:t>
            </a:r>
            <a:r>
              <a:rPr kumimoji="0" lang="ja-JP" altLang="en-US" sz="1000" b="1" i="0" u="sng" strike="noStrike" kern="0" cap="none" spc="0" normalizeH="0" baseline="0" noProof="0" dirty="0">
                <a:ln>
                  <a:noFill/>
                </a:ln>
                <a:solidFill>
                  <a:schemeClr val="accent2"/>
                </a:solidFill>
                <a:effectLst/>
                <a:uLnTx/>
                <a:uFillTx/>
                <a:latin typeface="+mn-ea"/>
                <a:cs typeface="+mn-cs"/>
              </a:rPr>
              <a:t>①決済サイクル短縮化、②新しい資産（デジタルアセット等）の出現、③顧客によるガバナンス強化等</a:t>
            </a:r>
            <a:r>
              <a:rPr kumimoji="0" lang="ja-JP" altLang="en-US" sz="1000" b="0" i="0" u="none" strike="noStrike" kern="0" cap="none" spc="0" normalizeH="0" baseline="0" noProof="0" dirty="0">
                <a:ln>
                  <a:noFill/>
                </a:ln>
                <a:solidFill>
                  <a:srgbClr val="000000"/>
                </a:solidFill>
                <a:effectLst/>
                <a:uLnTx/>
                <a:uFillTx/>
                <a:latin typeface="+mn-ea"/>
                <a:cs typeface="+mn-cs"/>
              </a:rPr>
              <a:t>を見込む</a:t>
            </a:r>
          </a:p>
        </p:txBody>
      </p:sp>
      <p:sp>
        <p:nvSpPr>
          <p:cNvPr id="14" name="正方形/長方形 13">
            <a:extLst>
              <a:ext uri="{FF2B5EF4-FFF2-40B4-BE49-F238E27FC236}">
                <a16:creationId xmlns:a16="http://schemas.microsoft.com/office/drawing/2014/main" id="{064F8F4A-FE10-A700-5543-7560F90465EA}"/>
              </a:ext>
            </a:extLst>
          </p:cNvPr>
          <p:cNvSpPr/>
          <p:nvPr/>
        </p:nvSpPr>
        <p:spPr>
          <a:xfrm>
            <a:off x="489000" y="5371178"/>
            <a:ext cx="2841074" cy="1229646"/>
          </a:xfrm>
          <a:prstGeom prst="rect">
            <a:avLst/>
          </a:prstGeom>
          <a:solidFill>
            <a:srgbClr val="FFFFFF"/>
          </a:solidFill>
          <a:ln w="9525" cap="flat" cmpd="sng" algn="ctr">
            <a:solidFill>
              <a:srgbClr val="FFFFFF">
                <a:lumMod val="50000"/>
              </a:srgbClr>
            </a:solidFill>
            <a:prstDash val="solid"/>
          </a:ln>
          <a:effectLst/>
        </p:spPr>
        <p:txBody>
          <a:bodyPr lIns="72000" tIns="0" rIns="72000" bIns="0" rtlCol="0" anchor="ctr" anchorCtr="0"/>
          <a:lstStyle/>
          <a:p>
            <a:pPr marL="171450" marR="0" lvl="0" indent="-171450" defTabSz="995363"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1000" b="0" i="0" u="none" strike="noStrike" kern="0" cap="none" spc="0" normalizeH="0" baseline="0" noProof="0" dirty="0">
                <a:ln>
                  <a:noFill/>
                </a:ln>
                <a:solidFill>
                  <a:srgbClr val="000000"/>
                </a:solidFill>
                <a:effectLst/>
                <a:uLnTx/>
                <a:uFillTx/>
                <a:latin typeface="+mn-ea"/>
                <a:cs typeface="+mn-cs"/>
              </a:rPr>
              <a:t>MUSK</a:t>
            </a:r>
            <a:r>
              <a:rPr kumimoji="0" lang="ja-JP" altLang="en-US" sz="1000" b="0" i="0" u="none" strike="noStrike" kern="0" cap="none" spc="0" normalizeH="0" baseline="0" noProof="0" dirty="0">
                <a:ln>
                  <a:noFill/>
                </a:ln>
                <a:solidFill>
                  <a:srgbClr val="000000"/>
                </a:solidFill>
                <a:effectLst/>
                <a:uLnTx/>
                <a:uFillTx/>
                <a:latin typeface="+mn-ea"/>
                <a:cs typeface="+mn-cs"/>
              </a:rPr>
              <a:t>に開発を委託する基幹システムは現行ビジネス下では安定稼働する一方、</a:t>
            </a:r>
            <a:r>
              <a:rPr kumimoji="0" lang="ja-JP" altLang="en-US" sz="1000" b="1" i="0" u="sng" strike="noStrike" kern="0" cap="none" spc="0" normalizeH="0" baseline="0" noProof="0" dirty="0">
                <a:ln>
                  <a:noFill/>
                </a:ln>
                <a:solidFill>
                  <a:schemeClr val="accent2"/>
                </a:solidFill>
                <a:effectLst/>
                <a:uLnTx/>
                <a:uFillTx/>
                <a:latin typeface="+mn-ea"/>
                <a:cs typeface="+mn-cs"/>
              </a:rPr>
              <a:t>既に構築から</a:t>
            </a:r>
            <a:r>
              <a:rPr kumimoji="0" lang="en-US" altLang="ja-JP" sz="1000" b="1" i="0" u="sng" strike="noStrike" kern="0" cap="none" spc="0" normalizeH="0" baseline="0" noProof="0" dirty="0">
                <a:ln>
                  <a:noFill/>
                </a:ln>
                <a:solidFill>
                  <a:schemeClr val="accent2"/>
                </a:solidFill>
                <a:effectLst/>
                <a:uLnTx/>
                <a:uFillTx/>
                <a:latin typeface="+mn-ea"/>
                <a:cs typeface="+mn-cs"/>
              </a:rPr>
              <a:t>35</a:t>
            </a:r>
            <a:r>
              <a:rPr kumimoji="0" lang="ja-JP" altLang="en-US" sz="1000" b="1" i="0" u="sng" strike="noStrike" kern="0" cap="none" spc="0" normalizeH="0" baseline="0" noProof="0" dirty="0">
                <a:ln>
                  <a:noFill/>
                </a:ln>
                <a:solidFill>
                  <a:schemeClr val="accent2"/>
                </a:solidFill>
                <a:effectLst/>
                <a:uLnTx/>
                <a:uFillTx/>
                <a:latin typeface="+mn-ea"/>
                <a:cs typeface="+mn-cs"/>
              </a:rPr>
              <a:t>年以上が経過し、世界的なメインフレーム技術の衰退にあわせて老朽化</a:t>
            </a:r>
            <a:r>
              <a:rPr kumimoji="0" lang="ja-JP" altLang="en-US" sz="1000" b="0" i="0" u="none" strike="noStrike" kern="0" cap="none" spc="0" normalizeH="0" baseline="0" noProof="0" dirty="0">
                <a:ln>
                  <a:noFill/>
                </a:ln>
                <a:solidFill>
                  <a:srgbClr val="000000"/>
                </a:solidFill>
                <a:effectLst/>
                <a:uLnTx/>
                <a:uFillTx/>
                <a:latin typeface="+mn-ea"/>
                <a:cs typeface="+mn-cs"/>
              </a:rPr>
              <a:t>が進行</a:t>
            </a:r>
          </a:p>
          <a:p>
            <a:pPr marL="171450" marR="0" lvl="0" indent="-171450" defTabSz="995363"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ja-JP" altLang="en-US" sz="1000" b="0" i="0" u="none" strike="noStrike" kern="0" cap="none" spc="0" normalizeH="0" baseline="0" noProof="0" dirty="0">
                <a:ln>
                  <a:noFill/>
                </a:ln>
                <a:solidFill>
                  <a:srgbClr val="000000"/>
                </a:solidFill>
                <a:effectLst/>
                <a:uLnTx/>
                <a:uFillTx/>
                <a:latin typeface="+mn-ea"/>
                <a:cs typeface="+mn-cs"/>
              </a:rPr>
              <a:t>今後</a:t>
            </a:r>
            <a:r>
              <a:rPr kumimoji="0" lang="en-US" altLang="ja-JP" sz="1000" b="0" i="0" u="none" strike="noStrike" kern="0" cap="none" spc="0" normalizeH="0" baseline="0" noProof="0" dirty="0">
                <a:ln>
                  <a:noFill/>
                </a:ln>
                <a:solidFill>
                  <a:srgbClr val="000000"/>
                </a:solidFill>
                <a:effectLst/>
                <a:uLnTx/>
                <a:uFillTx/>
                <a:latin typeface="+mn-ea"/>
                <a:cs typeface="+mn-cs"/>
              </a:rPr>
              <a:t>10-20</a:t>
            </a:r>
            <a:r>
              <a:rPr kumimoji="0" lang="ja-JP" altLang="en-US" sz="1000" b="0" i="0" u="none" strike="noStrike" kern="0" cap="none" spc="0" normalizeH="0" baseline="0" noProof="0" dirty="0">
                <a:ln>
                  <a:noFill/>
                </a:ln>
                <a:solidFill>
                  <a:srgbClr val="000000"/>
                </a:solidFill>
                <a:effectLst/>
                <a:uLnTx/>
                <a:uFillTx/>
                <a:latin typeface="+mn-ea"/>
                <a:cs typeface="+mn-cs"/>
              </a:rPr>
              <a:t>年を見通した場合、</a:t>
            </a:r>
            <a:r>
              <a:rPr kumimoji="0" lang="ja-JP" altLang="en-US" sz="1000" b="1" i="0" u="sng" strike="noStrike" kern="0" cap="none" spc="0" normalizeH="0" baseline="0" noProof="0" dirty="0">
                <a:ln>
                  <a:noFill/>
                </a:ln>
                <a:solidFill>
                  <a:schemeClr val="accent2"/>
                </a:solidFill>
                <a:effectLst/>
                <a:uLnTx/>
                <a:uFillTx/>
                <a:latin typeface="+mn-ea"/>
                <a:cs typeface="+mn-cs"/>
              </a:rPr>
              <a:t>①</a:t>
            </a:r>
            <a:r>
              <a:rPr kumimoji="0" lang="en-US" altLang="ja-JP" sz="1000" b="1" i="0" u="sng" strike="noStrike" kern="0" cap="none" spc="0" normalizeH="0" baseline="0" noProof="0" dirty="0">
                <a:ln>
                  <a:noFill/>
                </a:ln>
                <a:solidFill>
                  <a:schemeClr val="accent2"/>
                </a:solidFill>
                <a:effectLst/>
                <a:uLnTx/>
                <a:uFillTx/>
                <a:latin typeface="+mn-ea"/>
                <a:cs typeface="+mn-cs"/>
              </a:rPr>
              <a:t>MUSK</a:t>
            </a:r>
            <a:r>
              <a:rPr kumimoji="0" lang="ja-JP" altLang="en-US" sz="1000" b="1" i="0" u="sng" strike="noStrike" kern="0" cap="none" spc="0" normalizeH="0" baseline="0" noProof="0" dirty="0">
                <a:ln>
                  <a:noFill/>
                </a:ln>
                <a:solidFill>
                  <a:schemeClr val="accent2"/>
                </a:solidFill>
                <a:effectLst/>
                <a:uLnTx/>
                <a:uFillTx/>
                <a:latin typeface="+mn-ea"/>
                <a:cs typeface="+mn-cs"/>
              </a:rPr>
              <a:t>有識者の高齢化・枯渇、②製品・技術リスク、③ホスト契約の価格高騰をリスク認識</a:t>
            </a:r>
          </a:p>
        </p:txBody>
      </p:sp>
      <p:sp>
        <p:nvSpPr>
          <p:cNvPr id="15" name="正方形/長方形 14">
            <a:extLst>
              <a:ext uri="{FF2B5EF4-FFF2-40B4-BE49-F238E27FC236}">
                <a16:creationId xmlns:a16="http://schemas.microsoft.com/office/drawing/2014/main" id="{E867E143-38D9-D59A-1FC6-D491B759BE88}"/>
              </a:ext>
            </a:extLst>
          </p:cNvPr>
          <p:cNvSpPr/>
          <p:nvPr/>
        </p:nvSpPr>
        <p:spPr>
          <a:xfrm>
            <a:off x="489000" y="2024235"/>
            <a:ext cx="2841074" cy="217927"/>
          </a:xfrm>
          <a:prstGeom prst="rect">
            <a:avLst/>
          </a:prstGeom>
          <a:solidFill>
            <a:srgbClr val="FFFFFF">
              <a:lumMod val="95000"/>
            </a:srgbClr>
          </a:solidFill>
          <a:ln w="9525" cap="flat" cmpd="sng" algn="ctr">
            <a:solidFill>
              <a:srgbClr val="FFFFFF">
                <a:lumMod val="50000"/>
              </a:srgbClr>
            </a:solidFill>
            <a:prstDash val="solid"/>
          </a:ln>
          <a:effectLst/>
        </p:spPr>
        <p:txBody>
          <a:bodyPr lIns="0" tIns="0" rIns="0" bIns="0" rtlCol="0" anchor="ctr" anchorCtr="0"/>
          <a:lstStyle/>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000000"/>
                </a:solidFill>
                <a:effectLst/>
                <a:uLnTx/>
                <a:uFillTx/>
                <a:latin typeface="+mn-ea"/>
                <a:cs typeface="+mn-cs"/>
              </a:rPr>
              <a:t>　事業多角化、新しい収益源創出の必要性</a:t>
            </a:r>
          </a:p>
        </p:txBody>
      </p:sp>
      <p:sp>
        <p:nvSpPr>
          <p:cNvPr id="16" name="正方形/長方形 15">
            <a:extLst>
              <a:ext uri="{FF2B5EF4-FFF2-40B4-BE49-F238E27FC236}">
                <a16:creationId xmlns:a16="http://schemas.microsoft.com/office/drawing/2014/main" id="{3F21B78B-53E5-097A-D73A-4AEA6F4FA96E}"/>
              </a:ext>
            </a:extLst>
          </p:cNvPr>
          <p:cNvSpPr/>
          <p:nvPr/>
        </p:nvSpPr>
        <p:spPr>
          <a:xfrm>
            <a:off x="489000" y="3588744"/>
            <a:ext cx="2841074" cy="217927"/>
          </a:xfrm>
          <a:prstGeom prst="rect">
            <a:avLst/>
          </a:prstGeom>
          <a:solidFill>
            <a:srgbClr val="FFFFFF">
              <a:lumMod val="95000"/>
            </a:srgbClr>
          </a:solidFill>
          <a:ln w="9525" cap="flat" cmpd="sng" algn="ctr">
            <a:solidFill>
              <a:srgbClr val="FFFFFF">
                <a:lumMod val="50000"/>
              </a:srgbClr>
            </a:solidFill>
            <a:prstDash val="solid"/>
          </a:ln>
          <a:effectLst/>
        </p:spPr>
        <p:txBody>
          <a:bodyPr lIns="0" tIns="0" rIns="0" bIns="0" rtlCol="0" anchor="ctr" anchorCtr="0"/>
          <a:lstStyle/>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000000"/>
                </a:solidFill>
                <a:effectLst/>
                <a:uLnTx/>
                <a:uFillTx/>
                <a:latin typeface="+mn-ea"/>
                <a:cs typeface="+mn-cs"/>
              </a:rPr>
              <a:t>　本邦投資家の行動変容、市場制度の変容 </a:t>
            </a:r>
          </a:p>
        </p:txBody>
      </p:sp>
      <p:sp>
        <p:nvSpPr>
          <p:cNvPr id="17" name="正方形/長方形 16">
            <a:extLst>
              <a:ext uri="{FF2B5EF4-FFF2-40B4-BE49-F238E27FC236}">
                <a16:creationId xmlns:a16="http://schemas.microsoft.com/office/drawing/2014/main" id="{68E65D27-69A8-7953-BBB1-570C27B0245B}"/>
              </a:ext>
            </a:extLst>
          </p:cNvPr>
          <p:cNvSpPr/>
          <p:nvPr/>
        </p:nvSpPr>
        <p:spPr>
          <a:xfrm>
            <a:off x="489000" y="5153252"/>
            <a:ext cx="2841074" cy="217927"/>
          </a:xfrm>
          <a:prstGeom prst="rect">
            <a:avLst/>
          </a:prstGeom>
          <a:solidFill>
            <a:srgbClr val="FFFFFF">
              <a:lumMod val="95000"/>
            </a:srgbClr>
          </a:solidFill>
          <a:ln w="9525" cap="flat" cmpd="sng" algn="ctr">
            <a:solidFill>
              <a:srgbClr val="FFFFFF">
                <a:lumMod val="50000"/>
              </a:srgbClr>
            </a:solidFill>
            <a:prstDash val="solid"/>
          </a:ln>
          <a:effectLst/>
        </p:spPr>
        <p:txBody>
          <a:bodyPr lIns="0" tIns="0" rIns="0" bIns="0" rtlCol="0" anchor="ctr" anchorCtr="0"/>
          <a:lstStyle/>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000000"/>
                </a:solidFill>
                <a:effectLst/>
                <a:uLnTx/>
                <a:uFillTx/>
                <a:latin typeface="+mn-ea"/>
                <a:cs typeface="+mn-cs"/>
              </a:rPr>
              <a:t>　システム老朽化と維持リスク顕在化</a:t>
            </a:r>
          </a:p>
        </p:txBody>
      </p:sp>
      <p:sp>
        <p:nvSpPr>
          <p:cNvPr id="18" name="正方形/長方形 17">
            <a:extLst>
              <a:ext uri="{FF2B5EF4-FFF2-40B4-BE49-F238E27FC236}">
                <a16:creationId xmlns:a16="http://schemas.microsoft.com/office/drawing/2014/main" id="{22305CF8-F375-2AA5-C993-27309CE5099A}"/>
              </a:ext>
            </a:extLst>
          </p:cNvPr>
          <p:cNvSpPr/>
          <p:nvPr/>
        </p:nvSpPr>
        <p:spPr>
          <a:xfrm>
            <a:off x="3619525" y="2244802"/>
            <a:ext cx="3788377" cy="1239950"/>
          </a:xfrm>
          <a:prstGeom prst="rect">
            <a:avLst/>
          </a:prstGeom>
          <a:solidFill>
            <a:srgbClr val="FFFFFF"/>
          </a:solidFill>
          <a:ln w="9525" cap="flat" cmpd="sng" algn="ctr">
            <a:solidFill>
              <a:srgbClr val="FFFFFF">
                <a:lumMod val="50000"/>
              </a:srgbClr>
            </a:solidFill>
            <a:prstDash val="solid"/>
          </a:ln>
          <a:effectLst/>
        </p:spPr>
        <p:txBody>
          <a:bodyPr lIns="72000" tIns="0" rIns="72000" bIns="0" rtlCol="0" anchor="ctr" anchorCtr="0"/>
          <a:lstStyle/>
          <a:p>
            <a:pPr marL="187325" marR="0" lvl="1" indent="-187325" defTabSz="995363" eaLnBrk="0" fontAlgn="base" latinLnBrk="0" hangingPunct="0">
              <a:lnSpc>
                <a:spcPct val="100000"/>
              </a:lnSpc>
              <a:spcBef>
                <a:spcPct val="0"/>
              </a:spcBef>
              <a:spcAft>
                <a:spcPct val="0"/>
              </a:spcAft>
              <a:buClrTx/>
              <a:buSzTx/>
              <a:buFont typeface="Arial" panose="020B0604020202020204" pitchFamily="34" charset="0"/>
              <a:buChar char="•"/>
              <a:tabLst>
                <a:tab pos="452438" algn="l"/>
              </a:tabLst>
              <a:defRPr/>
            </a:pPr>
            <a:r>
              <a:rPr kumimoji="0" lang="ja-JP" altLang="en-US" sz="1000" b="0" i="0" u="none" strike="noStrike" kern="0" cap="none" spc="0" normalizeH="0" baseline="0" noProof="0" dirty="0">
                <a:ln>
                  <a:noFill/>
                </a:ln>
                <a:solidFill>
                  <a:srgbClr val="000000"/>
                </a:solidFill>
                <a:effectLst/>
                <a:uLnTx/>
                <a:uFillTx/>
                <a:latin typeface="+mn-ea"/>
                <a:cs typeface="+mn-cs"/>
              </a:rPr>
              <a:t>データサービス事業について、本邦顧客を海外グロカスに独占される前に素早くサービス展開を目指す。自前でスピード構築が難しい場合は海外グロカスと協業することも選択肢に入れる</a:t>
            </a:r>
          </a:p>
          <a:p>
            <a:pPr marL="187325" marR="0" lvl="1" indent="-187325" defTabSz="995363" eaLnBrk="0" fontAlgn="base" latinLnBrk="0" hangingPunct="0">
              <a:lnSpc>
                <a:spcPct val="100000"/>
              </a:lnSpc>
              <a:spcBef>
                <a:spcPct val="0"/>
              </a:spcBef>
              <a:spcAft>
                <a:spcPct val="0"/>
              </a:spcAft>
              <a:buClrTx/>
              <a:buSzTx/>
              <a:buFont typeface="Arial" panose="020B0604020202020204" pitchFamily="34" charset="0"/>
              <a:buChar char="•"/>
              <a:tabLst>
                <a:tab pos="452438" algn="l"/>
              </a:tabLst>
              <a:defRPr/>
            </a:pPr>
            <a:r>
              <a:rPr kumimoji="0" lang="en-US" altLang="ja-JP" sz="1000" b="0" i="0" u="none" strike="noStrike" kern="0" cap="none" spc="0" normalizeH="0" baseline="0" noProof="0" dirty="0">
                <a:ln>
                  <a:noFill/>
                </a:ln>
                <a:solidFill>
                  <a:srgbClr val="000000"/>
                </a:solidFill>
                <a:effectLst/>
                <a:uLnTx/>
                <a:uFillTx/>
                <a:latin typeface="+mn-ea"/>
                <a:cs typeface="+mn-cs"/>
              </a:rPr>
              <a:t>BPO</a:t>
            </a:r>
            <a:r>
              <a:rPr kumimoji="0" lang="ja-JP" altLang="en-US" sz="1000" b="0" i="0" u="none" strike="noStrike" kern="0" cap="none" spc="0" normalizeH="0" baseline="0" noProof="0" dirty="0">
                <a:ln>
                  <a:noFill/>
                </a:ln>
                <a:solidFill>
                  <a:srgbClr val="000000"/>
                </a:solidFill>
                <a:effectLst/>
                <a:uLnTx/>
                <a:uFillTx/>
                <a:latin typeface="+mn-ea"/>
                <a:cs typeface="+mn-cs"/>
              </a:rPr>
              <a:t>事業は直近ではシステム対応は行わない。生保会計機能の具備の是非は</a:t>
            </a:r>
            <a:r>
              <a:rPr kumimoji="0" lang="en-US" altLang="ja-JP" sz="1000" b="0" i="0" u="none" strike="noStrike" kern="0" cap="none" spc="0" normalizeH="0" baseline="0" noProof="0" dirty="0">
                <a:ln>
                  <a:noFill/>
                </a:ln>
                <a:solidFill>
                  <a:srgbClr val="000000"/>
                </a:solidFill>
                <a:effectLst/>
                <a:uLnTx/>
                <a:uFillTx/>
                <a:latin typeface="+mn-ea"/>
                <a:cs typeface="+mn-cs"/>
              </a:rPr>
              <a:t>26</a:t>
            </a:r>
            <a:r>
              <a:rPr kumimoji="0" lang="ja-JP" altLang="en-US" sz="1000" b="0" i="0" u="none" strike="noStrike" kern="0" cap="none" spc="0" normalizeH="0" baseline="0" noProof="0" dirty="0">
                <a:ln>
                  <a:noFill/>
                </a:ln>
                <a:solidFill>
                  <a:srgbClr val="000000"/>
                </a:solidFill>
                <a:effectLst/>
                <a:uLnTx/>
                <a:uFillTx/>
                <a:latin typeface="+mn-ea"/>
                <a:cs typeface="+mn-cs"/>
              </a:rPr>
              <a:t>年度以降にビジネス戦略に従って判定。その他</a:t>
            </a:r>
            <a:r>
              <a:rPr kumimoji="0" lang="en-US" altLang="ja-JP" sz="1000" b="0" i="0" u="none" strike="noStrike" kern="0" cap="none" spc="0" normalizeH="0" baseline="0" noProof="0" dirty="0">
                <a:ln>
                  <a:noFill/>
                </a:ln>
                <a:solidFill>
                  <a:srgbClr val="000000"/>
                </a:solidFill>
                <a:effectLst/>
                <a:uLnTx/>
                <a:uFillTx/>
                <a:latin typeface="+mn-ea"/>
                <a:cs typeface="+mn-cs"/>
              </a:rPr>
              <a:t>BPO</a:t>
            </a:r>
            <a:r>
              <a:rPr kumimoji="0" lang="ja-JP" altLang="en-US" sz="1000" b="0" i="0" u="none" strike="noStrike" kern="0" cap="none" spc="0" normalizeH="0" baseline="0" noProof="0" dirty="0">
                <a:ln>
                  <a:noFill/>
                </a:ln>
                <a:solidFill>
                  <a:srgbClr val="000000"/>
                </a:solidFill>
                <a:effectLst/>
                <a:uLnTx/>
                <a:uFillTx/>
                <a:latin typeface="+mn-ea"/>
                <a:cs typeface="+mn-cs"/>
              </a:rPr>
              <a:t>事業はデータサービスとの抱合せ販売を想定</a:t>
            </a:r>
            <a:endParaRPr kumimoji="0" lang="en-US" altLang="ja-JP" sz="1000" b="0" i="0" u="none" strike="noStrike" kern="0" cap="none" spc="0" normalizeH="0" baseline="0" noProof="0" dirty="0">
              <a:ln>
                <a:noFill/>
              </a:ln>
              <a:solidFill>
                <a:srgbClr val="000000"/>
              </a:solidFill>
              <a:effectLst/>
              <a:uLnTx/>
              <a:uFillTx/>
              <a:latin typeface="+mn-ea"/>
              <a:cs typeface="+mn-cs"/>
            </a:endParaRPr>
          </a:p>
        </p:txBody>
      </p:sp>
      <p:sp>
        <p:nvSpPr>
          <p:cNvPr id="19" name="正方形/長方形 18">
            <a:extLst>
              <a:ext uri="{FF2B5EF4-FFF2-40B4-BE49-F238E27FC236}">
                <a16:creationId xmlns:a16="http://schemas.microsoft.com/office/drawing/2014/main" id="{A9F0776C-3CEF-7908-914A-341F39117B05}"/>
              </a:ext>
            </a:extLst>
          </p:cNvPr>
          <p:cNvSpPr/>
          <p:nvPr/>
        </p:nvSpPr>
        <p:spPr>
          <a:xfrm>
            <a:off x="3619527" y="2028909"/>
            <a:ext cx="3788377" cy="218531"/>
          </a:xfrm>
          <a:prstGeom prst="rect">
            <a:avLst/>
          </a:prstGeom>
          <a:solidFill>
            <a:srgbClr val="E60000"/>
          </a:solidFill>
          <a:ln w="9525" cap="flat" cmpd="sng" algn="ctr">
            <a:solidFill>
              <a:srgbClr val="FFFFFF">
                <a:lumMod val="65000"/>
              </a:srgbClr>
            </a:solidFill>
            <a:prstDash val="solid"/>
          </a:ln>
          <a:effectLst/>
        </p:spPr>
        <p:txBody>
          <a:bodyPr lIns="0" tIns="0" rIns="0" bIns="0" rtlCol="0" anchor="ctr" anchorCtr="0"/>
          <a:lstStyle/>
          <a:p>
            <a:pPr marL="0" marR="0" lvl="0" indent="0" defTabSz="995363" eaLnBrk="0" fontAlgn="base" latinLnBrk="0" hangingPunct="0">
              <a:lnSpc>
                <a:spcPct val="100000"/>
              </a:lnSpc>
              <a:spcBef>
                <a:spcPct val="0"/>
              </a:spcBef>
              <a:spcAft>
                <a:spcPct val="0"/>
              </a:spcAft>
              <a:buClrTx/>
              <a:buSzTx/>
              <a:buFontTx/>
              <a:buNone/>
              <a:tabLst/>
              <a:defRPr/>
            </a:pPr>
            <a:r>
              <a:rPr kumimoji="0" lang="en-US" altLang="ja-JP" sz="1000" b="1" i="0" u="none" strike="noStrike" kern="0" cap="none" spc="0" normalizeH="0" baseline="0" noProof="0">
                <a:ln>
                  <a:noFill/>
                </a:ln>
                <a:solidFill>
                  <a:srgbClr val="FFFFFF"/>
                </a:solidFill>
                <a:effectLst/>
                <a:uLnTx/>
                <a:uFillTx/>
                <a:latin typeface="+mn-ea"/>
                <a:cs typeface="+mn-cs"/>
              </a:rPr>
              <a:t> 1. </a:t>
            </a:r>
            <a:r>
              <a:rPr kumimoji="0" lang="ja-JP" altLang="en-US" sz="1000" b="1" i="0" u="none" strike="noStrike" kern="0" cap="none" spc="0" normalizeH="0" baseline="0" noProof="0">
                <a:ln>
                  <a:noFill/>
                </a:ln>
                <a:solidFill>
                  <a:srgbClr val="FFFFFF"/>
                </a:solidFill>
                <a:effectLst/>
                <a:uLnTx/>
                <a:uFillTx/>
                <a:latin typeface="+mn-ea"/>
                <a:cs typeface="+mn-cs"/>
              </a:rPr>
              <a:t>新事業立上げを支え、必要なシステム機能具備</a:t>
            </a:r>
          </a:p>
        </p:txBody>
      </p:sp>
      <p:sp>
        <p:nvSpPr>
          <p:cNvPr id="20" name="正方形/長方形 19">
            <a:extLst>
              <a:ext uri="{FF2B5EF4-FFF2-40B4-BE49-F238E27FC236}">
                <a16:creationId xmlns:a16="http://schemas.microsoft.com/office/drawing/2014/main" id="{C893EE1C-5DDE-1C58-4564-BB45D6C0BA3E}"/>
              </a:ext>
            </a:extLst>
          </p:cNvPr>
          <p:cNvSpPr/>
          <p:nvPr/>
        </p:nvSpPr>
        <p:spPr>
          <a:xfrm>
            <a:off x="3619527" y="3588744"/>
            <a:ext cx="3788377" cy="217927"/>
          </a:xfrm>
          <a:prstGeom prst="rect">
            <a:avLst/>
          </a:prstGeom>
          <a:solidFill>
            <a:srgbClr val="E60000"/>
          </a:solidFill>
          <a:ln w="9525" cap="flat" cmpd="sng" algn="ctr">
            <a:solidFill>
              <a:srgbClr val="FFFFFF">
                <a:lumMod val="65000"/>
              </a:srgbClr>
            </a:solidFill>
            <a:prstDash val="solid"/>
          </a:ln>
          <a:effectLst/>
        </p:spPr>
        <p:txBody>
          <a:bodyPr lIns="0" tIns="0" rIns="0" bIns="0" rtlCol="0" anchor="ctr" anchorCtr="0"/>
          <a:lstStyle/>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FFFFFF"/>
                </a:solidFill>
                <a:effectLst/>
                <a:uLnTx/>
                <a:uFillTx/>
                <a:latin typeface="+mn-ea"/>
                <a:cs typeface="+mn-cs"/>
              </a:rPr>
              <a:t> </a:t>
            </a:r>
            <a:r>
              <a:rPr kumimoji="0" lang="en-US" altLang="ja-JP" sz="1000" b="1" i="0" u="none" strike="noStrike" kern="0" cap="none" spc="0" normalizeH="0" baseline="0" noProof="0">
                <a:ln>
                  <a:noFill/>
                </a:ln>
                <a:solidFill>
                  <a:srgbClr val="FFFFFF"/>
                </a:solidFill>
                <a:effectLst/>
                <a:uLnTx/>
                <a:uFillTx/>
                <a:latin typeface="+mn-ea"/>
                <a:cs typeface="+mn-cs"/>
              </a:rPr>
              <a:t>2. </a:t>
            </a:r>
            <a:r>
              <a:rPr kumimoji="0" lang="ja-JP" altLang="en-US" sz="1000" b="1" i="0" u="none" strike="noStrike" kern="0" cap="none" spc="0" normalizeH="0" baseline="0" noProof="0">
                <a:ln>
                  <a:noFill/>
                </a:ln>
                <a:solidFill>
                  <a:srgbClr val="FFFFFF"/>
                </a:solidFill>
                <a:effectLst/>
                <a:uLnTx/>
                <a:uFillTx/>
                <a:latin typeface="+mn-ea"/>
                <a:cs typeface="+mn-cs"/>
              </a:rPr>
              <a:t>現行信託ビジネスの機能拡張と業務基盤強化　　　  　</a:t>
            </a:r>
            <a:endParaRPr kumimoji="0" lang="ja-JP" altLang="en-US" sz="1000" b="0" i="0" u="none" strike="noStrike" kern="0" cap="none" spc="0" normalizeH="0" baseline="0" noProof="0">
              <a:ln>
                <a:noFill/>
              </a:ln>
              <a:solidFill>
                <a:srgbClr val="FFFFFF"/>
              </a:solidFill>
              <a:effectLst/>
              <a:uLnTx/>
              <a:uFillTx/>
              <a:latin typeface="+mn-ea"/>
              <a:cs typeface="+mn-cs"/>
            </a:endParaRPr>
          </a:p>
        </p:txBody>
      </p:sp>
      <p:sp>
        <p:nvSpPr>
          <p:cNvPr id="21" name="正方形/長方形 20">
            <a:extLst>
              <a:ext uri="{FF2B5EF4-FFF2-40B4-BE49-F238E27FC236}">
                <a16:creationId xmlns:a16="http://schemas.microsoft.com/office/drawing/2014/main" id="{7103A393-0694-5818-90C9-18A88AC4421A}"/>
              </a:ext>
            </a:extLst>
          </p:cNvPr>
          <p:cNvSpPr/>
          <p:nvPr/>
        </p:nvSpPr>
        <p:spPr>
          <a:xfrm>
            <a:off x="3619527" y="5153251"/>
            <a:ext cx="3788377" cy="217927"/>
          </a:xfrm>
          <a:prstGeom prst="rect">
            <a:avLst/>
          </a:prstGeom>
          <a:solidFill>
            <a:srgbClr val="E60000"/>
          </a:solidFill>
          <a:ln w="9525" cap="flat" cmpd="sng" algn="ctr">
            <a:solidFill>
              <a:srgbClr val="FFFFFF">
                <a:lumMod val="65000"/>
              </a:srgbClr>
            </a:solidFill>
            <a:prstDash val="solid"/>
          </a:ln>
          <a:effectLst/>
        </p:spPr>
        <p:txBody>
          <a:bodyPr lIns="0" tIns="0" rIns="0" bIns="0" rtlCol="0" anchor="ctr" anchorCtr="0"/>
          <a:lstStyle/>
          <a:p>
            <a:pPr marL="0" marR="0" lvl="0" indent="0" defTabSz="995363" eaLnBrk="0" fontAlgn="base" latinLnBrk="0" hangingPunct="0">
              <a:lnSpc>
                <a:spcPct val="100000"/>
              </a:lnSpc>
              <a:spcBef>
                <a:spcPct val="0"/>
              </a:spcBef>
              <a:spcAft>
                <a:spcPct val="0"/>
              </a:spcAft>
              <a:buClrTx/>
              <a:buSzTx/>
              <a:buFontTx/>
              <a:buNone/>
              <a:tabLst/>
              <a:defRPr/>
            </a:pPr>
            <a:r>
              <a:rPr kumimoji="0" lang="en-US" altLang="ja-JP" sz="1000" b="1" i="0" u="none" strike="noStrike" kern="0" cap="none" spc="0" normalizeH="0" baseline="0" noProof="0">
                <a:ln>
                  <a:noFill/>
                </a:ln>
                <a:solidFill>
                  <a:srgbClr val="FFFFFF"/>
                </a:solidFill>
                <a:effectLst/>
                <a:uLnTx/>
                <a:uFillTx/>
                <a:latin typeface="+mn-ea"/>
                <a:cs typeface="+mn-cs"/>
              </a:rPr>
              <a:t> 3.</a:t>
            </a:r>
            <a:r>
              <a:rPr kumimoji="0" lang="ja-JP" altLang="en-US" sz="1000" b="1" i="0" u="none" strike="noStrike" kern="0" cap="none" spc="0" normalizeH="0" baseline="0" noProof="0">
                <a:ln>
                  <a:noFill/>
                </a:ln>
                <a:solidFill>
                  <a:srgbClr val="FFFFFF"/>
                </a:solidFill>
                <a:effectLst/>
                <a:uLnTx/>
                <a:uFillTx/>
                <a:latin typeface="+mn-ea"/>
                <a:cs typeface="+mn-cs"/>
              </a:rPr>
              <a:t> </a:t>
            </a:r>
            <a:r>
              <a:rPr kumimoji="0" lang="ja-JP" altLang="en-US" sz="1000" b="1" i="0" u="none" strike="noStrike" kern="0" cap="none" spc="0" normalizeH="0" baseline="0" noProof="0">
                <a:ln>
                  <a:noFill/>
                </a:ln>
                <a:solidFill>
                  <a:srgbClr val="FFFFFF"/>
                </a:solidFill>
                <a:effectLst/>
                <a:uLnTx/>
                <a:uFillTx/>
                <a:latin typeface="+mn-ea"/>
                <a:cs typeface="Tahoma" panose="020B0604030504040204" pitchFamily="34" charset="0"/>
              </a:rPr>
              <a:t>業務継続のため、システム維持リスク解消</a:t>
            </a:r>
            <a:endParaRPr kumimoji="0" lang="ja-JP" altLang="en-US" sz="1000" b="1" i="0" u="none" strike="noStrike" kern="0" cap="none" spc="0" normalizeH="0" baseline="0" noProof="0">
              <a:ln>
                <a:noFill/>
              </a:ln>
              <a:solidFill>
                <a:srgbClr val="FFFFFF"/>
              </a:solidFill>
              <a:effectLst/>
              <a:uLnTx/>
              <a:uFillTx/>
              <a:latin typeface="+mn-ea"/>
              <a:cs typeface="+mn-cs"/>
            </a:endParaRPr>
          </a:p>
        </p:txBody>
      </p:sp>
      <p:sp>
        <p:nvSpPr>
          <p:cNvPr id="22" name="二等辺三角形 21">
            <a:extLst>
              <a:ext uri="{FF2B5EF4-FFF2-40B4-BE49-F238E27FC236}">
                <a16:creationId xmlns:a16="http://schemas.microsoft.com/office/drawing/2014/main" id="{D4BD60EC-4B9F-2156-5F3E-223B7404EC80}"/>
              </a:ext>
            </a:extLst>
          </p:cNvPr>
          <p:cNvSpPr/>
          <p:nvPr/>
        </p:nvSpPr>
        <p:spPr>
          <a:xfrm rot="5400000">
            <a:off x="3343481" y="4331927"/>
            <a:ext cx="262639" cy="178090"/>
          </a:xfrm>
          <a:prstGeom prst="triangle">
            <a:avLst/>
          </a:prstGeom>
          <a:solidFill>
            <a:srgbClr val="FFFFFF">
              <a:lumMod val="50000"/>
            </a:srgbClr>
          </a:solidFill>
          <a:ln w="9525" cap="flat" cmpd="sng" algn="ctr">
            <a:noFill/>
            <a:prstDash val="solid"/>
          </a:ln>
          <a:effectLst/>
        </p:spPr>
        <p:txBody>
          <a:bodyPr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endParaRPr kumimoji="0" lang="ja-JP" altLang="en-US" sz="1000" b="0" i="0" u="none" strike="noStrike" kern="0" cap="none" spc="0" normalizeH="0" baseline="0" noProof="0">
              <a:ln>
                <a:noFill/>
              </a:ln>
              <a:solidFill>
                <a:srgbClr val="FFFFFF"/>
              </a:solidFill>
              <a:effectLst/>
              <a:uLnTx/>
              <a:uFillTx/>
              <a:latin typeface="+mn-ea"/>
              <a:cs typeface="+mn-cs"/>
            </a:endParaRPr>
          </a:p>
        </p:txBody>
      </p:sp>
      <p:sp>
        <p:nvSpPr>
          <p:cNvPr id="23" name="二等辺三角形 22">
            <a:extLst>
              <a:ext uri="{FF2B5EF4-FFF2-40B4-BE49-F238E27FC236}">
                <a16:creationId xmlns:a16="http://schemas.microsoft.com/office/drawing/2014/main" id="{E7B8C0AB-5068-FB40-F86F-71524CBD1889}"/>
              </a:ext>
            </a:extLst>
          </p:cNvPr>
          <p:cNvSpPr/>
          <p:nvPr/>
        </p:nvSpPr>
        <p:spPr>
          <a:xfrm rot="5400000">
            <a:off x="3343481" y="5896956"/>
            <a:ext cx="262639" cy="178090"/>
          </a:xfrm>
          <a:prstGeom prst="triangle">
            <a:avLst/>
          </a:prstGeom>
          <a:solidFill>
            <a:srgbClr val="FFFFFF">
              <a:lumMod val="50000"/>
            </a:srgbClr>
          </a:solidFill>
          <a:ln w="9525" cap="flat" cmpd="sng" algn="ctr">
            <a:noFill/>
            <a:prstDash val="solid"/>
          </a:ln>
          <a:effectLst/>
        </p:spPr>
        <p:txBody>
          <a:bodyPr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endParaRPr kumimoji="0" lang="ja-JP" altLang="en-US" sz="1000" b="0" i="0" u="none" strike="noStrike" kern="0" cap="none" spc="0" normalizeH="0" baseline="0" noProof="0">
              <a:ln>
                <a:noFill/>
              </a:ln>
              <a:solidFill>
                <a:srgbClr val="FFFFFF"/>
              </a:solidFill>
              <a:effectLst/>
              <a:uLnTx/>
              <a:uFillTx/>
              <a:latin typeface="+mn-ea"/>
              <a:cs typeface="+mn-cs"/>
            </a:endParaRPr>
          </a:p>
        </p:txBody>
      </p:sp>
      <p:sp>
        <p:nvSpPr>
          <p:cNvPr id="27" name="正方形/長方形 26">
            <a:extLst>
              <a:ext uri="{FF2B5EF4-FFF2-40B4-BE49-F238E27FC236}">
                <a16:creationId xmlns:a16="http://schemas.microsoft.com/office/drawing/2014/main" id="{D0C9C2ED-C9F2-CCF3-E461-9ADAA05E5A06}"/>
              </a:ext>
            </a:extLst>
          </p:cNvPr>
          <p:cNvSpPr/>
          <p:nvPr/>
        </p:nvSpPr>
        <p:spPr>
          <a:xfrm>
            <a:off x="7610475" y="1641471"/>
            <a:ext cx="1806029" cy="231348"/>
          </a:xfrm>
          <a:prstGeom prst="rect">
            <a:avLst/>
          </a:prstGeom>
          <a:solidFill>
            <a:schemeClr val="accent2">
              <a:lumMod val="75000"/>
            </a:schemeClr>
          </a:solidFill>
          <a:ln w="9525" cap="flat" cmpd="sng" algn="ctr">
            <a:solidFill>
              <a:srgbClr val="FFFFFF">
                <a:lumMod val="65000"/>
              </a:srgbClr>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900" b="1" i="0" u="none" strike="noStrike" kern="0" cap="none" spc="0" normalizeH="0" baseline="0" noProof="0" dirty="0">
                <a:ln>
                  <a:noFill/>
                </a:ln>
                <a:solidFill>
                  <a:srgbClr val="FFFFFF"/>
                </a:solidFill>
                <a:effectLst/>
                <a:uLnTx/>
                <a:uFillTx/>
                <a:latin typeface="+mn-ea"/>
                <a:cs typeface="+mn-cs"/>
              </a:rPr>
              <a:t>やること</a:t>
            </a:r>
            <a:endParaRPr kumimoji="0" lang="en-US" altLang="ja-JP" sz="900" b="1" i="0" u="none" strike="noStrike" kern="0" cap="none" spc="0" normalizeH="0" baseline="0" noProof="0" dirty="0">
              <a:ln>
                <a:noFill/>
              </a:ln>
              <a:solidFill>
                <a:srgbClr val="FFFFFF"/>
              </a:solidFill>
              <a:effectLst/>
              <a:uLnTx/>
              <a:uFillTx/>
              <a:latin typeface="+mn-ea"/>
              <a:cs typeface="+mn-cs"/>
            </a:endParaRPr>
          </a:p>
        </p:txBody>
      </p:sp>
      <p:sp>
        <p:nvSpPr>
          <p:cNvPr id="28" name="正方形/長方形 27">
            <a:extLst>
              <a:ext uri="{FF2B5EF4-FFF2-40B4-BE49-F238E27FC236}">
                <a16:creationId xmlns:a16="http://schemas.microsoft.com/office/drawing/2014/main" id="{0A3E7265-F035-1BD0-EABC-908BD2B3BB44}"/>
              </a:ext>
            </a:extLst>
          </p:cNvPr>
          <p:cNvSpPr/>
          <p:nvPr/>
        </p:nvSpPr>
        <p:spPr>
          <a:xfrm>
            <a:off x="7610475" y="2024235"/>
            <a:ext cx="1806029" cy="709221"/>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kern="0" dirty="0">
                <a:solidFill>
                  <a:schemeClr val="accent2">
                    <a:lumMod val="75000"/>
                  </a:schemeClr>
                </a:solidFill>
                <a:latin typeface="+mn-ea"/>
              </a:rPr>
              <a:t>ビジネス高度化</a:t>
            </a:r>
            <a:endParaRPr kumimoji="0" lang="en-US" altLang="ja-JP" sz="1200" b="1" kern="0" dirty="0">
              <a:solidFill>
                <a:schemeClr val="accent2">
                  <a:lumMod val="75000"/>
                </a:schemeClr>
              </a:solidFill>
              <a:latin typeface="+mn-ea"/>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kern="0" dirty="0">
                <a:solidFill>
                  <a:schemeClr val="accent2">
                    <a:lumMod val="75000"/>
                  </a:schemeClr>
                </a:solidFill>
                <a:latin typeface="+mn-ea"/>
              </a:rPr>
              <a:t>（</a:t>
            </a: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データマネジメントサービス）</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9" name="正方形/長方形 28">
            <a:extLst>
              <a:ext uri="{FF2B5EF4-FFF2-40B4-BE49-F238E27FC236}">
                <a16:creationId xmlns:a16="http://schemas.microsoft.com/office/drawing/2014/main" id="{38F9D499-A311-1DB4-638F-FEEA14707ED2}"/>
              </a:ext>
            </a:extLst>
          </p:cNvPr>
          <p:cNvSpPr/>
          <p:nvPr/>
        </p:nvSpPr>
        <p:spPr>
          <a:xfrm>
            <a:off x="7610474" y="5153251"/>
            <a:ext cx="1806029" cy="1447574"/>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ホストオープン化</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kern="0" dirty="0">
                <a:solidFill>
                  <a:schemeClr val="accent2">
                    <a:lumMod val="75000"/>
                  </a:schemeClr>
                </a:solidFill>
                <a:latin typeface="+mn-ea"/>
              </a:rPr>
              <a:t>（モダナイゼーション）</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30" name="正方形/長方形 29">
            <a:extLst>
              <a:ext uri="{FF2B5EF4-FFF2-40B4-BE49-F238E27FC236}">
                <a16:creationId xmlns:a16="http://schemas.microsoft.com/office/drawing/2014/main" id="{CE0B00FE-054B-C11A-FA61-2D993AA265AA}"/>
              </a:ext>
            </a:extLst>
          </p:cNvPr>
          <p:cNvSpPr/>
          <p:nvPr/>
        </p:nvSpPr>
        <p:spPr>
          <a:xfrm>
            <a:off x="7610474" y="3588744"/>
            <a:ext cx="1806029" cy="1447574"/>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業務基盤強化</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31" name="正方形/長方形 30">
            <a:extLst>
              <a:ext uri="{FF2B5EF4-FFF2-40B4-BE49-F238E27FC236}">
                <a16:creationId xmlns:a16="http://schemas.microsoft.com/office/drawing/2014/main" id="{A5E65640-661E-D6E0-73BC-29F929668520}"/>
              </a:ext>
            </a:extLst>
          </p:cNvPr>
          <p:cNvSpPr/>
          <p:nvPr/>
        </p:nvSpPr>
        <p:spPr>
          <a:xfrm>
            <a:off x="7610475" y="2775531"/>
            <a:ext cx="1806029" cy="709221"/>
          </a:xfrm>
          <a:prstGeom prst="rect">
            <a:avLst/>
          </a:prstGeom>
          <a:solidFill>
            <a:schemeClr val="bg1">
              <a:lumMod val="95000"/>
            </a:schemeClr>
          </a:solidFill>
          <a:ln w="9525" cap="flat" cmpd="sng" algn="ctr">
            <a:solidFill>
              <a:srgbClr val="FFFFFF">
                <a:lumMod val="65000"/>
              </a:srgbClr>
            </a:solidFill>
            <a:prstDash val="dash"/>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900" b="1" i="0" u="none" strike="noStrike" kern="0" cap="none" spc="0" normalizeH="0" baseline="0" noProof="0" dirty="0">
                <a:ln>
                  <a:noFill/>
                </a:ln>
                <a:effectLst/>
                <a:uLnTx/>
                <a:uFillTx/>
                <a:latin typeface="+mn-ea"/>
                <a:cs typeface="+mn-cs"/>
              </a:rPr>
              <a:t>生保</a:t>
            </a:r>
            <a:r>
              <a:rPr kumimoji="0" lang="en-US" altLang="ja-JP" sz="900" b="1" i="0" u="none" strike="noStrike" kern="0" cap="none" spc="0" normalizeH="0" baseline="0" noProof="0" dirty="0">
                <a:ln>
                  <a:noFill/>
                </a:ln>
                <a:effectLst/>
                <a:uLnTx/>
                <a:uFillTx/>
                <a:latin typeface="+mn-ea"/>
                <a:cs typeface="+mn-cs"/>
              </a:rPr>
              <a:t>BPO</a:t>
            </a: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900" b="1" kern="0" dirty="0">
                <a:latin typeface="+mn-ea"/>
              </a:rPr>
              <a:t>（スコープアウト）</a:t>
            </a:r>
            <a:endParaRPr kumimoji="0" lang="en-US" altLang="ja-JP" sz="900" b="1" i="0" u="none" strike="noStrike" kern="0" cap="none" spc="0" normalizeH="0" baseline="0" noProof="0" dirty="0">
              <a:ln>
                <a:noFill/>
              </a:ln>
              <a:effectLst/>
              <a:uLnTx/>
              <a:uFillTx/>
              <a:latin typeface="+mn-ea"/>
              <a:cs typeface="+mn-cs"/>
            </a:endParaRPr>
          </a:p>
        </p:txBody>
      </p:sp>
      <p:sp>
        <p:nvSpPr>
          <p:cNvPr id="32" name="正方形/長方形 31">
            <a:extLst>
              <a:ext uri="{FF2B5EF4-FFF2-40B4-BE49-F238E27FC236}">
                <a16:creationId xmlns:a16="http://schemas.microsoft.com/office/drawing/2014/main" id="{B261FFF2-210F-FE49-8BF9-426C8F716C46}"/>
              </a:ext>
            </a:extLst>
          </p:cNvPr>
          <p:cNvSpPr/>
          <p:nvPr/>
        </p:nvSpPr>
        <p:spPr>
          <a:xfrm>
            <a:off x="7610475" y="2024235"/>
            <a:ext cx="285750"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rPr>
              <a:t>A</a:t>
            </a:r>
          </a:p>
        </p:txBody>
      </p:sp>
      <p:sp>
        <p:nvSpPr>
          <p:cNvPr id="33" name="正方形/長方形 32">
            <a:extLst>
              <a:ext uri="{FF2B5EF4-FFF2-40B4-BE49-F238E27FC236}">
                <a16:creationId xmlns:a16="http://schemas.microsoft.com/office/drawing/2014/main" id="{E9DA5000-6A2C-1F62-7A97-BDA1EC3FAA03}"/>
              </a:ext>
            </a:extLst>
          </p:cNvPr>
          <p:cNvSpPr/>
          <p:nvPr/>
        </p:nvSpPr>
        <p:spPr>
          <a:xfrm>
            <a:off x="7610474" y="3588744"/>
            <a:ext cx="285750"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200" b="1" kern="0" dirty="0">
                <a:solidFill>
                  <a:schemeClr val="accent2">
                    <a:lumMod val="75000"/>
                  </a:schemeClr>
                </a:solidFill>
                <a:latin typeface="+mn-ea"/>
              </a:rPr>
              <a:t>B</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34" name="正方形/長方形 33">
            <a:extLst>
              <a:ext uri="{FF2B5EF4-FFF2-40B4-BE49-F238E27FC236}">
                <a16:creationId xmlns:a16="http://schemas.microsoft.com/office/drawing/2014/main" id="{1157503C-939D-BE14-D65C-0F9A8C5A8CF6}"/>
              </a:ext>
            </a:extLst>
          </p:cNvPr>
          <p:cNvSpPr/>
          <p:nvPr/>
        </p:nvSpPr>
        <p:spPr>
          <a:xfrm>
            <a:off x="7610474" y="5153251"/>
            <a:ext cx="285750"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200" b="1" kern="0" dirty="0">
                <a:solidFill>
                  <a:schemeClr val="accent2">
                    <a:lumMod val="75000"/>
                  </a:schemeClr>
                </a:solidFill>
                <a:latin typeface="+mn-ea"/>
              </a:rPr>
              <a:t>C</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Tree>
    <p:extLst>
      <p:ext uri="{BB962C8B-B14F-4D97-AF65-F5344CB8AC3E}">
        <p14:creationId xmlns:p14="http://schemas.microsoft.com/office/powerpoint/2010/main" val="378765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A4FC3-50E3-102C-8FD7-D718752125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81ACA7C-8588-72ED-42E0-3081CAFB9497}"/>
              </a:ext>
            </a:extLst>
          </p:cNvPr>
          <p:cNvSpPr>
            <a:spLocks noGrp="1"/>
          </p:cNvSpPr>
          <p:nvPr>
            <p:ph type="title"/>
          </p:nvPr>
        </p:nvSpPr>
        <p:spPr>
          <a:xfrm>
            <a:off x="488504" y="568613"/>
            <a:ext cx="8928000" cy="373311"/>
          </a:xfrm>
        </p:spPr>
        <p:txBody>
          <a:bodyPr/>
          <a:lstStyle/>
          <a:p>
            <a:r>
              <a:rPr lang="en-US" altLang="ja-JP" dirty="0"/>
              <a:t>1</a:t>
            </a:r>
            <a:r>
              <a:rPr kumimoji="1" lang="en-US" altLang="ja-JP" dirty="0"/>
              <a:t>. </a:t>
            </a:r>
            <a:r>
              <a:rPr kumimoji="1" lang="ja-JP" altLang="en-US" dirty="0"/>
              <a:t>プロジェクトの概要～③取り組みテーマ</a:t>
            </a:r>
          </a:p>
        </p:txBody>
      </p:sp>
      <p:sp>
        <p:nvSpPr>
          <p:cNvPr id="3" name="テキスト プレースホルダー 2">
            <a:extLst>
              <a:ext uri="{FF2B5EF4-FFF2-40B4-BE49-F238E27FC236}">
                <a16:creationId xmlns:a16="http://schemas.microsoft.com/office/drawing/2014/main" id="{7A4BACC7-A823-E42C-227A-C7AADD2AE896}"/>
              </a:ext>
            </a:extLst>
          </p:cNvPr>
          <p:cNvSpPr>
            <a:spLocks noGrp="1"/>
          </p:cNvSpPr>
          <p:nvPr>
            <p:ph type="body" idx="12"/>
          </p:nvPr>
        </p:nvSpPr>
        <p:spPr>
          <a:xfrm>
            <a:off x="488999" y="969722"/>
            <a:ext cx="9131121" cy="669414"/>
          </a:xfrm>
        </p:spPr>
        <p:txBody>
          <a:bodyPr/>
          <a:lstStyle/>
          <a:p>
            <a:r>
              <a:rPr kumimoji="1" lang="ja-JP" altLang="en-US" dirty="0"/>
              <a:t>プログラムでは、取り組みテーマが現時点で９つあり、それぞれについて計画を立てています。</a:t>
            </a:r>
          </a:p>
        </p:txBody>
      </p:sp>
      <p:sp>
        <p:nvSpPr>
          <p:cNvPr id="4" name="テキスト プレースホルダー 3">
            <a:extLst>
              <a:ext uri="{FF2B5EF4-FFF2-40B4-BE49-F238E27FC236}">
                <a16:creationId xmlns:a16="http://schemas.microsoft.com/office/drawing/2014/main" id="{F992D442-1722-3D8F-D95E-394C7C3B9C8D}"/>
              </a:ext>
            </a:extLst>
          </p:cNvPr>
          <p:cNvSpPr>
            <a:spLocks noGrp="1"/>
          </p:cNvSpPr>
          <p:nvPr>
            <p:ph type="body" sz="quarter" idx="13"/>
          </p:nvPr>
        </p:nvSpPr>
        <p:spPr>
          <a:xfrm>
            <a:off x="488504" y="179588"/>
            <a:ext cx="8928000" cy="373311"/>
          </a:xfrm>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sp>
        <p:nvSpPr>
          <p:cNvPr id="202" name="正方形/長方形 201">
            <a:extLst>
              <a:ext uri="{FF2B5EF4-FFF2-40B4-BE49-F238E27FC236}">
                <a16:creationId xmlns:a16="http://schemas.microsoft.com/office/drawing/2014/main" id="{D4DAF173-943E-891F-2785-F706A9264E12}"/>
              </a:ext>
            </a:extLst>
          </p:cNvPr>
          <p:cNvSpPr/>
          <p:nvPr/>
        </p:nvSpPr>
        <p:spPr>
          <a:xfrm>
            <a:off x="488999" y="1805162"/>
            <a:ext cx="1806029" cy="957397"/>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ビジネス高度化</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（データマネジメントサービス）</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03" name="正方形/長方形 202">
            <a:extLst>
              <a:ext uri="{FF2B5EF4-FFF2-40B4-BE49-F238E27FC236}">
                <a16:creationId xmlns:a16="http://schemas.microsoft.com/office/drawing/2014/main" id="{25612FB4-633C-2EF0-B7AB-13A1B9AB3A41}"/>
              </a:ext>
            </a:extLst>
          </p:cNvPr>
          <p:cNvSpPr/>
          <p:nvPr/>
        </p:nvSpPr>
        <p:spPr>
          <a:xfrm>
            <a:off x="488999" y="3873270"/>
            <a:ext cx="1806029" cy="250848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ホストオープン化</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kern="0" dirty="0">
                <a:solidFill>
                  <a:schemeClr val="accent2">
                    <a:lumMod val="75000"/>
                  </a:schemeClr>
                </a:solidFill>
                <a:latin typeface="+mn-ea"/>
              </a:rPr>
              <a:t>（モダナイゼーション）</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04" name="正方形/長方形 203">
            <a:extLst>
              <a:ext uri="{FF2B5EF4-FFF2-40B4-BE49-F238E27FC236}">
                <a16:creationId xmlns:a16="http://schemas.microsoft.com/office/drawing/2014/main" id="{35C126D3-28E5-EB58-D722-DF173305774C}"/>
              </a:ext>
            </a:extLst>
          </p:cNvPr>
          <p:cNvSpPr/>
          <p:nvPr/>
        </p:nvSpPr>
        <p:spPr>
          <a:xfrm>
            <a:off x="488999" y="2839216"/>
            <a:ext cx="1806029" cy="957397"/>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業務基盤強化</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06" name="正方形/長方形 205">
            <a:extLst>
              <a:ext uri="{FF2B5EF4-FFF2-40B4-BE49-F238E27FC236}">
                <a16:creationId xmlns:a16="http://schemas.microsoft.com/office/drawing/2014/main" id="{CD1B9B20-EFCD-D401-AF38-F1CB3F629A87}"/>
              </a:ext>
            </a:extLst>
          </p:cNvPr>
          <p:cNvSpPr/>
          <p:nvPr/>
        </p:nvSpPr>
        <p:spPr>
          <a:xfrm>
            <a:off x="488999" y="1805160"/>
            <a:ext cx="285750"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rPr>
              <a:t>A</a:t>
            </a:r>
          </a:p>
        </p:txBody>
      </p:sp>
      <p:sp>
        <p:nvSpPr>
          <p:cNvPr id="207" name="正方形/長方形 206">
            <a:extLst>
              <a:ext uri="{FF2B5EF4-FFF2-40B4-BE49-F238E27FC236}">
                <a16:creationId xmlns:a16="http://schemas.microsoft.com/office/drawing/2014/main" id="{1B1C29F7-3209-AC0F-02CB-57843E51C5D3}"/>
              </a:ext>
            </a:extLst>
          </p:cNvPr>
          <p:cNvSpPr/>
          <p:nvPr/>
        </p:nvSpPr>
        <p:spPr>
          <a:xfrm>
            <a:off x="488999" y="2839216"/>
            <a:ext cx="285750"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200" b="1" kern="0" dirty="0">
                <a:solidFill>
                  <a:schemeClr val="accent2">
                    <a:lumMod val="75000"/>
                  </a:schemeClr>
                </a:solidFill>
                <a:latin typeface="+mn-ea"/>
              </a:rPr>
              <a:t>B</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08" name="正方形/長方形 207">
            <a:extLst>
              <a:ext uri="{FF2B5EF4-FFF2-40B4-BE49-F238E27FC236}">
                <a16:creationId xmlns:a16="http://schemas.microsoft.com/office/drawing/2014/main" id="{3679EB76-C3A0-EBBB-DF1D-8768EF5EDECA}"/>
              </a:ext>
            </a:extLst>
          </p:cNvPr>
          <p:cNvSpPr/>
          <p:nvPr/>
        </p:nvSpPr>
        <p:spPr>
          <a:xfrm>
            <a:off x="488999" y="3873270"/>
            <a:ext cx="285750"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200" b="1" kern="0" dirty="0">
                <a:solidFill>
                  <a:schemeClr val="accent2">
                    <a:lumMod val="75000"/>
                  </a:schemeClr>
                </a:solidFill>
                <a:latin typeface="+mn-ea"/>
              </a:rPr>
              <a:t>C</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09" name="正方形/長方形 208">
            <a:extLst>
              <a:ext uri="{FF2B5EF4-FFF2-40B4-BE49-F238E27FC236}">
                <a16:creationId xmlns:a16="http://schemas.microsoft.com/office/drawing/2014/main" id="{DDEA0449-C21E-E65B-4457-E41685B554E0}"/>
              </a:ext>
            </a:extLst>
          </p:cNvPr>
          <p:cNvSpPr/>
          <p:nvPr/>
        </p:nvSpPr>
        <p:spPr>
          <a:xfrm>
            <a:off x="488999" y="1479546"/>
            <a:ext cx="1806029" cy="231348"/>
          </a:xfrm>
          <a:prstGeom prst="rect">
            <a:avLst/>
          </a:prstGeom>
          <a:solidFill>
            <a:schemeClr val="accent2">
              <a:lumMod val="75000"/>
            </a:schemeClr>
          </a:solidFill>
          <a:ln w="9525" cap="flat" cmpd="sng" algn="ctr">
            <a:solidFill>
              <a:srgbClr val="FFFFFF">
                <a:lumMod val="65000"/>
              </a:srgbClr>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900" b="1" i="0" u="none" strike="noStrike" kern="0" cap="none" spc="0" normalizeH="0" baseline="0" noProof="0" dirty="0">
                <a:ln>
                  <a:noFill/>
                </a:ln>
                <a:solidFill>
                  <a:srgbClr val="FFFFFF"/>
                </a:solidFill>
                <a:effectLst/>
                <a:uLnTx/>
                <a:uFillTx/>
                <a:latin typeface="+mn-ea"/>
                <a:cs typeface="+mn-cs"/>
              </a:rPr>
              <a:t>やること</a:t>
            </a:r>
            <a:endParaRPr kumimoji="0" lang="en-US" altLang="ja-JP" sz="900" b="1" i="0" u="none" strike="noStrike" kern="0" cap="none" spc="0" normalizeH="0" baseline="0" noProof="0" dirty="0">
              <a:ln>
                <a:noFill/>
              </a:ln>
              <a:solidFill>
                <a:srgbClr val="FFFFFF"/>
              </a:solidFill>
              <a:effectLst/>
              <a:uLnTx/>
              <a:uFillTx/>
              <a:latin typeface="+mn-ea"/>
              <a:cs typeface="+mn-cs"/>
            </a:endParaRPr>
          </a:p>
        </p:txBody>
      </p:sp>
      <p:sp>
        <p:nvSpPr>
          <p:cNvPr id="210" name="正方形/長方形 209">
            <a:extLst>
              <a:ext uri="{FF2B5EF4-FFF2-40B4-BE49-F238E27FC236}">
                <a16:creationId xmlns:a16="http://schemas.microsoft.com/office/drawing/2014/main" id="{DAABF55F-FBA9-7D2C-E492-C2C9DF16EE24}"/>
              </a:ext>
            </a:extLst>
          </p:cNvPr>
          <p:cNvSpPr/>
          <p:nvPr/>
        </p:nvSpPr>
        <p:spPr>
          <a:xfrm>
            <a:off x="2495053" y="1479546"/>
            <a:ext cx="2520247" cy="231348"/>
          </a:xfrm>
          <a:prstGeom prst="rect">
            <a:avLst/>
          </a:prstGeom>
          <a:solidFill>
            <a:schemeClr val="accent2">
              <a:lumMod val="75000"/>
            </a:schemeClr>
          </a:solidFill>
          <a:ln w="9525" cap="flat" cmpd="sng" algn="ctr">
            <a:solidFill>
              <a:srgbClr val="FFFFFF">
                <a:lumMod val="65000"/>
              </a:srgbClr>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900" b="1" i="0" u="none" strike="noStrike" kern="0" cap="none" spc="0" normalizeH="0" baseline="0" noProof="0" dirty="0">
                <a:ln>
                  <a:noFill/>
                </a:ln>
                <a:solidFill>
                  <a:srgbClr val="FFFFFF"/>
                </a:solidFill>
                <a:effectLst/>
                <a:uLnTx/>
                <a:uFillTx/>
                <a:latin typeface="+mn-ea"/>
                <a:cs typeface="+mn-cs"/>
              </a:rPr>
              <a:t>テーマ</a:t>
            </a:r>
            <a:endParaRPr kumimoji="0" lang="en-US" altLang="ja-JP" sz="900" b="1" i="0" u="none" strike="noStrike" kern="0" cap="none" spc="0" normalizeH="0" baseline="0" noProof="0" dirty="0">
              <a:ln>
                <a:noFill/>
              </a:ln>
              <a:solidFill>
                <a:srgbClr val="FFFFFF"/>
              </a:solidFill>
              <a:effectLst/>
              <a:uLnTx/>
              <a:uFillTx/>
              <a:latin typeface="+mn-ea"/>
              <a:cs typeface="+mn-cs"/>
            </a:endParaRPr>
          </a:p>
        </p:txBody>
      </p:sp>
      <p:sp>
        <p:nvSpPr>
          <p:cNvPr id="211" name="正方形/長方形 210">
            <a:extLst>
              <a:ext uri="{FF2B5EF4-FFF2-40B4-BE49-F238E27FC236}">
                <a16:creationId xmlns:a16="http://schemas.microsoft.com/office/drawing/2014/main" id="{68937C99-A1DC-2DC9-19BD-EF8FCE607C76}"/>
              </a:ext>
            </a:extLst>
          </p:cNvPr>
          <p:cNvSpPr/>
          <p:nvPr/>
        </p:nvSpPr>
        <p:spPr>
          <a:xfrm>
            <a:off x="2495053" y="1805162"/>
            <a:ext cx="2520247" cy="44037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新情報系構築</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12" name="正方形/長方形 211">
            <a:extLst>
              <a:ext uri="{FF2B5EF4-FFF2-40B4-BE49-F238E27FC236}">
                <a16:creationId xmlns:a16="http://schemas.microsoft.com/office/drawing/2014/main" id="{AE5FF99B-DBBA-9DC4-A89A-BB69D9DCEC86}"/>
              </a:ext>
            </a:extLst>
          </p:cNvPr>
          <p:cNvSpPr/>
          <p:nvPr/>
        </p:nvSpPr>
        <p:spPr>
          <a:xfrm>
            <a:off x="2495053" y="2322189"/>
            <a:ext cx="2520247" cy="44037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データ品質向上</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13" name="正方形/長方形 212">
            <a:extLst>
              <a:ext uri="{FF2B5EF4-FFF2-40B4-BE49-F238E27FC236}">
                <a16:creationId xmlns:a16="http://schemas.microsoft.com/office/drawing/2014/main" id="{C4BA523E-A91B-4C14-7267-2B89919937A0}"/>
              </a:ext>
            </a:extLst>
          </p:cNvPr>
          <p:cNvSpPr/>
          <p:nvPr/>
        </p:nvSpPr>
        <p:spPr>
          <a:xfrm>
            <a:off x="2495053" y="2839216"/>
            <a:ext cx="2520247" cy="44037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外国証券</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14" name="正方形/長方形 213">
            <a:extLst>
              <a:ext uri="{FF2B5EF4-FFF2-40B4-BE49-F238E27FC236}">
                <a16:creationId xmlns:a16="http://schemas.microsoft.com/office/drawing/2014/main" id="{9F3D1687-7AB2-8A24-3856-239594B89E92}"/>
              </a:ext>
            </a:extLst>
          </p:cNvPr>
          <p:cNvSpPr/>
          <p:nvPr/>
        </p:nvSpPr>
        <p:spPr>
          <a:xfrm>
            <a:off x="2495053" y="3356243"/>
            <a:ext cx="2520247" cy="44037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汎用</a:t>
            </a:r>
            <a:r>
              <a:rPr kumimoji="0" lang="ja-JP" altLang="en-US" sz="1200" b="1" kern="0" dirty="0">
                <a:solidFill>
                  <a:schemeClr val="accent2">
                    <a:lumMod val="75000"/>
                  </a:schemeClr>
                </a:solidFill>
                <a:latin typeface="+mn-ea"/>
              </a:rPr>
              <a:t>商品</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15" name="正方形/長方形 214">
            <a:extLst>
              <a:ext uri="{FF2B5EF4-FFF2-40B4-BE49-F238E27FC236}">
                <a16:creationId xmlns:a16="http://schemas.microsoft.com/office/drawing/2014/main" id="{BFC18E2A-D2DA-DCEE-E187-870ED38B0E46}"/>
              </a:ext>
            </a:extLst>
          </p:cNvPr>
          <p:cNvSpPr/>
          <p:nvPr/>
        </p:nvSpPr>
        <p:spPr>
          <a:xfrm>
            <a:off x="2495053" y="3873270"/>
            <a:ext cx="2520247" cy="44037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ホストスリム化</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16" name="正方形/長方形 215">
            <a:extLst>
              <a:ext uri="{FF2B5EF4-FFF2-40B4-BE49-F238E27FC236}">
                <a16:creationId xmlns:a16="http://schemas.microsoft.com/office/drawing/2014/main" id="{38457A4C-0DD8-7502-E55C-56110BB22CBF}"/>
              </a:ext>
            </a:extLst>
          </p:cNvPr>
          <p:cNvSpPr/>
          <p:nvPr/>
        </p:nvSpPr>
        <p:spPr>
          <a:xfrm>
            <a:off x="2495053" y="4390297"/>
            <a:ext cx="2520247" cy="44037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画面オープン化</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17" name="正方形/長方形 216">
            <a:extLst>
              <a:ext uri="{FF2B5EF4-FFF2-40B4-BE49-F238E27FC236}">
                <a16:creationId xmlns:a16="http://schemas.microsoft.com/office/drawing/2014/main" id="{F608350A-62F1-BCB1-BA3E-F39441C21D7A}"/>
              </a:ext>
            </a:extLst>
          </p:cNvPr>
          <p:cNvSpPr/>
          <p:nvPr/>
        </p:nvSpPr>
        <p:spPr>
          <a:xfrm>
            <a:off x="2495053" y="4907324"/>
            <a:ext cx="2520247" cy="44037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取引残高系オープン化</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18" name="正方形/長方形 217">
            <a:extLst>
              <a:ext uri="{FF2B5EF4-FFF2-40B4-BE49-F238E27FC236}">
                <a16:creationId xmlns:a16="http://schemas.microsoft.com/office/drawing/2014/main" id="{998B8A48-0ACC-9A71-6FED-808E437A628C}"/>
              </a:ext>
            </a:extLst>
          </p:cNvPr>
          <p:cNvSpPr/>
          <p:nvPr/>
        </p:nvSpPr>
        <p:spPr>
          <a:xfrm>
            <a:off x="2495053" y="5424351"/>
            <a:ext cx="2520247" cy="44037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chemeClr val="accent2">
                    <a:lumMod val="75000"/>
                  </a:schemeClr>
                </a:solidFill>
                <a:effectLst/>
                <a:uLnTx/>
                <a:uFillTx/>
                <a:latin typeface="+mn-ea"/>
                <a:cs typeface="+mn-cs"/>
              </a:rPr>
              <a:t>情報系オープン化</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19" name="正方形/長方形 218">
            <a:extLst>
              <a:ext uri="{FF2B5EF4-FFF2-40B4-BE49-F238E27FC236}">
                <a16:creationId xmlns:a16="http://schemas.microsoft.com/office/drawing/2014/main" id="{5DA9007B-197C-9889-09DA-922DB02391D7}"/>
              </a:ext>
            </a:extLst>
          </p:cNvPr>
          <p:cNvSpPr/>
          <p:nvPr/>
        </p:nvSpPr>
        <p:spPr>
          <a:xfrm>
            <a:off x="2495053" y="5941380"/>
            <a:ext cx="2520247" cy="44037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kern="0" dirty="0">
                <a:solidFill>
                  <a:schemeClr val="accent2">
                    <a:lumMod val="75000"/>
                  </a:schemeClr>
                </a:solidFill>
                <a:latin typeface="+mn-ea"/>
              </a:rPr>
              <a:t>帳簿系オープン化</a:t>
            </a:r>
            <a:endParaRPr kumimoji="0" lang="en-US" altLang="ja-JP" sz="1200"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30" name="正方形/長方形 229">
            <a:extLst>
              <a:ext uri="{FF2B5EF4-FFF2-40B4-BE49-F238E27FC236}">
                <a16:creationId xmlns:a16="http://schemas.microsoft.com/office/drawing/2014/main" id="{5C4BAB4C-DE50-5D3C-9ED4-CC22BFE1AC93}"/>
              </a:ext>
            </a:extLst>
          </p:cNvPr>
          <p:cNvSpPr/>
          <p:nvPr/>
        </p:nvSpPr>
        <p:spPr>
          <a:xfrm>
            <a:off x="5215325" y="1479546"/>
            <a:ext cx="3004750" cy="231348"/>
          </a:xfrm>
          <a:prstGeom prst="rect">
            <a:avLst/>
          </a:prstGeom>
          <a:solidFill>
            <a:schemeClr val="accent2">
              <a:lumMod val="75000"/>
            </a:schemeClr>
          </a:solidFill>
          <a:ln w="9525" cap="flat" cmpd="sng" algn="ctr">
            <a:solidFill>
              <a:srgbClr val="FFFFFF">
                <a:lumMod val="65000"/>
              </a:srgbClr>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900" b="1" i="0" u="none" strike="noStrike" kern="0" cap="none" spc="0" normalizeH="0" baseline="0" noProof="0" dirty="0">
                <a:ln>
                  <a:noFill/>
                </a:ln>
                <a:solidFill>
                  <a:srgbClr val="FFFFFF"/>
                </a:solidFill>
                <a:effectLst/>
                <a:uLnTx/>
                <a:uFillTx/>
                <a:latin typeface="+mn-ea"/>
                <a:cs typeface="+mn-cs"/>
              </a:rPr>
              <a:t>内容</a:t>
            </a:r>
            <a:endParaRPr kumimoji="0" lang="en-US" altLang="ja-JP" sz="900" b="1" i="0" u="none" strike="noStrike" kern="0" cap="none" spc="0" normalizeH="0" baseline="0" noProof="0" dirty="0">
              <a:ln>
                <a:noFill/>
              </a:ln>
              <a:solidFill>
                <a:srgbClr val="FFFFFF"/>
              </a:solidFill>
              <a:effectLst/>
              <a:uLnTx/>
              <a:uFillTx/>
              <a:latin typeface="+mn-ea"/>
              <a:cs typeface="+mn-cs"/>
            </a:endParaRPr>
          </a:p>
        </p:txBody>
      </p:sp>
      <p:sp>
        <p:nvSpPr>
          <p:cNvPr id="231" name="正方形/長方形 230">
            <a:extLst>
              <a:ext uri="{FF2B5EF4-FFF2-40B4-BE49-F238E27FC236}">
                <a16:creationId xmlns:a16="http://schemas.microsoft.com/office/drawing/2014/main" id="{35A5949D-3792-7E89-BD8B-6150F143825C}"/>
              </a:ext>
            </a:extLst>
          </p:cNvPr>
          <p:cNvSpPr/>
          <p:nvPr/>
        </p:nvSpPr>
        <p:spPr>
          <a:xfrm>
            <a:off x="5215325" y="1805162"/>
            <a:ext cx="3004750" cy="440370"/>
          </a:xfrm>
          <a:prstGeom prst="rect">
            <a:avLst/>
          </a:prstGeom>
          <a:solidFill>
            <a:schemeClr val="bg1"/>
          </a:solidFill>
          <a:ln w="19050" cap="flat" cmpd="sng" algn="ctr">
            <a:noFill/>
            <a:prstDash val="solid"/>
          </a:ln>
          <a:effectLst/>
        </p:spPr>
        <p:txBody>
          <a:bodyPr vert="horz" wrap="square" lIns="0" tIns="0" rIns="0" bIns="0" rtlCol="0" anchor="t" anchorCtr="0"/>
          <a:lstStyle/>
          <a:p>
            <a:pPr lvl="0" defTabSz="995363" eaLnBrk="0" fontAlgn="base" hangingPunct="0">
              <a:spcBef>
                <a:spcPct val="0"/>
              </a:spcBef>
              <a:spcAft>
                <a:spcPct val="0"/>
              </a:spcAft>
            </a:pPr>
            <a:r>
              <a:rPr lang="ja-JP" altLang="en-US" sz="1100" dirty="0">
                <a:latin typeface="+mn-ea"/>
              </a:rPr>
              <a:t>データマネジメントのサービス展開を踏まえたデータ基盤と顧客別</a:t>
            </a:r>
            <a:r>
              <a:rPr lang="en-US" altLang="ja-JP" sz="1100" dirty="0">
                <a:latin typeface="+mn-ea"/>
              </a:rPr>
              <a:t>DWH</a:t>
            </a:r>
            <a:r>
              <a:rPr lang="ja-JP" altLang="en-US" sz="1100" dirty="0">
                <a:latin typeface="+mn-ea"/>
              </a:rPr>
              <a:t>構築</a:t>
            </a:r>
            <a:endParaRPr kumimoji="0" lang="en-US" altLang="ja-JP" sz="1100"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32" name="正方形/長方形 231">
            <a:extLst>
              <a:ext uri="{FF2B5EF4-FFF2-40B4-BE49-F238E27FC236}">
                <a16:creationId xmlns:a16="http://schemas.microsoft.com/office/drawing/2014/main" id="{59420D2E-748E-C299-6880-7845A78C218C}"/>
              </a:ext>
            </a:extLst>
          </p:cNvPr>
          <p:cNvSpPr/>
          <p:nvPr/>
        </p:nvSpPr>
        <p:spPr>
          <a:xfrm>
            <a:off x="5215325" y="2322189"/>
            <a:ext cx="3004750" cy="440370"/>
          </a:xfrm>
          <a:prstGeom prst="rect">
            <a:avLst/>
          </a:prstGeom>
          <a:solidFill>
            <a:schemeClr val="bg1"/>
          </a:solidFill>
          <a:ln w="19050" cap="flat" cmpd="sng" algn="ctr">
            <a:noFill/>
            <a:prstDash val="solid"/>
          </a:ln>
          <a:effectLst/>
        </p:spPr>
        <p:txBody>
          <a:bodyPr vert="horz" wrap="square" lIns="0" tIns="0" rIns="0" bIns="0" rtlCol="0" anchor="t" anchorCtr="0"/>
          <a:lstStyle/>
          <a:p>
            <a:pPr defTabSz="995363" eaLnBrk="0" fontAlgn="base" hangingPunct="0">
              <a:spcBef>
                <a:spcPct val="0"/>
              </a:spcBef>
              <a:spcAft>
                <a:spcPct val="0"/>
              </a:spcAft>
            </a:pPr>
            <a:r>
              <a:rPr lang="ja-JP" altLang="en-US" sz="1100" dirty="0">
                <a:latin typeface="+mn-ea"/>
              </a:rPr>
              <a:t>データ適時性向上、十分性向上実現</a:t>
            </a:r>
            <a:endParaRPr lang="en-US" altLang="ja-JP" sz="1100" dirty="0">
              <a:latin typeface="+mn-ea"/>
            </a:endParaRPr>
          </a:p>
          <a:p>
            <a:pPr marL="0" marR="0" lvl="0" indent="0" defTabSz="995363" eaLnBrk="0" fontAlgn="base" latinLnBrk="0" hangingPunct="0">
              <a:lnSpc>
                <a:spcPct val="100000"/>
              </a:lnSpc>
              <a:spcBef>
                <a:spcPct val="0"/>
              </a:spcBef>
              <a:spcAft>
                <a:spcPct val="0"/>
              </a:spcAft>
              <a:buClrTx/>
              <a:buSzTx/>
              <a:buFontTx/>
              <a:buNone/>
              <a:tabLst/>
              <a:defRPr/>
            </a:pPr>
            <a:endParaRPr kumimoji="0" lang="en-US" altLang="ja-JP" sz="1100"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33" name="正方形/長方形 232">
            <a:extLst>
              <a:ext uri="{FF2B5EF4-FFF2-40B4-BE49-F238E27FC236}">
                <a16:creationId xmlns:a16="http://schemas.microsoft.com/office/drawing/2014/main" id="{5460EDE0-81A1-2D87-C598-F44331FE0BB7}"/>
              </a:ext>
            </a:extLst>
          </p:cNvPr>
          <p:cNvSpPr/>
          <p:nvPr/>
        </p:nvSpPr>
        <p:spPr>
          <a:xfrm>
            <a:off x="5215325" y="2839216"/>
            <a:ext cx="3004750" cy="440370"/>
          </a:xfrm>
          <a:prstGeom prst="rect">
            <a:avLst/>
          </a:prstGeom>
          <a:solidFill>
            <a:schemeClr val="bg1"/>
          </a:solidFill>
          <a:ln w="19050" cap="flat" cmpd="sng" algn="ctr">
            <a:noFill/>
            <a:prstDash val="solid"/>
          </a:ln>
          <a:effectLst/>
        </p:spPr>
        <p:txBody>
          <a:bodyPr vert="horz" wrap="square" lIns="0" tIns="0" rIns="0" bIns="0" rtlCol="0" anchor="t" anchorCtr="0"/>
          <a:lstStyle/>
          <a:p>
            <a:pPr defTabSz="995363" eaLnBrk="0" fontAlgn="base" hangingPunct="0">
              <a:spcBef>
                <a:spcPct val="0"/>
              </a:spcBef>
              <a:spcAft>
                <a:spcPct val="0"/>
              </a:spcAft>
            </a:pPr>
            <a:r>
              <a:rPr lang="ja-JP" altLang="en-US" sz="1100" dirty="0">
                <a:latin typeface="+mn-ea"/>
              </a:rPr>
              <a:t>機能密結合解消、リソース系再構築等の大玉論点解消</a:t>
            </a:r>
          </a:p>
          <a:p>
            <a:pPr marL="0" marR="0" lvl="0" indent="0" defTabSz="995363" eaLnBrk="0" fontAlgn="base" latinLnBrk="0" hangingPunct="0">
              <a:lnSpc>
                <a:spcPct val="100000"/>
              </a:lnSpc>
              <a:spcBef>
                <a:spcPct val="0"/>
              </a:spcBef>
              <a:spcAft>
                <a:spcPct val="0"/>
              </a:spcAft>
              <a:buClrTx/>
              <a:buSzTx/>
              <a:buFontTx/>
              <a:buNone/>
              <a:tabLst/>
              <a:defRPr/>
            </a:pPr>
            <a:endParaRPr kumimoji="0" lang="en-US" altLang="ja-JP" sz="1100"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34" name="正方形/長方形 233">
            <a:extLst>
              <a:ext uri="{FF2B5EF4-FFF2-40B4-BE49-F238E27FC236}">
                <a16:creationId xmlns:a16="http://schemas.microsoft.com/office/drawing/2014/main" id="{FFD3C313-E99C-7FD1-44F4-38BE0B913592}"/>
              </a:ext>
            </a:extLst>
          </p:cNvPr>
          <p:cNvSpPr/>
          <p:nvPr/>
        </p:nvSpPr>
        <p:spPr>
          <a:xfrm>
            <a:off x="5215325" y="3356243"/>
            <a:ext cx="3004750" cy="440370"/>
          </a:xfrm>
          <a:prstGeom prst="rect">
            <a:avLst/>
          </a:prstGeom>
          <a:solidFill>
            <a:schemeClr val="bg1"/>
          </a:solidFill>
          <a:ln w="19050" cap="flat" cmpd="sng" algn="ctr">
            <a:noFill/>
            <a:prstDash val="solid"/>
          </a:ln>
          <a:effectLst/>
        </p:spPr>
        <p:txBody>
          <a:bodyPr vert="horz" wrap="square" lIns="0" tIns="0" rIns="0" bIns="0" rtlCol="0" anchor="t" anchorCtr="0"/>
          <a:lstStyle/>
          <a:p>
            <a:pPr defTabSz="995363" eaLnBrk="0" fontAlgn="base" hangingPunct="0">
              <a:spcBef>
                <a:spcPct val="0"/>
              </a:spcBef>
              <a:spcAft>
                <a:spcPct val="0"/>
              </a:spcAft>
            </a:pPr>
            <a:r>
              <a:rPr lang="ja-JP" altLang="en-US" sz="1100" dirty="0">
                <a:latin typeface="+mn-ea"/>
              </a:rPr>
              <a:t>投資対象資産追加時する機能拡充、事務負荷低減</a:t>
            </a:r>
            <a:endParaRPr lang="ja-JP" altLang="en-US" sz="1100" u="sng" dirty="0">
              <a:latin typeface="+mn-ea"/>
            </a:endParaRPr>
          </a:p>
          <a:p>
            <a:pPr marL="0" marR="0" lvl="0" indent="0" defTabSz="995363" eaLnBrk="0" fontAlgn="base" latinLnBrk="0" hangingPunct="0">
              <a:lnSpc>
                <a:spcPct val="100000"/>
              </a:lnSpc>
              <a:spcBef>
                <a:spcPct val="0"/>
              </a:spcBef>
              <a:spcAft>
                <a:spcPct val="0"/>
              </a:spcAft>
              <a:buClrTx/>
              <a:buSzTx/>
              <a:buFontTx/>
              <a:buNone/>
              <a:tabLst/>
              <a:defRPr/>
            </a:pPr>
            <a:endParaRPr kumimoji="0" lang="en-US" altLang="ja-JP" sz="1100"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35" name="正方形/長方形 234">
            <a:extLst>
              <a:ext uri="{FF2B5EF4-FFF2-40B4-BE49-F238E27FC236}">
                <a16:creationId xmlns:a16="http://schemas.microsoft.com/office/drawing/2014/main" id="{31A3C7E8-2B53-10E4-27DA-B506E7596A9E}"/>
              </a:ext>
            </a:extLst>
          </p:cNvPr>
          <p:cNvSpPr/>
          <p:nvPr/>
        </p:nvSpPr>
        <p:spPr>
          <a:xfrm>
            <a:off x="5215325" y="3873270"/>
            <a:ext cx="3004750" cy="440370"/>
          </a:xfrm>
          <a:prstGeom prst="rect">
            <a:avLst/>
          </a:prstGeom>
          <a:solidFill>
            <a:schemeClr val="bg1"/>
          </a:solidFill>
          <a:ln w="19050" cap="flat" cmpd="sng" algn="ctr">
            <a:noFill/>
            <a:prstDash val="solid"/>
          </a:ln>
          <a:effectLst/>
        </p:spPr>
        <p:txBody>
          <a:bodyPr vert="horz" wrap="square" lIns="0" tIns="0" rIns="0" bIns="0" rtlCol="0" anchor="t" anchorCtr="0"/>
          <a:lstStyle/>
          <a:p>
            <a:pPr>
              <a:defRPr/>
            </a:pPr>
            <a:r>
              <a:rPr lang="ja-JP" altLang="en-US" sz="1100" dirty="0">
                <a:latin typeface="+mn-ea"/>
              </a:rPr>
              <a:t>オープン化に先立ちホスト資源のスリム化</a:t>
            </a:r>
          </a:p>
          <a:p>
            <a:pPr marL="0" marR="0" lvl="0" indent="0" defTabSz="995363" eaLnBrk="0" fontAlgn="base" latinLnBrk="0" hangingPunct="0">
              <a:lnSpc>
                <a:spcPct val="100000"/>
              </a:lnSpc>
              <a:spcBef>
                <a:spcPct val="0"/>
              </a:spcBef>
              <a:spcAft>
                <a:spcPct val="0"/>
              </a:spcAft>
              <a:buClrTx/>
              <a:buSzTx/>
              <a:buFontTx/>
              <a:buNone/>
              <a:tabLst/>
              <a:defRPr/>
            </a:pPr>
            <a:endParaRPr kumimoji="0" lang="en-US" altLang="ja-JP" sz="1100"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36" name="正方形/長方形 235">
            <a:extLst>
              <a:ext uri="{FF2B5EF4-FFF2-40B4-BE49-F238E27FC236}">
                <a16:creationId xmlns:a16="http://schemas.microsoft.com/office/drawing/2014/main" id="{1FB30B95-3D86-CDB8-E6DD-713137233DFE}"/>
              </a:ext>
            </a:extLst>
          </p:cNvPr>
          <p:cNvSpPr/>
          <p:nvPr/>
        </p:nvSpPr>
        <p:spPr>
          <a:xfrm>
            <a:off x="5215325" y="4390297"/>
            <a:ext cx="3004750" cy="440370"/>
          </a:xfrm>
          <a:prstGeom prst="rect">
            <a:avLst/>
          </a:prstGeom>
          <a:solidFill>
            <a:schemeClr val="bg1"/>
          </a:solidFill>
          <a:ln w="19050" cap="flat" cmpd="sng" algn="ctr">
            <a:noFill/>
            <a:prstDash val="solid"/>
          </a:ln>
          <a:effectLst/>
        </p:spPr>
        <p:txBody>
          <a:bodyPr vert="horz" wrap="square" lIns="0" tIns="0" rIns="0" bIns="0" rtlCol="0" anchor="t" anchorCtr="0"/>
          <a:lstStyle/>
          <a:p>
            <a:pPr defTabSz="995363" eaLnBrk="0" fontAlgn="base" hangingPunct="0">
              <a:spcBef>
                <a:spcPct val="0"/>
              </a:spcBef>
              <a:spcAft>
                <a:spcPct val="0"/>
              </a:spcAft>
            </a:pPr>
            <a:r>
              <a:rPr lang="ja-JP" altLang="en-US" sz="1100" dirty="0">
                <a:latin typeface="+mn-ea"/>
              </a:rPr>
              <a:t>高リスクの技術から脱却するため、オンライン画面を優先的にオープン化</a:t>
            </a:r>
          </a:p>
        </p:txBody>
      </p:sp>
      <p:sp>
        <p:nvSpPr>
          <p:cNvPr id="237" name="正方形/長方形 236">
            <a:extLst>
              <a:ext uri="{FF2B5EF4-FFF2-40B4-BE49-F238E27FC236}">
                <a16:creationId xmlns:a16="http://schemas.microsoft.com/office/drawing/2014/main" id="{5B705CB7-7F67-0790-0B1C-E898D524AC35}"/>
              </a:ext>
            </a:extLst>
          </p:cNvPr>
          <p:cNvSpPr/>
          <p:nvPr/>
        </p:nvSpPr>
        <p:spPr>
          <a:xfrm>
            <a:off x="5215325" y="4907324"/>
            <a:ext cx="3004750" cy="440370"/>
          </a:xfrm>
          <a:prstGeom prst="rect">
            <a:avLst/>
          </a:prstGeom>
          <a:solidFill>
            <a:schemeClr val="bg1"/>
          </a:solidFill>
          <a:ln w="19050" cap="flat" cmpd="sng" algn="ctr">
            <a:noFill/>
            <a:prstDash val="solid"/>
          </a:ln>
          <a:effectLst/>
        </p:spPr>
        <p:txBody>
          <a:bodyPr vert="horz" wrap="square" lIns="0" tIns="0" rIns="0" bIns="0" rtlCol="0" anchor="t" anchorCtr="0"/>
          <a:lstStyle/>
          <a:p>
            <a:pPr>
              <a:defRPr/>
            </a:pPr>
            <a:r>
              <a:rPr lang="ja-JP" altLang="en-US" sz="1100" dirty="0">
                <a:latin typeface="+mn-ea"/>
              </a:rPr>
              <a:t>オープン化として、取引残高系の機能を取決システムに移管</a:t>
            </a:r>
          </a:p>
        </p:txBody>
      </p:sp>
      <p:sp>
        <p:nvSpPr>
          <p:cNvPr id="238" name="正方形/長方形 237">
            <a:extLst>
              <a:ext uri="{FF2B5EF4-FFF2-40B4-BE49-F238E27FC236}">
                <a16:creationId xmlns:a16="http://schemas.microsoft.com/office/drawing/2014/main" id="{26168FEA-9373-8B9C-0C47-4A7E8301DECA}"/>
              </a:ext>
            </a:extLst>
          </p:cNvPr>
          <p:cNvSpPr/>
          <p:nvPr/>
        </p:nvSpPr>
        <p:spPr>
          <a:xfrm>
            <a:off x="5215325" y="5424351"/>
            <a:ext cx="3004750" cy="440370"/>
          </a:xfrm>
          <a:prstGeom prst="rect">
            <a:avLst/>
          </a:prstGeom>
          <a:solidFill>
            <a:schemeClr val="bg1"/>
          </a:solidFill>
          <a:ln w="19050" cap="flat" cmpd="sng" algn="ctr">
            <a:noFill/>
            <a:prstDash val="solid"/>
          </a:ln>
          <a:effectLst/>
        </p:spPr>
        <p:txBody>
          <a:bodyPr vert="horz" wrap="square" lIns="0" tIns="0" rIns="0" bIns="0" rtlCol="0" anchor="t" anchorCtr="0"/>
          <a:lstStyle/>
          <a:p>
            <a:pPr defTabSz="995363" eaLnBrk="0" fontAlgn="base" hangingPunct="0">
              <a:spcBef>
                <a:spcPct val="0"/>
              </a:spcBef>
              <a:spcAft>
                <a:spcPct val="0"/>
              </a:spcAft>
            </a:pPr>
            <a:r>
              <a:rPr lang="ja-JP" altLang="en-US" sz="1100" dirty="0">
                <a:latin typeface="+mn-ea"/>
              </a:rPr>
              <a:t>オープン化として、情報系の機能に関しては、新情報系システムに移管</a:t>
            </a:r>
          </a:p>
          <a:p>
            <a:pPr marL="0" marR="0" lvl="0" indent="0" defTabSz="995363" eaLnBrk="0" fontAlgn="base" latinLnBrk="0" hangingPunct="0">
              <a:lnSpc>
                <a:spcPct val="100000"/>
              </a:lnSpc>
              <a:spcBef>
                <a:spcPct val="0"/>
              </a:spcBef>
              <a:spcAft>
                <a:spcPct val="0"/>
              </a:spcAft>
              <a:buClrTx/>
              <a:buSzTx/>
              <a:buFontTx/>
              <a:buNone/>
              <a:tabLst/>
              <a:defRPr/>
            </a:pPr>
            <a:endParaRPr kumimoji="0" lang="en-US" altLang="ja-JP" sz="1100"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239" name="正方形/長方形 238">
            <a:extLst>
              <a:ext uri="{FF2B5EF4-FFF2-40B4-BE49-F238E27FC236}">
                <a16:creationId xmlns:a16="http://schemas.microsoft.com/office/drawing/2014/main" id="{86334735-65FC-EE73-D8D4-170E947F36E7}"/>
              </a:ext>
            </a:extLst>
          </p:cNvPr>
          <p:cNvSpPr/>
          <p:nvPr/>
        </p:nvSpPr>
        <p:spPr>
          <a:xfrm>
            <a:off x="5215325" y="5941380"/>
            <a:ext cx="3004750" cy="440370"/>
          </a:xfrm>
          <a:prstGeom prst="rect">
            <a:avLst/>
          </a:prstGeom>
          <a:solidFill>
            <a:schemeClr val="bg1"/>
          </a:solidFill>
          <a:ln w="19050" cap="flat" cmpd="sng" algn="ctr">
            <a:noFill/>
            <a:prstDash val="solid"/>
          </a:ln>
          <a:effectLst/>
        </p:spPr>
        <p:txBody>
          <a:bodyPr vert="horz" wrap="square" lIns="0" tIns="0" rIns="0" bIns="0" rtlCol="0" anchor="t" anchorCtr="0"/>
          <a:lstStyle/>
          <a:p>
            <a:pPr>
              <a:defRPr/>
            </a:pPr>
            <a:r>
              <a:rPr lang="ja-JP" altLang="en-US" sz="1100" dirty="0">
                <a:latin typeface="+mn-ea"/>
              </a:rPr>
              <a:t>帳簿系の機能に関しては、</a:t>
            </a:r>
            <a:r>
              <a:rPr lang="en-US" altLang="ja-JP" sz="1100" dirty="0">
                <a:latin typeface="+mn-ea"/>
              </a:rPr>
              <a:t>20</a:t>
            </a:r>
            <a:r>
              <a:rPr lang="ja-JP" altLang="en-US" sz="1100" dirty="0">
                <a:latin typeface="+mn-ea"/>
              </a:rPr>
              <a:t>年以内に単純オープン化</a:t>
            </a:r>
          </a:p>
        </p:txBody>
      </p:sp>
      <p:sp>
        <p:nvSpPr>
          <p:cNvPr id="240" name="右中かっこ 239">
            <a:extLst>
              <a:ext uri="{FF2B5EF4-FFF2-40B4-BE49-F238E27FC236}">
                <a16:creationId xmlns:a16="http://schemas.microsoft.com/office/drawing/2014/main" id="{47799582-DC16-6991-6EFB-26862BAA795D}"/>
              </a:ext>
            </a:extLst>
          </p:cNvPr>
          <p:cNvSpPr/>
          <p:nvPr/>
        </p:nvSpPr>
        <p:spPr bwMode="auto">
          <a:xfrm>
            <a:off x="8315325" y="1805160"/>
            <a:ext cx="219075" cy="4576590"/>
          </a:xfrm>
          <a:prstGeom prst="rightBrace">
            <a:avLst/>
          </a:prstGeom>
          <a:ln>
            <a:headEnd type="none" w="med" len="med"/>
            <a:tailEnd type="none"/>
          </a:ln>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ja-JP" altLang="en-US"/>
          </a:p>
        </p:txBody>
      </p:sp>
      <p:sp>
        <p:nvSpPr>
          <p:cNvPr id="241" name="正方形/長方形 240">
            <a:extLst>
              <a:ext uri="{FF2B5EF4-FFF2-40B4-BE49-F238E27FC236}">
                <a16:creationId xmlns:a16="http://schemas.microsoft.com/office/drawing/2014/main" id="{FCF7C038-7C05-A433-754F-EE3D5CE08FD6}"/>
              </a:ext>
            </a:extLst>
          </p:cNvPr>
          <p:cNvSpPr/>
          <p:nvPr/>
        </p:nvSpPr>
        <p:spPr>
          <a:xfrm>
            <a:off x="8629650" y="3530106"/>
            <a:ext cx="904875" cy="1137144"/>
          </a:xfrm>
          <a:prstGeom prst="rect">
            <a:avLst/>
          </a:prstGeom>
          <a:solidFill>
            <a:schemeClr val="accent2">
              <a:lumMod val="75000"/>
            </a:schemeClr>
          </a:solidFill>
          <a:ln w="9525" cap="flat" cmpd="sng" algn="ctr">
            <a:solidFill>
              <a:srgbClr val="FFFFFF">
                <a:lumMod val="65000"/>
              </a:srgbClr>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ea"/>
                <a:cs typeface="+mn-cs"/>
              </a:rPr>
              <a:t>それぞれの</a:t>
            </a:r>
            <a:endParaRPr kumimoji="0" lang="en-US" altLang="ja-JP" sz="1200" b="1" i="0" u="none" strike="noStrike" kern="0" cap="none" spc="0" normalizeH="0" baseline="0" noProof="0" dirty="0">
              <a:ln>
                <a:noFill/>
              </a:ln>
              <a:solidFill>
                <a:srgbClr val="FFFFFF"/>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kern="0" dirty="0">
                <a:solidFill>
                  <a:srgbClr val="FFFFFF"/>
                </a:solidFill>
                <a:latin typeface="+mn-ea"/>
              </a:rPr>
              <a:t>ブロックごとに</a:t>
            </a:r>
            <a:endParaRPr kumimoji="0" lang="en-US" altLang="ja-JP" sz="1200" b="1" kern="0" dirty="0">
              <a:solidFill>
                <a:srgbClr val="FFFFFF"/>
              </a:solidFill>
              <a:latin typeface="+mn-ea"/>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rgbClr val="FFFFFF"/>
                </a:solidFill>
                <a:effectLst/>
                <a:uLnTx/>
                <a:uFillTx/>
                <a:latin typeface="+mn-ea"/>
                <a:cs typeface="+mn-cs"/>
              </a:rPr>
              <a:t>説明します！</a:t>
            </a:r>
            <a:endParaRPr kumimoji="0" lang="en-US" altLang="ja-JP" sz="1200" b="1" i="0" u="none" strike="noStrike" kern="0" cap="none" spc="0" normalizeH="0" baseline="0" noProof="0" dirty="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3111709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8630434A-E8D8-3E9A-6988-6AA97C85BD55}"/>
              </a:ext>
            </a:extLst>
          </p:cNvPr>
          <p:cNvSpPr/>
          <p:nvPr/>
        </p:nvSpPr>
        <p:spPr>
          <a:xfrm>
            <a:off x="2317620" y="1998947"/>
            <a:ext cx="5270760" cy="792000"/>
          </a:xfrm>
          <a:prstGeom prst="rect">
            <a:avLst/>
          </a:prstGeom>
          <a:solidFill>
            <a:srgbClr val="A100FF"/>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bg1"/>
                </a:solidFill>
                <a:effectLst/>
                <a:uLnTx/>
                <a:uFillTx/>
                <a:latin typeface="+mn-ea"/>
                <a:cs typeface="+mn-cs"/>
              </a:rPr>
              <a:t>ビジネス高度化（データマネジメントサービス）</a:t>
            </a:r>
            <a:endParaRPr kumimoji="0" lang="en-US" altLang="ja-JP" b="1" i="0" u="none" strike="noStrike" kern="0" cap="none" spc="0" normalizeH="0" baseline="0" noProof="0" dirty="0">
              <a:ln>
                <a:noFill/>
              </a:ln>
              <a:solidFill>
                <a:schemeClr val="bg1"/>
              </a:solidFill>
              <a:effectLst/>
              <a:uLnTx/>
              <a:uFillTx/>
              <a:latin typeface="+mn-ea"/>
              <a:cs typeface="+mn-cs"/>
            </a:endParaRPr>
          </a:p>
        </p:txBody>
      </p:sp>
      <p:sp>
        <p:nvSpPr>
          <p:cNvPr id="6" name="正方形/長方形 5">
            <a:extLst>
              <a:ext uri="{FF2B5EF4-FFF2-40B4-BE49-F238E27FC236}">
                <a16:creationId xmlns:a16="http://schemas.microsoft.com/office/drawing/2014/main" id="{F34B7B3F-E976-4CF0-F842-4463483314D5}"/>
              </a:ext>
            </a:extLst>
          </p:cNvPr>
          <p:cNvSpPr/>
          <p:nvPr/>
        </p:nvSpPr>
        <p:spPr>
          <a:xfrm>
            <a:off x="2317620" y="4067055"/>
            <a:ext cx="5270760" cy="79200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accent2">
                    <a:lumMod val="75000"/>
                  </a:schemeClr>
                </a:solidFill>
                <a:effectLst/>
                <a:uLnTx/>
                <a:uFillTx/>
                <a:latin typeface="+mn-ea"/>
                <a:cs typeface="+mn-cs"/>
              </a:rPr>
              <a:t>ホストオープン化</a:t>
            </a:r>
            <a:r>
              <a:rPr kumimoji="0" lang="ja-JP" altLang="en-US" b="1" kern="0" dirty="0">
                <a:solidFill>
                  <a:schemeClr val="accent2">
                    <a:lumMod val="75000"/>
                  </a:schemeClr>
                </a:solidFill>
                <a:latin typeface="+mn-ea"/>
              </a:rPr>
              <a:t>（モダナイゼーション）</a:t>
            </a:r>
            <a:endParaRPr kumimoji="0" lang="en-US" altLang="ja-JP"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7" name="正方形/長方形 6">
            <a:extLst>
              <a:ext uri="{FF2B5EF4-FFF2-40B4-BE49-F238E27FC236}">
                <a16:creationId xmlns:a16="http://schemas.microsoft.com/office/drawing/2014/main" id="{079726E1-963D-F3B7-DB67-0C32CED162B7}"/>
              </a:ext>
            </a:extLst>
          </p:cNvPr>
          <p:cNvSpPr/>
          <p:nvPr/>
        </p:nvSpPr>
        <p:spPr>
          <a:xfrm>
            <a:off x="2317620" y="3033001"/>
            <a:ext cx="5270760" cy="79200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accent2">
                    <a:lumMod val="75000"/>
                  </a:schemeClr>
                </a:solidFill>
                <a:effectLst/>
                <a:uLnTx/>
                <a:uFillTx/>
                <a:latin typeface="+mn-ea"/>
                <a:cs typeface="+mn-cs"/>
              </a:rPr>
              <a:t>業務基盤強化</a:t>
            </a:r>
            <a:endParaRPr kumimoji="0" lang="en-US" altLang="ja-JP"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8" name="正方形/長方形 7">
            <a:extLst>
              <a:ext uri="{FF2B5EF4-FFF2-40B4-BE49-F238E27FC236}">
                <a16:creationId xmlns:a16="http://schemas.microsoft.com/office/drawing/2014/main" id="{B8824D7C-3C43-E37C-18C1-A38D997FBB86}"/>
              </a:ext>
            </a:extLst>
          </p:cNvPr>
          <p:cNvSpPr/>
          <p:nvPr/>
        </p:nvSpPr>
        <p:spPr>
          <a:xfrm>
            <a:off x="2317621" y="1998945"/>
            <a:ext cx="380333" cy="231348"/>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i="0" u="none" strike="noStrike" kern="0" cap="none" spc="0" normalizeH="0" baseline="0" noProof="0" dirty="0">
                <a:ln>
                  <a:noFill/>
                </a:ln>
                <a:solidFill>
                  <a:schemeClr val="bg1"/>
                </a:solidFill>
                <a:effectLst/>
                <a:uLnTx/>
                <a:uFillTx/>
                <a:latin typeface="+mn-ea"/>
                <a:cs typeface="+mn-cs"/>
              </a:rPr>
              <a:t>A</a:t>
            </a:r>
          </a:p>
        </p:txBody>
      </p:sp>
      <p:sp>
        <p:nvSpPr>
          <p:cNvPr id="9" name="正方形/長方形 8">
            <a:extLst>
              <a:ext uri="{FF2B5EF4-FFF2-40B4-BE49-F238E27FC236}">
                <a16:creationId xmlns:a16="http://schemas.microsoft.com/office/drawing/2014/main" id="{3A9224F2-C4CF-ABDA-B9AD-B11218544C1F}"/>
              </a:ext>
            </a:extLst>
          </p:cNvPr>
          <p:cNvSpPr/>
          <p:nvPr/>
        </p:nvSpPr>
        <p:spPr>
          <a:xfrm>
            <a:off x="2317621" y="3033001"/>
            <a:ext cx="380333"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kern="0" dirty="0">
                <a:solidFill>
                  <a:schemeClr val="accent2">
                    <a:lumMod val="75000"/>
                  </a:schemeClr>
                </a:solidFill>
                <a:latin typeface="+mn-ea"/>
              </a:rPr>
              <a:t>B</a:t>
            </a:r>
            <a:endParaRPr kumimoji="0" lang="en-US" altLang="ja-JP"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10" name="正方形/長方形 9">
            <a:extLst>
              <a:ext uri="{FF2B5EF4-FFF2-40B4-BE49-F238E27FC236}">
                <a16:creationId xmlns:a16="http://schemas.microsoft.com/office/drawing/2014/main" id="{114C0146-1EBC-DE0E-F18E-CCBFB51CBEC3}"/>
              </a:ext>
            </a:extLst>
          </p:cNvPr>
          <p:cNvSpPr/>
          <p:nvPr/>
        </p:nvSpPr>
        <p:spPr>
          <a:xfrm>
            <a:off x="2317621" y="4067055"/>
            <a:ext cx="380333"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kern="0" dirty="0">
                <a:solidFill>
                  <a:schemeClr val="accent2">
                    <a:lumMod val="75000"/>
                  </a:schemeClr>
                </a:solidFill>
                <a:latin typeface="+mn-ea"/>
              </a:rPr>
              <a:t>C</a:t>
            </a:r>
            <a:endParaRPr kumimoji="0" lang="en-US" altLang="ja-JP" b="1" i="0" u="none" strike="noStrike" kern="0" cap="none" spc="0" normalizeH="0" baseline="0" noProof="0" dirty="0">
              <a:ln>
                <a:noFill/>
              </a:ln>
              <a:solidFill>
                <a:schemeClr val="accent2">
                  <a:lumMod val="75000"/>
                </a:schemeClr>
              </a:solidFill>
              <a:effectLst/>
              <a:uLnTx/>
              <a:uFillTx/>
              <a:latin typeface="+mn-ea"/>
              <a:cs typeface="+mn-cs"/>
            </a:endParaRPr>
          </a:p>
        </p:txBody>
      </p:sp>
    </p:spTree>
    <p:extLst>
      <p:ext uri="{BB962C8B-B14F-4D97-AF65-F5344CB8AC3E}">
        <p14:creationId xmlns:p14="http://schemas.microsoft.com/office/powerpoint/2010/main" val="1546628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9BD0B-9CAC-2312-C43E-54AC90343A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72BA729-C72A-B1D8-C0B3-479F46C905A2}"/>
              </a:ext>
            </a:extLst>
          </p:cNvPr>
          <p:cNvSpPr>
            <a:spLocks noGrp="1"/>
          </p:cNvSpPr>
          <p:nvPr>
            <p:ph type="title"/>
          </p:nvPr>
        </p:nvSpPr>
        <p:spPr>
          <a:xfrm>
            <a:off x="488504" y="568613"/>
            <a:ext cx="8928000" cy="373311"/>
          </a:xfrm>
        </p:spPr>
        <p:txBody>
          <a:bodyPr/>
          <a:lstStyle/>
          <a:p>
            <a:r>
              <a:rPr kumimoji="1" lang="en-US" altLang="ja-JP" dirty="0"/>
              <a:t>2. </a:t>
            </a:r>
            <a:r>
              <a:rPr lang="ja-JP" altLang="en-US" dirty="0"/>
              <a:t>データマネジメントサービス～①サービスの目指す姿</a:t>
            </a:r>
            <a:endParaRPr kumimoji="1" lang="ja-JP" altLang="en-US" dirty="0"/>
          </a:p>
        </p:txBody>
      </p:sp>
      <p:sp>
        <p:nvSpPr>
          <p:cNvPr id="3" name="テキスト プレースホルダー 2">
            <a:extLst>
              <a:ext uri="{FF2B5EF4-FFF2-40B4-BE49-F238E27FC236}">
                <a16:creationId xmlns:a16="http://schemas.microsoft.com/office/drawing/2014/main" id="{A8F5C593-61B6-87C8-6C08-8A66A1D70666}"/>
              </a:ext>
            </a:extLst>
          </p:cNvPr>
          <p:cNvSpPr>
            <a:spLocks noGrp="1"/>
          </p:cNvSpPr>
          <p:nvPr>
            <p:ph type="body" idx="12"/>
          </p:nvPr>
        </p:nvSpPr>
        <p:spPr>
          <a:xfrm>
            <a:off x="488999" y="960844"/>
            <a:ext cx="9131121" cy="669414"/>
          </a:xfrm>
        </p:spPr>
        <p:txBody>
          <a:bodyPr/>
          <a:lstStyle/>
          <a:p>
            <a:r>
              <a:rPr lang="ja-JP" altLang="en-US" dirty="0">
                <a:latin typeface="+mn-ea"/>
              </a:rPr>
              <a:t>データを起点に顧客との関係を双方向化し、データ管理への深い関与を通じて業務理解と課題認識を高め、資産管理業務への高い連関性や周辺サービス新規創出の好循環を生み出す仕組みづくりを目指します。</a:t>
            </a:r>
            <a:endParaRPr kumimoji="1" lang="ja-JP" altLang="en-US" dirty="0"/>
          </a:p>
        </p:txBody>
      </p:sp>
      <p:sp>
        <p:nvSpPr>
          <p:cNvPr id="4" name="テキスト プレースホルダー 3">
            <a:extLst>
              <a:ext uri="{FF2B5EF4-FFF2-40B4-BE49-F238E27FC236}">
                <a16:creationId xmlns:a16="http://schemas.microsoft.com/office/drawing/2014/main" id="{81895181-09CA-2F9D-EEDD-8681D4C0A71B}"/>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sp>
        <p:nvSpPr>
          <p:cNvPr id="52" name="正方形/長方形 51">
            <a:extLst>
              <a:ext uri="{FF2B5EF4-FFF2-40B4-BE49-F238E27FC236}">
                <a16:creationId xmlns:a16="http://schemas.microsoft.com/office/drawing/2014/main" id="{87CADDFA-5C31-9D11-4C82-7F2EF3DD687C}"/>
              </a:ext>
            </a:extLst>
          </p:cNvPr>
          <p:cNvSpPr/>
          <p:nvPr/>
        </p:nvSpPr>
        <p:spPr>
          <a:xfrm>
            <a:off x="616144" y="1758888"/>
            <a:ext cx="1184096" cy="1404213"/>
          </a:xfrm>
          <a:prstGeom prst="rect">
            <a:avLst/>
          </a:prstGeom>
          <a:solidFill>
            <a:srgbClr val="E6DCFF"/>
          </a:solid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dirty="0">
                <a:ln>
                  <a:noFill/>
                </a:ln>
                <a:solidFill>
                  <a:srgbClr val="323232"/>
                </a:solidFill>
                <a:effectLst/>
                <a:uLnTx/>
                <a:uFillTx/>
                <a:latin typeface="+mn-ea"/>
                <a:cs typeface="+mn-cs"/>
              </a:rPr>
              <a:t>これまで</a:t>
            </a:r>
            <a:r>
              <a:rPr kumimoji="0" lang="ja-JP" altLang="en-US" sz="1100" b="0" i="0" u="none" strike="noStrike" kern="0" cap="none" spc="0" normalizeH="0" baseline="0" noProof="0" dirty="0">
                <a:ln>
                  <a:noFill/>
                </a:ln>
                <a:solidFill>
                  <a:srgbClr val="323232"/>
                </a:solidFill>
                <a:effectLst/>
                <a:uLnTx/>
                <a:uFillTx/>
                <a:latin typeface="+mn-ea"/>
                <a:cs typeface="+mn-cs"/>
              </a:rPr>
              <a:t>の</a:t>
            </a:r>
            <a:endParaRPr kumimoji="0" lang="en-US" altLang="ja-JP" sz="1100" b="0" i="0" u="none" strike="noStrike" kern="0" cap="none" spc="0" normalizeH="0" baseline="0" noProof="0" dirty="0">
              <a:ln>
                <a:noFill/>
              </a:ln>
              <a:solidFill>
                <a:srgbClr val="323232"/>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dirty="0">
                <a:ln>
                  <a:noFill/>
                </a:ln>
                <a:solidFill>
                  <a:srgbClr val="323232"/>
                </a:solidFill>
                <a:effectLst/>
                <a:uLnTx/>
                <a:uFillTx/>
                <a:latin typeface="+mn-ea"/>
                <a:cs typeface="+mn-cs"/>
              </a:rPr>
              <a:t>サービス</a:t>
            </a:r>
            <a:endParaRPr kumimoji="0" lang="en-US" altLang="ja-JP" sz="1100" b="0" i="0" u="none" strike="noStrike" kern="0" cap="none" spc="0" normalizeH="0" baseline="0" noProof="0" dirty="0">
              <a:ln>
                <a:noFill/>
              </a:ln>
              <a:solidFill>
                <a:srgbClr val="323232"/>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dirty="0">
                <a:ln>
                  <a:noFill/>
                </a:ln>
                <a:solidFill>
                  <a:srgbClr val="323232"/>
                </a:solidFill>
                <a:effectLst/>
                <a:uLnTx/>
                <a:uFillTx/>
                <a:latin typeface="+mn-ea"/>
                <a:cs typeface="+mn-cs"/>
              </a:rPr>
              <a:t>モデル</a:t>
            </a:r>
          </a:p>
        </p:txBody>
      </p:sp>
      <p:sp>
        <p:nvSpPr>
          <p:cNvPr id="53" name="正方形/長方形 52">
            <a:extLst>
              <a:ext uri="{FF2B5EF4-FFF2-40B4-BE49-F238E27FC236}">
                <a16:creationId xmlns:a16="http://schemas.microsoft.com/office/drawing/2014/main" id="{8F35135D-30E4-F92D-1B45-26B7E4D9DD50}"/>
              </a:ext>
            </a:extLst>
          </p:cNvPr>
          <p:cNvSpPr/>
          <p:nvPr/>
        </p:nvSpPr>
        <p:spPr>
          <a:xfrm>
            <a:off x="616144" y="3651182"/>
            <a:ext cx="1184096" cy="2898943"/>
          </a:xfrm>
          <a:prstGeom prst="rect">
            <a:avLst/>
          </a:prstGeom>
          <a:solidFill>
            <a:srgbClr val="E6DCFF"/>
          </a:solid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323232"/>
                </a:solidFill>
                <a:effectLst/>
                <a:uLnTx/>
                <a:uFillTx/>
                <a:latin typeface="+mn-ea"/>
                <a:cs typeface="+mn-cs"/>
              </a:rPr>
              <a:t>これから</a:t>
            </a:r>
            <a:r>
              <a:rPr kumimoji="0" lang="ja-JP" altLang="en-US" sz="1100" b="0" i="0" u="none" strike="noStrike" kern="0" cap="none" spc="0" normalizeH="0" baseline="0" noProof="0">
                <a:ln>
                  <a:noFill/>
                </a:ln>
                <a:solidFill>
                  <a:srgbClr val="323232"/>
                </a:solidFill>
                <a:effectLst/>
                <a:uLnTx/>
                <a:uFillTx/>
                <a:latin typeface="+mn-ea"/>
                <a:cs typeface="+mn-cs"/>
              </a:rPr>
              <a:t>の</a:t>
            </a:r>
            <a:endParaRPr kumimoji="0" lang="en-US" altLang="ja-JP" sz="1100" b="0" i="0" u="none" strike="noStrike" kern="0" cap="none" spc="0" normalizeH="0" baseline="0" noProof="0">
              <a:ln>
                <a:noFill/>
              </a:ln>
              <a:solidFill>
                <a:srgbClr val="323232"/>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srgbClr val="323232"/>
                </a:solidFill>
                <a:effectLst/>
                <a:uLnTx/>
                <a:uFillTx/>
                <a:latin typeface="+mn-ea"/>
                <a:cs typeface="+mn-cs"/>
              </a:rPr>
              <a:t>サービス</a:t>
            </a:r>
            <a:br>
              <a:rPr kumimoji="0" lang="en-US" altLang="ja-JP" sz="1100" b="0" i="0" u="none" strike="noStrike" kern="0" cap="none" spc="0" normalizeH="0" baseline="0" noProof="0">
                <a:ln>
                  <a:noFill/>
                </a:ln>
                <a:solidFill>
                  <a:srgbClr val="323232"/>
                </a:solidFill>
                <a:effectLst/>
                <a:uLnTx/>
                <a:uFillTx/>
                <a:latin typeface="+mn-ea"/>
                <a:cs typeface="+mn-cs"/>
              </a:rPr>
            </a:br>
            <a:r>
              <a:rPr kumimoji="0" lang="ja-JP" altLang="en-US" sz="1100" b="0" i="0" u="none" strike="noStrike" kern="0" cap="none" spc="0" normalizeH="0" baseline="0" noProof="0">
                <a:ln>
                  <a:noFill/>
                </a:ln>
                <a:solidFill>
                  <a:srgbClr val="323232"/>
                </a:solidFill>
                <a:effectLst/>
                <a:uLnTx/>
                <a:uFillTx/>
                <a:latin typeface="+mn-ea"/>
                <a:cs typeface="+mn-cs"/>
              </a:rPr>
              <a:t>モデル</a:t>
            </a:r>
          </a:p>
        </p:txBody>
      </p:sp>
      <p:sp>
        <p:nvSpPr>
          <p:cNvPr id="54" name="矢印: 右 53">
            <a:extLst>
              <a:ext uri="{FF2B5EF4-FFF2-40B4-BE49-F238E27FC236}">
                <a16:creationId xmlns:a16="http://schemas.microsoft.com/office/drawing/2014/main" id="{E5A23441-928B-6432-8720-B1AB0EE4CAF7}"/>
              </a:ext>
            </a:extLst>
          </p:cNvPr>
          <p:cNvSpPr/>
          <p:nvPr/>
        </p:nvSpPr>
        <p:spPr>
          <a:xfrm>
            <a:off x="3377398" y="1827217"/>
            <a:ext cx="4177276" cy="773182"/>
          </a:xfrm>
          <a:prstGeom prst="rightArrow">
            <a:avLst>
              <a:gd name="adj1" fmla="val 50000"/>
              <a:gd name="adj2" fmla="val 82566"/>
            </a:avLst>
          </a:prstGeom>
          <a:solidFill>
            <a:srgbClr val="406A7A">
              <a:lumMod val="20000"/>
              <a:lumOff val="80000"/>
            </a:srgbClr>
          </a:solid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406A7A"/>
                </a:solidFill>
                <a:effectLst/>
                <a:uLnTx/>
                <a:uFillTx/>
                <a:latin typeface="+mn-ea"/>
                <a:cs typeface="+mn-cs"/>
              </a:rPr>
              <a:t>　　　　　　データを“一方向”に提供</a:t>
            </a:r>
          </a:p>
        </p:txBody>
      </p:sp>
      <p:sp>
        <p:nvSpPr>
          <p:cNvPr id="55" name="正方形/長方形 54">
            <a:extLst>
              <a:ext uri="{FF2B5EF4-FFF2-40B4-BE49-F238E27FC236}">
                <a16:creationId xmlns:a16="http://schemas.microsoft.com/office/drawing/2014/main" id="{1130D55C-17D6-9A18-B545-335DE699A296}"/>
              </a:ext>
            </a:extLst>
          </p:cNvPr>
          <p:cNvSpPr/>
          <p:nvPr/>
        </p:nvSpPr>
        <p:spPr>
          <a:xfrm>
            <a:off x="2031633" y="1854840"/>
            <a:ext cx="1388157" cy="706020"/>
          </a:xfrm>
          <a:prstGeom prst="rect">
            <a:avLst/>
          </a:prstGeom>
          <a:solidFill>
            <a:srgbClr val="FFFFFF"/>
          </a:solidFill>
          <a:ln w="19050" cap="flat" cmpd="sng" algn="ctr">
            <a:solidFill>
              <a:srgbClr val="406A7A"/>
            </a:solidFill>
            <a:prstDash val="solid"/>
            <a:miter lim="800000"/>
          </a:ln>
          <a:effectLst/>
        </p:spPr>
        <p:txBody>
          <a:bodyPr wrap="none" rtlCol="0" anchor="t"/>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406A7A"/>
                </a:solidFill>
                <a:effectLst/>
                <a:uLnTx/>
                <a:uFillTx/>
                <a:latin typeface="+mn-ea"/>
                <a:cs typeface="+mn-cs"/>
              </a:rPr>
              <a:t>資産管理</a:t>
            </a:r>
          </a:p>
        </p:txBody>
      </p:sp>
      <p:sp>
        <p:nvSpPr>
          <p:cNvPr id="56" name="吹き出し: 四角形 55">
            <a:extLst>
              <a:ext uri="{FF2B5EF4-FFF2-40B4-BE49-F238E27FC236}">
                <a16:creationId xmlns:a16="http://schemas.microsoft.com/office/drawing/2014/main" id="{872DAF13-84B4-4A2F-7003-192B7DC57394}"/>
              </a:ext>
            </a:extLst>
          </p:cNvPr>
          <p:cNvSpPr/>
          <p:nvPr/>
        </p:nvSpPr>
        <p:spPr>
          <a:xfrm>
            <a:off x="8148951" y="1758888"/>
            <a:ext cx="855317" cy="308196"/>
          </a:xfrm>
          <a:prstGeom prst="wedgeRectCallout">
            <a:avLst>
              <a:gd name="adj1" fmla="val -41093"/>
              <a:gd name="adj2" fmla="val 78477"/>
            </a:avLst>
          </a:prstGeom>
          <a:solidFill>
            <a:srgbClr val="FFFFFF"/>
          </a:solidFill>
          <a:ln w="12700" cap="flat" cmpd="sng" algn="ctr">
            <a:solidFill>
              <a:srgbClr val="FFFFFF">
                <a:lumMod val="50000"/>
              </a:srgbClr>
            </a:solidFill>
            <a:prstDash val="dash"/>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FFFFFF">
                    <a:lumMod val="50000"/>
                  </a:srgbClr>
                </a:solidFill>
                <a:effectLst/>
                <a:uLnTx/>
                <a:uFillTx/>
                <a:latin typeface="+mn-ea"/>
                <a:cs typeface="+mn-cs"/>
              </a:rPr>
              <a:t>潜在</a:t>
            </a:r>
            <a:endParaRPr kumimoji="0" lang="en-US" altLang="ja-JP" sz="1000" b="0" i="0" u="none" strike="noStrike" kern="0" cap="none" spc="0" normalizeH="0" baseline="0" noProof="0">
              <a:ln>
                <a:noFill/>
              </a:ln>
              <a:solidFill>
                <a:srgbClr val="FFFFFF">
                  <a:lumMod val="50000"/>
                </a:srgbClr>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FFFFFF">
                    <a:lumMod val="50000"/>
                  </a:srgbClr>
                </a:solidFill>
                <a:effectLst/>
                <a:uLnTx/>
                <a:uFillTx/>
                <a:latin typeface="+mn-ea"/>
                <a:cs typeface="+mn-cs"/>
              </a:rPr>
              <a:t>ニーズ</a:t>
            </a:r>
          </a:p>
        </p:txBody>
      </p:sp>
      <p:cxnSp>
        <p:nvCxnSpPr>
          <p:cNvPr id="57" name="コネクタ: カギ線 56">
            <a:extLst>
              <a:ext uri="{FF2B5EF4-FFF2-40B4-BE49-F238E27FC236}">
                <a16:creationId xmlns:a16="http://schemas.microsoft.com/office/drawing/2014/main" id="{BB86F2EE-14A5-90D5-504C-F35FC5E1983B}"/>
              </a:ext>
            </a:extLst>
          </p:cNvPr>
          <p:cNvCxnSpPr>
            <a:cxnSpLocks/>
            <a:stCxn id="56" idx="2"/>
            <a:endCxn id="55" idx="2"/>
          </p:cNvCxnSpPr>
          <p:nvPr/>
        </p:nvCxnSpPr>
        <p:spPr>
          <a:xfrm rot="5400000">
            <a:off x="5404273" y="-611476"/>
            <a:ext cx="493776" cy="5850896"/>
          </a:xfrm>
          <a:prstGeom prst="bentConnector3">
            <a:avLst>
              <a:gd name="adj1" fmla="val 139660"/>
            </a:avLst>
          </a:prstGeom>
          <a:noFill/>
          <a:ln w="19050" cap="flat" cmpd="sng" algn="ctr">
            <a:solidFill>
              <a:srgbClr val="FF2600"/>
            </a:solidFill>
            <a:prstDash val="dash"/>
            <a:miter lim="800000"/>
            <a:tailEnd type="triangle"/>
          </a:ln>
          <a:effectLst/>
        </p:spPr>
      </p:cxnSp>
      <p:sp>
        <p:nvSpPr>
          <p:cNvPr id="58" name="正方形/長方形 57">
            <a:extLst>
              <a:ext uri="{FF2B5EF4-FFF2-40B4-BE49-F238E27FC236}">
                <a16:creationId xmlns:a16="http://schemas.microsoft.com/office/drawing/2014/main" id="{9B720BD2-96C6-2E9C-C716-C753E9F5D20C}"/>
              </a:ext>
            </a:extLst>
          </p:cNvPr>
          <p:cNvSpPr/>
          <p:nvPr/>
        </p:nvSpPr>
        <p:spPr>
          <a:xfrm>
            <a:off x="4243600" y="2773105"/>
            <a:ext cx="2815124" cy="228391"/>
          </a:xfrm>
          <a:prstGeom prst="rect">
            <a:avLst/>
          </a:prstGeom>
          <a:no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srgbClr val="FF2600"/>
                </a:solidFill>
                <a:effectLst/>
                <a:uLnTx/>
                <a:uFillTx/>
                <a:latin typeface="+mn-ea"/>
                <a:cs typeface="+mn-cs"/>
              </a:rPr>
              <a:t>顧客の要望が見えづらく、サービスの差別化・進化が難しい</a:t>
            </a:r>
          </a:p>
        </p:txBody>
      </p:sp>
      <p:sp>
        <p:nvSpPr>
          <p:cNvPr id="59" name="乗算記号 58">
            <a:extLst>
              <a:ext uri="{FF2B5EF4-FFF2-40B4-BE49-F238E27FC236}">
                <a16:creationId xmlns:a16="http://schemas.microsoft.com/office/drawing/2014/main" id="{21D026CA-B745-BDA3-D3A5-DFC5557F7077}"/>
              </a:ext>
            </a:extLst>
          </p:cNvPr>
          <p:cNvSpPr/>
          <p:nvPr/>
        </p:nvSpPr>
        <p:spPr>
          <a:xfrm>
            <a:off x="8326390" y="1750973"/>
            <a:ext cx="521153" cy="324025"/>
          </a:xfrm>
          <a:prstGeom prst="mathMultiply">
            <a:avLst>
              <a:gd name="adj1" fmla="val 18338"/>
            </a:avLst>
          </a:prstGeom>
          <a:solidFill>
            <a:srgbClr val="FF2600"/>
          </a:solidFill>
          <a:ln w="12700" cap="flat" cmpd="sng" algn="ctr">
            <a:no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FFFFFF"/>
              </a:solidFill>
              <a:effectLst/>
              <a:uLnTx/>
              <a:uFillTx/>
              <a:latin typeface="+mn-ea"/>
              <a:cs typeface="+mn-cs"/>
            </a:endParaRPr>
          </a:p>
        </p:txBody>
      </p:sp>
      <p:pic>
        <p:nvPicPr>
          <p:cNvPr id="60" name="グラフィックス 59" descr="男性のプロフィール 枠線">
            <a:extLst>
              <a:ext uri="{FF2B5EF4-FFF2-40B4-BE49-F238E27FC236}">
                <a16:creationId xmlns:a16="http://schemas.microsoft.com/office/drawing/2014/main" id="{1182FEE1-7EA5-0A60-3DBB-073E4D0399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9711" y="1919370"/>
            <a:ext cx="896426" cy="576960"/>
          </a:xfrm>
          <a:prstGeom prst="rect">
            <a:avLst/>
          </a:prstGeom>
        </p:spPr>
      </p:pic>
      <p:cxnSp>
        <p:nvCxnSpPr>
          <p:cNvPr id="61" name="コネクタ: カギ線 60">
            <a:extLst>
              <a:ext uri="{FF2B5EF4-FFF2-40B4-BE49-F238E27FC236}">
                <a16:creationId xmlns:a16="http://schemas.microsoft.com/office/drawing/2014/main" id="{767C763F-388C-0FE8-4A77-56DBCA060C49}"/>
              </a:ext>
            </a:extLst>
          </p:cNvPr>
          <p:cNvCxnSpPr>
            <a:cxnSpLocks/>
            <a:stCxn id="76" idx="2"/>
            <a:endCxn id="70" idx="2"/>
          </p:cNvCxnSpPr>
          <p:nvPr/>
        </p:nvCxnSpPr>
        <p:spPr>
          <a:xfrm rot="5400000">
            <a:off x="3284453" y="5263828"/>
            <a:ext cx="137893" cy="1255374"/>
          </a:xfrm>
          <a:prstGeom prst="bentConnector3">
            <a:avLst>
              <a:gd name="adj1" fmla="val 230542"/>
            </a:avLst>
          </a:prstGeom>
          <a:noFill/>
          <a:ln w="19050" cap="flat" cmpd="sng" algn="ctr">
            <a:solidFill>
              <a:srgbClr val="FF2600"/>
            </a:solidFill>
            <a:prstDash val="solid"/>
            <a:miter lim="800000"/>
            <a:tailEnd type="triangle"/>
          </a:ln>
          <a:effectLst/>
        </p:spPr>
      </p:cxnSp>
      <p:sp>
        <p:nvSpPr>
          <p:cNvPr id="62" name="正方形/長方形 61">
            <a:extLst>
              <a:ext uri="{FF2B5EF4-FFF2-40B4-BE49-F238E27FC236}">
                <a16:creationId xmlns:a16="http://schemas.microsoft.com/office/drawing/2014/main" id="{B08ADC34-B9B3-F30E-0E4D-4B57AA21A1A8}"/>
              </a:ext>
            </a:extLst>
          </p:cNvPr>
          <p:cNvSpPr/>
          <p:nvPr/>
        </p:nvSpPr>
        <p:spPr>
          <a:xfrm>
            <a:off x="2684240" y="6299201"/>
            <a:ext cx="1386316" cy="179645"/>
          </a:xfrm>
          <a:prstGeom prst="rect">
            <a:avLst/>
          </a:prstGeom>
          <a:no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srgbClr val="FF2600"/>
                </a:solidFill>
                <a:effectLst/>
                <a:uLnTx/>
                <a:uFillTx/>
                <a:latin typeface="+mn-ea"/>
                <a:cs typeface="+mn-cs"/>
              </a:rPr>
              <a:t>要望を捉え、</a:t>
            </a:r>
            <a:endParaRPr kumimoji="0" lang="en-US" altLang="ja-JP" sz="1100" b="0" i="0" u="none" strike="noStrike" kern="0" cap="none" spc="0" normalizeH="0" baseline="0" noProof="0">
              <a:ln>
                <a:noFill/>
              </a:ln>
              <a:solidFill>
                <a:srgbClr val="FF2600"/>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srgbClr val="FF2600"/>
                </a:solidFill>
                <a:effectLst/>
                <a:uLnTx/>
                <a:uFillTx/>
                <a:latin typeface="+mn-ea"/>
                <a:cs typeface="+mn-cs"/>
              </a:rPr>
              <a:t>受託業務にも反映</a:t>
            </a:r>
          </a:p>
        </p:txBody>
      </p:sp>
      <p:sp>
        <p:nvSpPr>
          <p:cNvPr id="63" name="正方形/長方形 62">
            <a:extLst>
              <a:ext uri="{FF2B5EF4-FFF2-40B4-BE49-F238E27FC236}">
                <a16:creationId xmlns:a16="http://schemas.microsoft.com/office/drawing/2014/main" id="{BC70F0C0-083A-78B0-1FA8-5C918445F34D}"/>
              </a:ext>
            </a:extLst>
          </p:cNvPr>
          <p:cNvSpPr/>
          <p:nvPr/>
        </p:nvSpPr>
        <p:spPr>
          <a:xfrm>
            <a:off x="3537480" y="2221099"/>
            <a:ext cx="804512" cy="285818"/>
          </a:xfrm>
          <a:prstGeom prst="rect">
            <a:avLst/>
          </a:prstGeom>
          <a:solidFill>
            <a:srgbClr val="406A7A">
              <a:lumMod val="60000"/>
              <a:lumOff val="40000"/>
            </a:srgbClr>
          </a:solidFill>
          <a:ln w="19050" cap="flat" cmpd="sng" algn="ctr">
            <a:solidFill>
              <a:srgbClr val="406A7A">
                <a:lumMod val="60000"/>
                <a:lumOff val="40000"/>
              </a:srgbClr>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情報統合</a:t>
            </a:r>
            <a:endParaRPr kumimoji="0" lang="en-US" altLang="ja-JP" sz="1050" b="1" i="0" u="none" strike="noStrike" kern="0" cap="none" spc="0" normalizeH="0" baseline="0" noProof="0">
              <a:ln>
                <a:noFill/>
              </a:ln>
              <a:solidFill>
                <a:srgbClr val="FFFFFF"/>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サービス</a:t>
            </a:r>
          </a:p>
        </p:txBody>
      </p:sp>
      <p:sp>
        <p:nvSpPr>
          <p:cNvPr id="64" name="吹き出し: 四角形 63">
            <a:extLst>
              <a:ext uri="{FF2B5EF4-FFF2-40B4-BE49-F238E27FC236}">
                <a16:creationId xmlns:a16="http://schemas.microsoft.com/office/drawing/2014/main" id="{F1648F63-2F49-98D0-7CFA-18043D89210E}"/>
              </a:ext>
            </a:extLst>
          </p:cNvPr>
          <p:cNvSpPr/>
          <p:nvPr/>
        </p:nvSpPr>
        <p:spPr>
          <a:xfrm>
            <a:off x="8434539" y="5196994"/>
            <a:ext cx="855317" cy="308196"/>
          </a:xfrm>
          <a:prstGeom prst="wedgeRectCallout">
            <a:avLst>
              <a:gd name="adj1" fmla="val -41093"/>
              <a:gd name="adj2" fmla="val 78477"/>
            </a:avLst>
          </a:prstGeom>
          <a:solidFill>
            <a:srgbClr val="FFFFFF"/>
          </a:solidFill>
          <a:ln w="12700" cap="flat" cmpd="sng" algn="ctr">
            <a:solidFill>
              <a:srgbClr val="FFFFFF">
                <a:lumMod val="50000"/>
              </a:srgbClr>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FFFFFF">
                    <a:lumMod val="50000"/>
                  </a:srgbClr>
                </a:solidFill>
                <a:effectLst/>
                <a:uLnTx/>
                <a:uFillTx/>
                <a:latin typeface="+mn-ea"/>
                <a:cs typeface="+mn-cs"/>
              </a:rPr>
              <a:t>潜在</a:t>
            </a:r>
            <a:endParaRPr kumimoji="0" lang="en-US" altLang="ja-JP" sz="1000" b="0" i="0" u="none" strike="noStrike" kern="0" cap="none" spc="0" normalizeH="0" baseline="0" noProof="0">
              <a:ln>
                <a:noFill/>
              </a:ln>
              <a:solidFill>
                <a:srgbClr val="FFFFFF">
                  <a:lumMod val="50000"/>
                </a:srgbClr>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FFFFFF">
                    <a:lumMod val="50000"/>
                  </a:srgbClr>
                </a:solidFill>
                <a:effectLst/>
                <a:uLnTx/>
                <a:uFillTx/>
                <a:latin typeface="+mn-ea"/>
                <a:cs typeface="+mn-cs"/>
              </a:rPr>
              <a:t>ニーズ</a:t>
            </a:r>
          </a:p>
        </p:txBody>
      </p:sp>
      <p:pic>
        <p:nvPicPr>
          <p:cNvPr id="65" name="グラフィックス 64" descr="男性のプロフィール 枠線">
            <a:extLst>
              <a:ext uri="{FF2B5EF4-FFF2-40B4-BE49-F238E27FC236}">
                <a16:creationId xmlns:a16="http://schemas.microsoft.com/office/drawing/2014/main" id="{6342F904-1AB4-466F-025C-19B90E71EE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5300" y="5357476"/>
            <a:ext cx="896426" cy="576960"/>
          </a:xfrm>
          <a:prstGeom prst="rect">
            <a:avLst/>
          </a:prstGeom>
        </p:spPr>
      </p:pic>
      <p:grpSp>
        <p:nvGrpSpPr>
          <p:cNvPr id="66" name="グループ化 65">
            <a:extLst>
              <a:ext uri="{FF2B5EF4-FFF2-40B4-BE49-F238E27FC236}">
                <a16:creationId xmlns:a16="http://schemas.microsoft.com/office/drawing/2014/main" id="{64EF0F64-3236-B5F3-876B-B4976BD6A452}"/>
              </a:ext>
            </a:extLst>
          </p:cNvPr>
          <p:cNvGrpSpPr/>
          <p:nvPr/>
        </p:nvGrpSpPr>
        <p:grpSpPr>
          <a:xfrm>
            <a:off x="2123219" y="2092825"/>
            <a:ext cx="1204985" cy="403504"/>
            <a:chOff x="1468452" y="2386472"/>
            <a:chExt cx="717447" cy="471019"/>
          </a:xfrm>
        </p:grpSpPr>
        <p:sp>
          <p:nvSpPr>
            <p:cNvPr id="67" name="正方形/長方形 66">
              <a:extLst>
                <a:ext uri="{FF2B5EF4-FFF2-40B4-BE49-F238E27FC236}">
                  <a16:creationId xmlns:a16="http://schemas.microsoft.com/office/drawing/2014/main" id="{9AE59EE4-80B4-71FB-5EB5-C9C035051119}"/>
                </a:ext>
              </a:extLst>
            </p:cNvPr>
            <p:cNvSpPr/>
            <p:nvPr/>
          </p:nvSpPr>
          <p:spPr>
            <a:xfrm>
              <a:off x="1468452" y="2386472"/>
              <a:ext cx="336364" cy="471019"/>
            </a:xfrm>
            <a:prstGeom prst="rect">
              <a:avLst/>
            </a:prstGeom>
            <a:solidFill>
              <a:srgbClr val="406A7A">
                <a:lumMod val="60000"/>
                <a:lumOff val="40000"/>
              </a:srgbClr>
            </a:solidFill>
            <a:ln w="19050" cap="flat" cmpd="sng" algn="ctr">
              <a:solidFill>
                <a:srgbClr val="406A7A">
                  <a:lumMod val="60000"/>
                  <a:lumOff val="40000"/>
                </a:srgbClr>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信託</a:t>
              </a:r>
              <a:endParaRPr kumimoji="0" lang="en-US" altLang="ja-JP" sz="1050" b="1" i="0" u="none" strike="noStrike" kern="0" cap="none" spc="0" normalizeH="0" baseline="0" noProof="0">
                <a:ln>
                  <a:noFill/>
                </a:ln>
                <a:solidFill>
                  <a:srgbClr val="FFFFFF"/>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レポート</a:t>
              </a:r>
            </a:p>
          </p:txBody>
        </p:sp>
        <p:sp>
          <p:nvSpPr>
            <p:cNvPr id="68" name="正方形/長方形 67">
              <a:extLst>
                <a:ext uri="{FF2B5EF4-FFF2-40B4-BE49-F238E27FC236}">
                  <a16:creationId xmlns:a16="http://schemas.microsoft.com/office/drawing/2014/main" id="{6DC14CF5-7F2E-2C9E-15AD-51E90C58F499}"/>
                </a:ext>
              </a:extLst>
            </p:cNvPr>
            <p:cNvSpPr/>
            <p:nvPr/>
          </p:nvSpPr>
          <p:spPr>
            <a:xfrm>
              <a:off x="1849535" y="2386472"/>
              <a:ext cx="336364" cy="471019"/>
            </a:xfrm>
            <a:prstGeom prst="rect">
              <a:avLst/>
            </a:prstGeom>
            <a:solidFill>
              <a:srgbClr val="406A7A">
                <a:lumMod val="60000"/>
                <a:lumOff val="40000"/>
              </a:srgbClr>
            </a:solidFill>
            <a:ln w="19050" cap="flat" cmpd="sng" algn="ctr">
              <a:solidFill>
                <a:srgbClr val="406A7A">
                  <a:lumMod val="60000"/>
                  <a:lumOff val="40000"/>
                </a:srgbClr>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特別</a:t>
              </a:r>
              <a:endParaRPr kumimoji="0" lang="en-US" altLang="ja-JP" sz="1050" b="1" i="0" u="none" strike="noStrike" kern="0" cap="none" spc="0" normalizeH="0" baseline="0" noProof="0">
                <a:ln>
                  <a:noFill/>
                </a:ln>
                <a:solidFill>
                  <a:srgbClr val="FFFFFF"/>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帳票</a:t>
              </a:r>
            </a:p>
          </p:txBody>
        </p:sp>
      </p:grpSp>
      <p:sp>
        <p:nvSpPr>
          <p:cNvPr id="69" name="矢印: 右 68">
            <a:extLst>
              <a:ext uri="{FF2B5EF4-FFF2-40B4-BE49-F238E27FC236}">
                <a16:creationId xmlns:a16="http://schemas.microsoft.com/office/drawing/2014/main" id="{DB4428DC-D1DA-7065-D4C7-55A4BE77393F}"/>
              </a:ext>
            </a:extLst>
          </p:cNvPr>
          <p:cNvSpPr/>
          <p:nvPr/>
        </p:nvSpPr>
        <p:spPr>
          <a:xfrm>
            <a:off x="3377398" y="4415298"/>
            <a:ext cx="4177276" cy="773182"/>
          </a:xfrm>
          <a:prstGeom prst="rightArrow">
            <a:avLst>
              <a:gd name="adj1" fmla="val 50000"/>
              <a:gd name="adj2" fmla="val 82566"/>
            </a:avLst>
          </a:prstGeom>
          <a:solidFill>
            <a:srgbClr val="406A7A">
              <a:lumMod val="20000"/>
              <a:lumOff val="80000"/>
            </a:srgbClr>
          </a:solid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406A7A"/>
                </a:solidFill>
                <a:effectLst/>
                <a:uLnTx/>
                <a:uFillTx/>
                <a:latin typeface="+mn-ea"/>
                <a:cs typeface="+mn-cs"/>
              </a:rPr>
              <a:t>　　　　　　　　データを“一方向”に提供</a:t>
            </a:r>
          </a:p>
        </p:txBody>
      </p:sp>
      <p:sp>
        <p:nvSpPr>
          <p:cNvPr id="70" name="正方形/長方形 69">
            <a:extLst>
              <a:ext uri="{FF2B5EF4-FFF2-40B4-BE49-F238E27FC236}">
                <a16:creationId xmlns:a16="http://schemas.microsoft.com/office/drawing/2014/main" id="{C77FCCF3-AB02-74ED-8374-A7D88B842A17}"/>
              </a:ext>
            </a:extLst>
          </p:cNvPr>
          <p:cNvSpPr/>
          <p:nvPr/>
        </p:nvSpPr>
        <p:spPr>
          <a:xfrm>
            <a:off x="2031633" y="4204519"/>
            <a:ext cx="1388157" cy="1755942"/>
          </a:xfrm>
          <a:prstGeom prst="rect">
            <a:avLst/>
          </a:prstGeom>
          <a:solidFill>
            <a:srgbClr val="FFFFFF"/>
          </a:solidFill>
          <a:ln w="19050" cap="flat" cmpd="sng" algn="ctr">
            <a:solidFill>
              <a:srgbClr val="406A7A"/>
            </a:solidFill>
            <a:prstDash val="solid"/>
            <a:miter lim="800000"/>
          </a:ln>
          <a:effectLst/>
        </p:spPr>
        <p:txBody>
          <a:bodyPr wrap="none" rtlCol="0" anchor="t"/>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406A7A"/>
                </a:solidFill>
                <a:effectLst/>
                <a:uLnTx/>
                <a:uFillTx/>
                <a:latin typeface="+mn-ea"/>
                <a:cs typeface="+mn-cs"/>
              </a:rPr>
              <a:t>資産管理</a:t>
            </a:r>
          </a:p>
        </p:txBody>
      </p:sp>
      <p:sp>
        <p:nvSpPr>
          <p:cNvPr id="71" name="正方形/長方形 70">
            <a:extLst>
              <a:ext uri="{FF2B5EF4-FFF2-40B4-BE49-F238E27FC236}">
                <a16:creationId xmlns:a16="http://schemas.microsoft.com/office/drawing/2014/main" id="{DC52C3D8-42C4-617D-E844-04E0770B6B4D}"/>
              </a:ext>
            </a:extLst>
          </p:cNvPr>
          <p:cNvSpPr/>
          <p:nvPr/>
        </p:nvSpPr>
        <p:spPr>
          <a:xfrm>
            <a:off x="3578830" y="4469204"/>
            <a:ext cx="804512" cy="285818"/>
          </a:xfrm>
          <a:prstGeom prst="rect">
            <a:avLst/>
          </a:prstGeom>
          <a:solidFill>
            <a:srgbClr val="406A7A">
              <a:lumMod val="60000"/>
              <a:lumOff val="40000"/>
            </a:srgbClr>
          </a:solidFill>
          <a:ln w="19050" cap="flat" cmpd="sng" algn="ctr">
            <a:solidFill>
              <a:srgbClr val="406A7A">
                <a:lumMod val="60000"/>
                <a:lumOff val="40000"/>
              </a:srgbClr>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情報統合</a:t>
            </a:r>
            <a:endParaRPr kumimoji="0" lang="en-US" altLang="ja-JP" sz="1050" b="1" i="0" u="none" strike="noStrike" kern="0" cap="none" spc="0" normalizeH="0" baseline="0" noProof="0">
              <a:ln>
                <a:noFill/>
              </a:ln>
              <a:solidFill>
                <a:srgbClr val="FFFFFF"/>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サービス</a:t>
            </a:r>
          </a:p>
        </p:txBody>
      </p:sp>
      <p:grpSp>
        <p:nvGrpSpPr>
          <p:cNvPr id="72" name="グループ化 71">
            <a:extLst>
              <a:ext uri="{FF2B5EF4-FFF2-40B4-BE49-F238E27FC236}">
                <a16:creationId xmlns:a16="http://schemas.microsoft.com/office/drawing/2014/main" id="{49D13142-7EF0-7A52-9DC6-254A2704F70D}"/>
              </a:ext>
            </a:extLst>
          </p:cNvPr>
          <p:cNvGrpSpPr/>
          <p:nvPr/>
        </p:nvGrpSpPr>
        <p:grpSpPr>
          <a:xfrm>
            <a:off x="2116358" y="4613639"/>
            <a:ext cx="1218706" cy="937702"/>
            <a:chOff x="1460282" y="2678466"/>
            <a:chExt cx="725617" cy="1094600"/>
          </a:xfrm>
        </p:grpSpPr>
        <p:sp>
          <p:nvSpPr>
            <p:cNvPr id="73" name="正方形/長方形 72">
              <a:extLst>
                <a:ext uri="{FF2B5EF4-FFF2-40B4-BE49-F238E27FC236}">
                  <a16:creationId xmlns:a16="http://schemas.microsoft.com/office/drawing/2014/main" id="{DCAFD2E6-7B8B-2839-3E9F-3919E434437F}"/>
                </a:ext>
              </a:extLst>
            </p:cNvPr>
            <p:cNvSpPr/>
            <p:nvPr/>
          </p:nvSpPr>
          <p:spPr>
            <a:xfrm>
              <a:off x="1460282" y="2678466"/>
              <a:ext cx="725617" cy="471019"/>
            </a:xfrm>
            <a:prstGeom prst="rect">
              <a:avLst/>
            </a:prstGeom>
            <a:solidFill>
              <a:srgbClr val="406A7A">
                <a:lumMod val="60000"/>
                <a:lumOff val="40000"/>
              </a:srgbClr>
            </a:solidFill>
            <a:ln w="19050" cap="flat" cmpd="sng" algn="ctr">
              <a:solidFill>
                <a:srgbClr val="406A7A">
                  <a:lumMod val="60000"/>
                  <a:lumOff val="40000"/>
                </a:srgbClr>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信託</a:t>
              </a:r>
              <a:endParaRPr kumimoji="0" lang="en-US" altLang="ja-JP" sz="1050" b="1" i="0" u="none" strike="noStrike" kern="0" cap="none" spc="0" normalizeH="0" baseline="0" noProof="0">
                <a:ln>
                  <a:noFill/>
                </a:ln>
                <a:solidFill>
                  <a:srgbClr val="FFFFFF"/>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レポート</a:t>
              </a:r>
            </a:p>
          </p:txBody>
        </p:sp>
        <p:sp>
          <p:nvSpPr>
            <p:cNvPr id="74" name="正方形/長方形 73">
              <a:extLst>
                <a:ext uri="{FF2B5EF4-FFF2-40B4-BE49-F238E27FC236}">
                  <a16:creationId xmlns:a16="http://schemas.microsoft.com/office/drawing/2014/main" id="{AA0B330A-203F-B406-EB0E-CDB6CC120BF5}"/>
                </a:ext>
              </a:extLst>
            </p:cNvPr>
            <p:cNvSpPr/>
            <p:nvPr/>
          </p:nvSpPr>
          <p:spPr>
            <a:xfrm>
              <a:off x="1460282" y="3302047"/>
              <a:ext cx="725617" cy="471019"/>
            </a:xfrm>
            <a:prstGeom prst="rect">
              <a:avLst/>
            </a:prstGeom>
            <a:solidFill>
              <a:srgbClr val="406A7A">
                <a:lumMod val="60000"/>
                <a:lumOff val="40000"/>
              </a:srgbClr>
            </a:solidFill>
            <a:ln w="19050" cap="flat" cmpd="sng" algn="ctr">
              <a:solidFill>
                <a:srgbClr val="406A7A">
                  <a:lumMod val="60000"/>
                  <a:lumOff val="40000"/>
                </a:srgbClr>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特別帳票</a:t>
              </a:r>
            </a:p>
          </p:txBody>
        </p:sp>
      </p:grpSp>
      <p:sp>
        <p:nvSpPr>
          <p:cNvPr id="75" name="正方形/長方形 74">
            <a:extLst>
              <a:ext uri="{FF2B5EF4-FFF2-40B4-BE49-F238E27FC236}">
                <a16:creationId xmlns:a16="http://schemas.microsoft.com/office/drawing/2014/main" id="{810D826F-1DE2-D6DE-F596-A51725E38DD1}"/>
              </a:ext>
            </a:extLst>
          </p:cNvPr>
          <p:cNvSpPr/>
          <p:nvPr/>
        </p:nvSpPr>
        <p:spPr>
          <a:xfrm>
            <a:off x="3578830" y="4829366"/>
            <a:ext cx="804512" cy="285818"/>
          </a:xfrm>
          <a:prstGeom prst="rect">
            <a:avLst/>
          </a:prstGeom>
          <a:solidFill>
            <a:srgbClr val="406A7A">
              <a:lumMod val="60000"/>
              <a:lumOff val="40000"/>
            </a:srgbClr>
          </a:solidFill>
          <a:ln w="19050" cap="flat" cmpd="sng" algn="ctr">
            <a:solidFill>
              <a:srgbClr val="406A7A">
                <a:lumMod val="60000"/>
                <a:lumOff val="40000"/>
              </a:srgbClr>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データ集約</a:t>
            </a:r>
            <a:endParaRPr kumimoji="0" lang="en-US" altLang="ja-JP" sz="1050" b="1" i="0" u="none" strike="noStrike" kern="0" cap="none" spc="0" normalizeH="0" baseline="0" noProof="0">
              <a:ln>
                <a:noFill/>
              </a:ln>
              <a:solidFill>
                <a:srgbClr val="FFFFFF"/>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サービス</a:t>
            </a:r>
          </a:p>
        </p:txBody>
      </p:sp>
      <p:sp>
        <p:nvSpPr>
          <p:cNvPr id="76" name="正方形/長方形 75">
            <a:extLst>
              <a:ext uri="{FF2B5EF4-FFF2-40B4-BE49-F238E27FC236}">
                <a16:creationId xmlns:a16="http://schemas.microsoft.com/office/drawing/2014/main" id="{301FC930-F725-A132-9DFF-E18046BB7CEB}"/>
              </a:ext>
            </a:extLst>
          </p:cNvPr>
          <p:cNvSpPr/>
          <p:nvPr/>
        </p:nvSpPr>
        <p:spPr>
          <a:xfrm>
            <a:off x="3578830" y="5536750"/>
            <a:ext cx="804512" cy="285818"/>
          </a:xfrm>
          <a:prstGeom prst="rect">
            <a:avLst/>
          </a:prstGeom>
          <a:solidFill>
            <a:srgbClr val="FF2600">
              <a:lumMod val="60000"/>
              <a:lumOff val="40000"/>
            </a:srgbClr>
          </a:solidFill>
          <a:ln w="19050" cap="flat" cmpd="sng" algn="ctr">
            <a:solidFill>
              <a:srgbClr val="FF2600"/>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050" b="1" i="0" u="none" strike="noStrike" kern="0" cap="none" spc="0" normalizeH="0" baseline="0" noProof="0">
                <a:ln>
                  <a:noFill/>
                </a:ln>
                <a:solidFill>
                  <a:srgbClr val="FFFFFF"/>
                </a:solidFill>
                <a:effectLst/>
                <a:uLnTx/>
                <a:uFillTx/>
                <a:latin typeface="+mn-ea"/>
                <a:cs typeface="+mn-cs"/>
              </a:rPr>
              <a:t>DWH</a:t>
            </a: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1" i="0" u="none" strike="noStrike" kern="0" cap="none" spc="0" normalizeH="0" baseline="0" noProof="0">
                <a:ln>
                  <a:noFill/>
                </a:ln>
                <a:solidFill>
                  <a:srgbClr val="FFFFFF"/>
                </a:solidFill>
                <a:effectLst/>
                <a:uLnTx/>
                <a:uFillTx/>
                <a:latin typeface="+mn-ea"/>
                <a:cs typeface="+mn-cs"/>
              </a:rPr>
              <a:t>サービス</a:t>
            </a:r>
          </a:p>
        </p:txBody>
      </p:sp>
      <p:sp>
        <p:nvSpPr>
          <p:cNvPr id="77" name="正方形/長方形 76">
            <a:extLst>
              <a:ext uri="{FF2B5EF4-FFF2-40B4-BE49-F238E27FC236}">
                <a16:creationId xmlns:a16="http://schemas.microsoft.com/office/drawing/2014/main" id="{7F0410CE-B8E6-9A29-FD55-5409E301D216}"/>
              </a:ext>
            </a:extLst>
          </p:cNvPr>
          <p:cNvSpPr/>
          <p:nvPr/>
        </p:nvSpPr>
        <p:spPr>
          <a:xfrm>
            <a:off x="3501926" y="4204517"/>
            <a:ext cx="958320" cy="1755942"/>
          </a:xfrm>
          <a:prstGeom prst="rect">
            <a:avLst/>
          </a:prstGeom>
          <a:noFill/>
          <a:ln w="28575" cap="flat" cmpd="sng" algn="ctr">
            <a:solidFill>
              <a:srgbClr val="FF2600"/>
            </a:solidFill>
            <a:prstDash val="solid"/>
            <a:miter lim="800000"/>
          </a:ln>
          <a:effectLst/>
        </p:spPr>
        <p:txBody>
          <a:bodyPr wrap="none" rtlCol="0" anchor="t"/>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100" b="1" i="0" u="none" strike="noStrike" kern="0" cap="none" spc="0" normalizeH="0" baseline="0" noProof="0">
                <a:ln>
                  <a:noFill/>
                </a:ln>
                <a:solidFill>
                  <a:srgbClr val="FF2600"/>
                </a:solidFill>
                <a:effectLst/>
                <a:uLnTx/>
                <a:uFillTx/>
                <a:latin typeface="+mn-ea"/>
                <a:cs typeface="+mn-cs"/>
              </a:rPr>
              <a:t>DMS</a:t>
            </a:r>
            <a:endParaRPr kumimoji="0" lang="ja-JP" altLang="en-US" sz="1100" b="1" i="0" u="none" strike="noStrike" kern="0" cap="none" spc="0" normalizeH="0" baseline="0" noProof="0">
              <a:ln>
                <a:noFill/>
              </a:ln>
              <a:solidFill>
                <a:srgbClr val="FF2600"/>
              </a:solidFill>
              <a:effectLst/>
              <a:uLnTx/>
              <a:uFillTx/>
              <a:latin typeface="+mn-ea"/>
              <a:cs typeface="+mn-cs"/>
            </a:endParaRPr>
          </a:p>
        </p:txBody>
      </p:sp>
      <p:sp>
        <p:nvSpPr>
          <p:cNvPr id="78" name="矢印: 左右 77">
            <a:extLst>
              <a:ext uri="{FF2B5EF4-FFF2-40B4-BE49-F238E27FC236}">
                <a16:creationId xmlns:a16="http://schemas.microsoft.com/office/drawing/2014/main" id="{4E84FBC6-A55D-0BC7-F9D1-55D025D4A7A0}"/>
              </a:ext>
            </a:extLst>
          </p:cNvPr>
          <p:cNvSpPr/>
          <p:nvPr/>
        </p:nvSpPr>
        <p:spPr>
          <a:xfrm>
            <a:off x="4432435" y="5349865"/>
            <a:ext cx="3122237" cy="529840"/>
          </a:xfrm>
          <a:prstGeom prst="leftRightArrow">
            <a:avLst>
              <a:gd name="adj1" fmla="val 50000"/>
              <a:gd name="adj2" fmla="val 76743"/>
            </a:avLst>
          </a:prstGeom>
          <a:solidFill>
            <a:srgbClr val="FF2600">
              <a:lumMod val="20000"/>
              <a:lumOff val="80000"/>
            </a:srgbClr>
          </a:solid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2600"/>
                </a:solidFill>
                <a:effectLst/>
                <a:uLnTx/>
                <a:uFillTx/>
                <a:latin typeface="+mn-ea"/>
                <a:cs typeface="+mn-cs"/>
              </a:rPr>
              <a:t>データを起点とした</a:t>
            </a:r>
            <a:endParaRPr kumimoji="0" lang="en-US" altLang="ja-JP" sz="1200" b="1" i="0" u="none" strike="noStrike" kern="0" cap="none" spc="0" normalizeH="0" baseline="0" noProof="0">
              <a:ln>
                <a:noFill/>
              </a:ln>
              <a:solidFill>
                <a:srgbClr val="FF2600"/>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2600"/>
                </a:solidFill>
                <a:effectLst/>
                <a:uLnTx/>
                <a:uFillTx/>
                <a:latin typeface="+mn-ea"/>
                <a:cs typeface="+mn-cs"/>
              </a:rPr>
              <a:t>“双方向”コミュニケーション</a:t>
            </a:r>
          </a:p>
        </p:txBody>
      </p:sp>
      <p:sp>
        <p:nvSpPr>
          <p:cNvPr id="79" name="吹き出し: 四角形 78">
            <a:extLst>
              <a:ext uri="{FF2B5EF4-FFF2-40B4-BE49-F238E27FC236}">
                <a16:creationId xmlns:a16="http://schemas.microsoft.com/office/drawing/2014/main" id="{BED10CA6-B632-8223-CB0A-059774CAE753}"/>
              </a:ext>
            </a:extLst>
          </p:cNvPr>
          <p:cNvSpPr/>
          <p:nvPr/>
        </p:nvSpPr>
        <p:spPr>
          <a:xfrm>
            <a:off x="8434539" y="4370188"/>
            <a:ext cx="855317" cy="308196"/>
          </a:xfrm>
          <a:prstGeom prst="wedgeRectCallout">
            <a:avLst>
              <a:gd name="adj1" fmla="val -41093"/>
              <a:gd name="adj2" fmla="val 78477"/>
            </a:avLst>
          </a:prstGeom>
          <a:solidFill>
            <a:srgbClr val="FFFFFF"/>
          </a:solidFill>
          <a:ln w="12700" cap="flat" cmpd="sng" algn="ctr">
            <a:solidFill>
              <a:srgbClr val="FFFFFF">
                <a:lumMod val="50000"/>
              </a:srgbClr>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FFFFFF">
                    <a:lumMod val="50000"/>
                  </a:srgbClr>
                </a:solidFill>
                <a:effectLst/>
                <a:uLnTx/>
                <a:uFillTx/>
                <a:latin typeface="+mn-ea"/>
                <a:cs typeface="+mn-cs"/>
              </a:rPr>
              <a:t>潜在</a:t>
            </a:r>
            <a:endParaRPr kumimoji="0" lang="en-US" altLang="ja-JP" sz="1000" b="0" i="0" u="none" strike="noStrike" kern="0" cap="none" spc="0" normalizeH="0" baseline="0" noProof="0">
              <a:ln>
                <a:noFill/>
              </a:ln>
              <a:solidFill>
                <a:srgbClr val="FFFFFF">
                  <a:lumMod val="50000"/>
                </a:srgbClr>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FFFFFF">
                    <a:lumMod val="50000"/>
                  </a:srgbClr>
                </a:solidFill>
                <a:effectLst/>
                <a:uLnTx/>
                <a:uFillTx/>
                <a:latin typeface="+mn-ea"/>
                <a:cs typeface="+mn-cs"/>
              </a:rPr>
              <a:t>ニーズ</a:t>
            </a:r>
          </a:p>
        </p:txBody>
      </p:sp>
      <p:pic>
        <p:nvPicPr>
          <p:cNvPr id="80" name="グラフィックス 79" descr="男性のプロフィール 枠線">
            <a:extLst>
              <a:ext uri="{FF2B5EF4-FFF2-40B4-BE49-F238E27FC236}">
                <a16:creationId xmlns:a16="http://schemas.microsoft.com/office/drawing/2014/main" id="{1D48ED4E-7883-CE8B-49B5-5FB042EF06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5300" y="4530670"/>
            <a:ext cx="896426" cy="576960"/>
          </a:xfrm>
          <a:prstGeom prst="rect">
            <a:avLst/>
          </a:prstGeom>
        </p:spPr>
      </p:pic>
      <p:cxnSp>
        <p:nvCxnSpPr>
          <p:cNvPr id="81" name="コネクタ: カギ線 80">
            <a:extLst>
              <a:ext uri="{FF2B5EF4-FFF2-40B4-BE49-F238E27FC236}">
                <a16:creationId xmlns:a16="http://schemas.microsoft.com/office/drawing/2014/main" id="{184100E9-5BEB-87E5-14C1-4937C5FE8921}"/>
              </a:ext>
            </a:extLst>
          </p:cNvPr>
          <p:cNvCxnSpPr>
            <a:cxnSpLocks/>
          </p:cNvCxnSpPr>
          <p:nvPr/>
        </p:nvCxnSpPr>
        <p:spPr>
          <a:xfrm rot="5400000" flipH="1" flipV="1">
            <a:off x="6349212" y="3198436"/>
            <a:ext cx="333804" cy="4930284"/>
          </a:xfrm>
          <a:prstGeom prst="bentConnector3">
            <a:avLst>
              <a:gd name="adj1" fmla="val -94377"/>
            </a:avLst>
          </a:prstGeom>
          <a:noFill/>
          <a:ln w="19050" cap="flat" cmpd="sng" algn="ctr">
            <a:solidFill>
              <a:srgbClr val="FF2600"/>
            </a:solidFill>
            <a:prstDash val="solid"/>
            <a:miter lim="800000"/>
            <a:tailEnd type="triangle"/>
          </a:ln>
          <a:effectLst/>
        </p:spPr>
      </p:cxnSp>
      <p:sp>
        <p:nvSpPr>
          <p:cNvPr id="82" name="正方形/長方形 81">
            <a:extLst>
              <a:ext uri="{FF2B5EF4-FFF2-40B4-BE49-F238E27FC236}">
                <a16:creationId xmlns:a16="http://schemas.microsoft.com/office/drawing/2014/main" id="{736BB0D4-1804-05BC-0157-1B7D172B9204}"/>
              </a:ext>
            </a:extLst>
          </p:cNvPr>
          <p:cNvSpPr/>
          <p:nvPr/>
        </p:nvSpPr>
        <p:spPr>
          <a:xfrm>
            <a:off x="5038617" y="6274828"/>
            <a:ext cx="2815124" cy="228391"/>
          </a:xfrm>
          <a:prstGeom prst="rect">
            <a:avLst/>
          </a:prstGeom>
          <a:no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srgbClr val="FF2600"/>
                </a:solidFill>
                <a:effectLst/>
                <a:uLnTx/>
                <a:uFillTx/>
                <a:latin typeface="+mn-ea"/>
                <a:cs typeface="+mn-cs"/>
              </a:rPr>
              <a:t>顧客のデータ活用支援を通して</a:t>
            </a:r>
            <a:endParaRPr kumimoji="0" lang="en-US" altLang="ja-JP" sz="1100" b="0" i="0" u="none" strike="noStrike" kern="0" cap="none" spc="0" normalizeH="0" baseline="0" noProof="0">
              <a:ln>
                <a:noFill/>
              </a:ln>
              <a:solidFill>
                <a:srgbClr val="FF2600"/>
              </a:solidFill>
              <a:effectLst/>
              <a:uLnTx/>
              <a:uFillTx/>
              <a:latin typeface="+mn-ea"/>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srgbClr val="FF2600"/>
                </a:solidFill>
                <a:effectLst/>
                <a:uLnTx/>
                <a:uFillTx/>
                <a:latin typeface="+mn-ea"/>
                <a:cs typeface="+mn-cs"/>
              </a:rPr>
              <a:t>顧客の潜在ニーズを把握</a:t>
            </a:r>
          </a:p>
        </p:txBody>
      </p:sp>
      <p:cxnSp>
        <p:nvCxnSpPr>
          <p:cNvPr id="83" name="コネクタ: カギ線 82">
            <a:extLst>
              <a:ext uri="{FF2B5EF4-FFF2-40B4-BE49-F238E27FC236}">
                <a16:creationId xmlns:a16="http://schemas.microsoft.com/office/drawing/2014/main" id="{C3F4C7D8-9649-EF76-20EF-84E294A073F4}"/>
              </a:ext>
            </a:extLst>
          </p:cNvPr>
          <p:cNvCxnSpPr>
            <a:cxnSpLocks/>
            <a:stCxn id="70" idx="0"/>
            <a:endCxn id="79" idx="0"/>
          </p:cNvCxnSpPr>
          <p:nvPr/>
        </p:nvCxnSpPr>
        <p:spPr>
          <a:xfrm rot="16200000" flipH="1">
            <a:off x="5711120" y="1219111"/>
            <a:ext cx="165669" cy="6136485"/>
          </a:xfrm>
          <a:prstGeom prst="bentConnector3">
            <a:avLst>
              <a:gd name="adj1" fmla="val -118207"/>
            </a:avLst>
          </a:prstGeom>
          <a:noFill/>
          <a:ln w="19050" cap="flat" cmpd="sng" algn="ctr">
            <a:solidFill>
              <a:srgbClr val="FF2600"/>
            </a:solidFill>
            <a:prstDash val="solid"/>
            <a:miter lim="800000"/>
            <a:tailEnd type="triangle"/>
          </a:ln>
          <a:effectLst/>
        </p:spPr>
      </p:cxnSp>
      <p:sp>
        <p:nvSpPr>
          <p:cNvPr id="84" name="正方形/長方形 83">
            <a:extLst>
              <a:ext uri="{FF2B5EF4-FFF2-40B4-BE49-F238E27FC236}">
                <a16:creationId xmlns:a16="http://schemas.microsoft.com/office/drawing/2014/main" id="{EA3114F2-5747-3806-5261-7090827C48E9}"/>
              </a:ext>
            </a:extLst>
          </p:cNvPr>
          <p:cNvSpPr/>
          <p:nvPr/>
        </p:nvSpPr>
        <p:spPr>
          <a:xfrm>
            <a:off x="4461217" y="3700066"/>
            <a:ext cx="2815124" cy="228391"/>
          </a:xfrm>
          <a:prstGeom prst="rect">
            <a:avLst/>
          </a:prstGeom>
          <a:no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100" b="0" i="0" u="none" strike="noStrike" kern="0" cap="none" spc="0" normalizeH="0" baseline="0" noProof="0">
                <a:ln>
                  <a:noFill/>
                </a:ln>
                <a:solidFill>
                  <a:srgbClr val="FF2600"/>
                </a:solidFill>
                <a:effectLst/>
                <a:uLnTx/>
                <a:uFillTx/>
                <a:latin typeface="+mn-ea"/>
                <a:cs typeface="+mn-cs"/>
              </a:rPr>
              <a:t>DWH</a:t>
            </a:r>
            <a:r>
              <a:rPr kumimoji="0" lang="ja-JP" altLang="en-US" sz="1100" b="0" i="0" u="none" strike="noStrike" kern="0" cap="none" spc="0" normalizeH="0" baseline="0" noProof="0">
                <a:ln>
                  <a:noFill/>
                </a:ln>
                <a:solidFill>
                  <a:srgbClr val="FF2600"/>
                </a:solidFill>
                <a:effectLst/>
                <a:uLnTx/>
                <a:uFillTx/>
                <a:latin typeface="+mn-ea"/>
                <a:cs typeface="+mn-cs"/>
              </a:rPr>
              <a:t>サービスで得たインサイトにより顧客のニーズに沿ったデータを提供</a:t>
            </a:r>
          </a:p>
        </p:txBody>
      </p:sp>
      <p:sp>
        <p:nvSpPr>
          <p:cNvPr id="85" name="楕円 84">
            <a:extLst>
              <a:ext uri="{FF2B5EF4-FFF2-40B4-BE49-F238E27FC236}">
                <a16:creationId xmlns:a16="http://schemas.microsoft.com/office/drawing/2014/main" id="{67589360-E128-DFA5-D954-60287ACCD89A}"/>
              </a:ext>
            </a:extLst>
          </p:cNvPr>
          <p:cNvSpPr/>
          <p:nvPr/>
        </p:nvSpPr>
        <p:spPr>
          <a:xfrm>
            <a:off x="6120866" y="6022809"/>
            <a:ext cx="335412" cy="215879"/>
          </a:xfrm>
          <a:prstGeom prst="ellipse">
            <a:avLst/>
          </a:prstGeom>
          <a:solidFill>
            <a:srgbClr val="FF2600"/>
          </a:solidFill>
          <a:ln w="12700" cap="flat" cmpd="sng" algn="ctr">
            <a:solidFill>
              <a:srgbClr val="FF2600"/>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100" b="1" i="0" u="none" strike="noStrike" kern="0" cap="none" spc="0" normalizeH="0" baseline="0" noProof="0">
                <a:ln>
                  <a:noFill/>
                </a:ln>
                <a:solidFill>
                  <a:srgbClr val="FFFFFF"/>
                </a:solidFill>
                <a:effectLst/>
                <a:uLnTx/>
                <a:uFillTx/>
                <a:latin typeface="+mn-ea"/>
                <a:cs typeface="+mn-cs"/>
              </a:rPr>
              <a:t>1</a:t>
            </a:r>
          </a:p>
        </p:txBody>
      </p:sp>
      <p:sp>
        <p:nvSpPr>
          <p:cNvPr id="86" name="楕円 85">
            <a:extLst>
              <a:ext uri="{FF2B5EF4-FFF2-40B4-BE49-F238E27FC236}">
                <a16:creationId xmlns:a16="http://schemas.microsoft.com/office/drawing/2014/main" id="{5AAAA84A-256D-5324-9EC0-0F6B97984C5F}"/>
              </a:ext>
            </a:extLst>
          </p:cNvPr>
          <p:cNvSpPr/>
          <p:nvPr/>
        </p:nvSpPr>
        <p:spPr>
          <a:xfrm>
            <a:off x="3134724" y="6022809"/>
            <a:ext cx="335412" cy="215879"/>
          </a:xfrm>
          <a:prstGeom prst="ellipse">
            <a:avLst/>
          </a:prstGeom>
          <a:solidFill>
            <a:srgbClr val="FF2600"/>
          </a:solidFill>
          <a:ln w="12700" cap="flat" cmpd="sng" algn="ctr">
            <a:solidFill>
              <a:srgbClr val="FF2600"/>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n-ea"/>
                <a:cs typeface="+mn-cs"/>
              </a:rPr>
              <a:t>２</a:t>
            </a:r>
            <a:endParaRPr kumimoji="0" lang="en-US" altLang="ja-JP" sz="1100" b="1" i="0" u="none" strike="noStrike" kern="0" cap="none" spc="0" normalizeH="0" baseline="0" noProof="0">
              <a:ln>
                <a:noFill/>
              </a:ln>
              <a:solidFill>
                <a:srgbClr val="FFFFFF"/>
              </a:solidFill>
              <a:effectLst/>
              <a:uLnTx/>
              <a:uFillTx/>
              <a:latin typeface="+mn-ea"/>
              <a:cs typeface="+mn-cs"/>
            </a:endParaRPr>
          </a:p>
        </p:txBody>
      </p:sp>
      <p:sp>
        <p:nvSpPr>
          <p:cNvPr id="87" name="楕円 86">
            <a:extLst>
              <a:ext uri="{FF2B5EF4-FFF2-40B4-BE49-F238E27FC236}">
                <a16:creationId xmlns:a16="http://schemas.microsoft.com/office/drawing/2014/main" id="{D4A8ED90-E66A-0DE1-8930-6AFC0A5EAFCF}"/>
              </a:ext>
            </a:extLst>
          </p:cNvPr>
          <p:cNvSpPr/>
          <p:nvPr/>
        </p:nvSpPr>
        <p:spPr>
          <a:xfrm>
            <a:off x="5533367" y="3905471"/>
            <a:ext cx="335412" cy="215879"/>
          </a:xfrm>
          <a:prstGeom prst="ellipse">
            <a:avLst/>
          </a:prstGeom>
          <a:solidFill>
            <a:srgbClr val="FF2600"/>
          </a:solidFill>
          <a:ln w="12700" cap="flat" cmpd="sng" algn="ctr">
            <a:solidFill>
              <a:srgbClr val="FF2600"/>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n-ea"/>
                <a:cs typeface="+mn-cs"/>
              </a:rPr>
              <a:t>３</a:t>
            </a:r>
            <a:endParaRPr kumimoji="0" lang="en-US" altLang="ja-JP" sz="1100" b="1" i="0" u="none" strike="noStrike" kern="0" cap="none" spc="0" normalizeH="0" baseline="0" noProof="0">
              <a:ln>
                <a:noFill/>
              </a:ln>
              <a:solidFill>
                <a:srgbClr val="FFFFFF"/>
              </a:solidFill>
              <a:effectLst/>
              <a:uLnTx/>
              <a:uFillTx/>
              <a:latin typeface="+mn-ea"/>
              <a:cs typeface="+mn-cs"/>
            </a:endParaRPr>
          </a:p>
        </p:txBody>
      </p:sp>
      <p:sp>
        <p:nvSpPr>
          <p:cNvPr id="88" name="正方形/長方形 87">
            <a:extLst>
              <a:ext uri="{FF2B5EF4-FFF2-40B4-BE49-F238E27FC236}">
                <a16:creationId xmlns:a16="http://schemas.microsoft.com/office/drawing/2014/main" id="{7A643905-FCC4-4317-5172-E23FB1EF983D}"/>
              </a:ext>
            </a:extLst>
          </p:cNvPr>
          <p:cNvSpPr/>
          <p:nvPr/>
        </p:nvSpPr>
        <p:spPr>
          <a:xfrm>
            <a:off x="7286700" y="2401903"/>
            <a:ext cx="1314508" cy="228391"/>
          </a:xfrm>
          <a:prstGeom prst="rect">
            <a:avLst/>
          </a:prstGeom>
          <a:no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323232"/>
                </a:solidFill>
                <a:effectLst/>
                <a:uLnTx/>
                <a:uFillTx/>
                <a:latin typeface="+mn-ea"/>
                <a:cs typeface="+mn-cs"/>
              </a:rPr>
              <a:t>顧客ユーザー</a:t>
            </a:r>
          </a:p>
        </p:txBody>
      </p:sp>
      <p:sp>
        <p:nvSpPr>
          <p:cNvPr id="89" name="正方形/長方形 88">
            <a:extLst>
              <a:ext uri="{FF2B5EF4-FFF2-40B4-BE49-F238E27FC236}">
                <a16:creationId xmlns:a16="http://schemas.microsoft.com/office/drawing/2014/main" id="{994299DA-4AB8-A319-6D4C-F1C662961F36}"/>
              </a:ext>
            </a:extLst>
          </p:cNvPr>
          <p:cNvSpPr/>
          <p:nvPr/>
        </p:nvSpPr>
        <p:spPr>
          <a:xfrm>
            <a:off x="7610947" y="4977624"/>
            <a:ext cx="1314508" cy="228391"/>
          </a:xfrm>
          <a:prstGeom prst="rect">
            <a:avLst/>
          </a:prstGeom>
          <a:no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323232"/>
                </a:solidFill>
                <a:effectLst/>
                <a:uLnTx/>
                <a:uFillTx/>
                <a:latin typeface="+mn-ea"/>
                <a:cs typeface="+mn-cs"/>
              </a:rPr>
              <a:t>顧客ユーザー</a:t>
            </a:r>
          </a:p>
        </p:txBody>
      </p:sp>
      <p:sp>
        <p:nvSpPr>
          <p:cNvPr id="90" name="正方形/長方形 89">
            <a:extLst>
              <a:ext uri="{FF2B5EF4-FFF2-40B4-BE49-F238E27FC236}">
                <a16:creationId xmlns:a16="http://schemas.microsoft.com/office/drawing/2014/main" id="{09AB5A0E-BA74-6230-5834-CAA65C4ADF0E}"/>
              </a:ext>
            </a:extLst>
          </p:cNvPr>
          <p:cNvSpPr/>
          <p:nvPr/>
        </p:nvSpPr>
        <p:spPr>
          <a:xfrm>
            <a:off x="7610947" y="5813451"/>
            <a:ext cx="1314508" cy="228391"/>
          </a:xfrm>
          <a:prstGeom prst="rect">
            <a:avLst/>
          </a:prstGeom>
          <a:no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0" i="0" u="none" strike="noStrike" kern="0" cap="none" spc="0" normalizeH="0" baseline="0" noProof="0">
                <a:ln>
                  <a:noFill/>
                </a:ln>
                <a:solidFill>
                  <a:srgbClr val="323232"/>
                </a:solidFill>
                <a:effectLst/>
                <a:uLnTx/>
                <a:uFillTx/>
                <a:latin typeface="+mn-ea"/>
                <a:cs typeface="+mn-cs"/>
              </a:rPr>
              <a:t>顧客ユーザー</a:t>
            </a:r>
          </a:p>
        </p:txBody>
      </p:sp>
      <p:grpSp>
        <p:nvGrpSpPr>
          <p:cNvPr id="92" name="グループ化 91">
            <a:extLst>
              <a:ext uri="{FF2B5EF4-FFF2-40B4-BE49-F238E27FC236}">
                <a16:creationId xmlns:a16="http://schemas.microsoft.com/office/drawing/2014/main" id="{CB1C8A44-15D7-B773-BC7A-5651EB015995}"/>
              </a:ext>
            </a:extLst>
          </p:cNvPr>
          <p:cNvGrpSpPr/>
          <p:nvPr/>
        </p:nvGrpSpPr>
        <p:grpSpPr bwMode="gray">
          <a:xfrm>
            <a:off x="616144" y="1482447"/>
            <a:ext cx="8741216" cy="212458"/>
            <a:chOff x="581184" y="1572445"/>
            <a:chExt cx="1395099" cy="226274"/>
          </a:xfrm>
        </p:grpSpPr>
        <p:cxnSp>
          <p:nvCxnSpPr>
            <p:cNvPr id="93" name="直線コネクタ 92">
              <a:extLst>
                <a:ext uri="{FF2B5EF4-FFF2-40B4-BE49-F238E27FC236}">
                  <a16:creationId xmlns:a16="http://schemas.microsoft.com/office/drawing/2014/main" id="{951198A1-B2A2-A3BF-C021-263E6D58A574}"/>
                </a:ext>
              </a:extLst>
            </p:cNvPr>
            <p:cNvCxnSpPr>
              <a:cxnSpLocks/>
            </p:cNvCxnSpPr>
            <p:nvPr/>
          </p:nvCxnSpPr>
          <p:spPr bwMode="gray">
            <a:xfrm>
              <a:off x="581184" y="1798719"/>
              <a:ext cx="1395099" cy="0"/>
            </a:xfrm>
            <a:prstGeom prst="line">
              <a:avLst/>
            </a:prstGeom>
            <a:noFill/>
            <a:ln w="9525" cap="flat" cmpd="sng" algn="ctr">
              <a:solidFill>
                <a:srgbClr val="FFFFFF">
                  <a:lumMod val="50000"/>
                </a:srgbClr>
              </a:solidFill>
              <a:prstDash val="solid"/>
              <a:tailEnd type="none"/>
            </a:ln>
            <a:effectLst/>
          </p:spPr>
        </p:cxnSp>
        <p:sp>
          <p:nvSpPr>
            <p:cNvPr id="94" name="正方形/長方形 93">
              <a:extLst>
                <a:ext uri="{FF2B5EF4-FFF2-40B4-BE49-F238E27FC236}">
                  <a16:creationId xmlns:a16="http://schemas.microsoft.com/office/drawing/2014/main" id="{04FB74BD-1E50-5566-1032-9AD11DFD6439}"/>
                </a:ext>
              </a:extLst>
            </p:cNvPr>
            <p:cNvSpPr/>
            <p:nvPr/>
          </p:nvSpPr>
          <p:spPr bwMode="gray">
            <a:xfrm>
              <a:off x="609347" y="1572445"/>
              <a:ext cx="1338772" cy="21713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18000" tIns="18000" rIns="18000" bIns="1800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400" b="1" i="0" u="none" strike="noStrike" kern="0" cap="none" spc="0" normalizeH="0" baseline="0" noProof="0" dirty="0">
                  <a:ln>
                    <a:noFill/>
                  </a:ln>
                  <a:solidFill>
                    <a:srgbClr val="000000"/>
                  </a:solidFill>
                  <a:effectLst/>
                  <a:uLnTx/>
                  <a:uFillTx/>
                  <a:latin typeface="+mn-ea"/>
                </a:rPr>
                <a:t>目指す姿</a:t>
              </a:r>
              <a:endParaRPr kumimoji="0" lang="en-US" altLang="ja-JP" sz="1400" b="1" i="0" u="none" strike="noStrike" kern="0" cap="none" spc="0" normalizeH="0" baseline="0" noProof="0" dirty="0">
                <a:ln>
                  <a:noFill/>
                </a:ln>
                <a:solidFill>
                  <a:srgbClr val="000000"/>
                </a:solidFill>
                <a:effectLst/>
                <a:uLnTx/>
                <a:uFillTx/>
                <a:latin typeface="+mn-ea"/>
              </a:endParaRPr>
            </a:p>
          </p:txBody>
        </p:sp>
      </p:grpSp>
      <p:sp>
        <p:nvSpPr>
          <p:cNvPr id="95" name="二等辺三角形 94">
            <a:extLst>
              <a:ext uri="{FF2B5EF4-FFF2-40B4-BE49-F238E27FC236}">
                <a16:creationId xmlns:a16="http://schemas.microsoft.com/office/drawing/2014/main" id="{557973F1-B550-14C1-E4E4-9ACFECB4403C}"/>
              </a:ext>
            </a:extLst>
          </p:cNvPr>
          <p:cNvSpPr/>
          <p:nvPr/>
        </p:nvSpPr>
        <p:spPr>
          <a:xfrm flipV="1">
            <a:off x="4719203" y="3256925"/>
            <a:ext cx="1253406" cy="30043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1100">
              <a:latin typeface="+mn-ea"/>
            </a:endParaRPr>
          </a:p>
        </p:txBody>
      </p:sp>
    </p:spTree>
    <p:extLst>
      <p:ext uri="{BB962C8B-B14F-4D97-AF65-F5344CB8AC3E}">
        <p14:creationId xmlns:p14="http://schemas.microsoft.com/office/powerpoint/2010/main" val="35570154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5355BB-E9CF-DE56-1673-24ADAACACCFE}"/>
              </a:ext>
            </a:extLst>
          </p:cNvPr>
          <p:cNvSpPr>
            <a:spLocks noGrp="1"/>
          </p:cNvSpPr>
          <p:nvPr>
            <p:ph type="title"/>
          </p:nvPr>
        </p:nvSpPr>
        <p:spPr/>
        <p:txBody>
          <a:bodyPr/>
          <a:lstStyle/>
          <a:p>
            <a:r>
              <a:rPr lang="en-US" altLang="ja-JP" dirty="0"/>
              <a:t>2. </a:t>
            </a:r>
            <a:r>
              <a:rPr lang="ja-JP" altLang="en-US" dirty="0"/>
              <a:t>データマネジメントサービス～②事業目標</a:t>
            </a:r>
            <a:endParaRPr kumimoji="1" lang="ja-JP" altLang="en-US" dirty="0"/>
          </a:p>
        </p:txBody>
      </p:sp>
      <p:sp>
        <p:nvSpPr>
          <p:cNvPr id="3" name="テキスト プレースホルダー 2">
            <a:extLst>
              <a:ext uri="{FF2B5EF4-FFF2-40B4-BE49-F238E27FC236}">
                <a16:creationId xmlns:a16="http://schemas.microsoft.com/office/drawing/2014/main" id="{418C6812-2DD7-73FF-1A05-7E21A1F8A290}"/>
              </a:ext>
            </a:extLst>
          </p:cNvPr>
          <p:cNvSpPr>
            <a:spLocks noGrp="1"/>
          </p:cNvSpPr>
          <p:nvPr>
            <p:ph type="body" idx="12"/>
          </p:nvPr>
        </p:nvSpPr>
        <p:spPr/>
        <p:txBody>
          <a:bodyPr/>
          <a:lstStyle/>
          <a:p>
            <a:r>
              <a:rPr lang="en-US" altLang="ja-JP" dirty="0">
                <a:latin typeface="+mn-ea"/>
              </a:rPr>
              <a:t>DMS</a:t>
            </a:r>
            <a:r>
              <a:rPr lang="ja-JP" altLang="en-US" dirty="0">
                <a:latin typeface="+mn-ea"/>
              </a:rPr>
              <a:t>を、顧客接点拡充・関係強化ならびに、早期ニーズ把握・具現化のための基盤として位置付け、信託業務に加え、他の資産管理ビーグル事業や為替、セキュリティレンディング（</a:t>
            </a:r>
            <a:r>
              <a:rPr lang="en-US" altLang="ja-JP" dirty="0">
                <a:latin typeface="+mn-ea"/>
              </a:rPr>
              <a:t>SL</a:t>
            </a:r>
            <a:r>
              <a:rPr lang="ja-JP" altLang="en-US" dirty="0">
                <a:latin typeface="+mn-ea"/>
              </a:rPr>
              <a:t>）事業等との有機的な連関を実現</a:t>
            </a:r>
            <a:br>
              <a:rPr lang="en-US" altLang="ja-JP" dirty="0">
                <a:latin typeface="+mn-ea"/>
              </a:rPr>
            </a:br>
            <a:r>
              <a:rPr lang="ja-JP" altLang="en-US" dirty="0">
                <a:latin typeface="+mn-ea"/>
              </a:rPr>
              <a:t>「信託銀行ならでは」の強みを洗練・強化することで収益拡大を図ります。</a:t>
            </a:r>
            <a:endParaRPr kumimoji="1" lang="ja-JP" altLang="en-US" dirty="0"/>
          </a:p>
        </p:txBody>
      </p:sp>
      <p:sp>
        <p:nvSpPr>
          <p:cNvPr id="4" name="テキスト プレースホルダー 3">
            <a:extLst>
              <a:ext uri="{FF2B5EF4-FFF2-40B4-BE49-F238E27FC236}">
                <a16:creationId xmlns:a16="http://schemas.microsoft.com/office/drawing/2014/main" id="{8FCD8C98-87CB-FEBC-80C1-60DEADA5E072}"/>
              </a:ext>
            </a:extLst>
          </p:cNvPr>
          <p:cNvSpPr>
            <a:spLocks noGrp="1"/>
          </p:cNvSpPr>
          <p:nvPr>
            <p:ph type="body" sz="quarter" idx="13"/>
          </p:nvPr>
        </p:nvSpPr>
        <p:spPr/>
        <p:txBody>
          <a:bodyPr/>
          <a:lstStyle/>
          <a:p>
            <a:r>
              <a:rPr lang="en-US" altLang="ja-JP" dirty="0"/>
              <a:t>3. </a:t>
            </a:r>
            <a:r>
              <a:rPr lang="ja-JP" altLang="en-US" dirty="0"/>
              <a:t>プロジェクト① アーキテクチャ戦略</a:t>
            </a:r>
            <a:endParaRPr kumimoji="1" lang="ja-JP" altLang="en-US" dirty="0"/>
          </a:p>
        </p:txBody>
      </p:sp>
      <p:grpSp>
        <p:nvGrpSpPr>
          <p:cNvPr id="40" name="グループ化 39">
            <a:extLst>
              <a:ext uri="{FF2B5EF4-FFF2-40B4-BE49-F238E27FC236}">
                <a16:creationId xmlns:a16="http://schemas.microsoft.com/office/drawing/2014/main" id="{34B8F2F4-D415-20EB-1220-D3028C7DD8A9}"/>
              </a:ext>
            </a:extLst>
          </p:cNvPr>
          <p:cNvGrpSpPr/>
          <p:nvPr/>
        </p:nvGrpSpPr>
        <p:grpSpPr>
          <a:xfrm>
            <a:off x="506511" y="1878937"/>
            <a:ext cx="8892978" cy="4663688"/>
            <a:chOff x="916049" y="2393287"/>
            <a:chExt cx="8892978" cy="4663688"/>
          </a:xfrm>
        </p:grpSpPr>
        <p:sp>
          <p:nvSpPr>
            <p:cNvPr id="5" name="四角形: 角を丸くする 4">
              <a:extLst>
                <a:ext uri="{FF2B5EF4-FFF2-40B4-BE49-F238E27FC236}">
                  <a16:creationId xmlns:a16="http://schemas.microsoft.com/office/drawing/2014/main" id="{71A3962A-91A1-5959-A4A3-07FF594C367B}"/>
                </a:ext>
              </a:extLst>
            </p:cNvPr>
            <p:cNvSpPr/>
            <p:nvPr/>
          </p:nvSpPr>
          <p:spPr>
            <a:xfrm>
              <a:off x="7567935" y="2393287"/>
              <a:ext cx="1226989" cy="2785003"/>
            </a:xfrm>
            <a:prstGeom prst="roundRect">
              <a:avLst/>
            </a:prstGeom>
            <a:solidFill>
              <a:srgbClr val="FFFFFF"/>
            </a:solidFill>
            <a:ln w="12700" cap="flat" cmpd="sng" algn="ctr">
              <a:solidFill>
                <a:srgbClr val="FFFFFF">
                  <a:lumMod val="50000"/>
                </a:srgbClr>
              </a:solidFill>
              <a:prstDash val="dash"/>
              <a:miter lim="800000"/>
            </a:ln>
            <a:effectLst/>
          </p:spPr>
          <p:txBody>
            <a:bodyPr rtlCol="0" anchor="t"/>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323232"/>
                  </a:solidFill>
                  <a:effectLst/>
                  <a:uLnTx/>
                  <a:uFillTx/>
                  <a:latin typeface="Arial"/>
                  <a:ea typeface="BIZ UDPゴシック"/>
                  <a:cs typeface="+mn-cs"/>
                </a:rPr>
                <a:t>関連事業</a:t>
              </a:r>
              <a:endParaRPr kumimoji="0" lang="en-US" altLang="ja-JP" sz="1100" b="1" i="0" u="none" strike="noStrike" kern="0" cap="none" spc="0" normalizeH="0" baseline="0" noProof="0">
                <a:ln>
                  <a:noFill/>
                </a:ln>
                <a:solidFill>
                  <a:srgbClr val="323232"/>
                </a:solidFill>
                <a:effectLst/>
                <a:uLnTx/>
                <a:uFillTx/>
                <a:latin typeface="Arial"/>
                <a:ea typeface="BIZ UDPゴシック"/>
                <a:cs typeface="+mn-cs"/>
              </a:endParaRPr>
            </a:p>
          </p:txBody>
        </p:sp>
        <p:cxnSp>
          <p:nvCxnSpPr>
            <p:cNvPr id="6" name="直線矢印コネクタ 5">
              <a:extLst>
                <a:ext uri="{FF2B5EF4-FFF2-40B4-BE49-F238E27FC236}">
                  <a16:creationId xmlns:a16="http://schemas.microsoft.com/office/drawing/2014/main" id="{CE40603E-E2AA-6A52-8D48-F87968C79CB7}"/>
                </a:ext>
              </a:extLst>
            </p:cNvPr>
            <p:cNvCxnSpPr>
              <a:cxnSpLocks/>
            </p:cNvCxnSpPr>
            <p:nvPr/>
          </p:nvCxnSpPr>
          <p:spPr>
            <a:xfrm flipV="1">
              <a:off x="1511805" y="2589040"/>
              <a:ext cx="0" cy="3708000"/>
            </a:xfrm>
            <a:prstGeom prst="straightConnector1">
              <a:avLst/>
            </a:prstGeom>
            <a:noFill/>
            <a:ln w="19050" cap="flat" cmpd="sng" algn="ctr">
              <a:solidFill>
                <a:srgbClr val="FFFFFF">
                  <a:lumMod val="50000"/>
                </a:srgbClr>
              </a:solidFill>
              <a:prstDash val="solid"/>
              <a:miter lim="800000"/>
              <a:tailEnd type="arrow"/>
            </a:ln>
            <a:effectLst/>
          </p:spPr>
        </p:cxnSp>
        <p:cxnSp>
          <p:nvCxnSpPr>
            <p:cNvPr id="7" name="直線矢印コネクタ 6">
              <a:extLst>
                <a:ext uri="{FF2B5EF4-FFF2-40B4-BE49-F238E27FC236}">
                  <a16:creationId xmlns:a16="http://schemas.microsoft.com/office/drawing/2014/main" id="{E27D10F8-3D2B-7CA3-1CE3-D88C70EC53B9}"/>
                </a:ext>
              </a:extLst>
            </p:cNvPr>
            <p:cNvCxnSpPr>
              <a:cxnSpLocks/>
            </p:cNvCxnSpPr>
            <p:nvPr/>
          </p:nvCxnSpPr>
          <p:spPr>
            <a:xfrm>
              <a:off x="1493958" y="6342510"/>
              <a:ext cx="7126872" cy="0"/>
            </a:xfrm>
            <a:prstGeom prst="straightConnector1">
              <a:avLst/>
            </a:prstGeom>
            <a:noFill/>
            <a:ln w="19050" cap="flat" cmpd="sng" algn="ctr">
              <a:solidFill>
                <a:srgbClr val="FFFFFF">
                  <a:lumMod val="50000"/>
                </a:srgbClr>
              </a:solidFill>
              <a:prstDash val="solid"/>
              <a:miter lim="800000"/>
              <a:tailEnd type="arrow"/>
            </a:ln>
            <a:effectLst/>
          </p:spPr>
        </p:cxnSp>
        <p:sp>
          <p:nvSpPr>
            <p:cNvPr id="8" name="四角形: 角を丸くする 7">
              <a:extLst>
                <a:ext uri="{FF2B5EF4-FFF2-40B4-BE49-F238E27FC236}">
                  <a16:creationId xmlns:a16="http://schemas.microsoft.com/office/drawing/2014/main" id="{DE0BF77F-E3F6-DF41-2611-99F4CCC9F96B}"/>
                </a:ext>
              </a:extLst>
            </p:cNvPr>
            <p:cNvSpPr/>
            <p:nvPr/>
          </p:nvSpPr>
          <p:spPr>
            <a:xfrm>
              <a:off x="1579310" y="4980082"/>
              <a:ext cx="5815406" cy="1298882"/>
            </a:xfrm>
            <a:prstGeom prst="roundRect">
              <a:avLst/>
            </a:prstGeom>
            <a:solidFill>
              <a:srgbClr val="FFFFFF"/>
            </a:solidFill>
            <a:ln w="12700" cap="flat" cmpd="sng" algn="ctr">
              <a:solidFill>
                <a:srgbClr val="FFFFFF">
                  <a:lumMod val="50000"/>
                </a:srgbClr>
              </a:solidFill>
              <a:prstDash val="dash"/>
              <a:miter lim="800000"/>
            </a:ln>
            <a:effectLst/>
          </p:spPr>
          <p:txBody>
            <a:bodyPr rtlCol="0" anchor="b"/>
            <a:lstStyle/>
            <a:p>
              <a:pPr marL="0" marR="0" lvl="0" indent="0" algn="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323232"/>
                  </a:solidFill>
                  <a:effectLst/>
                  <a:uLnTx/>
                  <a:uFillTx/>
                  <a:latin typeface="Arial"/>
                  <a:ea typeface="BIZ UDPゴシック"/>
                  <a:cs typeface="+mn-cs"/>
                </a:rPr>
                <a:t>資産管理</a:t>
              </a:r>
              <a:endParaRPr kumimoji="0" lang="en-US" altLang="ja-JP" sz="1100" b="1" i="0" u="none" strike="noStrike" kern="0" cap="none" spc="0" normalizeH="0" baseline="0" noProof="0">
                <a:ln>
                  <a:noFill/>
                </a:ln>
                <a:solidFill>
                  <a:srgbClr val="323232"/>
                </a:solidFill>
                <a:effectLst/>
                <a:uLnTx/>
                <a:uFillTx/>
                <a:latin typeface="Arial"/>
                <a:ea typeface="BIZ UDPゴシック"/>
                <a:cs typeface="+mn-cs"/>
              </a:endParaRPr>
            </a:p>
            <a:p>
              <a:pPr marL="0" marR="0" lvl="0" indent="0" algn="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323232"/>
                  </a:solidFill>
                  <a:effectLst/>
                  <a:uLnTx/>
                  <a:uFillTx/>
                  <a:latin typeface="Arial"/>
                  <a:ea typeface="BIZ UDPゴシック"/>
                  <a:cs typeface="+mn-cs"/>
                </a:rPr>
                <a:t>ビークル</a:t>
              </a:r>
            </a:p>
          </p:txBody>
        </p:sp>
        <p:sp>
          <p:nvSpPr>
            <p:cNvPr id="9" name="楕円 8">
              <a:extLst>
                <a:ext uri="{FF2B5EF4-FFF2-40B4-BE49-F238E27FC236}">
                  <a16:creationId xmlns:a16="http://schemas.microsoft.com/office/drawing/2014/main" id="{C1DFCCBE-E025-81E3-6E26-4ECE788B7F14}"/>
                </a:ext>
              </a:extLst>
            </p:cNvPr>
            <p:cNvSpPr/>
            <p:nvPr/>
          </p:nvSpPr>
          <p:spPr>
            <a:xfrm>
              <a:off x="1664114" y="5063427"/>
              <a:ext cx="877919" cy="1152000"/>
            </a:xfrm>
            <a:prstGeom prst="ellipse">
              <a:avLst/>
            </a:prstGeom>
            <a:solidFill>
              <a:srgbClr val="406A7A">
                <a:lumMod val="60000"/>
                <a:lumOff val="40000"/>
              </a:srgbClr>
            </a:solidFill>
            <a:ln w="12700" cap="flat" cmpd="sng" algn="ctr">
              <a:solidFill>
                <a:srgbClr val="406A7A">
                  <a:lumMod val="60000"/>
                  <a:lumOff val="40000"/>
                </a:srgbClr>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Arial"/>
                  <a:ea typeface="BIZ UDPゴシック"/>
                  <a:cs typeface="+mn-cs"/>
                </a:rPr>
                <a:t>当社</a:t>
              </a:r>
              <a:endParaRPr kumimoji="0" lang="en-US" altLang="ja-JP" sz="1100" b="1" i="0" u="none" strike="noStrike" kern="0" cap="none" spc="0" normalizeH="0" baseline="0" noProof="0">
                <a:ln>
                  <a:noFill/>
                </a:ln>
                <a:solidFill>
                  <a:srgbClr val="FFFFFF"/>
                </a:solidFill>
                <a:effectLst/>
                <a:uLnTx/>
                <a:uFillTx/>
                <a:latin typeface="Arial"/>
                <a:ea typeface="BIZ UDPゴシック"/>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Arial"/>
                  <a:ea typeface="BIZ UDPゴシック"/>
                  <a:cs typeface="+mn-cs"/>
                </a:rPr>
                <a:t>受託</a:t>
              </a:r>
            </a:p>
          </p:txBody>
        </p:sp>
        <p:sp>
          <p:nvSpPr>
            <p:cNvPr id="10" name="楕円 9">
              <a:extLst>
                <a:ext uri="{FF2B5EF4-FFF2-40B4-BE49-F238E27FC236}">
                  <a16:creationId xmlns:a16="http://schemas.microsoft.com/office/drawing/2014/main" id="{E951D0FF-C941-2BBC-14FF-A33804689BA7}"/>
                </a:ext>
              </a:extLst>
            </p:cNvPr>
            <p:cNvSpPr/>
            <p:nvPr/>
          </p:nvSpPr>
          <p:spPr>
            <a:xfrm>
              <a:off x="2626836" y="5063427"/>
              <a:ext cx="877919" cy="1152000"/>
            </a:xfrm>
            <a:prstGeom prst="ellipse">
              <a:avLst/>
            </a:prstGeom>
            <a:solidFill>
              <a:srgbClr val="FFFFFF">
                <a:lumMod val="75000"/>
              </a:srgbClr>
            </a:solidFill>
            <a:ln w="12700" cap="flat" cmpd="sng" algn="ctr">
              <a:solidFill>
                <a:srgbClr val="FFFFFF">
                  <a:lumMod val="75000"/>
                </a:srgbClr>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Arial"/>
                  <a:ea typeface="BIZ UDPゴシック"/>
                  <a:cs typeface="+mn-cs"/>
                </a:rPr>
                <a:t>他社</a:t>
              </a:r>
              <a:endParaRPr kumimoji="0" lang="en-US" altLang="ja-JP" sz="1100" b="1" i="0" u="none" strike="noStrike" kern="0" cap="none" spc="0" normalizeH="0" baseline="0" noProof="0">
                <a:ln>
                  <a:noFill/>
                </a:ln>
                <a:solidFill>
                  <a:srgbClr val="FFFFFF"/>
                </a:solidFill>
                <a:effectLst/>
                <a:uLnTx/>
                <a:uFillTx/>
                <a:latin typeface="Arial"/>
                <a:ea typeface="BIZ UDPゴシック"/>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Arial"/>
                  <a:ea typeface="BIZ UDPゴシック"/>
                  <a:cs typeface="+mn-cs"/>
                </a:rPr>
                <a:t>受託</a:t>
              </a:r>
            </a:p>
          </p:txBody>
        </p:sp>
        <p:sp>
          <p:nvSpPr>
            <p:cNvPr id="11" name="楕円 10">
              <a:extLst>
                <a:ext uri="{FF2B5EF4-FFF2-40B4-BE49-F238E27FC236}">
                  <a16:creationId xmlns:a16="http://schemas.microsoft.com/office/drawing/2014/main" id="{27DBC6A0-51A3-8A0A-B6EF-08755891F9D9}"/>
                </a:ext>
              </a:extLst>
            </p:cNvPr>
            <p:cNvSpPr/>
            <p:nvPr/>
          </p:nvSpPr>
          <p:spPr>
            <a:xfrm>
              <a:off x="3589558" y="5072485"/>
              <a:ext cx="877919" cy="1152000"/>
            </a:xfrm>
            <a:prstGeom prst="ellipse">
              <a:avLst/>
            </a:prstGeom>
            <a:solidFill>
              <a:srgbClr val="FFFFFF">
                <a:lumMod val="75000"/>
              </a:srgbClr>
            </a:solidFill>
            <a:ln w="12700" cap="flat" cmpd="sng" algn="ctr">
              <a:solidFill>
                <a:srgbClr val="FFFFFF">
                  <a:lumMod val="75000"/>
                </a:srgbClr>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Arial"/>
                  <a:ea typeface="BIZ UDPゴシック"/>
                  <a:cs typeface="+mn-cs"/>
                </a:rPr>
                <a:t>アドミ</a:t>
              </a:r>
              <a:endParaRPr kumimoji="0" lang="en-US" altLang="ja-JP" sz="1100" b="1" i="0" u="none" strike="noStrike" kern="0" cap="none" spc="0" normalizeH="0" baseline="0" noProof="0">
                <a:ln>
                  <a:noFill/>
                </a:ln>
                <a:solidFill>
                  <a:srgbClr val="FFFFFF"/>
                </a:solidFill>
                <a:effectLst/>
                <a:uLnTx/>
                <a:uFillTx/>
                <a:latin typeface="Arial"/>
                <a:ea typeface="BIZ UDPゴシック"/>
                <a:cs typeface="+mn-cs"/>
              </a:endParaRPr>
            </a:p>
          </p:txBody>
        </p:sp>
        <p:sp>
          <p:nvSpPr>
            <p:cNvPr id="12" name="楕円 11">
              <a:extLst>
                <a:ext uri="{FF2B5EF4-FFF2-40B4-BE49-F238E27FC236}">
                  <a16:creationId xmlns:a16="http://schemas.microsoft.com/office/drawing/2014/main" id="{BAC36572-BCE8-F30F-7C06-2EEA2109C5D0}"/>
                </a:ext>
              </a:extLst>
            </p:cNvPr>
            <p:cNvSpPr/>
            <p:nvPr/>
          </p:nvSpPr>
          <p:spPr>
            <a:xfrm>
              <a:off x="4534981" y="5072485"/>
              <a:ext cx="877919" cy="1152000"/>
            </a:xfrm>
            <a:prstGeom prst="ellipse">
              <a:avLst/>
            </a:prstGeom>
            <a:solidFill>
              <a:srgbClr val="FFFFFF">
                <a:lumMod val="75000"/>
              </a:srgbClr>
            </a:solidFill>
            <a:ln w="12700" cap="flat" cmpd="sng" algn="ctr">
              <a:solidFill>
                <a:srgbClr val="FFFFFF">
                  <a:lumMod val="75000"/>
                </a:srgbClr>
              </a:solid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Arial"/>
                  <a:ea typeface="BIZ UDPゴシック"/>
                  <a:cs typeface="+mn-cs"/>
                </a:rPr>
                <a:t>カストディ</a:t>
              </a:r>
              <a:endParaRPr kumimoji="0" lang="en-US" altLang="ja-JP" sz="1100" b="1" i="0" u="none" strike="noStrike" kern="0" cap="none" spc="0" normalizeH="0" baseline="0" noProof="0">
                <a:ln>
                  <a:noFill/>
                </a:ln>
                <a:solidFill>
                  <a:srgbClr val="FFFFFF"/>
                </a:solidFill>
                <a:effectLst/>
                <a:uLnTx/>
                <a:uFillTx/>
                <a:latin typeface="Arial"/>
                <a:ea typeface="BIZ UDPゴシック"/>
                <a:cs typeface="+mn-cs"/>
              </a:endParaRPr>
            </a:p>
          </p:txBody>
        </p:sp>
        <p:sp>
          <p:nvSpPr>
            <p:cNvPr id="13" name="楕円 12">
              <a:extLst>
                <a:ext uri="{FF2B5EF4-FFF2-40B4-BE49-F238E27FC236}">
                  <a16:creationId xmlns:a16="http://schemas.microsoft.com/office/drawing/2014/main" id="{984EA0D4-A849-5AFD-D19C-B518ECDE2316}"/>
                </a:ext>
              </a:extLst>
            </p:cNvPr>
            <p:cNvSpPr/>
            <p:nvPr/>
          </p:nvSpPr>
          <p:spPr>
            <a:xfrm>
              <a:off x="5513236" y="5063427"/>
              <a:ext cx="877919" cy="1152000"/>
            </a:xfrm>
            <a:prstGeom prst="ellipse">
              <a:avLst/>
            </a:prstGeom>
            <a:solidFill>
              <a:srgbClr val="FFFFFF">
                <a:lumMod val="75000"/>
              </a:srgbClr>
            </a:solidFill>
            <a:ln w="12700" cap="flat" cmpd="sng" algn="ctr">
              <a:solidFill>
                <a:srgbClr val="FFFFFF">
                  <a:lumMod val="75000"/>
                </a:srgbClr>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Arial"/>
                  <a:ea typeface="BIZ UDPゴシック"/>
                  <a:cs typeface="+mn-cs"/>
                </a:rPr>
                <a:t>（直投）</a:t>
              </a:r>
              <a:endParaRPr kumimoji="0" lang="en-US" altLang="ja-JP" sz="1100" b="1" i="0" u="none" strike="noStrike" kern="0" cap="none" spc="0" normalizeH="0" baseline="0" noProof="0">
                <a:ln>
                  <a:noFill/>
                </a:ln>
                <a:solidFill>
                  <a:srgbClr val="FFFFFF"/>
                </a:solidFill>
                <a:effectLst/>
                <a:uLnTx/>
                <a:uFillTx/>
                <a:latin typeface="Arial"/>
                <a:ea typeface="BIZ UDPゴシック"/>
                <a:cs typeface="+mn-cs"/>
              </a:endParaRPr>
            </a:p>
          </p:txBody>
        </p:sp>
        <p:sp>
          <p:nvSpPr>
            <p:cNvPr id="14" name="四角形: 角を丸くする 13">
              <a:extLst>
                <a:ext uri="{FF2B5EF4-FFF2-40B4-BE49-F238E27FC236}">
                  <a16:creationId xmlns:a16="http://schemas.microsoft.com/office/drawing/2014/main" id="{FD71E3CB-198C-F213-8CC9-49B112FE214C}"/>
                </a:ext>
              </a:extLst>
            </p:cNvPr>
            <p:cNvSpPr/>
            <p:nvPr/>
          </p:nvSpPr>
          <p:spPr>
            <a:xfrm>
              <a:off x="1675413" y="3878752"/>
              <a:ext cx="5103073" cy="559473"/>
            </a:xfrm>
            <a:prstGeom prst="roundRect">
              <a:avLst/>
            </a:prstGeom>
            <a:solidFill>
              <a:srgbClr val="FF2600">
                <a:lumMod val="20000"/>
                <a:lumOff val="80000"/>
              </a:srgbClr>
            </a:solidFill>
            <a:ln w="12700" cap="flat" cmpd="sng" algn="ctr">
              <a:solidFill>
                <a:srgbClr val="FF2600"/>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400" b="1" i="0" u="none" strike="noStrike" kern="0" cap="none" spc="0" normalizeH="0" baseline="0" noProof="0">
                  <a:ln>
                    <a:noFill/>
                  </a:ln>
                  <a:solidFill>
                    <a:sysClr val="windowText" lastClr="000000"/>
                  </a:solidFill>
                  <a:effectLst/>
                  <a:uLnTx/>
                  <a:uFillTx/>
                  <a:latin typeface="Arial"/>
                  <a:ea typeface="BIZ UDPゴシック"/>
                  <a:cs typeface="+mn-cs"/>
                </a:rPr>
                <a:t>DMS</a:t>
              </a:r>
              <a:endParaRPr kumimoji="0" lang="ja-JP" altLang="en-US" sz="1400" b="1" i="0" u="none" strike="noStrike" kern="0" cap="none" spc="0" normalizeH="0" baseline="0" noProof="0">
                <a:ln>
                  <a:noFill/>
                </a:ln>
                <a:solidFill>
                  <a:sysClr val="windowText" lastClr="000000"/>
                </a:solidFill>
                <a:effectLst/>
                <a:uLnTx/>
                <a:uFillTx/>
                <a:latin typeface="Arial"/>
                <a:ea typeface="BIZ UDPゴシック"/>
                <a:cs typeface="+mn-cs"/>
              </a:endParaRPr>
            </a:p>
          </p:txBody>
        </p:sp>
        <p:sp>
          <p:nvSpPr>
            <p:cNvPr id="15" name="楕円 14">
              <a:extLst>
                <a:ext uri="{FF2B5EF4-FFF2-40B4-BE49-F238E27FC236}">
                  <a16:creationId xmlns:a16="http://schemas.microsoft.com/office/drawing/2014/main" id="{156EE2E0-C54D-DCD3-E1AC-DACD6D5C16B7}"/>
                </a:ext>
              </a:extLst>
            </p:cNvPr>
            <p:cNvSpPr/>
            <p:nvPr/>
          </p:nvSpPr>
          <p:spPr>
            <a:xfrm>
              <a:off x="3245254" y="2713117"/>
              <a:ext cx="1567808" cy="559473"/>
            </a:xfrm>
            <a:prstGeom prst="ellipse">
              <a:avLst/>
            </a:prstGeom>
            <a:solidFill>
              <a:srgbClr val="FFFFFF">
                <a:lumMod val="75000"/>
              </a:srgbClr>
            </a:solidFill>
            <a:ln w="12700" cap="flat" cmpd="sng" algn="ctr">
              <a:solidFill>
                <a:srgbClr val="FFFFFF">
                  <a:lumMod val="75000"/>
                </a:srgbClr>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100" b="1" i="0" u="none" strike="noStrike" kern="0" cap="none" spc="0" normalizeH="0" baseline="0" noProof="0">
                  <a:ln>
                    <a:noFill/>
                  </a:ln>
                  <a:solidFill>
                    <a:srgbClr val="FFFFFF"/>
                  </a:solidFill>
                  <a:effectLst/>
                  <a:uLnTx/>
                  <a:uFillTx/>
                  <a:latin typeface="Arial"/>
                  <a:ea typeface="BIZ UDPゴシック"/>
                  <a:cs typeface="+mn-cs"/>
                </a:rPr>
                <a:t>BPO</a:t>
              </a:r>
            </a:p>
          </p:txBody>
        </p:sp>
        <p:sp>
          <p:nvSpPr>
            <p:cNvPr id="16" name="楕円 15">
              <a:extLst>
                <a:ext uri="{FF2B5EF4-FFF2-40B4-BE49-F238E27FC236}">
                  <a16:creationId xmlns:a16="http://schemas.microsoft.com/office/drawing/2014/main" id="{0F6C39B3-40C8-6080-5D8B-C44ABC259ACF}"/>
                </a:ext>
              </a:extLst>
            </p:cNvPr>
            <p:cNvSpPr/>
            <p:nvPr/>
          </p:nvSpPr>
          <p:spPr>
            <a:xfrm>
              <a:off x="7742912" y="2738121"/>
              <a:ext cx="877919" cy="676657"/>
            </a:xfrm>
            <a:prstGeom prst="ellipse">
              <a:avLst/>
            </a:prstGeom>
            <a:solidFill>
              <a:srgbClr val="FFFFFF">
                <a:lumMod val="75000"/>
              </a:srgbClr>
            </a:solidFill>
            <a:ln w="12700" cap="flat" cmpd="sng" algn="ctr">
              <a:solidFill>
                <a:srgbClr val="FFFFFF">
                  <a:lumMod val="75000"/>
                </a:srgbClr>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Arial"/>
                  <a:ea typeface="BIZ UDPゴシック"/>
                  <a:cs typeface="+mn-cs"/>
                </a:rPr>
                <a:t>為替</a:t>
              </a:r>
              <a:endParaRPr kumimoji="0" lang="en-US" altLang="ja-JP" sz="1100" b="1" i="0" u="none" strike="noStrike" kern="0" cap="none" spc="0" normalizeH="0" baseline="0" noProof="0">
                <a:ln>
                  <a:noFill/>
                </a:ln>
                <a:solidFill>
                  <a:srgbClr val="FFFFFF"/>
                </a:solidFill>
                <a:effectLst/>
                <a:uLnTx/>
                <a:uFillTx/>
                <a:latin typeface="Arial"/>
                <a:ea typeface="BIZ UDPゴシック"/>
                <a:cs typeface="+mn-cs"/>
              </a:endParaRPr>
            </a:p>
          </p:txBody>
        </p:sp>
        <p:sp>
          <p:nvSpPr>
            <p:cNvPr id="17" name="楕円 16">
              <a:extLst>
                <a:ext uri="{FF2B5EF4-FFF2-40B4-BE49-F238E27FC236}">
                  <a16:creationId xmlns:a16="http://schemas.microsoft.com/office/drawing/2014/main" id="{85D618F2-1434-67A5-6F9F-5CBB0A6CAFA3}"/>
                </a:ext>
              </a:extLst>
            </p:cNvPr>
            <p:cNvSpPr/>
            <p:nvPr/>
          </p:nvSpPr>
          <p:spPr>
            <a:xfrm>
              <a:off x="7742911" y="3540423"/>
              <a:ext cx="877919" cy="676657"/>
            </a:xfrm>
            <a:prstGeom prst="ellipse">
              <a:avLst/>
            </a:prstGeom>
            <a:solidFill>
              <a:srgbClr val="FFFFFF">
                <a:lumMod val="75000"/>
              </a:srgbClr>
            </a:solidFill>
            <a:ln w="12700" cap="flat" cmpd="sng" algn="ctr">
              <a:solidFill>
                <a:srgbClr val="FFFFFF">
                  <a:lumMod val="75000"/>
                </a:srgbClr>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100" b="1" i="0" u="none" strike="noStrike" kern="0" cap="none" spc="0" normalizeH="0" baseline="0" noProof="0">
                  <a:ln>
                    <a:noFill/>
                  </a:ln>
                  <a:solidFill>
                    <a:srgbClr val="FFFFFF"/>
                  </a:solidFill>
                  <a:effectLst/>
                  <a:uLnTx/>
                  <a:uFillTx/>
                  <a:latin typeface="Arial"/>
                  <a:ea typeface="BIZ UDPゴシック"/>
                  <a:cs typeface="+mn-cs"/>
                </a:rPr>
                <a:t>SL</a:t>
              </a:r>
            </a:p>
          </p:txBody>
        </p:sp>
        <p:sp>
          <p:nvSpPr>
            <p:cNvPr id="18" name="楕円 17">
              <a:extLst>
                <a:ext uri="{FF2B5EF4-FFF2-40B4-BE49-F238E27FC236}">
                  <a16:creationId xmlns:a16="http://schemas.microsoft.com/office/drawing/2014/main" id="{39EDE44C-1F3C-4D8C-AD0B-758BB84D72E4}"/>
                </a:ext>
              </a:extLst>
            </p:cNvPr>
            <p:cNvSpPr/>
            <p:nvPr/>
          </p:nvSpPr>
          <p:spPr>
            <a:xfrm>
              <a:off x="7742911" y="4342725"/>
              <a:ext cx="877919" cy="676657"/>
            </a:xfrm>
            <a:prstGeom prst="ellipse">
              <a:avLst/>
            </a:prstGeom>
            <a:solidFill>
              <a:srgbClr val="FFFFFF">
                <a:lumMod val="75000"/>
              </a:srgbClr>
            </a:solidFill>
            <a:ln w="12700" cap="flat" cmpd="sng" algn="ctr">
              <a:solidFill>
                <a:srgbClr val="FFFFFF">
                  <a:lumMod val="75000"/>
                </a:srgbClr>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Arial"/>
                  <a:ea typeface="BIZ UDPゴシック"/>
                  <a:cs typeface="+mn-cs"/>
                </a:rPr>
                <a:t>ファイナンス</a:t>
              </a:r>
              <a:endParaRPr kumimoji="0" lang="en-US" altLang="ja-JP" sz="1100" b="1" i="0" u="none" strike="noStrike" kern="0" cap="none" spc="0" normalizeH="0" baseline="0" noProof="0">
                <a:ln>
                  <a:noFill/>
                </a:ln>
                <a:solidFill>
                  <a:srgbClr val="FFFFFF"/>
                </a:solidFill>
                <a:effectLst/>
                <a:uLnTx/>
                <a:uFillTx/>
                <a:latin typeface="Arial"/>
                <a:ea typeface="BIZ UDPゴシック"/>
                <a:cs typeface="+mn-cs"/>
              </a:endParaRPr>
            </a:p>
          </p:txBody>
        </p:sp>
        <p:sp>
          <p:nvSpPr>
            <p:cNvPr id="19" name="フローチャート: 処理 18">
              <a:extLst>
                <a:ext uri="{FF2B5EF4-FFF2-40B4-BE49-F238E27FC236}">
                  <a16:creationId xmlns:a16="http://schemas.microsoft.com/office/drawing/2014/main" id="{5334217C-EAD3-DDF8-7976-E82ADB6DD383}"/>
                </a:ext>
              </a:extLst>
            </p:cNvPr>
            <p:cNvSpPr/>
            <p:nvPr/>
          </p:nvSpPr>
          <p:spPr>
            <a:xfrm>
              <a:off x="916049" y="2504654"/>
              <a:ext cx="538143" cy="566543"/>
            </a:xfrm>
            <a:prstGeom prst="flowChartProcess">
              <a:avLst/>
            </a:prstGeom>
            <a:no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0" i="0" u="none" strike="noStrike" kern="0" cap="none" spc="0" normalizeH="0" baseline="0" noProof="0">
                  <a:ln>
                    <a:noFill/>
                  </a:ln>
                  <a:solidFill>
                    <a:srgbClr val="323232"/>
                  </a:solidFill>
                  <a:effectLst/>
                  <a:uLnTx/>
                  <a:uFillTx/>
                  <a:latin typeface="BIZ UDPゴシック"/>
                  <a:ea typeface="BIZ UDPゴシック"/>
                  <a:cs typeface="+mn-cs"/>
                </a:rPr>
                <a:t>垂直</a:t>
              </a:r>
              <a:endParaRPr kumimoji="0" lang="en-US" altLang="ja-JP" sz="1050" b="0" i="0" u="none" strike="noStrike" kern="0" cap="none" spc="0" normalizeH="0" baseline="0" noProof="0">
                <a:ln>
                  <a:noFill/>
                </a:ln>
                <a:solidFill>
                  <a:srgbClr val="323232"/>
                </a:solidFill>
                <a:effectLst/>
                <a:uLnTx/>
                <a:uFillTx/>
                <a:latin typeface="BIZ UDPゴシック"/>
                <a:ea typeface="BIZ UDPゴシック"/>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0" i="0" u="none" strike="noStrike" kern="0" cap="none" spc="0" normalizeH="0" baseline="0" noProof="0">
                  <a:ln>
                    <a:noFill/>
                  </a:ln>
                  <a:solidFill>
                    <a:srgbClr val="323232"/>
                  </a:solidFill>
                  <a:effectLst/>
                  <a:uLnTx/>
                  <a:uFillTx/>
                  <a:latin typeface="BIZ UDPゴシック"/>
                  <a:ea typeface="BIZ UDPゴシック"/>
                  <a:cs typeface="+mn-cs"/>
                </a:rPr>
                <a:t>展開</a:t>
              </a:r>
              <a:endParaRPr kumimoji="0" lang="en-US" altLang="ja-JP" sz="1050" b="0" i="0" u="none" strike="noStrike" kern="0" cap="none" spc="0" normalizeH="0" baseline="0" noProof="0">
                <a:ln>
                  <a:noFill/>
                </a:ln>
                <a:solidFill>
                  <a:srgbClr val="323232"/>
                </a:solidFill>
                <a:effectLst/>
                <a:uLnTx/>
                <a:uFillTx/>
                <a:latin typeface="BIZ UDPゴシック"/>
                <a:ea typeface="BIZ UDPゴシック"/>
                <a:cs typeface="+mn-cs"/>
              </a:endParaRPr>
            </a:p>
          </p:txBody>
        </p:sp>
        <p:sp>
          <p:nvSpPr>
            <p:cNvPr id="20" name="フローチャート: 処理 19">
              <a:extLst>
                <a:ext uri="{FF2B5EF4-FFF2-40B4-BE49-F238E27FC236}">
                  <a16:creationId xmlns:a16="http://schemas.microsoft.com/office/drawing/2014/main" id="{E58066C0-B6EC-98D0-54EB-DA21BF4794A7}"/>
                </a:ext>
              </a:extLst>
            </p:cNvPr>
            <p:cNvSpPr/>
            <p:nvPr/>
          </p:nvSpPr>
          <p:spPr>
            <a:xfrm>
              <a:off x="7850372" y="6323868"/>
              <a:ext cx="944556" cy="401638"/>
            </a:xfrm>
            <a:prstGeom prst="flowChartProcess">
              <a:avLst/>
            </a:prstGeom>
            <a:noFill/>
            <a:ln w="12700" cap="flat" cmpd="sng" algn="ctr">
              <a:noFill/>
              <a:prstDash val="solid"/>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50" b="0" i="0" u="none" strike="noStrike" kern="0" cap="none" spc="0" normalizeH="0" baseline="0" noProof="0">
                  <a:ln>
                    <a:noFill/>
                  </a:ln>
                  <a:solidFill>
                    <a:srgbClr val="323232"/>
                  </a:solidFill>
                  <a:effectLst/>
                  <a:uLnTx/>
                  <a:uFillTx/>
                  <a:latin typeface="BIZ UDPゴシック"/>
                  <a:ea typeface="BIZ UDPゴシック"/>
                  <a:cs typeface="+mn-cs"/>
                </a:rPr>
                <a:t>水平展開</a:t>
              </a:r>
              <a:endParaRPr kumimoji="0" lang="en-US" altLang="ja-JP" sz="1050" b="0" i="0" u="none" strike="noStrike" kern="0" cap="none" spc="0" normalizeH="0" baseline="0" noProof="0">
                <a:ln>
                  <a:noFill/>
                </a:ln>
                <a:solidFill>
                  <a:srgbClr val="323232"/>
                </a:solidFill>
                <a:effectLst/>
                <a:uLnTx/>
                <a:uFillTx/>
                <a:latin typeface="BIZ UDPゴシック"/>
                <a:ea typeface="BIZ UDPゴシック"/>
                <a:cs typeface="+mn-cs"/>
              </a:endParaRPr>
            </a:p>
          </p:txBody>
        </p:sp>
        <p:cxnSp>
          <p:nvCxnSpPr>
            <p:cNvPr id="21" name="コネクタ: カギ線 20">
              <a:extLst>
                <a:ext uri="{FF2B5EF4-FFF2-40B4-BE49-F238E27FC236}">
                  <a16:creationId xmlns:a16="http://schemas.microsoft.com/office/drawing/2014/main" id="{AB40E7FD-F8BE-2FBC-1F9C-34B60FDF47A0}"/>
                </a:ext>
              </a:extLst>
            </p:cNvPr>
            <p:cNvCxnSpPr>
              <a:cxnSpLocks/>
              <a:stCxn id="14" idx="3"/>
              <a:endCxn id="16" idx="2"/>
            </p:cNvCxnSpPr>
            <p:nvPr/>
          </p:nvCxnSpPr>
          <p:spPr>
            <a:xfrm flipV="1">
              <a:off x="6778486" y="3076450"/>
              <a:ext cx="964426" cy="1082039"/>
            </a:xfrm>
            <a:prstGeom prst="bentConnector3">
              <a:avLst/>
            </a:prstGeom>
            <a:noFill/>
            <a:ln w="6350" cap="flat" cmpd="sng" algn="ctr">
              <a:solidFill>
                <a:srgbClr val="FF2600"/>
              </a:solidFill>
              <a:prstDash val="solid"/>
              <a:miter lim="800000"/>
              <a:headEnd type="triangle"/>
              <a:tailEnd type="triangle"/>
            </a:ln>
            <a:effectLst/>
          </p:spPr>
        </p:cxnSp>
        <p:cxnSp>
          <p:nvCxnSpPr>
            <p:cNvPr id="22" name="コネクタ: カギ線 21">
              <a:extLst>
                <a:ext uri="{FF2B5EF4-FFF2-40B4-BE49-F238E27FC236}">
                  <a16:creationId xmlns:a16="http://schemas.microsoft.com/office/drawing/2014/main" id="{A6B581DC-3ACB-8075-1852-2164886CA391}"/>
                </a:ext>
              </a:extLst>
            </p:cNvPr>
            <p:cNvCxnSpPr>
              <a:cxnSpLocks/>
              <a:stCxn id="14" idx="3"/>
              <a:endCxn id="18" idx="2"/>
            </p:cNvCxnSpPr>
            <p:nvPr/>
          </p:nvCxnSpPr>
          <p:spPr>
            <a:xfrm>
              <a:off x="6778486" y="4158489"/>
              <a:ext cx="964425" cy="522565"/>
            </a:xfrm>
            <a:prstGeom prst="bentConnector3">
              <a:avLst/>
            </a:prstGeom>
            <a:noFill/>
            <a:ln w="6350" cap="flat" cmpd="sng" algn="ctr">
              <a:solidFill>
                <a:srgbClr val="FF2600"/>
              </a:solidFill>
              <a:prstDash val="solid"/>
              <a:miter lim="800000"/>
              <a:headEnd type="triangle"/>
              <a:tailEnd type="triangle"/>
            </a:ln>
            <a:effectLst/>
          </p:spPr>
        </p:cxnSp>
        <p:cxnSp>
          <p:nvCxnSpPr>
            <p:cNvPr id="23" name="コネクタ: カギ線 22">
              <a:extLst>
                <a:ext uri="{FF2B5EF4-FFF2-40B4-BE49-F238E27FC236}">
                  <a16:creationId xmlns:a16="http://schemas.microsoft.com/office/drawing/2014/main" id="{8913AED5-DC7F-01E0-1560-C690C71E1545}"/>
                </a:ext>
              </a:extLst>
            </p:cNvPr>
            <p:cNvCxnSpPr>
              <a:cxnSpLocks/>
              <a:stCxn id="14" idx="3"/>
              <a:endCxn id="17" idx="2"/>
            </p:cNvCxnSpPr>
            <p:nvPr/>
          </p:nvCxnSpPr>
          <p:spPr>
            <a:xfrm flipV="1">
              <a:off x="6778486" y="3878752"/>
              <a:ext cx="964425" cy="279737"/>
            </a:xfrm>
            <a:prstGeom prst="bentConnector3">
              <a:avLst/>
            </a:prstGeom>
            <a:noFill/>
            <a:ln w="6350" cap="flat" cmpd="sng" algn="ctr">
              <a:solidFill>
                <a:srgbClr val="FF2600"/>
              </a:solidFill>
              <a:prstDash val="solid"/>
              <a:miter lim="800000"/>
              <a:headEnd type="triangle"/>
              <a:tailEnd type="triangle"/>
            </a:ln>
            <a:effectLst/>
          </p:spPr>
        </p:cxnSp>
        <p:sp>
          <p:nvSpPr>
            <p:cNvPr id="24" name="矢印: 上下 23">
              <a:extLst>
                <a:ext uri="{FF2B5EF4-FFF2-40B4-BE49-F238E27FC236}">
                  <a16:creationId xmlns:a16="http://schemas.microsoft.com/office/drawing/2014/main" id="{5F7F5334-7CFF-CCBD-DFEE-986E8E2C17E3}"/>
                </a:ext>
              </a:extLst>
            </p:cNvPr>
            <p:cNvSpPr/>
            <p:nvPr/>
          </p:nvSpPr>
          <p:spPr>
            <a:xfrm>
              <a:off x="3953770" y="4413371"/>
              <a:ext cx="150870" cy="650056"/>
            </a:xfrm>
            <a:prstGeom prst="upDownArrow">
              <a:avLst/>
            </a:prstGeom>
            <a:solidFill>
              <a:srgbClr val="FF2600"/>
            </a:solidFill>
            <a:ln w="12700" cap="flat" cmpd="sng" algn="ctr">
              <a:solidFill>
                <a:srgbClr val="FF2600"/>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endParaRPr kumimoji="0" lang="ja-JP" altLang="en-US" sz="1100" b="1" i="0" u="none" strike="noStrike" kern="0" cap="none" spc="0" normalizeH="0" baseline="0" noProof="0">
                <a:ln>
                  <a:noFill/>
                </a:ln>
                <a:solidFill>
                  <a:srgbClr val="FFFFFF"/>
                </a:solidFill>
                <a:effectLst/>
                <a:uLnTx/>
                <a:uFillTx/>
                <a:latin typeface="Arial"/>
                <a:ea typeface="BIZ UDPゴシック"/>
                <a:cs typeface="+mn-cs"/>
              </a:endParaRPr>
            </a:p>
          </p:txBody>
        </p:sp>
        <p:sp>
          <p:nvSpPr>
            <p:cNvPr id="25" name="矢印: 上下 24">
              <a:extLst>
                <a:ext uri="{FF2B5EF4-FFF2-40B4-BE49-F238E27FC236}">
                  <a16:creationId xmlns:a16="http://schemas.microsoft.com/office/drawing/2014/main" id="{269ABCD1-0C58-10FB-5217-D92CB1BD6392}"/>
                </a:ext>
              </a:extLst>
            </p:cNvPr>
            <p:cNvSpPr/>
            <p:nvPr/>
          </p:nvSpPr>
          <p:spPr>
            <a:xfrm>
              <a:off x="3922049" y="3309895"/>
              <a:ext cx="204464" cy="650056"/>
            </a:xfrm>
            <a:prstGeom prst="upDownArrow">
              <a:avLst/>
            </a:prstGeom>
            <a:solidFill>
              <a:srgbClr val="FF2600"/>
            </a:solidFill>
            <a:ln w="12700" cap="flat" cmpd="sng" algn="ctr">
              <a:solidFill>
                <a:srgbClr val="FF2600"/>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endParaRPr kumimoji="0" lang="ja-JP" altLang="en-US" sz="1100" b="1" i="0" u="none" strike="noStrike" kern="0" cap="none" spc="0" normalizeH="0" baseline="0" noProof="0">
                <a:ln>
                  <a:noFill/>
                </a:ln>
                <a:solidFill>
                  <a:srgbClr val="FFFFFF"/>
                </a:solidFill>
                <a:effectLst/>
                <a:uLnTx/>
                <a:uFillTx/>
                <a:latin typeface="Arial"/>
                <a:ea typeface="BIZ UDPゴシック"/>
                <a:cs typeface="+mn-cs"/>
              </a:endParaRPr>
            </a:p>
          </p:txBody>
        </p:sp>
        <p:sp>
          <p:nvSpPr>
            <p:cNvPr id="26" name="楕円 25">
              <a:extLst>
                <a:ext uri="{FF2B5EF4-FFF2-40B4-BE49-F238E27FC236}">
                  <a16:creationId xmlns:a16="http://schemas.microsoft.com/office/drawing/2014/main" id="{04A10697-554C-B3AE-1386-4A30B460AD3D}"/>
                </a:ext>
              </a:extLst>
            </p:cNvPr>
            <p:cNvSpPr/>
            <p:nvPr/>
          </p:nvSpPr>
          <p:spPr>
            <a:xfrm>
              <a:off x="4156188" y="4571106"/>
              <a:ext cx="330825" cy="319096"/>
            </a:xfrm>
            <a:prstGeom prst="ellipse">
              <a:avLst/>
            </a:prstGeom>
            <a:solidFill>
              <a:srgbClr val="FF2600"/>
            </a:solidFill>
            <a:ln w="12700" cap="flat" cmpd="sng" algn="ctr">
              <a:solidFill>
                <a:srgbClr val="FF2600"/>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FFFF"/>
                  </a:solidFill>
                  <a:effectLst/>
                  <a:uLnTx/>
                  <a:uFillTx/>
                  <a:latin typeface="Arial"/>
                  <a:ea typeface="BIZ UDPゴシック"/>
                  <a:cs typeface="+mn-cs"/>
                </a:rPr>
                <a:t>１</a:t>
              </a:r>
              <a:endParaRPr kumimoji="0" lang="en-US" altLang="ja-JP" sz="1200" b="1" i="0" u="none" strike="noStrike" kern="0" cap="none" spc="0" normalizeH="0" baseline="0" noProof="0">
                <a:ln>
                  <a:noFill/>
                </a:ln>
                <a:solidFill>
                  <a:srgbClr val="FFFFFF"/>
                </a:solidFill>
                <a:effectLst/>
                <a:uLnTx/>
                <a:uFillTx/>
                <a:latin typeface="Arial"/>
                <a:ea typeface="BIZ UDPゴシック"/>
                <a:cs typeface="+mn-cs"/>
              </a:endParaRPr>
            </a:p>
          </p:txBody>
        </p:sp>
        <p:sp>
          <p:nvSpPr>
            <p:cNvPr id="27" name="楕円 26">
              <a:extLst>
                <a:ext uri="{FF2B5EF4-FFF2-40B4-BE49-F238E27FC236}">
                  <a16:creationId xmlns:a16="http://schemas.microsoft.com/office/drawing/2014/main" id="{6EBB23BB-B3B8-16D7-AB2D-F7AFF745B2C2}"/>
                </a:ext>
              </a:extLst>
            </p:cNvPr>
            <p:cNvSpPr/>
            <p:nvPr/>
          </p:nvSpPr>
          <p:spPr>
            <a:xfrm>
              <a:off x="6864992" y="3272590"/>
              <a:ext cx="330825" cy="319096"/>
            </a:xfrm>
            <a:prstGeom prst="ellipse">
              <a:avLst/>
            </a:prstGeom>
            <a:solidFill>
              <a:srgbClr val="FF2600"/>
            </a:solidFill>
            <a:ln w="12700" cap="flat" cmpd="sng" algn="ctr">
              <a:solidFill>
                <a:srgbClr val="FF2600"/>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FFFF"/>
                  </a:solidFill>
                  <a:effectLst/>
                  <a:uLnTx/>
                  <a:uFillTx/>
                  <a:latin typeface="Arial"/>
                  <a:ea typeface="BIZ UDPゴシック"/>
                  <a:cs typeface="+mn-cs"/>
                </a:rPr>
                <a:t>２</a:t>
              </a:r>
              <a:endParaRPr kumimoji="0" lang="en-US" altLang="ja-JP" sz="1200" b="1" i="0" u="none" strike="noStrike" kern="0" cap="none" spc="0" normalizeH="0" baseline="0" noProof="0">
                <a:ln>
                  <a:noFill/>
                </a:ln>
                <a:solidFill>
                  <a:srgbClr val="FFFFFF"/>
                </a:solidFill>
                <a:effectLst/>
                <a:uLnTx/>
                <a:uFillTx/>
                <a:latin typeface="Arial"/>
                <a:ea typeface="BIZ UDPゴシック"/>
                <a:cs typeface="+mn-cs"/>
              </a:endParaRPr>
            </a:p>
          </p:txBody>
        </p:sp>
        <p:sp>
          <p:nvSpPr>
            <p:cNvPr id="28" name="楕円 27">
              <a:extLst>
                <a:ext uri="{FF2B5EF4-FFF2-40B4-BE49-F238E27FC236}">
                  <a16:creationId xmlns:a16="http://schemas.microsoft.com/office/drawing/2014/main" id="{52A8B4D6-F28B-B6BA-9B57-DC78DE443004}"/>
                </a:ext>
              </a:extLst>
            </p:cNvPr>
            <p:cNvSpPr/>
            <p:nvPr/>
          </p:nvSpPr>
          <p:spPr>
            <a:xfrm>
              <a:off x="4172936" y="3414778"/>
              <a:ext cx="330825" cy="319096"/>
            </a:xfrm>
            <a:prstGeom prst="ellipse">
              <a:avLst/>
            </a:prstGeom>
            <a:solidFill>
              <a:srgbClr val="FF2600"/>
            </a:solidFill>
            <a:ln w="12700" cap="flat" cmpd="sng" algn="ctr">
              <a:solidFill>
                <a:srgbClr val="FF2600"/>
              </a:solidFill>
              <a:prstDash val="solid"/>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200" b="1" i="0" u="none" strike="noStrike" kern="0" cap="none" spc="0" normalizeH="0" baseline="0" noProof="0">
                  <a:ln>
                    <a:noFill/>
                  </a:ln>
                  <a:solidFill>
                    <a:srgbClr val="FFFFFF"/>
                  </a:solidFill>
                  <a:effectLst/>
                  <a:uLnTx/>
                  <a:uFillTx/>
                  <a:latin typeface="BIZ UDPゴシック"/>
                  <a:ea typeface="BIZ UDPゴシック"/>
                  <a:cs typeface="+mn-cs"/>
                </a:rPr>
                <a:t>3</a:t>
              </a:r>
            </a:p>
          </p:txBody>
        </p:sp>
        <p:cxnSp>
          <p:nvCxnSpPr>
            <p:cNvPr id="29" name="コネクタ: カギ線 28">
              <a:extLst>
                <a:ext uri="{FF2B5EF4-FFF2-40B4-BE49-F238E27FC236}">
                  <a16:creationId xmlns:a16="http://schemas.microsoft.com/office/drawing/2014/main" id="{FB3A44BF-FB1E-244C-793A-915427892D05}"/>
                </a:ext>
              </a:extLst>
            </p:cNvPr>
            <p:cNvCxnSpPr>
              <a:cxnSpLocks/>
              <a:stCxn id="5" idx="2"/>
              <a:endCxn id="8" idx="3"/>
            </p:cNvCxnSpPr>
            <p:nvPr/>
          </p:nvCxnSpPr>
          <p:spPr>
            <a:xfrm rot="5400000">
              <a:off x="7562457" y="5010549"/>
              <a:ext cx="451233" cy="786714"/>
            </a:xfrm>
            <a:prstGeom prst="bentConnector2">
              <a:avLst/>
            </a:prstGeom>
            <a:noFill/>
            <a:ln w="6350" cap="flat" cmpd="sng" algn="ctr">
              <a:solidFill>
                <a:srgbClr val="FF2600"/>
              </a:solidFill>
              <a:prstDash val="solid"/>
              <a:miter lim="800000"/>
              <a:headEnd type="triangle"/>
              <a:tailEnd type="triangle"/>
            </a:ln>
            <a:effectLst/>
          </p:spPr>
        </p:cxnSp>
        <p:sp>
          <p:nvSpPr>
            <p:cNvPr id="30" name="四角形: 角を丸くする 29">
              <a:extLst>
                <a:ext uri="{FF2B5EF4-FFF2-40B4-BE49-F238E27FC236}">
                  <a16:creationId xmlns:a16="http://schemas.microsoft.com/office/drawing/2014/main" id="{D9F61314-8569-E96C-9C45-8801F09750A4}"/>
                </a:ext>
              </a:extLst>
            </p:cNvPr>
            <p:cNvSpPr/>
            <p:nvPr/>
          </p:nvSpPr>
          <p:spPr>
            <a:xfrm>
              <a:off x="1664113" y="6406058"/>
              <a:ext cx="889052" cy="649438"/>
            </a:xfrm>
            <a:prstGeom prst="roundRect">
              <a:avLst/>
            </a:prstGeom>
            <a:solidFill>
              <a:srgbClr val="FFFFFF"/>
            </a:solidFill>
            <a:ln w="12700" cap="flat" cmpd="sng" algn="ctr">
              <a:solidFill>
                <a:srgbClr val="FFFFFF">
                  <a:lumMod val="50000"/>
                </a:srgbClr>
              </a:solidFill>
              <a:prstDash val="dash"/>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100" b="1" i="0" u="none" strike="noStrike" kern="0" cap="none" spc="0" normalizeH="0" baseline="0" noProof="0">
                  <a:ln>
                    <a:noFill/>
                  </a:ln>
                  <a:solidFill>
                    <a:srgbClr val="323232"/>
                  </a:solidFill>
                  <a:effectLst/>
                  <a:uLnTx/>
                  <a:uFillTx/>
                  <a:latin typeface="Arial"/>
                  <a:ea typeface="BIZ UDPゴシック"/>
                  <a:cs typeface="+mn-cs"/>
                </a:rPr>
                <a:t>信託業務</a:t>
              </a:r>
              <a:endParaRPr kumimoji="0" lang="en-US" altLang="ja-JP" sz="1100" b="1" i="0" u="none" strike="noStrike" kern="0" cap="none" spc="0" normalizeH="0" baseline="0" noProof="0">
                <a:ln>
                  <a:noFill/>
                </a:ln>
                <a:solidFill>
                  <a:srgbClr val="323232"/>
                </a:solidFill>
                <a:effectLst/>
                <a:uLnTx/>
                <a:uFillTx/>
                <a:latin typeface="Arial"/>
                <a:ea typeface="BIZ UDPゴシック"/>
                <a:cs typeface="+mn-cs"/>
              </a:endParaRPr>
            </a:p>
          </p:txBody>
        </p:sp>
        <p:sp>
          <p:nvSpPr>
            <p:cNvPr id="31" name="四角形: 角を丸くする 30">
              <a:extLst>
                <a:ext uri="{FF2B5EF4-FFF2-40B4-BE49-F238E27FC236}">
                  <a16:creationId xmlns:a16="http://schemas.microsoft.com/office/drawing/2014/main" id="{66655796-21AD-63F2-02DE-74546260B54E}"/>
                </a:ext>
              </a:extLst>
            </p:cNvPr>
            <p:cNvSpPr/>
            <p:nvPr/>
          </p:nvSpPr>
          <p:spPr>
            <a:xfrm>
              <a:off x="3578425" y="6400787"/>
              <a:ext cx="889052" cy="649438"/>
            </a:xfrm>
            <a:prstGeom prst="roundRect">
              <a:avLst/>
            </a:prstGeom>
            <a:solidFill>
              <a:srgbClr val="FFFFFF"/>
            </a:solidFill>
            <a:ln w="12700" cap="flat" cmpd="sng" algn="ctr">
              <a:solidFill>
                <a:srgbClr val="FFFFFF">
                  <a:lumMod val="50000"/>
                </a:srgbClr>
              </a:solidFill>
              <a:prstDash val="dash"/>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海外</a:t>
              </a:r>
              <a:r>
                <a:rPr kumimoji="0" lang="en-US" altLang="ja-JP" sz="1000" b="1" i="0" u="none" strike="noStrike" kern="0" cap="none" spc="0" normalizeH="0" baseline="0" noProof="0">
                  <a:ln>
                    <a:noFill/>
                  </a:ln>
                  <a:solidFill>
                    <a:srgbClr val="323232"/>
                  </a:solidFill>
                  <a:effectLst/>
                  <a:uLnTx/>
                  <a:uFillTx/>
                  <a:latin typeface="Arial"/>
                  <a:ea typeface="BIZ UDPゴシック"/>
                  <a:cs typeface="+mn-cs"/>
                </a:rPr>
                <a:t>IS</a:t>
              </a: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事業</a:t>
              </a:r>
              <a:endParaRPr kumimoji="0" lang="en-US" altLang="ja-JP" sz="1000" b="1" i="0" u="none" strike="noStrike" kern="0" cap="none" spc="0" normalizeH="0" baseline="0" noProof="0">
                <a:ln>
                  <a:noFill/>
                </a:ln>
                <a:solidFill>
                  <a:srgbClr val="323232"/>
                </a:solidFill>
                <a:effectLst/>
                <a:uLnTx/>
                <a:uFillTx/>
                <a:latin typeface="Arial"/>
                <a:ea typeface="BIZ UDPゴシック"/>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（国内アドミ）</a:t>
              </a:r>
              <a:endParaRPr kumimoji="0" lang="en-US" altLang="ja-JP" sz="1000" b="1" i="0" u="none" strike="noStrike" kern="0" cap="none" spc="0" normalizeH="0" baseline="0" noProof="0">
                <a:ln>
                  <a:noFill/>
                </a:ln>
                <a:solidFill>
                  <a:srgbClr val="323232"/>
                </a:solidFill>
                <a:effectLst/>
                <a:uLnTx/>
                <a:uFillTx/>
                <a:latin typeface="Arial"/>
                <a:ea typeface="BIZ UDPゴシック"/>
                <a:cs typeface="+mn-cs"/>
              </a:endParaRPr>
            </a:p>
          </p:txBody>
        </p:sp>
        <p:sp>
          <p:nvSpPr>
            <p:cNvPr id="32" name="四角形: 角を丸くする 31">
              <a:extLst>
                <a:ext uri="{FF2B5EF4-FFF2-40B4-BE49-F238E27FC236}">
                  <a16:creationId xmlns:a16="http://schemas.microsoft.com/office/drawing/2014/main" id="{913BE2E0-A8DB-5DCA-0D8F-C7C0B1C3192B}"/>
                </a:ext>
              </a:extLst>
            </p:cNvPr>
            <p:cNvSpPr/>
            <p:nvPr/>
          </p:nvSpPr>
          <p:spPr>
            <a:xfrm>
              <a:off x="4523848" y="6407537"/>
              <a:ext cx="889052" cy="649438"/>
            </a:xfrm>
            <a:prstGeom prst="roundRect">
              <a:avLst/>
            </a:prstGeom>
            <a:solidFill>
              <a:srgbClr val="FFFFFF"/>
            </a:solidFill>
            <a:ln w="12700" cap="flat" cmpd="sng" algn="ctr">
              <a:solidFill>
                <a:srgbClr val="FFFFFF">
                  <a:lumMod val="50000"/>
                </a:srgbClr>
              </a:solidFill>
              <a:prstDash val="dash"/>
              <a:miter lim="800000"/>
            </a:ln>
            <a:effectLst/>
          </p:spPr>
          <p:txBody>
            <a:bodyPr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海外</a:t>
              </a:r>
              <a:r>
                <a:rPr kumimoji="0" lang="en-US" altLang="ja-JP" sz="1000" b="1" i="0" u="none" strike="noStrike" kern="0" cap="none" spc="0" normalizeH="0" baseline="0" noProof="0">
                  <a:ln>
                    <a:noFill/>
                  </a:ln>
                  <a:solidFill>
                    <a:srgbClr val="323232"/>
                  </a:solidFill>
                  <a:effectLst/>
                  <a:uLnTx/>
                  <a:uFillTx/>
                  <a:latin typeface="Arial"/>
                  <a:ea typeface="BIZ UDPゴシック"/>
                  <a:cs typeface="+mn-cs"/>
                </a:rPr>
                <a:t>IS</a:t>
              </a: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事業</a:t>
              </a:r>
              <a:endParaRPr kumimoji="0" lang="en-US" altLang="ja-JP" sz="1000" b="1" i="0" u="none" strike="noStrike" kern="0" cap="none" spc="0" normalizeH="0" baseline="0" noProof="0">
                <a:ln>
                  <a:noFill/>
                </a:ln>
                <a:solidFill>
                  <a:srgbClr val="323232"/>
                </a:solidFill>
                <a:effectLst/>
                <a:uLnTx/>
                <a:uFillTx/>
                <a:latin typeface="Arial"/>
                <a:ea typeface="BIZ UDPゴシック"/>
                <a:cs typeface="+mn-cs"/>
              </a:endParaRPr>
            </a:p>
          </p:txBody>
        </p:sp>
        <p:sp>
          <p:nvSpPr>
            <p:cNvPr id="33" name="四角形: 角を丸くする 32">
              <a:extLst>
                <a:ext uri="{FF2B5EF4-FFF2-40B4-BE49-F238E27FC236}">
                  <a16:creationId xmlns:a16="http://schemas.microsoft.com/office/drawing/2014/main" id="{B59B8825-4792-2301-4B55-1EF6199919FE}"/>
                </a:ext>
              </a:extLst>
            </p:cNvPr>
            <p:cNvSpPr/>
            <p:nvPr/>
          </p:nvSpPr>
          <p:spPr>
            <a:xfrm>
              <a:off x="5513236" y="6400787"/>
              <a:ext cx="889052" cy="649438"/>
            </a:xfrm>
            <a:prstGeom prst="roundRect">
              <a:avLst/>
            </a:prstGeom>
            <a:solidFill>
              <a:srgbClr val="FFFFFF"/>
            </a:solidFill>
            <a:ln w="12700" cap="flat" cmpd="sng" algn="ctr">
              <a:solidFill>
                <a:srgbClr val="FFFFFF">
                  <a:lumMod val="50000"/>
                </a:srgbClr>
              </a:solidFill>
              <a:prstDash val="dash"/>
              <a:miter lim="800000"/>
            </a:ln>
            <a:effectLst/>
          </p:spPr>
          <p:txBody>
            <a:bodyPr wrap="none" rtlCol="0" anchor="ct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有価証券管理</a:t>
              </a:r>
              <a:endParaRPr kumimoji="0" lang="en-US" altLang="ja-JP" sz="1000" b="1" i="0" u="none" strike="noStrike" kern="0" cap="none" spc="0" normalizeH="0" baseline="0" noProof="0">
                <a:ln>
                  <a:noFill/>
                </a:ln>
                <a:solidFill>
                  <a:srgbClr val="323232"/>
                </a:solidFill>
                <a:effectLst/>
                <a:uLnTx/>
                <a:uFillTx/>
                <a:latin typeface="Arial"/>
                <a:ea typeface="BIZ UDPゴシック"/>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サービス</a:t>
              </a:r>
              <a:endParaRPr kumimoji="0" lang="en-US" altLang="ja-JP" sz="1000" b="1" i="0" u="none" strike="noStrike" kern="0" cap="none" spc="0" normalizeH="0" baseline="0" noProof="0">
                <a:ln>
                  <a:noFill/>
                </a:ln>
                <a:solidFill>
                  <a:srgbClr val="323232"/>
                </a:solidFill>
                <a:effectLst/>
                <a:uLnTx/>
                <a:uFillTx/>
                <a:latin typeface="Arial"/>
                <a:ea typeface="BIZ UDPゴシック"/>
                <a:cs typeface="+mn-cs"/>
              </a:endParaRPr>
            </a:p>
          </p:txBody>
        </p:sp>
        <p:sp>
          <p:nvSpPr>
            <p:cNvPr id="34" name="四角形: 角を丸くする 33">
              <a:extLst>
                <a:ext uri="{FF2B5EF4-FFF2-40B4-BE49-F238E27FC236}">
                  <a16:creationId xmlns:a16="http://schemas.microsoft.com/office/drawing/2014/main" id="{1A661D0C-D59D-3704-8EE1-84391F91AE3C}"/>
                </a:ext>
              </a:extLst>
            </p:cNvPr>
            <p:cNvSpPr/>
            <p:nvPr/>
          </p:nvSpPr>
          <p:spPr>
            <a:xfrm>
              <a:off x="8919975" y="3540423"/>
              <a:ext cx="889052" cy="649438"/>
            </a:xfrm>
            <a:prstGeom prst="roundRect">
              <a:avLst/>
            </a:prstGeom>
            <a:solidFill>
              <a:srgbClr val="FFFFFF"/>
            </a:solidFill>
            <a:ln w="12700" cap="flat" cmpd="sng" algn="ctr">
              <a:solidFill>
                <a:srgbClr val="FFFFFF">
                  <a:lumMod val="50000"/>
                </a:srgbClr>
              </a:solidFill>
              <a:prstDash val="dash"/>
              <a:miter lim="800000"/>
            </a:ln>
            <a:effectLst/>
          </p:spPr>
          <p:txBody>
            <a:bodyPr rtlCol="0" anchor="ctr"/>
            <a:lstStyle/>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信託業務</a:t>
              </a:r>
              <a:endParaRPr kumimoji="0" lang="en-US" altLang="ja-JP" sz="1000" b="1" i="0" u="none" strike="noStrike" kern="0" cap="none" spc="0" normalizeH="0" baseline="0" noProof="0">
                <a:ln>
                  <a:noFill/>
                </a:ln>
                <a:solidFill>
                  <a:srgbClr val="323232"/>
                </a:solidFill>
                <a:effectLst/>
                <a:uLnTx/>
                <a:uFillTx/>
                <a:latin typeface="Arial"/>
                <a:ea typeface="BIZ UDPゴシック"/>
                <a:cs typeface="+mn-cs"/>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海外</a:t>
              </a:r>
              <a:r>
                <a:rPr kumimoji="0" lang="en-US" altLang="ja-JP" sz="1000" b="1" i="0" u="none" strike="noStrike" kern="0" cap="none" spc="0" normalizeH="0" baseline="0" noProof="0">
                  <a:ln>
                    <a:noFill/>
                  </a:ln>
                  <a:solidFill>
                    <a:srgbClr val="323232"/>
                  </a:solidFill>
                  <a:effectLst/>
                  <a:uLnTx/>
                  <a:uFillTx/>
                  <a:latin typeface="Arial"/>
                  <a:ea typeface="BIZ UDPゴシック"/>
                  <a:cs typeface="+mn-cs"/>
                </a:rPr>
                <a:t>IS</a:t>
              </a: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事業</a:t>
              </a:r>
              <a:endParaRPr kumimoji="0" lang="en-US" altLang="ja-JP" sz="1000" b="1" i="0" u="none" strike="noStrike" kern="0" cap="none" spc="0" normalizeH="0" baseline="0" noProof="0">
                <a:ln>
                  <a:noFill/>
                </a:ln>
                <a:solidFill>
                  <a:srgbClr val="323232"/>
                </a:solidFill>
                <a:effectLst/>
                <a:uLnTx/>
                <a:uFillTx/>
                <a:latin typeface="Arial"/>
                <a:ea typeface="BIZ UDPゴシック"/>
                <a:cs typeface="+mn-cs"/>
              </a:endParaRPr>
            </a:p>
          </p:txBody>
        </p:sp>
        <p:sp>
          <p:nvSpPr>
            <p:cNvPr id="35" name="四角形: 角を丸くする 34">
              <a:extLst>
                <a:ext uri="{FF2B5EF4-FFF2-40B4-BE49-F238E27FC236}">
                  <a16:creationId xmlns:a16="http://schemas.microsoft.com/office/drawing/2014/main" id="{802822FC-8A22-00BF-BF3B-74D8E1C09548}"/>
                </a:ext>
              </a:extLst>
            </p:cNvPr>
            <p:cNvSpPr/>
            <p:nvPr/>
          </p:nvSpPr>
          <p:spPr>
            <a:xfrm>
              <a:off x="8919975" y="2746478"/>
              <a:ext cx="889052" cy="649438"/>
            </a:xfrm>
            <a:prstGeom prst="roundRect">
              <a:avLst/>
            </a:prstGeom>
            <a:solidFill>
              <a:srgbClr val="FFFFFF"/>
            </a:solidFill>
            <a:ln w="12700" cap="flat" cmpd="sng" algn="ctr">
              <a:solidFill>
                <a:srgbClr val="FFFFFF">
                  <a:lumMod val="50000"/>
                </a:srgbClr>
              </a:solidFill>
              <a:prstDash val="dash"/>
              <a:miter lim="800000"/>
            </a:ln>
            <a:effectLst/>
          </p:spPr>
          <p:txBody>
            <a:bodyPr rtlCol="0" anchor="ctr"/>
            <a:lstStyle/>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為替業務</a:t>
              </a:r>
              <a:endParaRPr kumimoji="0" lang="en-US" altLang="ja-JP" sz="1000" b="1" i="0" u="none" strike="noStrike" kern="0" cap="none" spc="0" normalizeH="0" baseline="0" noProof="0">
                <a:ln>
                  <a:noFill/>
                </a:ln>
                <a:solidFill>
                  <a:srgbClr val="323232"/>
                </a:solidFill>
                <a:effectLst/>
                <a:uLnTx/>
                <a:uFillTx/>
                <a:latin typeface="Arial"/>
                <a:ea typeface="BIZ UDPゴシック"/>
                <a:cs typeface="+mn-cs"/>
              </a:endParaRPr>
            </a:p>
          </p:txBody>
        </p:sp>
        <p:sp>
          <p:nvSpPr>
            <p:cNvPr id="36" name="四角形: 角を丸くする 35">
              <a:extLst>
                <a:ext uri="{FF2B5EF4-FFF2-40B4-BE49-F238E27FC236}">
                  <a16:creationId xmlns:a16="http://schemas.microsoft.com/office/drawing/2014/main" id="{3A492B99-5A41-B511-8A8B-ECFA91B55BDC}"/>
                </a:ext>
              </a:extLst>
            </p:cNvPr>
            <p:cNvSpPr/>
            <p:nvPr/>
          </p:nvSpPr>
          <p:spPr>
            <a:xfrm>
              <a:off x="8919975" y="4341490"/>
              <a:ext cx="889052" cy="649438"/>
            </a:xfrm>
            <a:prstGeom prst="roundRect">
              <a:avLst/>
            </a:prstGeom>
            <a:solidFill>
              <a:srgbClr val="FFFFFF"/>
            </a:solidFill>
            <a:ln w="12700" cap="flat" cmpd="sng" algn="ctr">
              <a:solidFill>
                <a:srgbClr val="FFFFFF">
                  <a:lumMod val="50000"/>
                </a:srgbClr>
              </a:solidFill>
              <a:prstDash val="dash"/>
              <a:miter lim="800000"/>
            </a:ln>
            <a:effectLst/>
          </p:spPr>
          <p:txBody>
            <a:bodyPr wrap="none" rtlCol="0" anchor="ctr"/>
            <a:lstStyle/>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ファンド</a:t>
              </a:r>
              <a:endParaRPr kumimoji="0" lang="en-US" altLang="ja-JP" sz="1000" b="1" i="0" u="none" strike="noStrike" kern="0" cap="none" spc="0" normalizeH="0" baseline="0" noProof="0">
                <a:ln>
                  <a:noFill/>
                </a:ln>
                <a:solidFill>
                  <a:srgbClr val="323232"/>
                </a:solidFill>
                <a:effectLst/>
                <a:uLnTx/>
                <a:uFillTx/>
                <a:latin typeface="Arial"/>
                <a:ea typeface="BIZ UDPゴシック"/>
                <a:cs typeface="+mn-cs"/>
              </a:endParaRPr>
            </a:p>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000" b="1" i="0" u="none" strike="noStrike" kern="0" cap="none" spc="0" normalizeH="0" baseline="0" noProof="0">
                  <a:ln>
                    <a:noFill/>
                  </a:ln>
                  <a:solidFill>
                    <a:srgbClr val="323232"/>
                  </a:solidFill>
                  <a:effectLst/>
                  <a:uLnTx/>
                  <a:uFillTx/>
                  <a:latin typeface="Arial"/>
                  <a:ea typeface="BIZ UDPゴシック"/>
                  <a:cs typeface="+mn-cs"/>
                </a:rPr>
                <a:t>ファイナンス</a:t>
              </a:r>
              <a:endParaRPr kumimoji="0" lang="en-US" altLang="ja-JP" sz="1000" b="1" i="0" u="none" strike="noStrike" kern="0" cap="none" spc="0" normalizeH="0" baseline="0" noProof="0">
                <a:ln>
                  <a:noFill/>
                </a:ln>
                <a:solidFill>
                  <a:srgbClr val="323232"/>
                </a:solidFill>
                <a:effectLst/>
                <a:uLnTx/>
                <a:uFillTx/>
                <a:latin typeface="Arial"/>
                <a:ea typeface="BIZ UDPゴシック"/>
                <a:cs typeface="+mn-cs"/>
              </a:endParaRPr>
            </a:p>
          </p:txBody>
        </p:sp>
        <p:sp>
          <p:nvSpPr>
            <p:cNvPr id="37" name="正方形/長方形 36">
              <a:extLst>
                <a:ext uri="{FF2B5EF4-FFF2-40B4-BE49-F238E27FC236}">
                  <a16:creationId xmlns:a16="http://schemas.microsoft.com/office/drawing/2014/main" id="{0A657B1C-96AB-D6F2-4696-A04D4DF2942A}"/>
                </a:ext>
              </a:extLst>
            </p:cNvPr>
            <p:cNvSpPr/>
            <p:nvPr/>
          </p:nvSpPr>
          <p:spPr>
            <a:xfrm>
              <a:off x="4534981" y="4528432"/>
              <a:ext cx="1525810" cy="408976"/>
            </a:xfrm>
            <a:prstGeom prst="rect">
              <a:avLst/>
            </a:prstGeom>
            <a:noFill/>
            <a:ln w="12700" cap="flat" cmpd="sng" algn="ctr">
              <a:noFill/>
              <a:prstDash val="solid"/>
              <a:miter lim="800000"/>
            </a:ln>
            <a:effectLst/>
          </p:spPr>
          <p:txBody>
            <a:bodyPr rtlCol="0" anchor="ctr"/>
            <a:lstStyle/>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2600"/>
                  </a:solidFill>
                  <a:effectLst/>
                  <a:uLnTx/>
                  <a:uFillTx/>
                  <a:latin typeface="Arial"/>
                  <a:ea typeface="BIZ UDPゴシック"/>
                  <a:cs typeface="+mn-cs"/>
                </a:rPr>
                <a:t>データ生成サイドへのニーズ還元</a:t>
              </a:r>
            </a:p>
          </p:txBody>
        </p:sp>
        <p:sp>
          <p:nvSpPr>
            <p:cNvPr id="38" name="正方形/長方形 37">
              <a:extLst>
                <a:ext uri="{FF2B5EF4-FFF2-40B4-BE49-F238E27FC236}">
                  <a16:creationId xmlns:a16="http://schemas.microsoft.com/office/drawing/2014/main" id="{FBA9AE3F-D602-C9C9-199B-317F199F14E3}"/>
                </a:ext>
              </a:extLst>
            </p:cNvPr>
            <p:cNvSpPr/>
            <p:nvPr/>
          </p:nvSpPr>
          <p:spPr>
            <a:xfrm>
              <a:off x="4534981" y="3383327"/>
              <a:ext cx="1525810" cy="408976"/>
            </a:xfrm>
            <a:prstGeom prst="rect">
              <a:avLst/>
            </a:prstGeom>
            <a:noFill/>
            <a:ln w="12700" cap="flat" cmpd="sng" algn="ctr">
              <a:noFill/>
              <a:prstDash val="solid"/>
              <a:miter lim="800000"/>
            </a:ln>
            <a:effectLst/>
          </p:spPr>
          <p:txBody>
            <a:bodyPr rtlCol="0" anchor="ctr"/>
            <a:lstStyle/>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2600"/>
                  </a:solidFill>
                  <a:effectLst/>
                  <a:uLnTx/>
                  <a:uFillTx/>
                  <a:latin typeface="Arial"/>
                  <a:ea typeface="BIZ UDPゴシック"/>
                  <a:cs typeface="+mn-cs"/>
                </a:rPr>
                <a:t>顧客業務への理解</a:t>
              </a:r>
              <a:endParaRPr kumimoji="0" lang="en-US" altLang="ja-JP" sz="1200" b="1" i="0" u="none" strike="noStrike" kern="0" cap="none" spc="0" normalizeH="0" baseline="0" noProof="0">
                <a:ln>
                  <a:noFill/>
                </a:ln>
                <a:solidFill>
                  <a:srgbClr val="FF2600"/>
                </a:solidFill>
                <a:effectLst/>
                <a:uLnTx/>
                <a:uFillTx/>
                <a:latin typeface="Arial"/>
                <a:ea typeface="BIZ UDPゴシック"/>
                <a:cs typeface="+mn-cs"/>
              </a:endParaRPr>
            </a:p>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2600"/>
                  </a:solidFill>
                  <a:effectLst/>
                  <a:uLnTx/>
                  <a:uFillTx/>
                  <a:latin typeface="Arial"/>
                  <a:ea typeface="BIZ UDPゴシック"/>
                  <a:cs typeface="+mn-cs"/>
                </a:rPr>
                <a:t>（関係者・業務接点の増加）</a:t>
              </a:r>
            </a:p>
          </p:txBody>
        </p:sp>
        <p:sp>
          <p:nvSpPr>
            <p:cNvPr id="39" name="正方形/長方形 38">
              <a:extLst>
                <a:ext uri="{FF2B5EF4-FFF2-40B4-BE49-F238E27FC236}">
                  <a16:creationId xmlns:a16="http://schemas.microsoft.com/office/drawing/2014/main" id="{37DA0133-BFF2-876D-E2D8-743EBEBD8462}"/>
                </a:ext>
              </a:extLst>
            </p:cNvPr>
            <p:cNvSpPr/>
            <p:nvPr/>
          </p:nvSpPr>
          <p:spPr>
            <a:xfrm>
              <a:off x="6186281" y="2880002"/>
              <a:ext cx="1197783" cy="408976"/>
            </a:xfrm>
            <a:prstGeom prst="rect">
              <a:avLst/>
            </a:prstGeom>
            <a:noFill/>
            <a:ln w="12700" cap="flat" cmpd="sng" algn="ctr">
              <a:noFill/>
              <a:prstDash val="solid"/>
              <a:miter lim="800000"/>
            </a:ln>
            <a:effectLst/>
          </p:spPr>
          <p:txBody>
            <a:bodyPr rtlCol="0" anchor="ctr"/>
            <a:lstStyle/>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2600"/>
                  </a:solidFill>
                  <a:effectLst/>
                  <a:uLnTx/>
                  <a:uFillTx/>
                  <a:latin typeface="Arial"/>
                  <a:ea typeface="BIZ UDPゴシック"/>
                  <a:cs typeface="+mn-cs"/>
                </a:rPr>
                <a:t>顧客</a:t>
              </a:r>
              <a:r>
                <a:rPr kumimoji="0" lang="en-US" altLang="ja-JP" sz="1200" b="1" i="0" u="none" strike="noStrike" kern="0" cap="none" spc="0" normalizeH="0" baseline="0" noProof="0">
                  <a:ln>
                    <a:noFill/>
                  </a:ln>
                  <a:solidFill>
                    <a:srgbClr val="FF2600"/>
                  </a:solidFill>
                  <a:effectLst/>
                  <a:uLnTx/>
                  <a:uFillTx/>
                  <a:latin typeface="Arial"/>
                  <a:ea typeface="BIZ UDPゴシック"/>
                  <a:cs typeface="+mn-cs"/>
                </a:rPr>
                <a:t>XBOR</a:t>
              </a:r>
            </a:p>
            <a:p>
              <a:pPr marL="0" marR="0" lvl="0" indent="0"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2600"/>
                  </a:solidFill>
                  <a:effectLst/>
                  <a:uLnTx/>
                  <a:uFillTx/>
                  <a:latin typeface="Arial"/>
                  <a:ea typeface="BIZ UDPゴシック"/>
                  <a:cs typeface="+mn-cs"/>
                </a:rPr>
                <a:t>のカバレッジ</a:t>
              </a:r>
            </a:p>
          </p:txBody>
        </p:sp>
      </p:grpSp>
    </p:spTree>
    <p:extLst>
      <p:ext uri="{BB962C8B-B14F-4D97-AF65-F5344CB8AC3E}">
        <p14:creationId xmlns:p14="http://schemas.microsoft.com/office/powerpoint/2010/main" val="1220731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43A11-F4FF-E375-87E5-11900CFAB9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1F7E4B-7358-7E1C-042B-32CE67FF0F9F}"/>
              </a:ext>
            </a:extLst>
          </p:cNvPr>
          <p:cNvSpPr>
            <a:spLocks noGrp="1"/>
          </p:cNvSpPr>
          <p:nvPr>
            <p:ph type="title"/>
          </p:nvPr>
        </p:nvSpPr>
        <p:spPr>
          <a:xfrm>
            <a:off x="488504" y="568613"/>
            <a:ext cx="8928000" cy="373311"/>
          </a:xfrm>
        </p:spPr>
        <p:txBody>
          <a:bodyPr/>
          <a:lstStyle/>
          <a:p>
            <a:r>
              <a:rPr lang="en-US" altLang="ja-JP" dirty="0"/>
              <a:t>2. </a:t>
            </a:r>
            <a:r>
              <a:rPr lang="ja-JP" altLang="en-US" dirty="0"/>
              <a:t>データマネジメントサービス～③サービス概要とシステム構成</a:t>
            </a:r>
            <a:endParaRPr kumimoji="1" lang="ja-JP" altLang="en-US" dirty="0"/>
          </a:p>
        </p:txBody>
      </p:sp>
      <p:sp>
        <p:nvSpPr>
          <p:cNvPr id="3" name="テキスト プレースホルダー 2">
            <a:extLst>
              <a:ext uri="{FF2B5EF4-FFF2-40B4-BE49-F238E27FC236}">
                <a16:creationId xmlns:a16="http://schemas.microsoft.com/office/drawing/2014/main" id="{92C7D35B-14DD-8607-5C59-60D254A6025F}"/>
              </a:ext>
            </a:extLst>
          </p:cNvPr>
          <p:cNvSpPr>
            <a:spLocks noGrp="1"/>
          </p:cNvSpPr>
          <p:nvPr>
            <p:ph type="body" idx="12"/>
          </p:nvPr>
        </p:nvSpPr>
        <p:spPr>
          <a:xfrm>
            <a:off x="488999" y="969722"/>
            <a:ext cx="9131121" cy="669414"/>
          </a:xfrm>
        </p:spPr>
        <p:txBody>
          <a:bodyPr/>
          <a:lstStyle/>
          <a:p>
            <a:r>
              <a:rPr lang="ja-JP" altLang="en-US" dirty="0"/>
              <a:t>顧客を一般顧客と大手顧客に大別したうえで、特に大手顧客には、データマネジメント基盤を提供します。</a:t>
            </a:r>
            <a:endParaRPr kumimoji="1" lang="ja-JP" altLang="en-US" dirty="0"/>
          </a:p>
        </p:txBody>
      </p:sp>
      <p:sp>
        <p:nvSpPr>
          <p:cNvPr id="4" name="テキスト プレースホルダー 3">
            <a:extLst>
              <a:ext uri="{FF2B5EF4-FFF2-40B4-BE49-F238E27FC236}">
                <a16:creationId xmlns:a16="http://schemas.microsoft.com/office/drawing/2014/main" id="{BCCA5208-7FD4-7AEB-90F5-D0C631A28233}"/>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grpSp>
        <p:nvGrpSpPr>
          <p:cNvPr id="6" name="グループ化 5">
            <a:extLst>
              <a:ext uri="{FF2B5EF4-FFF2-40B4-BE49-F238E27FC236}">
                <a16:creationId xmlns:a16="http://schemas.microsoft.com/office/drawing/2014/main" id="{C951864A-DED1-A97D-C188-B230DDE40C62}"/>
              </a:ext>
            </a:extLst>
          </p:cNvPr>
          <p:cNvGrpSpPr/>
          <p:nvPr/>
        </p:nvGrpSpPr>
        <p:grpSpPr bwMode="gray">
          <a:xfrm>
            <a:off x="425852" y="1482447"/>
            <a:ext cx="4060507" cy="212458"/>
            <a:chOff x="581184" y="1572445"/>
            <a:chExt cx="1395099" cy="226274"/>
          </a:xfrm>
        </p:grpSpPr>
        <p:cxnSp>
          <p:nvCxnSpPr>
            <p:cNvPr id="7" name="直線コネクタ 6">
              <a:extLst>
                <a:ext uri="{FF2B5EF4-FFF2-40B4-BE49-F238E27FC236}">
                  <a16:creationId xmlns:a16="http://schemas.microsoft.com/office/drawing/2014/main" id="{67783337-0E06-6886-D40E-25BDA4472E2F}"/>
                </a:ext>
              </a:extLst>
            </p:cNvPr>
            <p:cNvCxnSpPr>
              <a:cxnSpLocks/>
            </p:cNvCxnSpPr>
            <p:nvPr/>
          </p:nvCxnSpPr>
          <p:spPr bwMode="gray">
            <a:xfrm>
              <a:off x="581184" y="1798719"/>
              <a:ext cx="1395099" cy="0"/>
            </a:xfrm>
            <a:prstGeom prst="line">
              <a:avLst/>
            </a:prstGeom>
            <a:noFill/>
            <a:ln w="9525" cap="flat" cmpd="sng" algn="ctr">
              <a:solidFill>
                <a:srgbClr val="FFFFFF">
                  <a:lumMod val="50000"/>
                </a:srgbClr>
              </a:solidFill>
              <a:prstDash val="solid"/>
              <a:tailEnd type="none"/>
            </a:ln>
            <a:effectLst/>
          </p:spPr>
        </p:cxnSp>
        <p:sp>
          <p:nvSpPr>
            <p:cNvPr id="10" name="正方形/長方形 9">
              <a:extLst>
                <a:ext uri="{FF2B5EF4-FFF2-40B4-BE49-F238E27FC236}">
                  <a16:creationId xmlns:a16="http://schemas.microsoft.com/office/drawing/2014/main" id="{1A21D5F8-B30A-7F6B-D846-9D8EE6C6999D}"/>
                </a:ext>
              </a:extLst>
            </p:cNvPr>
            <p:cNvSpPr/>
            <p:nvPr/>
          </p:nvSpPr>
          <p:spPr bwMode="gray">
            <a:xfrm>
              <a:off x="609347" y="1572445"/>
              <a:ext cx="1338772" cy="21713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18000" tIns="18000" rIns="18000" bIns="1800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rgbClr val="000000"/>
                  </a:solidFill>
                  <a:effectLst/>
                  <a:uLnTx/>
                  <a:uFillTx/>
                  <a:latin typeface="+mn-ea"/>
                </a:rPr>
                <a:t>サービス概要</a:t>
              </a:r>
              <a:endParaRPr kumimoji="0" lang="en-US" altLang="ja-JP" sz="1200" b="1" i="0" u="none" strike="noStrike" kern="0" cap="none" spc="0" normalizeH="0" baseline="0" noProof="0" dirty="0">
                <a:ln>
                  <a:noFill/>
                </a:ln>
                <a:solidFill>
                  <a:srgbClr val="000000"/>
                </a:solidFill>
                <a:effectLst/>
                <a:uLnTx/>
                <a:uFillTx/>
                <a:latin typeface="+mn-ea"/>
              </a:endParaRPr>
            </a:p>
          </p:txBody>
        </p:sp>
      </p:grpSp>
      <p:grpSp>
        <p:nvGrpSpPr>
          <p:cNvPr id="11" name="グループ化 10">
            <a:extLst>
              <a:ext uri="{FF2B5EF4-FFF2-40B4-BE49-F238E27FC236}">
                <a16:creationId xmlns:a16="http://schemas.microsoft.com/office/drawing/2014/main" id="{51B76673-5619-CFA8-CFC0-D53C867A715D}"/>
              </a:ext>
            </a:extLst>
          </p:cNvPr>
          <p:cNvGrpSpPr/>
          <p:nvPr/>
        </p:nvGrpSpPr>
        <p:grpSpPr bwMode="gray">
          <a:xfrm>
            <a:off x="4672239" y="1482447"/>
            <a:ext cx="4720069" cy="212458"/>
            <a:chOff x="581184" y="1572445"/>
            <a:chExt cx="1395099" cy="226274"/>
          </a:xfrm>
        </p:grpSpPr>
        <p:cxnSp>
          <p:nvCxnSpPr>
            <p:cNvPr id="12" name="直線コネクタ 11">
              <a:extLst>
                <a:ext uri="{FF2B5EF4-FFF2-40B4-BE49-F238E27FC236}">
                  <a16:creationId xmlns:a16="http://schemas.microsoft.com/office/drawing/2014/main" id="{6BE74CCF-6CB9-2102-0B9A-0406AADB9D4C}"/>
                </a:ext>
              </a:extLst>
            </p:cNvPr>
            <p:cNvCxnSpPr>
              <a:cxnSpLocks/>
            </p:cNvCxnSpPr>
            <p:nvPr/>
          </p:nvCxnSpPr>
          <p:spPr bwMode="gray">
            <a:xfrm>
              <a:off x="581184" y="1798719"/>
              <a:ext cx="1395099" cy="0"/>
            </a:xfrm>
            <a:prstGeom prst="line">
              <a:avLst/>
            </a:prstGeom>
            <a:noFill/>
            <a:ln w="9525" cap="flat" cmpd="sng" algn="ctr">
              <a:solidFill>
                <a:srgbClr val="FFFFFF">
                  <a:lumMod val="50000"/>
                </a:srgbClr>
              </a:solidFill>
              <a:prstDash val="solid"/>
              <a:tailEnd type="none"/>
            </a:ln>
            <a:effectLst/>
          </p:spPr>
        </p:cxnSp>
        <p:sp>
          <p:nvSpPr>
            <p:cNvPr id="17" name="正方形/長方形 16">
              <a:extLst>
                <a:ext uri="{FF2B5EF4-FFF2-40B4-BE49-F238E27FC236}">
                  <a16:creationId xmlns:a16="http://schemas.microsoft.com/office/drawing/2014/main" id="{27F2690A-5124-1136-1655-04E55CB85313}"/>
                </a:ext>
              </a:extLst>
            </p:cNvPr>
            <p:cNvSpPr/>
            <p:nvPr/>
          </p:nvSpPr>
          <p:spPr bwMode="gray">
            <a:xfrm>
              <a:off x="670200" y="1572445"/>
              <a:ext cx="1217066" cy="21713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18000" tIns="18000" rIns="18000" bIns="1800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000000"/>
                  </a:solidFill>
                  <a:effectLst/>
                  <a:uLnTx/>
                  <a:uFillTx/>
                  <a:latin typeface="+mn-ea"/>
                </a:rPr>
                <a:t>新サービスのシステム構成</a:t>
              </a:r>
              <a:endParaRPr kumimoji="0" lang="en-US" altLang="ja-JP" sz="1200" b="1" i="0" u="none" strike="noStrike" kern="0" cap="none" spc="0" normalizeH="0" baseline="0" noProof="0">
                <a:ln>
                  <a:noFill/>
                </a:ln>
                <a:solidFill>
                  <a:srgbClr val="000000"/>
                </a:solidFill>
                <a:effectLst/>
                <a:uLnTx/>
                <a:uFillTx/>
                <a:latin typeface="+mn-ea"/>
              </a:endParaRPr>
            </a:p>
          </p:txBody>
        </p:sp>
      </p:grpSp>
      <p:sp>
        <p:nvSpPr>
          <p:cNvPr id="18" name="テキスト ボックス 17">
            <a:extLst>
              <a:ext uri="{FF2B5EF4-FFF2-40B4-BE49-F238E27FC236}">
                <a16:creationId xmlns:a16="http://schemas.microsoft.com/office/drawing/2014/main" id="{D7932BFA-104A-62FD-57F3-90322A7EE6B1}"/>
              </a:ext>
            </a:extLst>
          </p:cNvPr>
          <p:cNvSpPr txBox="1"/>
          <p:nvPr/>
        </p:nvSpPr>
        <p:spPr>
          <a:xfrm>
            <a:off x="425851" y="4719323"/>
            <a:ext cx="249711" cy="1752078"/>
          </a:xfrm>
          <a:prstGeom prst="rect">
            <a:avLst/>
          </a:prstGeom>
          <a:solidFill>
            <a:srgbClr val="FFFFFF">
              <a:lumMod val="95000"/>
            </a:srgbClr>
          </a:solidFill>
          <a:ln w="12700" cap="flat" cmpd="sng" algn="ctr">
            <a:solidFill>
              <a:srgbClr val="FFFFFF">
                <a:lumMod val="50000"/>
              </a:srgbClr>
            </a:solid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効果</a:t>
            </a:r>
            <a:endPar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19" name="テキスト ボックス 18">
            <a:extLst>
              <a:ext uri="{FF2B5EF4-FFF2-40B4-BE49-F238E27FC236}">
                <a16:creationId xmlns:a16="http://schemas.microsoft.com/office/drawing/2014/main" id="{B29F3AB4-3DFE-F502-D7F7-D36CF75E37D5}"/>
              </a:ext>
            </a:extLst>
          </p:cNvPr>
          <p:cNvSpPr txBox="1"/>
          <p:nvPr/>
        </p:nvSpPr>
        <p:spPr>
          <a:xfrm>
            <a:off x="720309" y="4719323"/>
            <a:ext cx="294633" cy="844459"/>
          </a:xfrm>
          <a:prstGeom prst="rect">
            <a:avLst/>
          </a:prstGeom>
          <a:solidFill>
            <a:srgbClr val="FFFFFF">
              <a:lumMod val="95000"/>
            </a:srgbClr>
          </a:solidFill>
          <a:ln w="12700" cap="flat" cmpd="sng" algn="ctr">
            <a:solidFill>
              <a:srgbClr val="FFFFFF">
                <a:lumMod val="50000"/>
              </a:srgbClr>
            </a:solid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定量</a:t>
            </a:r>
            <a:endPar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20" name="テキスト ボックス 19">
            <a:extLst>
              <a:ext uri="{FF2B5EF4-FFF2-40B4-BE49-F238E27FC236}">
                <a16:creationId xmlns:a16="http://schemas.microsoft.com/office/drawing/2014/main" id="{82F92ACC-0CBC-2793-67D7-1D8C4A2714B3}"/>
              </a:ext>
            </a:extLst>
          </p:cNvPr>
          <p:cNvSpPr txBox="1"/>
          <p:nvPr/>
        </p:nvSpPr>
        <p:spPr>
          <a:xfrm>
            <a:off x="720309" y="5626942"/>
            <a:ext cx="294633" cy="844459"/>
          </a:xfrm>
          <a:prstGeom prst="rect">
            <a:avLst/>
          </a:prstGeom>
          <a:solidFill>
            <a:srgbClr val="FFFFFF">
              <a:lumMod val="95000"/>
            </a:srgbClr>
          </a:solidFill>
          <a:ln w="12700" cap="flat" cmpd="sng" algn="ctr">
            <a:solidFill>
              <a:srgbClr val="FFFFFF">
                <a:lumMod val="50000"/>
              </a:srgbClr>
            </a:solid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定性</a:t>
            </a:r>
            <a:endPar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21" name="テキスト ボックス 20">
            <a:extLst>
              <a:ext uri="{FF2B5EF4-FFF2-40B4-BE49-F238E27FC236}">
                <a16:creationId xmlns:a16="http://schemas.microsoft.com/office/drawing/2014/main" id="{DE56059E-2313-DB8E-B870-7BF755EC7A54}"/>
              </a:ext>
            </a:extLst>
          </p:cNvPr>
          <p:cNvSpPr txBox="1"/>
          <p:nvPr/>
        </p:nvSpPr>
        <p:spPr>
          <a:xfrm>
            <a:off x="425851" y="1760624"/>
            <a:ext cx="589090" cy="1297476"/>
          </a:xfrm>
          <a:prstGeom prst="rect">
            <a:avLst/>
          </a:prstGeom>
          <a:solidFill>
            <a:srgbClr val="FFFFFF">
              <a:lumMod val="95000"/>
            </a:srgbClr>
          </a:solidFill>
          <a:ln w="12700" cap="flat" cmpd="sng" algn="ctr">
            <a:solidFill>
              <a:srgbClr val="FFFFFF">
                <a:lumMod val="50000"/>
              </a:srgbClr>
            </a:solid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背景・</a:t>
            </a:r>
            <a:endPar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目的</a:t>
            </a:r>
            <a:endPar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22" name="テキスト ボックス 21">
            <a:extLst>
              <a:ext uri="{FF2B5EF4-FFF2-40B4-BE49-F238E27FC236}">
                <a16:creationId xmlns:a16="http://schemas.microsoft.com/office/drawing/2014/main" id="{2F877FB9-B7E9-ECD2-0EF4-D3917118226E}"/>
              </a:ext>
            </a:extLst>
          </p:cNvPr>
          <p:cNvSpPr txBox="1"/>
          <p:nvPr/>
        </p:nvSpPr>
        <p:spPr>
          <a:xfrm>
            <a:off x="425850" y="3121262"/>
            <a:ext cx="589091" cy="1534901"/>
          </a:xfrm>
          <a:prstGeom prst="rect">
            <a:avLst/>
          </a:prstGeom>
          <a:solidFill>
            <a:srgbClr val="FFFFFF">
              <a:lumMod val="95000"/>
            </a:srgbClr>
          </a:solidFill>
          <a:ln w="12700" cap="flat" cmpd="sng" algn="ctr">
            <a:solidFill>
              <a:srgbClr val="FFFFFF">
                <a:lumMod val="50000"/>
              </a:srgbClr>
            </a:solid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サービス</a:t>
            </a:r>
            <a:endPar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概要</a:t>
            </a:r>
            <a:endPar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23" name="テキスト ボックス 22">
            <a:extLst>
              <a:ext uri="{FF2B5EF4-FFF2-40B4-BE49-F238E27FC236}">
                <a16:creationId xmlns:a16="http://schemas.microsoft.com/office/drawing/2014/main" id="{0E2174C8-E49E-6A33-C177-F4C0FE580BE8}"/>
              </a:ext>
            </a:extLst>
          </p:cNvPr>
          <p:cNvSpPr txBox="1"/>
          <p:nvPr/>
        </p:nvSpPr>
        <p:spPr>
          <a:xfrm>
            <a:off x="1041860" y="1760624"/>
            <a:ext cx="3444498" cy="1297476"/>
          </a:xfrm>
          <a:prstGeom prst="rect">
            <a:avLst/>
          </a:prstGeom>
          <a:solidFill>
            <a:srgbClr val="FFFFFF"/>
          </a:solidFill>
          <a:ln w="12700" cap="flat" cmpd="sng" algn="ctr">
            <a:no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180000" marR="0" lvl="0" indent="-180000" algn="l" defTabSz="82411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「資産運用立国実現プラン」のもとで、運用高度化を進める</a:t>
            </a:r>
            <a:r>
              <a:rPr kumimoji="0" lang="ja-JP" altLang="en-US" sz="1100" b="1" i="0" u="sng" strike="noStrike" kern="0" cap="none" spc="0" normalizeH="0" baseline="0" noProof="0" dirty="0">
                <a:ln>
                  <a:noFill/>
                </a:ln>
                <a:solidFill>
                  <a:schemeClr val="accent2">
                    <a:lumMod val="75000"/>
                  </a:schemeClr>
                </a:solidFill>
                <a:effectLst/>
                <a:uLnTx/>
                <a:uFillTx/>
                <a:latin typeface="+mn-ea"/>
                <a:ea typeface="+mn-ea"/>
                <a:cs typeface="Tahoma" panose="020B0604030504040204" pitchFamily="34" charset="0"/>
              </a:rPr>
              <a:t>大手</a:t>
            </a:r>
            <a:r>
              <a:rPr kumimoji="0" lang="en-US" altLang="ja-JP" sz="1100" b="1" i="0" u="sng" strike="noStrike" kern="0" cap="none" spc="0" normalizeH="0" baseline="0" noProof="0" dirty="0">
                <a:ln>
                  <a:noFill/>
                </a:ln>
                <a:solidFill>
                  <a:schemeClr val="accent2">
                    <a:lumMod val="75000"/>
                  </a:schemeClr>
                </a:solidFill>
                <a:effectLst/>
                <a:uLnTx/>
                <a:uFillTx/>
                <a:latin typeface="+mn-ea"/>
                <a:ea typeface="+mn-ea"/>
                <a:cs typeface="Tahoma" panose="020B0604030504040204" pitchFamily="34" charset="0"/>
              </a:rPr>
              <a:t>AM</a:t>
            </a:r>
            <a:r>
              <a:rPr kumimoji="0" lang="ja-JP" altLang="en-US" sz="1100" b="1" i="0" u="sng" strike="noStrike" kern="0" cap="none" spc="0" normalizeH="0" baseline="0" noProof="0" dirty="0">
                <a:ln>
                  <a:noFill/>
                </a:ln>
                <a:solidFill>
                  <a:schemeClr val="accent2">
                    <a:lumMod val="75000"/>
                  </a:schemeClr>
                </a:solidFill>
                <a:effectLst/>
                <a:uLnTx/>
                <a:uFillTx/>
                <a:latin typeface="+mn-ea"/>
                <a:ea typeface="+mn-ea"/>
                <a:cs typeface="Tahoma" panose="020B0604030504040204" pitchFamily="34" charset="0"/>
              </a:rPr>
              <a:t>や</a:t>
            </a:r>
            <a:r>
              <a:rPr kumimoji="0" lang="en-US" altLang="ja-JP" sz="1100" b="1" i="0" u="sng" strike="noStrike" kern="0" cap="none" spc="0" normalizeH="0" baseline="0" noProof="0" dirty="0">
                <a:ln>
                  <a:noFill/>
                </a:ln>
                <a:solidFill>
                  <a:schemeClr val="accent2">
                    <a:lumMod val="75000"/>
                  </a:schemeClr>
                </a:solidFill>
                <a:effectLst/>
                <a:uLnTx/>
                <a:uFillTx/>
                <a:latin typeface="+mn-ea"/>
                <a:ea typeface="+mn-ea"/>
                <a:cs typeface="Tahoma" panose="020B0604030504040204" pitchFamily="34" charset="0"/>
              </a:rPr>
              <a:t>AO</a:t>
            </a:r>
            <a:r>
              <a:rPr kumimoji="0" lang="ja-JP" altLang="en-US" sz="1100" b="1" i="0" u="sng" strike="noStrike" kern="0" cap="none" spc="0" normalizeH="0" baseline="0" noProof="0" dirty="0">
                <a:ln>
                  <a:noFill/>
                </a:ln>
                <a:solidFill>
                  <a:schemeClr val="accent2">
                    <a:lumMod val="75000"/>
                  </a:schemeClr>
                </a:solidFill>
                <a:effectLst/>
                <a:uLnTx/>
                <a:uFillTx/>
                <a:latin typeface="+mn-ea"/>
                <a:ea typeface="+mn-ea"/>
                <a:cs typeface="Tahoma" panose="020B0604030504040204" pitchFamily="34" charset="0"/>
              </a:rPr>
              <a:t>においてデータ課題が顕在化</a:t>
            </a:r>
            <a:endParaRPr kumimoji="0" lang="en-US" altLang="ja-JP" sz="1100" b="1" i="0" u="sng" strike="noStrike" kern="0" cap="none" spc="0" normalizeH="0" baseline="0" noProof="0" dirty="0">
              <a:ln>
                <a:noFill/>
              </a:ln>
              <a:solidFill>
                <a:schemeClr val="accent2">
                  <a:lumMod val="75000"/>
                </a:schemeClr>
              </a:solidFill>
              <a:effectLst/>
              <a:uLnTx/>
              <a:uFillTx/>
              <a:latin typeface="+mn-ea"/>
              <a:ea typeface="+mn-ea"/>
              <a:cs typeface="Tahoma" panose="020B0604030504040204" pitchFamily="34" charset="0"/>
            </a:endParaRPr>
          </a:p>
          <a:p>
            <a:pPr marL="180000" marR="0" lvl="0" indent="-180000" algn="l" defTabSz="82411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海外ではすでにデータマネジメントサービスが資産残高獲得のためのツールとして活用されている現状</a:t>
            </a:r>
            <a:endParaRPr kumimoji="0" lang="en-US" altLang="ja-JP"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a:p>
            <a:pPr marL="180000" marR="0" lvl="0" indent="-180000" algn="l" defTabSz="82411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altLang="ja-JP"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MTBJ</a:t>
            </a: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が総合的なデータマネジメントサービスを提供することで</a:t>
            </a:r>
            <a:r>
              <a:rPr kumimoji="0" lang="ja-JP" altLang="en-US" sz="1100" b="1" i="0" u="sng" strike="noStrike" kern="0" cap="none" spc="0" normalizeH="0" baseline="0" noProof="0" dirty="0">
                <a:ln>
                  <a:noFill/>
                </a:ln>
                <a:solidFill>
                  <a:schemeClr val="accent2">
                    <a:lumMod val="75000"/>
                  </a:schemeClr>
                </a:solidFill>
                <a:effectLst/>
                <a:uLnTx/>
                <a:uFillTx/>
                <a:latin typeface="+mn-ea"/>
                <a:ea typeface="+mn-ea"/>
                <a:cs typeface="Tahoma" panose="020B0604030504040204" pitchFamily="34" charset="0"/>
              </a:rPr>
              <a:t>運用高度化に資する環境整備に貢献</a:t>
            </a: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するとともに、</a:t>
            </a:r>
            <a:r>
              <a:rPr kumimoji="0" lang="ja-JP" altLang="en-US" sz="1100" b="1" i="0" u="sng" strike="noStrike" kern="0" cap="none" spc="0" normalizeH="0" baseline="0" noProof="0" dirty="0">
                <a:ln>
                  <a:noFill/>
                </a:ln>
                <a:solidFill>
                  <a:schemeClr val="accent2">
                    <a:lumMod val="75000"/>
                  </a:schemeClr>
                </a:solidFill>
                <a:effectLst/>
                <a:uLnTx/>
                <a:uFillTx/>
                <a:latin typeface="+mn-ea"/>
                <a:ea typeface="+mn-ea"/>
                <a:cs typeface="Tahoma" panose="020B0604030504040204" pitchFamily="34" charset="0"/>
              </a:rPr>
              <a:t>既存顧客基盤のさらなる強化</a:t>
            </a: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につなげる</a:t>
            </a:r>
            <a:endParaRPr kumimoji="0" lang="en-US" altLang="ja-JP"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p:txBody>
      </p:sp>
      <p:sp>
        <p:nvSpPr>
          <p:cNvPr id="24" name="テキスト ボックス 23">
            <a:extLst>
              <a:ext uri="{FF2B5EF4-FFF2-40B4-BE49-F238E27FC236}">
                <a16:creationId xmlns:a16="http://schemas.microsoft.com/office/drawing/2014/main" id="{F8DFD8FF-3EB9-4D7A-0422-725583A15397}"/>
              </a:ext>
            </a:extLst>
          </p:cNvPr>
          <p:cNvSpPr txBox="1"/>
          <p:nvPr/>
        </p:nvSpPr>
        <p:spPr>
          <a:xfrm>
            <a:off x="1041860" y="3121261"/>
            <a:ext cx="3444498" cy="1534902"/>
          </a:xfrm>
          <a:prstGeom prst="rect">
            <a:avLst/>
          </a:prstGeom>
          <a:solidFill>
            <a:srgbClr val="FFFFFF"/>
          </a:solidFill>
          <a:ln w="12700" cap="flat" cmpd="sng" algn="ctr">
            <a:no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171450" marR="0" lvl="0" indent="-171450" algn="l" defTabSz="82411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「一般顧客」・「大手顧客」に大別してサービスを提供</a:t>
            </a:r>
            <a:endParaRPr kumimoji="0" lang="en-US" altLang="ja-JP"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a:p>
            <a:pPr marL="171450" marR="0" lvl="0" indent="-171450" algn="l" defTabSz="824110" eaLnBrk="0"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altLang="ja-JP"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a:p>
            <a:pPr marL="228600" marR="0" lvl="0" indent="-228600" algn="l" defTabSz="824110" eaLnBrk="0" fontAlgn="auto" latinLnBrk="0" hangingPunct="0">
              <a:lnSpc>
                <a:spcPct val="100000"/>
              </a:lnSpc>
              <a:spcBef>
                <a:spcPts val="0"/>
              </a:spcBef>
              <a:spcAft>
                <a:spcPts val="0"/>
              </a:spcAft>
              <a:buClrTx/>
              <a:buSzTx/>
              <a:buFont typeface="+mj-ea"/>
              <a:buAutoNum type="circleNumDbPlain"/>
              <a:tabLst/>
              <a:defRPr/>
            </a:pPr>
            <a:r>
              <a:rPr kumimoji="0" lang="ja-JP" altLang="en-US"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rPr>
              <a:t>一般顧客</a:t>
            </a:r>
            <a:endParaRPr kumimoji="0" lang="en-US" altLang="ja-JP"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a:p>
            <a:pPr marL="0" marR="0" lvl="0" indent="0" algn="l" defTabSz="82411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既存の「情報統合サービス」をレベルアップして提供</a:t>
            </a:r>
            <a:endParaRPr kumimoji="0" lang="en-US" altLang="ja-JP"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a:p>
            <a:pPr marL="228600" marR="0" lvl="0" indent="-228600" algn="l" defTabSz="824110" eaLnBrk="0" fontAlgn="auto" latinLnBrk="0" hangingPunct="0">
              <a:lnSpc>
                <a:spcPct val="100000"/>
              </a:lnSpc>
              <a:spcBef>
                <a:spcPts val="0"/>
              </a:spcBef>
              <a:spcAft>
                <a:spcPts val="0"/>
              </a:spcAft>
              <a:buClrTx/>
              <a:buSzTx/>
              <a:buFont typeface="+mj-ea"/>
              <a:buAutoNum type="circleNumDbPlain" startAt="2"/>
              <a:tabLst/>
              <a:defRPr/>
            </a:pPr>
            <a:r>
              <a:rPr kumimoji="0" lang="ja-JP" altLang="en-US" sz="1100" dirty="0">
                <a:solidFill>
                  <a:srgbClr val="000000"/>
                </a:solidFill>
                <a:latin typeface="+mn-ea"/>
                <a:ea typeface="+mn-ea"/>
              </a:rPr>
              <a:t>大手</a:t>
            </a:r>
            <a:r>
              <a:rPr kumimoji="0" lang="ja-JP" altLang="en-US"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rPr>
              <a:t>顧客</a:t>
            </a:r>
            <a:endParaRPr kumimoji="0" lang="en-US" altLang="ja-JP"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a:p>
            <a:pPr marL="0" marR="0" lvl="0" indent="0" algn="l" defTabSz="82411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データ保全・利活用環境の提供、個別ニーズに応じたデータコンテンツを提供</a:t>
            </a:r>
            <a:endParaRPr kumimoji="0" lang="en-US" altLang="ja-JP"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p:txBody>
      </p:sp>
      <p:sp>
        <p:nvSpPr>
          <p:cNvPr id="25" name="テキスト ボックス 24">
            <a:extLst>
              <a:ext uri="{FF2B5EF4-FFF2-40B4-BE49-F238E27FC236}">
                <a16:creationId xmlns:a16="http://schemas.microsoft.com/office/drawing/2014/main" id="{971B88ED-9DF9-8C08-E1B3-A0C0D554D8EF}"/>
              </a:ext>
            </a:extLst>
          </p:cNvPr>
          <p:cNvSpPr txBox="1"/>
          <p:nvPr/>
        </p:nvSpPr>
        <p:spPr>
          <a:xfrm>
            <a:off x="1041860" y="4719321"/>
            <a:ext cx="3444498" cy="844461"/>
          </a:xfrm>
          <a:prstGeom prst="rect">
            <a:avLst/>
          </a:prstGeom>
          <a:solidFill>
            <a:srgbClr val="FFFFFF"/>
          </a:solidFill>
          <a:ln w="12700" cap="flat" cmpd="sng" algn="ctr">
            <a:no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171450" marR="0" lvl="0" indent="-171450" algn="l" defTabSz="82411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５年以内にコア顧客３社と最大手顧客獲得により、総合収支が</a:t>
            </a:r>
            <a:r>
              <a:rPr kumimoji="0" lang="ja-JP" altLang="en-US" sz="1100" b="0" dirty="0">
                <a:solidFill>
                  <a:srgbClr val="000000"/>
                </a:solidFill>
                <a:latin typeface="+mn-ea"/>
                <a:ea typeface="+mn-ea"/>
              </a:rPr>
              <a:t>増収</a:t>
            </a: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の定量効果を想定</a:t>
            </a:r>
            <a:endParaRPr kumimoji="0" lang="en-US" altLang="ja-JP"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p:txBody>
      </p:sp>
      <p:sp>
        <p:nvSpPr>
          <p:cNvPr id="26" name="テキスト ボックス 25">
            <a:extLst>
              <a:ext uri="{FF2B5EF4-FFF2-40B4-BE49-F238E27FC236}">
                <a16:creationId xmlns:a16="http://schemas.microsoft.com/office/drawing/2014/main" id="{53586EC2-6C0C-D528-09E3-68AA5B70C3DD}"/>
              </a:ext>
            </a:extLst>
          </p:cNvPr>
          <p:cNvSpPr txBox="1"/>
          <p:nvPr/>
        </p:nvSpPr>
        <p:spPr>
          <a:xfrm>
            <a:off x="1041860" y="5626940"/>
            <a:ext cx="3444498" cy="844460"/>
          </a:xfrm>
          <a:prstGeom prst="rect">
            <a:avLst/>
          </a:prstGeom>
          <a:solidFill>
            <a:srgbClr val="FFFFFF"/>
          </a:solidFill>
          <a:ln w="12700" cap="flat" cmpd="sng" algn="ctr">
            <a:no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171450" marR="0" lvl="0" indent="-171450" algn="l" defTabSz="82411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ja-JP" altLang="en-US" sz="1100" b="0" i="0" u="none" strike="noStrike" kern="0" cap="none" spc="0" normalizeH="0" baseline="0" noProof="0">
                <a:ln>
                  <a:noFill/>
                </a:ln>
                <a:solidFill>
                  <a:srgbClr val="000000"/>
                </a:solidFill>
                <a:effectLst/>
                <a:uLnTx/>
                <a:uFillTx/>
                <a:latin typeface="+mn-ea"/>
                <a:ea typeface="+mn-ea"/>
                <a:cs typeface="Tahoma" panose="020B0604030504040204" pitchFamily="34" charset="0"/>
              </a:rPr>
              <a:t>顧客評価向上</a:t>
            </a:r>
            <a:endParaRPr kumimoji="0" lang="en-US" altLang="ja-JP" sz="11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a:p>
            <a:pPr marL="171450" marR="0" lvl="0" indent="-171450" algn="l" defTabSz="82411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ja-JP" altLang="en-US" sz="1100" b="0" i="0" u="none" strike="noStrike" kern="0" cap="none" spc="0" normalizeH="0" baseline="0" noProof="0">
                <a:ln>
                  <a:noFill/>
                </a:ln>
                <a:solidFill>
                  <a:srgbClr val="000000"/>
                </a:solidFill>
                <a:effectLst/>
                <a:uLnTx/>
                <a:uFillTx/>
                <a:latin typeface="+mn-ea"/>
                <a:ea typeface="+mn-ea"/>
                <a:cs typeface="Tahoma" panose="020B0604030504040204" pitchFamily="34" charset="0"/>
              </a:rPr>
              <a:t>資産管理ビジネスの粘着力強化</a:t>
            </a:r>
            <a:endParaRPr kumimoji="0" lang="en-US" altLang="ja-JP" sz="11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a:p>
            <a:pPr marL="171450" marR="0" lvl="0" indent="-171450" algn="l" defTabSz="82411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ja-JP" altLang="en-US" sz="1100" b="0" i="0" u="none" strike="noStrike" kern="0" cap="none" spc="0" normalizeH="0" baseline="0" noProof="0">
                <a:ln>
                  <a:noFill/>
                </a:ln>
                <a:solidFill>
                  <a:srgbClr val="000000"/>
                </a:solidFill>
                <a:effectLst/>
                <a:uLnTx/>
                <a:uFillTx/>
                <a:latin typeface="+mn-ea"/>
                <a:ea typeface="+mn-ea"/>
                <a:cs typeface="Tahoma" panose="020B0604030504040204" pitchFamily="34" charset="0"/>
              </a:rPr>
              <a:t>顧客動向の早期把握、営業力強化</a:t>
            </a:r>
            <a:endParaRPr kumimoji="0" lang="en-US" altLang="ja-JP" sz="11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a:p>
            <a:pPr marL="171450" marR="0" lvl="0" indent="-171450" algn="l" defTabSz="82411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ja-JP" altLang="en-US" sz="1100" b="0" i="0" u="none" strike="noStrike" kern="0" cap="none" spc="0" normalizeH="0" baseline="0" noProof="0">
                <a:ln>
                  <a:noFill/>
                </a:ln>
                <a:solidFill>
                  <a:srgbClr val="000000"/>
                </a:solidFill>
                <a:effectLst/>
                <a:uLnTx/>
                <a:uFillTx/>
                <a:latin typeface="+mn-ea"/>
                <a:ea typeface="+mn-ea"/>
                <a:cs typeface="Tahoma" panose="020B0604030504040204" pitchFamily="34" charset="0"/>
              </a:rPr>
              <a:t>周辺ビジネスへの進出機会獲得</a:t>
            </a:r>
            <a:endParaRPr kumimoji="0" lang="en-US" altLang="ja-JP" sz="11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27" name="テキスト ボックス 26">
            <a:extLst>
              <a:ext uri="{FF2B5EF4-FFF2-40B4-BE49-F238E27FC236}">
                <a16:creationId xmlns:a16="http://schemas.microsoft.com/office/drawing/2014/main" id="{FF6B9CA8-8765-B3CD-6F02-7CD52CF057A7}"/>
              </a:ext>
            </a:extLst>
          </p:cNvPr>
          <p:cNvSpPr txBox="1"/>
          <p:nvPr/>
        </p:nvSpPr>
        <p:spPr>
          <a:xfrm>
            <a:off x="4672239" y="1760624"/>
            <a:ext cx="1184808" cy="1645248"/>
          </a:xfrm>
          <a:prstGeom prst="rect">
            <a:avLst/>
          </a:prstGeom>
          <a:solidFill>
            <a:srgbClr val="FFFFFF"/>
          </a:solidFill>
          <a:ln w="12700" cap="flat" cmpd="sng" algn="ctr">
            <a:solidFill>
              <a:srgbClr val="FFFFFF">
                <a:lumMod val="50000"/>
              </a:srgbClr>
            </a:solidFill>
            <a:prstDash val="solid"/>
          </a:ln>
          <a:effectLst/>
        </p:spPr>
        <p:txBody>
          <a:bodyPr wrap="square" lIns="32659" tIns="32659" rIns="32659" bIns="32659"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MTBJ</a:t>
            </a: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保持データ</a:t>
            </a:r>
            <a:endPar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28" name="テキスト ボックス 27">
            <a:extLst>
              <a:ext uri="{FF2B5EF4-FFF2-40B4-BE49-F238E27FC236}">
                <a16:creationId xmlns:a16="http://schemas.microsoft.com/office/drawing/2014/main" id="{CB862219-5989-A35C-1284-18D0FE5BDFF3}"/>
              </a:ext>
            </a:extLst>
          </p:cNvPr>
          <p:cNvSpPr txBox="1"/>
          <p:nvPr/>
        </p:nvSpPr>
        <p:spPr>
          <a:xfrm>
            <a:off x="6058656" y="1760622"/>
            <a:ext cx="881757" cy="1645251"/>
          </a:xfrm>
          <a:prstGeom prst="rect">
            <a:avLst/>
          </a:prstGeom>
          <a:solidFill>
            <a:srgbClr val="FFFFFF"/>
          </a:solidFill>
          <a:ln w="12700" cap="flat" cmpd="sng" algn="ctr">
            <a:solidFill>
              <a:srgbClr val="FFFFFF">
                <a:lumMod val="50000"/>
              </a:srgbClr>
            </a:solidFill>
            <a:prstDash val="solid"/>
          </a:ln>
          <a:effectLst/>
        </p:spPr>
        <p:txBody>
          <a:bodyPr wrap="square" lIns="32659" tIns="32659" rIns="32659" bIns="32659"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受託支援</a:t>
            </a:r>
            <a:br>
              <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b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システム</a:t>
            </a:r>
            <a:endPar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29" name="テキスト ボックス 28">
            <a:extLst>
              <a:ext uri="{FF2B5EF4-FFF2-40B4-BE49-F238E27FC236}">
                <a16:creationId xmlns:a16="http://schemas.microsoft.com/office/drawing/2014/main" id="{68E0A8E1-E9CF-DACE-97AF-89AD70CC0DA6}"/>
              </a:ext>
            </a:extLst>
          </p:cNvPr>
          <p:cNvSpPr txBox="1"/>
          <p:nvPr/>
        </p:nvSpPr>
        <p:spPr>
          <a:xfrm>
            <a:off x="7192078" y="1760332"/>
            <a:ext cx="1345582" cy="1645544"/>
          </a:xfrm>
          <a:prstGeom prst="rect">
            <a:avLst/>
          </a:prstGeom>
          <a:solidFill>
            <a:srgbClr val="FFFFFF"/>
          </a:solidFill>
          <a:ln w="12700" cap="flat" cmpd="sng" algn="ctr">
            <a:solidFill>
              <a:srgbClr val="FFFFFF">
                <a:lumMod val="50000"/>
              </a:srgbClr>
            </a:solidFill>
            <a:prstDash val="solid"/>
          </a:ln>
          <a:effectLst/>
        </p:spPr>
        <p:txBody>
          <a:bodyPr wrap="square" lIns="32659" tIns="32659" rIns="32659" bIns="32659"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dirty="0">
                <a:solidFill>
                  <a:srgbClr val="000000"/>
                </a:solidFill>
                <a:latin typeface="+mn-ea"/>
                <a:ea typeface="+mn-ea"/>
              </a:rPr>
              <a:t>ディスクローズ</a:t>
            </a:r>
            <a:r>
              <a:rPr kumimoji="0" lang="ja-JP" altLang="en-US"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rPr>
              <a:t>システム</a:t>
            </a:r>
            <a:endParaRPr kumimoji="0" lang="en-US" altLang="ja-JP"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p:txBody>
      </p:sp>
      <p:sp>
        <p:nvSpPr>
          <p:cNvPr id="30" name="フローチャート: 磁気ディスク 29">
            <a:extLst>
              <a:ext uri="{FF2B5EF4-FFF2-40B4-BE49-F238E27FC236}">
                <a16:creationId xmlns:a16="http://schemas.microsoft.com/office/drawing/2014/main" id="{D9D3248A-AFA7-D4BC-B82D-01E27D600C00}"/>
              </a:ext>
            </a:extLst>
          </p:cNvPr>
          <p:cNvSpPr/>
          <p:nvPr/>
        </p:nvSpPr>
        <p:spPr>
          <a:xfrm>
            <a:off x="4862638" y="2068665"/>
            <a:ext cx="804009" cy="354160"/>
          </a:xfrm>
          <a:prstGeom prst="flowChartMagneticDisk">
            <a:avLst/>
          </a:prstGeom>
          <a:solidFill>
            <a:srgbClr val="FFFFFF"/>
          </a:solidFill>
          <a:ln w="9525" cap="flat" cmpd="sng" algn="ctr">
            <a:solidFill>
              <a:srgbClr val="FFFFFF">
                <a:lumMod val="65000"/>
              </a:srgbClr>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mn-ea"/>
                <a:cs typeface="+mn-cs"/>
              </a:rPr>
              <a:t>MTBJ</a:t>
            </a:r>
            <a:br>
              <a:rPr kumimoji="0" lang="en-US" altLang="ja-JP" sz="1000" b="0" i="0" u="none" strike="noStrike" kern="0" cap="none" spc="0" normalizeH="0" baseline="0" noProof="0">
                <a:ln>
                  <a:noFill/>
                </a:ln>
                <a:solidFill>
                  <a:srgbClr val="000000"/>
                </a:solidFill>
                <a:effectLst/>
                <a:uLnTx/>
                <a:uFillTx/>
                <a:latin typeface="+mn-ea"/>
                <a:cs typeface="+mn-cs"/>
              </a:rPr>
            </a:br>
            <a:r>
              <a:rPr kumimoji="0" lang="ja-JP" altLang="en-US" sz="1000" b="0" i="0" u="none" strike="noStrike" kern="0" cap="none" spc="0" normalizeH="0" baseline="0" noProof="0">
                <a:ln>
                  <a:noFill/>
                </a:ln>
                <a:solidFill>
                  <a:srgbClr val="000000"/>
                </a:solidFill>
                <a:effectLst/>
                <a:uLnTx/>
                <a:uFillTx/>
                <a:latin typeface="+mn-ea"/>
                <a:cs typeface="+mn-cs"/>
              </a:rPr>
              <a:t>業務データ</a:t>
            </a:r>
          </a:p>
        </p:txBody>
      </p:sp>
      <p:sp>
        <p:nvSpPr>
          <p:cNvPr id="31" name="フローチャート: 磁気ディスク 30">
            <a:extLst>
              <a:ext uri="{FF2B5EF4-FFF2-40B4-BE49-F238E27FC236}">
                <a16:creationId xmlns:a16="http://schemas.microsoft.com/office/drawing/2014/main" id="{B74E5779-E78C-04C6-CD15-1357000349C6}"/>
              </a:ext>
            </a:extLst>
          </p:cNvPr>
          <p:cNvSpPr/>
          <p:nvPr/>
        </p:nvSpPr>
        <p:spPr>
          <a:xfrm>
            <a:off x="4862638" y="2441134"/>
            <a:ext cx="804009" cy="354160"/>
          </a:xfrm>
          <a:prstGeom prst="flowChartMagneticDisk">
            <a:avLst/>
          </a:prstGeom>
          <a:solidFill>
            <a:srgbClr val="FFFFFF"/>
          </a:solidFill>
          <a:ln w="9525" cap="flat" cmpd="sng" algn="ctr">
            <a:solidFill>
              <a:srgbClr val="FFFFFF">
                <a:lumMod val="65000"/>
              </a:srgbClr>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mn-ea"/>
                <a:cs typeface="+mn-cs"/>
              </a:rPr>
              <a:t>他社受託</a:t>
            </a:r>
            <a:br>
              <a:rPr kumimoji="0" lang="en-US" altLang="ja-JP" sz="1000" b="0" i="0" u="none" strike="noStrike" kern="0" cap="none" spc="0" normalizeH="0" baseline="0" noProof="0">
                <a:ln>
                  <a:noFill/>
                </a:ln>
                <a:solidFill>
                  <a:srgbClr val="000000"/>
                </a:solidFill>
                <a:effectLst/>
                <a:uLnTx/>
                <a:uFillTx/>
                <a:latin typeface="+mn-ea"/>
                <a:cs typeface="+mn-cs"/>
              </a:rPr>
            </a:br>
            <a:r>
              <a:rPr kumimoji="0" lang="ja-JP" altLang="en-US" sz="1000" b="0" i="0" u="none" strike="noStrike" kern="0" cap="none" spc="0" normalizeH="0" baseline="0" noProof="0">
                <a:ln>
                  <a:noFill/>
                </a:ln>
                <a:solidFill>
                  <a:srgbClr val="000000"/>
                </a:solidFill>
                <a:effectLst/>
                <a:uLnTx/>
                <a:uFillTx/>
                <a:latin typeface="+mn-ea"/>
                <a:cs typeface="+mn-cs"/>
              </a:rPr>
              <a:t>データ</a:t>
            </a:r>
            <a:endParaRPr kumimoji="0" lang="en-US" altLang="ja-JP" sz="1000" b="0" i="0" u="none" strike="noStrike" kern="0" cap="none" spc="0" normalizeH="0" baseline="0" noProof="0">
              <a:ln>
                <a:noFill/>
              </a:ln>
              <a:solidFill>
                <a:srgbClr val="000000"/>
              </a:solidFill>
              <a:effectLst/>
              <a:uLnTx/>
              <a:uFillTx/>
              <a:latin typeface="+mn-ea"/>
              <a:cs typeface="+mn-cs"/>
            </a:endParaRPr>
          </a:p>
        </p:txBody>
      </p:sp>
      <p:sp>
        <p:nvSpPr>
          <p:cNvPr id="32" name="フローチャート: 磁気ディスク 31">
            <a:extLst>
              <a:ext uri="{FF2B5EF4-FFF2-40B4-BE49-F238E27FC236}">
                <a16:creationId xmlns:a16="http://schemas.microsoft.com/office/drawing/2014/main" id="{2467F90D-E695-364F-E6D9-8A6D080D4065}"/>
              </a:ext>
            </a:extLst>
          </p:cNvPr>
          <p:cNvSpPr/>
          <p:nvPr/>
        </p:nvSpPr>
        <p:spPr>
          <a:xfrm>
            <a:off x="4862638" y="2813603"/>
            <a:ext cx="804009" cy="354160"/>
          </a:xfrm>
          <a:prstGeom prst="flowChartMagneticDisk">
            <a:avLst/>
          </a:prstGeom>
          <a:solidFill>
            <a:srgbClr val="FFFFFF"/>
          </a:solidFill>
          <a:ln w="9525" cap="flat" cmpd="sng" algn="ctr">
            <a:solidFill>
              <a:srgbClr val="FFFFFF">
                <a:lumMod val="65000"/>
              </a:srgbClr>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mn-ea"/>
                <a:cs typeface="+mn-cs"/>
              </a:rPr>
              <a:t>外部情報</a:t>
            </a:r>
            <a:br>
              <a:rPr kumimoji="0" lang="en-US" altLang="ja-JP" sz="1000" b="0" i="0" u="none" strike="noStrike" kern="0" cap="none" spc="0" normalizeH="0" baseline="0" noProof="0">
                <a:ln>
                  <a:noFill/>
                </a:ln>
                <a:solidFill>
                  <a:srgbClr val="000000"/>
                </a:solidFill>
                <a:effectLst/>
                <a:uLnTx/>
                <a:uFillTx/>
                <a:latin typeface="+mn-ea"/>
                <a:cs typeface="+mn-cs"/>
              </a:rPr>
            </a:br>
            <a:r>
              <a:rPr kumimoji="0" lang="ja-JP" altLang="en-US" sz="1000" b="0" i="0" u="none" strike="noStrike" kern="0" cap="none" spc="0" normalizeH="0" baseline="0" noProof="0">
                <a:ln>
                  <a:noFill/>
                </a:ln>
                <a:solidFill>
                  <a:srgbClr val="000000"/>
                </a:solidFill>
                <a:effectLst/>
                <a:uLnTx/>
                <a:uFillTx/>
                <a:latin typeface="+mn-ea"/>
                <a:cs typeface="+mn-cs"/>
              </a:rPr>
              <a:t>ベンダデータ</a:t>
            </a:r>
          </a:p>
        </p:txBody>
      </p:sp>
      <p:grpSp>
        <p:nvGrpSpPr>
          <p:cNvPr id="33" name="グループ化 32">
            <a:extLst>
              <a:ext uri="{FF2B5EF4-FFF2-40B4-BE49-F238E27FC236}">
                <a16:creationId xmlns:a16="http://schemas.microsoft.com/office/drawing/2014/main" id="{AFC58C56-D3CE-2ECB-2D5D-534E956D77FE}"/>
              </a:ext>
            </a:extLst>
          </p:cNvPr>
          <p:cNvGrpSpPr/>
          <p:nvPr/>
        </p:nvGrpSpPr>
        <p:grpSpPr>
          <a:xfrm>
            <a:off x="6154770" y="2196163"/>
            <a:ext cx="689528" cy="974806"/>
            <a:chOff x="6770585" y="2557715"/>
            <a:chExt cx="1221541" cy="1038195"/>
          </a:xfrm>
        </p:grpSpPr>
        <p:sp>
          <p:nvSpPr>
            <p:cNvPr id="34" name="テキスト ボックス 33">
              <a:extLst>
                <a:ext uri="{FF2B5EF4-FFF2-40B4-BE49-F238E27FC236}">
                  <a16:creationId xmlns:a16="http://schemas.microsoft.com/office/drawing/2014/main" id="{6B9EC47F-4F6A-EDBB-F5BA-5E2F6C93E945}"/>
                </a:ext>
              </a:extLst>
            </p:cNvPr>
            <p:cNvSpPr txBox="1"/>
            <p:nvPr/>
          </p:nvSpPr>
          <p:spPr>
            <a:xfrm>
              <a:off x="6770585" y="2557715"/>
              <a:ext cx="354333" cy="1038195"/>
            </a:xfrm>
            <a:prstGeom prst="rect">
              <a:avLst/>
            </a:prstGeom>
            <a:solidFill>
              <a:srgbClr val="FFFFFF"/>
            </a:solidFill>
            <a:ln w="12700" cap="flat" cmpd="sng" algn="ctr">
              <a:solidFill>
                <a:srgbClr val="FFFFFF">
                  <a:lumMod val="50000"/>
                </a:srgbClr>
              </a:solidFill>
              <a:prstDash val="solid"/>
            </a:ln>
            <a:effectLst/>
          </p:spPr>
          <p:txBody>
            <a:bodyPr vert="eaVert"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uLnTx/>
                  <a:uFillTx/>
                  <a:latin typeface="+mn-ea"/>
                  <a:ea typeface="+mn-ea"/>
                  <a:cs typeface="Tahoma" panose="020B0604030504040204" pitchFamily="34" charset="0"/>
                </a:rPr>
                <a:t>データ収集</a:t>
              </a:r>
              <a:endParaRPr kumimoji="0" lang="en-US" altLang="ja-JP" sz="11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35" name="テキスト ボックス 34">
              <a:extLst>
                <a:ext uri="{FF2B5EF4-FFF2-40B4-BE49-F238E27FC236}">
                  <a16:creationId xmlns:a16="http://schemas.microsoft.com/office/drawing/2014/main" id="{0129C5AD-CD3B-C814-E370-280C0A259694}"/>
                </a:ext>
              </a:extLst>
            </p:cNvPr>
            <p:cNvSpPr txBox="1"/>
            <p:nvPr/>
          </p:nvSpPr>
          <p:spPr>
            <a:xfrm>
              <a:off x="7204189" y="2557715"/>
              <a:ext cx="354333" cy="1038195"/>
            </a:xfrm>
            <a:prstGeom prst="rect">
              <a:avLst/>
            </a:prstGeom>
            <a:solidFill>
              <a:srgbClr val="FFFFFF"/>
            </a:solidFill>
            <a:ln w="12700" cap="flat" cmpd="sng" algn="ctr">
              <a:solidFill>
                <a:srgbClr val="FFFFFF">
                  <a:lumMod val="50000"/>
                </a:srgbClr>
              </a:solidFill>
              <a:prstDash val="solid"/>
            </a:ln>
            <a:effectLst/>
          </p:spPr>
          <p:txBody>
            <a:bodyPr vert="eaVert"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uLnTx/>
                  <a:uFillTx/>
                  <a:latin typeface="+mn-ea"/>
                  <a:ea typeface="+mn-ea"/>
                  <a:cs typeface="Tahoma" panose="020B0604030504040204" pitchFamily="34" charset="0"/>
                </a:rPr>
                <a:t>データ加工</a:t>
              </a:r>
              <a:endParaRPr kumimoji="0" lang="en-US" altLang="ja-JP" sz="11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36" name="テキスト ボックス 35">
              <a:extLst>
                <a:ext uri="{FF2B5EF4-FFF2-40B4-BE49-F238E27FC236}">
                  <a16:creationId xmlns:a16="http://schemas.microsoft.com/office/drawing/2014/main" id="{9BE4B0B0-0649-F1A9-B412-6BB0387B9D25}"/>
                </a:ext>
              </a:extLst>
            </p:cNvPr>
            <p:cNvSpPr txBox="1"/>
            <p:nvPr/>
          </p:nvSpPr>
          <p:spPr>
            <a:xfrm>
              <a:off x="7637793" y="2557715"/>
              <a:ext cx="354333" cy="1038195"/>
            </a:xfrm>
            <a:prstGeom prst="rect">
              <a:avLst/>
            </a:prstGeom>
            <a:solidFill>
              <a:srgbClr val="FFFFFF"/>
            </a:solidFill>
            <a:ln w="12700" cap="flat" cmpd="sng" algn="ctr">
              <a:solidFill>
                <a:srgbClr val="FFFFFF">
                  <a:lumMod val="50000"/>
                </a:srgbClr>
              </a:solidFill>
              <a:prstDash val="solid"/>
            </a:ln>
            <a:effectLst/>
          </p:spPr>
          <p:txBody>
            <a:bodyPr vert="eaVert"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加工後データ</a:t>
              </a:r>
              <a:endParaRPr kumimoji="0" lang="en-US" altLang="ja-JP" sz="1100" b="0"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p:txBody>
        </p:sp>
      </p:grpSp>
      <p:sp>
        <p:nvSpPr>
          <p:cNvPr id="37" name="テキスト ボックス 36">
            <a:extLst>
              <a:ext uri="{FF2B5EF4-FFF2-40B4-BE49-F238E27FC236}">
                <a16:creationId xmlns:a16="http://schemas.microsoft.com/office/drawing/2014/main" id="{0A74A355-5FA7-8292-EEBB-0ADBC2CE5347}"/>
              </a:ext>
            </a:extLst>
          </p:cNvPr>
          <p:cNvSpPr txBox="1"/>
          <p:nvPr/>
        </p:nvSpPr>
        <p:spPr>
          <a:xfrm>
            <a:off x="7323475" y="2085540"/>
            <a:ext cx="1112051" cy="569938"/>
          </a:xfrm>
          <a:prstGeom prst="rect">
            <a:avLst/>
          </a:prstGeom>
          <a:solidFill>
            <a:srgbClr val="FFFFFF"/>
          </a:solidFill>
          <a:ln w="12700" cap="flat" cmpd="sng" algn="ctr">
            <a:solidFill>
              <a:srgbClr val="FFFFFF">
                <a:lumMod val="50000"/>
              </a:srgbClr>
            </a:solidFill>
            <a:prstDash val="solid"/>
          </a:ln>
          <a:effectLst/>
        </p:spPr>
        <p:txBody>
          <a:bodyPr wrap="square" lIns="32659" tIns="32659" rIns="32659" bIns="32659"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000000"/>
                </a:solidFill>
                <a:effectLst/>
                <a:uLnTx/>
                <a:uFillTx/>
                <a:latin typeface="+mn-ea"/>
                <a:ea typeface="+mn-ea"/>
                <a:cs typeface="Tahoma" panose="020B0604030504040204" pitchFamily="34" charset="0"/>
              </a:rPr>
              <a:t>受託業務における</a:t>
            </a:r>
            <a:endParaRPr kumimoji="0" lang="en-US" altLang="ja-JP" sz="8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000000"/>
                </a:solidFill>
                <a:effectLst/>
                <a:uLnTx/>
                <a:uFillTx/>
                <a:latin typeface="+mn-ea"/>
                <a:ea typeface="+mn-ea"/>
                <a:cs typeface="Tahoma" panose="020B0604030504040204" pitchFamily="34" charset="0"/>
              </a:rPr>
              <a:t>データ開示</a:t>
            </a:r>
            <a:endParaRPr kumimoji="0" lang="en-US" altLang="ja-JP" sz="8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38" name="フローチャート: 磁気ディスク 37">
            <a:extLst>
              <a:ext uri="{FF2B5EF4-FFF2-40B4-BE49-F238E27FC236}">
                <a16:creationId xmlns:a16="http://schemas.microsoft.com/office/drawing/2014/main" id="{89F54D7B-21DC-6ADD-4218-28A7AE2A5CF8}"/>
              </a:ext>
            </a:extLst>
          </p:cNvPr>
          <p:cNvSpPr/>
          <p:nvPr/>
        </p:nvSpPr>
        <p:spPr>
          <a:xfrm>
            <a:off x="7437296" y="2388346"/>
            <a:ext cx="884410" cy="219905"/>
          </a:xfrm>
          <a:prstGeom prst="flowChartMagneticDisk">
            <a:avLst/>
          </a:prstGeom>
          <a:solidFill>
            <a:srgbClr val="FFFFFF"/>
          </a:solidFill>
          <a:ln w="9525" cap="flat" cmpd="sng" algn="ctr">
            <a:solidFill>
              <a:srgbClr val="FFFFFF">
                <a:lumMod val="65000"/>
              </a:srgbClr>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mn-ea"/>
                <a:cs typeface="+mn-cs"/>
              </a:rPr>
              <a:t>約</a:t>
            </a:r>
            <a:r>
              <a:rPr kumimoji="0" lang="en-US" altLang="ja-JP" sz="1000" b="0" i="0" u="none" strike="noStrike" kern="0" cap="none" spc="0" normalizeH="0" baseline="0" noProof="0">
                <a:ln>
                  <a:noFill/>
                </a:ln>
                <a:solidFill>
                  <a:srgbClr val="000000"/>
                </a:solidFill>
                <a:effectLst/>
                <a:uLnTx/>
                <a:uFillTx/>
                <a:latin typeface="+mn-ea"/>
                <a:cs typeface="+mn-cs"/>
              </a:rPr>
              <a:t>60</a:t>
            </a:r>
            <a:r>
              <a:rPr kumimoji="0" lang="ja-JP" altLang="en-US" sz="1000" b="0" i="0" u="none" strike="noStrike" kern="0" cap="none" spc="0" normalizeH="0" baseline="0" noProof="0">
                <a:ln>
                  <a:noFill/>
                </a:ln>
                <a:solidFill>
                  <a:srgbClr val="000000"/>
                </a:solidFill>
                <a:effectLst/>
                <a:uLnTx/>
                <a:uFillTx/>
                <a:latin typeface="+mn-ea"/>
                <a:cs typeface="+mn-cs"/>
              </a:rPr>
              <a:t>レポート</a:t>
            </a:r>
          </a:p>
        </p:txBody>
      </p:sp>
      <p:sp>
        <p:nvSpPr>
          <p:cNvPr id="39" name="テキスト ボックス 38">
            <a:extLst>
              <a:ext uri="{FF2B5EF4-FFF2-40B4-BE49-F238E27FC236}">
                <a16:creationId xmlns:a16="http://schemas.microsoft.com/office/drawing/2014/main" id="{EB3BAE1A-0592-3CAB-49F2-14ABE6277D03}"/>
              </a:ext>
            </a:extLst>
          </p:cNvPr>
          <p:cNvSpPr txBox="1"/>
          <p:nvPr/>
        </p:nvSpPr>
        <p:spPr>
          <a:xfrm>
            <a:off x="7323475" y="2714284"/>
            <a:ext cx="1112051" cy="569938"/>
          </a:xfrm>
          <a:prstGeom prst="rect">
            <a:avLst/>
          </a:prstGeom>
          <a:solidFill>
            <a:srgbClr val="FFFFFF"/>
          </a:solidFill>
          <a:ln w="12700" cap="flat" cmpd="sng" algn="ctr">
            <a:solidFill>
              <a:srgbClr val="FFFFFF">
                <a:lumMod val="50000"/>
              </a:srgbClr>
            </a:solidFill>
            <a:prstDash val="solid"/>
          </a:ln>
          <a:effectLst/>
        </p:spPr>
        <p:txBody>
          <a:bodyPr wrap="square" lIns="32659" tIns="32659" rIns="32659" bIns="32659"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000000"/>
                </a:solidFill>
                <a:effectLst/>
                <a:uLnTx/>
                <a:uFillTx/>
                <a:latin typeface="+mn-ea"/>
                <a:ea typeface="+mn-ea"/>
                <a:cs typeface="Tahoma" panose="020B0604030504040204" pitchFamily="34" charset="0"/>
              </a:rPr>
              <a:t>マス顧客向け</a:t>
            </a:r>
            <a:endParaRPr kumimoji="0" lang="en-US" altLang="ja-JP" sz="8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000000"/>
                </a:solidFill>
                <a:effectLst/>
                <a:uLnTx/>
                <a:uFillTx/>
                <a:latin typeface="+mn-ea"/>
                <a:ea typeface="+mn-ea"/>
                <a:cs typeface="Tahoma" panose="020B0604030504040204" pitchFamily="34" charset="0"/>
              </a:rPr>
              <a:t>データ提供サービス</a:t>
            </a:r>
            <a:endParaRPr kumimoji="0" lang="en-US" altLang="ja-JP" sz="8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40" name="フローチャート: 磁気ディスク 39">
            <a:extLst>
              <a:ext uri="{FF2B5EF4-FFF2-40B4-BE49-F238E27FC236}">
                <a16:creationId xmlns:a16="http://schemas.microsoft.com/office/drawing/2014/main" id="{22372D7F-D963-3CF6-C985-2D77D2EE1E81}"/>
              </a:ext>
            </a:extLst>
          </p:cNvPr>
          <p:cNvSpPr/>
          <p:nvPr/>
        </p:nvSpPr>
        <p:spPr>
          <a:xfrm>
            <a:off x="7437296" y="3017089"/>
            <a:ext cx="884410" cy="219905"/>
          </a:xfrm>
          <a:prstGeom prst="flowChartMagneticDisk">
            <a:avLst/>
          </a:prstGeom>
          <a:solidFill>
            <a:srgbClr val="FFFFFF"/>
          </a:solidFill>
          <a:ln w="9525" cap="flat" cmpd="sng" algn="ctr">
            <a:solidFill>
              <a:srgbClr val="FFFFFF">
                <a:lumMod val="65000"/>
              </a:srgbClr>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mn-ea"/>
                <a:cs typeface="+mn-cs"/>
              </a:rPr>
              <a:t>負荷価値データ</a:t>
            </a:r>
          </a:p>
        </p:txBody>
      </p:sp>
      <p:sp>
        <p:nvSpPr>
          <p:cNvPr id="41" name="テキスト ボックス 40">
            <a:extLst>
              <a:ext uri="{FF2B5EF4-FFF2-40B4-BE49-F238E27FC236}">
                <a16:creationId xmlns:a16="http://schemas.microsoft.com/office/drawing/2014/main" id="{131E3FFE-5DCD-5CEF-FA64-D7907EA8A1CB}"/>
              </a:ext>
            </a:extLst>
          </p:cNvPr>
          <p:cNvSpPr txBox="1"/>
          <p:nvPr/>
        </p:nvSpPr>
        <p:spPr>
          <a:xfrm>
            <a:off x="4672238" y="3533908"/>
            <a:ext cx="1184808" cy="1701834"/>
          </a:xfrm>
          <a:prstGeom prst="rect">
            <a:avLst/>
          </a:prstGeom>
          <a:solidFill>
            <a:srgbClr val="FFFFFF"/>
          </a:solidFill>
          <a:ln w="12700" cap="flat" cmpd="sng" algn="ctr">
            <a:solidFill>
              <a:srgbClr val="FFFFFF">
                <a:lumMod val="50000"/>
              </a:srgbClr>
            </a:solidFill>
            <a:prstDash val="solid"/>
          </a:ln>
          <a:effectLst/>
        </p:spPr>
        <p:txBody>
          <a:bodyPr wrap="square" lIns="32659" tIns="32659" rIns="32659" bIns="32659"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000000"/>
                </a:solidFill>
                <a:effectLst/>
                <a:uLnTx/>
                <a:uFillTx/>
                <a:latin typeface="+mn-ea"/>
                <a:ea typeface="+mn-ea"/>
                <a:cs typeface="Tahoma" panose="020B0604030504040204" pitchFamily="34" charset="0"/>
              </a:rPr>
              <a:t>社外データ</a:t>
            </a:r>
            <a:endParaRPr kumimoji="0" lang="en-US" altLang="ja-JP" sz="1100" b="1"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42" name="フローチャート: 磁気ディスク 41">
            <a:extLst>
              <a:ext uri="{FF2B5EF4-FFF2-40B4-BE49-F238E27FC236}">
                <a16:creationId xmlns:a16="http://schemas.microsoft.com/office/drawing/2014/main" id="{682CF55A-94EF-57D3-961B-596641BCE2AC}"/>
              </a:ext>
            </a:extLst>
          </p:cNvPr>
          <p:cNvSpPr/>
          <p:nvPr/>
        </p:nvSpPr>
        <p:spPr>
          <a:xfrm>
            <a:off x="4862637" y="3908382"/>
            <a:ext cx="804009" cy="354160"/>
          </a:xfrm>
          <a:prstGeom prst="flowChartMagneticDisk">
            <a:avLst/>
          </a:prstGeom>
          <a:solidFill>
            <a:srgbClr val="FFFFFF"/>
          </a:solidFill>
          <a:ln w="9525" cap="flat" cmpd="sng" algn="ctr">
            <a:solidFill>
              <a:srgbClr val="FFFFFF">
                <a:lumMod val="65000"/>
              </a:srgbClr>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mn-ea"/>
                <a:cs typeface="+mn-cs"/>
              </a:rPr>
              <a:t>他社受託</a:t>
            </a:r>
            <a:br>
              <a:rPr kumimoji="0" lang="en-US" altLang="ja-JP" sz="1000" b="0" i="0" u="none" strike="noStrike" kern="0" cap="none" spc="0" normalizeH="0" baseline="0" noProof="0">
                <a:ln>
                  <a:noFill/>
                </a:ln>
                <a:solidFill>
                  <a:srgbClr val="000000"/>
                </a:solidFill>
                <a:effectLst/>
                <a:uLnTx/>
                <a:uFillTx/>
                <a:latin typeface="+mn-ea"/>
                <a:cs typeface="+mn-cs"/>
              </a:rPr>
            </a:br>
            <a:r>
              <a:rPr kumimoji="0" lang="ja-JP" altLang="en-US" sz="1000" b="0" i="0" u="none" strike="noStrike" kern="0" cap="none" spc="0" normalizeH="0" baseline="0" noProof="0">
                <a:ln>
                  <a:noFill/>
                </a:ln>
                <a:solidFill>
                  <a:srgbClr val="000000"/>
                </a:solidFill>
                <a:effectLst/>
                <a:uLnTx/>
                <a:uFillTx/>
                <a:latin typeface="+mn-ea"/>
                <a:cs typeface="+mn-cs"/>
              </a:rPr>
              <a:t>データ</a:t>
            </a:r>
          </a:p>
        </p:txBody>
      </p:sp>
      <p:sp>
        <p:nvSpPr>
          <p:cNvPr id="43" name="フローチャート: 磁気ディスク 42">
            <a:extLst>
              <a:ext uri="{FF2B5EF4-FFF2-40B4-BE49-F238E27FC236}">
                <a16:creationId xmlns:a16="http://schemas.microsoft.com/office/drawing/2014/main" id="{EA999767-B439-0255-3AA8-29B5718A8978}"/>
              </a:ext>
            </a:extLst>
          </p:cNvPr>
          <p:cNvSpPr/>
          <p:nvPr/>
        </p:nvSpPr>
        <p:spPr>
          <a:xfrm>
            <a:off x="4862637" y="4280851"/>
            <a:ext cx="804009" cy="354160"/>
          </a:xfrm>
          <a:prstGeom prst="flowChartMagneticDisk">
            <a:avLst/>
          </a:prstGeom>
          <a:solidFill>
            <a:srgbClr val="FFFFFF"/>
          </a:solidFill>
          <a:ln w="9525" cap="flat" cmpd="sng" algn="ctr">
            <a:solidFill>
              <a:srgbClr val="FFFFFF">
                <a:lumMod val="65000"/>
              </a:srgbClr>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mn-ea"/>
                <a:cs typeface="+mn-cs"/>
              </a:rPr>
              <a:t>情報ベンダ</a:t>
            </a:r>
            <a:endParaRPr kumimoji="0" lang="en-US" altLang="ja-JP" sz="1000" b="0" i="0" u="none" strike="noStrike" kern="0" cap="none" spc="0" normalizeH="0" baseline="0" noProof="0">
              <a:ln>
                <a:noFill/>
              </a:ln>
              <a:solidFill>
                <a:srgbClr val="000000"/>
              </a:solidFill>
              <a:effectLst/>
              <a:uLnTx/>
              <a:uFillTx/>
              <a:latin typeface="+mn-ea"/>
              <a:cs typeface="+mn-cs"/>
            </a:endParaRPr>
          </a:p>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mn-ea"/>
                <a:cs typeface="+mn-cs"/>
              </a:rPr>
              <a:t>データ</a:t>
            </a:r>
            <a:endParaRPr kumimoji="0" lang="en-US" altLang="ja-JP" sz="1000" b="0" i="0" u="none" strike="noStrike" kern="0" cap="none" spc="0" normalizeH="0" baseline="0" noProof="0">
              <a:ln>
                <a:noFill/>
              </a:ln>
              <a:solidFill>
                <a:srgbClr val="000000"/>
              </a:solidFill>
              <a:effectLst/>
              <a:uLnTx/>
              <a:uFillTx/>
              <a:latin typeface="+mn-ea"/>
              <a:cs typeface="+mn-cs"/>
            </a:endParaRPr>
          </a:p>
        </p:txBody>
      </p:sp>
      <p:sp>
        <p:nvSpPr>
          <p:cNvPr id="44" name="フローチャート: 磁気ディスク 43">
            <a:extLst>
              <a:ext uri="{FF2B5EF4-FFF2-40B4-BE49-F238E27FC236}">
                <a16:creationId xmlns:a16="http://schemas.microsoft.com/office/drawing/2014/main" id="{C0A0C0CF-0C11-9776-4060-F956A04F6D1C}"/>
              </a:ext>
            </a:extLst>
          </p:cNvPr>
          <p:cNvSpPr/>
          <p:nvPr/>
        </p:nvSpPr>
        <p:spPr>
          <a:xfrm>
            <a:off x="4862637" y="4653320"/>
            <a:ext cx="804009" cy="354160"/>
          </a:xfrm>
          <a:prstGeom prst="flowChartMagneticDisk">
            <a:avLst/>
          </a:prstGeom>
          <a:solidFill>
            <a:srgbClr val="FFFFFF"/>
          </a:solidFill>
          <a:ln w="9525" cap="flat" cmpd="sng" algn="ctr">
            <a:solidFill>
              <a:srgbClr val="FFFFFF">
                <a:lumMod val="65000"/>
              </a:srgbClr>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mn-ea"/>
                <a:cs typeface="+mn-cs"/>
              </a:rPr>
              <a:t>その他</a:t>
            </a:r>
            <a:endParaRPr kumimoji="0" lang="en-US" altLang="ja-JP" sz="1000" b="0" i="0" u="none" strike="noStrike" kern="0" cap="none" spc="0" normalizeH="0" baseline="0" noProof="0">
              <a:ln>
                <a:noFill/>
              </a:ln>
              <a:solidFill>
                <a:srgbClr val="000000"/>
              </a:solidFill>
              <a:effectLst/>
              <a:uLnTx/>
              <a:uFillTx/>
              <a:latin typeface="+mn-ea"/>
              <a:cs typeface="+mn-cs"/>
            </a:endParaRPr>
          </a:p>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000000"/>
                </a:solidFill>
                <a:effectLst/>
                <a:uLnTx/>
                <a:uFillTx/>
                <a:latin typeface="+mn-ea"/>
                <a:cs typeface="+mn-cs"/>
              </a:rPr>
              <a:t>顧客要望</a:t>
            </a:r>
          </a:p>
        </p:txBody>
      </p:sp>
      <p:sp>
        <p:nvSpPr>
          <p:cNvPr id="45" name="テキスト ボックス 44">
            <a:extLst>
              <a:ext uri="{FF2B5EF4-FFF2-40B4-BE49-F238E27FC236}">
                <a16:creationId xmlns:a16="http://schemas.microsoft.com/office/drawing/2014/main" id="{E1E44276-A46A-9646-1D3E-C4D2222F62ED}"/>
              </a:ext>
            </a:extLst>
          </p:cNvPr>
          <p:cNvSpPr txBox="1"/>
          <p:nvPr/>
        </p:nvSpPr>
        <p:spPr>
          <a:xfrm>
            <a:off x="6058655" y="3533908"/>
            <a:ext cx="2479005" cy="1701833"/>
          </a:xfrm>
          <a:prstGeom prst="rect">
            <a:avLst/>
          </a:prstGeom>
          <a:solidFill>
            <a:srgbClr val="FFFFFF"/>
          </a:solidFill>
          <a:ln w="12700" cap="flat" cmpd="sng" algn="ctr">
            <a:solidFill>
              <a:srgbClr val="FFFFFF">
                <a:lumMod val="50000"/>
              </a:srgbClr>
            </a:solidFill>
            <a:prstDash val="solid"/>
          </a:ln>
          <a:effectLst/>
        </p:spPr>
        <p:txBody>
          <a:bodyPr wrap="square" lIns="32659" tIns="32659" rIns="32659" bIns="32659"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dirty="0">
                <a:solidFill>
                  <a:srgbClr val="000000"/>
                </a:solidFill>
                <a:latin typeface="+mn-ea"/>
                <a:ea typeface="+mn-ea"/>
              </a:rPr>
              <a:t>大手</a:t>
            </a:r>
            <a:r>
              <a:rPr kumimoji="0" lang="ja-JP" altLang="en-US"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rPr>
              <a:t>顧客向け</a:t>
            </a:r>
            <a:br>
              <a:rPr kumimoji="0" lang="en-US" altLang="ja-JP"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rPr>
            </a:br>
            <a:r>
              <a:rPr kumimoji="0" lang="ja-JP" altLang="en-US"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rPr>
              <a:t>データマネジメントサービス基盤</a:t>
            </a:r>
            <a:endParaRPr kumimoji="0" lang="en-US" altLang="ja-JP"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p:txBody>
      </p:sp>
      <p:grpSp>
        <p:nvGrpSpPr>
          <p:cNvPr id="46" name="グループ化 45">
            <a:extLst>
              <a:ext uri="{FF2B5EF4-FFF2-40B4-BE49-F238E27FC236}">
                <a16:creationId xmlns:a16="http://schemas.microsoft.com/office/drawing/2014/main" id="{8525B161-FA97-07E1-3D91-100495698070}"/>
              </a:ext>
            </a:extLst>
          </p:cNvPr>
          <p:cNvGrpSpPr/>
          <p:nvPr/>
        </p:nvGrpSpPr>
        <p:grpSpPr>
          <a:xfrm>
            <a:off x="6154770" y="4004965"/>
            <a:ext cx="689528" cy="1144853"/>
            <a:chOff x="6770585" y="2557715"/>
            <a:chExt cx="1221541" cy="1038195"/>
          </a:xfrm>
        </p:grpSpPr>
        <p:sp>
          <p:nvSpPr>
            <p:cNvPr id="47" name="テキスト ボックス 46">
              <a:extLst>
                <a:ext uri="{FF2B5EF4-FFF2-40B4-BE49-F238E27FC236}">
                  <a16:creationId xmlns:a16="http://schemas.microsoft.com/office/drawing/2014/main" id="{035E5D49-92BA-D4B5-E263-A7E0E717C8B8}"/>
                </a:ext>
              </a:extLst>
            </p:cNvPr>
            <p:cNvSpPr txBox="1"/>
            <p:nvPr/>
          </p:nvSpPr>
          <p:spPr>
            <a:xfrm>
              <a:off x="6770585" y="2557715"/>
              <a:ext cx="354333" cy="1038195"/>
            </a:xfrm>
            <a:prstGeom prst="rect">
              <a:avLst/>
            </a:prstGeom>
            <a:solidFill>
              <a:srgbClr val="FFFFFF"/>
            </a:solidFill>
            <a:ln w="12700" cap="flat" cmpd="sng" algn="ctr">
              <a:solidFill>
                <a:srgbClr val="FFFFFF">
                  <a:lumMod val="50000"/>
                </a:srgbClr>
              </a:solidFill>
              <a:prstDash val="solid"/>
            </a:ln>
            <a:effectLst/>
          </p:spPr>
          <p:txBody>
            <a:bodyPr vert="eaVert"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uLnTx/>
                  <a:uFillTx/>
                  <a:latin typeface="+mn-ea"/>
                  <a:ea typeface="+mn-ea"/>
                  <a:cs typeface="Tahoma" panose="020B0604030504040204" pitchFamily="34" charset="0"/>
                </a:rPr>
                <a:t>データ収集</a:t>
              </a:r>
              <a:endParaRPr kumimoji="0" lang="en-US" altLang="ja-JP" sz="11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48" name="テキスト ボックス 47">
              <a:extLst>
                <a:ext uri="{FF2B5EF4-FFF2-40B4-BE49-F238E27FC236}">
                  <a16:creationId xmlns:a16="http://schemas.microsoft.com/office/drawing/2014/main" id="{DF0EBD8D-1F90-0ADD-1942-F33C290416AB}"/>
                </a:ext>
              </a:extLst>
            </p:cNvPr>
            <p:cNvSpPr txBox="1"/>
            <p:nvPr/>
          </p:nvSpPr>
          <p:spPr>
            <a:xfrm>
              <a:off x="7204189" y="2557715"/>
              <a:ext cx="354333" cy="1038195"/>
            </a:xfrm>
            <a:prstGeom prst="rect">
              <a:avLst/>
            </a:prstGeom>
            <a:solidFill>
              <a:srgbClr val="FFFFFF"/>
            </a:solidFill>
            <a:ln w="12700" cap="flat" cmpd="sng" algn="ctr">
              <a:solidFill>
                <a:srgbClr val="FFFFFF">
                  <a:lumMod val="50000"/>
                </a:srgbClr>
              </a:solidFill>
              <a:prstDash val="solid"/>
            </a:ln>
            <a:effectLst/>
          </p:spPr>
          <p:txBody>
            <a:bodyPr vert="eaVert"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uLnTx/>
                  <a:uFillTx/>
                  <a:latin typeface="+mn-ea"/>
                  <a:ea typeface="+mn-ea"/>
                  <a:cs typeface="Tahoma" panose="020B0604030504040204" pitchFamily="34" charset="0"/>
                </a:rPr>
                <a:t>データ加工</a:t>
              </a:r>
              <a:endParaRPr kumimoji="0" lang="en-US" altLang="ja-JP" sz="11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49" name="テキスト ボックス 48">
              <a:extLst>
                <a:ext uri="{FF2B5EF4-FFF2-40B4-BE49-F238E27FC236}">
                  <a16:creationId xmlns:a16="http://schemas.microsoft.com/office/drawing/2014/main" id="{AB4A0507-9228-D271-AA1A-01FC084ABC44}"/>
                </a:ext>
              </a:extLst>
            </p:cNvPr>
            <p:cNvSpPr txBox="1"/>
            <p:nvPr/>
          </p:nvSpPr>
          <p:spPr>
            <a:xfrm>
              <a:off x="7637793" y="2557715"/>
              <a:ext cx="354333" cy="1038195"/>
            </a:xfrm>
            <a:prstGeom prst="rect">
              <a:avLst/>
            </a:prstGeom>
            <a:solidFill>
              <a:srgbClr val="FFFFFF"/>
            </a:solidFill>
            <a:ln w="12700" cap="flat" cmpd="sng" algn="ctr">
              <a:solidFill>
                <a:srgbClr val="FFFFFF">
                  <a:lumMod val="50000"/>
                </a:srgbClr>
              </a:solidFill>
              <a:prstDash val="solid"/>
            </a:ln>
            <a:effectLst/>
          </p:spPr>
          <p:txBody>
            <a:bodyPr vert="eaVert"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000000"/>
                  </a:solidFill>
                  <a:effectLst/>
                  <a:uLnTx/>
                  <a:uFillTx/>
                  <a:latin typeface="+mn-ea"/>
                  <a:ea typeface="+mn-ea"/>
                  <a:cs typeface="Tahoma" panose="020B0604030504040204" pitchFamily="34" charset="0"/>
                </a:rPr>
                <a:t>加工後データ</a:t>
              </a:r>
              <a:endParaRPr kumimoji="0" lang="en-US" altLang="ja-JP" sz="11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grpSp>
      <p:sp>
        <p:nvSpPr>
          <p:cNvPr id="50" name="テキスト ボックス 49">
            <a:extLst>
              <a:ext uri="{FF2B5EF4-FFF2-40B4-BE49-F238E27FC236}">
                <a16:creationId xmlns:a16="http://schemas.microsoft.com/office/drawing/2014/main" id="{58D664A8-392D-0732-A022-D164849D11C8}"/>
              </a:ext>
            </a:extLst>
          </p:cNvPr>
          <p:cNvSpPr txBox="1"/>
          <p:nvPr/>
        </p:nvSpPr>
        <p:spPr>
          <a:xfrm>
            <a:off x="7192078" y="4004965"/>
            <a:ext cx="1291790" cy="886070"/>
          </a:xfrm>
          <a:prstGeom prst="rect">
            <a:avLst/>
          </a:prstGeom>
          <a:solidFill>
            <a:srgbClr val="FFFFFF"/>
          </a:solidFill>
          <a:ln w="12700" cap="flat" cmpd="sng" algn="ctr">
            <a:solidFill>
              <a:srgbClr val="FFFFFF">
                <a:lumMod val="50000"/>
              </a:srgbClr>
            </a:solidFill>
            <a:prstDash val="solid"/>
          </a:ln>
          <a:effectLst/>
        </p:spPr>
        <p:txBody>
          <a:bodyPr wrap="square" lIns="32659" tIns="32659" rIns="32659" bIns="32659"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顧客別利用環境</a:t>
            </a:r>
            <a:r>
              <a:rPr kumimoji="0" lang="en-US" altLang="ja-JP" sz="8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a:t>
            </a:r>
            <a:r>
              <a:rPr kumimoji="0" lang="ja-JP" altLang="en-US" sz="8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デモ環境</a:t>
            </a:r>
            <a:r>
              <a:rPr kumimoji="0" lang="en-US" altLang="ja-JP" sz="8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a:t>
            </a:r>
          </a:p>
        </p:txBody>
      </p:sp>
      <p:sp>
        <p:nvSpPr>
          <p:cNvPr id="51" name="フローチャート: 磁気ディスク 50">
            <a:extLst>
              <a:ext uri="{FF2B5EF4-FFF2-40B4-BE49-F238E27FC236}">
                <a16:creationId xmlns:a16="http://schemas.microsoft.com/office/drawing/2014/main" id="{8D7E174E-65B3-32E2-379D-64D7A50A495B}"/>
              </a:ext>
            </a:extLst>
          </p:cNvPr>
          <p:cNvSpPr/>
          <p:nvPr/>
        </p:nvSpPr>
        <p:spPr>
          <a:xfrm>
            <a:off x="7535941" y="4215356"/>
            <a:ext cx="604064" cy="266085"/>
          </a:xfrm>
          <a:prstGeom prst="flowChartMagneticDisk">
            <a:avLst/>
          </a:prstGeom>
          <a:solidFill>
            <a:srgbClr val="FFFFFF"/>
          </a:solidFill>
          <a:ln w="9525" cap="flat" cmpd="sng" algn="ctr">
            <a:solidFill>
              <a:srgbClr val="FFFFFF">
                <a:lumMod val="65000"/>
              </a:srgbClr>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mn-ea"/>
                <a:cs typeface="+mn-cs"/>
              </a:rPr>
              <a:t>DWH</a:t>
            </a:r>
          </a:p>
        </p:txBody>
      </p:sp>
      <p:sp>
        <p:nvSpPr>
          <p:cNvPr id="52" name="フローチャート: 磁気ディスク 51">
            <a:extLst>
              <a:ext uri="{FF2B5EF4-FFF2-40B4-BE49-F238E27FC236}">
                <a16:creationId xmlns:a16="http://schemas.microsoft.com/office/drawing/2014/main" id="{FA32DB11-A01D-8F18-4811-51756595DB35}"/>
              </a:ext>
            </a:extLst>
          </p:cNvPr>
          <p:cNvSpPr/>
          <p:nvPr/>
        </p:nvSpPr>
        <p:spPr>
          <a:xfrm>
            <a:off x="7535941" y="4537796"/>
            <a:ext cx="604064" cy="266085"/>
          </a:xfrm>
          <a:prstGeom prst="flowChartMagneticDisk">
            <a:avLst/>
          </a:prstGeom>
          <a:solidFill>
            <a:srgbClr val="FFFFFF"/>
          </a:solidFill>
          <a:ln w="9525" cap="flat" cmpd="sng" algn="ctr">
            <a:solidFill>
              <a:srgbClr val="FFFFFF">
                <a:lumMod val="65000"/>
              </a:srgbClr>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mn-ea"/>
                <a:cs typeface="+mn-cs"/>
              </a:rPr>
              <a:t>DM</a:t>
            </a:r>
            <a:endParaRPr kumimoji="0" lang="ja-JP" altLang="en-US" sz="1000" b="0" i="0" u="none" strike="noStrike" kern="0" cap="none" spc="0" normalizeH="0" baseline="0" noProof="0">
              <a:ln>
                <a:noFill/>
              </a:ln>
              <a:solidFill>
                <a:srgbClr val="000000"/>
              </a:solidFill>
              <a:effectLst/>
              <a:uLnTx/>
              <a:uFillTx/>
              <a:latin typeface="+mn-ea"/>
              <a:cs typeface="+mn-cs"/>
            </a:endParaRPr>
          </a:p>
        </p:txBody>
      </p:sp>
      <p:pic>
        <p:nvPicPr>
          <p:cNvPr id="53" name="グラフィックス 52" descr="オフィス ワーカー (男性) 単色塗りつぶし">
            <a:extLst>
              <a:ext uri="{FF2B5EF4-FFF2-40B4-BE49-F238E27FC236}">
                <a16:creationId xmlns:a16="http://schemas.microsoft.com/office/drawing/2014/main" id="{4FC3A888-36D7-5FC7-9FF8-EF1882AB8C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85808" y="2123611"/>
            <a:ext cx="436828" cy="493799"/>
          </a:xfrm>
          <a:prstGeom prst="rect">
            <a:avLst/>
          </a:prstGeom>
        </p:spPr>
      </p:pic>
      <p:pic>
        <p:nvPicPr>
          <p:cNvPr id="54" name="グラフィックス 53" descr="オフィス ワーカー (男性) 単色塗りつぶし">
            <a:extLst>
              <a:ext uri="{FF2B5EF4-FFF2-40B4-BE49-F238E27FC236}">
                <a16:creationId xmlns:a16="http://schemas.microsoft.com/office/drawing/2014/main" id="{3EF4DFB2-ACB1-3837-43A6-FC8A8E0096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87813" y="2760383"/>
            <a:ext cx="436828" cy="493799"/>
          </a:xfrm>
          <a:prstGeom prst="rect">
            <a:avLst/>
          </a:prstGeom>
        </p:spPr>
      </p:pic>
      <p:sp>
        <p:nvSpPr>
          <p:cNvPr id="55" name="テキスト ボックス 54">
            <a:extLst>
              <a:ext uri="{FF2B5EF4-FFF2-40B4-BE49-F238E27FC236}">
                <a16:creationId xmlns:a16="http://schemas.microsoft.com/office/drawing/2014/main" id="{3EB245F2-7D28-9F15-DCAA-F436DE490C92}"/>
              </a:ext>
            </a:extLst>
          </p:cNvPr>
          <p:cNvSpPr txBox="1"/>
          <p:nvPr/>
        </p:nvSpPr>
        <p:spPr>
          <a:xfrm>
            <a:off x="7192078" y="4940480"/>
            <a:ext cx="1291790" cy="209342"/>
          </a:xfrm>
          <a:prstGeom prst="rect">
            <a:avLst/>
          </a:prstGeom>
          <a:solidFill>
            <a:srgbClr val="FFFFFF"/>
          </a:solidFill>
          <a:ln w="12700" cap="flat" cmpd="sng" algn="ctr">
            <a:solidFill>
              <a:srgbClr val="FFFFFF">
                <a:lumMod val="50000"/>
              </a:srgbClr>
            </a:solidFill>
            <a:prstDash val="solid"/>
          </a:ln>
          <a:effectLst/>
        </p:spPr>
        <p:txBody>
          <a:bodyPr wrap="square" lIns="32659" tIns="32659" rIns="32659" bIns="32659"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000000"/>
                </a:solidFill>
                <a:effectLst/>
                <a:uLnTx/>
                <a:uFillTx/>
                <a:latin typeface="+mn-ea"/>
                <a:ea typeface="+mn-ea"/>
                <a:cs typeface="Tahoma" panose="020B0604030504040204" pitchFamily="34" charset="0"/>
              </a:rPr>
              <a:t>顧別利用環境</a:t>
            </a:r>
            <a:endParaRPr kumimoji="0" lang="en-US" altLang="ja-JP" sz="8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cxnSp>
        <p:nvCxnSpPr>
          <p:cNvPr id="56" name="直線矢印コネクタ 55">
            <a:extLst>
              <a:ext uri="{FF2B5EF4-FFF2-40B4-BE49-F238E27FC236}">
                <a16:creationId xmlns:a16="http://schemas.microsoft.com/office/drawing/2014/main" id="{6F23E3D4-3EFA-5B45-9AD0-46475E470448}"/>
              </a:ext>
            </a:extLst>
          </p:cNvPr>
          <p:cNvCxnSpPr>
            <a:stCxn id="27" idx="3"/>
            <a:endCxn id="28" idx="1"/>
          </p:cNvCxnSpPr>
          <p:nvPr/>
        </p:nvCxnSpPr>
        <p:spPr>
          <a:xfrm>
            <a:off x="5857047" y="2583248"/>
            <a:ext cx="201608" cy="0"/>
          </a:xfrm>
          <a:prstGeom prst="straightConnector1">
            <a:avLst/>
          </a:prstGeom>
          <a:noFill/>
          <a:ln w="9525" cap="flat" cmpd="sng" algn="ctr">
            <a:solidFill>
              <a:srgbClr val="000000"/>
            </a:solidFill>
            <a:prstDash val="solid"/>
            <a:tailEnd type="triangle"/>
          </a:ln>
          <a:effectLst/>
        </p:spPr>
      </p:cxnSp>
      <p:cxnSp>
        <p:nvCxnSpPr>
          <p:cNvPr id="57" name="直線矢印コネクタ 56">
            <a:extLst>
              <a:ext uri="{FF2B5EF4-FFF2-40B4-BE49-F238E27FC236}">
                <a16:creationId xmlns:a16="http://schemas.microsoft.com/office/drawing/2014/main" id="{48F97CCE-D71D-16BA-E42A-856B33943B55}"/>
              </a:ext>
            </a:extLst>
          </p:cNvPr>
          <p:cNvCxnSpPr>
            <a:cxnSpLocks/>
            <a:stCxn id="28" idx="3"/>
            <a:endCxn id="29" idx="1"/>
          </p:cNvCxnSpPr>
          <p:nvPr/>
        </p:nvCxnSpPr>
        <p:spPr>
          <a:xfrm flipV="1">
            <a:off x="6940413" y="2583104"/>
            <a:ext cx="251665" cy="144"/>
          </a:xfrm>
          <a:prstGeom prst="straightConnector1">
            <a:avLst/>
          </a:prstGeom>
          <a:noFill/>
          <a:ln w="9525" cap="flat" cmpd="sng" algn="ctr">
            <a:solidFill>
              <a:srgbClr val="000000"/>
            </a:solidFill>
            <a:prstDash val="solid"/>
            <a:tailEnd type="triangle"/>
          </a:ln>
          <a:effectLst/>
        </p:spPr>
      </p:cxnSp>
      <p:cxnSp>
        <p:nvCxnSpPr>
          <p:cNvPr id="58" name="直線矢印コネクタ 57">
            <a:extLst>
              <a:ext uri="{FF2B5EF4-FFF2-40B4-BE49-F238E27FC236}">
                <a16:creationId xmlns:a16="http://schemas.microsoft.com/office/drawing/2014/main" id="{C35103E4-2EFE-D1E3-8D7D-B08DADE80D4E}"/>
              </a:ext>
            </a:extLst>
          </p:cNvPr>
          <p:cNvCxnSpPr>
            <a:cxnSpLocks/>
            <a:stCxn id="41" idx="3"/>
            <a:endCxn id="45" idx="1"/>
          </p:cNvCxnSpPr>
          <p:nvPr/>
        </p:nvCxnSpPr>
        <p:spPr>
          <a:xfrm>
            <a:off x="5857046" y="4384825"/>
            <a:ext cx="201608" cy="0"/>
          </a:xfrm>
          <a:prstGeom prst="straightConnector1">
            <a:avLst/>
          </a:prstGeom>
          <a:noFill/>
          <a:ln w="9525" cap="flat" cmpd="sng" algn="ctr">
            <a:solidFill>
              <a:srgbClr val="000000"/>
            </a:solidFill>
            <a:prstDash val="solid"/>
            <a:tailEnd type="triangle"/>
          </a:ln>
          <a:effectLst/>
        </p:spPr>
      </p:cxnSp>
      <p:cxnSp>
        <p:nvCxnSpPr>
          <p:cNvPr id="59" name="直線矢印コネクタ 58">
            <a:extLst>
              <a:ext uri="{FF2B5EF4-FFF2-40B4-BE49-F238E27FC236}">
                <a16:creationId xmlns:a16="http://schemas.microsoft.com/office/drawing/2014/main" id="{7FA748EC-728E-56D6-7673-BAB6900384AA}"/>
              </a:ext>
            </a:extLst>
          </p:cNvPr>
          <p:cNvCxnSpPr>
            <a:cxnSpLocks/>
          </p:cNvCxnSpPr>
          <p:nvPr/>
        </p:nvCxnSpPr>
        <p:spPr>
          <a:xfrm>
            <a:off x="6499535" y="3405873"/>
            <a:ext cx="0" cy="128035"/>
          </a:xfrm>
          <a:prstGeom prst="straightConnector1">
            <a:avLst/>
          </a:prstGeom>
          <a:noFill/>
          <a:ln w="9525" cap="flat" cmpd="sng" algn="ctr">
            <a:solidFill>
              <a:srgbClr val="000000"/>
            </a:solidFill>
            <a:prstDash val="solid"/>
            <a:tailEnd type="triangle"/>
          </a:ln>
          <a:effectLst/>
        </p:spPr>
      </p:cxnSp>
      <p:cxnSp>
        <p:nvCxnSpPr>
          <p:cNvPr id="60" name="直線矢印コネクタ 59">
            <a:extLst>
              <a:ext uri="{FF2B5EF4-FFF2-40B4-BE49-F238E27FC236}">
                <a16:creationId xmlns:a16="http://schemas.microsoft.com/office/drawing/2014/main" id="{12FB44C3-E11B-3706-92CC-54D6AE0E4DE6}"/>
              </a:ext>
            </a:extLst>
          </p:cNvPr>
          <p:cNvCxnSpPr>
            <a:cxnSpLocks/>
            <a:stCxn id="49" idx="3"/>
            <a:endCxn id="51" idx="2"/>
          </p:cNvCxnSpPr>
          <p:nvPr/>
        </p:nvCxnSpPr>
        <p:spPr>
          <a:xfrm flipV="1">
            <a:off x="6844298" y="4348398"/>
            <a:ext cx="691643" cy="0"/>
          </a:xfrm>
          <a:prstGeom prst="straightConnector1">
            <a:avLst/>
          </a:prstGeom>
          <a:noFill/>
          <a:ln w="9525" cap="flat" cmpd="sng" algn="ctr">
            <a:solidFill>
              <a:srgbClr val="000000"/>
            </a:solidFill>
            <a:prstDash val="solid"/>
            <a:tailEnd type="triangle"/>
          </a:ln>
          <a:effectLst/>
        </p:spPr>
      </p:cxnSp>
      <p:cxnSp>
        <p:nvCxnSpPr>
          <p:cNvPr id="61" name="直線矢印コネクタ 60">
            <a:extLst>
              <a:ext uri="{FF2B5EF4-FFF2-40B4-BE49-F238E27FC236}">
                <a16:creationId xmlns:a16="http://schemas.microsoft.com/office/drawing/2014/main" id="{F56A80DF-2CB9-CA89-9384-A1BE5F65A2C3}"/>
              </a:ext>
            </a:extLst>
          </p:cNvPr>
          <p:cNvCxnSpPr>
            <a:cxnSpLocks/>
          </p:cNvCxnSpPr>
          <p:nvPr/>
        </p:nvCxnSpPr>
        <p:spPr>
          <a:xfrm>
            <a:off x="6844298" y="4670839"/>
            <a:ext cx="691643" cy="0"/>
          </a:xfrm>
          <a:prstGeom prst="straightConnector1">
            <a:avLst/>
          </a:prstGeom>
          <a:noFill/>
          <a:ln w="9525" cap="flat" cmpd="sng" algn="ctr">
            <a:solidFill>
              <a:srgbClr val="000000"/>
            </a:solidFill>
            <a:prstDash val="solid"/>
            <a:tailEnd type="triangle"/>
          </a:ln>
          <a:effectLst/>
        </p:spPr>
      </p:cxnSp>
      <p:cxnSp>
        <p:nvCxnSpPr>
          <p:cNvPr id="62" name="直線矢印コネクタ 61">
            <a:extLst>
              <a:ext uri="{FF2B5EF4-FFF2-40B4-BE49-F238E27FC236}">
                <a16:creationId xmlns:a16="http://schemas.microsoft.com/office/drawing/2014/main" id="{C859813A-BA3C-2864-67E2-9D936DDB9051}"/>
              </a:ext>
            </a:extLst>
          </p:cNvPr>
          <p:cNvCxnSpPr>
            <a:cxnSpLocks/>
          </p:cNvCxnSpPr>
          <p:nvPr/>
        </p:nvCxnSpPr>
        <p:spPr>
          <a:xfrm>
            <a:off x="6844298" y="5045150"/>
            <a:ext cx="347780" cy="0"/>
          </a:xfrm>
          <a:prstGeom prst="straightConnector1">
            <a:avLst/>
          </a:prstGeom>
          <a:noFill/>
          <a:ln w="9525" cap="flat" cmpd="sng" algn="ctr">
            <a:solidFill>
              <a:srgbClr val="000000"/>
            </a:solidFill>
            <a:prstDash val="solid"/>
            <a:tailEnd type="triangle"/>
          </a:ln>
          <a:effectLst/>
        </p:spPr>
      </p:cxnSp>
      <p:cxnSp>
        <p:nvCxnSpPr>
          <p:cNvPr id="63" name="直線矢印コネクタ 62">
            <a:extLst>
              <a:ext uri="{FF2B5EF4-FFF2-40B4-BE49-F238E27FC236}">
                <a16:creationId xmlns:a16="http://schemas.microsoft.com/office/drawing/2014/main" id="{0510D70F-D67F-1FB9-3646-12365CD53B40}"/>
              </a:ext>
            </a:extLst>
          </p:cNvPr>
          <p:cNvCxnSpPr>
            <a:cxnSpLocks/>
            <a:stCxn id="37" idx="3"/>
          </p:cNvCxnSpPr>
          <p:nvPr/>
        </p:nvCxnSpPr>
        <p:spPr>
          <a:xfrm flipV="1">
            <a:off x="8435526" y="2362909"/>
            <a:ext cx="545258" cy="0"/>
          </a:xfrm>
          <a:prstGeom prst="straightConnector1">
            <a:avLst/>
          </a:prstGeom>
          <a:noFill/>
          <a:ln w="9525" cap="flat" cmpd="sng" algn="ctr">
            <a:solidFill>
              <a:srgbClr val="000000"/>
            </a:solidFill>
            <a:prstDash val="solid"/>
            <a:tailEnd type="triangle"/>
          </a:ln>
          <a:effectLst/>
        </p:spPr>
      </p:cxnSp>
      <p:cxnSp>
        <p:nvCxnSpPr>
          <p:cNvPr id="64" name="直線矢印コネクタ 63">
            <a:extLst>
              <a:ext uri="{FF2B5EF4-FFF2-40B4-BE49-F238E27FC236}">
                <a16:creationId xmlns:a16="http://schemas.microsoft.com/office/drawing/2014/main" id="{A3504274-1FD8-2616-8C62-DF42B28B9FC1}"/>
              </a:ext>
            </a:extLst>
          </p:cNvPr>
          <p:cNvCxnSpPr>
            <a:cxnSpLocks/>
            <a:stCxn id="37" idx="3"/>
            <a:endCxn id="54" idx="1"/>
          </p:cNvCxnSpPr>
          <p:nvPr/>
        </p:nvCxnSpPr>
        <p:spPr>
          <a:xfrm>
            <a:off x="8435526" y="2370510"/>
            <a:ext cx="552287" cy="636773"/>
          </a:xfrm>
          <a:prstGeom prst="straightConnector1">
            <a:avLst/>
          </a:prstGeom>
          <a:noFill/>
          <a:ln w="9525" cap="flat" cmpd="sng" algn="ctr">
            <a:solidFill>
              <a:srgbClr val="000000"/>
            </a:solidFill>
            <a:prstDash val="solid"/>
            <a:tailEnd type="triangle"/>
          </a:ln>
          <a:effectLst/>
        </p:spPr>
      </p:cxnSp>
      <p:cxnSp>
        <p:nvCxnSpPr>
          <p:cNvPr id="65" name="直線矢印コネクタ 64">
            <a:extLst>
              <a:ext uri="{FF2B5EF4-FFF2-40B4-BE49-F238E27FC236}">
                <a16:creationId xmlns:a16="http://schemas.microsoft.com/office/drawing/2014/main" id="{5E1896F5-8FFA-5838-B776-444E4E7D5515}"/>
              </a:ext>
            </a:extLst>
          </p:cNvPr>
          <p:cNvCxnSpPr>
            <a:cxnSpLocks/>
            <a:stCxn id="39" idx="3"/>
          </p:cNvCxnSpPr>
          <p:nvPr/>
        </p:nvCxnSpPr>
        <p:spPr>
          <a:xfrm flipV="1">
            <a:off x="8435526" y="2999252"/>
            <a:ext cx="545258" cy="1"/>
          </a:xfrm>
          <a:prstGeom prst="straightConnector1">
            <a:avLst/>
          </a:prstGeom>
          <a:noFill/>
          <a:ln w="9525" cap="flat" cmpd="sng" algn="ctr">
            <a:solidFill>
              <a:srgbClr val="000000"/>
            </a:solidFill>
            <a:prstDash val="solid"/>
            <a:tailEnd type="triangle"/>
          </a:ln>
          <a:effectLst/>
        </p:spPr>
      </p:cxnSp>
      <p:sp>
        <p:nvSpPr>
          <p:cNvPr id="106" name="テキスト ボックス 105">
            <a:extLst>
              <a:ext uri="{FF2B5EF4-FFF2-40B4-BE49-F238E27FC236}">
                <a16:creationId xmlns:a16="http://schemas.microsoft.com/office/drawing/2014/main" id="{290B26D8-9829-C6A5-D530-63B0A1C70A4E}"/>
              </a:ext>
            </a:extLst>
          </p:cNvPr>
          <p:cNvSpPr txBox="1"/>
          <p:nvPr/>
        </p:nvSpPr>
        <p:spPr>
          <a:xfrm>
            <a:off x="8599145" y="2239428"/>
            <a:ext cx="281132" cy="244272"/>
          </a:xfrm>
          <a:prstGeom prst="rect">
            <a:avLst/>
          </a:prstGeom>
          <a:solidFill>
            <a:srgbClr val="FFFFFF"/>
          </a:solidFill>
          <a:ln w="12700" cap="flat" cmpd="sng" algn="ctr">
            <a:noFill/>
            <a:prstDash val="solid"/>
          </a:ln>
          <a:effectLst/>
        </p:spPr>
        <p:txBody>
          <a:bodyPr wrap="square" lIns="0" tIns="0" rIns="0" bIns="0"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ダウン</a:t>
            </a:r>
            <a:endParaRPr kumimoji="0" lang="en-US" altLang="ja-JP" sz="7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ロード</a:t>
            </a:r>
            <a:endParaRPr kumimoji="0" lang="en-US" altLang="ja-JP" sz="7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107" name="テキスト ボックス 106">
            <a:extLst>
              <a:ext uri="{FF2B5EF4-FFF2-40B4-BE49-F238E27FC236}">
                <a16:creationId xmlns:a16="http://schemas.microsoft.com/office/drawing/2014/main" id="{579F1F92-18A7-544B-4B40-4FC8008E621A}"/>
              </a:ext>
            </a:extLst>
          </p:cNvPr>
          <p:cNvSpPr txBox="1"/>
          <p:nvPr/>
        </p:nvSpPr>
        <p:spPr>
          <a:xfrm>
            <a:off x="8599145" y="2674643"/>
            <a:ext cx="281132" cy="393403"/>
          </a:xfrm>
          <a:prstGeom prst="rect">
            <a:avLst/>
          </a:prstGeom>
          <a:solidFill>
            <a:srgbClr val="FFFFFF"/>
          </a:solidFill>
          <a:ln w="12700" cap="flat" cmpd="sng" algn="ctr">
            <a:noFill/>
            <a:prstDash val="solid"/>
          </a:ln>
          <a:effectLst/>
        </p:spPr>
        <p:txBody>
          <a:bodyPr wrap="square" lIns="0" tIns="0" rIns="0" bIns="0"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ダウン</a:t>
            </a:r>
            <a:endParaRPr kumimoji="0" lang="en-US" altLang="ja-JP" sz="7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ロード</a:t>
            </a:r>
            <a:endParaRPr kumimoji="0" lang="en-US" altLang="ja-JP" sz="7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pic>
        <p:nvPicPr>
          <p:cNvPr id="108" name="グラフィックス 107" descr="オフィス ワーカー (男性) 単色塗りつぶし">
            <a:extLst>
              <a:ext uri="{FF2B5EF4-FFF2-40B4-BE49-F238E27FC236}">
                <a16:creationId xmlns:a16="http://schemas.microsoft.com/office/drawing/2014/main" id="{29E13C49-7FE3-3106-E6AF-8ED250DB65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80784" y="4277123"/>
            <a:ext cx="436828" cy="493799"/>
          </a:xfrm>
          <a:prstGeom prst="rect">
            <a:avLst/>
          </a:prstGeom>
        </p:spPr>
      </p:pic>
      <p:cxnSp>
        <p:nvCxnSpPr>
          <p:cNvPr id="109" name="直線矢印コネクタ 108">
            <a:extLst>
              <a:ext uri="{FF2B5EF4-FFF2-40B4-BE49-F238E27FC236}">
                <a16:creationId xmlns:a16="http://schemas.microsoft.com/office/drawing/2014/main" id="{FE9C63BC-FB38-9038-4334-D0B948C3795E}"/>
              </a:ext>
            </a:extLst>
          </p:cNvPr>
          <p:cNvCxnSpPr>
            <a:cxnSpLocks/>
            <a:stCxn id="51" idx="4"/>
            <a:endCxn id="108" idx="1"/>
          </p:cNvCxnSpPr>
          <p:nvPr/>
        </p:nvCxnSpPr>
        <p:spPr>
          <a:xfrm>
            <a:off x="8140005" y="4348398"/>
            <a:ext cx="840779" cy="0"/>
          </a:xfrm>
          <a:prstGeom prst="straightConnector1">
            <a:avLst/>
          </a:prstGeom>
          <a:noFill/>
          <a:ln w="9525" cap="flat" cmpd="sng" algn="ctr">
            <a:solidFill>
              <a:srgbClr val="000000"/>
            </a:solidFill>
            <a:prstDash val="solid"/>
            <a:tailEnd type="triangle"/>
          </a:ln>
          <a:effectLst/>
        </p:spPr>
      </p:cxnSp>
      <p:sp>
        <p:nvSpPr>
          <p:cNvPr id="110" name="テキスト ボックス 109">
            <a:extLst>
              <a:ext uri="{FF2B5EF4-FFF2-40B4-BE49-F238E27FC236}">
                <a16:creationId xmlns:a16="http://schemas.microsoft.com/office/drawing/2014/main" id="{85293C49-CEAD-394F-FF5B-16C7C7D2AC65}"/>
              </a:ext>
            </a:extLst>
          </p:cNvPr>
          <p:cNvSpPr txBox="1"/>
          <p:nvPr/>
        </p:nvSpPr>
        <p:spPr>
          <a:xfrm>
            <a:off x="8587538" y="4223958"/>
            <a:ext cx="281132" cy="244272"/>
          </a:xfrm>
          <a:prstGeom prst="rect">
            <a:avLst/>
          </a:prstGeom>
          <a:solidFill>
            <a:srgbClr val="FFFFFF"/>
          </a:solidFill>
          <a:ln w="12700" cap="flat" cmpd="sng" algn="ctr">
            <a:noFill/>
            <a:prstDash val="solid"/>
          </a:ln>
          <a:effectLst/>
        </p:spPr>
        <p:txBody>
          <a:bodyPr wrap="square" lIns="0" tIns="0" rIns="0" bIns="0"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ダウン</a:t>
            </a:r>
            <a:endParaRPr kumimoji="0" lang="en-US" altLang="ja-JP" sz="7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ロード</a:t>
            </a:r>
            <a:endParaRPr kumimoji="0" lang="en-US" altLang="ja-JP" sz="7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cxnSp>
        <p:nvCxnSpPr>
          <p:cNvPr id="111" name="直線矢印コネクタ 110">
            <a:extLst>
              <a:ext uri="{FF2B5EF4-FFF2-40B4-BE49-F238E27FC236}">
                <a16:creationId xmlns:a16="http://schemas.microsoft.com/office/drawing/2014/main" id="{A8C00E07-4EC3-2B00-64F2-CF655A5C4019}"/>
              </a:ext>
            </a:extLst>
          </p:cNvPr>
          <p:cNvCxnSpPr>
            <a:cxnSpLocks/>
          </p:cNvCxnSpPr>
          <p:nvPr/>
        </p:nvCxnSpPr>
        <p:spPr>
          <a:xfrm flipV="1">
            <a:off x="8140005" y="4689479"/>
            <a:ext cx="840779" cy="0"/>
          </a:xfrm>
          <a:prstGeom prst="straightConnector1">
            <a:avLst/>
          </a:prstGeom>
          <a:noFill/>
          <a:ln w="9525" cap="flat" cmpd="sng" algn="ctr">
            <a:solidFill>
              <a:srgbClr val="000000"/>
            </a:solidFill>
            <a:prstDash val="solid"/>
            <a:headEnd type="triangle" w="med" len="med"/>
            <a:tailEnd type="none" w="med" len="med"/>
          </a:ln>
          <a:effectLst/>
        </p:spPr>
      </p:cxnSp>
      <p:sp>
        <p:nvSpPr>
          <p:cNvPr id="112" name="テキスト ボックス 111">
            <a:extLst>
              <a:ext uri="{FF2B5EF4-FFF2-40B4-BE49-F238E27FC236}">
                <a16:creationId xmlns:a16="http://schemas.microsoft.com/office/drawing/2014/main" id="{33300954-FF59-76FF-892D-97B549FD9B94}"/>
              </a:ext>
            </a:extLst>
          </p:cNvPr>
          <p:cNvSpPr txBox="1"/>
          <p:nvPr/>
        </p:nvSpPr>
        <p:spPr>
          <a:xfrm>
            <a:off x="8587538" y="4563813"/>
            <a:ext cx="281132" cy="244272"/>
          </a:xfrm>
          <a:prstGeom prst="rect">
            <a:avLst/>
          </a:prstGeom>
          <a:solidFill>
            <a:srgbClr val="FFFFFF"/>
          </a:solidFill>
          <a:ln w="12700" cap="flat" cmpd="sng" algn="ctr">
            <a:noFill/>
            <a:prstDash val="solid"/>
          </a:ln>
          <a:effectLst/>
        </p:spPr>
        <p:txBody>
          <a:bodyPr wrap="square" lIns="0" tIns="0" rIns="0" bIns="0"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アップロード</a:t>
            </a:r>
            <a:endParaRPr kumimoji="0" lang="en-US" altLang="ja-JP" sz="7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117" name="テキスト ボックス 116">
            <a:extLst>
              <a:ext uri="{FF2B5EF4-FFF2-40B4-BE49-F238E27FC236}">
                <a16:creationId xmlns:a16="http://schemas.microsoft.com/office/drawing/2014/main" id="{6C8E8C4E-246E-88D4-AD60-E9615F674EA5}"/>
              </a:ext>
            </a:extLst>
          </p:cNvPr>
          <p:cNvSpPr txBox="1"/>
          <p:nvPr/>
        </p:nvSpPr>
        <p:spPr>
          <a:xfrm>
            <a:off x="8998419" y="2611595"/>
            <a:ext cx="411606" cy="125350"/>
          </a:xfrm>
          <a:prstGeom prst="rect">
            <a:avLst/>
          </a:prstGeom>
          <a:solidFill>
            <a:srgbClr val="FFFFFF"/>
          </a:solidFill>
          <a:ln w="12700" cap="flat" cmpd="sng" algn="ctr">
            <a:noFill/>
            <a:prstDash val="solid"/>
          </a:ln>
          <a:effectLst/>
        </p:spPr>
        <p:txBody>
          <a:bodyPr wrap="square" lIns="0" tIns="0" rIns="0" bIns="0"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全顧客</a:t>
            </a:r>
            <a:endParaRPr kumimoji="0" lang="en-US" altLang="ja-JP" sz="7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118" name="テキスト ボックス 117">
            <a:extLst>
              <a:ext uri="{FF2B5EF4-FFF2-40B4-BE49-F238E27FC236}">
                <a16:creationId xmlns:a16="http://schemas.microsoft.com/office/drawing/2014/main" id="{42E350FE-F17D-B7A9-1A4D-F25AEAC60445}"/>
              </a:ext>
            </a:extLst>
          </p:cNvPr>
          <p:cNvSpPr txBox="1"/>
          <p:nvPr/>
        </p:nvSpPr>
        <p:spPr>
          <a:xfrm>
            <a:off x="8932303" y="3246586"/>
            <a:ext cx="547848" cy="125350"/>
          </a:xfrm>
          <a:prstGeom prst="rect">
            <a:avLst/>
          </a:prstGeom>
          <a:solidFill>
            <a:srgbClr val="FFFFFF"/>
          </a:solidFill>
          <a:ln w="12700" cap="flat" cmpd="sng" algn="ctr">
            <a:noFill/>
            <a:prstDash val="solid"/>
          </a:ln>
          <a:effectLst/>
        </p:spPr>
        <p:txBody>
          <a:bodyPr wrap="square" lIns="0" tIns="0" rIns="0" bIns="0"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全契約顧客</a:t>
            </a:r>
            <a:endParaRPr kumimoji="0" lang="en-US" altLang="ja-JP" sz="700" b="0" i="0" u="none" strike="noStrike" kern="0" cap="none" spc="0" normalizeH="0" baseline="0" noProof="0">
              <a:ln>
                <a:noFill/>
              </a:ln>
              <a:solidFill>
                <a:srgbClr val="000000"/>
              </a:solidFill>
              <a:effectLst/>
              <a:uLnTx/>
              <a:uFillTx/>
              <a:latin typeface="+mn-ea"/>
              <a:ea typeface="+mn-ea"/>
              <a:cs typeface="Tahoma" panose="020B0604030504040204" pitchFamily="34" charset="0"/>
            </a:endParaRPr>
          </a:p>
        </p:txBody>
      </p:sp>
      <p:sp>
        <p:nvSpPr>
          <p:cNvPr id="119" name="テキスト ボックス 118">
            <a:extLst>
              <a:ext uri="{FF2B5EF4-FFF2-40B4-BE49-F238E27FC236}">
                <a16:creationId xmlns:a16="http://schemas.microsoft.com/office/drawing/2014/main" id="{9A5CE332-814B-D509-8720-6A896D8971F5}"/>
              </a:ext>
            </a:extLst>
          </p:cNvPr>
          <p:cNvSpPr txBox="1"/>
          <p:nvPr/>
        </p:nvSpPr>
        <p:spPr>
          <a:xfrm>
            <a:off x="8932296" y="4771441"/>
            <a:ext cx="547848" cy="125350"/>
          </a:xfrm>
          <a:prstGeom prst="rect">
            <a:avLst/>
          </a:prstGeom>
          <a:solidFill>
            <a:srgbClr val="FFFFFF"/>
          </a:solidFill>
          <a:ln w="12700" cap="flat" cmpd="sng" algn="ctr">
            <a:noFill/>
            <a:prstDash val="solid"/>
          </a:ln>
          <a:effectLst/>
        </p:spPr>
        <p:txBody>
          <a:bodyPr wrap="square" lIns="0" tIns="0" rIns="0" bIns="0" rtlCol="0" anchor="t"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顧客</a:t>
            </a:r>
            <a:r>
              <a:rPr kumimoji="0" lang="en-US" altLang="ja-JP" sz="700" b="0" i="0" u="none" strike="noStrike" kern="0" cap="none" spc="0" normalizeH="0" baseline="0" noProof="0">
                <a:ln>
                  <a:noFill/>
                </a:ln>
                <a:solidFill>
                  <a:srgbClr val="000000"/>
                </a:solidFill>
                <a:effectLst/>
                <a:uLnTx/>
                <a:uFillTx/>
                <a:latin typeface="+mn-ea"/>
                <a:ea typeface="+mn-ea"/>
                <a:cs typeface="Tahoma" panose="020B0604030504040204" pitchFamily="34" charset="0"/>
              </a:rPr>
              <a:t>A</a:t>
            </a:r>
          </a:p>
        </p:txBody>
      </p:sp>
      <p:sp>
        <p:nvSpPr>
          <p:cNvPr id="120" name="テキスト ボックス 119">
            <a:extLst>
              <a:ext uri="{FF2B5EF4-FFF2-40B4-BE49-F238E27FC236}">
                <a16:creationId xmlns:a16="http://schemas.microsoft.com/office/drawing/2014/main" id="{A84F253A-A048-549A-F754-DF10BFAEE48F}"/>
              </a:ext>
            </a:extLst>
          </p:cNvPr>
          <p:cNvSpPr txBox="1"/>
          <p:nvPr/>
        </p:nvSpPr>
        <p:spPr>
          <a:xfrm>
            <a:off x="4672238" y="5346288"/>
            <a:ext cx="826699" cy="501233"/>
          </a:xfrm>
          <a:prstGeom prst="rect">
            <a:avLst/>
          </a:prstGeom>
          <a:solidFill>
            <a:srgbClr val="FFFFFF">
              <a:lumMod val="95000"/>
            </a:srgbClr>
          </a:solidFill>
          <a:ln w="12700" cap="flat" cmpd="sng" algn="ctr">
            <a:solidFill>
              <a:srgbClr val="FFFFFF">
                <a:lumMod val="50000"/>
              </a:srgbClr>
            </a:solid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dirty="0">
                <a:solidFill>
                  <a:srgbClr val="000000"/>
                </a:solidFill>
                <a:latin typeface="+mn-ea"/>
                <a:ea typeface="+mn-ea"/>
              </a:rPr>
              <a:t>大手</a:t>
            </a:r>
            <a:r>
              <a:rPr kumimoji="0" lang="ja-JP" altLang="en-US"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rPr>
              <a:t>顧客</a:t>
            </a:r>
            <a:endParaRPr kumimoji="0" lang="en-US" altLang="ja-JP"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rPr>
              <a:t>対応</a:t>
            </a:r>
            <a:endParaRPr kumimoji="0" lang="en-US" altLang="ja-JP"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p:txBody>
      </p:sp>
      <p:sp>
        <p:nvSpPr>
          <p:cNvPr id="121" name="テキスト ボックス 120">
            <a:extLst>
              <a:ext uri="{FF2B5EF4-FFF2-40B4-BE49-F238E27FC236}">
                <a16:creationId xmlns:a16="http://schemas.microsoft.com/office/drawing/2014/main" id="{BCFDBB6A-87C7-36D1-C867-536FAC0C1116}"/>
              </a:ext>
            </a:extLst>
          </p:cNvPr>
          <p:cNvSpPr txBox="1"/>
          <p:nvPr/>
        </p:nvSpPr>
        <p:spPr>
          <a:xfrm>
            <a:off x="4672238" y="5917537"/>
            <a:ext cx="826699" cy="501233"/>
          </a:xfrm>
          <a:prstGeom prst="rect">
            <a:avLst/>
          </a:prstGeom>
          <a:solidFill>
            <a:srgbClr val="FFFFFF">
              <a:lumMod val="95000"/>
            </a:srgbClr>
          </a:solidFill>
          <a:ln w="12700" cap="flat" cmpd="sng" algn="ctr">
            <a:solidFill>
              <a:srgbClr val="FFFFFF">
                <a:lumMod val="50000"/>
              </a:srgbClr>
            </a:solid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dirty="0">
                <a:solidFill>
                  <a:srgbClr val="000000"/>
                </a:solidFill>
                <a:latin typeface="+mn-ea"/>
                <a:ea typeface="+mn-ea"/>
              </a:rPr>
              <a:t>一般</a:t>
            </a:r>
            <a:r>
              <a:rPr kumimoji="0" lang="ja-JP" altLang="en-US"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rPr>
              <a:t>顧客</a:t>
            </a:r>
            <a:endParaRPr kumimoji="0" lang="en-US" altLang="ja-JP"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a:p>
            <a:pPr marL="0" marR="0" lvl="0" indent="0" algn="ctr" defTabSz="824110" eaLnBrk="0" fontAlgn="auto" latinLnBrk="0" hangingPunct="0">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rPr>
              <a:t>対応</a:t>
            </a:r>
            <a:endParaRPr kumimoji="0" lang="en-US" altLang="ja-JP" sz="1100" b="1"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p:txBody>
      </p:sp>
      <p:sp>
        <p:nvSpPr>
          <p:cNvPr id="122" name="テキスト ボックス 121">
            <a:extLst>
              <a:ext uri="{FF2B5EF4-FFF2-40B4-BE49-F238E27FC236}">
                <a16:creationId xmlns:a16="http://schemas.microsoft.com/office/drawing/2014/main" id="{80FACF0A-76DF-F77A-9365-278959D13CBA}"/>
              </a:ext>
            </a:extLst>
          </p:cNvPr>
          <p:cNvSpPr txBox="1"/>
          <p:nvPr/>
        </p:nvSpPr>
        <p:spPr>
          <a:xfrm>
            <a:off x="5543920" y="5346288"/>
            <a:ext cx="3848387" cy="501233"/>
          </a:xfrm>
          <a:prstGeom prst="rect">
            <a:avLst/>
          </a:prstGeom>
          <a:noFill/>
          <a:ln w="12700" cap="flat" cmpd="sng" algn="ctr">
            <a:no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171450" indent="-171450" algn="l">
              <a:buFont typeface="Arial" panose="020B0604020202020204" pitchFamily="34" charset="0"/>
              <a:buChar char="•"/>
            </a:pPr>
            <a:r>
              <a:rPr lang="ja-JP" altLang="en-US" sz="1100" b="0" dirty="0">
                <a:solidFill>
                  <a:srgbClr val="000000"/>
                </a:solidFill>
                <a:latin typeface="+mn-ea"/>
                <a:ea typeface="+mn-ea"/>
              </a:rPr>
              <a:t>ディスクローズ改修をベースに、サービス拡大戦略に適応する機能を</a:t>
            </a:r>
            <a:r>
              <a:rPr lang="en-US" altLang="ja-JP" sz="1100" b="0" dirty="0" err="1">
                <a:solidFill>
                  <a:srgbClr val="000000"/>
                </a:solidFill>
                <a:latin typeface="+mn-ea"/>
                <a:ea typeface="+mn-ea"/>
              </a:rPr>
              <a:t>EoS</a:t>
            </a:r>
            <a:r>
              <a:rPr lang="ja-JP" altLang="en-US" sz="1100" b="0" dirty="0">
                <a:solidFill>
                  <a:srgbClr val="000000"/>
                </a:solidFill>
                <a:latin typeface="+mn-ea"/>
                <a:ea typeface="+mn-ea"/>
              </a:rPr>
              <a:t>で検討する</a:t>
            </a:r>
            <a:endParaRPr lang="en-US" altLang="ja-JP" sz="1100" b="0" dirty="0">
              <a:solidFill>
                <a:srgbClr val="000000"/>
              </a:solidFill>
              <a:latin typeface="+mn-ea"/>
              <a:ea typeface="+mn-ea"/>
            </a:endParaRPr>
          </a:p>
        </p:txBody>
      </p:sp>
      <p:sp>
        <p:nvSpPr>
          <p:cNvPr id="123" name="テキスト ボックス 122">
            <a:extLst>
              <a:ext uri="{FF2B5EF4-FFF2-40B4-BE49-F238E27FC236}">
                <a16:creationId xmlns:a16="http://schemas.microsoft.com/office/drawing/2014/main" id="{F642B1BC-D4DC-0C19-BA67-33694DFF077F}"/>
              </a:ext>
            </a:extLst>
          </p:cNvPr>
          <p:cNvSpPr txBox="1"/>
          <p:nvPr/>
        </p:nvSpPr>
        <p:spPr>
          <a:xfrm>
            <a:off x="5543920" y="5917537"/>
            <a:ext cx="3848387" cy="501233"/>
          </a:xfrm>
          <a:prstGeom prst="rect">
            <a:avLst/>
          </a:prstGeom>
          <a:noFill/>
          <a:ln w="12700" cap="flat" cmpd="sng" algn="ctr">
            <a:no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171450" indent="-171450" algn="l">
              <a:buFont typeface="Arial" panose="020B0604020202020204" pitchFamily="34" charset="0"/>
              <a:buChar char="•"/>
            </a:pPr>
            <a:r>
              <a:rPr lang="ja-JP" altLang="en-US" sz="1100" b="0">
                <a:solidFill>
                  <a:srgbClr val="000000"/>
                </a:solidFill>
                <a:latin typeface="+mn-ea"/>
                <a:ea typeface="+mn-ea"/>
              </a:rPr>
              <a:t>各顧客の実要件・支払い能力に合わせて、システム再編や特定顧客に特化した個別システム構成で対応する想定</a:t>
            </a:r>
            <a:endParaRPr lang="en-US" altLang="ja-JP" sz="1100" b="0">
              <a:solidFill>
                <a:srgbClr val="000000"/>
              </a:solidFill>
              <a:latin typeface="+mn-ea"/>
              <a:ea typeface="+mn-ea"/>
            </a:endParaRPr>
          </a:p>
        </p:txBody>
      </p:sp>
      <p:sp>
        <p:nvSpPr>
          <p:cNvPr id="124" name="楕円 123">
            <a:extLst>
              <a:ext uri="{FF2B5EF4-FFF2-40B4-BE49-F238E27FC236}">
                <a16:creationId xmlns:a16="http://schemas.microsoft.com/office/drawing/2014/main" id="{B0DED52E-F349-F0B5-A550-815BF5BEA7CB}"/>
              </a:ext>
            </a:extLst>
          </p:cNvPr>
          <p:cNvSpPr/>
          <p:nvPr/>
        </p:nvSpPr>
        <p:spPr>
          <a:xfrm>
            <a:off x="7106385" y="1744518"/>
            <a:ext cx="163636" cy="169010"/>
          </a:xfrm>
          <a:prstGeom prst="ellipse">
            <a:avLst/>
          </a:prstGeom>
          <a:solidFill>
            <a:srgbClr val="002060"/>
          </a:solidFill>
          <a:ln w="9525" cap="flat" cmpd="sng" algn="ctr">
            <a:solidFill>
              <a:srgbClr val="FFFFFF"/>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a:ln>
                  <a:noFill/>
                </a:ln>
                <a:solidFill>
                  <a:srgbClr val="FFFFFF"/>
                </a:solidFill>
                <a:effectLst/>
                <a:uLnTx/>
                <a:uFillTx/>
                <a:latin typeface="+mn-ea"/>
                <a:cs typeface="+mn-cs"/>
              </a:rPr>
              <a:t>1</a:t>
            </a:r>
            <a:endParaRPr kumimoji="0" lang="ja-JP" altLang="en-US" sz="1050" b="1" i="0" u="none" strike="noStrike" kern="0" cap="none" spc="0" normalizeH="0" baseline="0" noProof="0">
              <a:ln>
                <a:noFill/>
              </a:ln>
              <a:solidFill>
                <a:srgbClr val="FFFFFF"/>
              </a:solidFill>
              <a:effectLst/>
              <a:uLnTx/>
              <a:uFillTx/>
              <a:latin typeface="+mn-ea"/>
              <a:cs typeface="+mn-cs"/>
            </a:endParaRPr>
          </a:p>
        </p:txBody>
      </p:sp>
      <p:sp>
        <p:nvSpPr>
          <p:cNvPr id="125" name="楕円 124">
            <a:extLst>
              <a:ext uri="{FF2B5EF4-FFF2-40B4-BE49-F238E27FC236}">
                <a16:creationId xmlns:a16="http://schemas.microsoft.com/office/drawing/2014/main" id="{4B988400-0FBE-E77A-8754-10053FFAC7F6}"/>
              </a:ext>
            </a:extLst>
          </p:cNvPr>
          <p:cNvSpPr/>
          <p:nvPr/>
        </p:nvSpPr>
        <p:spPr>
          <a:xfrm>
            <a:off x="5974930" y="3440789"/>
            <a:ext cx="163636" cy="169010"/>
          </a:xfrm>
          <a:prstGeom prst="ellipse">
            <a:avLst/>
          </a:prstGeom>
          <a:solidFill>
            <a:srgbClr val="002060"/>
          </a:solidFill>
          <a:ln w="9525" cap="flat" cmpd="sng" algn="ctr">
            <a:solidFill>
              <a:srgbClr val="FFFFFF"/>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a:ln>
                  <a:noFill/>
                </a:ln>
                <a:solidFill>
                  <a:srgbClr val="FFFFFF"/>
                </a:solidFill>
                <a:effectLst/>
                <a:uLnTx/>
                <a:uFillTx/>
                <a:latin typeface="+mn-ea"/>
                <a:cs typeface="+mn-cs"/>
              </a:rPr>
              <a:t>2</a:t>
            </a:r>
            <a:endParaRPr kumimoji="0" lang="ja-JP" altLang="en-US" sz="1050" b="1" i="0" u="none" strike="noStrike" kern="0" cap="none" spc="0" normalizeH="0" baseline="0" noProof="0">
              <a:ln>
                <a:noFill/>
              </a:ln>
              <a:solidFill>
                <a:srgbClr val="FFFFFF"/>
              </a:solidFill>
              <a:effectLst/>
              <a:uLnTx/>
              <a:uFillTx/>
              <a:latin typeface="+mn-ea"/>
              <a:cs typeface="+mn-cs"/>
            </a:endParaRPr>
          </a:p>
        </p:txBody>
      </p:sp>
      <p:sp>
        <p:nvSpPr>
          <p:cNvPr id="126" name="楕円 125">
            <a:extLst>
              <a:ext uri="{FF2B5EF4-FFF2-40B4-BE49-F238E27FC236}">
                <a16:creationId xmlns:a16="http://schemas.microsoft.com/office/drawing/2014/main" id="{9DE0BA5E-852A-B014-F490-B271BA12AFDE}"/>
              </a:ext>
            </a:extLst>
          </p:cNvPr>
          <p:cNvSpPr/>
          <p:nvPr/>
        </p:nvSpPr>
        <p:spPr>
          <a:xfrm>
            <a:off x="4590420" y="5259605"/>
            <a:ext cx="163636" cy="169010"/>
          </a:xfrm>
          <a:prstGeom prst="ellipse">
            <a:avLst/>
          </a:prstGeom>
          <a:solidFill>
            <a:srgbClr val="002060"/>
          </a:solidFill>
          <a:ln w="9525" cap="flat" cmpd="sng" algn="ctr">
            <a:solidFill>
              <a:srgbClr val="FFFFFF"/>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a:ln>
                  <a:noFill/>
                </a:ln>
                <a:solidFill>
                  <a:srgbClr val="FFFFFF"/>
                </a:solidFill>
                <a:effectLst/>
                <a:uLnTx/>
                <a:uFillTx/>
                <a:latin typeface="+mn-ea"/>
                <a:cs typeface="+mn-cs"/>
              </a:rPr>
              <a:t>1</a:t>
            </a:r>
            <a:endParaRPr kumimoji="0" lang="ja-JP" altLang="en-US" sz="1050" b="1" i="0" u="none" strike="noStrike" kern="0" cap="none" spc="0" normalizeH="0" baseline="0" noProof="0">
              <a:ln>
                <a:noFill/>
              </a:ln>
              <a:solidFill>
                <a:srgbClr val="FFFFFF"/>
              </a:solidFill>
              <a:effectLst/>
              <a:uLnTx/>
              <a:uFillTx/>
              <a:latin typeface="+mn-ea"/>
              <a:cs typeface="+mn-cs"/>
            </a:endParaRPr>
          </a:p>
        </p:txBody>
      </p:sp>
      <p:sp>
        <p:nvSpPr>
          <p:cNvPr id="127" name="楕円 126">
            <a:extLst>
              <a:ext uri="{FF2B5EF4-FFF2-40B4-BE49-F238E27FC236}">
                <a16:creationId xmlns:a16="http://schemas.microsoft.com/office/drawing/2014/main" id="{E5B936AF-D35E-6165-94A0-493D5338DC7D}"/>
              </a:ext>
            </a:extLst>
          </p:cNvPr>
          <p:cNvSpPr/>
          <p:nvPr/>
        </p:nvSpPr>
        <p:spPr>
          <a:xfrm>
            <a:off x="4597193" y="5839457"/>
            <a:ext cx="163636" cy="169010"/>
          </a:xfrm>
          <a:prstGeom prst="ellipse">
            <a:avLst/>
          </a:prstGeom>
          <a:solidFill>
            <a:srgbClr val="002060"/>
          </a:solidFill>
          <a:ln w="9525" cap="flat" cmpd="sng" algn="ctr">
            <a:solidFill>
              <a:srgbClr val="FFFFFF"/>
            </a:solid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a:ln>
                  <a:noFill/>
                </a:ln>
                <a:solidFill>
                  <a:srgbClr val="FFFFFF"/>
                </a:solidFill>
                <a:effectLst/>
                <a:uLnTx/>
                <a:uFillTx/>
                <a:latin typeface="+mn-ea"/>
                <a:cs typeface="+mn-cs"/>
              </a:rPr>
              <a:t>2</a:t>
            </a:r>
            <a:endParaRPr kumimoji="0" lang="ja-JP" altLang="en-US" sz="1050" b="1" i="0" u="none" strike="noStrike" kern="0" cap="none" spc="0" normalizeH="0" baseline="0" noProof="0">
              <a:ln>
                <a:noFill/>
              </a:ln>
              <a:solidFill>
                <a:srgbClr val="FFFFFF"/>
              </a:solidFill>
              <a:effectLst/>
              <a:uLnTx/>
              <a:uFillTx/>
              <a:latin typeface="+mn-ea"/>
              <a:cs typeface="+mn-cs"/>
            </a:endParaRPr>
          </a:p>
        </p:txBody>
      </p:sp>
      <p:cxnSp>
        <p:nvCxnSpPr>
          <p:cNvPr id="128" name="直線コネクタ 127">
            <a:extLst>
              <a:ext uri="{FF2B5EF4-FFF2-40B4-BE49-F238E27FC236}">
                <a16:creationId xmlns:a16="http://schemas.microsoft.com/office/drawing/2014/main" id="{C54C0DCA-7F86-576B-73CB-265C00084C48}"/>
              </a:ext>
            </a:extLst>
          </p:cNvPr>
          <p:cNvCxnSpPr>
            <a:cxnSpLocks/>
          </p:cNvCxnSpPr>
          <p:nvPr/>
        </p:nvCxnSpPr>
        <p:spPr>
          <a:xfrm>
            <a:off x="1041860" y="3089681"/>
            <a:ext cx="3446182" cy="0"/>
          </a:xfrm>
          <a:prstGeom prst="line">
            <a:avLst/>
          </a:prstGeom>
          <a:noFill/>
          <a:ln w="9525" cap="flat" cmpd="sng" algn="ctr">
            <a:solidFill>
              <a:srgbClr val="FFFFFF">
                <a:lumMod val="65000"/>
              </a:srgbClr>
            </a:solidFill>
            <a:prstDash val="dash"/>
          </a:ln>
          <a:effectLst/>
        </p:spPr>
      </p:cxnSp>
      <p:cxnSp>
        <p:nvCxnSpPr>
          <p:cNvPr id="129" name="直線コネクタ 128">
            <a:extLst>
              <a:ext uri="{FF2B5EF4-FFF2-40B4-BE49-F238E27FC236}">
                <a16:creationId xmlns:a16="http://schemas.microsoft.com/office/drawing/2014/main" id="{9DCD7844-4EAD-FEF2-95B7-34DDD458C938}"/>
              </a:ext>
            </a:extLst>
          </p:cNvPr>
          <p:cNvCxnSpPr>
            <a:cxnSpLocks/>
          </p:cNvCxnSpPr>
          <p:nvPr/>
        </p:nvCxnSpPr>
        <p:spPr>
          <a:xfrm>
            <a:off x="5543920" y="5882530"/>
            <a:ext cx="3848727" cy="0"/>
          </a:xfrm>
          <a:prstGeom prst="line">
            <a:avLst/>
          </a:prstGeom>
          <a:noFill/>
          <a:ln w="9525" cap="flat" cmpd="sng" algn="ctr">
            <a:solidFill>
              <a:srgbClr val="FFFFFF">
                <a:lumMod val="65000"/>
              </a:srgbClr>
            </a:solidFill>
            <a:prstDash val="dash"/>
          </a:ln>
          <a:effectLst/>
        </p:spPr>
      </p:cxnSp>
      <p:cxnSp>
        <p:nvCxnSpPr>
          <p:cNvPr id="130" name="直線コネクタ 129">
            <a:extLst>
              <a:ext uri="{FF2B5EF4-FFF2-40B4-BE49-F238E27FC236}">
                <a16:creationId xmlns:a16="http://schemas.microsoft.com/office/drawing/2014/main" id="{62E9D1CC-DFC4-4C1E-A4F9-26ECC83C0305}"/>
              </a:ext>
            </a:extLst>
          </p:cNvPr>
          <p:cNvCxnSpPr>
            <a:cxnSpLocks/>
          </p:cNvCxnSpPr>
          <p:nvPr/>
        </p:nvCxnSpPr>
        <p:spPr>
          <a:xfrm>
            <a:off x="1041860" y="5595362"/>
            <a:ext cx="3446182" cy="0"/>
          </a:xfrm>
          <a:prstGeom prst="line">
            <a:avLst/>
          </a:prstGeom>
          <a:noFill/>
          <a:ln w="9525" cap="flat" cmpd="sng" algn="ctr">
            <a:solidFill>
              <a:srgbClr val="FFFFFF">
                <a:lumMod val="65000"/>
              </a:srgbClr>
            </a:solidFill>
            <a:prstDash val="dash"/>
          </a:ln>
          <a:effectLst/>
        </p:spPr>
      </p:cxnSp>
      <p:cxnSp>
        <p:nvCxnSpPr>
          <p:cNvPr id="131" name="直線コネクタ 130">
            <a:extLst>
              <a:ext uri="{FF2B5EF4-FFF2-40B4-BE49-F238E27FC236}">
                <a16:creationId xmlns:a16="http://schemas.microsoft.com/office/drawing/2014/main" id="{2AED6648-BD11-2C18-6C62-13BD9B3C6BE9}"/>
              </a:ext>
            </a:extLst>
          </p:cNvPr>
          <p:cNvCxnSpPr>
            <a:cxnSpLocks/>
          </p:cNvCxnSpPr>
          <p:nvPr/>
        </p:nvCxnSpPr>
        <p:spPr>
          <a:xfrm>
            <a:off x="1041860" y="4687743"/>
            <a:ext cx="3446182" cy="0"/>
          </a:xfrm>
          <a:prstGeom prst="line">
            <a:avLst/>
          </a:prstGeom>
          <a:noFill/>
          <a:ln w="9525" cap="flat" cmpd="sng" algn="ctr">
            <a:solidFill>
              <a:srgbClr val="FFFFFF">
                <a:lumMod val="65000"/>
              </a:srgbClr>
            </a:solidFill>
            <a:prstDash val="dash"/>
          </a:ln>
          <a:effectLst/>
        </p:spPr>
      </p:cxnSp>
    </p:spTree>
    <p:extLst>
      <p:ext uri="{BB962C8B-B14F-4D97-AF65-F5344CB8AC3E}">
        <p14:creationId xmlns:p14="http://schemas.microsoft.com/office/powerpoint/2010/main" val="36660044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9A5D1-EB83-300E-319A-BE165510FC6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0389DDE4-E78A-F675-25D2-7213CB23FE64}"/>
              </a:ext>
            </a:extLst>
          </p:cNvPr>
          <p:cNvSpPr/>
          <p:nvPr/>
        </p:nvSpPr>
        <p:spPr>
          <a:xfrm>
            <a:off x="2317620" y="1998947"/>
            <a:ext cx="5270760" cy="79200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accent2">
                    <a:lumMod val="75000"/>
                  </a:schemeClr>
                </a:solidFill>
                <a:effectLst/>
                <a:uLnTx/>
                <a:uFillTx/>
                <a:latin typeface="+mn-ea"/>
                <a:cs typeface="+mn-cs"/>
              </a:rPr>
              <a:t>ビジネス高度化（データマネジメントサービス）</a:t>
            </a:r>
            <a:endParaRPr kumimoji="0" lang="en-US" altLang="ja-JP"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6" name="正方形/長方形 5">
            <a:extLst>
              <a:ext uri="{FF2B5EF4-FFF2-40B4-BE49-F238E27FC236}">
                <a16:creationId xmlns:a16="http://schemas.microsoft.com/office/drawing/2014/main" id="{9F75ECF2-148F-BEDF-54E6-40CC2CC0EC8A}"/>
              </a:ext>
            </a:extLst>
          </p:cNvPr>
          <p:cNvSpPr/>
          <p:nvPr/>
        </p:nvSpPr>
        <p:spPr>
          <a:xfrm>
            <a:off x="2317620" y="4067055"/>
            <a:ext cx="5270760" cy="79200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accent2">
                    <a:lumMod val="75000"/>
                  </a:schemeClr>
                </a:solidFill>
                <a:effectLst/>
                <a:uLnTx/>
                <a:uFillTx/>
                <a:latin typeface="+mn-ea"/>
                <a:cs typeface="+mn-cs"/>
              </a:rPr>
              <a:t>ホストオープン化</a:t>
            </a:r>
            <a:r>
              <a:rPr kumimoji="0" lang="ja-JP" altLang="en-US" b="1" kern="0" dirty="0">
                <a:solidFill>
                  <a:schemeClr val="accent2">
                    <a:lumMod val="75000"/>
                  </a:schemeClr>
                </a:solidFill>
                <a:latin typeface="+mn-ea"/>
              </a:rPr>
              <a:t>（モダナイゼーション）</a:t>
            </a:r>
            <a:endParaRPr kumimoji="0" lang="en-US" altLang="ja-JP"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7" name="正方形/長方形 6">
            <a:extLst>
              <a:ext uri="{FF2B5EF4-FFF2-40B4-BE49-F238E27FC236}">
                <a16:creationId xmlns:a16="http://schemas.microsoft.com/office/drawing/2014/main" id="{E77F6A58-89EB-B8B3-760B-740BCB63801C}"/>
              </a:ext>
            </a:extLst>
          </p:cNvPr>
          <p:cNvSpPr/>
          <p:nvPr/>
        </p:nvSpPr>
        <p:spPr>
          <a:xfrm>
            <a:off x="2317620" y="3033001"/>
            <a:ext cx="5270760" cy="792000"/>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bg1"/>
                </a:solidFill>
                <a:effectLst/>
                <a:uLnTx/>
                <a:uFillTx/>
                <a:latin typeface="+mn-ea"/>
                <a:cs typeface="+mn-cs"/>
              </a:rPr>
              <a:t>業務基盤強化</a:t>
            </a:r>
            <a:endParaRPr kumimoji="0" lang="en-US" altLang="ja-JP" b="1" i="0" u="none" strike="noStrike" kern="0" cap="none" spc="0" normalizeH="0" baseline="0" noProof="0" dirty="0">
              <a:ln>
                <a:noFill/>
              </a:ln>
              <a:solidFill>
                <a:schemeClr val="bg1"/>
              </a:solidFill>
              <a:effectLst/>
              <a:uLnTx/>
              <a:uFillTx/>
              <a:latin typeface="+mn-ea"/>
              <a:cs typeface="+mn-cs"/>
            </a:endParaRPr>
          </a:p>
        </p:txBody>
      </p:sp>
      <p:sp>
        <p:nvSpPr>
          <p:cNvPr id="8" name="正方形/長方形 7">
            <a:extLst>
              <a:ext uri="{FF2B5EF4-FFF2-40B4-BE49-F238E27FC236}">
                <a16:creationId xmlns:a16="http://schemas.microsoft.com/office/drawing/2014/main" id="{8B43DD20-4E99-A2CC-6C36-C06991BD8B5D}"/>
              </a:ext>
            </a:extLst>
          </p:cNvPr>
          <p:cNvSpPr/>
          <p:nvPr/>
        </p:nvSpPr>
        <p:spPr>
          <a:xfrm>
            <a:off x="2317621" y="1998945"/>
            <a:ext cx="380333"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i="0" u="none" strike="noStrike" kern="0" cap="none" spc="0" normalizeH="0" baseline="0" noProof="0" dirty="0">
                <a:ln>
                  <a:noFill/>
                </a:ln>
                <a:solidFill>
                  <a:schemeClr val="accent2">
                    <a:lumMod val="75000"/>
                  </a:schemeClr>
                </a:solidFill>
                <a:effectLst/>
                <a:uLnTx/>
                <a:uFillTx/>
                <a:latin typeface="+mn-ea"/>
                <a:cs typeface="+mn-cs"/>
              </a:rPr>
              <a:t>A</a:t>
            </a:r>
          </a:p>
        </p:txBody>
      </p:sp>
      <p:sp>
        <p:nvSpPr>
          <p:cNvPr id="9" name="正方形/長方形 8">
            <a:extLst>
              <a:ext uri="{FF2B5EF4-FFF2-40B4-BE49-F238E27FC236}">
                <a16:creationId xmlns:a16="http://schemas.microsoft.com/office/drawing/2014/main" id="{D1CC9207-3CDF-B10B-27C4-8456AFE990DC}"/>
              </a:ext>
            </a:extLst>
          </p:cNvPr>
          <p:cNvSpPr/>
          <p:nvPr/>
        </p:nvSpPr>
        <p:spPr>
          <a:xfrm>
            <a:off x="2317621" y="3033001"/>
            <a:ext cx="380333" cy="231348"/>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kern="0" dirty="0">
                <a:solidFill>
                  <a:schemeClr val="bg1"/>
                </a:solidFill>
                <a:latin typeface="+mn-ea"/>
              </a:rPr>
              <a:t>B</a:t>
            </a:r>
            <a:endParaRPr kumimoji="0" lang="en-US" altLang="ja-JP" b="1" i="0" u="none" strike="noStrike" kern="0" cap="none" spc="0" normalizeH="0" baseline="0" noProof="0" dirty="0">
              <a:ln>
                <a:noFill/>
              </a:ln>
              <a:solidFill>
                <a:schemeClr val="bg1"/>
              </a:solidFill>
              <a:effectLst/>
              <a:uLnTx/>
              <a:uFillTx/>
              <a:latin typeface="+mn-ea"/>
              <a:cs typeface="+mn-cs"/>
            </a:endParaRPr>
          </a:p>
        </p:txBody>
      </p:sp>
      <p:sp>
        <p:nvSpPr>
          <p:cNvPr id="10" name="正方形/長方形 9">
            <a:extLst>
              <a:ext uri="{FF2B5EF4-FFF2-40B4-BE49-F238E27FC236}">
                <a16:creationId xmlns:a16="http://schemas.microsoft.com/office/drawing/2014/main" id="{08A68B7A-E08E-124D-DF35-5231AD98EF13}"/>
              </a:ext>
            </a:extLst>
          </p:cNvPr>
          <p:cNvSpPr/>
          <p:nvPr/>
        </p:nvSpPr>
        <p:spPr>
          <a:xfrm>
            <a:off x="2317621" y="4067055"/>
            <a:ext cx="380333"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kern="0" dirty="0">
                <a:solidFill>
                  <a:schemeClr val="accent2">
                    <a:lumMod val="75000"/>
                  </a:schemeClr>
                </a:solidFill>
                <a:latin typeface="+mn-ea"/>
              </a:rPr>
              <a:t>C</a:t>
            </a:r>
            <a:endParaRPr kumimoji="0" lang="en-US" altLang="ja-JP" b="1" i="0" u="none" strike="noStrike" kern="0" cap="none" spc="0" normalizeH="0" baseline="0" noProof="0" dirty="0">
              <a:ln>
                <a:noFill/>
              </a:ln>
              <a:solidFill>
                <a:schemeClr val="accent2">
                  <a:lumMod val="75000"/>
                </a:schemeClr>
              </a:solidFill>
              <a:effectLst/>
              <a:uLnTx/>
              <a:uFillTx/>
              <a:latin typeface="+mn-ea"/>
              <a:cs typeface="+mn-cs"/>
            </a:endParaRPr>
          </a:p>
        </p:txBody>
      </p:sp>
    </p:spTree>
    <p:extLst>
      <p:ext uri="{BB962C8B-B14F-4D97-AF65-F5344CB8AC3E}">
        <p14:creationId xmlns:p14="http://schemas.microsoft.com/office/powerpoint/2010/main" val="8769622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51F3E-B131-B104-226D-D10ACADD42C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10081B5-AB30-94D7-9B1F-88FB1A50666C}"/>
              </a:ext>
            </a:extLst>
          </p:cNvPr>
          <p:cNvSpPr>
            <a:spLocks noGrp="1"/>
          </p:cNvSpPr>
          <p:nvPr>
            <p:ph type="title"/>
          </p:nvPr>
        </p:nvSpPr>
        <p:spPr/>
        <p:txBody>
          <a:bodyPr/>
          <a:lstStyle/>
          <a:p>
            <a:r>
              <a:rPr kumimoji="1" lang="en-US" altLang="ja-JP" dirty="0"/>
              <a:t>3. </a:t>
            </a:r>
            <a:r>
              <a:rPr kumimoji="1" lang="ja-JP" altLang="en-US" dirty="0"/>
              <a:t>業務基盤強化～①</a:t>
            </a:r>
            <a:r>
              <a:rPr lang="ja-JP" altLang="en-US" dirty="0"/>
              <a:t>外国証券</a:t>
            </a:r>
            <a:endParaRPr kumimoji="1" lang="ja-JP" altLang="en-US" dirty="0"/>
          </a:p>
        </p:txBody>
      </p:sp>
      <p:sp>
        <p:nvSpPr>
          <p:cNvPr id="3" name="テキスト プレースホルダー 2">
            <a:extLst>
              <a:ext uri="{FF2B5EF4-FFF2-40B4-BE49-F238E27FC236}">
                <a16:creationId xmlns:a16="http://schemas.microsoft.com/office/drawing/2014/main" id="{A7A2F846-5C48-6DA0-C6C9-CB70D2816BF8}"/>
              </a:ext>
            </a:extLst>
          </p:cNvPr>
          <p:cNvSpPr>
            <a:spLocks noGrp="1"/>
          </p:cNvSpPr>
          <p:nvPr>
            <p:ph type="body" idx="12"/>
          </p:nvPr>
        </p:nvSpPr>
        <p:spPr>
          <a:xfrm>
            <a:off x="488999" y="969722"/>
            <a:ext cx="9131121" cy="669414"/>
          </a:xfrm>
        </p:spPr>
        <p:txBody>
          <a:bodyPr/>
          <a:lstStyle/>
          <a:p>
            <a:r>
              <a:rPr lang="ja-JP" altLang="en-US" dirty="0"/>
              <a:t>決済サイクルの短縮や外国証券の取引量の増加に対応できるようにシステム対応を行う必要性あるため、優先度を踏まえてシステム対応を行います。</a:t>
            </a:r>
            <a:endParaRPr kumimoji="1" lang="ja-JP" altLang="en-US" dirty="0"/>
          </a:p>
        </p:txBody>
      </p:sp>
      <p:sp>
        <p:nvSpPr>
          <p:cNvPr id="4" name="テキスト プレースホルダー 3">
            <a:extLst>
              <a:ext uri="{FF2B5EF4-FFF2-40B4-BE49-F238E27FC236}">
                <a16:creationId xmlns:a16="http://schemas.microsoft.com/office/drawing/2014/main" id="{92671758-365C-179F-7195-3BD54607B2ED}"/>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sp>
        <p:nvSpPr>
          <p:cNvPr id="16" name="正方形/長方形 15">
            <a:extLst>
              <a:ext uri="{FF2B5EF4-FFF2-40B4-BE49-F238E27FC236}">
                <a16:creationId xmlns:a16="http://schemas.microsoft.com/office/drawing/2014/main" id="{CD704498-7B29-7BD5-1402-ADF40F4DBA52}"/>
              </a:ext>
            </a:extLst>
          </p:cNvPr>
          <p:cNvSpPr/>
          <p:nvPr/>
        </p:nvSpPr>
        <p:spPr bwMode="auto">
          <a:xfrm>
            <a:off x="387440" y="5382687"/>
            <a:ext cx="4559746" cy="826550"/>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marL="171450" indent="-171450" defTabSz="908410" fontAlgn="base">
              <a:spcAft>
                <a:spcPct val="0"/>
              </a:spcAft>
              <a:buFont typeface="Wingdings" panose="05000000000000000000" pitchFamily="2" charset="2"/>
              <a:buChar char="ü"/>
            </a:pPr>
            <a:r>
              <a:rPr kumimoji="1" lang="ja-JP" altLang="en-US" sz="1200" dirty="0">
                <a:solidFill>
                  <a:prstClr val="black"/>
                </a:solidFill>
                <a:latin typeface="Meiryo UI" panose="020B0604030504040204" pitchFamily="50" charset="-128"/>
                <a:ea typeface="Meiryo UI" panose="020B0604030504040204" pitchFamily="50" charset="-128"/>
              </a:rPr>
              <a:t>決済サイクルの短縮化が進んできており、これに対応できない場合、外国証券を受付できなくなる</a:t>
            </a:r>
            <a:endParaRPr kumimoji="1" lang="en-US" altLang="ja-JP" sz="1200" dirty="0">
              <a:solidFill>
                <a:prstClr val="black"/>
              </a:solidFill>
              <a:latin typeface="Meiryo UI" panose="020B0604030504040204" pitchFamily="50" charset="-128"/>
              <a:ea typeface="Meiryo UI" panose="020B0604030504040204" pitchFamily="50" charset="-128"/>
            </a:endParaRPr>
          </a:p>
        </p:txBody>
      </p:sp>
      <p:pic>
        <p:nvPicPr>
          <p:cNvPr id="18" name="図 17" descr="タイムライン&#10;&#10;AI 生成コンテンツは誤りを含む可能性があります。">
            <a:extLst>
              <a:ext uri="{FF2B5EF4-FFF2-40B4-BE49-F238E27FC236}">
                <a16:creationId xmlns:a16="http://schemas.microsoft.com/office/drawing/2014/main" id="{9F91CAC9-E206-260D-5082-39510B8C87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440" y="1924568"/>
            <a:ext cx="4559745" cy="3151431"/>
          </a:xfrm>
          <a:prstGeom prst="rect">
            <a:avLst/>
          </a:prstGeom>
        </p:spPr>
      </p:pic>
      <p:grpSp>
        <p:nvGrpSpPr>
          <p:cNvPr id="19" name="グループ化 18">
            <a:extLst>
              <a:ext uri="{FF2B5EF4-FFF2-40B4-BE49-F238E27FC236}">
                <a16:creationId xmlns:a16="http://schemas.microsoft.com/office/drawing/2014/main" id="{146CD6D8-9ABA-9905-392C-06EB0CFB305F}"/>
              </a:ext>
            </a:extLst>
          </p:cNvPr>
          <p:cNvGrpSpPr/>
          <p:nvPr/>
        </p:nvGrpSpPr>
        <p:grpSpPr bwMode="gray">
          <a:xfrm>
            <a:off x="387440" y="1558647"/>
            <a:ext cx="4559745" cy="212458"/>
            <a:chOff x="581184" y="1572445"/>
            <a:chExt cx="1395099" cy="226274"/>
          </a:xfrm>
        </p:grpSpPr>
        <p:cxnSp>
          <p:nvCxnSpPr>
            <p:cNvPr id="20" name="直線コネクタ 19">
              <a:extLst>
                <a:ext uri="{FF2B5EF4-FFF2-40B4-BE49-F238E27FC236}">
                  <a16:creationId xmlns:a16="http://schemas.microsoft.com/office/drawing/2014/main" id="{06C4F10B-C7C9-1D44-51AB-C688AFE1EC9F}"/>
                </a:ext>
              </a:extLst>
            </p:cNvPr>
            <p:cNvCxnSpPr>
              <a:cxnSpLocks/>
            </p:cNvCxnSpPr>
            <p:nvPr/>
          </p:nvCxnSpPr>
          <p:spPr bwMode="gray">
            <a:xfrm>
              <a:off x="581184" y="1798719"/>
              <a:ext cx="1395099" cy="0"/>
            </a:xfrm>
            <a:prstGeom prst="line">
              <a:avLst/>
            </a:prstGeom>
            <a:noFill/>
            <a:ln w="9525" cap="flat" cmpd="sng" algn="ctr">
              <a:solidFill>
                <a:srgbClr val="FFFFFF">
                  <a:lumMod val="50000"/>
                </a:srgbClr>
              </a:solidFill>
              <a:prstDash val="solid"/>
              <a:tailEnd type="none"/>
            </a:ln>
            <a:effectLst/>
          </p:spPr>
        </p:cxnSp>
        <p:sp>
          <p:nvSpPr>
            <p:cNvPr id="21" name="正方形/長方形 20">
              <a:extLst>
                <a:ext uri="{FF2B5EF4-FFF2-40B4-BE49-F238E27FC236}">
                  <a16:creationId xmlns:a16="http://schemas.microsoft.com/office/drawing/2014/main" id="{F55BDC26-29A1-FA05-5019-9F55D36D3289}"/>
                </a:ext>
              </a:extLst>
            </p:cNvPr>
            <p:cNvSpPr/>
            <p:nvPr/>
          </p:nvSpPr>
          <p:spPr bwMode="gray">
            <a:xfrm>
              <a:off x="609347" y="1572445"/>
              <a:ext cx="1338772" cy="21713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18000" tIns="18000" rIns="18000" bIns="1800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rgbClr val="000000"/>
                  </a:solidFill>
                  <a:effectLst/>
                  <a:uLnTx/>
                  <a:uFillTx/>
                  <a:latin typeface="+mn-ea"/>
                </a:rPr>
                <a:t>決済サイクルの短縮</a:t>
              </a:r>
              <a:endParaRPr kumimoji="0" lang="en-US" altLang="ja-JP" sz="1200" b="1" i="0" u="none" strike="noStrike" kern="0" cap="none" spc="0" normalizeH="0" baseline="0" noProof="0" dirty="0">
                <a:ln>
                  <a:noFill/>
                </a:ln>
                <a:solidFill>
                  <a:srgbClr val="000000"/>
                </a:solidFill>
                <a:effectLst/>
                <a:uLnTx/>
                <a:uFillTx/>
                <a:latin typeface="+mn-ea"/>
              </a:endParaRPr>
            </a:p>
          </p:txBody>
        </p:sp>
      </p:grpSp>
      <p:pic>
        <p:nvPicPr>
          <p:cNvPr id="23" name="図 22" descr="グラフ, 棒グラフ&#10;&#10;AI 生成コンテンツは誤りを含む可能性があります。">
            <a:extLst>
              <a:ext uri="{FF2B5EF4-FFF2-40B4-BE49-F238E27FC236}">
                <a16:creationId xmlns:a16="http://schemas.microsoft.com/office/drawing/2014/main" id="{96726FFC-E351-1515-6A17-77C764037B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0366" y="1924568"/>
            <a:ext cx="4188194" cy="3138943"/>
          </a:xfrm>
          <a:prstGeom prst="rect">
            <a:avLst/>
          </a:prstGeom>
        </p:spPr>
      </p:pic>
      <p:grpSp>
        <p:nvGrpSpPr>
          <p:cNvPr id="24" name="グループ化 23">
            <a:extLst>
              <a:ext uri="{FF2B5EF4-FFF2-40B4-BE49-F238E27FC236}">
                <a16:creationId xmlns:a16="http://schemas.microsoft.com/office/drawing/2014/main" id="{D82A1073-795E-EC11-9515-0B897B84D0A9}"/>
              </a:ext>
            </a:extLst>
          </p:cNvPr>
          <p:cNvGrpSpPr/>
          <p:nvPr/>
        </p:nvGrpSpPr>
        <p:grpSpPr bwMode="gray">
          <a:xfrm>
            <a:off x="5330366" y="1558647"/>
            <a:ext cx="4188194" cy="212458"/>
            <a:chOff x="581184" y="1572445"/>
            <a:chExt cx="1395099" cy="226274"/>
          </a:xfrm>
        </p:grpSpPr>
        <p:cxnSp>
          <p:nvCxnSpPr>
            <p:cNvPr id="25" name="直線コネクタ 24">
              <a:extLst>
                <a:ext uri="{FF2B5EF4-FFF2-40B4-BE49-F238E27FC236}">
                  <a16:creationId xmlns:a16="http://schemas.microsoft.com/office/drawing/2014/main" id="{80E26E93-733D-761F-34B1-3424544B61CC}"/>
                </a:ext>
              </a:extLst>
            </p:cNvPr>
            <p:cNvCxnSpPr>
              <a:cxnSpLocks/>
            </p:cNvCxnSpPr>
            <p:nvPr/>
          </p:nvCxnSpPr>
          <p:spPr bwMode="gray">
            <a:xfrm>
              <a:off x="581184" y="1798719"/>
              <a:ext cx="1395099" cy="0"/>
            </a:xfrm>
            <a:prstGeom prst="line">
              <a:avLst/>
            </a:prstGeom>
            <a:noFill/>
            <a:ln w="9525" cap="flat" cmpd="sng" algn="ctr">
              <a:solidFill>
                <a:srgbClr val="FFFFFF">
                  <a:lumMod val="50000"/>
                </a:srgbClr>
              </a:solidFill>
              <a:prstDash val="solid"/>
              <a:tailEnd type="none"/>
            </a:ln>
            <a:effectLst/>
          </p:spPr>
        </p:cxnSp>
        <p:sp>
          <p:nvSpPr>
            <p:cNvPr id="26" name="正方形/長方形 25">
              <a:extLst>
                <a:ext uri="{FF2B5EF4-FFF2-40B4-BE49-F238E27FC236}">
                  <a16:creationId xmlns:a16="http://schemas.microsoft.com/office/drawing/2014/main" id="{777B818E-DAA5-6741-5E1A-B89E9E93C2F1}"/>
                </a:ext>
              </a:extLst>
            </p:cNvPr>
            <p:cNvSpPr/>
            <p:nvPr/>
          </p:nvSpPr>
          <p:spPr bwMode="gray">
            <a:xfrm>
              <a:off x="609347" y="1572445"/>
              <a:ext cx="1338772" cy="21713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18000" tIns="18000" rIns="18000" bIns="1800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1" kern="0" dirty="0">
                  <a:solidFill>
                    <a:srgbClr val="000000"/>
                  </a:solidFill>
                  <a:latin typeface="+mn-ea"/>
                </a:rPr>
                <a:t>外国証券の取引量の増加</a:t>
              </a:r>
              <a:endParaRPr kumimoji="0" lang="en-US" altLang="ja-JP" sz="1200" b="1" i="0" u="none" strike="noStrike" kern="0" cap="none" spc="0" normalizeH="0" baseline="0" noProof="0" dirty="0">
                <a:ln>
                  <a:noFill/>
                </a:ln>
                <a:solidFill>
                  <a:srgbClr val="000000"/>
                </a:solidFill>
                <a:effectLst/>
                <a:uLnTx/>
                <a:uFillTx/>
                <a:latin typeface="+mn-ea"/>
              </a:endParaRPr>
            </a:p>
          </p:txBody>
        </p:sp>
      </p:grpSp>
      <p:sp>
        <p:nvSpPr>
          <p:cNvPr id="27" name="テキスト ボックス 26">
            <a:extLst>
              <a:ext uri="{FF2B5EF4-FFF2-40B4-BE49-F238E27FC236}">
                <a16:creationId xmlns:a16="http://schemas.microsoft.com/office/drawing/2014/main" id="{BED0C566-36FF-05D9-7FA1-0F12CCFBD329}"/>
              </a:ext>
            </a:extLst>
          </p:cNvPr>
          <p:cNvSpPr txBox="1"/>
          <p:nvPr/>
        </p:nvSpPr>
        <p:spPr>
          <a:xfrm>
            <a:off x="5330366" y="5119281"/>
            <a:ext cx="3848387" cy="193247"/>
          </a:xfrm>
          <a:prstGeom prst="rect">
            <a:avLst/>
          </a:prstGeom>
          <a:noFill/>
          <a:ln w="12700" cap="flat" cmpd="sng" algn="ctr">
            <a:no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algn="l"/>
            <a:r>
              <a:rPr lang="en-US" altLang="ja-JP" sz="900" b="0" dirty="0">
                <a:solidFill>
                  <a:srgbClr val="000000"/>
                </a:solidFill>
                <a:latin typeface="+mn-ea"/>
                <a:ea typeface="+mn-ea"/>
              </a:rPr>
              <a:t>(</a:t>
            </a:r>
            <a:r>
              <a:rPr lang="ja-JP" altLang="en-US" sz="900" b="0" dirty="0">
                <a:solidFill>
                  <a:srgbClr val="000000"/>
                </a:solidFill>
                <a:latin typeface="+mn-ea"/>
                <a:ea typeface="+mn-ea"/>
              </a:rPr>
              <a:t>出所</a:t>
            </a:r>
            <a:r>
              <a:rPr lang="en-US" altLang="ja-JP" sz="900" b="0" dirty="0">
                <a:solidFill>
                  <a:srgbClr val="000000"/>
                </a:solidFill>
                <a:latin typeface="+mn-ea"/>
                <a:ea typeface="+mn-ea"/>
              </a:rPr>
              <a:t>:</a:t>
            </a:r>
            <a:r>
              <a:rPr lang="ja-JP" altLang="en-US" sz="900" b="0" dirty="0">
                <a:solidFill>
                  <a:srgbClr val="000000"/>
                </a:solidFill>
                <a:latin typeface="+mn-ea"/>
                <a:ea typeface="+mn-ea"/>
              </a:rPr>
              <a:t>日本マスタートラスト信託銀行 </a:t>
            </a:r>
            <a:r>
              <a:rPr lang="en-US" altLang="ja-JP" sz="900" b="0" dirty="0">
                <a:solidFill>
                  <a:srgbClr val="000000"/>
                </a:solidFill>
                <a:latin typeface="+mn-ea"/>
                <a:ea typeface="+mn-ea"/>
              </a:rPr>
              <a:t>2025 </a:t>
            </a:r>
            <a:r>
              <a:rPr lang="ja-JP" altLang="en-US" sz="900" b="0" dirty="0">
                <a:solidFill>
                  <a:srgbClr val="000000"/>
                </a:solidFill>
                <a:latin typeface="+mn-ea"/>
                <a:ea typeface="+mn-ea"/>
              </a:rPr>
              <a:t>ディスクロージャー誌</a:t>
            </a:r>
            <a:r>
              <a:rPr lang="en-US" altLang="ja-JP" sz="900" b="0" dirty="0">
                <a:solidFill>
                  <a:srgbClr val="000000"/>
                </a:solidFill>
                <a:latin typeface="+mn-ea"/>
                <a:ea typeface="+mn-ea"/>
              </a:rPr>
              <a:t>)</a:t>
            </a:r>
          </a:p>
        </p:txBody>
      </p:sp>
      <p:sp>
        <p:nvSpPr>
          <p:cNvPr id="29" name="テキスト ボックス 28">
            <a:extLst>
              <a:ext uri="{FF2B5EF4-FFF2-40B4-BE49-F238E27FC236}">
                <a16:creationId xmlns:a16="http://schemas.microsoft.com/office/drawing/2014/main" id="{32DE6E37-F9B9-7C49-2F95-E18EE2FB3B67}"/>
              </a:ext>
            </a:extLst>
          </p:cNvPr>
          <p:cNvSpPr txBox="1"/>
          <p:nvPr/>
        </p:nvSpPr>
        <p:spPr>
          <a:xfrm>
            <a:off x="387440" y="5081696"/>
            <a:ext cx="4837875" cy="230832"/>
          </a:xfrm>
          <a:prstGeom prst="rect">
            <a:avLst/>
          </a:prstGeom>
          <a:noFill/>
        </p:spPr>
        <p:txBody>
          <a:bodyPr wrap="square">
            <a:spAutoFit/>
          </a:bodyPr>
          <a:lstStyle/>
          <a:p>
            <a:r>
              <a:rPr lang="en-US" altLang="ja-JP" sz="900" dirty="0"/>
              <a:t>(</a:t>
            </a:r>
            <a:r>
              <a:rPr lang="ja-JP" altLang="en-US" sz="900" dirty="0"/>
              <a:t>出所</a:t>
            </a:r>
            <a:r>
              <a:rPr lang="en-US" altLang="ja-JP" sz="900" dirty="0"/>
              <a:t>:Modernizing Financial Markets with Wholesale Central Bank Digital Currency)</a:t>
            </a:r>
            <a:endParaRPr lang="ja-JP" altLang="en-US" sz="900" dirty="0"/>
          </a:p>
        </p:txBody>
      </p:sp>
      <p:sp>
        <p:nvSpPr>
          <p:cNvPr id="30" name="正方形/長方形 29">
            <a:extLst>
              <a:ext uri="{FF2B5EF4-FFF2-40B4-BE49-F238E27FC236}">
                <a16:creationId xmlns:a16="http://schemas.microsoft.com/office/drawing/2014/main" id="{DB5035B7-FF9C-DD11-496B-4F1FE07C6229}"/>
              </a:ext>
            </a:extLst>
          </p:cNvPr>
          <p:cNvSpPr/>
          <p:nvPr/>
        </p:nvSpPr>
        <p:spPr bwMode="auto">
          <a:xfrm>
            <a:off x="5330364" y="5382687"/>
            <a:ext cx="4188195" cy="826550"/>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marL="171450" indent="-171450" defTabSz="908410" fontAlgn="base">
              <a:spcAft>
                <a:spcPct val="0"/>
              </a:spcAft>
              <a:buFont typeface="Wingdings" panose="05000000000000000000" pitchFamily="2" charset="2"/>
              <a:buChar char="ü"/>
            </a:pPr>
            <a:r>
              <a:rPr lang="ja-JP" altLang="en-US" sz="1200" dirty="0">
                <a:solidFill>
                  <a:prstClr val="black"/>
                </a:solidFill>
                <a:latin typeface="Meiryo UI" panose="020B0604030504040204" pitchFamily="50" charset="-128"/>
                <a:ea typeface="Meiryo UI" panose="020B0604030504040204" pitchFamily="50" charset="-128"/>
              </a:rPr>
              <a:t>外国証券投資の拡大に伴い、さらに業務が逼迫し、オペレーションが遂行できなくなる</a:t>
            </a:r>
            <a:endParaRPr kumimoji="1" lang="en-US" altLang="ja-JP" sz="1200" dirty="0">
              <a:solidFill>
                <a:prstClr val="black"/>
              </a:solidFill>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373B7B8F-1935-5F90-392F-10361282F5AE}"/>
              </a:ext>
            </a:extLst>
          </p:cNvPr>
          <p:cNvSpPr txBox="1"/>
          <p:nvPr/>
        </p:nvSpPr>
        <p:spPr>
          <a:xfrm>
            <a:off x="387437" y="6123563"/>
            <a:ext cx="9131121" cy="272533"/>
          </a:xfrm>
          <a:prstGeom prst="rect">
            <a:avLst/>
          </a:prstGeom>
          <a:solidFill>
            <a:srgbClr val="FFFFFF">
              <a:lumMod val="95000"/>
            </a:srgbClr>
          </a:solidFill>
          <a:ln w="12700" cap="flat" cmpd="sng" algn="ctr">
            <a:solidFill>
              <a:schemeClr val="bg1">
                <a:lumMod val="95000"/>
              </a:schemeClr>
            </a:solid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l" defTabSz="824110" eaLnBrk="0" fontAlgn="auto" latinLnBrk="0" hangingPunct="0">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→このような市場動向に対応しないと現行ビジネスが継続できなくなる可能性があるため、システム対応を行う</a:t>
            </a:r>
            <a:endParaRPr kumimoji="0" lang="en-US" altLang="ja-JP" sz="1200" b="0"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p:txBody>
      </p:sp>
    </p:spTree>
    <p:extLst>
      <p:ext uri="{BB962C8B-B14F-4D97-AF65-F5344CB8AC3E}">
        <p14:creationId xmlns:p14="http://schemas.microsoft.com/office/powerpoint/2010/main" val="24174555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3F4A8-1983-711C-949E-6420D613DD0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FDA985-7599-F95B-B171-626DCC701B37}"/>
              </a:ext>
            </a:extLst>
          </p:cNvPr>
          <p:cNvSpPr>
            <a:spLocks noGrp="1"/>
          </p:cNvSpPr>
          <p:nvPr>
            <p:ph type="title"/>
          </p:nvPr>
        </p:nvSpPr>
        <p:spPr/>
        <p:txBody>
          <a:bodyPr/>
          <a:lstStyle/>
          <a:p>
            <a:r>
              <a:rPr lang="en-US" altLang="ja-JP" dirty="0"/>
              <a:t>3. </a:t>
            </a:r>
            <a:r>
              <a:rPr lang="ja-JP" altLang="en-US" dirty="0"/>
              <a:t>業務基盤強化～②汎用商品</a:t>
            </a:r>
            <a:endParaRPr kumimoji="1" lang="ja-JP" altLang="en-US" dirty="0"/>
          </a:p>
        </p:txBody>
      </p:sp>
      <p:sp>
        <p:nvSpPr>
          <p:cNvPr id="3" name="テキスト プレースホルダー 2">
            <a:extLst>
              <a:ext uri="{FF2B5EF4-FFF2-40B4-BE49-F238E27FC236}">
                <a16:creationId xmlns:a16="http://schemas.microsoft.com/office/drawing/2014/main" id="{9E5A9EBD-BCF5-645E-7864-15429C643EA5}"/>
              </a:ext>
            </a:extLst>
          </p:cNvPr>
          <p:cNvSpPr>
            <a:spLocks noGrp="1"/>
          </p:cNvSpPr>
          <p:nvPr>
            <p:ph type="body" idx="12"/>
          </p:nvPr>
        </p:nvSpPr>
        <p:spPr>
          <a:xfrm>
            <a:off x="488999" y="969722"/>
            <a:ext cx="9131121" cy="669414"/>
          </a:xfrm>
        </p:spPr>
        <p:txBody>
          <a:bodyPr/>
          <a:lstStyle/>
          <a:p>
            <a:r>
              <a:rPr lang="ja-JP" altLang="en-US" dirty="0"/>
              <a:t>デジタルアセットの増加やオルタナ投資の増加に伴い、伝統資産以外の新たな商品が登場してきており、</a:t>
            </a:r>
            <a:r>
              <a:rPr kumimoji="1" lang="ja-JP" altLang="en-US" dirty="0"/>
              <a:t>これらに対応できるように</a:t>
            </a:r>
            <a:r>
              <a:rPr lang="ja-JP" altLang="en-US" dirty="0"/>
              <a:t>必要に応じてシステム対応を行います。</a:t>
            </a:r>
            <a:endParaRPr kumimoji="1" lang="ja-JP" altLang="en-US" dirty="0"/>
          </a:p>
        </p:txBody>
      </p:sp>
      <p:sp>
        <p:nvSpPr>
          <p:cNvPr id="4" name="テキスト プレースホルダー 3">
            <a:extLst>
              <a:ext uri="{FF2B5EF4-FFF2-40B4-BE49-F238E27FC236}">
                <a16:creationId xmlns:a16="http://schemas.microsoft.com/office/drawing/2014/main" id="{B69A1455-B13D-1515-B67C-CF477993D1D2}"/>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sp>
        <p:nvSpPr>
          <p:cNvPr id="14" name="正方形/長方形 13">
            <a:extLst>
              <a:ext uri="{FF2B5EF4-FFF2-40B4-BE49-F238E27FC236}">
                <a16:creationId xmlns:a16="http://schemas.microsoft.com/office/drawing/2014/main" id="{03F94F86-27B3-0C50-340B-9C5710F4B4AD}"/>
              </a:ext>
            </a:extLst>
          </p:cNvPr>
          <p:cNvSpPr/>
          <p:nvPr/>
        </p:nvSpPr>
        <p:spPr bwMode="auto">
          <a:xfrm>
            <a:off x="387440" y="5382687"/>
            <a:ext cx="4559746" cy="826550"/>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marL="171450" indent="-171450" defTabSz="908410" fontAlgn="base">
              <a:spcAft>
                <a:spcPct val="0"/>
              </a:spcAft>
              <a:buFont typeface="Wingdings" panose="05000000000000000000" pitchFamily="2" charset="2"/>
              <a:buChar char="ü"/>
            </a:pPr>
            <a:r>
              <a:rPr kumimoji="1" lang="ja-JP" altLang="en-US" sz="1200" dirty="0">
                <a:solidFill>
                  <a:prstClr val="black"/>
                </a:solidFill>
                <a:latin typeface="Meiryo UI" panose="020B0604030504040204" pitchFamily="50" charset="-128"/>
                <a:ea typeface="Meiryo UI" panose="020B0604030504040204" pitchFamily="50" charset="-128"/>
              </a:rPr>
              <a:t>デジタルアセットが増加してきており、将来的に対応が必要な可能性あり</a:t>
            </a:r>
            <a:endParaRPr kumimoji="1" lang="en-US" altLang="ja-JP" sz="1200" dirty="0">
              <a:solidFill>
                <a:prstClr val="black"/>
              </a:solidFill>
              <a:latin typeface="Meiryo UI" panose="020B0604030504040204" pitchFamily="50" charset="-128"/>
              <a:ea typeface="Meiryo UI" panose="020B0604030504040204" pitchFamily="50" charset="-128"/>
            </a:endParaRPr>
          </a:p>
        </p:txBody>
      </p:sp>
      <p:grpSp>
        <p:nvGrpSpPr>
          <p:cNvPr id="16" name="グループ化 15">
            <a:extLst>
              <a:ext uri="{FF2B5EF4-FFF2-40B4-BE49-F238E27FC236}">
                <a16:creationId xmlns:a16="http://schemas.microsoft.com/office/drawing/2014/main" id="{27EB2D78-8BC7-2C8F-C9AF-C4624B3F2296}"/>
              </a:ext>
            </a:extLst>
          </p:cNvPr>
          <p:cNvGrpSpPr/>
          <p:nvPr/>
        </p:nvGrpSpPr>
        <p:grpSpPr bwMode="gray">
          <a:xfrm>
            <a:off x="387440" y="1558647"/>
            <a:ext cx="4559745" cy="212458"/>
            <a:chOff x="581184" y="1572445"/>
            <a:chExt cx="1395099" cy="226274"/>
          </a:xfrm>
        </p:grpSpPr>
        <p:cxnSp>
          <p:nvCxnSpPr>
            <p:cNvPr id="17" name="直線コネクタ 16">
              <a:extLst>
                <a:ext uri="{FF2B5EF4-FFF2-40B4-BE49-F238E27FC236}">
                  <a16:creationId xmlns:a16="http://schemas.microsoft.com/office/drawing/2014/main" id="{72BCAD42-AA4E-8887-655C-DF1F931AF8B6}"/>
                </a:ext>
              </a:extLst>
            </p:cNvPr>
            <p:cNvCxnSpPr>
              <a:cxnSpLocks/>
            </p:cNvCxnSpPr>
            <p:nvPr/>
          </p:nvCxnSpPr>
          <p:spPr bwMode="gray">
            <a:xfrm>
              <a:off x="581184" y="1798719"/>
              <a:ext cx="1395099" cy="0"/>
            </a:xfrm>
            <a:prstGeom prst="line">
              <a:avLst/>
            </a:prstGeom>
            <a:noFill/>
            <a:ln w="9525" cap="flat" cmpd="sng" algn="ctr">
              <a:solidFill>
                <a:srgbClr val="FFFFFF">
                  <a:lumMod val="50000"/>
                </a:srgbClr>
              </a:solidFill>
              <a:prstDash val="solid"/>
              <a:tailEnd type="none"/>
            </a:ln>
            <a:effectLst/>
          </p:spPr>
        </p:cxnSp>
        <p:sp>
          <p:nvSpPr>
            <p:cNvPr id="18" name="正方形/長方形 17">
              <a:extLst>
                <a:ext uri="{FF2B5EF4-FFF2-40B4-BE49-F238E27FC236}">
                  <a16:creationId xmlns:a16="http://schemas.microsoft.com/office/drawing/2014/main" id="{338462A8-1715-1158-1CD6-67BF64AFC715}"/>
                </a:ext>
              </a:extLst>
            </p:cNvPr>
            <p:cNvSpPr/>
            <p:nvPr/>
          </p:nvSpPr>
          <p:spPr bwMode="gray">
            <a:xfrm>
              <a:off x="609347" y="1572445"/>
              <a:ext cx="1338772" cy="21713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18000" tIns="18000" rIns="18000" bIns="1800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rgbClr val="000000"/>
                  </a:solidFill>
                  <a:effectLst/>
                  <a:uLnTx/>
                  <a:uFillTx/>
                  <a:latin typeface="+mn-ea"/>
                </a:rPr>
                <a:t>デジタルアセットの増加</a:t>
              </a:r>
              <a:endParaRPr kumimoji="0" lang="en-US" altLang="ja-JP" sz="1200" b="1" i="0" u="none" strike="noStrike" kern="0" cap="none" spc="0" normalizeH="0" baseline="0" noProof="0" dirty="0">
                <a:ln>
                  <a:noFill/>
                </a:ln>
                <a:solidFill>
                  <a:srgbClr val="000000"/>
                </a:solidFill>
                <a:effectLst/>
                <a:uLnTx/>
                <a:uFillTx/>
                <a:latin typeface="+mn-ea"/>
              </a:endParaRPr>
            </a:p>
          </p:txBody>
        </p:sp>
      </p:grpSp>
      <p:grpSp>
        <p:nvGrpSpPr>
          <p:cNvPr id="20" name="グループ化 19">
            <a:extLst>
              <a:ext uri="{FF2B5EF4-FFF2-40B4-BE49-F238E27FC236}">
                <a16:creationId xmlns:a16="http://schemas.microsoft.com/office/drawing/2014/main" id="{214E0221-CC7E-57D7-EF08-23A20484A247}"/>
              </a:ext>
            </a:extLst>
          </p:cNvPr>
          <p:cNvGrpSpPr/>
          <p:nvPr/>
        </p:nvGrpSpPr>
        <p:grpSpPr bwMode="gray">
          <a:xfrm>
            <a:off x="5330366" y="1558647"/>
            <a:ext cx="4188194" cy="212458"/>
            <a:chOff x="581184" y="1572445"/>
            <a:chExt cx="1395099" cy="226274"/>
          </a:xfrm>
        </p:grpSpPr>
        <p:cxnSp>
          <p:nvCxnSpPr>
            <p:cNvPr id="21" name="直線コネクタ 20">
              <a:extLst>
                <a:ext uri="{FF2B5EF4-FFF2-40B4-BE49-F238E27FC236}">
                  <a16:creationId xmlns:a16="http://schemas.microsoft.com/office/drawing/2014/main" id="{D47667B3-C0D0-629B-A341-5AB34DA78937}"/>
                </a:ext>
              </a:extLst>
            </p:cNvPr>
            <p:cNvCxnSpPr>
              <a:cxnSpLocks/>
            </p:cNvCxnSpPr>
            <p:nvPr/>
          </p:nvCxnSpPr>
          <p:spPr bwMode="gray">
            <a:xfrm>
              <a:off x="581184" y="1798719"/>
              <a:ext cx="1395099" cy="0"/>
            </a:xfrm>
            <a:prstGeom prst="line">
              <a:avLst/>
            </a:prstGeom>
            <a:noFill/>
            <a:ln w="9525" cap="flat" cmpd="sng" algn="ctr">
              <a:solidFill>
                <a:srgbClr val="FFFFFF">
                  <a:lumMod val="50000"/>
                </a:srgbClr>
              </a:solidFill>
              <a:prstDash val="solid"/>
              <a:tailEnd type="none"/>
            </a:ln>
            <a:effectLst/>
          </p:spPr>
        </p:cxnSp>
        <p:sp>
          <p:nvSpPr>
            <p:cNvPr id="22" name="正方形/長方形 21">
              <a:extLst>
                <a:ext uri="{FF2B5EF4-FFF2-40B4-BE49-F238E27FC236}">
                  <a16:creationId xmlns:a16="http://schemas.microsoft.com/office/drawing/2014/main" id="{20D11ECF-5D64-3BE5-DCF8-C6579BB2F406}"/>
                </a:ext>
              </a:extLst>
            </p:cNvPr>
            <p:cNvSpPr/>
            <p:nvPr/>
          </p:nvSpPr>
          <p:spPr bwMode="gray">
            <a:xfrm>
              <a:off x="609347" y="1572445"/>
              <a:ext cx="1338772" cy="21713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18000" tIns="18000" rIns="18000" bIns="1800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1" i="0" u="none" strike="noStrike" kern="0" cap="none" spc="0" normalizeH="0" baseline="0" noProof="0" dirty="0">
                  <a:ln>
                    <a:noFill/>
                  </a:ln>
                  <a:solidFill>
                    <a:srgbClr val="000000"/>
                  </a:solidFill>
                  <a:effectLst/>
                  <a:uLnTx/>
                  <a:uFillTx/>
                  <a:latin typeface="+mn-ea"/>
                </a:rPr>
                <a:t>オルタナ投資の増加</a:t>
              </a:r>
              <a:endParaRPr kumimoji="0" lang="en-US" altLang="ja-JP" sz="1200" b="1" i="0" u="none" strike="noStrike" kern="0" cap="none" spc="0" normalizeH="0" baseline="0" noProof="0" dirty="0">
                <a:ln>
                  <a:noFill/>
                </a:ln>
                <a:solidFill>
                  <a:srgbClr val="000000"/>
                </a:solidFill>
                <a:effectLst/>
                <a:uLnTx/>
                <a:uFillTx/>
                <a:latin typeface="+mn-ea"/>
              </a:endParaRPr>
            </a:p>
          </p:txBody>
        </p:sp>
      </p:grpSp>
      <p:sp>
        <p:nvSpPr>
          <p:cNvPr id="23" name="テキスト ボックス 22">
            <a:extLst>
              <a:ext uri="{FF2B5EF4-FFF2-40B4-BE49-F238E27FC236}">
                <a16:creationId xmlns:a16="http://schemas.microsoft.com/office/drawing/2014/main" id="{D14CAE5D-C1CD-7378-7A53-F833F812C204}"/>
              </a:ext>
            </a:extLst>
          </p:cNvPr>
          <p:cNvSpPr txBox="1"/>
          <p:nvPr/>
        </p:nvSpPr>
        <p:spPr>
          <a:xfrm>
            <a:off x="5330366" y="5119281"/>
            <a:ext cx="3848387" cy="193247"/>
          </a:xfrm>
          <a:prstGeom prst="rect">
            <a:avLst/>
          </a:prstGeom>
          <a:noFill/>
          <a:ln w="12700" cap="flat" cmpd="sng" algn="ctr">
            <a:no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algn="l"/>
            <a:r>
              <a:rPr lang="en-US" altLang="ja-JP" sz="900" b="0" dirty="0">
                <a:solidFill>
                  <a:srgbClr val="000000"/>
                </a:solidFill>
                <a:latin typeface="+mn-ea"/>
                <a:ea typeface="+mn-ea"/>
              </a:rPr>
              <a:t>(</a:t>
            </a:r>
            <a:r>
              <a:rPr lang="ja-JP" altLang="en-US" sz="900" b="0" dirty="0">
                <a:solidFill>
                  <a:srgbClr val="000000"/>
                </a:solidFill>
                <a:latin typeface="+mn-ea"/>
                <a:ea typeface="+mn-ea"/>
              </a:rPr>
              <a:t>出所</a:t>
            </a:r>
            <a:r>
              <a:rPr lang="en-US" altLang="ja-JP" sz="900" b="0" dirty="0">
                <a:solidFill>
                  <a:srgbClr val="000000"/>
                </a:solidFill>
                <a:latin typeface="+mn-ea"/>
                <a:ea typeface="+mn-ea"/>
              </a:rPr>
              <a:t>:GPIF 2024</a:t>
            </a:r>
            <a:r>
              <a:rPr lang="ja-JP" altLang="en-US" sz="900" b="0" dirty="0">
                <a:solidFill>
                  <a:srgbClr val="000000"/>
                </a:solidFill>
                <a:latin typeface="+mn-ea"/>
                <a:ea typeface="+mn-ea"/>
              </a:rPr>
              <a:t>年度 業務概況書</a:t>
            </a:r>
            <a:r>
              <a:rPr lang="en-US" altLang="ja-JP" sz="900" b="0" dirty="0">
                <a:solidFill>
                  <a:srgbClr val="000000"/>
                </a:solidFill>
                <a:latin typeface="+mn-ea"/>
                <a:ea typeface="+mn-ea"/>
              </a:rPr>
              <a:t>)</a:t>
            </a:r>
          </a:p>
        </p:txBody>
      </p:sp>
      <p:sp>
        <p:nvSpPr>
          <p:cNvPr id="24" name="テキスト ボックス 23">
            <a:extLst>
              <a:ext uri="{FF2B5EF4-FFF2-40B4-BE49-F238E27FC236}">
                <a16:creationId xmlns:a16="http://schemas.microsoft.com/office/drawing/2014/main" id="{86020024-4583-547A-6D8E-4DE589E87A0C}"/>
              </a:ext>
            </a:extLst>
          </p:cNvPr>
          <p:cNvSpPr txBox="1"/>
          <p:nvPr/>
        </p:nvSpPr>
        <p:spPr>
          <a:xfrm>
            <a:off x="387440" y="5081696"/>
            <a:ext cx="4837875" cy="369332"/>
          </a:xfrm>
          <a:prstGeom prst="rect">
            <a:avLst/>
          </a:prstGeom>
          <a:noFill/>
        </p:spPr>
        <p:txBody>
          <a:bodyPr wrap="square">
            <a:spAutoFit/>
          </a:bodyPr>
          <a:lstStyle/>
          <a:p>
            <a:r>
              <a:rPr lang="en-US" altLang="ja-JP" sz="900" dirty="0"/>
              <a:t>(</a:t>
            </a:r>
            <a:r>
              <a:rPr lang="ja-JP" altLang="en-US" sz="900" dirty="0"/>
              <a:t>出所</a:t>
            </a:r>
            <a:r>
              <a:rPr lang="en-US" altLang="ja-JP" sz="900" dirty="0"/>
              <a:t>:Asset Tokenization in Financial Markets: The Next Generation of Value Exchange)</a:t>
            </a:r>
            <a:endParaRPr lang="ja-JP" altLang="en-US" sz="900" dirty="0"/>
          </a:p>
        </p:txBody>
      </p:sp>
      <p:sp>
        <p:nvSpPr>
          <p:cNvPr id="25" name="正方形/長方形 24">
            <a:extLst>
              <a:ext uri="{FF2B5EF4-FFF2-40B4-BE49-F238E27FC236}">
                <a16:creationId xmlns:a16="http://schemas.microsoft.com/office/drawing/2014/main" id="{A96FDC77-3080-2E26-7768-2E1850674359}"/>
              </a:ext>
            </a:extLst>
          </p:cNvPr>
          <p:cNvSpPr/>
          <p:nvPr/>
        </p:nvSpPr>
        <p:spPr bwMode="auto">
          <a:xfrm>
            <a:off x="5330364" y="5382687"/>
            <a:ext cx="4188195" cy="826550"/>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marL="171450" indent="-171450" defTabSz="908410" fontAlgn="base">
              <a:spcAft>
                <a:spcPct val="0"/>
              </a:spcAft>
              <a:buFont typeface="Wingdings" panose="05000000000000000000" pitchFamily="2" charset="2"/>
              <a:buChar char="ü"/>
            </a:pPr>
            <a:r>
              <a:rPr kumimoji="1" lang="ja-JP" altLang="en-US" sz="1200" dirty="0">
                <a:solidFill>
                  <a:prstClr val="black"/>
                </a:solidFill>
                <a:latin typeface="Meiryo UI" panose="020B0604030504040204" pitchFamily="50" charset="-128"/>
                <a:ea typeface="Meiryo UI" panose="020B0604030504040204" pitchFamily="50" charset="-128"/>
              </a:rPr>
              <a:t>年金基金の</a:t>
            </a:r>
            <a:r>
              <a:rPr kumimoji="1" lang="en-US" altLang="ja-JP" sz="1200" dirty="0">
                <a:solidFill>
                  <a:prstClr val="black"/>
                </a:solidFill>
                <a:latin typeface="Meiryo UI" panose="020B0604030504040204" pitchFamily="50" charset="-128"/>
                <a:ea typeface="Meiryo UI" panose="020B0604030504040204" pitchFamily="50" charset="-128"/>
              </a:rPr>
              <a:t>GPIF</a:t>
            </a:r>
            <a:r>
              <a:rPr kumimoji="1" lang="ja-JP" altLang="en-US" sz="1200" dirty="0">
                <a:solidFill>
                  <a:prstClr val="black"/>
                </a:solidFill>
                <a:latin typeface="Meiryo UI" panose="020B0604030504040204" pitchFamily="50" charset="-128"/>
                <a:ea typeface="Meiryo UI" panose="020B0604030504040204" pitchFamily="50" charset="-128"/>
              </a:rPr>
              <a:t>もオルタナ投資を増加させており、伝統資産以外の新たな投資商品も増加している</a:t>
            </a:r>
            <a:endParaRPr kumimoji="1" lang="en-US" altLang="ja-JP" sz="1200" dirty="0">
              <a:solidFill>
                <a:prstClr val="black"/>
              </a:solidFill>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D2100880-C02B-B5D4-F0AC-E210B6C81321}"/>
              </a:ext>
            </a:extLst>
          </p:cNvPr>
          <p:cNvSpPr txBox="1"/>
          <p:nvPr/>
        </p:nvSpPr>
        <p:spPr>
          <a:xfrm>
            <a:off x="387437" y="6123563"/>
            <a:ext cx="9131121" cy="272533"/>
          </a:xfrm>
          <a:prstGeom prst="rect">
            <a:avLst/>
          </a:prstGeom>
          <a:solidFill>
            <a:srgbClr val="FFFFFF">
              <a:lumMod val="95000"/>
            </a:srgbClr>
          </a:solidFill>
          <a:ln w="12700" cap="flat" cmpd="sng" algn="ctr">
            <a:solidFill>
              <a:schemeClr val="bg1">
                <a:lumMod val="95000"/>
              </a:schemeClr>
            </a:solidFill>
            <a:prstDash val="solid"/>
          </a:ln>
          <a:effectLst/>
        </p:spPr>
        <p:txBody>
          <a:bodyPr wrap="square" lIns="32659" tIns="32659" rIns="32659" bIns="32659" rtlCol="0" anchor="ctr" anchorCtr="0"/>
          <a:lstStyle>
            <a:defPPr>
              <a:defRPr lang="ja-JP"/>
            </a:defPPr>
            <a:lvl1pPr algn="ctr" defTabSz="824110" eaLnBrk="0" fontAlgn="auto" hangingPunct="0">
              <a:spcBef>
                <a:spcPts val="0"/>
              </a:spcBef>
              <a:spcAft>
                <a:spcPts val="0"/>
              </a:spcAft>
              <a:defRPr sz="907" b="1" kern="0">
                <a:solidFill>
                  <a:prstClr val="black"/>
                </a:solidFill>
                <a:latin typeface="Meiryo UI" panose="020B0604030504040204" pitchFamily="50" charset="-128"/>
                <a:ea typeface="Meiryo UI" panose="020B0604030504040204" pitchFamily="50" charset="-128"/>
                <a:cs typeface="Tahoma" panose="020B0604030504040204" pitchFamily="34" charset="0"/>
              </a:defRPr>
            </a:lvl1pPr>
          </a:lstStyle>
          <a:p>
            <a:pPr marL="0" marR="0" lvl="0" indent="0" algn="l" defTabSz="824110" eaLnBrk="0" fontAlgn="auto" latinLnBrk="0" hangingPunct="0">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000000"/>
                </a:solidFill>
                <a:effectLst/>
                <a:uLnTx/>
                <a:uFillTx/>
                <a:latin typeface="+mn-ea"/>
                <a:ea typeface="+mn-ea"/>
                <a:cs typeface="Tahoma" panose="020B0604030504040204" pitchFamily="34" charset="0"/>
              </a:rPr>
              <a:t>→このような市場動向に対応しないと現行ビジネスが継続できなくなる可能性があるため、システム対応を行う</a:t>
            </a:r>
            <a:endParaRPr kumimoji="0" lang="en-US" altLang="ja-JP" sz="1200" b="0" i="0" u="none" strike="noStrike" kern="0" cap="none" spc="0" normalizeH="0" baseline="0" noProof="0" dirty="0">
              <a:ln>
                <a:noFill/>
              </a:ln>
              <a:solidFill>
                <a:srgbClr val="000000"/>
              </a:solidFill>
              <a:effectLst/>
              <a:uLnTx/>
              <a:uFillTx/>
              <a:latin typeface="+mn-ea"/>
              <a:ea typeface="+mn-ea"/>
              <a:cs typeface="Tahoma" panose="020B0604030504040204" pitchFamily="34" charset="0"/>
            </a:endParaRPr>
          </a:p>
        </p:txBody>
      </p:sp>
      <p:pic>
        <p:nvPicPr>
          <p:cNvPr id="28" name="図 27" descr="テーブル&#10;&#10;AI 生成コンテンツは誤りを含む可能性があります。">
            <a:extLst>
              <a:ext uri="{FF2B5EF4-FFF2-40B4-BE49-F238E27FC236}">
                <a16:creationId xmlns:a16="http://schemas.microsoft.com/office/drawing/2014/main" id="{0D719EF1-F4A5-F90F-E1B1-B8A190B447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0362" y="1924568"/>
            <a:ext cx="4152817" cy="3151431"/>
          </a:xfrm>
          <a:prstGeom prst="rect">
            <a:avLst/>
          </a:prstGeom>
        </p:spPr>
      </p:pic>
      <p:pic>
        <p:nvPicPr>
          <p:cNvPr id="30" name="図 29" descr="グラフ, ヒストグラム&#10;&#10;AI 生成コンテンツは誤りを含む可能性があります。">
            <a:extLst>
              <a:ext uri="{FF2B5EF4-FFF2-40B4-BE49-F238E27FC236}">
                <a16:creationId xmlns:a16="http://schemas.microsoft.com/office/drawing/2014/main" id="{260F7F48-CC1C-B993-76E2-1AD40064D9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7440" y="1915467"/>
            <a:ext cx="4621223" cy="3027066"/>
          </a:xfrm>
          <a:prstGeom prst="rect">
            <a:avLst/>
          </a:prstGeom>
        </p:spPr>
      </p:pic>
    </p:spTree>
    <p:extLst>
      <p:ext uri="{BB962C8B-B14F-4D97-AF65-F5344CB8AC3E}">
        <p14:creationId xmlns:p14="http://schemas.microsoft.com/office/powerpoint/2010/main" val="19794403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85546-0682-5548-0F7A-7B34C6575828}"/>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78BF00A0-537A-E6D6-8BBF-253AB275E23F}"/>
              </a:ext>
            </a:extLst>
          </p:cNvPr>
          <p:cNvSpPr/>
          <p:nvPr/>
        </p:nvSpPr>
        <p:spPr>
          <a:xfrm>
            <a:off x="2317620" y="1998947"/>
            <a:ext cx="5270760" cy="79200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accent2">
                    <a:lumMod val="75000"/>
                  </a:schemeClr>
                </a:solidFill>
                <a:effectLst/>
                <a:uLnTx/>
                <a:uFillTx/>
                <a:latin typeface="+mn-ea"/>
                <a:cs typeface="+mn-cs"/>
              </a:rPr>
              <a:t>ビジネス高度化（データマネジメントサービス）</a:t>
            </a:r>
            <a:endParaRPr kumimoji="0" lang="en-US" altLang="ja-JP"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6" name="正方形/長方形 5">
            <a:extLst>
              <a:ext uri="{FF2B5EF4-FFF2-40B4-BE49-F238E27FC236}">
                <a16:creationId xmlns:a16="http://schemas.microsoft.com/office/drawing/2014/main" id="{C378B509-5298-CFF4-2260-433D12CAE346}"/>
              </a:ext>
            </a:extLst>
          </p:cNvPr>
          <p:cNvSpPr/>
          <p:nvPr/>
        </p:nvSpPr>
        <p:spPr>
          <a:xfrm>
            <a:off x="2317620" y="4067055"/>
            <a:ext cx="5270760" cy="792000"/>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bg1"/>
                </a:solidFill>
                <a:effectLst/>
                <a:uLnTx/>
                <a:uFillTx/>
                <a:latin typeface="+mn-ea"/>
                <a:cs typeface="+mn-cs"/>
              </a:rPr>
              <a:t>ホストオープン化</a:t>
            </a:r>
            <a:r>
              <a:rPr kumimoji="0" lang="ja-JP" altLang="en-US" b="1" kern="0" dirty="0">
                <a:solidFill>
                  <a:schemeClr val="bg1"/>
                </a:solidFill>
                <a:latin typeface="+mn-ea"/>
              </a:rPr>
              <a:t>（モダナイゼーション）</a:t>
            </a:r>
            <a:endParaRPr kumimoji="0" lang="en-US" altLang="ja-JP" b="1" i="0" u="none" strike="noStrike" kern="0" cap="none" spc="0" normalizeH="0" baseline="0" noProof="0" dirty="0">
              <a:ln>
                <a:noFill/>
              </a:ln>
              <a:solidFill>
                <a:schemeClr val="bg1"/>
              </a:solidFill>
              <a:effectLst/>
              <a:uLnTx/>
              <a:uFillTx/>
              <a:latin typeface="+mn-ea"/>
              <a:cs typeface="+mn-cs"/>
            </a:endParaRPr>
          </a:p>
        </p:txBody>
      </p:sp>
      <p:sp>
        <p:nvSpPr>
          <p:cNvPr id="7" name="正方形/長方形 6">
            <a:extLst>
              <a:ext uri="{FF2B5EF4-FFF2-40B4-BE49-F238E27FC236}">
                <a16:creationId xmlns:a16="http://schemas.microsoft.com/office/drawing/2014/main" id="{E4850649-CD1D-71B6-0F15-859F661F8614}"/>
              </a:ext>
            </a:extLst>
          </p:cNvPr>
          <p:cNvSpPr/>
          <p:nvPr/>
        </p:nvSpPr>
        <p:spPr>
          <a:xfrm>
            <a:off x="2317620" y="3033001"/>
            <a:ext cx="5270760" cy="792000"/>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accent2">
                    <a:lumMod val="75000"/>
                  </a:schemeClr>
                </a:solidFill>
                <a:effectLst/>
                <a:uLnTx/>
                <a:uFillTx/>
                <a:latin typeface="+mn-ea"/>
                <a:cs typeface="+mn-cs"/>
              </a:rPr>
              <a:t>業務基盤強化</a:t>
            </a:r>
            <a:endParaRPr kumimoji="0" lang="en-US" altLang="ja-JP"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8" name="正方形/長方形 7">
            <a:extLst>
              <a:ext uri="{FF2B5EF4-FFF2-40B4-BE49-F238E27FC236}">
                <a16:creationId xmlns:a16="http://schemas.microsoft.com/office/drawing/2014/main" id="{35811886-C77A-AEAF-E397-6888A450DD7A}"/>
              </a:ext>
            </a:extLst>
          </p:cNvPr>
          <p:cNvSpPr/>
          <p:nvPr/>
        </p:nvSpPr>
        <p:spPr>
          <a:xfrm>
            <a:off x="2317621" y="1998945"/>
            <a:ext cx="380333"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i="0" u="none" strike="noStrike" kern="0" cap="none" spc="0" normalizeH="0" baseline="0" noProof="0" dirty="0">
                <a:ln>
                  <a:noFill/>
                </a:ln>
                <a:solidFill>
                  <a:schemeClr val="accent2">
                    <a:lumMod val="75000"/>
                  </a:schemeClr>
                </a:solidFill>
                <a:effectLst/>
                <a:uLnTx/>
                <a:uFillTx/>
                <a:latin typeface="+mn-ea"/>
                <a:cs typeface="+mn-cs"/>
              </a:rPr>
              <a:t>A</a:t>
            </a:r>
          </a:p>
        </p:txBody>
      </p:sp>
      <p:sp>
        <p:nvSpPr>
          <p:cNvPr id="9" name="正方形/長方形 8">
            <a:extLst>
              <a:ext uri="{FF2B5EF4-FFF2-40B4-BE49-F238E27FC236}">
                <a16:creationId xmlns:a16="http://schemas.microsoft.com/office/drawing/2014/main" id="{FC8EDFE1-ADB9-A716-415B-D172699E5DCC}"/>
              </a:ext>
            </a:extLst>
          </p:cNvPr>
          <p:cNvSpPr/>
          <p:nvPr/>
        </p:nvSpPr>
        <p:spPr>
          <a:xfrm>
            <a:off x="2317621" y="3033001"/>
            <a:ext cx="380333" cy="231348"/>
          </a:xfrm>
          <a:prstGeom prst="rect">
            <a:avLst/>
          </a:prstGeom>
          <a:solidFill>
            <a:schemeClr val="bg1"/>
          </a:solidFill>
          <a:ln w="19050" cap="flat" cmpd="sng" algn="ctr">
            <a:solidFill>
              <a:srgbClr val="A100FF"/>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kern="0" dirty="0">
                <a:solidFill>
                  <a:schemeClr val="accent2">
                    <a:lumMod val="75000"/>
                  </a:schemeClr>
                </a:solidFill>
                <a:latin typeface="+mn-ea"/>
              </a:rPr>
              <a:t>B</a:t>
            </a:r>
            <a:endParaRPr kumimoji="0" lang="en-US" altLang="ja-JP" b="1" i="0" u="none" strike="noStrike" kern="0" cap="none" spc="0" normalizeH="0" baseline="0" noProof="0" dirty="0">
              <a:ln>
                <a:noFill/>
              </a:ln>
              <a:solidFill>
                <a:schemeClr val="accent2">
                  <a:lumMod val="75000"/>
                </a:schemeClr>
              </a:solidFill>
              <a:effectLst/>
              <a:uLnTx/>
              <a:uFillTx/>
              <a:latin typeface="+mn-ea"/>
              <a:cs typeface="+mn-cs"/>
            </a:endParaRPr>
          </a:p>
        </p:txBody>
      </p:sp>
      <p:sp>
        <p:nvSpPr>
          <p:cNvPr id="10" name="正方形/長方形 9">
            <a:extLst>
              <a:ext uri="{FF2B5EF4-FFF2-40B4-BE49-F238E27FC236}">
                <a16:creationId xmlns:a16="http://schemas.microsoft.com/office/drawing/2014/main" id="{CC313538-DD11-FA76-5843-6B0DC33A9A05}"/>
              </a:ext>
            </a:extLst>
          </p:cNvPr>
          <p:cNvSpPr/>
          <p:nvPr/>
        </p:nvSpPr>
        <p:spPr>
          <a:xfrm>
            <a:off x="2317621" y="4067055"/>
            <a:ext cx="380333" cy="231348"/>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kern="0" dirty="0">
                <a:solidFill>
                  <a:schemeClr val="bg1"/>
                </a:solidFill>
                <a:latin typeface="+mn-ea"/>
              </a:rPr>
              <a:t>C</a:t>
            </a:r>
            <a:endParaRPr kumimoji="0" lang="en-US" altLang="ja-JP" b="1" i="0" u="none" strike="noStrike" kern="0" cap="none" spc="0" normalizeH="0" baseline="0" noProof="0" dirty="0">
              <a:ln>
                <a:noFill/>
              </a:ln>
              <a:solidFill>
                <a:schemeClr val="bg1"/>
              </a:solidFill>
              <a:effectLst/>
              <a:uLnTx/>
              <a:uFillTx/>
              <a:latin typeface="+mn-ea"/>
              <a:cs typeface="+mn-cs"/>
            </a:endParaRPr>
          </a:p>
        </p:txBody>
      </p:sp>
    </p:spTree>
    <p:extLst>
      <p:ext uri="{BB962C8B-B14F-4D97-AF65-F5344CB8AC3E}">
        <p14:creationId xmlns:p14="http://schemas.microsoft.com/office/powerpoint/2010/main" val="2135515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73107-6DDE-45CA-6EA0-A94C6E9C4C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0ED5E1-5B89-4F19-4254-51E010FB25C6}"/>
              </a:ext>
            </a:extLst>
          </p:cNvPr>
          <p:cNvSpPr>
            <a:spLocks noGrp="1"/>
          </p:cNvSpPr>
          <p:nvPr>
            <p:ph type="title"/>
          </p:nvPr>
        </p:nvSpPr>
        <p:spPr/>
        <p:txBody>
          <a:bodyPr/>
          <a:lstStyle/>
          <a:p>
            <a:r>
              <a:rPr lang="en-US" altLang="ja-JP" dirty="0"/>
              <a:t>4. </a:t>
            </a:r>
            <a:r>
              <a:rPr lang="ja-JP" altLang="en-US" dirty="0"/>
              <a:t>ホストオープン化（モダナイゼーション）～①背景</a:t>
            </a:r>
            <a:endParaRPr kumimoji="1" lang="ja-JP" altLang="en-US" dirty="0"/>
          </a:p>
        </p:txBody>
      </p:sp>
      <p:sp>
        <p:nvSpPr>
          <p:cNvPr id="3" name="テキスト プレースホルダー 2">
            <a:extLst>
              <a:ext uri="{FF2B5EF4-FFF2-40B4-BE49-F238E27FC236}">
                <a16:creationId xmlns:a16="http://schemas.microsoft.com/office/drawing/2014/main" id="{5D80E8C4-40A7-017F-5B54-C3246D5D532E}"/>
              </a:ext>
            </a:extLst>
          </p:cNvPr>
          <p:cNvSpPr>
            <a:spLocks noGrp="1"/>
          </p:cNvSpPr>
          <p:nvPr>
            <p:ph type="body" idx="12"/>
          </p:nvPr>
        </p:nvSpPr>
        <p:spPr>
          <a:xfrm>
            <a:off x="488999" y="969722"/>
            <a:ext cx="9131121" cy="669414"/>
          </a:xfrm>
        </p:spPr>
        <p:txBody>
          <a:bodyPr/>
          <a:lstStyle/>
          <a:p>
            <a:r>
              <a:rPr lang="en-US" altLang="ja-JP" dirty="0"/>
              <a:t>MTBJ</a:t>
            </a:r>
            <a:r>
              <a:rPr lang="ja-JP" altLang="en-US" dirty="0"/>
              <a:t>の基幹系システムは、有識者・技術者の高齢化や製品・技術リスクの顕在化などの課題を抱えているため、これらを解消することを目的にホストオープン化に取り組むことを想定しています。</a:t>
            </a:r>
            <a:endParaRPr kumimoji="1" lang="ja-JP" altLang="en-US" dirty="0"/>
          </a:p>
        </p:txBody>
      </p:sp>
      <p:sp>
        <p:nvSpPr>
          <p:cNvPr id="4" name="テキスト プレースホルダー 3">
            <a:extLst>
              <a:ext uri="{FF2B5EF4-FFF2-40B4-BE49-F238E27FC236}">
                <a16:creationId xmlns:a16="http://schemas.microsoft.com/office/drawing/2014/main" id="{DE2B795C-1DA9-A263-A426-863435E88C48}"/>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sp>
        <p:nvSpPr>
          <p:cNvPr id="5" name="正方形/長方形 4">
            <a:extLst>
              <a:ext uri="{FF2B5EF4-FFF2-40B4-BE49-F238E27FC236}">
                <a16:creationId xmlns:a16="http://schemas.microsoft.com/office/drawing/2014/main" id="{D3A97849-886B-5CFE-1699-07C32FBF8AF7}"/>
              </a:ext>
            </a:extLst>
          </p:cNvPr>
          <p:cNvSpPr/>
          <p:nvPr/>
        </p:nvSpPr>
        <p:spPr>
          <a:xfrm>
            <a:off x="449654" y="2040407"/>
            <a:ext cx="1376737" cy="1318652"/>
          </a:xfrm>
          <a:prstGeom prst="rect">
            <a:avLst/>
          </a:prstGeom>
          <a:solidFill>
            <a:schemeClr val="accent2">
              <a:lumMod val="50000"/>
            </a:schemeClr>
          </a:solidFill>
          <a:ln w="19050" cap="flat" cmpd="sng" algn="ctr">
            <a:solidFill>
              <a:srgbClr val="FFFFFF">
                <a:lumMod val="50000"/>
              </a:srgbClr>
            </a:solidFill>
            <a:prstDash val="solid"/>
          </a:ln>
          <a:effectLst/>
        </p:spPr>
        <p:txBody>
          <a:bodyPr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400" b="1" i="0" u="none" strike="noStrike" kern="0" cap="none" spc="0" normalizeH="0" baseline="0" noProof="0">
                <a:ln>
                  <a:noFill/>
                </a:ln>
                <a:solidFill>
                  <a:srgbClr val="FFFFFF"/>
                </a:solidFill>
                <a:effectLst/>
                <a:uLnTx/>
                <a:uFillTx/>
                <a:latin typeface="+mn-ea"/>
                <a:cs typeface="Tahoma" panose="020B0604030504040204" pitchFamily="34" charset="0"/>
              </a:rPr>
              <a:t>有識者・技術者の</a:t>
            </a:r>
            <a:br>
              <a:rPr kumimoji="0" lang="en-US" altLang="ja-JP" sz="1400" b="1" i="0" u="none" strike="noStrike" kern="0" cap="none" spc="0" normalizeH="0" baseline="0" noProof="0">
                <a:ln>
                  <a:noFill/>
                </a:ln>
                <a:solidFill>
                  <a:srgbClr val="FFFFFF"/>
                </a:solidFill>
                <a:effectLst/>
                <a:uLnTx/>
                <a:uFillTx/>
                <a:latin typeface="+mn-ea"/>
                <a:cs typeface="Tahoma" panose="020B0604030504040204" pitchFamily="34" charset="0"/>
              </a:rPr>
            </a:br>
            <a:r>
              <a:rPr kumimoji="0" lang="ja-JP" altLang="en-US" sz="1400" b="1" i="0" u="none" strike="noStrike" kern="0" cap="none" spc="0" normalizeH="0" baseline="0" noProof="0">
                <a:ln>
                  <a:noFill/>
                </a:ln>
                <a:solidFill>
                  <a:srgbClr val="FFFFFF"/>
                </a:solidFill>
                <a:effectLst/>
                <a:uLnTx/>
                <a:uFillTx/>
                <a:latin typeface="+mn-ea"/>
                <a:cs typeface="Tahoma" panose="020B0604030504040204" pitchFamily="34" charset="0"/>
              </a:rPr>
              <a:t>高齢化</a:t>
            </a:r>
            <a:endParaRPr kumimoji="0" lang="ja-JP" altLang="en-US" sz="1400" b="1" i="0" u="none" strike="noStrike" kern="0" cap="none" spc="0" normalizeH="0" baseline="0" noProof="0">
              <a:ln>
                <a:noFill/>
              </a:ln>
              <a:solidFill>
                <a:srgbClr val="FFFFFF"/>
              </a:solidFill>
              <a:effectLst/>
              <a:uLnTx/>
              <a:uFillTx/>
              <a:latin typeface="+mn-ea"/>
              <a:cs typeface="+mn-cs"/>
            </a:endParaRPr>
          </a:p>
        </p:txBody>
      </p:sp>
      <p:sp>
        <p:nvSpPr>
          <p:cNvPr id="8" name="正方形/長方形 7">
            <a:extLst>
              <a:ext uri="{FF2B5EF4-FFF2-40B4-BE49-F238E27FC236}">
                <a16:creationId xmlns:a16="http://schemas.microsoft.com/office/drawing/2014/main" id="{DC09308B-0FDC-DA00-D922-7B1E834E43E4}"/>
              </a:ext>
            </a:extLst>
          </p:cNvPr>
          <p:cNvSpPr/>
          <p:nvPr/>
        </p:nvSpPr>
        <p:spPr>
          <a:xfrm>
            <a:off x="449654" y="3616759"/>
            <a:ext cx="1376737" cy="2888816"/>
          </a:xfrm>
          <a:prstGeom prst="rect">
            <a:avLst/>
          </a:prstGeom>
          <a:solidFill>
            <a:schemeClr val="accent2">
              <a:lumMod val="50000"/>
            </a:schemeClr>
          </a:solidFill>
          <a:ln w="19050" cap="flat" cmpd="sng" algn="ctr">
            <a:solidFill>
              <a:srgbClr val="FFFFFF">
                <a:lumMod val="50000"/>
              </a:srgbClr>
            </a:solidFill>
            <a:prstDash val="solid"/>
          </a:ln>
          <a:effectLst/>
        </p:spPr>
        <p:txBody>
          <a:bodyPr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400" b="1" i="0" u="none" strike="noStrike" kern="0" cap="none" spc="0" normalizeH="0" baseline="0" noProof="0">
                <a:ln>
                  <a:noFill/>
                </a:ln>
                <a:solidFill>
                  <a:srgbClr val="FFFFFF"/>
                </a:solidFill>
                <a:effectLst/>
                <a:uLnTx/>
                <a:uFillTx/>
                <a:latin typeface="+mn-ea"/>
                <a:cs typeface="Tahoma" panose="020B0604030504040204" pitchFamily="34" charset="0"/>
              </a:rPr>
              <a:t>製品・技術リスクの</a:t>
            </a:r>
            <a:br>
              <a:rPr kumimoji="0" lang="en-US" altLang="ja-JP" sz="1400" b="1" i="0" u="none" strike="noStrike" kern="0" cap="none" spc="0" normalizeH="0" baseline="0" noProof="0">
                <a:ln>
                  <a:noFill/>
                </a:ln>
                <a:solidFill>
                  <a:srgbClr val="FFFFFF"/>
                </a:solidFill>
                <a:effectLst/>
                <a:uLnTx/>
                <a:uFillTx/>
                <a:latin typeface="+mn-ea"/>
                <a:cs typeface="Tahoma" panose="020B0604030504040204" pitchFamily="34" charset="0"/>
              </a:rPr>
            </a:br>
            <a:r>
              <a:rPr kumimoji="0" lang="ja-JP" altLang="en-US" sz="1400" b="1" i="0" u="none" strike="noStrike" kern="0" cap="none" spc="0" normalizeH="0" baseline="0" noProof="0">
                <a:ln>
                  <a:noFill/>
                </a:ln>
                <a:solidFill>
                  <a:srgbClr val="FFFFFF"/>
                </a:solidFill>
                <a:effectLst/>
                <a:uLnTx/>
                <a:uFillTx/>
                <a:latin typeface="+mn-ea"/>
                <a:cs typeface="Tahoma" panose="020B0604030504040204" pitchFamily="34" charset="0"/>
              </a:rPr>
              <a:t>顕在化</a:t>
            </a:r>
            <a:endParaRPr kumimoji="0" lang="ja-JP" altLang="en-US" sz="1400" b="1" i="0" u="none" strike="noStrike" kern="0" cap="none" spc="0" normalizeH="0" baseline="0" noProof="0">
              <a:ln>
                <a:noFill/>
              </a:ln>
              <a:solidFill>
                <a:srgbClr val="FFFFFF"/>
              </a:solidFill>
              <a:effectLst/>
              <a:uLnTx/>
              <a:uFillTx/>
              <a:latin typeface="+mn-ea"/>
              <a:cs typeface="+mn-cs"/>
            </a:endParaRPr>
          </a:p>
        </p:txBody>
      </p:sp>
      <p:sp>
        <p:nvSpPr>
          <p:cNvPr id="9" name="正方形/長方形 8">
            <a:extLst>
              <a:ext uri="{FF2B5EF4-FFF2-40B4-BE49-F238E27FC236}">
                <a16:creationId xmlns:a16="http://schemas.microsoft.com/office/drawing/2014/main" id="{97CAF3E3-7846-CCC7-274D-50A9688C8F31}"/>
              </a:ext>
            </a:extLst>
          </p:cNvPr>
          <p:cNvSpPr/>
          <p:nvPr/>
        </p:nvSpPr>
        <p:spPr>
          <a:xfrm>
            <a:off x="449654" y="2040407"/>
            <a:ext cx="235053" cy="312658"/>
          </a:xfrm>
          <a:prstGeom prst="rect">
            <a:avLst/>
          </a:prstGeom>
          <a:solidFill>
            <a:schemeClr val="accent2">
              <a:lumMod val="50000"/>
            </a:schemeClr>
          </a:solidFill>
          <a:ln w="19050" cap="flat" cmpd="sng" algn="ctr">
            <a:solidFill>
              <a:srgbClr val="FFFFFF"/>
            </a:solidFill>
            <a:prstDash val="solid"/>
          </a:ln>
          <a:effectLst/>
        </p:spPr>
        <p:txBody>
          <a:bodyPr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200" b="1" i="0" u="none" strike="noStrike" kern="0" cap="none" spc="0" normalizeH="0" baseline="0" noProof="0">
                <a:ln>
                  <a:noFill/>
                </a:ln>
                <a:solidFill>
                  <a:srgbClr val="FFFFFF"/>
                </a:solidFill>
                <a:effectLst/>
                <a:uLnTx/>
                <a:uFillTx/>
                <a:latin typeface="+mn-ea"/>
                <a:cs typeface="+mn-cs"/>
              </a:rPr>
              <a:t>Ⅰ</a:t>
            </a:r>
            <a:endParaRPr kumimoji="0" lang="ja-JP" altLang="en-US" sz="1200" b="1" i="0" u="none" strike="noStrike" kern="0" cap="none" spc="0" normalizeH="0" baseline="0" noProof="0">
              <a:ln>
                <a:noFill/>
              </a:ln>
              <a:solidFill>
                <a:srgbClr val="FFFFFF"/>
              </a:solidFill>
              <a:effectLst/>
              <a:uLnTx/>
              <a:uFillTx/>
              <a:latin typeface="+mn-ea"/>
              <a:cs typeface="+mn-cs"/>
            </a:endParaRPr>
          </a:p>
        </p:txBody>
      </p:sp>
      <p:sp>
        <p:nvSpPr>
          <p:cNvPr id="10" name="正方形/長方形 9">
            <a:extLst>
              <a:ext uri="{FF2B5EF4-FFF2-40B4-BE49-F238E27FC236}">
                <a16:creationId xmlns:a16="http://schemas.microsoft.com/office/drawing/2014/main" id="{8FEC68BE-EC8C-431A-7B9E-B8A883887F46}"/>
              </a:ext>
            </a:extLst>
          </p:cNvPr>
          <p:cNvSpPr/>
          <p:nvPr/>
        </p:nvSpPr>
        <p:spPr>
          <a:xfrm>
            <a:off x="449655" y="3615491"/>
            <a:ext cx="235053" cy="312658"/>
          </a:xfrm>
          <a:prstGeom prst="rect">
            <a:avLst/>
          </a:prstGeom>
          <a:solidFill>
            <a:schemeClr val="accent2">
              <a:lumMod val="50000"/>
            </a:schemeClr>
          </a:solidFill>
          <a:ln w="19050" cap="flat" cmpd="sng" algn="ctr">
            <a:solidFill>
              <a:srgbClr val="FFFFFF"/>
            </a:solidFill>
            <a:prstDash val="solid"/>
          </a:ln>
          <a:effectLst/>
        </p:spPr>
        <p:txBody>
          <a:bodyPr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200" b="1" i="0" u="none" strike="noStrike" kern="0" cap="none" spc="0" normalizeH="0" baseline="0" noProof="0">
                <a:ln>
                  <a:noFill/>
                </a:ln>
                <a:solidFill>
                  <a:srgbClr val="FFFFFF"/>
                </a:solidFill>
                <a:effectLst/>
                <a:uLnTx/>
                <a:uFillTx/>
                <a:latin typeface="+mn-ea"/>
                <a:cs typeface="+mn-cs"/>
              </a:rPr>
              <a:t>Ⅱ</a:t>
            </a:r>
            <a:endParaRPr kumimoji="0" lang="ja-JP" altLang="en-US" sz="1200" b="1" i="0" u="none" strike="noStrike" kern="0" cap="none" spc="0" normalizeH="0" baseline="0" noProof="0">
              <a:ln>
                <a:noFill/>
              </a:ln>
              <a:solidFill>
                <a:srgbClr val="FFFFFF"/>
              </a:solidFill>
              <a:effectLst/>
              <a:uLnTx/>
              <a:uFillTx/>
              <a:latin typeface="+mn-ea"/>
              <a:cs typeface="+mn-cs"/>
            </a:endParaRPr>
          </a:p>
        </p:txBody>
      </p:sp>
      <p:sp>
        <p:nvSpPr>
          <p:cNvPr id="11" name="正方形/長方形 10">
            <a:extLst>
              <a:ext uri="{FF2B5EF4-FFF2-40B4-BE49-F238E27FC236}">
                <a16:creationId xmlns:a16="http://schemas.microsoft.com/office/drawing/2014/main" id="{68406F3A-1D07-6B75-5C9B-27E5FE1EF515}"/>
              </a:ext>
            </a:extLst>
          </p:cNvPr>
          <p:cNvSpPr/>
          <p:nvPr/>
        </p:nvSpPr>
        <p:spPr>
          <a:xfrm>
            <a:off x="4874499" y="1616931"/>
            <a:ext cx="4706275" cy="279714"/>
          </a:xfrm>
          <a:prstGeom prst="rect">
            <a:avLst/>
          </a:prstGeom>
          <a:solidFill>
            <a:srgbClr val="FFFFFF">
              <a:lumMod val="95000"/>
            </a:srgbClr>
          </a:solidFill>
          <a:ln w="19050" cap="flat" cmpd="sng" algn="ctr">
            <a:solidFill>
              <a:srgbClr val="FFFFFF">
                <a:lumMod val="50000"/>
              </a:srgbClr>
            </a:solidFill>
            <a:prstDash val="solid"/>
          </a:ln>
          <a:effectLst/>
        </p:spPr>
        <p:txBody>
          <a:bodyPr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400" b="1" i="0" u="none" strike="noStrike" kern="0" cap="none" spc="0" normalizeH="0" baseline="0" noProof="0">
                <a:ln>
                  <a:noFill/>
                </a:ln>
                <a:solidFill>
                  <a:srgbClr val="000000"/>
                </a:solidFill>
                <a:effectLst/>
                <a:uLnTx/>
                <a:uFillTx/>
                <a:latin typeface="+mn-ea"/>
                <a:cs typeface="+mn-cs"/>
              </a:rPr>
              <a:t>本プロジェクトを通じた対応策</a:t>
            </a:r>
          </a:p>
        </p:txBody>
      </p:sp>
      <p:sp>
        <p:nvSpPr>
          <p:cNvPr id="12" name="正方形/長方形 11">
            <a:extLst>
              <a:ext uri="{FF2B5EF4-FFF2-40B4-BE49-F238E27FC236}">
                <a16:creationId xmlns:a16="http://schemas.microsoft.com/office/drawing/2014/main" id="{EDD7C6E4-1CA3-610C-4D43-BFE940F8B497}"/>
              </a:ext>
            </a:extLst>
          </p:cNvPr>
          <p:cNvSpPr/>
          <p:nvPr/>
        </p:nvSpPr>
        <p:spPr>
          <a:xfrm>
            <a:off x="1901069" y="2117634"/>
            <a:ext cx="2719896" cy="1191199"/>
          </a:xfrm>
          <a:prstGeom prst="rect">
            <a:avLst/>
          </a:prstGeom>
          <a:solidFill>
            <a:srgbClr val="FFFFFF"/>
          </a:solidFill>
          <a:ln w="19050" cap="flat" cmpd="sng" algn="ctr">
            <a:noFill/>
            <a:prstDash val="solid"/>
          </a:ln>
          <a:effectLst/>
        </p:spPr>
        <p:txBody>
          <a:bodyPr wrap="none" lIns="0" tIns="0" rIns="0" bIns="0" rtlCol="0" anchor="t" anchorCtr="0"/>
          <a:lstStyle/>
          <a:p>
            <a:pPr marL="171450" marR="0" lvl="0" indent="-171450" defTabSz="995363" eaLnBrk="0" fontAlgn="base" latinLnBrk="0" hangingPunct="0">
              <a:lnSpc>
                <a:spcPct val="100000"/>
              </a:lnSpc>
              <a:spcBef>
                <a:spcPct val="0"/>
              </a:spcBef>
              <a:spcAft>
                <a:spcPct val="0"/>
              </a:spcAft>
              <a:buClrTx/>
              <a:buSzTx/>
              <a:buFont typeface="Wingdings" panose="05000000000000000000" pitchFamily="2" charset="2"/>
              <a:buChar char="ü"/>
              <a:tabLst/>
              <a:defRPr/>
            </a:pPr>
            <a:r>
              <a:rPr kumimoji="0" lang="ja-JP" altLang="en-US" sz="1200" b="0" i="0" u="none" strike="noStrike" kern="0" cap="none" spc="0" normalizeH="0" baseline="0" noProof="0">
                <a:ln>
                  <a:noFill/>
                </a:ln>
                <a:solidFill>
                  <a:srgbClr val="000000"/>
                </a:solidFill>
                <a:effectLst/>
                <a:uLnTx/>
                <a:uFillTx/>
                <a:latin typeface="+mn-ea"/>
                <a:cs typeface="+mn-cs"/>
              </a:rPr>
              <a:t>システム有識者の高齢化</a:t>
            </a:r>
            <a:endParaRPr kumimoji="0" lang="en-US" altLang="ja-JP" sz="1200" b="0" i="0" u="none" strike="noStrike" kern="0" cap="none" spc="0" normalizeH="0" baseline="0" noProof="0">
              <a:ln>
                <a:noFill/>
              </a:ln>
              <a:solidFill>
                <a:srgbClr val="000000"/>
              </a:solidFill>
              <a:effectLst/>
              <a:uLnTx/>
              <a:uFillTx/>
              <a:latin typeface="+mn-ea"/>
              <a:cs typeface="+mn-cs"/>
            </a:endParaRPr>
          </a:p>
          <a:p>
            <a:pPr marL="171450" marR="0" lvl="0" indent="-171450" defTabSz="995363" eaLnBrk="0" fontAlgn="base" latinLnBrk="0" hangingPunct="0">
              <a:lnSpc>
                <a:spcPct val="100000"/>
              </a:lnSpc>
              <a:spcBef>
                <a:spcPts val="600"/>
              </a:spcBef>
              <a:spcAft>
                <a:spcPct val="0"/>
              </a:spcAft>
              <a:buClrTx/>
              <a:buSzTx/>
              <a:buFont typeface="Wingdings" panose="05000000000000000000" pitchFamily="2" charset="2"/>
              <a:buChar char="ü"/>
              <a:tabLst/>
              <a:defRPr/>
            </a:pPr>
            <a:r>
              <a:rPr kumimoji="0" lang="ja-JP" altLang="en-US" sz="1200" b="0" i="0" u="none" strike="noStrike" kern="0" cap="none" spc="0" normalizeH="0" baseline="0" noProof="0">
                <a:ln>
                  <a:noFill/>
                </a:ln>
                <a:solidFill>
                  <a:srgbClr val="000000"/>
                </a:solidFill>
                <a:effectLst/>
                <a:uLnTx/>
                <a:uFillTx/>
                <a:latin typeface="+mn-ea"/>
                <a:cs typeface="+mn-cs"/>
              </a:rPr>
              <a:t>システム有識者の</a:t>
            </a:r>
            <a:r>
              <a:rPr kumimoji="0" lang="en-US" altLang="ja-JP" sz="1200" b="0" i="0" u="none" strike="noStrike" kern="0" cap="none" spc="0" normalizeH="0" baseline="0" noProof="0">
                <a:ln>
                  <a:noFill/>
                </a:ln>
                <a:solidFill>
                  <a:srgbClr val="000000"/>
                </a:solidFill>
                <a:effectLst/>
                <a:uLnTx/>
                <a:uFillTx/>
                <a:latin typeface="+mn-ea"/>
                <a:cs typeface="+mn-cs"/>
              </a:rPr>
              <a:t>BP</a:t>
            </a:r>
            <a:r>
              <a:rPr kumimoji="0" lang="ja-JP" altLang="en-US" sz="1200" b="0" i="0" u="none" strike="noStrike" kern="0" cap="none" spc="0" normalizeH="0" baseline="0" noProof="0">
                <a:ln>
                  <a:noFill/>
                </a:ln>
                <a:solidFill>
                  <a:srgbClr val="000000"/>
                </a:solidFill>
                <a:effectLst/>
                <a:uLnTx/>
                <a:uFillTx/>
                <a:latin typeface="+mn-ea"/>
                <a:cs typeface="+mn-cs"/>
              </a:rPr>
              <a:t>依存</a:t>
            </a:r>
            <a:endParaRPr kumimoji="0" lang="en-US" altLang="ja-JP" sz="1200" b="0" i="0" u="none" strike="noStrike" kern="0" cap="none" spc="0" normalizeH="0" baseline="0" noProof="0">
              <a:ln>
                <a:noFill/>
              </a:ln>
              <a:solidFill>
                <a:srgbClr val="000000"/>
              </a:solidFill>
              <a:effectLst/>
              <a:uLnTx/>
              <a:uFillTx/>
              <a:latin typeface="+mn-ea"/>
              <a:cs typeface="+mn-cs"/>
            </a:endParaRPr>
          </a:p>
          <a:p>
            <a:pPr marL="171450" marR="0" lvl="0" indent="-171450" defTabSz="995363" eaLnBrk="0" fontAlgn="base" latinLnBrk="0" hangingPunct="0">
              <a:lnSpc>
                <a:spcPct val="100000"/>
              </a:lnSpc>
              <a:spcBef>
                <a:spcPts val="600"/>
              </a:spcBef>
              <a:spcAft>
                <a:spcPct val="0"/>
              </a:spcAft>
              <a:buClrTx/>
              <a:buSzTx/>
              <a:buFont typeface="Wingdings" panose="05000000000000000000" pitchFamily="2" charset="2"/>
              <a:buChar char="ü"/>
              <a:tabLst/>
              <a:defRPr/>
            </a:pPr>
            <a:r>
              <a:rPr kumimoji="0" lang="ja-JP" altLang="en-US" sz="1200" b="0" i="0" u="none" strike="noStrike" kern="0" cap="none" spc="0" normalizeH="0" baseline="0" noProof="0">
                <a:ln>
                  <a:noFill/>
                </a:ln>
                <a:solidFill>
                  <a:srgbClr val="000000"/>
                </a:solidFill>
                <a:effectLst/>
                <a:uLnTx/>
                <a:uFillTx/>
                <a:latin typeface="+mn-ea"/>
                <a:cs typeface="+mn-cs"/>
              </a:rPr>
              <a:t>システム肥大化・複雑化により</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ja-JP" altLang="en-US" sz="1200" b="0" i="0" u="none" strike="noStrike" kern="0" cap="none" spc="0" normalizeH="0" baseline="0" noProof="0">
                <a:ln>
                  <a:noFill/>
                </a:ln>
                <a:solidFill>
                  <a:srgbClr val="000000"/>
                </a:solidFill>
                <a:effectLst/>
                <a:uLnTx/>
                <a:uFillTx/>
                <a:latin typeface="+mn-ea"/>
                <a:cs typeface="+mn-cs"/>
              </a:rPr>
              <a:t>継続的な有識者育成が困難</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ja-JP" altLang="en-US" sz="1200" b="0" i="0" u="none" strike="noStrike" kern="0" cap="none" spc="0" normalizeH="0" baseline="0" noProof="0">
                <a:ln>
                  <a:noFill/>
                </a:ln>
                <a:solidFill>
                  <a:srgbClr val="000000"/>
                </a:solidFill>
                <a:effectLst/>
                <a:uLnTx/>
                <a:uFillTx/>
                <a:latin typeface="+mn-ea"/>
                <a:cs typeface="+mn-cs"/>
              </a:rPr>
              <a:t>（抜本的な開発生産性向上の実現も困難）</a:t>
            </a:r>
            <a:endParaRPr kumimoji="0" lang="en-US" altLang="ja-JP" sz="1200" b="0" i="0" u="none" strike="noStrike" kern="0" cap="none" spc="0" normalizeH="0" baseline="0" noProof="0">
              <a:ln>
                <a:noFill/>
              </a:ln>
              <a:solidFill>
                <a:srgbClr val="000000"/>
              </a:solidFill>
              <a:effectLst/>
              <a:uLnTx/>
              <a:uFillTx/>
              <a:latin typeface="+mn-ea"/>
              <a:cs typeface="+mn-cs"/>
            </a:endParaRPr>
          </a:p>
        </p:txBody>
      </p:sp>
      <p:sp>
        <p:nvSpPr>
          <p:cNvPr id="13" name="正方形/長方形 12">
            <a:extLst>
              <a:ext uri="{FF2B5EF4-FFF2-40B4-BE49-F238E27FC236}">
                <a16:creationId xmlns:a16="http://schemas.microsoft.com/office/drawing/2014/main" id="{F0E365BF-FFC3-7564-B846-EBD68B76C57F}"/>
              </a:ext>
            </a:extLst>
          </p:cNvPr>
          <p:cNvSpPr/>
          <p:nvPr/>
        </p:nvSpPr>
        <p:spPr>
          <a:xfrm>
            <a:off x="1910340" y="3670652"/>
            <a:ext cx="2753475" cy="2320364"/>
          </a:xfrm>
          <a:prstGeom prst="rect">
            <a:avLst/>
          </a:prstGeom>
          <a:solidFill>
            <a:srgbClr val="FFFFFF"/>
          </a:solidFill>
          <a:ln w="19050" cap="flat" cmpd="sng" algn="ctr">
            <a:noFill/>
            <a:prstDash val="solid"/>
          </a:ln>
          <a:effectLst/>
        </p:spPr>
        <p:txBody>
          <a:bodyPr wrap="none" lIns="0" tIns="0" rIns="0" bIns="0" rtlCol="0" anchor="t" anchorCtr="0"/>
          <a:lstStyle/>
          <a:p>
            <a:pPr marL="171450" marR="0" lvl="0" indent="-171450" defTabSz="995363" eaLnBrk="0" fontAlgn="base" latinLnBrk="0" hangingPunct="0">
              <a:lnSpc>
                <a:spcPct val="100000"/>
              </a:lnSpc>
              <a:spcBef>
                <a:spcPct val="0"/>
              </a:spcBef>
              <a:spcAft>
                <a:spcPct val="0"/>
              </a:spcAft>
              <a:buClrTx/>
              <a:buSzTx/>
              <a:buFont typeface="Wingdings" panose="05000000000000000000" pitchFamily="2" charset="2"/>
              <a:buChar char="ü"/>
              <a:tabLst/>
              <a:defRPr/>
            </a:pPr>
            <a:r>
              <a:rPr kumimoji="0" lang="ja-JP" altLang="en-US" sz="1200" b="0" i="0" u="none" strike="noStrike" kern="0" cap="none" spc="0" normalizeH="0" baseline="0" noProof="0">
                <a:ln>
                  <a:noFill/>
                </a:ln>
                <a:solidFill>
                  <a:srgbClr val="000000"/>
                </a:solidFill>
                <a:effectLst/>
                <a:uLnTx/>
                <a:uFillTx/>
                <a:latin typeface="+mn-ea"/>
                <a:cs typeface="+mn-cs"/>
              </a:rPr>
              <a:t>技術者枯渇度の高い社内独自技術の利用</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en-US" altLang="ja-JP" sz="1200" b="0" i="0" u="none" strike="noStrike" kern="0" cap="none" spc="0" normalizeH="0" baseline="0" noProof="0">
                <a:ln>
                  <a:noFill/>
                </a:ln>
                <a:solidFill>
                  <a:srgbClr val="000000"/>
                </a:solidFill>
                <a:effectLst/>
                <a:uLnTx/>
                <a:uFillTx/>
                <a:latin typeface="+mn-ea"/>
                <a:cs typeface="+mn-cs"/>
              </a:rPr>
              <a:t>(ACP)</a:t>
            </a:r>
          </a:p>
          <a:p>
            <a:pPr marL="171450" marR="0" lvl="0" indent="-171450" defTabSz="995363" eaLnBrk="0" fontAlgn="base" latinLnBrk="0" hangingPunct="0">
              <a:lnSpc>
                <a:spcPct val="100000"/>
              </a:lnSpc>
              <a:spcBef>
                <a:spcPts val="600"/>
              </a:spcBef>
              <a:spcAft>
                <a:spcPct val="0"/>
              </a:spcAft>
              <a:buClrTx/>
              <a:buSzTx/>
              <a:buFont typeface="Wingdings" panose="05000000000000000000" pitchFamily="2" charset="2"/>
              <a:buChar char="ü"/>
              <a:tabLst/>
              <a:defRPr/>
            </a:pPr>
            <a:r>
              <a:rPr kumimoji="0" lang="ja-JP" altLang="en-US" sz="1200" b="0" i="0" u="none" strike="noStrike" kern="0" cap="none" spc="0" normalizeH="0" baseline="0" noProof="0">
                <a:ln>
                  <a:noFill/>
                </a:ln>
                <a:solidFill>
                  <a:srgbClr val="000000"/>
                </a:solidFill>
                <a:effectLst/>
                <a:uLnTx/>
                <a:uFillTx/>
                <a:latin typeface="+mn-ea"/>
                <a:cs typeface="+mn-cs"/>
              </a:rPr>
              <a:t>製品サポート終了済みの製品の利用</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en-US" altLang="ja-JP" sz="1200" b="0" i="0" u="none" strike="noStrike" kern="0" cap="none" spc="0" normalizeH="0" baseline="0" noProof="0">
                <a:ln>
                  <a:noFill/>
                </a:ln>
                <a:solidFill>
                  <a:srgbClr val="000000"/>
                </a:solidFill>
                <a:effectLst/>
                <a:uLnTx/>
                <a:uFillTx/>
                <a:latin typeface="+mn-ea"/>
                <a:cs typeface="+mn-cs"/>
              </a:rPr>
              <a:t>(TELON)</a:t>
            </a:r>
          </a:p>
        </p:txBody>
      </p:sp>
      <p:sp>
        <p:nvSpPr>
          <p:cNvPr id="14" name="正方形/長方形 13">
            <a:extLst>
              <a:ext uri="{FF2B5EF4-FFF2-40B4-BE49-F238E27FC236}">
                <a16:creationId xmlns:a16="http://schemas.microsoft.com/office/drawing/2014/main" id="{8F3C4E2E-B287-1E47-95E4-F0596B725D3B}"/>
              </a:ext>
            </a:extLst>
          </p:cNvPr>
          <p:cNvSpPr/>
          <p:nvPr/>
        </p:nvSpPr>
        <p:spPr>
          <a:xfrm>
            <a:off x="4948665" y="2117634"/>
            <a:ext cx="4632110" cy="883203"/>
          </a:xfrm>
          <a:prstGeom prst="rect">
            <a:avLst/>
          </a:prstGeom>
          <a:solidFill>
            <a:srgbClr val="FFFFFF"/>
          </a:solidFill>
          <a:ln w="19050" cap="flat" cmpd="sng" algn="ctr">
            <a:noFill/>
            <a:prstDash val="solid"/>
          </a:ln>
          <a:effectLst/>
        </p:spPr>
        <p:txBody>
          <a:bodyPr wrap="square" lIns="0" tIns="0" rIns="0" bIns="0" rtlCol="0" anchor="t" anchorCtr="0"/>
          <a:lstStyle/>
          <a:p>
            <a:pPr marL="171450" marR="0" lvl="0" indent="-171450" defTabSz="995363" eaLnBrk="0" fontAlgn="base" latinLnBrk="0" hangingPunct="0">
              <a:lnSpc>
                <a:spcPct val="100000"/>
              </a:lnSpc>
              <a:spcBef>
                <a:spcPct val="0"/>
              </a:spcBef>
              <a:spcAft>
                <a:spcPct val="0"/>
              </a:spcAft>
              <a:buClrTx/>
              <a:buSzTx/>
              <a:buFont typeface="Wingdings" panose="05000000000000000000" pitchFamily="2" charset="2"/>
              <a:buChar char="ü"/>
              <a:tabLst/>
              <a:defRPr/>
            </a:pPr>
            <a:r>
              <a:rPr kumimoji="0" lang="ja-JP" altLang="en-US" sz="1200" b="1" i="0" u="sng" strike="noStrike" kern="0" cap="none" spc="0" normalizeH="0" baseline="0" noProof="0">
                <a:ln>
                  <a:noFill/>
                </a:ln>
                <a:solidFill>
                  <a:srgbClr val="000000"/>
                </a:solidFill>
                <a:effectLst/>
                <a:uLnTx/>
                <a:uFillTx/>
                <a:latin typeface="+mn-ea"/>
                <a:cs typeface="+mn-cs"/>
              </a:rPr>
              <a:t>システムのスリム化と汎用的な技術へ置換</a:t>
            </a:r>
            <a:r>
              <a:rPr kumimoji="0" lang="en-US" altLang="ja-JP" sz="1200" b="1" i="0" u="sng" strike="noStrike" kern="0" cap="none" spc="0" normalizeH="0" baseline="0" noProof="0">
                <a:ln>
                  <a:noFill/>
                </a:ln>
                <a:solidFill>
                  <a:srgbClr val="000000"/>
                </a:solidFill>
                <a:effectLst/>
                <a:uLnTx/>
                <a:uFillTx/>
                <a:latin typeface="+mn-ea"/>
                <a:cs typeface="+mn-cs"/>
              </a:rPr>
              <a:t>/</a:t>
            </a:r>
            <a:r>
              <a:rPr kumimoji="0" lang="ja-JP" altLang="en-US" sz="1200" b="1" i="0" u="sng" strike="noStrike" kern="0" cap="none" spc="0" normalizeH="0" baseline="0" noProof="0">
                <a:ln>
                  <a:noFill/>
                </a:ln>
                <a:solidFill>
                  <a:srgbClr val="000000"/>
                </a:solidFill>
                <a:effectLst/>
                <a:uLnTx/>
                <a:uFillTx/>
                <a:latin typeface="+mn-ea"/>
                <a:cs typeface="+mn-cs"/>
              </a:rPr>
              <a:t>標準化を通じて、</a:t>
            </a:r>
            <a:br>
              <a:rPr kumimoji="0" lang="en-US" altLang="ja-JP" sz="1200" b="1" i="0" u="sng" strike="noStrike" kern="0" cap="none" spc="0" normalizeH="0" baseline="0" noProof="0">
                <a:ln>
                  <a:noFill/>
                </a:ln>
                <a:solidFill>
                  <a:srgbClr val="000000"/>
                </a:solidFill>
                <a:effectLst/>
                <a:uLnTx/>
                <a:uFillTx/>
                <a:latin typeface="+mn-ea"/>
                <a:cs typeface="+mn-cs"/>
              </a:rPr>
            </a:br>
            <a:r>
              <a:rPr kumimoji="0" lang="en-US" altLang="ja-JP" sz="1200" b="1" i="0" u="sng" strike="noStrike" kern="0" cap="none" spc="0" normalizeH="0" baseline="0" noProof="0">
                <a:ln>
                  <a:noFill/>
                </a:ln>
                <a:solidFill>
                  <a:srgbClr val="000000"/>
                </a:solidFill>
                <a:effectLst/>
                <a:uLnTx/>
                <a:uFillTx/>
                <a:latin typeface="+mn-ea"/>
                <a:cs typeface="+mn-cs"/>
              </a:rPr>
              <a:t>MUSK</a:t>
            </a:r>
            <a:r>
              <a:rPr kumimoji="0" lang="ja-JP" altLang="en-US" sz="1200" b="1" i="0" u="sng" strike="noStrike" kern="0" cap="none" spc="0" normalizeH="0" baseline="0" noProof="0">
                <a:ln>
                  <a:noFill/>
                </a:ln>
                <a:solidFill>
                  <a:srgbClr val="000000"/>
                </a:solidFill>
                <a:effectLst/>
                <a:uLnTx/>
                <a:uFillTx/>
                <a:latin typeface="+mn-ea"/>
                <a:cs typeface="+mn-cs"/>
              </a:rPr>
              <a:t>若手要員へのスキル継承と生産性の向上を実現</a:t>
            </a:r>
            <a:r>
              <a:rPr kumimoji="0" lang="ja-JP" altLang="en-US" sz="1200" b="0" i="0" u="none" strike="noStrike" kern="0" cap="none" spc="0" normalizeH="0" baseline="0" noProof="0">
                <a:ln>
                  <a:noFill/>
                </a:ln>
                <a:solidFill>
                  <a:srgbClr val="000000"/>
                </a:solidFill>
                <a:effectLst/>
                <a:uLnTx/>
                <a:uFillTx/>
                <a:latin typeface="+mn-ea"/>
                <a:cs typeface="+mn-cs"/>
              </a:rPr>
              <a:t>し、</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en-US" altLang="ja-JP" sz="1200" b="0" i="0" u="none" strike="noStrike" kern="0" cap="none" spc="0" normalizeH="0" baseline="0" noProof="0">
                <a:ln>
                  <a:noFill/>
                </a:ln>
                <a:solidFill>
                  <a:srgbClr val="000000"/>
                </a:solidFill>
                <a:effectLst/>
                <a:uLnTx/>
                <a:uFillTx/>
                <a:latin typeface="+mn-ea"/>
                <a:cs typeface="+mn-cs"/>
              </a:rPr>
              <a:t>MTBJ</a:t>
            </a:r>
            <a:r>
              <a:rPr kumimoji="0" lang="ja-JP" altLang="en-US" sz="1200" b="0" i="0" u="none" strike="noStrike" kern="0" cap="none" spc="0" normalizeH="0" baseline="0" noProof="0">
                <a:ln>
                  <a:noFill/>
                </a:ln>
                <a:solidFill>
                  <a:srgbClr val="000000"/>
                </a:solidFill>
                <a:effectLst/>
                <a:uLnTx/>
                <a:uFillTx/>
                <a:latin typeface="+mn-ea"/>
                <a:cs typeface="+mn-cs"/>
              </a:rPr>
              <a:t>の基幹システムを永続的に安定維持・拡大可能な姿を目指す</a:t>
            </a:r>
          </a:p>
        </p:txBody>
      </p:sp>
      <p:sp>
        <p:nvSpPr>
          <p:cNvPr id="15" name="正方形/長方形 14">
            <a:extLst>
              <a:ext uri="{FF2B5EF4-FFF2-40B4-BE49-F238E27FC236}">
                <a16:creationId xmlns:a16="http://schemas.microsoft.com/office/drawing/2014/main" id="{DD9681FB-F12C-DC3E-9F44-0D4FC24B6B3C}"/>
              </a:ext>
            </a:extLst>
          </p:cNvPr>
          <p:cNvSpPr/>
          <p:nvPr/>
        </p:nvSpPr>
        <p:spPr>
          <a:xfrm>
            <a:off x="4902312" y="3681683"/>
            <a:ext cx="4648934" cy="2790796"/>
          </a:xfrm>
          <a:prstGeom prst="rect">
            <a:avLst/>
          </a:prstGeom>
          <a:solidFill>
            <a:srgbClr val="FFFFFF"/>
          </a:solidFill>
          <a:ln w="19050" cap="flat" cmpd="sng" algn="ctr">
            <a:noFill/>
            <a:prstDash val="solid"/>
          </a:ln>
          <a:effectLst/>
        </p:spPr>
        <p:txBody>
          <a:bodyPr wrap="none" lIns="0" tIns="0" rIns="0" bIns="0" rtlCol="0" anchor="t" anchorCtr="0"/>
          <a:lstStyle/>
          <a:p>
            <a:pPr marL="171450" marR="0" lvl="0" indent="-171450" defTabSz="914400" eaLnBrk="1" fontAlgn="base" latinLnBrk="0" hangingPunct="1">
              <a:lnSpc>
                <a:spcPct val="100000"/>
              </a:lnSpc>
              <a:spcBef>
                <a:spcPts val="0"/>
              </a:spcBef>
              <a:spcAft>
                <a:spcPts val="300"/>
              </a:spcAft>
              <a:buClrTx/>
              <a:buSzTx/>
              <a:buFont typeface="Wingdings" panose="05000000000000000000" pitchFamily="2" charset="2"/>
              <a:buChar char="ü"/>
              <a:tabLst/>
              <a:defRPr/>
            </a:pPr>
            <a:r>
              <a:rPr kumimoji="0" lang="en-US" altLang="ja-JP" sz="1200" b="1" i="0" u="sng" strike="noStrike" kern="0" cap="none" spc="0" normalizeH="0" baseline="0" noProof="0">
                <a:ln>
                  <a:noFill/>
                </a:ln>
                <a:solidFill>
                  <a:srgbClr val="000000"/>
                </a:solidFill>
                <a:effectLst/>
                <a:uLnTx/>
                <a:uFillTx/>
                <a:latin typeface="+mn-ea"/>
                <a:cs typeface="+mn-cs"/>
              </a:rPr>
              <a:t>MTBJ</a:t>
            </a:r>
            <a:r>
              <a:rPr kumimoji="0" lang="ja-JP" altLang="en-US" sz="1200" b="1" i="0" u="sng" strike="noStrike" kern="0" cap="none" spc="0" normalizeH="0" baseline="0" noProof="0">
                <a:ln>
                  <a:noFill/>
                </a:ln>
                <a:solidFill>
                  <a:srgbClr val="000000"/>
                </a:solidFill>
                <a:effectLst/>
                <a:uLnTx/>
                <a:uFillTx/>
                <a:latin typeface="+mn-ea"/>
                <a:cs typeface="+mn-cs"/>
              </a:rPr>
              <a:t>のメインフレームで利用する技術や製品は、</a:t>
            </a:r>
            <a:br>
              <a:rPr kumimoji="0" lang="en-US" altLang="ja-JP" sz="1200" b="1" i="0" u="sng" strike="noStrike" kern="0" cap="none" spc="0" normalizeH="0" baseline="0" noProof="0">
                <a:ln>
                  <a:noFill/>
                </a:ln>
                <a:solidFill>
                  <a:srgbClr val="000000"/>
                </a:solidFill>
                <a:effectLst/>
                <a:uLnTx/>
                <a:uFillTx/>
                <a:latin typeface="+mn-ea"/>
                <a:cs typeface="+mn-cs"/>
              </a:rPr>
            </a:br>
            <a:r>
              <a:rPr kumimoji="0" lang="ja-JP" altLang="en-US" sz="1200" b="1" i="0" u="sng" strike="noStrike" kern="0" cap="none" spc="0" normalizeH="0" baseline="0" noProof="0">
                <a:ln>
                  <a:noFill/>
                </a:ln>
                <a:solidFill>
                  <a:srgbClr val="000000"/>
                </a:solidFill>
                <a:effectLst/>
                <a:uLnTx/>
                <a:uFillTx/>
                <a:latin typeface="+mn-ea"/>
                <a:cs typeface="+mn-cs"/>
              </a:rPr>
              <a:t>リスク評価の結果、サドンデスにつながる等のハイリスクな項目はない</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ja-JP" altLang="en-US" sz="1200" b="0" i="0" u="none" strike="noStrike" kern="0" cap="none" spc="0" normalizeH="0" baseline="0" noProof="0">
                <a:ln>
                  <a:noFill/>
                </a:ln>
                <a:solidFill>
                  <a:srgbClr val="000000"/>
                </a:solidFill>
                <a:effectLst/>
                <a:uLnTx/>
                <a:uFillTx/>
                <a:latin typeface="+mn-ea"/>
                <a:cs typeface="+mn-cs"/>
              </a:rPr>
              <a:t>－技術者枯渇度の高い社内独自技術については、維持体制を構築の上、</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en-US" altLang="ja-JP" sz="1200" b="0" i="0" u="none" strike="noStrike" kern="0" cap="none" spc="0" normalizeH="0" baseline="0" noProof="0">
                <a:ln>
                  <a:noFill/>
                </a:ln>
                <a:solidFill>
                  <a:srgbClr val="000000"/>
                </a:solidFill>
                <a:effectLst/>
                <a:uLnTx/>
                <a:uFillTx/>
                <a:latin typeface="+mn-ea"/>
                <a:cs typeface="+mn-cs"/>
              </a:rPr>
              <a:t> </a:t>
            </a:r>
            <a:r>
              <a:rPr kumimoji="0" lang="ja-JP" altLang="en-US" sz="1200" b="0" i="0" u="none" strike="noStrike" kern="0" cap="none" spc="0" normalizeH="0" baseline="0" noProof="0">
                <a:ln>
                  <a:noFill/>
                </a:ln>
                <a:solidFill>
                  <a:srgbClr val="000000"/>
                </a:solidFill>
                <a:effectLst/>
                <a:uLnTx/>
                <a:uFillTx/>
                <a:latin typeface="+mn-ea"/>
                <a:cs typeface="+mn-cs"/>
              </a:rPr>
              <a:t>　育成案件を通じてリスク軽減を図る</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ja-JP" altLang="en-US" sz="1200" b="0" i="0" u="none" strike="noStrike" kern="0" cap="none" spc="0" normalizeH="0" baseline="0" noProof="0">
                <a:ln>
                  <a:noFill/>
                </a:ln>
                <a:solidFill>
                  <a:srgbClr val="000000"/>
                </a:solidFill>
                <a:effectLst/>
                <a:uLnTx/>
                <a:uFillTx/>
                <a:latin typeface="+mn-ea"/>
                <a:cs typeface="+mn-cs"/>
              </a:rPr>
              <a:t>－製品サポート終了済みの</a:t>
            </a:r>
            <a:r>
              <a:rPr kumimoji="0" lang="en-US" altLang="ja-JP" sz="1200" b="0" i="0" u="none" strike="noStrike" kern="0" cap="none" spc="0" normalizeH="0" baseline="0" noProof="0">
                <a:ln>
                  <a:noFill/>
                </a:ln>
                <a:solidFill>
                  <a:srgbClr val="000000"/>
                </a:solidFill>
                <a:effectLst/>
                <a:uLnTx/>
                <a:uFillTx/>
                <a:latin typeface="+mn-ea"/>
                <a:cs typeface="+mn-cs"/>
              </a:rPr>
              <a:t>TELON</a:t>
            </a:r>
            <a:r>
              <a:rPr kumimoji="0" lang="ja-JP" altLang="en-US" sz="1200" b="0" i="0" u="none" strike="noStrike" kern="0" cap="none" spc="0" normalizeH="0" baseline="0" noProof="0">
                <a:ln>
                  <a:noFill/>
                </a:ln>
                <a:solidFill>
                  <a:srgbClr val="000000"/>
                </a:solidFill>
                <a:effectLst/>
                <a:uLnTx/>
                <a:uFillTx/>
                <a:latin typeface="+mn-ea"/>
                <a:cs typeface="+mn-cs"/>
              </a:rPr>
              <a:t>は長期に亘り安定稼働しており、</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en-US" altLang="ja-JP" sz="1200" b="0" i="0" u="none" strike="noStrike" kern="0" cap="none" spc="0" normalizeH="0" baseline="0" noProof="0">
                <a:ln>
                  <a:noFill/>
                </a:ln>
                <a:solidFill>
                  <a:srgbClr val="000000"/>
                </a:solidFill>
                <a:effectLst/>
                <a:uLnTx/>
                <a:uFillTx/>
                <a:latin typeface="+mn-ea"/>
                <a:cs typeface="+mn-cs"/>
              </a:rPr>
              <a:t> </a:t>
            </a:r>
            <a:r>
              <a:rPr kumimoji="0" lang="ja-JP" altLang="en-US" sz="1200" b="0" i="0" u="none" strike="noStrike" kern="0" cap="none" spc="0" normalizeH="0" baseline="0" noProof="0">
                <a:ln>
                  <a:noFill/>
                </a:ln>
                <a:solidFill>
                  <a:srgbClr val="000000"/>
                </a:solidFill>
                <a:effectLst/>
                <a:uLnTx/>
                <a:uFillTx/>
                <a:latin typeface="+mn-ea"/>
                <a:cs typeface="+mn-cs"/>
              </a:rPr>
              <a:t>　現環境での問題発生リスクはない</a:t>
            </a:r>
            <a:br>
              <a:rPr kumimoji="0" lang="en-US" altLang="ja-JP" sz="1200" b="0" i="0" u="none" strike="noStrike" kern="0" cap="none" spc="0" normalizeH="0" baseline="0" noProof="0">
                <a:ln>
                  <a:noFill/>
                </a:ln>
                <a:solidFill>
                  <a:srgbClr val="000000"/>
                </a:solidFill>
                <a:effectLst/>
                <a:uLnTx/>
                <a:uFillTx/>
                <a:latin typeface="+mn-ea"/>
                <a:cs typeface="+mn-cs"/>
              </a:rPr>
            </a:br>
            <a:endParaRPr kumimoji="0" lang="en-US" altLang="ja-JP" sz="1200" b="0" i="0" u="none" strike="noStrike" kern="0" cap="none" spc="0" normalizeH="0" baseline="0" noProof="0">
              <a:ln>
                <a:noFill/>
              </a:ln>
              <a:solidFill>
                <a:srgbClr val="000000"/>
              </a:solidFill>
              <a:effectLst/>
              <a:uLnTx/>
              <a:uFillTx/>
              <a:latin typeface="+mn-ea"/>
              <a:cs typeface="+mn-cs"/>
            </a:endParaRPr>
          </a:p>
          <a:p>
            <a:pPr marL="171450" marR="0" lvl="0" indent="-171450" defTabSz="914400" eaLnBrk="1" fontAlgn="base" latinLnBrk="0" hangingPunct="1">
              <a:lnSpc>
                <a:spcPct val="100000"/>
              </a:lnSpc>
              <a:spcBef>
                <a:spcPts val="0"/>
              </a:spcBef>
              <a:spcAft>
                <a:spcPts val="300"/>
              </a:spcAft>
              <a:buClrTx/>
              <a:buSzTx/>
              <a:buFont typeface="Wingdings" panose="05000000000000000000" pitchFamily="2" charset="2"/>
              <a:buChar char="ü"/>
              <a:tabLst/>
              <a:defRPr/>
            </a:pPr>
            <a:r>
              <a:rPr kumimoji="0" lang="ja-JP" altLang="en-US" sz="1200" b="0" i="0" u="none" strike="noStrike" kern="0" cap="none" spc="0" normalizeH="0" baseline="0" noProof="0">
                <a:ln>
                  <a:noFill/>
                </a:ln>
                <a:solidFill>
                  <a:srgbClr val="000000"/>
                </a:solidFill>
                <a:effectLst/>
                <a:uLnTx/>
                <a:uFillTx/>
                <a:latin typeface="+mn-ea"/>
                <a:cs typeface="+mn-cs"/>
              </a:rPr>
              <a:t>ただし、オンライン制御関連の</a:t>
            </a:r>
            <a:r>
              <a:rPr kumimoji="0" lang="en-US" altLang="ja-JP" sz="1200" b="0" i="0" u="none" strike="noStrike" kern="0" cap="none" spc="0" normalizeH="0" baseline="0" noProof="0">
                <a:ln>
                  <a:noFill/>
                </a:ln>
                <a:solidFill>
                  <a:srgbClr val="000000"/>
                </a:solidFill>
                <a:effectLst/>
                <a:uLnTx/>
                <a:uFillTx/>
                <a:latin typeface="+mn-ea"/>
                <a:cs typeface="+mn-cs"/>
              </a:rPr>
              <a:t>ACP</a:t>
            </a:r>
            <a:r>
              <a:rPr kumimoji="0" lang="ja-JP" altLang="en-US" sz="1200" b="0" i="0" u="none" strike="noStrike" kern="0" cap="none" spc="0" normalizeH="0" baseline="0" noProof="0">
                <a:ln>
                  <a:noFill/>
                </a:ln>
                <a:solidFill>
                  <a:srgbClr val="000000"/>
                </a:solidFill>
                <a:effectLst/>
                <a:uLnTx/>
                <a:uFillTx/>
                <a:latin typeface="+mn-ea"/>
                <a:cs typeface="+mn-cs"/>
              </a:rPr>
              <a:t>・</a:t>
            </a:r>
            <a:r>
              <a:rPr kumimoji="0" lang="en-US" altLang="ja-JP" sz="1200" b="0" i="0" u="none" strike="noStrike" kern="0" cap="none" spc="0" normalizeH="0" baseline="0" noProof="0">
                <a:ln>
                  <a:noFill/>
                </a:ln>
                <a:solidFill>
                  <a:srgbClr val="000000"/>
                </a:solidFill>
                <a:effectLst/>
                <a:uLnTx/>
                <a:uFillTx/>
                <a:latin typeface="+mn-ea"/>
                <a:cs typeface="+mn-cs"/>
              </a:rPr>
              <a:t>TELON</a:t>
            </a:r>
            <a:r>
              <a:rPr kumimoji="0" lang="ja-JP" altLang="en-US" sz="1200" b="0" i="0" u="none" strike="noStrike" kern="0" cap="none" spc="0" normalizeH="0" baseline="0" noProof="0">
                <a:ln>
                  <a:noFill/>
                </a:ln>
                <a:solidFill>
                  <a:srgbClr val="000000"/>
                </a:solidFill>
                <a:effectLst/>
                <a:uLnTx/>
                <a:uFillTx/>
                <a:latin typeface="+mn-ea"/>
                <a:cs typeface="+mn-cs"/>
              </a:rPr>
              <a:t>については、万が一、</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ja-JP" altLang="en-US" sz="1200" b="0" i="0" u="none" strike="noStrike" kern="0" cap="none" spc="0" normalizeH="0" baseline="0" noProof="0">
                <a:ln>
                  <a:noFill/>
                </a:ln>
                <a:solidFill>
                  <a:srgbClr val="000000"/>
                </a:solidFill>
                <a:effectLst/>
                <a:uLnTx/>
                <a:uFillTx/>
                <a:latin typeface="+mn-ea"/>
                <a:cs typeface="+mn-cs"/>
              </a:rPr>
              <a:t>今後の</a:t>
            </a:r>
            <a:r>
              <a:rPr kumimoji="0" lang="en-US" altLang="ja-JP" sz="1200" b="0" i="0" u="none" strike="noStrike" kern="0" cap="none" spc="0" normalizeH="0" baseline="0" noProof="0">
                <a:ln>
                  <a:noFill/>
                </a:ln>
                <a:solidFill>
                  <a:srgbClr val="000000"/>
                </a:solidFill>
                <a:effectLst/>
                <a:uLnTx/>
                <a:uFillTx/>
                <a:latin typeface="+mn-ea"/>
                <a:cs typeface="+mn-cs"/>
              </a:rPr>
              <a:t>OS</a:t>
            </a:r>
            <a:r>
              <a:rPr kumimoji="0" lang="ja-JP" altLang="en-US" sz="1200" b="0" i="0" u="none" strike="noStrike" kern="0" cap="none" spc="0" normalizeH="0" baseline="0" noProof="0">
                <a:ln>
                  <a:noFill/>
                </a:ln>
                <a:solidFill>
                  <a:srgbClr val="000000"/>
                </a:solidFill>
                <a:effectLst/>
                <a:uLnTx/>
                <a:uFillTx/>
                <a:latin typeface="+mn-ea"/>
                <a:cs typeface="+mn-cs"/>
              </a:rPr>
              <a:t>更改で問題が生じた場合、対処に時間を要するリスクがある。</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en-US" altLang="ja-JP" sz="1200" b="0" i="0" u="none" strike="noStrike" kern="0" cap="none" spc="0" normalizeH="0" baseline="0" noProof="0">
                <a:ln>
                  <a:noFill/>
                </a:ln>
                <a:solidFill>
                  <a:srgbClr val="000000"/>
                </a:solidFill>
                <a:effectLst/>
                <a:uLnTx/>
                <a:uFillTx/>
                <a:latin typeface="+mn-ea"/>
                <a:cs typeface="+mn-cs"/>
              </a:rPr>
              <a:t>OS</a:t>
            </a:r>
            <a:r>
              <a:rPr kumimoji="0" lang="ja-JP" altLang="en-US" sz="1200" b="0" i="0" u="none" strike="noStrike" kern="0" cap="none" spc="0" normalizeH="0" baseline="0" noProof="0">
                <a:ln>
                  <a:noFill/>
                </a:ln>
                <a:solidFill>
                  <a:srgbClr val="000000"/>
                </a:solidFill>
                <a:effectLst/>
                <a:uLnTx/>
                <a:uFillTx/>
                <a:latin typeface="+mn-ea"/>
                <a:cs typeface="+mn-cs"/>
              </a:rPr>
              <a:t>更改検討時には早期に稼働確認を実施する</a:t>
            </a:r>
            <a:r>
              <a:rPr kumimoji="0" lang="en-US" altLang="ja-JP" sz="1200" b="0" i="0" u="none" strike="noStrike" kern="0" cap="none" spc="0" normalizeH="0" baseline="0" noProof="0">
                <a:ln>
                  <a:noFill/>
                </a:ln>
                <a:solidFill>
                  <a:srgbClr val="000000"/>
                </a:solidFill>
                <a:effectLst/>
                <a:uLnTx/>
                <a:uFillTx/>
                <a:latin typeface="+mn-ea"/>
                <a:cs typeface="+mn-cs"/>
              </a:rPr>
              <a:t>/</a:t>
            </a:r>
            <a:r>
              <a:rPr kumimoji="0" lang="ja-JP" altLang="en-US" sz="1200" b="0" i="0" u="none" strike="noStrike" kern="0" cap="none" spc="0" normalizeH="0" baseline="0" noProof="0">
                <a:ln>
                  <a:noFill/>
                </a:ln>
                <a:solidFill>
                  <a:srgbClr val="000000"/>
                </a:solidFill>
                <a:effectLst/>
                <a:uLnTx/>
                <a:uFillTx/>
                <a:latin typeface="+mn-ea"/>
                <a:cs typeface="+mn-cs"/>
              </a:rPr>
              <a:t>必要に応じて</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en-US" altLang="ja-JP" sz="1200" b="0" i="0" u="none" strike="noStrike" kern="0" cap="none" spc="0" normalizeH="0" baseline="0" noProof="0">
                <a:ln>
                  <a:noFill/>
                </a:ln>
                <a:solidFill>
                  <a:srgbClr val="000000"/>
                </a:solidFill>
                <a:effectLst/>
                <a:uLnTx/>
                <a:uFillTx/>
                <a:latin typeface="+mn-ea"/>
                <a:cs typeface="+mn-cs"/>
              </a:rPr>
              <a:t>OS</a:t>
            </a:r>
            <a:r>
              <a:rPr kumimoji="0" lang="ja-JP" altLang="en-US" sz="1200" b="0" i="0" u="none" strike="noStrike" kern="0" cap="none" spc="0" normalizeH="0" baseline="0" noProof="0">
                <a:ln>
                  <a:noFill/>
                </a:ln>
                <a:solidFill>
                  <a:srgbClr val="000000"/>
                </a:solidFill>
                <a:effectLst/>
                <a:uLnTx/>
                <a:uFillTx/>
                <a:latin typeface="+mn-ea"/>
                <a:cs typeface="+mn-cs"/>
              </a:rPr>
              <a:t>更改のリリース時期を調整するといった対策により</a:t>
            </a:r>
            <a:br>
              <a:rPr kumimoji="0" lang="en-US" altLang="ja-JP" sz="1200" b="0" i="0" u="none" strike="noStrike" kern="0" cap="none" spc="0" normalizeH="0" baseline="0" noProof="0">
                <a:ln>
                  <a:noFill/>
                </a:ln>
                <a:solidFill>
                  <a:srgbClr val="000000"/>
                </a:solidFill>
                <a:effectLst/>
                <a:uLnTx/>
                <a:uFillTx/>
                <a:latin typeface="+mn-ea"/>
                <a:cs typeface="+mn-cs"/>
              </a:rPr>
            </a:br>
            <a:r>
              <a:rPr kumimoji="0" lang="ja-JP" altLang="en-US" sz="1200" b="0" i="0" u="none" strike="noStrike" kern="0" cap="none" spc="0" normalizeH="0" baseline="0" noProof="0">
                <a:ln>
                  <a:noFill/>
                </a:ln>
                <a:solidFill>
                  <a:srgbClr val="000000"/>
                </a:solidFill>
                <a:effectLst/>
                <a:uLnTx/>
                <a:uFillTx/>
                <a:latin typeface="+mn-ea"/>
                <a:cs typeface="+mn-cs"/>
              </a:rPr>
              <a:t>業務継続を確保するが、</a:t>
            </a:r>
            <a:r>
              <a:rPr kumimoji="0" lang="ja-JP" altLang="en-US" sz="1200" b="1" i="0" u="sng" strike="noStrike" kern="0" cap="none" spc="0" normalizeH="0" baseline="0" noProof="0">
                <a:ln>
                  <a:noFill/>
                </a:ln>
                <a:solidFill>
                  <a:srgbClr val="000000"/>
                </a:solidFill>
                <a:effectLst/>
                <a:uLnTx/>
                <a:uFillTx/>
                <a:latin typeface="+mn-ea"/>
                <a:cs typeface="+mn-cs"/>
              </a:rPr>
              <a:t>オンライン画面を優先的にオープン化</a:t>
            </a:r>
            <a:br>
              <a:rPr kumimoji="0" lang="en-US" altLang="ja-JP" sz="1200" b="1" i="0" u="sng" strike="noStrike" kern="0" cap="none" spc="0" normalizeH="0" baseline="0" noProof="0">
                <a:ln>
                  <a:noFill/>
                </a:ln>
                <a:solidFill>
                  <a:srgbClr val="000000"/>
                </a:solidFill>
                <a:effectLst/>
                <a:uLnTx/>
                <a:uFillTx/>
                <a:latin typeface="+mn-ea"/>
                <a:cs typeface="+mn-cs"/>
              </a:rPr>
            </a:br>
            <a:r>
              <a:rPr kumimoji="0" lang="ja-JP" altLang="en-US" sz="1200" b="1" i="0" u="sng" strike="noStrike" kern="0" cap="none" spc="0" normalizeH="0" baseline="0" noProof="0">
                <a:ln>
                  <a:noFill/>
                </a:ln>
                <a:solidFill>
                  <a:srgbClr val="000000"/>
                </a:solidFill>
                <a:effectLst/>
                <a:uLnTx/>
                <a:uFillTx/>
                <a:latin typeface="+mn-ea"/>
                <a:cs typeface="+mn-cs"/>
              </a:rPr>
              <a:t>することにより、</a:t>
            </a:r>
            <a:r>
              <a:rPr kumimoji="0" lang="en-US" altLang="ja-JP" sz="1200" b="1" i="0" u="sng" strike="noStrike" kern="0" cap="none" spc="0" normalizeH="0" baseline="0" noProof="0">
                <a:ln>
                  <a:noFill/>
                </a:ln>
                <a:solidFill>
                  <a:srgbClr val="000000"/>
                </a:solidFill>
                <a:effectLst/>
                <a:uLnTx/>
                <a:uFillTx/>
                <a:latin typeface="+mn-ea"/>
                <a:cs typeface="+mn-cs"/>
              </a:rPr>
              <a:t>10</a:t>
            </a:r>
            <a:r>
              <a:rPr kumimoji="0" lang="ja-JP" altLang="en-US" sz="1200" b="1" i="0" u="sng" strike="noStrike" kern="0" cap="none" spc="0" normalizeH="0" baseline="0" noProof="0">
                <a:ln>
                  <a:noFill/>
                </a:ln>
                <a:solidFill>
                  <a:srgbClr val="000000"/>
                </a:solidFill>
                <a:effectLst/>
                <a:uLnTx/>
                <a:uFillTx/>
                <a:latin typeface="+mn-ea"/>
                <a:cs typeface="+mn-cs"/>
              </a:rPr>
              <a:t>年以内を目途に当該リスクを抜本的に解消する</a:t>
            </a:r>
          </a:p>
          <a:p>
            <a:pPr marL="171450" marR="0" lvl="0" indent="-171450" defTabSz="914400" eaLnBrk="1" fontAlgn="base" latinLnBrk="0" hangingPunct="1">
              <a:lnSpc>
                <a:spcPct val="100000"/>
              </a:lnSpc>
              <a:spcBef>
                <a:spcPts val="0"/>
              </a:spcBef>
              <a:spcAft>
                <a:spcPts val="300"/>
              </a:spcAft>
              <a:buClrTx/>
              <a:buSzTx/>
              <a:buFont typeface="Wingdings" panose="05000000000000000000" pitchFamily="2" charset="2"/>
              <a:buChar char="ü"/>
              <a:tabLst/>
              <a:defRPr/>
            </a:pPr>
            <a:endParaRPr kumimoji="0" lang="ja-JP" altLang="en-US" sz="1200" b="0" i="0" u="none" strike="noStrike" kern="0" cap="none" spc="0" normalizeH="0" baseline="0" noProof="0">
              <a:ln>
                <a:noFill/>
              </a:ln>
              <a:solidFill>
                <a:srgbClr val="000000"/>
              </a:solidFill>
              <a:effectLst/>
              <a:uLnTx/>
              <a:uFillTx/>
              <a:latin typeface="+mn-ea"/>
              <a:cs typeface="+mn-cs"/>
            </a:endParaRPr>
          </a:p>
        </p:txBody>
      </p:sp>
      <p:sp>
        <p:nvSpPr>
          <p:cNvPr id="16" name="正方形/長方形 15">
            <a:extLst>
              <a:ext uri="{FF2B5EF4-FFF2-40B4-BE49-F238E27FC236}">
                <a16:creationId xmlns:a16="http://schemas.microsoft.com/office/drawing/2014/main" id="{3DF96D0C-1F8F-DD3B-459D-7A4BBAEE9626}"/>
              </a:ext>
            </a:extLst>
          </p:cNvPr>
          <p:cNvSpPr/>
          <p:nvPr/>
        </p:nvSpPr>
        <p:spPr>
          <a:xfrm>
            <a:off x="452481" y="1616931"/>
            <a:ext cx="4264528" cy="279714"/>
          </a:xfrm>
          <a:prstGeom prst="rect">
            <a:avLst/>
          </a:prstGeom>
          <a:solidFill>
            <a:srgbClr val="FFFFFF">
              <a:lumMod val="95000"/>
            </a:srgbClr>
          </a:solidFill>
          <a:ln w="19050" cap="flat" cmpd="sng" algn="ctr">
            <a:solidFill>
              <a:srgbClr val="FFFFFF">
                <a:lumMod val="50000"/>
              </a:srgbClr>
            </a:solidFill>
            <a:prstDash val="solid"/>
          </a:ln>
          <a:effectLst/>
        </p:spPr>
        <p:txBody>
          <a:bodyPr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400" b="1" i="0" u="none" strike="noStrike" kern="0" cap="none" spc="0" normalizeH="0" baseline="0" noProof="0">
                <a:ln>
                  <a:noFill/>
                </a:ln>
                <a:solidFill>
                  <a:srgbClr val="000000"/>
                </a:solidFill>
                <a:effectLst/>
                <a:uLnTx/>
                <a:uFillTx/>
                <a:latin typeface="+mn-ea"/>
                <a:cs typeface="+mn-cs"/>
              </a:rPr>
              <a:t>システムが抱える課題</a:t>
            </a:r>
          </a:p>
        </p:txBody>
      </p:sp>
      <p:cxnSp>
        <p:nvCxnSpPr>
          <p:cNvPr id="17" name="直線コネクタ 16">
            <a:extLst>
              <a:ext uri="{FF2B5EF4-FFF2-40B4-BE49-F238E27FC236}">
                <a16:creationId xmlns:a16="http://schemas.microsoft.com/office/drawing/2014/main" id="{51E608AC-20AD-2328-D33F-97A96C62FA74}"/>
              </a:ext>
            </a:extLst>
          </p:cNvPr>
          <p:cNvCxnSpPr>
            <a:cxnSpLocks/>
          </p:cNvCxnSpPr>
          <p:nvPr/>
        </p:nvCxnSpPr>
        <p:spPr>
          <a:xfrm>
            <a:off x="1863987" y="3500289"/>
            <a:ext cx="2820633" cy="0"/>
          </a:xfrm>
          <a:prstGeom prst="line">
            <a:avLst/>
          </a:prstGeom>
          <a:noFill/>
          <a:ln w="9525" cap="flat" cmpd="sng" algn="ctr">
            <a:solidFill>
              <a:srgbClr val="FFFFFF">
                <a:lumMod val="50000"/>
              </a:srgbClr>
            </a:solidFill>
            <a:prstDash val="dash"/>
          </a:ln>
          <a:effectLst/>
        </p:spPr>
      </p:cxnSp>
      <p:cxnSp>
        <p:nvCxnSpPr>
          <p:cNvPr id="18" name="直線コネクタ 17">
            <a:extLst>
              <a:ext uri="{FF2B5EF4-FFF2-40B4-BE49-F238E27FC236}">
                <a16:creationId xmlns:a16="http://schemas.microsoft.com/office/drawing/2014/main" id="{4A01562C-6DFC-28AE-1262-0B04855D85ED}"/>
              </a:ext>
            </a:extLst>
          </p:cNvPr>
          <p:cNvCxnSpPr>
            <a:cxnSpLocks/>
          </p:cNvCxnSpPr>
          <p:nvPr/>
        </p:nvCxnSpPr>
        <p:spPr>
          <a:xfrm>
            <a:off x="4883771" y="3489256"/>
            <a:ext cx="4667475" cy="0"/>
          </a:xfrm>
          <a:prstGeom prst="line">
            <a:avLst/>
          </a:prstGeom>
          <a:noFill/>
          <a:ln w="9525" cap="flat" cmpd="sng" algn="ctr">
            <a:solidFill>
              <a:srgbClr val="FFFFFF">
                <a:lumMod val="50000"/>
              </a:srgbClr>
            </a:solidFill>
            <a:prstDash val="dash"/>
          </a:ln>
          <a:effectLst/>
        </p:spPr>
      </p:cxnSp>
    </p:spTree>
    <p:extLst>
      <p:ext uri="{BB962C8B-B14F-4D97-AF65-F5344CB8AC3E}">
        <p14:creationId xmlns:p14="http://schemas.microsoft.com/office/powerpoint/2010/main" val="1448032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E532C-3F8E-A533-D42F-C6750D6F8E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BBFBE81-243B-1EE9-DC8A-76CCA82381BE}"/>
              </a:ext>
            </a:extLst>
          </p:cNvPr>
          <p:cNvSpPr>
            <a:spLocks noGrp="1"/>
          </p:cNvSpPr>
          <p:nvPr>
            <p:ph type="title"/>
          </p:nvPr>
        </p:nvSpPr>
        <p:spPr>
          <a:xfrm>
            <a:off x="489000" y="580348"/>
            <a:ext cx="8928000" cy="373311"/>
          </a:xfrm>
        </p:spPr>
        <p:txBody>
          <a:bodyPr/>
          <a:lstStyle/>
          <a:p>
            <a:r>
              <a:rPr lang="en-US" altLang="ja-JP" dirty="0"/>
              <a:t>4. </a:t>
            </a:r>
            <a:r>
              <a:rPr lang="ja-JP" altLang="en-US" dirty="0"/>
              <a:t>ホストオープン化（モダナイゼーション）～②現行システム構造</a:t>
            </a:r>
            <a:endParaRPr kumimoji="1" lang="ja-JP" altLang="en-US" dirty="0"/>
          </a:p>
        </p:txBody>
      </p:sp>
      <p:sp>
        <p:nvSpPr>
          <p:cNvPr id="3" name="テキスト プレースホルダー 2">
            <a:extLst>
              <a:ext uri="{FF2B5EF4-FFF2-40B4-BE49-F238E27FC236}">
                <a16:creationId xmlns:a16="http://schemas.microsoft.com/office/drawing/2014/main" id="{FE3EC075-358F-E775-0410-BFB184F066FE}"/>
              </a:ext>
            </a:extLst>
          </p:cNvPr>
          <p:cNvSpPr>
            <a:spLocks noGrp="1"/>
          </p:cNvSpPr>
          <p:nvPr>
            <p:ph type="body" idx="12"/>
          </p:nvPr>
        </p:nvSpPr>
        <p:spPr>
          <a:xfrm>
            <a:off x="488999" y="969722"/>
            <a:ext cx="9131121" cy="669414"/>
          </a:xfrm>
        </p:spPr>
        <p:txBody>
          <a:bodyPr/>
          <a:lstStyle/>
          <a:p>
            <a:r>
              <a:rPr lang="ja-JP" altLang="en-US" dirty="0"/>
              <a:t>現行システムは、取引を担う取引決済共通と顧客向けのディスクロ開示のシステムである</a:t>
            </a:r>
            <a:r>
              <a:rPr lang="en-US" altLang="ja-JP" dirty="0" err="1"/>
              <a:t>MaiNet</a:t>
            </a:r>
            <a:r>
              <a:rPr lang="ja-JP" altLang="en-US" dirty="0"/>
              <a:t>は分散系、それ以外はホストで構築されています。それぞれに課題を抱えており、それを解消するために施策を行います。</a:t>
            </a:r>
            <a:endParaRPr kumimoji="1" lang="ja-JP" altLang="en-US" dirty="0"/>
          </a:p>
        </p:txBody>
      </p:sp>
      <p:sp>
        <p:nvSpPr>
          <p:cNvPr id="4" name="テキスト プレースホルダー 3">
            <a:extLst>
              <a:ext uri="{FF2B5EF4-FFF2-40B4-BE49-F238E27FC236}">
                <a16:creationId xmlns:a16="http://schemas.microsoft.com/office/drawing/2014/main" id="{4D5D717B-78EB-C2A5-7C47-B15A637F9FF1}"/>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sp>
        <p:nvSpPr>
          <p:cNvPr id="90" name="正方形/長方形 89">
            <a:extLst>
              <a:ext uri="{FF2B5EF4-FFF2-40B4-BE49-F238E27FC236}">
                <a16:creationId xmlns:a16="http://schemas.microsoft.com/office/drawing/2014/main" id="{B6EDDE7D-1BF6-A499-F754-A14026B87873}"/>
              </a:ext>
            </a:extLst>
          </p:cNvPr>
          <p:cNvSpPr/>
          <p:nvPr/>
        </p:nvSpPr>
        <p:spPr bwMode="auto">
          <a:xfrm>
            <a:off x="8699723" y="1837089"/>
            <a:ext cx="468000" cy="216000"/>
          </a:xfrm>
          <a:prstGeom prst="rect">
            <a:avLst/>
          </a:prstGeom>
          <a:solidFill>
            <a:srgbClr val="5A8BBC">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分散</a:t>
            </a:r>
            <a:endParaRPr kumimoji="0" lang="en-US" altLang="ja-JP" sz="900" b="0" i="0" u="none" strike="noStrike" kern="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91" name="正方形/長方形 90">
            <a:extLst>
              <a:ext uri="{FF2B5EF4-FFF2-40B4-BE49-F238E27FC236}">
                <a16:creationId xmlns:a16="http://schemas.microsoft.com/office/drawing/2014/main" id="{B6177A9E-03DB-6160-AE84-176F7E9D3CCD}"/>
              </a:ext>
            </a:extLst>
          </p:cNvPr>
          <p:cNvSpPr/>
          <p:nvPr/>
        </p:nvSpPr>
        <p:spPr bwMode="auto">
          <a:xfrm>
            <a:off x="8699723" y="2143042"/>
            <a:ext cx="468000" cy="216000"/>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ホスト</a:t>
            </a:r>
            <a:endParaRPr kumimoji="0" lang="en-US" altLang="ja-JP" sz="900" b="0" i="0" u="none" strike="noStrike" kern="0" cap="none" spc="0" normalizeH="0" baseline="0" noProof="0" dirty="0">
              <a:ln>
                <a:noFill/>
              </a:ln>
              <a:solidFill>
                <a:srgbClr val="333333"/>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p:txBody>
      </p:sp>
      <p:grpSp>
        <p:nvGrpSpPr>
          <p:cNvPr id="215" name="グループ化 214">
            <a:extLst>
              <a:ext uri="{FF2B5EF4-FFF2-40B4-BE49-F238E27FC236}">
                <a16:creationId xmlns:a16="http://schemas.microsoft.com/office/drawing/2014/main" id="{9C93E744-4542-D4CF-BD5B-53D895DEA0F0}"/>
              </a:ext>
            </a:extLst>
          </p:cNvPr>
          <p:cNvGrpSpPr/>
          <p:nvPr/>
        </p:nvGrpSpPr>
        <p:grpSpPr>
          <a:xfrm>
            <a:off x="1544415" y="1558647"/>
            <a:ext cx="6817171" cy="4994929"/>
            <a:chOff x="488504" y="1558647"/>
            <a:chExt cx="5382611" cy="4994929"/>
          </a:xfrm>
        </p:grpSpPr>
        <p:sp>
          <p:nvSpPr>
            <p:cNvPr id="20" name="正方形/長方形 19">
              <a:extLst>
                <a:ext uri="{FF2B5EF4-FFF2-40B4-BE49-F238E27FC236}">
                  <a16:creationId xmlns:a16="http://schemas.microsoft.com/office/drawing/2014/main" id="{2B717C9D-B6EC-F2EF-5127-F9E6C76CFED5}"/>
                </a:ext>
              </a:extLst>
            </p:cNvPr>
            <p:cNvSpPr/>
            <p:nvPr/>
          </p:nvSpPr>
          <p:spPr bwMode="auto">
            <a:xfrm>
              <a:off x="935645" y="1894496"/>
              <a:ext cx="4574034" cy="4659080"/>
            </a:xfrm>
            <a:prstGeom prst="rect">
              <a:avLst/>
            </a:prstGeom>
            <a:solidFill>
              <a:srgbClr val="FFFFFF">
                <a:lumMod val="95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21" name="正方形/長方形 20">
              <a:extLst>
                <a:ext uri="{FF2B5EF4-FFF2-40B4-BE49-F238E27FC236}">
                  <a16:creationId xmlns:a16="http://schemas.microsoft.com/office/drawing/2014/main" id="{C48640F3-968B-D1AF-A1F7-BFC6E65DBD40}"/>
                </a:ext>
              </a:extLst>
            </p:cNvPr>
            <p:cNvSpPr/>
            <p:nvPr/>
          </p:nvSpPr>
          <p:spPr bwMode="auto">
            <a:xfrm>
              <a:off x="1436007" y="2180567"/>
              <a:ext cx="3780979" cy="985772"/>
            </a:xfrm>
            <a:prstGeom prst="rect">
              <a:avLst/>
            </a:prstGeom>
            <a:solidFill>
              <a:srgbClr val="5A8BBC">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srgbClr val="333333"/>
                  </a:solidFill>
                  <a:effectLst/>
                  <a:uLnTx/>
                  <a:uFillTx/>
                  <a:latin typeface="+mn-ea"/>
                  <a:cs typeface="Malgun Gothic Semilight" panose="020B0502040204020203" pitchFamily="50" charset="-128"/>
                </a:rPr>
                <a:t>取引決済共通</a:t>
              </a:r>
              <a:endParaRPr kumimoji="0" lang="en-US" altLang="ja-JP" sz="105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22" name="正方形/長方形 21">
              <a:extLst>
                <a:ext uri="{FF2B5EF4-FFF2-40B4-BE49-F238E27FC236}">
                  <a16:creationId xmlns:a16="http://schemas.microsoft.com/office/drawing/2014/main" id="{C74FD93E-9DEE-3C4D-915E-E01F45200B26}"/>
                </a:ext>
              </a:extLst>
            </p:cNvPr>
            <p:cNvSpPr/>
            <p:nvPr/>
          </p:nvSpPr>
          <p:spPr bwMode="auto">
            <a:xfrm>
              <a:off x="1447522" y="3240555"/>
              <a:ext cx="3780979" cy="885881"/>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333333"/>
                  </a:solidFill>
                  <a:effectLst/>
                  <a:uLnTx/>
                  <a:uFillTx/>
                  <a:latin typeface="+mn-ea"/>
                  <a:cs typeface="Malgun Gothic Semilight" panose="020B0502040204020203" pitchFamily="50" charset="-128"/>
                </a:rPr>
                <a:t>商品系システム</a:t>
              </a:r>
              <a:endParaRPr kumimoji="0" lang="en-US" altLang="ja-JP" sz="12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23" name="正方形/長方形 22">
              <a:extLst>
                <a:ext uri="{FF2B5EF4-FFF2-40B4-BE49-F238E27FC236}">
                  <a16:creationId xmlns:a16="http://schemas.microsoft.com/office/drawing/2014/main" id="{F86CD05F-3F8F-320D-DE9C-E20BBD205BDD}"/>
                </a:ext>
              </a:extLst>
            </p:cNvPr>
            <p:cNvSpPr/>
            <p:nvPr/>
          </p:nvSpPr>
          <p:spPr bwMode="auto">
            <a:xfrm>
              <a:off x="1460206" y="4199963"/>
              <a:ext cx="3780979" cy="1107190"/>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333333"/>
                  </a:solidFill>
                  <a:effectLst/>
                  <a:uLnTx/>
                  <a:uFillTx/>
                  <a:latin typeface="+mn-ea"/>
                  <a:cs typeface="Malgun Gothic Semilight" panose="020B0502040204020203" pitchFamily="50" charset="-128"/>
                </a:rPr>
                <a:t>ファンド系システム</a:t>
              </a:r>
              <a:endParaRPr kumimoji="0" lang="en-US" altLang="ja-JP" sz="12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24" name="正方形/長方形 23">
              <a:extLst>
                <a:ext uri="{FF2B5EF4-FFF2-40B4-BE49-F238E27FC236}">
                  <a16:creationId xmlns:a16="http://schemas.microsoft.com/office/drawing/2014/main" id="{58072EF9-E5F7-CDC2-431E-E0CF72B85D38}"/>
                </a:ext>
              </a:extLst>
            </p:cNvPr>
            <p:cNvSpPr/>
            <p:nvPr/>
          </p:nvSpPr>
          <p:spPr bwMode="auto">
            <a:xfrm>
              <a:off x="4507442" y="4376923"/>
              <a:ext cx="447299" cy="796733"/>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共通</a:t>
              </a:r>
              <a:br>
                <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b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リソース</a:t>
              </a:r>
              <a:endPar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25" name="正方形/長方形 24">
              <a:extLst>
                <a:ext uri="{FF2B5EF4-FFF2-40B4-BE49-F238E27FC236}">
                  <a16:creationId xmlns:a16="http://schemas.microsoft.com/office/drawing/2014/main" id="{5ED1948E-83C1-7529-0ED5-4B9242165342}"/>
                </a:ext>
              </a:extLst>
            </p:cNvPr>
            <p:cNvSpPr/>
            <p:nvPr/>
          </p:nvSpPr>
          <p:spPr bwMode="auto">
            <a:xfrm>
              <a:off x="3628042" y="4389018"/>
              <a:ext cx="817405" cy="371293"/>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投信ファンド</a:t>
              </a:r>
              <a:endPar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26" name="正方形/長方形 25">
              <a:extLst>
                <a:ext uri="{FF2B5EF4-FFF2-40B4-BE49-F238E27FC236}">
                  <a16:creationId xmlns:a16="http://schemas.microsoft.com/office/drawing/2014/main" id="{26DAF12F-27F6-2943-46B9-6552F11086B9}"/>
                </a:ext>
              </a:extLst>
            </p:cNvPr>
            <p:cNvSpPr/>
            <p:nvPr/>
          </p:nvSpPr>
          <p:spPr bwMode="auto">
            <a:xfrm>
              <a:off x="2757941" y="4395383"/>
              <a:ext cx="817405" cy="364928"/>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年金ファンド</a:t>
              </a:r>
              <a:endPar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27" name="正方形/長方形 26">
              <a:extLst>
                <a:ext uri="{FF2B5EF4-FFF2-40B4-BE49-F238E27FC236}">
                  <a16:creationId xmlns:a16="http://schemas.microsoft.com/office/drawing/2014/main" id="{725D8D79-57F6-B50B-FC09-A1E39B1450A2}"/>
                </a:ext>
              </a:extLst>
            </p:cNvPr>
            <p:cNvSpPr/>
            <p:nvPr/>
          </p:nvSpPr>
          <p:spPr bwMode="auto">
            <a:xfrm>
              <a:off x="1871224" y="4799696"/>
              <a:ext cx="2571617" cy="364928"/>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証券会計</a:t>
              </a:r>
              <a:endPar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28" name="正方形/長方形 27">
              <a:extLst>
                <a:ext uri="{FF2B5EF4-FFF2-40B4-BE49-F238E27FC236}">
                  <a16:creationId xmlns:a16="http://schemas.microsoft.com/office/drawing/2014/main" id="{99FEBC16-4C46-E920-C787-6834F3DAAFB2}"/>
                </a:ext>
              </a:extLst>
            </p:cNvPr>
            <p:cNvSpPr/>
            <p:nvPr/>
          </p:nvSpPr>
          <p:spPr bwMode="auto">
            <a:xfrm>
              <a:off x="1876121" y="4397217"/>
              <a:ext cx="817405" cy="364928"/>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年金資産管理</a:t>
              </a:r>
              <a:endPar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29" name="正方形/長方形 28">
              <a:extLst>
                <a:ext uri="{FF2B5EF4-FFF2-40B4-BE49-F238E27FC236}">
                  <a16:creationId xmlns:a16="http://schemas.microsoft.com/office/drawing/2014/main" id="{1FEF345B-C770-04DD-2239-D89ED6E14412}"/>
                </a:ext>
              </a:extLst>
            </p:cNvPr>
            <p:cNvSpPr/>
            <p:nvPr/>
          </p:nvSpPr>
          <p:spPr bwMode="auto">
            <a:xfrm>
              <a:off x="3818862" y="4550559"/>
              <a:ext cx="458300" cy="184921"/>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仕訳作成</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30" name="正方形/長方形 29">
              <a:extLst>
                <a:ext uri="{FF2B5EF4-FFF2-40B4-BE49-F238E27FC236}">
                  <a16:creationId xmlns:a16="http://schemas.microsoft.com/office/drawing/2014/main" id="{5D2D42FD-D69E-1D99-49A3-43E363377E2A}"/>
                </a:ext>
              </a:extLst>
            </p:cNvPr>
            <p:cNvSpPr/>
            <p:nvPr/>
          </p:nvSpPr>
          <p:spPr bwMode="auto">
            <a:xfrm>
              <a:off x="2971657" y="4556924"/>
              <a:ext cx="458300" cy="184921"/>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仕訳作成</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31" name="正方形/長方形 30">
              <a:extLst>
                <a:ext uri="{FF2B5EF4-FFF2-40B4-BE49-F238E27FC236}">
                  <a16:creationId xmlns:a16="http://schemas.microsoft.com/office/drawing/2014/main" id="{726D7A88-832B-7158-6308-6CA7DF95ED85}"/>
                </a:ext>
              </a:extLst>
            </p:cNvPr>
            <p:cNvSpPr/>
            <p:nvPr/>
          </p:nvSpPr>
          <p:spPr bwMode="auto">
            <a:xfrm>
              <a:off x="2927882" y="4965702"/>
              <a:ext cx="458300" cy="184921"/>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BS/PL</a:t>
              </a: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作成</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32" name="正方形/長方形 31">
              <a:extLst>
                <a:ext uri="{FF2B5EF4-FFF2-40B4-BE49-F238E27FC236}">
                  <a16:creationId xmlns:a16="http://schemas.microsoft.com/office/drawing/2014/main" id="{72902EB4-DD90-47B9-B86A-BFBFFA97389B}"/>
                </a:ext>
              </a:extLst>
            </p:cNvPr>
            <p:cNvSpPr/>
            <p:nvPr/>
          </p:nvSpPr>
          <p:spPr bwMode="auto">
            <a:xfrm>
              <a:off x="1979690" y="3544683"/>
              <a:ext cx="532226" cy="492156"/>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株式</a:t>
              </a:r>
              <a:endPar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33" name="正方形/長方形 32">
              <a:extLst>
                <a:ext uri="{FF2B5EF4-FFF2-40B4-BE49-F238E27FC236}">
                  <a16:creationId xmlns:a16="http://schemas.microsoft.com/office/drawing/2014/main" id="{9EC8907E-6118-B7CE-75BD-4D60CA94B358}"/>
                </a:ext>
              </a:extLst>
            </p:cNvPr>
            <p:cNvSpPr/>
            <p:nvPr/>
          </p:nvSpPr>
          <p:spPr bwMode="auto">
            <a:xfrm>
              <a:off x="2007931" y="3760037"/>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約定</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34" name="正方形/長方形 33">
              <a:extLst>
                <a:ext uri="{FF2B5EF4-FFF2-40B4-BE49-F238E27FC236}">
                  <a16:creationId xmlns:a16="http://schemas.microsoft.com/office/drawing/2014/main" id="{C9C1D0CC-E5E7-45A1-5E29-92B3D716FC12}"/>
                </a:ext>
              </a:extLst>
            </p:cNvPr>
            <p:cNvSpPr/>
            <p:nvPr/>
          </p:nvSpPr>
          <p:spPr bwMode="auto">
            <a:xfrm>
              <a:off x="2240779" y="3760037"/>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残高</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35" name="正方形/長方形 34">
              <a:extLst>
                <a:ext uri="{FF2B5EF4-FFF2-40B4-BE49-F238E27FC236}">
                  <a16:creationId xmlns:a16="http://schemas.microsoft.com/office/drawing/2014/main" id="{1EF2F46B-3130-6DE1-7E38-829DA38CAED6}"/>
                </a:ext>
              </a:extLst>
            </p:cNvPr>
            <p:cNvSpPr/>
            <p:nvPr/>
          </p:nvSpPr>
          <p:spPr bwMode="auto">
            <a:xfrm>
              <a:off x="2007931" y="3891279"/>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果実</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36" name="正方形/長方形 35">
              <a:extLst>
                <a:ext uri="{FF2B5EF4-FFF2-40B4-BE49-F238E27FC236}">
                  <a16:creationId xmlns:a16="http://schemas.microsoft.com/office/drawing/2014/main" id="{96A78649-FFA7-268D-5A57-A768186B7639}"/>
                </a:ext>
              </a:extLst>
            </p:cNvPr>
            <p:cNvSpPr/>
            <p:nvPr/>
          </p:nvSpPr>
          <p:spPr bwMode="auto">
            <a:xfrm>
              <a:off x="2240779" y="3891279"/>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会計</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37" name="正方形/長方形 36">
              <a:extLst>
                <a:ext uri="{FF2B5EF4-FFF2-40B4-BE49-F238E27FC236}">
                  <a16:creationId xmlns:a16="http://schemas.microsoft.com/office/drawing/2014/main" id="{5A6635F6-B6DD-4C73-353B-8556A7DB3D85}"/>
                </a:ext>
              </a:extLst>
            </p:cNvPr>
            <p:cNvSpPr/>
            <p:nvPr/>
          </p:nvSpPr>
          <p:spPr bwMode="auto">
            <a:xfrm>
              <a:off x="2542962" y="3544683"/>
              <a:ext cx="532226" cy="492156"/>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債券</a:t>
              </a:r>
              <a:endPar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38" name="正方形/長方形 37">
              <a:extLst>
                <a:ext uri="{FF2B5EF4-FFF2-40B4-BE49-F238E27FC236}">
                  <a16:creationId xmlns:a16="http://schemas.microsoft.com/office/drawing/2014/main" id="{0E4F75C5-D899-99E1-36F2-0E00E8626C8B}"/>
                </a:ext>
              </a:extLst>
            </p:cNvPr>
            <p:cNvSpPr/>
            <p:nvPr/>
          </p:nvSpPr>
          <p:spPr bwMode="auto">
            <a:xfrm>
              <a:off x="2571202" y="3760037"/>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約定</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39" name="正方形/長方形 38">
              <a:extLst>
                <a:ext uri="{FF2B5EF4-FFF2-40B4-BE49-F238E27FC236}">
                  <a16:creationId xmlns:a16="http://schemas.microsoft.com/office/drawing/2014/main" id="{E2E772E9-FB93-B5A7-2075-CF746F9F60FE}"/>
                </a:ext>
              </a:extLst>
            </p:cNvPr>
            <p:cNvSpPr/>
            <p:nvPr/>
          </p:nvSpPr>
          <p:spPr bwMode="auto">
            <a:xfrm>
              <a:off x="2804052" y="3760037"/>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残高</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40" name="正方形/長方形 39">
              <a:extLst>
                <a:ext uri="{FF2B5EF4-FFF2-40B4-BE49-F238E27FC236}">
                  <a16:creationId xmlns:a16="http://schemas.microsoft.com/office/drawing/2014/main" id="{CB941D6E-CB9F-6668-4F6B-34F929D7D460}"/>
                </a:ext>
              </a:extLst>
            </p:cNvPr>
            <p:cNvSpPr/>
            <p:nvPr/>
          </p:nvSpPr>
          <p:spPr bwMode="auto">
            <a:xfrm>
              <a:off x="2571202" y="3891279"/>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果実</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41" name="正方形/長方形 40">
              <a:extLst>
                <a:ext uri="{FF2B5EF4-FFF2-40B4-BE49-F238E27FC236}">
                  <a16:creationId xmlns:a16="http://schemas.microsoft.com/office/drawing/2014/main" id="{CD090A14-7BEC-4481-A7F8-D0A0248980D8}"/>
                </a:ext>
              </a:extLst>
            </p:cNvPr>
            <p:cNvSpPr/>
            <p:nvPr/>
          </p:nvSpPr>
          <p:spPr bwMode="auto">
            <a:xfrm>
              <a:off x="2804052" y="3891279"/>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会計</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42" name="正方形/長方形 41">
              <a:extLst>
                <a:ext uri="{FF2B5EF4-FFF2-40B4-BE49-F238E27FC236}">
                  <a16:creationId xmlns:a16="http://schemas.microsoft.com/office/drawing/2014/main" id="{B4CFE1DC-746F-83A9-D866-AE3B103CF64A}"/>
                </a:ext>
              </a:extLst>
            </p:cNvPr>
            <p:cNvSpPr/>
            <p:nvPr/>
          </p:nvSpPr>
          <p:spPr bwMode="auto">
            <a:xfrm>
              <a:off x="3117536" y="3544683"/>
              <a:ext cx="532226" cy="498923"/>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金融先物</a:t>
              </a:r>
              <a:endPar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43" name="正方形/長方形 42">
              <a:extLst>
                <a:ext uri="{FF2B5EF4-FFF2-40B4-BE49-F238E27FC236}">
                  <a16:creationId xmlns:a16="http://schemas.microsoft.com/office/drawing/2014/main" id="{7EAD1E2E-FFF2-52F5-BF08-0FFB55D293A9}"/>
                </a:ext>
              </a:extLst>
            </p:cNvPr>
            <p:cNvSpPr/>
            <p:nvPr/>
          </p:nvSpPr>
          <p:spPr bwMode="auto">
            <a:xfrm>
              <a:off x="3145777" y="3758943"/>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約定</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44" name="正方形/長方形 43">
              <a:extLst>
                <a:ext uri="{FF2B5EF4-FFF2-40B4-BE49-F238E27FC236}">
                  <a16:creationId xmlns:a16="http://schemas.microsoft.com/office/drawing/2014/main" id="{351A5168-6811-7966-A929-EADF4401098B}"/>
                </a:ext>
              </a:extLst>
            </p:cNvPr>
            <p:cNvSpPr/>
            <p:nvPr/>
          </p:nvSpPr>
          <p:spPr bwMode="auto">
            <a:xfrm>
              <a:off x="3378626" y="3758943"/>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残高</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45" name="正方形/長方形 44">
              <a:extLst>
                <a:ext uri="{FF2B5EF4-FFF2-40B4-BE49-F238E27FC236}">
                  <a16:creationId xmlns:a16="http://schemas.microsoft.com/office/drawing/2014/main" id="{6DBB1EDD-F70A-77F9-4B35-9E95D6B3B08C}"/>
                </a:ext>
              </a:extLst>
            </p:cNvPr>
            <p:cNvSpPr/>
            <p:nvPr/>
          </p:nvSpPr>
          <p:spPr bwMode="auto">
            <a:xfrm>
              <a:off x="3145777" y="3890184"/>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果実</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46" name="正方形/長方形 45">
              <a:extLst>
                <a:ext uri="{FF2B5EF4-FFF2-40B4-BE49-F238E27FC236}">
                  <a16:creationId xmlns:a16="http://schemas.microsoft.com/office/drawing/2014/main" id="{1DBB15E6-94B9-CC86-0090-F3B6953355DA}"/>
                </a:ext>
              </a:extLst>
            </p:cNvPr>
            <p:cNvSpPr/>
            <p:nvPr/>
          </p:nvSpPr>
          <p:spPr bwMode="auto">
            <a:xfrm>
              <a:off x="3378626" y="3890184"/>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会計</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47" name="正方形/長方形 46">
              <a:extLst>
                <a:ext uri="{FF2B5EF4-FFF2-40B4-BE49-F238E27FC236}">
                  <a16:creationId xmlns:a16="http://schemas.microsoft.com/office/drawing/2014/main" id="{4BF8A3A0-927F-EA37-7166-691416C0F82F}"/>
                </a:ext>
              </a:extLst>
            </p:cNvPr>
            <p:cNvSpPr/>
            <p:nvPr/>
          </p:nvSpPr>
          <p:spPr bwMode="auto">
            <a:xfrm>
              <a:off x="3690872" y="3544683"/>
              <a:ext cx="532226" cy="492156"/>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市金・汎用</a:t>
              </a:r>
              <a:endPar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48" name="正方形/長方形 47">
              <a:extLst>
                <a:ext uri="{FF2B5EF4-FFF2-40B4-BE49-F238E27FC236}">
                  <a16:creationId xmlns:a16="http://schemas.microsoft.com/office/drawing/2014/main" id="{010A2F4F-F7C5-2098-04A5-8AEA1010539B}"/>
                </a:ext>
              </a:extLst>
            </p:cNvPr>
            <p:cNvSpPr/>
            <p:nvPr/>
          </p:nvSpPr>
          <p:spPr bwMode="auto">
            <a:xfrm>
              <a:off x="3719113" y="3758943"/>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約定</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49" name="正方形/長方形 48">
              <a:extLst>
                <a:ext uri="{FF2B5EF4-FFF2-40B4-BE49-F238E27FC236}">
                  <a16:creationId xmlns:a16="http://schemas.microsoft.com/office/drawing/2014/main" id="{9BCEC91E-CA5B-BB5B-AD38-813E168BF011}"/>
                </a:ext>
              </a:extLst>
            </p:cNvPr>
            <p:cNvSpPr/>
            <p:nvPr/>
          </p:nvSpPr>
          <p:spPr bwMode="auto">
            <a:xfrm>
              <a:off x="3951962" y="3758943"/>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残高</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50" name="正方形/長方形 49">
              <a:extLst>
                <a:ext uri="{FF2B5EF4-FFF2-40B4-BE49-F238E27FC236}">
                  <a16:creationId xmlns:a16="http://schemas.microsoft.com/office/drawing/2014/main" id="{B42014EA-31A5-09BC-7B11-15D9A532A5C8}"/>
                </a:ext>
              </a:extLst>
            </p:cNvPr>
            <p:cNvSpPr/>
            <p:nvPr/>
          </p:nvSpPr>
          <p:spPr bwMode="auto">
            <a:xfrm>
              <a:off x="3719113" y="3890184"/>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果実</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51" name="正方形/長方形 50">
              <a:extLst>
                <a:ext uri="{FF2B5EF4-FFF2-40B4-BE49-F238E27FC236}">
                  <a16:creationId xmlns:a16="http://schemas.microsoft.com/office/drawing/2014/main" id="{7C451B91-EC82-C73D-CDD6-82ACF0F820AA}"/>
                </a:ext>
              </a:extLst>
            </p:cNvPr>
            <p:cNvSpPr/>
            <p:nvPr/>
          </p:nvSpPr>
          <p:spPr bwMode="auto">
            <a:xfrm>
              <a:off x="3951962" y="3890184"/>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会計</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52" name="正方形/長方形 51">
              <a:extLst>
                <a:ext uri="{FF2B5EF4-FFF2-40B4-BE49-F238E27FC236}">
                  <a16:creationId xmlns:a16="http://schemas.microsoft.com/office/drawing/2014/main" id="{E42663A2-FEEF-E1C4-460D-CA1D6A986B20}"/>
                </a:ext>
              </a:extLst>
            </p:cNvPr>
            <p:cNvSpPr/>
            <p:nvPr/>
          </p:nvSpPr>
          <p:spPr bwMode="auto">
            <a:xfrm>
              <a:off x="4282323" y="3544683"/>
              <a:ext cx="532226" cy="492156"/>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333333"/>
                  </a:solidFill>
                  <a:effectLst/>
                  <a:uLnTx/>
                  <a:uFillTx/>
                  <a:latin typeface="+mn-ea"/>
                  <a:cs typeface="Malgun Gothic Semilight" panose="020B0502040204020203" pitchFamily="50" charset="-128"/>
                </a:rPr>
                <a:t>外国証券</a:t>
              </a:r>
              <a:endParaRPr kumimoji="0" lang="en-US" altLang="ja-JP" sz="9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53" name="正方形/長方形 52">
              <a:extLst>
                <a:ext uri="{FF2B5EF4-FFF2-40B4-BE49-F238E27FC236}">
                  <a16:creationId xmlns:a16="http://schemas.microsoft.com/office/drawing/2014/main" id="{5EC855DA-AF9A-B776-B27E-231C2A6EBCF5}"/>
                </a:ext>
              </a:extLst>
            </p:cNvPr>
            <p:cNvSpPr/>
            <p:nvPr/>
          </p:nvSpPr>
          <p:spPr bwMode="auto">
            <a:xfrm>
              <a:off x="4310565" y="3749278"/>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約定</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54" name="正方形/長方形 53">
              <a:extLst>
                <a:ext uri="{FF2B5EF4-FFF2-40B4-BE49-F238E27FC236}">
                  <a16:creationId xmlns:a16="http://schemas.microsoft.com/office/drawing/2014/main" id="{CC54EDC4-6999-5774-B927-1193A415A4CE}"/>
                </a:ext>
              </a:extLst>
            </p:cNvPr>
            <p:cNvSpPr/>
            <p:nvPr/>
          </p:nvSpPr>
          <p:spPr bwMode="auto">
            <a:xfrm>
              <a:off x="4543413" y="3749278"/>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残高</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55" name="正方形/長方形 54">
              <a:extLst>
                <a:ext uri="{FF2B5EF4-FFF2-40B4-BE49-F238E27FC236}">
                  <a16:creationId xmlns:a16="http://schemas.microsoft.com/office/drawing/2014/main" id="{23786C31-EE62-6812-A93D-58342C14A079}"/>
                </a:ext>
              </a:extLst>
            </p:cNvPr>
            <p:cNvSpPr/>
            <p:nvPr/>
          </p:nvSpPr>
          <p:spPr bwMode="auto">
            <a:xfrm>
              <a:off x="4310565" y="3880520"/>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果実</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56" name="正方形/長方形 55">
              <a:extLst>
                <a:ext uri="{FF2B5EF4-FFF2-40B4-BE49-F238E27FC236}">
                  <a16:creationId xmlns:a16="http://schemas.microsoft.com/office/drawing/2014/main" id="{62B2E118-F15A-FA9D-1DC8-0AF506ABE7AF}"/>
                </a:ext>
              </a:extLst>
            </p:cNvPr>
            <p:cNvSpPr/>
            <p:nvPr/>
          </p:nvSpPr>
          <p:spPr bwMode="auto">
            <a:xfrm>
              <a:off x="4543413" y="3880520"/>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会計</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57" name="正方形/長方形 56">
              <a:extLst>
                <a:ext uri="{FF2B5EF4-FFF2-40B4-BE49-F238E27FC236}">
                  <a16:creationId xmlns:a16="http://schemas.microsoft.com/office/drawing/2014/main" id="{22EEB080-B1E7-F52B-ABC2-35BE08C9C732}"/>
                </a:ext>
              </a:extLst>
            </p:cNvPr>
            <p:cNvSpPr/>
            <p:nvPr/>
          </p:nvSpPr>
          <p:spPr bwMode="auto">
            <a:xfrm>
              <a:off x="1999539" y="2533607"/>
              <a:ext cx="532226" cy="459346"/>
            </a:xfrm>
            <a:prstGeom prst="rect">
              <a:avLst/>
            </a:prstGeom>
            <a:solidFill>
              <a:srgbClr val="FFFFFF"/>
            </a:solidFill>
            <a:ln w="6350"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株式</a:t>
              </a:r>
              <a:endPar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58" name="正方形/長方形 57">
              <a:extLst>
                <a:ext uri="{FF2B5EF4-FFF2-40B4-BE49-F238E27FC236}">
                  <a16:creationId xmlns:a16="http://schemas.microsoft.com/office/drawing/2014/main" id="{984F562A-8CD6-2C9E-2FD8-83BFD6B83804}"/>
                </a:ext>
              </a:extLst>
            </p:cNvPr>
            <p:cNvSpPr/>
            <p:nvPr/>
          </p:nvSpPr>
          <p:spPr bwMode="auto">
            <a:xfrm>
              <a:off x="2260629" y="2707294"/>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残高</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59" name="正方形/長方形 58">
              <a:extLst>
                <a:ext uri="{FF2B5EF4-FFF2-40B4-BE49-F238E27FC236}">
                  <a16:creationId xmlns:a16="http://schemas.microsoft.com/office/drawing/2014/main" id="{E648929A-67E4-40E2-1ADB-D497FF4B77D0}"/>
                </a:ext>
              </a:extLst>
            </p:cNvPr>
            <p:cNvSpPr/>
            <p:nvPr/>
          </p:nvSpPr>
          <p:spPr bwMode="auto">
            <a:xfrm>
              <a:off x="2027781" y="2838536"/>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果実</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60" name="正方形/長方形 59">
              <a:extLst>
                <a:ext uri="{FF2B5EF4-FFF2-40B4-BE49-F238E27FC236}">
                  <a16:creationId xmlns:a16="http://schemas.microsoft.com/office/drawing/2014/main" id="{938109F5-B9C6-6DA0-32DD-9C94B441AA4B}"/>
                </a:ext>
              </a:extLst>
            </p:cNvPr>
            <p:cNvSpPr/>
            <p:nvPr/>
          </p:nvSpPr>
          <p:spPr bwMode="auto">
            <a:xfrm>
              <a:off x="2260629" y="2838536"/>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会計</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61" name="正方形/長方形 60">
              <a:extLst>
                <a:ext uri="{FF2B5EF4-FFF2-40B4-BE49-F238E27FC236}">
                  <a16:creationId xmlns:a16="http://schemas.microsoft.com/office/drawing/2014/main" id="{76BC6FC3-12F6-91D6-1611-BB1C29D43C58}"/>
                </a:ext>
              </a:extLst>
            </p:cNvPr>
            <p:cNvSpPr/>
            <p:nvPr/>
          </p:nvSpPr>
          <p:spPr bwMode="auto">
            <a:xfrm>
              <a:off x="2562811" y="2533607"/>
              <a:ext cx="532226" cy="459346"/>
            </a:xfrm>
            <a:prstGeom prst="rect">
              <a:avLst/>
            </a:prstGeom>
            <a:solidFill>
              <a:srgbClr val="FFFFFF"/>
            </a:solidFill>
            <a:ln w="6350"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t>債券</a:t>
              </a:r>
              <a:endPar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62" name="正方形/長方形 61">
              <a:extLst>
                <a:ext uri="{FF2B5EF4-FFF2-40B4-BE49-F238E27FC236}">
                  <a16:creationId xmlns:a16="http://schemas.microsoft.com/office/drawing/2014/main" id="{1B580BE0-7129-B883-EA70-5A18265CB103}"/>
                </a:ext>
              </a:extLst>
            </p:cNvPr>
            <p:cNvSpPr/>
            <p:nvPr/>
          </p:nvSpPr>
          <p:spPr bwMode="auto">
            <a:xfrm>
              <a:off x="2823901" y="2707294"/>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残高</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63" name="正方形/長方形 62">
              <a:extLst>
                <a:ext uri="{FF2B5EF4-FFF2-40B4-BE49-F238E27FC236}">
                  <a16:creationId xmlns:a16="http://schemas.microsoft.com/office/drawing/2014/main" id="{7A5CC539-ADAA-A41C-FE15-A91CA7D08DC8}"/>
                </a:ext>
              </a:extLst>
            </p:cNvPr>
            <p:cNvSpPr/>
            <p:nvPr/>
          </p:nvSpPr>
          <p:spPr bwMode="auto">
            <a:xfrm>
              <a:off x="2591052" y="2838536"/>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果実</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64" name="正方形/長方形 63">
              <a:extLst>
                <a:ext uri="{FF2B5EF4-FFF2-40B4-BE49-F238E27FC236}">
                  <a16:creationId xmlns:a16="http://schemas.microsoft.com/office/drawing/2014/main" id="{87951FCB-2ED1-FE12-BF8F-E9E9C9A8441F}"/>
                </a:ext>
              </a:extLst>
            </p:cNvPr>
            <p:cNvSpPr/>
            <p:nvPr/>
          </p:nvSpPr>
          <p:spPr bwMode="auto">
            <a:xfrm>
              <a:off x="2823901" y="2838536"/>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会計</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65" name="正方形/長方形 64">
              <a:extLst>
                <a:ext uri="{FF2B5EF4-FFF2-40B4-BE49-F238E27FC236}">
                  <a16:creationId xmlns:a16="http://schemas.microsoft.com/office/drawing/2014/main" id="{34889402-A6EA-4CCB-5C38-33A2ACE3BA39}"/>
                </a:ext>
              </a:extLst>
            </p:cNvPr>
            <p:cNvSpPr/>
            <p:nvPr/>
          </p:nvSpPr>
          <p:spPr bwMode="auto">
            <a:xfrm>
              <a:off x="3137385" y="2533607"/>
              <a:ext cx="532226" cy="459346"/>
            </a:xfrm>
            <a:prstGeom prst="rect">
              <a:avLst/>
            </a:prstGeom>
            <a:solidFill>
              <a:srgbClr val="FFFFFF"/>
            </a:solidFill>
            <a:ln w="6350"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t>金融先物</a:t>
              </a:r>
              <a:endPar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66" name="正方形/長方形 65">
              <a:extLst>
                <a:ext uri="{FF2B5EF4-FFF2-40B4-BE49-F238E27FC236}">
                  <a16:creationId xmlns:a16="http://schemas.microsoft.com/office/drawing/2014/main" id="{FCEA14EC-435D-858B-AD19-568A667B6237}"/>
                </a:ext>
              </a:extLst>
            </p:cNvPr>
            <p:cNvSpPr/>
            <p:nvPr/>
          </p:nvSpPr>
          <p:spPr bwMode="auto">
            <a:xfrm>
              <a:off x="3398475" y="2706199"/>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残高</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67" name="正方形/長方形 66">
              <a:extLst>
                <a:ext uri="{FF2B5EF4-FFF2-40B4-BE49-F238E27FC236}">
                  <a16:creationId xmlns:a16="http://schemas.microsoft.com/office/drawing/2014/main" id="{029CA889-AB00-6DDB-D96E-99D563704DE1}"/>
                </a:ext>
              </a:extLst>
            </p:cNvPr>
            <p:cNvSpPr/>
            <p:nvPr/>
          </p:nvSpPr>
          <p:spPr bwMode="auto">
            <a:xfrm>
              <a:off x="3165626" y="2837441"/>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果実</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68" name="正方形/長方形 67">
              <a:extLst>
                <a:ext uri="{FF2B5EF4-FFF2-40B4-BE49-F238E27FC236}">
                  <a16:creationId xmlns:a16="http://schemas.microsoft.com/office/drawing/2014/main" id="{BEB9B38C-8CA8-C560-BD3B-639C9657755A}"/>
                </a:ext>
              </a:extLst>
            </p:cNvPr>
            <p:cNvSpPr/>
            <p:nvPr/>
          </p:nvSpPr>
          <p:spPr bwMode="auto">
            <a:xfrm>
              <a:off x="3398475" y="2837441"/>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会計</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69" name="正方形/長方形 68">
              <a:extLst>
                <a:ext uri="{FF2B5EF4-FFF2-40B4-BE49-F238E27FC236}">
                  <a16:creationId xmlns:a16="http://schemas.microsoft.com/office/drawing/2014/main" id="{73569CFB-709B-9527-8471-92C3AD12ED0F}"/>
                </a:ext>
              </a:extLst>
            </p:cNvPr>
            <p:cNvSpPr/>
            <p:nvPr/>
          </p:nvSpPr>
          <p:spPr bwMode="auto">
            <a:xfrm>
              <a:off x="4260840" y="2533607"/>
              <a:ext cx="532226" cy="459346"/>
            </a:xfrm>
            <a:prstGeom prst="rect">
              <a:avLst/>
            </a:prstGeom>
            <a:solidFill>
              <a:srgbClr val="FFFFFF"/>
            </a:solidFill>
            <a:ln w="6350"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333333"/>
                  </a:solidFill>
                  <a:effectLst/>
                  <a:uLnTx/>
                  <a:uFillTx/>
                  <a:latin typeface="+mn-ea"/>
                  <a:cs typeface="Malgun Gothic Semilight" panose="020B0502040204020203" pitchFamily="50" charset="-128"/>
                </a:rPr>
                <a:t>外国証券</a:t>
              </a:r>
              <a:endParaRPr kumimoji="0" lang="en-US" altLang="ja-JP" sz="900" b="0" i="0" u="none" strike="noStrike" kern="0" cap="none" spc="0" normalizeH="0" baseline="0" noProof="0" dirty="0">
                <a:ln>
                  <a:noFill/>
                </a:ln>
                <a:solidFill>
                  <a:srgbClr val="333333"/>
                </a:solidFill>
                <a:effectLst/>
                <a:uLnTx/>
                <a:uFillTx/>
                <a:latin typeface="+mn-ea"/>
                <a:cs typeface="Malgun Gothic Semilight" panose="020B0502040204020203" pitchFamily="50" charset="-128"/>
              </a:endParaRPr>
            </a:p>
          </p:txBody>
        </p:sp>
        <p:sp>
          <p:nvSpPr>
            <p:cNvPr id="70" name="正方形/長方形 69">
              <a:extLst>
                <a:ext uri="{FF2B5EF4-FFF2-40B4-BE49-F238E27FC236}">
                  <a16:creationId xmlns:a16="http://schemas.microsoft.com/office/drawing/2014/main" id="{2FCF48F5-A6F8-8712-A164-5E9234EA18AB}"/>
                </a:ext>
              </a:extLst>
            </p:cNvPr>
            <p:cNvSpPr/>
            <p:nvPr/>
          </p:nvSpPr>
          <p:spPr bwMode="auto">
            <a:xfrm>
              <a:off x="4289082" y="2710425"/>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約定</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71" name="正方形/長方形 70">
              <a:extLst>
                <a:ext uri="{FF2B5EF4-FFF2-40B4-BE49-F238E27FC236}">
                  <a16:creationId xmlns:a16="http://schemas.microsoft.com/office/drawing/2014/main" id="{4DDBB654-7806-A695-397D-FA62565926B7}"/>
                </a:ext>
              </a:extLst>
            </p:cNvPr>
            <p:cNvSpPr/>
            <p:nvPr/>
          </p:nvSpPr>
          <p:spPr bwMode="auto">
            <a:xfrm>
              <a:off x="4521930" y="2710425"/>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残高</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72" name="正方形/長方形 71">
              <a:extLst>
                <a:ext uri="{FF2B5EF4-FFF2-40B4-BE49-F238E27FC236}">
                  <a16:creationId xmlns:a16="http://schemas.microsoft.com/office/drawing/2014/main" id="{6232F918-33FD-B69A-F6F7-2F2CF2D90EF4}"/>
                </a:ext>
              </a:extLst>
            </p:cNvPr>
            <p:cNvSpPr/>
            <p:nvPr/>
          </p:nvSpPr>
          <p:spPr bwMode="auto">
            <a:xfrm>
              <a:off x="4289082" y="2841666"/>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果実</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73" name="正方形/長方形 72">
              <a:extLst>
                <a:ext uri="{FF2B5EF4-FFF2-40B4-BE49-F238E27FC236}">
                  <a16:creationId xmlns:a16="http://schemas.microsoft.com/office/drawing/2014/main" id="{D2ABFE27-FB85-6C88-FDF4-CE6F4E039D5C}"/>
                </a:ext>
              </a:extLst>
            </p:cNvPr>
            <p:cNvSpPr/>
            <p:nvPr/>
          </p:nvSpPr>
          <p:spPr bwMode="auto">
            <a:xfrm>
              <a:off x="4521930" y="2841666"/>
              <a:ext cx="232848" cy="131242"/>
            </a:xfrm>
            <a:prstGeom prst="rect">
              <a:avLst/>
            </a:prstGeom>
            <a:solidFill>
              <a:srgbClr val="FFFFFF"/>
            </a:solidFill>
            <a:ln w="9525" cap="flat" cmpd="sng" algn="ctr">
              <a:solidFill>
                <a:srgbClr val="333333">
                  <a:lumMod val="20000"/>
                  <a:lumOff val="80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rPr>
                <a:t>会計</a:t>
              </a:r>
              <a:endParaRPr kumimoji="0" lang="en-US" altLang="ja-JP" sz="800" b="0" i="0" u="none" strike="noStrike" kern="0" cap="none" spc="0" normalizeH="0" baseline="0" noProof="0">
                <a:ln>
                  <a:noFill/>
                </a:ln>
                <a:solidFill>
                  <a:srgbClr val="333333">
                    <a:lumMod val="20000"/>
                    <a:lumOff val="80000"/>
                  </a:srgbClr>
                </a:solidFill>
                <a:effectLst/>
                <a:uLnTx/>
                <a:uFillTx/>
                <a:latin typeface="+mn-ea"/>
                <a:cs typeface="Malgun Gothic Semilight" panose="020B0502040204020203" pitchFamily="50" charset="-128"/>
              </a:endParaRPr>
            </a:p>
          </p:txBody>
        </p:sp>
        <p:sp>
          <p:nvSpPr>
            <p:cNvPr id="79" name="正方形/長方形 78">
              <a:extLst>
                <a:ext uri="{FF2B5EF4-FFF2-40B4-BE49-F238E27FC236}">
                  <a16:creationId xmlns:a16="http://schemas.microsoft.com/office/drawing/2014/main" id="{995A2368-1359-50F5-018F-4BE2506458E3}"/>
                </a:ext>
              </a:extLst>
            </p:cNvPr>
            <p:cNvSpPr/>
            <p:nvPr/>
          </p:nvSpPr>
          <p:spPr bwMode="auto">
            <a:xfrm>
              <a:off x="2027781" y="2707294"/>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約定</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80" name="正方形/長方形 79">
              <a:extLst>
                <a:ext uri="{FF2B5EF4-FFF2-40B4-BE49-F238E27FC236}">
                  <a16:creationId xmlns:a16="http://schemas.microsoft.com/office/drawing/2014/main" id="{6DAF3039-3C94-10FE-B7A2-076CE35BF72A}"/>
                </a:ext>
              </a:extLst>
            </p:cNvPr>
            <p:cNvSpPr/>
            <p:nvPr/>
          </p:nvSpPr>
          <p:spPr bwMode="auto">
            <a:xfrm>
              <a:off x="2591052" y="2707294"/>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約定</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81" name="正方形/長方形 80">
              <a:extLst>
                <a:ext uri="{FF2B5EF4-FFF2-40B4-BE49-F238E27FC236}">
                  <a16:creationId xmlns:a16="http://schemas.microsoft.com/office/drawing/2014/main" id="{725DF7DB-2738-9164-D50E-D999DD08EA74}"/>
                </a:ext>
              </a:extLst>
            </p:cNvPr>
            <p:cNvSpPr/>
            <p:nvPr/>
          </p:nvSpPr>
          <p:spPr bwMode="auto">
            <a:xfrm>
              <a:off x="3165626" y="2706199"/>
              <a:ext cx="232848" cy="131242"/>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333333"/>
                  </a:solidFill>
                  <a:effectLst/>
                  <a:uLnTx/>
                  <a:uFillTx/>
                  <a:latin typeface="+mn-ea"/>
                  <a:cs typeface="Malgun Gothic Semilight" panose="020B0502040204020203" pitchFamily="50" charset="-128"/>
                </a:rPr>
                <a:t>約定</a:t>
              </a:r>
              <a:endParaRPr kumimoji="0" lang="en-US" altLang="ja-JP" sz="8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96" name="四角形: 角を丸くする 95">
              <a:extLst>
                <a:ext uri="{FF2B5EF4-FFF2-40B4-BE49-F238E27FC236}">
                  <a16:creationId xmlns:a16="http://schemas.microsoft.com/office/drawing/2014/main" id="{447FE38A-E9B7-6856-F822-A5E9A18467DC}"/>
                </a:ext>
              </a:extLst>
            </p:cNvPr>
            <p:cNvSpPr/>
            <p:nvPr/>
          </p:nvSpPr>
          <p:spPr>
            <a:xfrm>
              <a:off x="5603773" y="5482863"/>
              <a:ext cx="267342" cy="984313"/>
            </a:xfrm>
            <a:prstGeom prst="roundRect">
              <a:avLst/>
            </a:prstGeom>
            <a:solidFill>
              <a:srgbClr val="FFFFFF">
                <a:lumMod val="95000"/>
              </a:srgbClr>
            </a:solidFill>
            <a:ln w="19050" cap="flat" cmpd="sng" algn="ctr">
              <a:solidFill>
                <a:srgbClr val="000000">
                  <a:lumMod val="50000"/>
                  <a:lumOff val="50000"/>
                </a:srgbClr>
              </a:solidFill>
              <a:prstDash val="solid"/>
            </a:ln>
            <a:effectLst/>
          </p:spPr>
          <p:txBody>
            <a:bodyPr vert="eaVert"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400" b="1" i="0" u="none" strike="noStrike" kern="0" cap="none" spc="0" normalizeH="0" baseline="0" noProof="0">
                  <a:ln>
                    <a:noFill/>
                  </a:ln>
                  <a:solidFill>
                    <a:srgbClr val="000000">
                      <a:lumMod val="50000"/>
                      <a:lumOff val="50000"/>
                    </a:srgbClr>
                  </a:solidFill>
                  <a:effectLst/>
                  <a:uLnTx/>
                  <a:uFillTx/>
                  <a:latin typeface="+mn-ea"/>
                  <a:cs typeface="+mn-cs"/>
                </a:rPr>
                <a:t>顧客</a:t>
              </a:r>
            </a:p>
          </p:txBody>
        </p:sp>
        <p:sp>
          <p:nvSpPr>
            <p:cNvPr id="112" name="正方形/長方形 111">
              <a:extLst>
                <a:ext uri="{FF2B5EF4-FFF2-40B4-BE49-F238E27FC236}">
                  <a16:creationId xmlns:a16="http://schemas.microsoft.com/office/drawing/2014/main" id="{6B07431D-B56C-F22E-FD7B-C56F7047BA14}"/>
                </a:ext>
              </a:extLst>
            </p:cNvPr>
            <p:cNvSpPr/>
            <p:nvPr/>
          </p:nvSpPr>
          <p:spPr bwMode="auto">
            <a:xfrm>
              <a:off x="1436007" y="5379521"/>
              <a:ext cx="3780979" cy="1031558"/>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333333"/>
                  </a:solidFill>
                  <a:effectLst/>
                  <a:uLnTx/>
                  <a:uFillTx/>
                  <a:latin typeface="+mn-ea"/>
                  <a:cs typeface="Malgun Gothic Semilight" panose="020B0502040204020203" pitchFamily="50" charset="-128"/>
                </a:rPr>
                <a:t>情報系システム</a:t>
              </a:r>
              <a:endParaRPr kumimoji="0" lang="en-US" altLang="ja-JP" sz="12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113" name="正方形/長方形 112">
              <a:extLst>
                <a:ext uri="{FF2B5EF4-FFF2-40B4-BE49-F238E27FC236}">
                  <a16:creationId xmlns:a16="http://schemas.microsoft.com/office/drawing/2014/main" id="{31BAFED7-67E6-3A5B-CE31-3C1936B97638}"/>
                </a:ext>
              </a:extLst>
            </p:cNvPr>
            <p:cNvSpPr/>
            <p:nvPr/>
          </p:nvSpPr>
          <p:spPr bwMode="auto">
            <a:xfrm>
              <a:off x="1725576" y="5659829"/>
              <a:ext cx="2532961" cy="622247"/>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333333"/>
                  </a:solidFill>
                  <a:effectLst/>
                  <a:uLnTx/>
                  <a:uFillTx/>
                  <a:latin typeface="+mn-ea"/>
                  <a:cs typeface="Malgun Gothic Semilight" panose="020B0502040204020203" pitchFamily="50" charset="-128"/>
                </a:rPr>
                <a:t>受託財産運用支援</a:t>
              </a:r>
              <a:endParaRPr kumimoji="0" lang="en-US" altLang="ja-JP" sz="11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114" name="正方形/長方形 113">
              <a:extLst>
                <a:ext uri="{FF2B5EF4-FFF2-40B4-BE49-F238E27FC236}">
                  <a16:creationId xmlns:a16="http://schemas.microsoft.com/office/drawing/2014/main" id="{B610993C-3D56-201D-068E-B5ADE284B4E9}"/>
                </a:ext>
              </a:extLst>
            </p:cNvPr>
            <p:cNvSpPr/>
            <p:nvPr/>
          </p:nvSpPr>
          <p:spPr bwMode="auto">
            <a:xfrm>
              <a:off x="4343631" y="5659829"/>
              <a:ext cx="697283" cy="622247"/>
            </a:xfrm>
            <a:prstGeom prst="rect">
              <a:avLst/>
            </a:prstGeom>
            <a:solidFill>
              <a:srgbClr val="5A8BBC">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err="1">
                  <a:ln>
                    <a:noFill/>
                  </a:ln>
                  <a:solidFill>
                    <a:srgbClr val="333333"/>
                  </a:solidFill>
                  <a:effectLst/>
                  <a:uLnTx/>
                  <a:uFillTx/>
                  <a:latin typeface="+mn-ea"/>
                  <a:cs typeface="Malgun Gothic Semilight" panose="020B0502040204020203" pitchFamily="50" charset="-128"/>
                </a:rPr>
                <a:t>MaiNet</a:t>
              </a:r>
              <a:endParaRPr kumimoji="0" lang="en-US" altLang="ja-JP" sz="11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115" name="正方形/長方形 114">
              <a:extLst>
                <a:ext uri="{FF2B5EF4-FFF2-40B4-BE49-F238E27FC236}">
                  <a16:creationId xmlns:a16="http://schemas.microsoft.com/office/drawing/2014/main" id="{C0C87658-E392-15E5-F6C2-E406C074409A}"/>
                </a:ext>
              </a:extLst>
            </p:cNvPr>
            <p:cNvSpPr/>
            <p:nvPr/>
          </p:nvSpPr>
          <p:spPr bwMode="auto">
            <a:xfrm>
              <a:off x="2419283" y="5916395"/>
              <a:ext cx="458300" cy="295294"/>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t>収益率</a:t>
              </a:r>
              <a:br>
                <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br>
              <a:r>
                <a:rPr kumimoji="0" lang="ja-JP" altLang="en-US"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t>集計</a:t>
              </a:r>
              <a:endPar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116" name="正方形/長方形 115">
              <a:extLst>
                <a:ext uri="{FF2B5EF4-FFF2-40B4-BE49-F238E27FC236}">
                  <a16:creationId xmlns:a16="http://schemas.microsoft.com/office/drawing/2014/main" id="{C2C8AF03-719C-04B5-EB3F-19A302163BBB}"/>
                </a:ext>
              </a:extLst>
            </p:cNvPr>
            <p:cNvSpPr/>
            <p:nvPr/>
          </p:nvSpPr>
          <p:spPr bwMode="auto">
            <a:xfrm>
              <a:off x="3128795" y="5916395"/>
              <a:ext cx="458300" cy="295294"/>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t>帳票</a:t>
              </a:r>
              <a:br>
                <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br>
              <a:r>
                <a:rPr kumimoji="0" lang="ja-JP" altLang="en-US"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t>作成</a:t>
              </a:r>
              <a:endPar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117" name="正方形/長方形 116">
              <a:extLst>
                <a:ext uri="{FF2B5EF4-FFF2-40B4-BE49-F238E27FC236}">
                  <a16:creationId xmlns:a16="http://schemas.microsoft.com/office/drawing/2014/main" id="{D840A95B-676D-E53B-D918-8B27A53FEB6E}"/>
                </a:ext>
              </a:extLst>
            </p:cNvPr>
            <p:cNvSpPr/>
            <p:nvPr/>
          </p:nvSpPr>
          <p:spPr bwMode="auto">
            <a:xfrm>
              <a:off x="4442841" y="5916395"/>
              <a:ext cx="458300" cy="295294"/>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t>Web</a:t>
              </a:r>
              <a:br>
                <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br>
              <a:r>
                <a:rPr kumimoji="0" lang="ja-JP" altLang="en-US"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t>開示</a:t>
              </a:r>
              <a:br>
                <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rPr>
              </a:br>
              <a:endParaRPr kumimoji="0" lang="en-US" altLang="ja-JP" sz="9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cxnSp>
          <p:nvCxnSpPr>
            <p:cNvPr id="132" name="直線矢印コネクタ 131">
              <a:extLst>
                <a:ext uri="{FF2B5EF4-FFF2-40B4-BE49-F238E27FC236}">
                  <a16:creationId xmlns:a16="http://schemas.microsoft.com/office/drawing/2014/main" id="{D77A03DE-A22C-FD91-DA73-E9775609209D}"/>
                </a:ext>
              </a:extLst>
            </p:cNvPr>
            <p:cNvCxnSpPr>
              <a:cxnSpLocks/>
            </p:cNvCxnSpPr>
            <p:nvPr/>
          </p:nvCxnSpPr>
          <p:spPr>
            <a:xfrm>
              <a:off x="739437" y="3455323"/>
              <a:ext cx="190959" cy="0"/>
            </a:xfrm>
            <a:prstGeom prst="straightConnector1">
              <a:avLst/>
            </a:prstGeom>
            <a:noFill/>
            <a:ln w="9525" cap="flat" cmpd="sng" algn="ctr">
              <a:solidFill>
                <a:srgbClr val="337EBC"/>
              </a:solidFill>
              <a:prstDash val="solid"/>
              <a:tailEnd type="triangle"/>
            </a:ln>
            <a:effectLst/>
          </p:spPr>
        </p:cxnSp>
        <p:cxnSp>
          <p:nvCxnSpPr>
            <p:cNvPr id="133" name="直線矢印コネクタ 132">
              <a:extLst>
                <a:ext uri="{FF2B5EF4-FFF2-40B4-BE49-F238E27FC236}">
                  <a16:creationId xmlns:a16="http://schemas.microsoft.com/office/drawing/2014/main" id="{5CD33B58-CAF4-9327-500A-9A60C32499E6}"/>
                </a:ext>
              </a:extLst>
            </p:cNvPr>
            <p:cNvCxnSpPr>
              <a:cxnSpLocks/>
            </p:cNvCxnSpPr>
            <p:nvPr/>
          </p:nvCxnSpPr>
          <p:spPr>
            <a:xfrm>
              <a:off x="739437" y="3775466"/>
              <a:ext cx="190959" cy="0"/>
            </a:xfrm>
            <a:prstGeom prst="straightConnector1">
              <a:avLst/>
            </a:prstGeom>
            <a:noFill/>
            <a:ln w="9525" cap="flat" cmpd="sng" algn="ctr">
              <a:solidFill>
                <a:srgbClr val="337EBC"/>
              </a:solidFill>
              <a:prstDash val="solid"/>
              <a:tailEnd type="triangle"/>
            </a:ln>
            <a:effectLst/>
          </p:spPr>
        </p:cxnSp>
        <p:cxnSp>
          <p:nvCxnSpPr>
            <p:cNvPr id="134" name="直線矢印コネクタ 133">
              <a:extLst>
                <a:ext uri="{FF2B5EF4-FFF2-40B4-BE49-F238E27FC236}">
                  <a16:creationId xmlns:a16="http://schemas.microsoft.com/office/drawing/2014/main" id="{E7D3BABD-C8E9-9D48-41D9-52C773C5412C}"/>
                </a:ext>
              </a:extLst>
            </p:cNvPr>
            <p:cNvCxnSpPr>
              <a:cxnSpLocks/>
            </p:cNvCxnSpPr>
            <p:nvPr/>
          </p:nvCxnSpPr>
          <p:spPr>
            <a:xfrm>
              <a:off x="739437" y="4065348"/>
              <a:ext cx="190959" cy="0"/>
            </a:xfrm>
            <a:prstGeom prst="straightConnector1">
              <a:avLst/>
            </a:prstGeom>
            <a:noFill/>
            <a:ln w="9525" cap="flat" cmpd="sng" algn="ctr">
              <a:solidFill>
                <a:srgbClr val="337EBC"/>
              </a:solidFill>
              <a:prstDash val="solid"/>
              <a:tailEnd type="triangle"/>
            </a:ln>
            <a:effectLst/>
          </p:spPr>
        </p:cxnSp>
        <p:sp>
          <p:nvSpPr>
            <p:cNvPr id="135" name="正方形/長方形 134">
              <a:extLst>
                <a:ext uri="{FF2B5EF4-FFF2-40B4-BE49-F238E27FC236}">
                  <a16:creationId xmlns:a16="http://schemas.microsoft.com/office/drawing/2014/main" id="{1034D206-A371-2F40-F099-67585C86D08C}"/>
                </a:ext>
              </a:extLst>
            </p:cNvPr>
            <p:cNvSpPr/>
            <p:nvPr/>
          </p:nvSpPr>
          <p:spPr>
            <a:xfrm>
              <a:off x="488999" y="3037443"/>
              <a:ext cx="759602" cy="163323"/>
            </a:xfrm>
            <a:prstGeom prst="rect">
              <a:avLst/>
            </a:prstGeom>
            <a:solidFill>
              <a:srgbClr val="FFFFFF"/>
            </a:solidFill>
            <a:ln w="9525" cap="flat" cmpd="sng" algn="ctr">
              <a:noFill/>
              <a:prstDash val="solid"/>
            </a:ln>
            <a:effectLst/>
          </p:spPr>
          <p:txBody>
            <a:bodyPr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rgbClr val="337EBC"/>
                  </a:solidFill>
                  <a:effectLst/>
                  <a:uLnTx/>
                  <a:uFillTx/>
                  <a:latin typeface="+mn-ea"/>
                  <a:cs typeface="+mn-cs"/>
                </a:rPr>
                <a:t>時価情報等</a:t>
              </a:r>
            </a:p>
          </p:txBody>
        </p:sp>
        <p:cxnSp>
          <p:nvCxnSpPr>
            <p:cNvPr id="136" name="直線矢印コネクタ 135">
              <a:extLst>
                <a:ext uri="{FF2B5EF4-FFF2-40B4-BE49-F238E27FC236}">
                  <a16:creationId xmlns:a16="http://schemas.microsoft.com/office/drawing/2014/main" id="{4ED38417-AEBA-1265-19B0-1BE117B4E037}"/>
                </a:ext>
              </a:extLst>
            </p:cNvPr>
            <p:cNvCxnSpPr>
              <a:cxnSpLocks/>
            </p:cNvCxnSpPr>
            <p:nvPr/>
          </p:nvCxnSpPr>
          <p:spPr>
            <a:xfrm>
              <a:off x="1387498" y="3631210"/>
              <a:ext cx="190959" cy="0"/>
            </a:xfrm>
            <a:prstGeom prst="straightConnector1">
              <a:avLst/>
            </a:prstGeom>
            <a:noFill/>
            <a:ln w="9525" cap="flat" cmpd="sng" algn="ctr">
              <a:solidFill>
                <a:srgbClr val="337EBC"/>
              </a:solidFill>
              <a:prstDash val="solid"/>
              <a:tailEnd type="triangle"/>
            </a:ln>
            <a:effectLst/>
          </p:spPr>
        </p:cxnSp>
        <p:sp>
          <p:nvSpPr>
            <p:cNvPr id="142" name="四角形: 角を丸くする 141">
              <a:extLst>
                <a:ext uri="{FF2B5EF4-FFF2-40B4-BE49-F238E27FC236}">
                  <a16:creationId xmlns:a16="http://schemas.microsoft.com/office/drawing/2014/main" id="{B871D184-BF89-1E61-30AB-F4F116AB4ABE}"/>
                </a:ext>
              </a:extLst>
            </p:cNvPr>
            <p:cNvSpPr/>
            <p:nvPr/>
          </p:nvSpPr>
          <p:spPr>
            <a:xfrm>
              <a:off x="492741" y="3196741"/>
              <a:ext cx="290290" cy="1246796"/>
            </a:xfrm>
            <a:prstGeom prst="roundRect">
              <a:avLst/>
            </a:prstGeom>
            <a:solidFill>
              <a:srgbClr val="FFFFFF">
                <a:lumMod val="95000"/>
              </a:srgbClr>
            </a:solidFill>
            <a:ln w="19050" cap="flat" cmpd="sng" algn="ctr">
              <a:solidFill>
                <a:srgbClr val="000000">
                  <a:lumMod val="50000"/>
                  <a:lumOff val="50000"/>
                </a:srgbClr>
              </a:solidFill>
              <a:prstDash val="solid"/>
            </a:ln>
            <a:effectLst/>
          </p:spPr>
          <p:txBody>
            <a:bodyPr vert="eaVert"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400" b="1" i="0" u="none" strike="noStrike" kern="0" cap="none" spc="0" normalizeH="0" baseline="0" noProof="0">
                  <a:ln>
                    <a:noFill/>
                  </a:ln>
                  <a:solidFill>
                    <a:srgbClr val="000000">
                      <a:lumMod val="50000"/>
                      <a:lumOff val="50000"/>
                    </a:srgbClr>
                  </a:solidFill>
                  <a:effectLst/>
                  <a:uLnTx/>
                  <a:uFillTx/>
                  <a:latin typeface="+mn-ea"/>
                  <a:cs typeface="+mn-cs"/>
                </a:rPr>
                <a:t>外部機関</a:t>
              </a:r>
            </a:p>
          </p:txBody>
        </p:sp>
        <p:cxnSp>
          <p:nvCxnSpPr>
            <p:cNvPr id="143" name="直線矢印コネクタ 142">
              <a:extLst>
                <a:ext uri="{FF2B5EF4-FFF2-40B4-BE49-F238E27FC236}">
                  <a16:creationId xmlns:a16="http://schemas.microsoft.com/office/drawing/2014/main" id="{DA57FDC4-7B5F-37C5-050B-B11491380300}"/>
                </a:ext>
              </a:extLst>
            </p:cNvPr>
            <p:cNvCxnSpPr>
              <a:cxnSpLocks/>
              <a:stCxn id="114" idx="3"/>
              <a:endCxn id="96" idx="1"/>
            </p:cNvCxnSpPr>
            <p:nvPr/>
          </p:nvCxnSpPr>
          <p:spPr>
            <a:xfrm>
              <a:off x="5040914" y="5970953"/>
              <a:ext cx="562859" cy="4066"/>
            </a:xfrm>
            <a:prstGeom prst="straightConnector1">
              <a:avLst/>
            </a:prstGeom>
            <a:noFill/>
            <a:ln w="9525" cap="flat" cmpd="sng" algn="ctr">
              <a:solidFill>
                <a:srgbClr val="5A8BBC">
                  <a:shade val="95000"/>
                  <a:satMod val="105000"/>
                </a:srgbClr>
              </a:solidFill>
              <a:prstDash val="solid"/>
              <a:tailEnd type="triangle"/>
            </a:ln>
            <a:effectLst/>
          </p:spPr>
        </p:cxnSp>
        <p:sp>
          <p:nvSpPr>
            <p:cNvPr id="152" name="四角形: 角を丸くする 151">
              <a:extLst>
                <a:ext uri="{FF2B5EF4-FFF2-40B4-BE49-F238E27FC236}">
                  <a16:creationId xmlns:a16="http://schemas.microsoft.com/office/drawing/2014/main" id="{004D5895-552E-8C38-5E70-4BA382BC1D5D}"/>
                </a:ext>
              </a:extLst>
            </p:cNvPr>
            <p:cNvSpPr/>
            <p:nvPr/>
          </p:nvSpPr>
          <p:spPr>
            <a:xfrm>
              <a:off x="5603422" y="4305300"/>
              <a:ext cx="267342" cy="1102529"/>
            </a:xfrm>
            <a:prstGeom prst="roundRect">
              <a:avLst/>
            </a:prstGeom>
            <a:solidFill>
              <a:srgbClr val="FFFFFF">
                <a:lumMod val="95000"/>
              </a:srgbClr>
            </a:solidFill>
            <a:ln w="19050" cap="flat" cmpd="sng" algn="ctr">
              <a:solidFill>
                <a:srgbClr val="000000">
                  <a:lumMod val="50000"/>
                  <a:lumOff val="50000"/>
                </a:srgbClr>
              </a:solidFill>
              <a:prstDash val="solid"/>
            </a:ln>
            <a:effectLst/>
          </p:spPr>
          <p:txBody>
            <a:bodyPr vert="eaVert"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400" b="1" i="0" u="none" strike="noStrike" kern="0" cap="none" spc="0" normalizeH="0" baseline="0" noProof="0" dirty="0">
                  <a:ln>
                    <a:noFill/>
                  </a:ln>
                  <a:solidFill>
                    <a:srgbClr val="000000">
                      <a:lumMod val="50000"/>
                      <a:lumOff val="50000"/>
                    </a:srgbClr>
                  </a:solidFill>
                  <a:effectLst/>
                  <a:uLnTx/>
                  <a:uFillTx/>
                  <a:latin typeface="+mn-ea"/>
                  <a:cs typeface="+mn-cs"/>
                </a:rPr>
                <a:t>社内ユーザー</a:t>
              </a:r>
            </a:p>
          </p:txBody>
        </p:sp>
        <p:cxnSp>
          <p:nvCxnSpPr>
            <p:cNvPr id="153" name="直線矢印コネクタ 152">
              <a:extLst>
                <a:ext uri="{FF2B5EF4-FFF2-40B4-BE49-F238E27FC236}">
                  <a16:creationId xmlns:a16="http://schemas.microsoft.com/office/drawing/2014/main" id="{5BBF7E2A-AF0C-1D74-263F-906776A81D50}"/>
                </a:ext>
              </a:extLst>
            </p:cNvPr>
            <p:cNvCxnSpPr>
              <a:cxnSpLocks/>
              <a:stCxn id="152" idx="1"/>
            </p:cNvCxnSpPr>
            <p:nvPr/>
          </p:nvCxnSpPr>
          <p:spPr>
            <a:xfrm flipH="1" flipV="1">
              <a:off x="5150209" y="4849308"/>
              <a:ext cx="453213" cy="7257"/>
            </a:xfrm>
            <a:prstGeom prst="straightConnector1">
              <a:avLst/>
            </a:prstGeom>
            <a:noFill/>
            <a:ln w="9525" cap="flat" cmpd="sng" algn="ctr">
              <a:solidFill>
                <a:srgbClr val="5A8BBC">
                  <a:shade val="95000"/>
                  <a:satMod val="105000"/>
                </a:srgbClr>
              </a:solidFill>
              <a:prstDash val="solid"/>
              <a:tailEnd type="triangle"/>
            </a:ln>
            <a:effectLst/>
          </p:spPr>
        </p:cxnSp>
        <p:cxnSp>
          <p:nvCxnSpPr>
            <p:cNvPr id="154" name="直線矢印コネクタ 153">
              <a:extLst>
                <a:ext uri="{FF2B5EF4-FFF2-40B4-BE49-F238E27FC236}">
                  <a16:creationId xmlns:a16="http://schemas.microsoft.com/office/drawing/2014/main" id="{5D3EBE37-6294-EFB5-5DC1-2160C6B197A7}"/>
                </a:ext>
              </a:extLst>
            </p:cNvPr>
            <p:cNvCxnSpPr>
              <a:cxnSpLocks/>
              <a:stCxn id="152" idx="1"/>
            </p:cNvCxnSpPr>
            <p:nvPr/>
          </p:nvCxnSpPr>
          <p:spPr>
            <a:xfrm flipH="1" flipV="1">
              <a:off x="4793066" y="4055349"/>
              <a:ext cx="810356" cy="801216"/>
            </a:xfrm>
            <a:prstGeom prst="straightConnector1">
              <a:avLst/>
            </a:prstGeom>
            <a:noFill/>
            <a:ln w="9525" cap="flat" cmpd="sng" algn="ctr">
              <a:solidFill>
                <a:srgbClr val="5A8BBC">
                  <a:shade val="95000"/>
                  <a:satMod val="105000"/>
                </a:srgbClr>
              </a:solidFill>
              <a:prstDash val="solid"/>
              <a:tailEnd type="triangle"/>
            </a:ln>
            <a:effectLst/>
          </p:spPr>
        </p:cxnSp>
        <p:sp>
          <p:nvSpPr>
            <p:cNvPr id="155" name="正方形/長方形 154">
              <a:extLst>
                <a:ext uri="{FF2B5EF4-FFF2-40B4-BE49-F238E27FC236}">
                  <a16:creationId xmlns:a16="http://schemas.microsoft.com/office/drawing/2014/main" id="{3B30AC37-85E2-C56D-1A3E-ECAC09836671}"/>
                </a:ext>
              </a:extLst>
            </p:cNvPr>
            <p:cNvSpPr/>
            <p:nvPr/>
          </p:nvSpPr>
          <p:spPr>
            <a:xfrm>
              <a:off x="4915070" y="4956101"/>
              <a:ext cx="687451" cy="192737"/>
            </a:xfrm>
            <a:prstGeom prst="rect">
              <a:avLst/>
            </a:prstGeom>
            <a:solidFill>
              <a:srgbClr val="FFFFFF"/>
            </a:solidFill>
            <a:ln w="9525" cap="flat" cmpd="sng" algn="ctr">
              <a:noFill/>
              <a:prstDash val="solid"/>
            </a:ln>
            <a:effectLst/>
          </p:spPr>
          <p:txBody>
            <a:bodyPr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900" b="0" i="0" u="none" strike="noStrike" kern="0" cap="none" spc="0" normalizeH="0" baseline="0" noProof="0">
                  <a:ln>
                    <a:noFill/>
                  </a:ln>
                  <a:solidFill>
                    <a:srgbClr val="337EBC"/>
                  </a:solidFill>
                  <a:effectLst/>
                  <a:uLnTx/>
                  <a:uFillTx/>
                  <a:latin typeface="+mn-ea"/>
                  <a:cs typeface="+mn-cs"/>
                </a:rPr>
                <a:t>ホストデータ</a:t>
              </a:r>
              <a:br>
                <a:rPr kumimoji="0" lang="en-US" altLang="ja-JP" sz="900" b="0" i="0" u="none" strike="noStrike" kern="0" cap="none" spc="0" normalizeH="0" baseline="0" noProof="0">
                  <a:ln>
                    <a:noFill/>
                  </a:ln>
                  <a:solidFill>
                    <a:srgbClr val="337EBC"/>
                  </a:solidFill>
                  <a:effectLst/>
                  <a:uLnTx/>
                  <a:uFillTx/>
                  <a:latin typeface="+mn-ea"/>
                  <a:cs typeface="+mn-cs"/>
                </a:rPr>
              </a:br>
              <a:r>
                <a:rPr kumimoji="0" lang="ja-JP" altLang="en-US" sz="900" b="0" i="0" u="none" strike="noStrike" kern="0" cap="none" spc="0" normalizeH="0" baseline="0" noProof="0">
                  <a:ln>
                    <a:noFill/>
                  </a:ln>
                  <a:solidFill>
                    <a:srgbClr val="337EBC"/>
                  </a:solidFill>
                  <a:effectLst/>
                  <a:uLnTx/>
                  <a:uFillTx/>
                  <a:latin typeface="+mn-ea"/>
                  <a:cs typeface="+mn-cs"/>
                </a:rPr>
                <a:t>直接参照</a:t>
              </a:r>
            </a:p>
          </p:txBody>
        </p:sp>
        <p:grpSp>
          <p:nvGrpSpPr>
            <p:cNvPr id="175" name="グループ化 174">
              <a:extLst>
                <a:ext uri="{FF2B5EF4-FFF2-40B4-BE49-F238E27FC236}">
                  <a16:creationId xmlns:a16="http://schemas.microsoft.com/office/drawing/2014/main" id="{94267A1F-2C9F-1E79-AAF1-697E18F1EBD4}"/>
                </a:ext>
              </a:extLst>
            </p:cNvPr>
            <p:cNvGrpSpPr/>
            <p:nvPr/>
          </p:nvGrpSpPr>
          <p:grpSpPr>
            <a:xfrm>
              <a:off x="1285785" y="4063758"/>
              <a:ext cx="464834" cy="2249178"/>
              <a:chOff x="921546" y="4053228"/>
              <a:chExt cx="474751" cy="2952474"/>
            </a:xfrm>
          </p:grpSpPr>
          <p:sp>
            <p:nvSpPr>
              <p:cNvPr id="190" name="正方形/長方形 189">
                <a:extLst>
                  <a:ext uri="{FF2B5EF4-FFF2-40B4-BE49-F238E27FC236}">
                    <a16:creationId xmlns:a16="http://schemas.microsoft.com/office/drawing/2014/main" id="{9B5F968B-9AE4-F89D-A3E0-3BCEB9EEEDE5}"/>
                  </a:ext>
                </a:extLst>
              </p:cNvPr>
              <p:cNvSpPr/>
              <p:nvPr/>
            </p:nvSpPr>
            <p:spPr bwMode="auto">
              <a:xfrm>
                <a:off x="921546" y="4053228"/>
                <a:ext cx="474751" cy="2952474"/>
              </a:xfrm>
              <a:prstGeom prst="rect">
                <a:avLst/>
              </a:prstGeom>
              <a:solidFill>
                <a:srgbClr val="FFFFFF"/>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333333"/>
                    </a:solidFill>
                    <a:effectLst/>
                    <a:uLnTx/>
                    <a:uFillTx/>
                    <a:latin typeface="+mn-ea"/>
                    <a:cs typeface="Malgun Gothic Semilight" panose="020B0502040204020203" pitchFamily="50" charset="-128"/>
                  </a:rPr>
                  <a:t>制御系</a:t>
                </a:r>
                <a:endParaRPr kumimoji="0" lang="en-US" altLang="ja-JP" sz="12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191" name="正方形/長方形 190">
                <a:extLst>
                  <a:ext uri="{FF2B5EF4-FFF2-40B4-BE49-F238E27FC236}">
                    <a16:creationId xmlns:a16="http://schemas.microsoft.com/office/drawing/2014/main" id="{713AEB96-16E1-85F9-FE15-24175B3EFB50}"/>
                  </a:ext>
                </a:extLst>
              </p:cNvPr>
              <p:cNvSpPr/>
              <p:nvPr/>
            </p:nvSpPr>
            <p:spPr bwMode="auto">
              <a:xfrm>
                <a:off x="1003595" y="4463159"/>
                <a:ext cx="339900" cy="695585"/>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192" name="正方形/長方形 191">
                <a:extLst>
                  <a:ext uri="{FF2B5EF4-FFF2-40B4-BE49-F238E27FC236}">
                    <a16:creationId xmlns:a16="http://schemas.microsoft.com/office/drawing/2014/main" id="{261EAF03-DF12-789C-5C01-C6010312E56B}"/>
                  </a:ext>
                </a:extLst>
              </p:cNvPr>
              <p:cNvSpPr/>
              <p:nvPr/>
            </p:nvSpPr>
            <p:spPr bwMode="auto">
              <a:xfrm>
                <a:off x="1003595" y="5324963"/>
                <a:ext cx="339900" cy="695585"/>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sp>
            <p:nvSpPr>
              <p:cNvPr id="193" name="正方形/長方形 192">
                <a:extLst>
                  <a:ext uri="{FF2B5EF4-FFF2-40B4-BE49-F238E27FC236}">
                    <a16:creationId xmlns:a16="http://schemas.microsoft.com/office/drawing/2014/main" id="{9DE98A5E-9BA2-2550-C9F2-FD9FEDF83E34}"/>
                  </a:ext>
                </a:extLst>
              </p:cNvPr>
              <p:cNvSpPr/>
              <p:nvPr/>
            </p:nvSpPr>
            <p:spPr bwMode="auto">
              <a:xfrm>
                <a:off x="1003595" y="6147465"/>
                <a:ext cx="339900" cy="695585"/>
              </a:xfrm>
              <a:prstGeom prst="rect">
                <a:avLst/>
              </a:prstGeom>
              <a:solidFill>
                <a:srgbClr val="C0504D">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1"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grpSp>
        <p:sp>
          <p:nvSpPr>
            <p:cNvPr id="176" name="正方形/長方形 175">
              <a:extLst>
                <a:ext uri="{FF2B5EF4-FFF2-40B4-BE49-F238E27FC236}">
                  <a16:creationId xmlns:a16="http://schemas.microsoft.com/office/drawing/2014/main" id="{77C7F9F8-9694-7921-7CB2-F247F60E4F24}"/>
                </a:ext>
              </a:extLst>
            </p:cNvPr>
            <p:cNvSpPr/>
            <p:nvPr/>
          </p:nvSpPr>
          <p:spPr bwMode="auto">
            <a:xfrm>
              <a:off x="996136" y="3240555"/>
              <a:ext cx="391362" cy="881367"/>
            </a:xfrm>
            <a:prstGeom prst="rect">
              <a:avLst/>
            </a:prstGeom>
            <a:solidFill>
              <a:srgbClr val="337EBC">
                <a:lumMod val="20000"/>
                <a:lumOff val="80000"/>
              </a:srgbClr>
            </a:solidFill>
            <a:ln w="9525" cap="flat" cmpd="sng" algn="ctr">
              <a:solidFill>
                <a:srgbClr val="FFFFFF">
                  <a:lumMod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333333"/>
                  </a:solidFill>
                  <a:effectLst/>
                  <a:uLnTx/>
                  <a:uFillTx/>
                  <a:latin typeface="+mn-ea"/>
                  <a:cs typeface="Malgun Gothic Semilight" panose="020B0502040204020203" pitchFamily="50" charset="-128"/>
                </a:rPr>
                <a:t>時価</a:t>
              </a:r>
              <a:br>
                <a:rPr kumimoji="0" lang="en-US" altLang="ja-JP" sz="1000" b="0" i="0" u="none" strike="noStrike" kern="0" cap="none" spc="0" normalizeH="0" baseline="0" noProof="0">
                  <a:ln>
                    <a:noFill/>
                  </a:ln>
                  <a:solidFill>
                    <a:srgbClr val="333333"/>
                  </a:solidFill>
                  <a:effectLst/>
                  <a:uLnTx/>
                  <a:uFillTx/>
                  <a:latin typeface="+mn-ea"/>
                  <a:cs typeface="Malgun Gothic Semilight" panose="020B0502040204020203" pitchFamily="50" charset="-128"/>
                </a:rPr>
              </a:br>
              <a:r>
                <a:rPr kumimoji="0" lang="ja-JP" altLang="en-US" sz="1000" b="0" i="0" u="none" strike="noStrike" kern="0" cap="none" spc="0" normalizeH="0" baseline="0" noProof="0">
                  <a:ln>
                    <a:noFill/>
                  </a:ln>
                  <a:solidFill>
                    <a:srgbClr val="333333"/>
                  </a:solidFill>
                  <a:effectLst/>
                  <a:uLnTx/>
                  <a:uFillTx/>
                  <a:latin typeface="+mn-ea"/>
                  <a:cs typeface="Malgun Gothic Semilight" panose="020B0502040204020203" pitchFamily="50" charset="-128"/>
                </a:rPr>
                <a:t>リソース</a:t>
              </a:r>
              <a:endParaRPr kumimoji="0" lang="en-US" altLang="ja-JP" sz="1000" b="0" i="0" u="none" strike="noStrike" kern="0" cap="none" spc="0" normalizeH="0" baseline="0" noProof="0">
                <a:ln>
                  <a:noFill/>
                </a:ln>
                <a:solidFill>
                  <a:srgbClr val="333333"/>
                </a:solidFill>
                <a:effectLst/>
                <a:uLnTx/>
                <a:uFillTx/>
                <a:latin typeface="+mn-ea"/>
                <a:cs typeface="Malgun Gothic Semilight" panose="020B0502040204020203" pitchFamily="50" charset="-128"/>
              </a:endParaRPr>
            </a:p>
          </p:txBody>
        </p:sp>
        <p:grpSp>
          <p:nvGrpSpPr>
            <p:cNvPr id="200" name="グループ化 199">
              <a:extLst>
                <a:ext uri="{FF2B5EF4-FFF2-40B4-BE49-F238E27FC236}">
                  <a16:creationId xmlns:a16="http://schemas.microsoft.com/office/drawing/2014/main" id="{C0D93260-D65A-5E99-CBF9-122F9A4CC24C}"/>
                </a:ext>
              </a:extLst>
            </p:cNvPr>
            <p:cNvGrpSpPr/>
            <p:nvPr/>
          </p:nvGrpSpPr>
          <p:grpSpPr bwMode="gray">
            <a:xfrm>
              <a:off x="488504" y="1558647"/>
              <a:ext cx="5366196" cy="212458"/>
              <a:chOff x="581184" y="1572445"/>
              <a:chExt cx="1395099" cy="226274"/>
            </a:xfrm>
          </p:grpSpPr>
          <p:cxnSp>
            <p:nvCxnSpPr>
              <p:cNvPr id="201" name="直線コネクタ 200">
                <a:extLst>
                  <a:ext uri="{FF2B5EF4-FFF2-40B4-BE49-F238E27FC236}">
                    <a16:creationId xmlns:a16="http://schemas.microsoft.com/office/drawing/2014/main" id="{D57D93D4-4B2A-8954-B149-9D24048BD242}"/>
                  </a:ext>
                </a:extLst>
              </p:cNvPr>
              <p:cNvCxnSpPr>
                <a:cxnSpLocks/>
              </p:cNvCxnSpPr>
              <p:nvPr/>
            </p:nvCxnSpPr>
            <p:spPr bwMode="gray">
              <a:xfrm>
                <a:off x="581184" y="1798719"/>
                <a:ext cx="1395099" cy="0"/>
              </a:xfrm>
              <a:prstGeom prst="line">
                <a:avLst/>
              </a:prstGeom>
              <a:noFill/>
              <a:ln w="9525" cap="flat" cmpd="sng" algn="ctr">
                <a:solidFill>
                  <a:srgbClr val="FFFFFF">
                    <a:lumMod val="50000"/>
                  </a:srgbClr>
                </a:solidFill>
                <a:prstDash val="solid"/>
                <a:tailEnd type="none"/>
              </a:ln>
              <a:effectLst/>
            </p:spPr>
          </p:cxnSp>
          <p:sp>
            <p:nvSpPr>
              <p:cNvPr id="202" name="正方形/長方形 201">
                <a:extLst>
                  <a:ext uri="{FF2B5EF4-FFF2-40B4-BE49-F238E27FC236}">
                    <a16:creationId xmlns:a16="http://schemas.microsoft.com/office/drawing/2014/main" id="{218371FB-8F8F-39F1-9180-6239610FE671}"/>
                  </a:ext>
                </a:extLst>
              </p:cNvPr>
              <p:cNvSpPr/>
              <p:nvPr/>
            </p:nvSpPr>
            <p:spPr bwMode="gray">
              <a:xfrm>
                <a:off x="609347" y="1572445"/>
                <a:ext cx="1338772" cy="21713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18000" tIns="18000" rIns="18000" bIns="1800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400" b="1" i="0" u="none" strike="noStrike" kern="0" cap="none" spc="0" normalizeH="0" baseline="0" noProof="0" dirty="0">
                    <a:ln>
                      <a:noFill/>
                    </a:ln>
                    <a:solidFill>
                      <a:srgbClr val="000000"/>
                    </a:solidFill>
                    <a:effectLst/>
                    <a:uLnTx/>
                    <a:uFillTx/>
                    <a:latin typeface="+mn-ea"/>
                  </a:rPr>
                  <a:t>現行システム構成図</a:t>
                </a:r>
                <a:endParaRPr kumimoji="0" lang="en-US" altLang="ja-JP" sz="1400" b="1" i="0" u="none" strike="noStrike" kern="0" cap="none" spc="0" normalizeH="0" baseline="0" noProof="0" dirty="0">
                  <a:ln>
                    <a:noFill/>
                  </a:ln>
                  <a:solidFill>
                    <a:srgbClr val="000000"/>
                  </a:solidFill>
                  <a:effectLst/>
                  <a:uLnTx/>
                  <a:uFillTx/>
                  <a:latin typeface="+mn-ea"/>
                </a:endParaRPr>
              </a:p>
            </p:txBody>
          </p:sp>
        </p:grpSp>
      </p:grpSp>
    </p:spTree>
    <p:extLst>
      <p:ext uri="{BB962C8B-B14F-4D97-AF65-F5344CB8AC3E}">
        <p14:creationId xmlns:p14="http://schemas.microsoft.com/office/powerpoint/2010/main" val="30371583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43231-8DFB-3E73-EF26-AE67D3FA5CF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8F5EF5-7427-51E3-8726-EC763635027A}"/>
              </a:ext>
            </a:extLst>
          </p:cNvPr>
          <p:cNvSpPr>
            <a:spLocks noGrp="1"/>
          </p:cNvSpPr>
          <p:nvPr>
            <p:ph type="title"/>
          </p:nvPr>
        </p:nvSpPr>
        <p:spPr>
          <a:xfrm>
            <a:off x="489000" y="580348"/>
            <a:ext cx="8928000" cy="373311"/>
          </a:xfrm>
        </p:spPr>
        <p:txBody>
          <a:bodyPr/>
          <a:lstStyle/>
          <a:p>
            <a:r>
              <a:rPr lang="en-US" altLang="ja-JP" dirty="0"/>
              <a:t>4. </a:t>
            </a:r>
            <a:r>
              <a:rPr lang="ja-JP" altLang="en-US" dirty="0"/>
              <a:t>ホストオープン化（モダナイゼーション）～③</a:t>
            </a:r>
            <a:r>
              <a:rPr lang="en-US" altLang="ja-JP" dirty="0" err="1"/>
              <a:t>ToBe</a:t>
            </a:r>
            <a:r>
              <a:rPr lang="ja-JP" altLang="en-US" dirty="0"/>
              <a:t>方針</a:t>
            </a:r>
            <a:endParaRPr kumimoji="1" lang="ja-JP" altLang="en-US" dirty="0"/>
          </a:p>
        </p:txBody>
      </p:sp>
      <p:sp>
        <p:nvSpPr>
          <p:cNvPr id="3" name="テキスト プレースホルダー 2">
            <a:extLst>
              <a:ext uri="{FF2B5EF4-FFF2-40B4-BE49-F238E27FC236}">
                <a16:creationId xmlns:a16="http://schemas.microsoft.com/office/drawing/2014/main" id="{DE43DFCD-C76D-CFF1-C0F5-DEFFC599A549}"/>
              </a:ext>
            </a:extLst>
          </p:cNvPr>
          <p:cNvSpPr>
            <a:spLocks noGrp="1"/>
          </p:cNvSpPr>
          <p:nvPr>
            <p:ph type="body" idx="12"/>
          </p:nvPr>
        </p:nvSpPr>
        <p:spPr>
          <a:xfrm>
            <a:off x="488999" y="969722"/>
            <a:ext cx="9131121" cy="669414"/>
          </a:xfrm>
        </p:spPr>
        <p:txBody>
          <a:bodyPr/>
          <a:lstStyle/>
          <a:p>
            <a:r>
              <a:rPr kumimoji="1" lang="ja-JP" altLang="en-US" dirty="0"/>
              <a:t>オープン化を意識しつつ、優先度の高い領域からモダナイゼーションを進める方針で検討を進めています。</a:t>
            </a:r>
          </a:p>
        </p:txBody>
      </p:sp>
      <p:sp>
        <p:nvSpPr>
          <p:cNvPr id="4" name="テキスト プレースホルダー 3">
            <a:extLst>
              <a:ext uri="{FF2B5EF4-FFF2-40B4-BE49-F238E27FC236}">
                <a16:creationId xmlns:a16="http://schemas.microsoft.com/office/drawing/2014/main" id="{2710860B-E542-5858-08C1-887600085F07}"/>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grpSp>
        <p:nvGrpSpPr>
          <p:cNvPr id="140" name="グループ化 139">
            <a:extLst>
              <a:ext uri="{FF2B5EF4-FFF2-40B4-BE49-F238E27FC236}">
                <a16:creationId xmlns:a16="http://schemas.microsoft.com/office/drawing/2014/main" id="{1A88D3C5-76F0-5C39-BBFE-5990B970FA95}"/>
              </a:ext>
            </a:extLst>
          </p:cNvPr>
          <p:cNvGrpSpPr/>
          <p:nvPr/>
        </p:nvGrpSpPr>
        <p:grpSpPr>
          <a:xfrm>
            <a:off x="240135" y="1665667"/>
            <a:ext cx="4153731" cy="4742735"/>
            <a:chOff x="240136" y="1665667"/>
            <a:chExt cx="3633482" cy="4742735"/>
          </a:xfrm>
        </p:grpSpPr>
        <p:sp>
          <p:nvSpPr>
            <p:cNvPr id="14" name="正方形/長方形 13">
              <a:extLst>
                <a:ext uri="{FF2B5EF4-FFF2-40B4-BE49-F238E27FC236}">
                  <a16:creationId xmlns:a16="http://schemas.microsoft.com/office/drawing/2014/main" id="{8A8B5CC5-A372-AD10-FF6A-90550200A567}"/>
                </a:ext>
              </a:extLst>
            </p:cNvPr>
            <p:cNvSpPr/>
            <p:nvPr/>
          </p:nvSpPr>
          <p:spPr>
            <a:xfrm>
              <a:off x="240136" y="1665667"/>
              <a:ext cx="3633482" cy="196364"/>
            </a:xfrm>
            <a:prstGeom prst="rect">
              <a:avLst/>
            </a:prstGeom>
            <a:solidFill>
              <a:srgbClr val="000000">
                <a:lumMod val="50000"/>
                <a:lumOff val="50000"/>
              </a:srgbClr>
            </a:solidFill>
            <a:ln w="9525" cap="flat" cmpd="sng" algn="ctr">
              <a:noFill/>
              <a:prstDash val="solid"/>
            </a:ln>
            <a:effectLst>
              <a:outerShdw blurRad="50800" dist="38100" dir="2700000" algn="tl" rotWithShape="0">
                <a:prstClr val="black">
                  <a:alpha val="40000"/>
                </a:prstClr>
              </a:outerShdw>
            </a:effectLst>
          </p:spPr>
          <p:txBody>
            <a:bodyPr vert="horz" lIns="72000" tIns="72000" rIns="72000" bIns="7200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sz="1200" b="1" i="0" u="none" strike="noStrike" kern="0" cap="none" spc="0" normalizeH="0" baseline="0" noProof="0" err="1">
                  <a:ln>
                    <a:noFill/>
                  </a:ln>
                  <a:solidFill>
                    <a:srgbClr val="FFFFFF"/>
                  </a:solidFill>
                  <a:effectLst/>
                  <a:uLnTx/>
                  <a:uFillTx/>
                  <a:latin typeface="Meiryo UI" panose="020B0604030504040204" pitchFamily="50" charset="-128"/>
                  <a:ea typeface="Meiryo UI" panose="020B0604030504040204" pitchFamily="50" charset="-128"/>
                </a:rPr>
                <a:t>ToBe</a:t>
              </a:r>
              <a:r>
                <a:rPr kumimoji="0" lang="ja-JP" altLang="en-US" sz="12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基本方針策定の前提事項</a:t>
              </a:r>
            </a:p>
          </p:txBody>
        </p:sp>
        <p:sp>
          <p:nvSpPr>
            <p:cNvPr id="15" name="正方形/長方形 14">
              <a:extLst>
                <a:ext uri="{FF2B5EF4-FFF2-40B4-BE49-F238E27FC236}">
                  <a16:creationId xmlns:a16="http://schemas.microsoft.com/office/drawing/2014/main" id="{8B5A737E-061C-ACCA-92FB-75102B5DF0D1}"/>
                </a:ext>
              </a:extLst>
            </p:cNvPr>
            <p:cNvSpPr/>
            <p:nvPr/>
          </p:nvSpPr>
          <p:spPr bwMode="auto">
            <a:xfrm>
              <a:off x="240136" y="1923189"/>
              <a:ext cx="3633482" cy="4485213"/>
            </a:xfrm>
            <a:prstGeom prst="rect">
              <a:avLst/>
            </a:prstGeom>
            <a:solidFill>
              <a:srgbClr val="FFFFFF"/>
            </a:solidFill>
            <a:ln w="9525" cap="flat" cmpd="sng" algn="ctr">
              <a:solidFill>
                <a:srgbClr val="000000">
                  <a:lumMod val="50000"/>
                  <a:lumOff val="5000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72000" tIns="72000" rIns="72000" bIns="72000" numCol="1" rtlCol="0" anchor="t" anchorCtr="0" compatLnSpc="1">
              <a:prstTxWarp prst="textNoShape">
                <a:avLst/>
              </a:prstTxWarp>
              <a:noAutofit/>
            </a:bodyPr>
            <a:lstStyle/>
            <a:p>
              <a:pPr marL="0" marR="0" lvl="0" indent="0" defTabSz="995363" eaLnBrk="0" fontAlgn="base" latinLnBrk="0" hangingPunct="0">
                <a:lnSpc>
                  <a:spcPct val="100000"/>
                </a:lnSpc>
                <a:spcBef>
                  <a:spcPts val="1200"/>
                </a:spcBef>
                <a:spcAft>
                  <a:spcPct val="0"/>
                </a:spcAft>
                <a:buClrTx/>
                <a:buSzTx/>
                <a:buFontTx/>
                <a:buNone/>
                <a:tabLst/>
                <a:defRPr/>
              </a:pPr>
              <a:endPar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a:p>
              <a:pPr marL="216000" marR="0" lvl="0" indent="-216000" defTabSz="995363" eaLnBrk="0" fontAlgn="base" latinLnBrk="0" hangingPunct="0">
                <a:lnSpc>
                  <a:spcPct val="100000"/>
                </a:lnSpc>
                <a:spcBef>
                  <a:spcPts val="0"/>
                </a:spcBef>
                <a:spcAft>
                  <a:spcPct val="0"/>
                </a:spcAft>
                <a:buClrTx/>
                <a:buSzTx/>
                <a:buFont typeface="+mj-lt"/>
                <a:buAutoNum type="arabicPeriod"/>
                <a:tabLst/>
                <a:defRPr/>
              </a:pP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今後</a:t>
              </a:r>
              <a:r>
                <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10</a:t>
              </a: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年後を目途にホストシステムの一部オープン化・スリム化を進め、</a:t>
              </a:r>
              <a:r>
                <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20</a:t>
              </a: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年後の脱ホストを選択可能な</a:t>
              </a:r>
              <a:br>
                <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b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状態を目指す</a:t>
              </a:r>
              <a:endPar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a:p>
              <a:pPr marL="216000" marR="0" lvl="0" indent="-216000" defTabSz="995363" eaLnBrk="0" fontAlgn="base" latinLnBrk="0" hangingPunct="0">
                <a:lnSpc>
                  <a:spcPct val="100000"/>
                </a:lnSpc>
                <a:spcBef>
                  <a:spcPts val="600"/>
                </a:spcBef>
                <a:spcAft>
                  <a:spcPct val="0"/>
                </a:spcAft>
                <a:buClrTx/>
                <a:buSzTx/>
                <a:buFont typeface="+mj-lt"/>
                <a:buAutoNum type="arabicPeriod"/>
                <a:tabLst/>
                <a:defRPr/>
              </a:pP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ビジネスニーズへの対応を優先した上で、システム</a:t>
              </a:r>
              <a:br>
                <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b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維持リスクもふまえて、オープン化のタイミングを検討</a:t>
              </a:r>
              <a:endPar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a:p>
              <a:pPr marL="216000" marR="0" lvl="0" indent="-216000" defTabSz="995363" eaLnBrk="0" fontAlgn="base" latinLnBrk="0" hangingPunct="0">
                <a:lnSpc>
                  <a:spcPct val="100000"/>
                </a:lnSpc>
                <a:spcBef>
                  <a:spcPts val="600"/>
                </a:spcBef>
                <a:spcAft>
                  <a:spcPct val="0"/>
                </a:spcAft>
                <a:buClrTx/>
                <a:buSzTx/>
                <a:buFont typeface="+mj-lt"/>
                <a:buAutoNum type="arabicPeriod"/>
                <a:tabLst/>
                <a:defRPr/>
              </a:pP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オープン化と機能再編・改修を同時に実施することは</a:t>
              </a:r>
              <a:br>
                <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b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リスクが高いため、極力切り分けて対応を検討</a:t>
              </a:r>
              <a:endPar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a:p>
              <a:pPr marL="216000" marR="0" lvl="0" indent="-216000" defTabSz="995363" eaLnBrk="0" fontAlgn="base" latinLnBrk="0" hangingPunct="0">
                <a:lnSpc>
                  <a:spcPct val="100000"/>
                </a:lnSpc>
                <a:spcBef>
                  <a:spcPts val="600"/>
                </a:spcBef>
                <a:spcAft>
                  <a:spcPct val="0"/>
                </a:spcAft>
                <a:buClrTx/>
                <a:buSzTx/>
                <a:buFont typeface="+mj-lt"/>
                <a:buAutoNum type="arabicPeriod"/>
                <a:tabLst/>
                <a:defRPr/>
              </a:pP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オープン化前にホストシステムを改修する場合、</a:t>
              </a:r>
              <a:br>
                <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b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オープン化の難度が上がることを回避するために、</a:t>
              </a:r>
              <a:br>
                <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b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ホスト　システムが複雑化するような対応はしない</a:t>
              </a:r>
              <a:endPar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a:p>
              <a:pPr marL="0" marR="0" lvl="0" indent="0" defTabSz="995363" eaLnBrk="0" fontAlgn="base" latinLnBrk="0" hangingPunct="0">
                <a:lnSpc>
                  <a:spcPct val="100000"/>
                </a:lnSpc>
                <a:spcBef>
                  <a:spcPts val="2400"/>
                </a:spcBef>
                <a:spcAft>
                  <a:spcPct val="0"/>
                </a:spcAft>
                <a:buClrTx/>
                <a:buSzTx/>
                <a:buFontTx/>
                <a:buNone/>
                <a:tabLst/>
                <a:defRPr/>
              </a:pP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　今回の基本方針においては、以下の対応パターンを</a:t>
              </a:r>
              <a:br>
                <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b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　　  想定し検討</a:t>
              </a:r>
              <a:endPar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a:p>
              <a:pPr marL="360000" marR="0" lvl="1" indent="-252000" defTabSz="995363" eaLnBrk="0" fontAlgn="base" latinLnBrk="0" hangingPunct="0">
                <a:lnSpc>
                  <a:spcPct val="100000"/>
                </a:lnSpc>
                <a:spcBef>
                  <a:spcPts val="1200"/>
                </a:spcBef>
                <a:spcAft>
                  <a:spcPct val="0"/>
                </a:spcAft>
                <a:buClrTx/>
                <a:buSzTx/>
                <a:buFont typeface="+mj-ea"/>
                <a:buAutoNum type="circleNumDbPlain"/>
                <a:tabLst/>
                <a:defRPr/>
              </a:pP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オープン化前に現行ホストシステムを改修して対応</a:t>
              </a:r>
              <a:endPar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a:p>
              <a:pPr marL="360000" marR="0" lvl="1" indent="-252000" defTabSz="995363" eaLnBrk="0" fontAlgn="base" latinLnBrk="0" hangingPunct="0">
                <a:lnSpc>
                  <a:spcPct val="100000"/>
                </a:lnSpc>
                <a:spcBef>
                  <a:spcPts val="300"/>
                </a:spcBef>
                <a:spcAft>
                  <a:spcPct val="0"/>
                </a:spcAft>
                <a:buClrTx/>
                <a:buSzTx/>
                <a:buFont typeface="+mj-ea"/>
                <a:buAutoNum type="circleNumDbPlain"/>
                <a:tabLst/>
                <a:defRPr/>
              </a:pP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オープン化にて対応</a:t>
              </a:r>
              <a:endPar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a:p>
              <a:pPr marL="360000" marR="0" lvl="1" indent="-252000" defTabSz="995363" eaLnBrk="0" fontAlgn="base" latinLnBrk="0" hangingPunct="0">
                <a:lnSpc>
                  <a:spcPct val="100000"/>
                </a:lnSpc>
                <a:spcBef>
                  <a:spcPts val="300"/>
                </a:spcBef>
                <a:spcAft>
                  <a:spcPct val="0"/>
                </a:spcAft>
                <a:buClrTx/>
                <a:buSzTx/>
                <a:buFont typeface="+mj-ea"/>
                <a:buAutoNum type="circleNumDbPlain"/>
                <a:tabLst/>
                <a:defRPr/>
              </a:pP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オープン化後に分散環境で対応</a:t>
              </a:r>
              <a:endPar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a:p>
              <a:pPr marL="360000" marR="0" lvl="1" indent="-252000" defTabSz="995363" eaLnBrk="0" fontAlgn="base" latinLnBrk="0" hangingPunct="0">
                <a:lnSpc>
                  <a:spcPct val="100000"/>
                </a:lnSpc>
                <a:spcBef>
                  <a:spcPts val="300"/>
                </a:spcBef>
                <a:spcAft>
                  <a:spcPct val="0"/>
                </a:spcAft>
                <a:buClrTx/>
                <a:buSzTx/>
                <a:buFont typeface="+mj-ea"/>
                <a:buAutoNum type="circleNumDbPlain"/>
                <a:tabLst/>
                <a:defRPr/>
              </a:pPr>
              <a:r>
                <a:rPr kumimoji="0" lang="ja-JP" altLang="en-US"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現行システムとは別に新規システム構築して対応</a:t>
              </a:r>
              <a:endParaRPr kumimoji="0" lang="en-US" altLang="ja-JP" sz="11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p:txBody>
        </p:sp>
      </p:grpSp>
      <p:sp>
        <p:nvSpPr>
          <p:cNvPr id="111" name="正方形/長方形 110">
            <a:extLst>
              <a:ext uri="{FF2B5EF4-FFF2-40B4-BE49-F238E27FC236}">
                <a16:creationId xmlns:a16="http://schemas.microsoft.com/office/drawing/2014/main" id="{9DB22813-C5AD-AAF6-21BC-E79689F3E5AC}"/>
              </a:ext>
            </a:extLst>
          </p:cNvPr>
          <p:cNvSpPr/>
          <p:nvPr/>
        </p:nvSpPr>
        <p:spPr>
          <a:xfrm>
            <a:off x="4586704" y="1665667"/>
            <a:ext cx="4896475" cy="252000"/>
          </a:xfrm>
          <a:prstGeom prst="rect">
            <a:avLst/>
          </a:prstGeom>
          <a:solidFill>
            <a:srgbClr val="E60000"/>
          </a:solidFill>
          <a:ln w="9525" cap="flat" cmpd="sng" algn="ctr">
            <a:noFill/>
            <a:prstDash val="solid"/>
          </a:ln>
          <a:effectLst/>
        </p:spPr>
        <p:txBody>
          <a:bodyPr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50" charset="-128"/>
                <a:cs typeface="+mn-cs"/>
              </a:rPr>
              <a:t>システム</a:t>
            </a:r>
          </a:p>
        </p:txBody>
      </p:sp>
      <p:sp>
        <p:nvSpPr>
          <p:cNvPr id="118" name="正方形/長方形 117">
            <a:extLst>
              <a:ext uri="{FF2B5EF4-FFF2-40B4-BE49-F238E27FC236}">
                <a16:creationId xmlns:a16="http://schemas.microsoft.com/office/drawing/2014/main" id="{D8349B8C-E012-A01A-1015-37131E526FD5}"/>
              </a:ext>
            </a:extLst>
          </p:cNvPr>
          <p:cNvSpPr/>
          <p:nvPr/>
        </p:nvSpPr>
        <p:spPr bwMode="auto">
          <a:xfrm>
            <a:off x="4940487" y="1990610"/>
            <a:ext cx="804420" cy="2123999"/>
          </a:xfrm>
          <a:prstGeom prst="rect">
            <a:avLst/>
          </a:prstGeom>
          <a:solidFill>
            <a:srgbClr val="DC5A5B">
              <a:lumMod val="20000"/>
              <a:lumOff val="80000"/>
            </a:srgbClr>
          </a:solidFill>
          <a:ln w="9525"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サービスの</a:t>
            </a: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安定稼働と</a:t>
            </a:r>
            <a:br>
              <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b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維持</a:t>
            </a:r>
          </a:p>
        </p:txBody>
      </p:sp>
      <p:sp>
        <p:nvSpPr>
          <p:cNvPr id="119" name="正方形/長方形 118">
            <a:extLst>
              <a:ext uri="{FF2B5EF4-FFF2-40B4-BE49-F238E27FC236}">
                <a16:creationId xmlns:a16="http://schemas.microsoft.com/office/drawing/2014/main" id="{5C6D484C-6BE7-117B-78C2-638875F3DCE4}"/>
              </a:ext>
            </a:extLst>
          </p:cNvPr>
          <p:cNvSpPr/>
          <p:nvPr/>
        </p:nvSpPr>
        <p:spPr bwMode="auto">
          <a:xfrm>
            <a:off x="5816660" y="1990610"/>
            <a:ext cx="3666519" cy="2123999"/>
          </a:xfrm>
          <a:prstGeom prst="rect">
            <a:avLst/>
          </a:prstGeom>
          <a:solidFill>
            <a:srgbClr val="FFFFFF"/>
          </a:solidFill>
          <a:ln w="6350" cap="flat" cmpd="sng" algn="ctr">
            <a:solidFill>
              <a:srgbClr val="FFFFFF">
                <a:lumMod val="75000"/>
              </a:srgb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noAutofit/>
          </a:bodyPr>
          <a:lstStyle/>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レガシー技術</a:t>
            </a:r>
            <a:r>
              <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a:t>
            </a: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社内独自技術からの脱却</a:t>
            </a: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安定的な開発技術者の確保</a:t>
            </a: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ベンダーロックインの排除による</a:t>
            </a:r>
            <a:br>
              <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b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製品サービス継続リスクの解消</a:t>
            </a:r>
            <a:br>
              <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b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業量拡大に向けたキャパシティ確保と</a:t>
            </a:r>
            <a:br>
              <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b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レジリエンス向上</a:t>
            </a: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0" marR="0" lvl="0" indent="0" defTabSz="995363" eaLnBrk="0" fontAlgn="base" latinLnBrk="0" hangingPunct="0">
              <a:lnSpc>
                <a:spcPct val="100000"/>
              </a:lnSpc>
              <a:spcBef>
                <a:spcPct val="0"/>
              </a:spcBef>
              <a:spcAft>
                <a:spcPct val="0"/>
              </a:spcAft>
              <a:buClrTx/>
              <a:buSzTx/>
              <a:buFontTx/>
              <a:buNone/>
              <a:tabLst/>
              <a:defRPr/>
            </a:pP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p:txBody>
      </p:sp>
      <p:sp>
        <p:nvSpPr>
          <p:cNvPr id="120" name="正方形/長方形 119">
            <a:extLst>
              <a:ext uri="{FF2B5EF4-FFF2-40B4-BE49-F238E27FC236}">
                <a16:creationId xmlns:a16="http://schemas.microsoft.com/office/drawing/2014/main" id="{112BB1DC-A05C-50A5-4A57-228FA3EAA4C0}"/>
              </a:ext>
            </a:extLst>
          </p:cNvPr>
          <p:cNvSpPr/>
          <p:nvPr/>
        </p:nvSpPr>
        <p:spPr bwMode="auto">
          <a:xfrm>
            <a:off x="4940487" y="4185480"/>
            <a:ext cx="804420" cy="2123999"/>
          </a:xfrm>
          <a:prstGeom prst="rect">
            <a:avLst/>
          </a:prstGeom>
          <a:solidFill>
            <a:srgbClr val="DC5A5B">
              <a:lumMod val="20000"/>
              <a:lumOff val="80000"/>
            </a:srgbClr>
          </a:solidFill>
          <a:ln w="9525"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コスト</a:t>
            </a:r>
            <a:br>
              <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b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構造改革</a:t>
            </a:r>
          </a:p>
        </p:txBody>
      </p:sp>
      <p:sp>
        <p:nvSpPr>
          <p:cNvPr id="121" name="正方形/長方形 120">
            <a:extLst>
              <a:ext uri="{FF2B5EF4-FFF2-40B4-BE49-F238E27FC236}">
                <a16:creationId xmlns:a16="http://schemas.microsoft.com/office/drawing/2014/main" id="{50BC8EB5-D8E6-43CA-BD2B-8305DABAB890}"/>
              </a:ext>
            </a:extLst>
          </p:cNvPr>
          <p:cNvSpPr/>
          <p:nvPr/>
        </p:nvSpPr>
        <p:spPr bwMode="auto">
          <a:xfrm>
            <a:off x="5816660" y="4185480"/>
            <a:ext cx="3666519" cy="2123999"/>
          </a:xfrm>
          <a:prstGeom prst="rect">
            <a:avLst/>
          </a:prstGeom>
          <a:solidFill>
            <a:srgbClr val="FFFFFF"/>
          </a:solidFill>
          <a:ln w="6350" cap="flat" cmpd="sng" algn="ctr">
            <a:solidFill>
              <a:srgbClr val="FFFFFF">
                <a:lumMod val="75000"/>
              </a:srgb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noAutofit/>
          </a:bodyPr>
          <a:lstStyle/>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ホストシステムのコスト上昇リスクの抑制</a:t>
            </a: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複雑化・肥大化した機能等のスリム化による</a:t>
            </a:r>
            <a:br>
              <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b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保守コスト低減</a:t>
            </a: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a:p>
            <a:pPr marL="228600" marR="0" lvl="0" indent="-228600" defTabSz="995363" eaLnBrk="0" fontAlgn="base" latinLnBrk="0" hangingPunct="0">
              <a:lnSpc>
                <a:spcPct val="100000"/>
              </a:lnSpc>
              <a:spcBef>
                <a:spcPct val="0"/>
              </a:spcBef>
              <a:spcAft>
                <a:spcPct val="0"/>
              </a:spcAft>
              <a:buClrTx/>
              <a:buSzTx/>
              <a:buFont typeface="+mj-lt"/>
              <a:buAutoNum type="arabicPeriod"/>
              <a:tabLst/>
              <a:defRPr/>
            </a:pPr>
            <a:r>
              <a:rPr kumimoji="0" lang="ja-JP" altLang="en-US"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開発生産性の向上により、将来の開発コスト低減</a:t>
            </a:r>
            <a:endParaRPr kumimoji="0" lang="en-US" altLang="ja-JP" sz="1200" b="1"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endParaRPr>
          </a:p>
        </p:txBody>
      </p:sp>
      <p:sp>
        <p:nvSpPr>
          <p:cNvPr id="130" name="正方形/長方形 129">
            <a:extLst>
              <a:ext uri="{FF2B5EF4-FFF2-40B4-BE49-F238E27FC236}">
                <a16:creationId xmlns:a16="http://schemas.microsoft.com/office/drawing/2014/main" id="{B9FF0311-D197-A1C0-6C3C-85C80863D610}"/>
              </a:ext>
            </a:extLst>
          </p:cNvPr>
          <p:cNvSpPr/>
          <p:nvPr/>
        </p:nvSpPr>
        <p:spPr bwMode="auto">
          <a:xfrm>
            <a:off x="4586704" y="1990610"/>
            <a:ext cx="312203" cy="4332394"/>
          </a:xfrm>
          <a:prstGeom prst="rect">
            <a:avLst/>
          </a:prstGeom>
          <a:solidFill>
            <a:srgbClr val="E60000">
              <a:lumMod val="60000"/>
              <a:lumOff val="40000"/>
            </a:srgbClr>
          </a:solidFill>
          <a:ln w="9525" cap="flat" cmpd="sng" algn="ctr">
            <a:noFill/>
            <a:prstDash val="solid"/>
            <a:round/>
            <a:headEnd type="none" w="med" len="med"/>
            <a:tailEnd type="none" w="med" len="med"/>
          </a:ln>
          <a:effectLst/>
        </p:spPr>
        <p:txBody>
          <a:bodyPr vert="eaVert" wrap="none" lIns="36000" tIns="36000" rIns="36000" bIns="36000" numCol="1" rtlCol="0" anchor="ctr" anchorCtr="0" compatLnSpc="1">
            <a:prstTxWarp prst="textNoShape">
              <a:avLst/>
            </a:prstTxWarp>
            <a:noAutofit/>
          </a:bodyPr>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sz="1200" b="1"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50" charset="-128"/>
                <a:cs typeface="Malgun Gothic Semilight" panose="020B0502040204020203" pitchFamily="50" charset="-128"/>
              </a:rPr>
              <a:t>システム維持リスク解消</a:t>
            </a:r>
          </a:p>
        </p:txBody>
      </p:sp>
    </p:spTree>
    <p:extLst>
      <p:ext uri="{BB962C8B-B14F-4D97-AF65-F5344CB8AC3E}">
        <p14:creationId xmlns:p14="http://schemas.microsoft.com/office/powerpoint/2010/main" val="3546589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DD4A2-0772-22EE-5D6C-1B332DC6E01A}"/>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6244BF8-4FA9-2AAC-5BE7-FFC7D3DF0B71}"/>
              </a:ext>
            </a:extLst>
          </p:cNvPr>
          <p:cNvSpPr/>
          <p:nvPr/>
        </p:nvSpPr>
        <p:spPr>
          <a:xfrm>
            <a:off x="2317620" y="1998947"/>
            <a:ext cx="5270760" cy="792000"/>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bg1"/>
                </a:solidFill>
                <a:effectLst/>
                <a:uLnTx/>
                <a:uFillTx/>
                <a:latin typeface="+mn-ea"/>
                <a:cs typeface="+mn-cs"/>
              </a:rPr>
              <a:t>ビジネス高度化（データマネジメントサービス）</a:t>
            </a:r>
            <a:endParaRPr kumimoji="0" lang="en-US" altLang="ja-JP" b="1" i="0" u="none" strike="noStrike" kern="0" cap="none" spc="0" normalizeH="0" baseline="0" noProof="0" dirty="0">
              <a:ln>
                <a:noFill/>
              </a:ln>
              <a:solidFill>
                <a:schemeClr val="bg1"/>
              </a:solidFill>
              <a:effectLst/>
              <a:uLnTx/>
              <a:uFillTx/>
              <a:latin typeface="+mn-ea"/>
              <a:cs typeface="+mn-cs"/>
            </a:endParaRPr>
          </a:p>
        </p:txBody>
      </p:sp>
      <p:sp>
        <p:nvSpPr>
          <p:cNvPr id="6" name="正方形/長方形 5">
            <a:extLst>
              <a:ext uri="{FF2B5EF4-FFF2-40B4-BE49-F238E27FC236}">
                <a16:creationId xmlns:a16="http://schemas.microsoft.com/office/drawing/2014/main" id="{78CBF2DE-CA89-2BAE-E456-3EF289986D67}"/>
              </a:ext>
            </a:extLst>
          </p:cNvPr>
          <p:cNvSpPr/>
          <p:nvPr/>
        </p:nvSpPr>
        <p:spPr>
          <a:xfrm>
            <a:off x="2317620" y="4067055"/>
            <a:ext cx="5270760" cy="792000"/>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bg1"/>
                </a:solidFill>
                <a:effectLst/>
                <a:uLnTx/>
                <a:uFillTx/>
                <a:latin typeface="+mn-ea"/>
                <a:cs typeface="+mn-cs"/>
              </a:rPr>
              <a:t>ホストオープン化</a:t>
            </a:r>
            <a:r>
              <a:rPr kumimoji="0" lang="ja-JP" altLang="en-US" b="1" kern="0" dirty="0">
                <a:solidFill>
                  <a:schemeClr val="bg1"/>
                </a:solidFill>
                <a:latin typeface="+mn-ea"/>
              </a:rPr>
              <a:t>（モダナイゼーション）</a:t>
            </a:r>
            <a:endParaRPr kumimoji="0" lang="en-US" altLang="ja-JP" b="1" i="0" u="none" strike="noStrike" kern="0" cap="none" spc="0" normalizeH="0" baseline="0" noProof="0" dirty="0">
              <a:ln>
                <a:noFill/>
              </a:ln>
              <a:solidFill>
                <a:schemeClr val="bg1"/>
              </a:solidFill>
              <a:effectLst/>
              <a:uLnTx/>
              <a:uFillTx/>
              <a:latin typeface="+mn-ea"/>
              <a:cs typeface="+mn-cs"/>
            </a:endParaRPr>
          </a:p>
        </p:txBody>
      </p:sp>
      <p:sp>
        <p:nvSpPr>
          <p:cNvPr id="7" name="正方形/長方形 6">
            <a:extLst>
              <a:ext uri="{FF2B5EF4-FFF2-40B4-BE49-F238E27FC236}">
                <a16:creationId xmlns:a16="http://schemas.microsoft.com/office/drawing/2014/main" id="{742B49E8-2084-B796-6D4B-189E5DD77F86}"/>
              </a:ext>
            </a:extLst>
          </p:cNvPr>
          <p:cNvSpPr/>
          <p:nvPr/>
        </p:nvSpPr>
        <p:spPr>
          <a:xfrm>
            <a:off x="2317620" y="3033001"/>
            <a:ext cx="5270760" cy="792000"/>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ja-JP" altLang="en-US" b="1" i="0" u="none" strike="noStrike" kern="0" cap="none" spc="0" normalizeH="0" baseline="0" noProof="0" dirty="0">
                <a:ln>
                  <a:noFill/>
                </a:ln>
                <a:solidFill>
                  <a:schemeClr val="bg1"/>
                </a:solidFill>
                <a:effectLst/>
                <a:uLnTx/>
                <a:uFillTx/>
                <a:latin typeface="+mn-ea"/>
                <a:cs typeface="+mn-cs"/>
              </a:rPr>
              <a:t>業務基盤強化</a:t>
            </a:r>
            <a:endParaRPr kumimoji="0" lang="en-US" altLang="ja-JP" b="1" i="0" u="none" strike="noStrike" kern="0" cap="none" spc="0" normalizeH="0" baseline="0" noProof="0" dirty="0">
              <a:ln>
                <a:noFill/>
              </a:ln>
              <a:solidFill>
                <a:schemeClr val="bg1"/>
              </a:solidFill>
              <a:effectLst/>
              <a:uLnTx/>
              <a:uFillTx/>
              <a:latin typeface="+mn-ea"/>
              <a:cs typeface="+mn-cs"/>
            </a:endParaRPr>
          </a:p>
        </p:txBody>
      </p:sp>
      <p:sp>
        <p:nvSpPr>
          <p:cNvPr id="8" name="正方形/長方形 7">
            <a:extLst>
              <a:ext uri="{FF2B5EF4-FFF2-40B4-BE49-F238E27FC236}">
                <a16:creationId xmlns:a16="http://schemas.microsoft.com/office/drawing/2014/main" id="{20C3F054-95F8-C40D-B6DB-436AB9B880A0}"/>
              </a:ext>
            </a:extLst>
          </p:cNvPr>
          <p:cNvSpPr/>
          <p:nvPr/>
        </p:nvSpPr>
        <p:spPr>
          <a:xfrm>
            <a:off x="2317621" y="1998945"/>
            <a:ext cx="380333" cy="231348"/>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i="0" u="none" strike="noStrike" kern="0" cap="none" spc="0" normalizeH="0" baseline="0" noProof="0" dirty="0">
                <a:ln>
                  <a:noFill/>
                </a:ln>
                <a:solidFill>
                  <a:schemeClr val="bg1"/>
                </a:solidFill>
                <a:effectLst/>
                <a:uLnTx/>
                <a:uFillTx/>
                <a:latin typeface="+mn-ea"/>
                <a:cs typeface="+mn-cs"/>
              </a:rPr>
              <a:t>A</a:t>
            </a:r>
          </a:p>
        </p:txBody>
      </p:sp>
      <p:sp>
        <p:nvSpPr>
          <p:cNvPr id="9" name="正方形/長方形 8">
            <a:extLst>
              <a:ext uri="{FF2B5EF4-FFF2-40B4-BE49-F238E27FC236}">
                <a16:creationId xmlns:a16="http://schemas.microsoft.com/office/drawing/2014/main" id="{01151EE2-FC6C-7B3A-3755-707A58AD1D90}"/>
              </a:ext>
            </a:extLst>
          </p:cNvPr>
          <p:cNvSpPr/>
          <p:nvPr/>
        </p:nvSpPr>
        <p:spPr>
          <a:xfrm>
            <a:off x="2317621" y="3033001"/>
            <a:ext cx="380333" cy="231348"/>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kern="0" dirty="0">
                <a:solidFill>
                  <a:schemeClr val="bg1"/>
                </a:solidFill>
                <a:latin typeface="+mn-ea"/>
              </a:rPr>
              <a:t>B</a:t>
            </a:r>
            <a:endParaRPr kumimoji="0" lang="en-US" altLang="ja-JP" b="1" i="0" u="none" strike="noStrike" kern="0" cap="none" spc="0" normalizeH="0" baseline="0" noProof="0" dirty="0">
              <a:ln>
                <a:noFill/>
              </a:ln>
              <a:solidFill>
                <a:schemeClr val="bg1"/>
              </a:solidFill>
              <a:effectLst/>
              <a:uLnTx/>
              <a:uFillTx/>
              <a:latin typeface="+mn-ea"/>
              <a:cs typeface="+mn-cs"/>
            </a:endParaRPr>
          </a:p>
        </p:txBody>
      </p:sp>
      <p:sp>
        <p:nvSpPr>
          <p:cNvPr id="10" name="正方形/長方形 9">
            <a:extLst>
              <a:ext uri="{FF2B5EF4-FFF2-40B4-BE49-F238E27FC236}">
                <a16:creationId xmlns:a16="http://schemas.microsoft.com/office/drawing/2014/main" id="{40DF3494-76B4-0017-BC08-DD8B96537730}"/>
              </a:ext>
            </a:extLst>
          </p:cNvPr>
          <p:cNvSpPr/>
          <p:nvPr/>
        </p:nvSpPr>
        <p:spPr>
          <a:xfrm>
            <a:off x="2317621" y="4067055"/>
            <a:ext cx="380333" cy="231348"/>
          </a:xfrm>
          <a:prstGeom prst="rect">
            <a:avLst/>
          </a:prstGeom>
          <a:solidFill>
            <a:srgbClr val="A100FF"/>
          </a:solidFill>
          <a:ln w="19050" cap="flat" cmpd="sng" algn="ctr">
            <a:solidFill>
              <a:schemeClr val="bg1"/>
            </a:solidFill>
            <a:prstDash val="solid"/>
          </a:ln>
          <a:effectLst/>
        </p:spPr>
        <p:txBody>
          <a:bodyPr vert="horz" wrap="none" lIns="0" tIns="0" rIns="0" bIns="0" rtlCol="0" anchor="ctr" anchorCtr="0"/>
          <a:lstStyle/>
          <a:p>
            <a:pPr marL="0" marR="0" lvl="0" indent="0" algn="ctr" defTabSz="995363" eaLnBrk="0" fontAlgn="base" latinLnBrk="0" hangingPunct="0">
              <a:lnSpc>
                <a:spcPct val="100000"/>
              </a:lnSpc>
              <a:spcBef>
                <a:spcPct val="0"/>
              </a:spcBef>
              <a:spcAft>
                <a:spcPct val="0"/>
              </a:spcAft>
              <a:buClrTx/>
              <a:buSzTx/>
              <a:buFontTx/>
              <a:buNone/>
              <a:tabLst/>
              <a:defRPr/>
            </a:pPr>
            <a:r>
              <a:rPr kumimoji="0" lang="en-US" altLang="ja-JP" b="1" kern="0" dirty="0">
                <a:solidFill>
                  <a:schemeClr val="bg1"/>
                </a:solidFill>
                <a:latin typeface="+mn-ea"/>
              </a:rPr>
              <a:t>C</a:t>
            </a:r>
            <a:endParaRPr kumimoji="0" lang="en-US" altLang="ja-JP" b="1" i="0" u="none" strike="noStrike" kern="0" cap="none" spc="0" normalizeH="0" baseline="0" noProof="0" dirty="0">
              <a:ln>
                <a:noFill/>
              </a:ln>
              <a:solidFill>
                <a:schemeClr val="bg1"/>
              </a:solidFill>
              <a:effectLst/>
              <a:uLnTx/>
              <a:uFillTx/>
              <a:latin typeface="+mn-ea"/>
              <a:cs typeface="+mn-cs"/>
            </a:endParaRPr>
          </a:p>
        </p:txBody>
      </p:sp>
    </p:spTree>
    <p:extLst>
      <p:ext uri="{BB962C8B-B14F-4D97-AF65-F5344CB8AC3E}">
        <p14:creationId xmlns:p14="http://schemas.microsoft.com/office/powerpoint/2010/main" val="31294102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742CE-FEC1-ADF8-86ED-A8B6C92F15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D5DE79-08F8-905C-6F10-659D4136513B}"/>
              </a:ext>
            </a:extLst>
          </p:cNvPr>
          <p:cNvSpPr>
            <a:spLocks noGrp="1"/>
          </p:cNvSpPr>
          <p:nvPr>
            <p:ph type="title"/>
          </p:nvPr>
        </p:nvSpPr>
        <p:spPr>
          <a:xfrm>
            <a:off x="489000" y="580348"/>
            <a:ext cx="8928000" cy="373311"/>
          </a:xfrm>
        </p:spPr>
        <p:txBody>
          <a:bodyPr/>
          <a:lstStyle/>
          <a:p>
            <a:r>
              <a:rPr lang="en-US" altLang="ja-JP" dirty="0"/>
              <a:t>5. </a:t>
            </a:r>
            <a:r>
              <a:rPr lang="ja-JP" altLang="en-US" dirty="0"/>
              <a:t>アーキテクチャ戦略の全体像～①</a:t>
            </a:r>
            <a:r>
              <a:rPr lang="en-US" altLang="ja-JP" dirty="0" err="1"/>
              <a:t>ToBe</a:t>
            </a:r>
            <a:r>
              <a:rPr lang="ja-JP" altLang="en-US" dirty="0"/>
              <a:t>像とシステム移行方針</a:t>
            </a:r>
            <a:endParaRPr kumimoji="1" lang="ja-JP" altLang="en-US" dirty="0"/>
          </a:p>
        </p:txBody>
      </p:sp>
      <p:sp>
        <p:nvSpPr>
          <p:cNvPr id="4" name="テキスト プレースホルダー 3">
            <a:extLst>
              <a:ext uri="{FF2B5EF4-FFF2-40B4-BE49-F238E27FC236}">
                <a16:creationId xmlns:a16="http://schemas.microsoft.com/office/drawing/2014/main" id="{DD15B7B0-CD59-FC6E-4541-4B6D1C9338ED}"/>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pic>
        <p:nvPicPr>
          <p:cNvPr id="223" name="図 222" descr="テーブル&#10;&#10;AI 生成コンテンツは誤りを含む可能性があります。">
            <a:extLst>
              <a:ext uri="{FF2B5EF4-FFF2-40B4-BE49-F238E27FC236}">
                <a16:creationId xmlns:a16="http://schemas.microsoft.com/office/drawing/2014/main" id="{CB546DCF-388B-AEC3-1F90-627E49A580C5}"/>
              </a:ext>
            </a:extLst>
          </p:cNvPr>
          <p:cNvPicPr>
            <a:picLocks noChangeAspect="1"/>
          </p:cNvPicPr>
          <p:nvPr/>
        </p:nvPicPr>
        <p:blipFill>
          <a:blip r:embed="rId3">
            <a:extLst>
              <a:ext uri="{28A0092B-C50C-407E-A947-70E740481C1C}">
                <a14:useLocalDpi xmlns:a14="http://schemas.microsoft.com/office/drawing/2010/main" val="0"/>
              </a:ext>
            </a:extLst>
          </a:blip>
          <a:srcRect t="12726"/>
          <a:stretch>
            <a:fillRect/>
          </a:stretch>
        </p:blipFill>
        <p:spPr>
          <a:xfrm>
            <a:off x="292113" y="1543050"/>
            <a:ext cx="9191066" cy="4921348"/>
          </a:xfrm>
          <a:prstGeom prst="rect">
            <a:avLst/>
          </a:prstGeom>
        </p:spPr>
      </p:pic>
      <p:sp>
        <p:nvSpPr>
          <p:cNvPr id="3" name="テキスト プレースホルダー 2">
            <a:extLst>
              <a:ext uri="{FF2B5EF4-FFF2-40B4-BE49-F238E27FC236}">
                <a16:creationId xmlns:a16="http://schemas.microsoft.com/office/drawing/2014/main" id="{3AA5220E-05FD-A841-501F-AACE7A46F8A3}"/>
              </a:ext>
            </a:extLst>
          </p:cNvPr>
          <p:cNvSpPr>
            <a:spLocks noGrp="1"/>
          </p:cNvSpPr>
          <p:nvPr>
            <p:ph type="body" idx="12"/>
          </p:nvPr>
        </p:nvSpPr>
        <p:spPr>
          <a:xfrm>
            <a:off x="488999" y="969722"/>
            <a:ext cx="9131121" cy="669414"/>
          </a:xfrm>
        </p:spPr>
        <p:txBody>
          <a:bodyPr/>
          <a:lstStyle/>
          <a:p>
            <a:r>
              <a:rPr kumimoji="1" lang="ja-JP" altLang="en-US" dirty="0"/>
              <a:t>アーキテクチャ戦略プログラムでは、リライト</a:t>
            </a:r>
            <a:r>
              <a:rPr lang="ja-JP" altLang="en-US" dirty="0"/>
              <a:t>・リビルドの手法を要件に応じて使い分けて、システム移行を検討しています。</a:t>
            </a:r>
            <a:endParaRPr kumimoji="1" lang="en-US" altLang="ja-JP" dirty="0"/>
          </a:p>
        </p:txBody>
      </p:sp>
    </p:spTree>
    <p:extLst>
      <p:ext uri="{BB962C8B-B14F-4D97-AF65-F5344CB8AC3E}">
        <p14:creationId xmlns:p14="http://schemas.microsoft.com/office/powerpoint/2010/main" val="12896053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53C5E-177E-01BC-4C82-2D945E7DB9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0BC1B8-A892-EE1A-FCE7-5C7B57447F76}"/>
              </a:ext>
            </a:extLst>
          </p:cNvPr>
          <p:cNvSpPr>
            <a:spLocks noGrp="1"/>
          </p:cNvSpPr>
          <p:nvPr>
            <p:ph type="title"/>
          </p:nvPr>
        </p:nvSpPr>
        <p:spPr>
          <a:xfrm>
            <a:off x="489000" y="580348"/>
            <a:ext cx="8928000" cy="373311"/>
          </a:xfrm>
        </p:spPr>
        <p:txBody>
          <a:bodyPr/>
          <a:lstStyle/>
          <a:p>
            <a:r>
              <a:rPr lang="en-US" altLang="ja-JP" dirty="0"/>
              <a:t>5. </a:t>
            </a:r>
            <a:r>
              <a:rPr lang="ja-JP" altLang="en-US" dirty="0"/>
              <a:t>アーキテクチャ戦略の全体像～②推進体制</a:t>
            </a:r>
            <a:endParaRPr kumimoji="1" lang="ja-JP" altLang="en-US" dirty="0"/>
          </a:p>
        </p:txBody>
      </p:sp>
      <p:sp>
        <p:nvSpPr>
          <p:cNvPr id="3" name="テキスト プレースホルダー 2">
            <a:extLst>
              <a:ext uri="{FF2B5EF4-FFF2-40B4-BE49-F238E27FC236}">
                <a16:creationId xmlns:a16="http://schemas.microsoft.com/office/drawing/2014/main" id="{7E34DBF4-98B4-09E9-E8FD-A64F2F41080B}"/>
              </a:ext>
            </a:extLst>
          </p:cNvPr>
          <p:cNvSpPr>
            <a:spLocks noGrp="1"/>
          </p:cNvSpPr>
          <p:nvPr>
            <p:ph type="body" idx="12"/>
          </p:nvPr>
        </p:nvSpPr>
        <p:spPr>
          <a:xfrm>
            <a:off x="488999" y="969722"/>
            <a:ext cx="9131121" cy="669414"/>
          </a:xfrm>
        </p:spPr>
        <p:txBody>
          <a:bodyPr/>
          <a:lstStyle/>
          <a:p>
            <a:r>
              <a:rPr lang="ja-JP" altLang="en-US" dirty="0"/>
              <a:t>アーキテクチャ戦略はプログラム事務局を中心に各分科会を立ち上げています。</a:t>
            </a:r>
            <a:r>
              <a:rPr lang="en-US" altLang="ja-JP" dirty="0"/>
              <a:t>ACN</a:t>
            </a:r>
            <a:r>
              <a:rPr lang="ja-JP" altLang="en-US" dirty="0"/>
              <a:t>は各領域に入り支援を行っています。</a:t>
            </a:r>
            <a:endParaRPr kumimoji="1" lang="ja-JP" altLang="en-US" dirty="0"/>
          </a:p>
        </p:txBody>
      </p:sp>
      <p:sp>
        <p:nvSpPr>
          <p:cNvPr id="4" name="テキスト プレースホルダー 3">
            <a:extLst>
              <a:ext uri="{FF2B5EF4-FFF2-40B4-BE49-F238E27FC236}">
                <a16:creationId xmlns:a16="http://schemas.microsoft.com/office/drawing/2014/main" id="{DB1BEC2E-708D-CFA5-03C6-C830D1649555}"/>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pic>
        <p:nvPicPr>
          <p:cNvPr id="14" name="図 13">
            <a:extLst>
              <a:ext uri="{FF2B5EF4-FFF2-40B4-BE49-F238E27FC236}">
                <a16:creationId xmlns:a16="http://schemas.microsoft.com/office/drawing/2014/main" id="{2866AC33-580A-3552-3E54-A37354C57DFC}"/>
              </a:ext>
            </a:extLst>
          </p:cNvPr>
          <p:cNvPicPr>
            <a:picLocks noChangeAspect="1"/>
          </p:cNvPicPr>
          <p:nvPr/>
        </p:nvPicPr>
        <p:blipFill>
          <a:blip r:embed="rId3"/>
          <a:stretch>
            <a:fillRect/>
          </a:stretch>
        </p:blipFill>
        <p:spPr>
          <a:xfrm>
            <a:off x="0" y="1983503"/>
            <a:ext cx="9906000" cy="4329377"/>
          </a:xfrm>
          <a:prstGeom prst="rect">
            <a:avLst/>
          </a:prstGeom>
        </p:spPr>
      </p:pic>
      <p:sp>
        <p:nvSpPr>
          <p:cNvPr id="16" name="吹き出し: 四角形 15">
            <a:extLst>
              <a:ext uri="{FF2B5EF4-FFF2-40B4-BE49-F238E27FC236}">
                <a16:creationId xmlns:a16="http://schemas.microsoft.com/office/drawing/2014/main" id="{8D91402C-AFD9-8A81-D5C7-FB231DD6A6F4}"/>
              </a:ext>
            </a:extLst>
          </p:cNvPr>
          <p:cNvSpPr/>
          <p:nvPr/>
        </p:nvSpPr>
        <p:spPr bwMode="auto">
          <a:xfrm>
            <a:off x="6411073" y="3049192"/>
            <a:ext cx="965771" cy="295382"/>
          </a:xfrm>
          <a:prstGeom prst="wedgeRectCallout">
            <a:avLst>
              <a:gd name="adj1" fmla="val -58430"/>
              <a:gd name="adj2" fmla="val 69457"/>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908410" fontAlgn="base">
              <a:spcAft>
                <a:spcPct val="0"/>
              </a:spcAft>
            </a:pPr>
            <a:r>
              <a:rPr kumimoji="1" lang="en-US" altLang="ja-JP" sz="900" dirty="0">
                <a:solidFill>
                  <a:prstClr val="black"/>
                </a:solidFill>
                <a:latin typeface="Meiryo UI" panose="020B0604030504040204" pitchFamily="50" charset="-128"/>
                <a:ea typeface="Meiryo UI" panose="020B0604030504040204" pitchFamily="50" charset="-128"/>
              </a:rPr>
              <a:t>PgMO</a:t>
            </a:r>
          </a:p>
          <a:p>
            <a:pPr algn="ctr" defTabSz="908410" fontAlgn="base">
              <a:spcAft>
                <a:spcPct val="0"/>
              </a:spcAft>
            </a:pPr>
            <a:r>
              <a:rPr kumimoji="1" lang="ja-JP" altLang="en-US" sz="900" dirty="0">
                <a:solidFill>
                  <a:prstClr val="black"/>
                </a:solidFill>
                <a:latin typeface="Meiryo UI" panose="020B0604030504040204" pitchFamily="50" charset="-128"/>
                <a:ea typeface="Meiryo UI" panose="020B0604030504040204" pitchFamily="50" charset="-128"/>
              </a:rPr>
              <a:t>業務支援</a:t>
            </a:r>
          </a:p>
        </p:txBody>
      </p:sp>
      <p:sp>
        <p:nvSpPr>
          <p:cNvPr id="17" name="吹き出し: 四角形 16">
            <a:extLst>
              <a:ext uri="{FF2B5EF4-FFF2-40B4-BE49-F238E27FC236}">
                <a16:creationId xmlns:a16="http://schemas.microsoft.com/office/drawing/2014/main" id="{A930AE5D-A3A0-AB02-4529-BACFCF7A9564}"/>
              </a:ext>
            </a:extLst>
          </p:cNvPr>
          <p:cNvSpPr/>
          <p:nvPr/>
        </p:nvSpPr>
        <p:spPr bwMode="auto">
          <a:xfrm>
            <a:off x="3419581" y="4660523"/>
            <a:ext cx="965771" cy="295382"/>
          </a:xfrm>
          <a:prstGeom prst="wedgeRectCallout">
            <a:avLst>
              <a:gd name="adj1" fmla="val -58430"/>
              <a:gd name="adj2" fmla="val 69457"/>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908410" fontAlgn="base">
              <a:spcAft>
                <a:spcPct val="0"/>
              </a:spcAft>
            </a:pPr>
            <a:r>
              <a:rPr kumimoji="1" lang="en-US" altLang="ja-JP" sz="900" dirty="0">
                <a:solidFill>
                  <a:prstClr val="black"/>
                </a:solidFill>
                <a:latin typeface="Meiryo UI" panose="020B0604030504040204" pitchFamily="50" charset="-128"/>
                <a:ea typeface="Meiryo UI" panose="020B0604030504040204" pitchFamily="50" charset="-128"/>
              </a:rPr>
              <a:t>RTB</a:t>
            </a:r>
            <a:r>
              <a:rPr kumimoji="1" lang="ja-JP" altLang="en-US" sz="900" dirty="0">
                <a:solidFill>
                  <a:prstClr val="black"/>
                </a:solidFill>
                <a:latin typeface="Meiryo UI" panose="020B0604030504040204" pitchFamily="50" charset="-128"/>
                <a:ea typeface="Meiryo UI" panose="020B0604030504040204" pitchFamily="50" charset="-128"/>
              </a:rPr>
              <a:t>分科会</a:t>
            </a:r>
            <a:endParaRPr kumimoji="1" lang="en-US" altLang="ja-JP" sz="9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900" dirty="0">
                <a:solidFill>
                  <a:prstClr val="black"/>
                </a:solidFill>
                <a:latin typeface="Meiryo UI" panose="020B0604030504040204" pitchFamily="50" charset="-128"/>
                <a:ea typeface="Meiryo UI" panose="020B0604030504040204" pitchFamily="50" charset="-128"/>
              </a:rPr>
              <a:t>検討テーマ支援</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19" name="吹き出し: 四角形 18">
            <a:extLst>
              <a:ext uri="{FF2B5EF4-FFF2-40B4-BE49-F238E27FC236}">
                <a16:creationId xmlns:a16="http://schemas.microsoft.com/office/drawing/2014/main" id="{7278ADEC-448B-7C42-E6F4-76F49DB11890}"/>
              </a:ext>
            </a:extLst>
          </p:cNvPr>
          <p:cNvSpPr/>
          <p:nvPr/>
        </p:nvSpPr>
        <p:spPr bwMode="auto">
          <a:xfrm>
            <a:off x="1506875" y="6165189"/>
            <a:ext cx="965771" cy="295382"/>
          </a:xfrm>
          <a:prstGeom prst="wedgeRectCallout">
            <a:avLst>
              <a:gd name="adj1" fmla="val -6302"/>
              <a:gd name="adj2" fmla="val -90543"/>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908410" fontAlgn="base">
              <a:spcAft>
                <a:spcPct val="0"/>
              </a:spcAft>
            </a:pPr>
            <a:r>
              <a:rPr kumimoji="1" lang="en-US" altLang="ja-JP" sz="900" dirty="0">
                <a:solidFill>
                  <a:prstClr val="black"/>
                </a:solidFill>
                <a:latin typeface="Meiryo UI" panose="020B0604030504040204" pitchFamily="50" charset="-128"/>
                <a:ea typeface="Meiryo UI" panose="020B0604030504040204" pitchFamily="50" charset="-128"/>
              </a:rPr>
              <a:t>RTB</a:t>
            </a:r>
            <a:r>
              <a:rPr kumimoji="1" lang="ja-JP" altLang="en-US" sz="900" dirty="0">
                <a:solidFill>
                  <a:prstClr val="black"/>
                </a:solidFill>
                <a:latin typeface="Meiryo UI" panose="020B0604030504040204" pitchFamily="50" charset="-128"/>
                <a:ea typeface="Meiryo UI" panose="020B0604030504040204" pitchFamily="50" charset="-128"/>
              </a:rPr>
              <a:t>分科会</a:t>
            </a:r>
            <a:endParaRPr kumimoji="1" lang="en-US" altLang="ja-JP" sz="9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900" dirty="0">
                <a:solidFill>
                  <a:prstClr val="black"/>
                </a:solidFill>
                <a:latin typeface="Meiryo UI" panose="020B0604030504040204" pitchFamily="50" charset="-128"/>
                <a:ea typeface="Meiryo UI" panose="020B0604030504040204" pitchFamily="50" charset="-128"/>
              </a:rPr>
              <a:t>技術検証</a:t>
            </a:r>
          </a:p>
        </p:txBody>
      </p:sp>
      <p:sp>
        <p:nvSpPr>
          <p:cNvPr id="20" name="吹き出し: 四角形 19">
            <a:extLst>
              <a:ext uri="{FF2B5EF4-FFF2-40B4-BE49-F238E27FC236}">
                <a16:creationId xmlns:a16="http://schemas.microsoft.com/office/drawing/2014/main" id="{803B117F-7110-5990-5805-EC9EF0FA0B9A}"/>
              </a:ext>
            </a:extLst>
          </p:cNvPr>
          <p:cNvSpPr/>
          <p:nvPr/>
        </p:nvSpPr>
        <p:spPr bwMode="auto">
          <a:xfrm>
            <a:off x="4571673" y="5382641"/>
            <a:ext cx="965771" cy="295382"/>
          </a:xfrm>
          <a:prstGeom prst="wedgeRectCallout">
            <a:avLst>
              <a:gd name="adj1" fmla="val 84123"/>
              <a:gd name="adj2" fmla="val 118152"/>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908410" fontAlgn="base">
              <a:spcAft>
                <a:spcPct val="0"/>
              </a:spcAft>
            </a:pPr>
            <a:r>
              <a:rPr kumimoji="1" lang="ja-JP" altLang="en-US" sz="900" dirty="0">
                <a:solidFill>
                  <a:prstClr val="black"/>
                </a:solidFill>
                <a:latin typeface="Meiryo UI" panose="020B0604030504040204" pitchFamily="50" charset="-128"/>
                <a:ea typeface="Meiryo UI" panose="020B0604030504040204" pitchFamily="50" charset="-128"/>
              </a:rPr>
              <a:t>データマネジメント</a:t>
            </a:r>
            <a:endParaRPr kumimoji="1" lang="en-US" altLang="ja-JP" sz="9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900" dirty="0">
                <a:solidFill>
                  <a:prstClr val="black"/>
                </a:solidFill>
                <a:latin typeface="Meiryo UI" panose="020B0604030504040204" pitchFamily="50" charset="-128"/>
                <a:ea typeface="Meiryo UI" panose="020B0604030504040204" pitchFamily="50" charset="-128"/>
              </a:rPr>
              <a:t>開発</a:t>
            </a:r>
            <a:r>
              <a:rPr lang="en-US" altLang="ja-JP" sz="900" dirty="0">
                <a:solidFill>
                  <a:prstClr val="black"/>
                </a:solidFill>
                <a:latin typeface="Meiryo UI" panose="020B0604030504040204" pitchFamily="50" charset="-128"/>
                <a:ea typeface="Meiryo UI" panose="020B0604030504040204" pitchFamily="50" charset="-128"/>
              </a:rPr>
              <a:t>PMO</a:t>
            </a:r>
            <a:r>
              <a:rPr lang="ja-JP" altLang="en-US" sz="900" dirty="0">
                <a:solidFill>
                  <a:prstClr val="black"/>
                </a:solidFill>
                <a:latin typeface="Meiryo UI" panose="020B0604030504040204" pitchFamily="50" charset="-128"/>
                <a:ea typeface="Meiryo UI" panose="020B0604030504040204" pitchFamily="50" charset="-128"/>
              </a:rPr>
              <a:t>支援</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
        <p:nvSpPr>
          <p:cNvPr id="21" name="吹き出し: 四角形 20">
            <a:extLst>
              <a:ext uri="{FF2B5EF4-FFF2-40B4-BE49-F238E27FC236}">
                <a16:creationId xmlns:a16="http://schemas.microsoft.com/office/drawing/2014/main" id="{E50EFC2F-5D97-6B99-CAD5-3F2CB870E3E1}"/>
              </a:ext>
            </a:extLst>
          </p:cNvPr>
          <p:cNvSpPr/>
          <p:nvPr/>
        </p:nvSpPr>
        <p:spPr bwMode="auto">
          <a:xfrm>
            <a:off x="7094250" y="5888278"/>
            <a:ext cx="965771" cy="295382"/>
          </a:xfrm>
          <a:prstGeom prst="wedgeRectCallout">
            <a:avLst>
              <a:gd name="adj1" fmla="val -61621"/>
              <a:gd name="adj2" fmla="val 34674"/>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908410" fontAlgn="base">
              <a:spcAft>
                <a:spcPct val="0"/>
              </a:spcAft>
            </a:pPr>
            <a:r>
              <a:rPr kumimoji="1" lang="ja-JP" altLang="en-US" sz="900" dirty="0">
                <a:solidFill>
                  <a:prstClr val="black"/>
                </a:solidFill>
                <a:latin typeface="Meiryo UI" panose="020B0604030504040204" pitchFamily="50" charset="-128"/>
                <a:ea typeface="Meiryo UI" panose="020B0604030504040204" pitchFamily="50" charset="-128"/>
              </a:rPr>
              <a:t>データマネジメント</a:t>
            </a:r>
            <a:endParaRPr kumimoji="1" lang="en-US" altLang="ja-JP" sz="90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900" dirty="0">
                <a:solidFill>
                  <a:prstClr val="black"/>
                </a:solidFill>
                <a:latin typeface="Meiryo UI" panose="020B0604030504040204" pitchFamily="50" charset="-128"/>
                <a:ea typeface="Meiryo UI" panose="020B0604030504040204" pitchFamily="50" charset="-128"/>
              </a:rPr>
              <a:t>開発支援</a:t>
            </a:r>
            <a:endParaRPr kumimoji="1" lang="ja-JP" altLang="en-US" sz="900"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92443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タイトル 1">
            <a:extLst>
              <a:ext uri="{FF2B5EF4-FFF2-40B4-BE49-F238E27FC236}">
                <a16:creationId xmlns:a16="http://schemas.microsoft.com/office/drawing/2014/main" id="{653A8D49-5A50-4D51-82B3-711F590F7D65}"/>
              </a:ext>
            </a:extLst>
          </p:cNvPr>
          <p:cNvSpPr>
            <a:spLocks noGrp="1"/>
          </p:cNvSpPr>
          <p:nvPr>
            <p:ph type="title"/>
          </p:nvPr>
        </p:nvSpPr>
        <p:spPr>
          <a:xfrm>
            <a:off x="488504" y="568613"/>
            <a:ext cx="8928000" cy="373311"/>
          </a:xfrm>
        </p:spPr>
        <p:txBody>
          <a:bodyPr/>
          <a:lstStyle/>
          <a:p>
            <a:r>
              <a:rPr lang="ja-JP" altLang="en-US" dirty="0"/>
              <a:t>７</a:t>
            </a:r>
            <a:r>
              <a:rPr kumimoji="1" lang="en-US" altLang="ja-JP" dirty="0"/>
              <a:t>. </a:t>
            </a:r>
            <a:r>
              <a:rPr kumimoji="1" lang="ja-JP" altLang="en-US" dirty="0"/>
              <a:t>オペレジ施策～①経緯と背景</a:t>
            </a:r>
            <a:r>
              <a:rPr kumimoji="1" lang="en-US" altLang="ja-JP" dirty="0"/>
              <a:t>(1/2)</a:t>
            </a:r>
            <a:endParaRPr kumimoji="1" lang="ja-JP" altLang="en-US" dirty="0"/>
          </a:p>
        </p:txBody>
      </p:sp>
      <p:sp>
        <p:nvSpPr>
          <p:cNvPr id="32" name="テキスト プレースホルダー 3">
            <a:extLst>
              <a:ext uri="{FF2B5EF4-FFF2-40B4-BE49-F238E27FC236}">
                <a16:creationId xmlns:a16="http://schemas.microsoft.com/office/drawing/2014/main" id="{0EECD9F3-7605-004E-FDC7-A7A25C666119}"/>
              </a:ext>
            </a:extLst>
          </p:cNvPr>
          <p:cNvSpPr txBox="1">
            <a:spLocks/>
          </p:cNvSpPr>
          <p:nvPr/>
        </p:nvSpPr>
        <p:spPr bwMode="gray">
          <a:xfrm>
            <a:off x="488504" y="179588"/>
            <a:ext cx="8928000" cy="373311"/>
          </a:xfrm>
          <a:prstGeom prst="rect">
            <a:avLst/>
          </a:prstGeom>
          <a:noFill/>
          <a:ln w="12700" algn="ctr">
            <a:noFill/>
            <a:miter lim="800000"/>
            <a:headEnd/>
            <a:tailEnd/>
          </a:ln>
        </p:spPr>
        <p:txBody>
          <a:bodyPr vert="horz" wrap="square" lIns="0" tIns="0" rIns="0" bIns="0" numCol="1" rtlCol="0" anchor="b" anchorCtr="0" compatLnSpc="1">
            <a:prstTxWarp prst="textNoShape">
              <a:avLst/>
            </a:prstTxWarp>
            <a:noAutofit/>
          </a:bodyPr>
          <a:lstStyle>
            <a:lvl1pPr marL="316529" indent="-316529" algn="l" rtl="0" eaLnBrk="1" fontAlgn="base" hangingPunct="1">
              <a:spcBef>
                <a:spcPts val="0"/>
              </a:spcBef>
              <a:spcAft>
                <a:spcPts val="0"/>
              </a:spcAft>
              <a:buClr>
                <a:srgbClr val="666666"/>
              </a:buClr>
              <a:buSzPct val="90000"/>
              <a:buFont typeface="Times" pitchFamily="18" charset="0"/>
              <a:defRPr kumimoji="1" lang="ja-JP" altLang="en-US" sz="1600" b="1" dirty="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531945" indent="-263775"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2pPr>
            <a:lvl3pPr marL="836751" indent="-155334"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3pPr>
            <a:lvl4pPr marL="1211897" indent="-209555"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4pPr>
            <a:lvl5pPr marL="1531357"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5pPr>
            <a:lvl6pPr marL="1953396"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6pPr>
            <a:lvl7pPr marL="2375434"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7pPr>
            <a:lvl8pPr marL="2797474"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8pPr>
            <a:lvl9pPr marL="3219512"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9pPr>
          </a:lstStyle>
          <a:p>
            <a:r>
              <a:rPr lang="en-US" altLang="ja-JP" kern="0"/>
              <a:t>3. </a:t>
            </a:r>
            <a:r>
              <a:rPr lang="ja-JP" altLang="en-US" kern="0"/>
              <a:t>プロジェクト① アーキテクチャ戦略</a:t>
            </a:r>
          </a:p>
        </p:txBody>
      </p:sp>
      <p:sp>
        <p:nvSpPr>
          <p:cNvPr id="33" name="テキスト プレースホルダー 2">
            <a:extLst>
              <a:ext uri="{FF2B5EF4-FFF2-40B4-BE49-F238E27FC236}">
                <a16:creationId xmlns:a16="http://schemas.microsoft.com/office/drawing/2014/main" id="{FBD61B2A-23EA-41DF-FBDE-8242BE2FF920}"/>
              </a:ext>
            </a:extLst>
          </p:cNvPr>
          <p:cNvSpPr>
            <a:spLocks noGrp="1"/>
          </p:cNvSpPr>
          <p:nvPr>
            <p:ph type="body" idx="12"/>
          </p:nvPr>
        </p:nvSpPr>
        <p:spPr>
          <a:xfrm>
            <a:off x="488999" y="969722"/>
            <a:ext cx="9131121" cy="669414"/>
          </a:xfrm>
        </p:spPr>
        <p:txBody>
          <a:bodyPr/>
          <a:lstStyle/>
          <a:p>
            <a:r>
              <a:rPr kumimoji="1" lang="ja-JP" altLang="en-US" dirty="0"/>
              <a:t>アーキテクチャ戦略の中に、もともとオペレーションレジリエンスの向上の施策が入っていましたが、大規模障害が多発したことを踏まえて、別の施策として切り出されて、検討を進めています。</a:t>
            </a:r>
          </a:p>
        </p:txBody>
      </p:sp>
      <p:grpSp>
        <p:nvGrpSpPr>
          <p:cNvPr id="37" name="グループ化 36">
            <a:extLst>
              <a:ext uri="{FF2B5EF4-FFF2-40B4-BE49-F238E27FC236}">
                <a16:creationId xmlns:a16="http://schemas.microsoft.com/office/drawing/2014/main" id="{ED18432E-2AE3-3EC9-16E6-E419AD430034}"/>
              </a:ext>
            </a:extLst>
          </p:cNvPr>
          <p:cNvGrpSpPr/>
          <p:nvPr/>
        </p:nvGrpSpPr>
        <p:grpSpPr>
          <a:xfrm>
            <a:off x="1866371" y="1637333"/>
            <a:ext cx="6173259" cy="4649163"/>
            <a:chOff x="488503" y="1637333"/>
            <a:chExt cx="6173259" cy="4649163"/>
          </a:xfrm>
        </p:grpSpPr>
        <p:grpSp>
          <p:nvGrpSpPr>
            <p:cNvPr id="5" name="グループ化 4">
              <a:extLst>
                <a:ext uri="{FF2B5EF4-FFF2-40B4-BE49-F238E27FC236}">
                  <a16:creationId xmlns:a16="http://schemas.microsoft.com/office/drawing/2014/main" id="{904FA215-BBE2-D558-DC7B-EAAE174E8FB7}"/>
                </a:ext>
              </a:extLst>
            </p:cNvPr>
            <p:cNvGrpSpPr/>
            <p:nvPr/>
          </p:nvGrpSpPr>
          <p:grpSpPr>
            <a:xfrm>
              <a:off x="488503" y="1637333"/>
              <a:ext cx="6173259" cy="237641"/>
              <a:chOff x="619124" y="1823770"/>
              <a:chExt cx="2762266" cy="347930"/>
            </a:xfrm>
          </p:grpSpPr>
          <p:cxnSp>
            <p:nvCxnSpPr>
              <p:cNvPr id="6" name="直線コネクタ 5">
                <a:extLst>
                  <a:ext uri="{FF2B5EF4-FFF2-40B4-BE49-F238E27FC236}">
                    <a16:creationId xmlns:a16="http://schemas.microsoft.com/office/drawing/2014/main" id="{A8D00412-B40C-2371-8B58-CA836AC58AE2}"/>
                  </a:ext>
                </a:extLst>
              </p:cNvPr>
              <p:cNvCxnSpPr/>
              <p:nvPr/>
            </p:nvCxnSpPr>
            <p:spPr bwMode="auto">
              <a:xfrm>
                <a:off x="619125" y="2171700"/>
                <a:ext cx="2762265" cy="0"/>
              </a:xfrm>
              <a:prstGeom prst="line">
                <a:avLst/>
              </a:prstGeom>
              <a:noFill/>
              <a:ln w="9525" cap="flat" cmpd="sng" algn="ctr">
                <a:solidFill>
                  <a:schemeClr val="bg1">
                    <a:lumMod val="50000"/>
                  </a:schemeClr>
                </a:solidFill>
                <a:prstDash val="solid"/>
                <a:round/>
                <a:headEnd type="none" w="med" len="med"/>
                <a:tailEnd type="none"/>
              </a:ln>
              <a:effectLst/>
            </p:spPr>
          </p:cxnSp>
          <p:sp>
            <p:nvSpPr>
              <p:cNvPr id="7" name="正方形/長方形 6">
                <a:extLst>
                  <a:ext uri="{FF2B5EF4-FFF2-40B4-BE49-F238E27FC236}">
                    <a16:creationId xmlns:a16="http://schemas.microsoft.com/office/drawing/2014/main" id="{AAB7A229-C4E6-D640-DE13-28F73AA2B6F8}"/>
                  </a:ext>
                </a:extLst>
              </p:cNvPr>
              <p:cNvSpPr/>
              <p:nvPr/>
            </p:nvSpPr>
            <p:spPr bwMode="auto">
              <a:xfrm>
                <a:off x="619124" y="1823770"/>
                <a:ext cx="2762265" cy="347930"/>
              </a:xfrm>
              <a:prstGeom prst="rect">
                <a:avLst/>
              </a:prstGeom>
              <a:solidFill>
                <a:schemeClr val="bg1"/>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400" dirty="0">
                    <a:solidFill>
                      <a:prstClr val="black"/>
                    </a:solidFill>
                    <a:latin typeface="Meiryo UI" panose="020B0604030504040204" pitchFamily="50" charset="-128"/>
                    <a:ea typeface="Meiryo UI" panose="020B0604030504040204" pitchFamily="50" charset="-128"/>
                  </a:rPr>
                  <a:t>取り組み事項</a:t>
                </a:r>
              </a:p>
            </p:txBody>
          </p:sp>
        </p:grpSp>
        <p:sp>
          <p:nvSpPr>
            <p:cNvPr id="8" name="正方形/長方形 7">
              <a:extLst>
                <a:ext uri="{FF2B5EF4-FFF2-40B4-BE49-F238E27FC236}">
                  <a16:creationId xmlns:a16="http://schemas.microsoft.com/office/drawing/2014/main" id="{AAD8F233-4BF7-E225-8C60-61F9B5A6C325}"/>
                </a:ext>
              </a:extLst>
            </p:cNvPr>
            <p:cNvSpPr/>
            <p:nvPr/>
          </p:nvSpPr>
          <p:spPr bwMode="auto">
            <a:xfrm>
              <a:off x="488999" y="2257472"/>
              <a:ext cx="791924" cy="119650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050" dirty="0">
                  <a:solidFill>
                    <a:prstClr val="black"/>
                  </a:solidFill>
                  <a:latin typeface="Meiryo UI" panose="020B0604030504040204" pitchFamily="50" charset="-128"/>
                  <a:ea typeface="Meiryo UI" panose="020B0604030504040204" pitchFamily="50" charset="-128"/>
                </a:rPr>
                <a:t>ビジネス</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B3FCCA7B-6365-5934-C733-756382A65AD3}"/>
                </a:ext>
              </a:extLst>
            </p:cNvPr>
            <p:cNvSpPr/>
            <p:nvPr/>
          </p:nvSpPr>
          <p:spPr bwMode="auto">
            <a:xfrm>
              <a:off x="488999" y="3673730"/>
              <a:ext cx="791924" cy="119650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業務</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DB00590E-A1B9-4FF2-77B9-D3B1CB0C1B35}"/>
                </a:ext>
              </a:extLst>
            </p:cNvPr>
            <p:cNvSpPr/>
            <p:nvPr/>
          </p:nvSpPr>
          <p:spPr bwMode="auto">
            <a:xfrm>
              <a:off x="488999" y="5089988"/>
              <a:ext cx="791924" cy="1196508"/>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システム</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A252B157-A024-6DE9-11E3-E2874CB92CE9}"/>
                </a:ext>
              </a:extLst>
            </p:cNvPr>
            <p:cNvSpPr/>
            <p:nvPr/>
          </p:nvSpPr>
          <p:spPr bwMode="auto">
            <a:xfrm>
              <a:off x="1628775" y="2257471"/>
              <a:ext cx="2394585" cy="4029020"/>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アーキテクチャ戦略プログラム</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39274F23-C83B-1B00-17B2-219D5C4F6542}"/>
                </a:ext>
              </a:extLst>
            </p:cNvPr>
            <p:cNvSpPr/>
            <p:nvPr/>
          </p:nvSpPr>
          <p:spPr bwMode="auto">
            <a:xfrm>
              <a:off x="1767352" y="2718080"/>
              <a:ext cx="926220" cy="3464164"/>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200" b="1" dirty="0">
                  <a:solidFill>
                    <a:prstClr val="black"/>
                  </a:solidFill>
                  <a:latin typeface="Meiryo UI" panose="020B0604030504040204" pitchFamily="50" charset="-128"/>
                  <a:ea typeface="Meiryo UI" panose="020B0604030504040204" pitchFamily="50" charset="-128"/>
                </a:rPr>
                <a:t>データ</a:t>
              </a:r>
              <a:br>
                <a:rPr lang="en-US" altLang="ja-JP" sz="1200" b="1" dirty="0">
                  <a:solidFill>
                    <a:prstClr val="black"/>
                  </a:solidFill>
                  <a:latin typeface="Meiryo UI" panose="020B0604030504040204" pitchFamily="50" charset="-128"/>
                  <a:ea typeface="Meiryo UI" panose="020B0604030504040204" pitchFamily="50" charset="-128"/>
                </a:rPr>
              </a:br>
              <a:r>
                <a:rPr lang="ja-JP" altLang="en-US" sz="1200" b="1" dirty="0">
                  <a:solidFill>
                    <a:prstClr val="black"/>
                  </a:solidFill>
                  <a:latin typeface="Meiryo UI" panose="020B0604030504040204" pitchFamily="50" charset="-128"/>
                  <a:ea typeface="Meiryo UI" panose="020B0604030504040204" pitchFamily="50" charset="-128"/>
                </a:rPr>
                <a:t>マネジメントサービス</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EBCAEBA9-46D9-872D-C5EF-DBECF6A0E5A5}"/>
                </a:ext>
              </a:extLst>
            </p:cNvPr>
            <p:cNvSpPr/>
            <p:nvPr/>
          </p:nvSpPr>
          <p:spPr bwMode="auto">
            <a:xfrm>
              <a:off x="2960872" y="3673730"/>
              <a:ext cx="926220" cy="2508513"/>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モダナイ</a:t>
              </a:r>
              <a:br>
                <a:rPr kumimoji="1" lang="en-US" altLang="ja-JP" sz="1200" b="1" dirty="0">
                  <a:solidFill>
                    <a:prstClr val="black"/>
                  </a:solidFill>
                  <a:latin typeface="Meiryo UI" panose="020B0604030504040204" pitchFamily="50" charset="-128"/>
                  <a:ea typeface="Meiryo UI" panose="020B0604030504040204" pitchFamily="50" charset="-128"/>
                </a:rPr>
              </a:br>
              <a:r>
                <a:rPr kumimoji="1" lang="ja-JP" altLang="en-US" sz="1200" b="1" dirty="0">
                  <a:solidFill>
                    <a:prstClr val="black"/>
                  </a:solidFill>
                  <a:latin typeface="Meiryo UI" panose="020B0604030504040204" pitchFamily="50" charset="-128"/>
                  <a:ea typeface="Meiryo UI" panose="020B0604030504040204" pitchFamily="50" charset="-128"/>
                </a:rPr>
                <a:t>ゼーション</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065D63F3-BD31-B302-D987-D5DB2340F486}"/>
                </a:ext>
              </a:extLst>
            </p:cNvPr>
            <p:cNvSpPr/>
            <p:nvPr/>
          </p:nvSpPr>
          <p:spPr bwMode="auto">
            <a:xfrm>
              <a:off x="5735542" y="3673730"/>
              <a:ext cx="926220" cy="2508513"/>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オペレジ</a:t>
              </a:r>
              <a:endParaRPr kumimoji="1" lang="en-US" altLang="ja-JP" sz="12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1200" b="1" dirty="0">
                  <a:solidFill>
                    <a:prstClr val="black"/>
                  </a:solidFill>
                  <a:latin typeface="Meiryo UI" panose="020B0604030504040204" pitchFamily="50" charset="-128"/>
                  <a:ea typeface="Meiryo UI" panose="020B0604030504040204" pitchFamily="50" charset="-128"/>
                </a:rPr>
                <a:t>施策</a:t>
              </a:r>
              <a:endParaRPr kumimoji="1" lang="en-US" altLang="ja-JP" sz="1200" b="1" dirty="0">
                <a:solidFill>
                  <a:prstClr val="black"/>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1C2776D5-A15C-BCC2-F63E-7F289C95C438}"/>
                </a:ext>
              </a:extLst>
            </p:cNvPr>
            <p:cNvSpPr/>
            <p:nvPr/>
          </p:nvSpPr>
          <p:spPr bwMode="auto">
            <a:xfrm>
              <a:off x="1767352" y="2718080"/>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en-US" altLang="ja-JP" sz="1050" dirty="0">
                  <a:solidFill>
                    <a:prstClr val="black"/>
                  </a:solidFill>
                  <a:latin typeface="Meiryo UI" panose="020B0604030504040204" pitchFamily="50" charset="-128"/>
                  <a:ea typeface="Meiryo UI" panose="020B0604030504040204" pitchFamily="50" charset="-128"/>
                </a:rPr>
                <a:t>B</a:t>
              </a:r>
              <a:endParaRPr kumimoji="1" lang="en-US" altLang="ja-JP" sz="1050" dirty="0">
                <a:solidFill>
                  <a:prstClr val="black"/>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61568895-95E0-05A7-4564-AA9CAF9867E8}"/>
                </a:ext>
              </a:extLst>
            </p:cNvPr>
            <p:cNvSpPr/>
            <p:nvPr/>
          </p:nvSpPr>
          <p:spPr bwMode="auto">
            <a:xfrm>
              <a:off x="2960872" y="3673730"/>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C</a:t>
              </a:r>
            </a:p>
          </p:txBody>
        </p:sp>
        <p:sp>
          <p:nvSpPr>
            <p:cNvPr id="23" name="正方形/長方形 22">
              <a:extLst>
                <a:ext uri="{FF2B5EF4-FFF2-40B4-BE49-F238E27FC236}">
                  <a16:creationId xmlns:a16="http://schemas.microsoft.com/office/drawing/2014/main" id="{A7679556-D217-0B09-FE11-B931BED346BA}"/>
                </a:ext>
              </a:extLst>
            </p:cNvPr>
            <p:cNvSpPr/>
            <p:nvPr/>
          </p:nvSpPr>
          <p:spPr bwMode="auto">
            <a:xfrm>
              <a:off x="5735542" y="3673730"/>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D</a:t>
              </a:r>
            </a:p>
          </p:txBody>
        </p:sp>
        <p:sp>
          <p:nvSpPr>
            <p:cNvPr id="26" name="正方形/長方形 25">
              <a:extLst>
                <a:ext uri="{FF2B5EF4-FFF2-40B4-BE49-F238E27FC236}">
                  <a16:creationId xmlns:a16="http://schemas.microsoft.com/office/drawing/2014/main" id="{EE8B55C4-023E-B9BE-3F11-17B12694D6F7}"/>
                </a:ext>
              </a:extLst>
            </p:cNvPr>
            <p:cNvSpPr/>
            <p:nvPr/>
          </p:nvSpPr>
          <p:spPr bwMode="auto">
            <a:xfrm>
              <a:off x="1628775" y="2257471"/>
              <a:ext cx="226548" cy="224565"/>
            </a:xfrm>
            <a:prstGeom prst="rec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A</a:t>
              </a:r>
            </a:p>
          </p:txBody>
        </p:sp>
        <p:sp>
          <p:nvSpPr>
            <p:cNvPr id="34" name="四角形: 角を丸くする 33">
              <a:extLst>
                <a:ext uri="{FF2B5EF4-FFF2-40B4-BE49-F238E27FC236}">
                  <a16:creationId xmlns:a16="http://schemas.microsoft.com/office/drawing/2014/main" id="{7D71A007-3FD2-08CE-AB40-44BC4427F111}"/>
                </a:ext>
              </a:extLst>
            </p:cNvPr>
            <p:cNvSpPr/>
            <p:nvPr/>
          </p:nvSpPr>
          <p:spPr bwMode="auto">
            <a:xfrm>
              <a:off x="3095625" y="5473778"/>
              <a:ext cx="695325" cy="474747"/>
            </a:xfrm>
            <a:prstGeom prst="roundRect">
              <a:avLst/>
            </a:prstGeom>
            <a:solidFill>
              <a:schemeClr val="bg1"/>
            </a:solidFill>
            <a:ln w="6350" cap="flat" cmpd="sng" algn="ctr">
              <a:solidFill>
                <a:schemeClr val="tx1">
                  <a:lumMod val="50000"/>
                  <a:lumOff val="50000"/>
                </a:schemeClr>
              </a:solidFill>
              <a:prstDash val="dash"/>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5" name="矢印: 右 34">
              <a:extLst>
                <a:ext uri="{FF2B5EF4-FFF2-40B4-BE49-F238E27FC236}">
                  <a16:creationId xmlns:a16="http://schemas.microsoft.com/office/drawing/2014/main" id="{5F4FCBB7-A76B-C2C2-9F28-C9EE7F914B62}"/>
                </a:ext>
              </a:extLst>
            </p:cNvPr>
            <p:cNvSpPr/>
            <p:nvPr/>
          </p:nvSpPr>
          <p:spPr bwMode="auto">
            <a:xfrm>
              <a:off x="3590925" y="5610225"/>
              <a:ext cx="2552700" cy="224565"/>
            </a:xfrm>
            <a:prstGeom prst="rightArrow">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6" name="吹き出し: 四角形 35">
              <a:extLst>
                <a:ext uri="{FF2B5EF4-FFF2-40B4-BE49-F238E27FC236}">
                  <a16:creationId xmlns:a16="http://schemas.microsoft.com/office/drawing/2014/main" id="{CE4A0B40-E1C7-1FC1-E8E5-10418472A19D}"/>
                </a:ext>
              </a:extLst>
            </p:cNvPr>
            <p:cNvSpPr/>
            <p:nvPr/>
          </p:nvSpPr>
          <p:spPr bwMode="auto">
            <a:xfrm>
              <a:off x="4148383" y="4772025"/>
              <a:ext cx="1588759" cy="838198"/>
            </a:xfrm>
            <a:prstGeom prst="wedgeRectCallout">
              <a:avLst/>
            </a:prstGeom>
            <a:solidFill>
              <a:schemeClr val="accent2">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1200" b="1" dirty="0">
                  <a:solidFill>
                    <a:prstClr val="black"/>
                  </a:solidFill>
                  <a:latin typeface="Meiryo UI" panose="020B0604030504040204" pitchFamily="50" charset="-128"/>
                  <a:ea typeface="Meiryo UI" panose="020B0604030504040204" pitchFamily="50" charset="-128"/>
                </a:rPr>
                <a:t>大規模障害を起因に</a:t>
              </a:r>
              <a:endParaRPr lang="en-US" altLang="ja-JP" sz="12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200" b="1" dirty="0">
                  <a:solidFill>
                    <a:prstClr val="black"/>
                  </a:solidFill>
                  <a:latin typeface="Meiryo UI" panose="020B0604030504040204" pitchFamily="50" charset="-128"/>
                  <a:ea typeface="Meiryo UI" panose="020B0604030504040204" pitchFamily="50" charset="-128"/>
                </a:rPr>
                <a:t>別施策へ切り出し</a:t>
              </a:r>
            </a:p>
          </p:txBody>
        </p:sp>
      </p:grpSp>
    </p:spTree>
    <p:extLst>
      <p:ext uri="{BB962C8B-B14F-4D97-AF65-F5344CB8AC3E}">
        <p14:creationId xmlns:p14="http://schemas.microsoft.com/office/powerpoint/2010/main" val="19587375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0B6E3-33D9-97EF-7662-6496EA3734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5F7CE55-2F65-4825-34FD-503E786BB7B6}"/>
              </a:ext>
            </a:extLst>
          </p:cNvPr>
          <p:cNvSpPr>
            <a:spLocks noGrp="1"/>
          </p:cNvSpPr>
          <p:nvPr>
            <p:ph type="title"/>
          </p:nvPr>
        </p:nvSpPr>
        <p:spPr/>
        <p:txBody>
          <a:bodyPr/>
          <a:lstStyle/>
          <a:p>
            <a:r>
              <a:rPr lang="ja-JP" altLang="en-US" dirty="0"/>
              <a:t>７</a:t>
            </a:r>
            <a:r>
              <a:rPr kumimoji="1" lang="en-US" altLang="ja-JP" dirty="0"/>
              <a:t>. </a:t>
            </a:r>
            <a:r>
              <a:rPr kumimoji="1" lang="ja-JP" altLang="en-US" dirty="0"/>
              <a:t>オペレジ施策～①経緯と背景（</a:t>
            </a:r>
            <a:r>
              <a:rPr lang="en-US" altLang="ja-JP" dirty="0"/>
              <a:t>2</a:t>
            </a:r>
            <a:r>
              <a:rPr kumimoji="1" lang="en-US" altLang="ja-JP" dirty="0"/>
              <a:t>/2</a:t>
            </a:r>
            <a:r>
              <a:rPr kumimoji="1" lang="ja-JP" altLang="en-US" dirty="0"/>
              <a:t>）</a:t>
            </a:r>
          </a:p>
        </p:txBody>
      </p:sp>
      <p:sp>
        <p:nvSpPr>
          <p:cNvPr id="4" name="テキスト プレースホルダー 3">
            <a:extLst>
              <a:ext uri="{FF2B5EF4-FFF2-40B4-BE49-F238E27FC236}">
                <a16:creationId xmlns:a16="http://schemas.microsoft.com/office/drawing/2014/main" id="{AE44E326-D2B3-4968-CA29-529DBCABEE18}"/>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grpSp>
        <p:nvGrpSpPr>
          <p:cNvPr id="87" name="グループ化 86">
            <a:extLst>
              <a:ext uri="{FF2B5EF4-FFF2-40B4-BE49-F238E27FC236}">
                <a16:creationId xmlns:a16="http://schemas.microsoft.com/office/drawing/2014/main" id="{5816E0B3-BFB4-F444-7529-98AC49B670C1}"/>
              </a:ext>
            </a:extLst>
          </p:cNvPr>
          <p:cNvGrpSpPr/>
          <p:nvPr/>
        </p:nvGrpSpPr>
        <p:grpSpPr>
          <a:xfrm>
            <a:off x="416545" y="1041650"/>
            <a:ext cx="9072911" cy="5541316"/>
            <a:chOff x="450730" y="1011030"/>
            <a:chExt cx="9980202" cy="6095448"/>
          </a:xfrm>
        </p:grpSpPr>
        <p:sp>
          <p:nvSpPr>
            <p:cNvPr id="47" name="正方形/長方形 46">
              <a:extLst>
                <a:ext uri="{FF2B5EF4-FFF2-40B4-BE49-F238E27FC236}">
                  <a16:creationId xmlns:a16="http://schemas.microsoft.com/office/drawing/2014/main" id="{8A08D87E-60E6-EC97-602C-836270BE45E6}"/>
                </a:ext>
              </a:extLst>
            </p:cNvPr>
            <p:cNvSpPr/>
            <p:nvPr/>
          </p:nvSpPr>
          <p:spPr>
            <a:xfrm>
              <a:off x="4851850" y="6523745"/>
              <a:ext cx="2677995" cy="582733"/>
            </a:xfrm>
            <a:prstGeom prst="rect">
              <a:avLst/>
            </a:prstGeom>
            <a:solidFill>
              <a:srgbClr val="FFFFFF"/>
            </a:solidFill>
            <a:ln w="28575" cap="flat" cmpd="sng" algn="ctr">
              <a:solidFill>
                <a:srgbClr val="E60000">
                  <a:lumMod val="60000"/>
                  <a:lumOff val="40000"/>
                </a:srgbClr>
              </a:solidFill>
              <a:prstDash val="solid"/>
            </a:ln>
            <a:effectLst/>
          </p:spPr>
          <p:txBody>
            <a:bodyPr lIns="72000" tIns="36000" rIns="72000" bIns="3600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MTBJ</a:t>
              </a:r>
              <a:r>
                <a:rPr kumimoji="0" lang="ja-JP" altLang="en-US" sz="1200" b="1"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a:t>
              </a:r>
              <a:r>
                <a:rPr kumimoji="0" lang="en-US" altLang="ja-JP" sz="1200" b="1"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MUSK</a:t>
              </a:r>
              <a:r>
                <a:rPr kumimoji="0" lang="ja-JP" altLang="en-US" sz="1200" b="1"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による自己評価</a:t>
              </a:r>
            </a:p>
          </p:txBody>
        </p:sp>
        <p:sp>
          <p:nvSpPr>
            <p:cNvPr id="48" name="正方形/長方形 47">
              <a:extLst>
                <a:ext uri="{FF2B5EF4-FFF2-40B4-BE49-F238E27FC236}">
                  <a16:creationId xmlns:a16="http://schemas.microsoft.com/office/drawing/2014/main" id="{C9C36C6B-65CE-0DF1-1E4A-F7527C29F11C}"/>
                </a:ext>
              </a:extLst>
            </p:cNvPr>
            <p:cNvSpPr/>
            <p:nvPr/>
          </p:nvSpPr>
          <p:spPr>
            <a:xfrm>
              <a:off x="7615306" y="6523745"/>
              <a:ext cx="2662820" cy="582733"/>
            </a:xfrm>
            <a:prstGeom prst="rect">
              <a:avLst/>
            </a:prstGeom>
            <a:solidFill>
              <a:srgbClr val="FFFFFF"/>
            </a:solidFill>
            <a:ln w="28575" cap="flat" cmpd="sng" algn="ctr">
              <a:solidFill>
                <a:srgbClr val="0070C0"/>
              </a:solidFill>
              <a:prstDash val="solid"/>
            </a:ln>
            <a:effectLst/>
          </p:spPr>
          <p:txBody>
            <a:bodyPr lIns="72000" tIns="36000" rIns="72000" bIns="3600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a:ln>
                    <a:noFill/>
                  </a:ln>
                  <a:solidFill>
                    <a:srgbClr val="0070C0"/>
                  </a:solidFill>
                  <a:effectLst/>
                  <a:uLnTx/>
                  <a:uFillTx/>
                  <a:latin typeface="Meiryo UI" panose="020B0604030504040204" pitchFamily="50" charset="-128"/>
                  <a:ea typeface="Meiryo UI" panose="020B0604030504040204" pitchFamily="50" charset="-128"/>
                </a:rPr>
                <a:t>Gartner</a:t>
              </a:r>
              <a:r>
                <a:rPr kumimoji="0" lang="ja-JP" altLang="en-US" sz="1200" b="1" i="0" u="none" strike="noStrike" kern="0" cap="none" spc="0" normalizeH="0" baseline="0" noProof="0">
                  <a:ln>
                    <a:noFill/>
                  </a:ln>
                  <a:solidFill>
                    <a:srgbClr val="0070C0"/>
                  </a:solidFill>
                  <a:effectLst/>
                  <a:uLnTx/>
                  <a:uFillTx/>
                  <a:latin typeface="Meiryo UI" panose="020B0604030504040204" pitchFamily="50" charset="-128"/>
                  <a:ea typeface="Meiryo UI" panose="020B0604030504040204" pitchFamily="50" charset="-128"/>
                </a:rPr>
                <a:t>社による第三者評価</a:t>
              </a:r>
            </a:p>
          </p:txBody>
        </p:sp>
        <p:sp>
          <p:nvSpPr>
            <p:cNvPr id="50" name="テキスト プレースホルダー 7">
              <a:extLst>
                <a:ext uri="{FF2B5EF4-FFF2-40B4-BE49-F238E27FC236}">
                  <a16:creationId xmlns:a16="http://schemas.microsoft.com/office/drawing/2014/main" id="{DA6EF2A9-869E-C1B8-EFD4-FB2F0916DCB5}"/>
                </a:ext>
              </a:extLst>
            </p:cNvPr>
            <p:cNvSpPr txBox="1">
              <a:spLocks/>
            </p:cNvSpPr>
            <p:nvPr/>
          </p:nvSpPr>
          <p:spPr>
            <a:xfrm>
              <a:off x="452685" y="1011030"/>
              <a:ext cx="9791999" cy="773698"/>
            </a:xfrm>
            <a:prstGeom prst="rect">
              <a:avLst/>
            </a:prstGeom>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5A5A5A"/>
                  </a:solidFill>
                  <a:prstDash val="solid"/>
                  <a:round/>
                  <a:headEnd type="none" w="med" len="med"/>
                  <a:tailEnd type="none" w="med" len="med"/>
                </a14:hiddenLine>
              </a:ext>
            </a:extLst>
          </p:spPr>
          <p:txBody>
            <a:bodyPr vert="horz" wrap="square" lIns="53789" tIns="35860" rIns="53789" bIns="35860" rtlCol="0">
              <a:spAutoFit/>
            </a:bodyPr>
            <a:lstStyle>
              <a:lvl1pPr marL="0" indent="0" algn="l" defTabSz="914400" rtl="0" eaLnBrk="1" latinLnBrk="0" hangingPunct="1">
                <a:lnSpc>
                  <a:spcPct val="100000"/>
                </a:lnSpc>
                <a:spcBef>
                  <a:spcPts val="1000"/>
                </a:spcBef>
                <a:buFontTx/>
                <a:buNone/>
                <a:defRPr kumimoji="1" sz="1100" b="1" i="0"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1pPr>
              <a:lvl2pPr marL="88900" indent="-88900" algn="l" defTabSz="914400" rtl="0" eaLnBrk="1" latinLnBrk="0" hangingPunct="1">
                <a:lnSpc>
                  <a:spcPct val="100000"/>
                </a:lnSpc>
                <a:spcBef>
                  <a:spcPts val="800"/>
                </a:spcBef>
                <a:buClr>
                  <a:srgbClr val="5A5A5A"/>
                </a:buClr>
                <a:buSzPct val="60000"/>
                <a:buFont typeface="Wingdings" panose="05000000000000000000" pitchFamily="2" charset="2"/>
                <a:buChar char="n"/>
                <a:defRPr kumimoji="1" sz="1100" b="1" i="0"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2pPr>
              <a:lvl3pPr marL="177800" indent="-88900" algn="l" defTabSz="914400" rtl="0" eaLnBrk="1" latinLnBrk="0" hangingPunct="1">
                <a:lnSpc>
                  <a:spcPct val="100000"/>
                </a:lnSpc>
                <a:spcBef>
                  <a:spcPts val="500"/>
                </a:spcBef>
                <a:buClr>
                  <a:srgbClr val="969696"/>
                </a:buClr>
                <a:buSzPct val="60000"/>
                <a:buFont typeface="Wingdings" panose="05000000000000000000" pitchFamily="2" charset="2"/>
                <a:buChar char="l"/>
                <a:defRPr kumimoji="1" sz="1100" b="1" i="0"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3pPr>
              <a:lvl4pPr marL="266700" indent="-88900" algn="l" defTabSz="914400" rtl="0" eaLnBrk="1" latinLnBrk="0" hangingPunct="1">
                <a:lnSpc>
                  <a:spcPct val="100000"/>
                </a:lnSpc>
                <a:spcBef>
                  <a:spcPts val="500"/>
                </a:spcBef>
                <a:buFont typeface="ＭＳ Ｐゴシック" panose="020B0600070205080204" pitchFamily="50" charset="-128"/>
                <a:buChar char="-"/>
                <a:defRPr kumimoji="1" sz="1100" b="1" i="0"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4pPr>
              <a:lvl5pPr marL="361950" indent="-95250" algn="l" defTabSz="914400" rtl="0" eaLnBrk="1" latinLnBrk="0" hangingPunct="1">
                <a:lnSpc>
                  <a:spcPct val="100000"/>
                </a:lnSpc>
                <a:spcBef>
                  <a:spcPts val="500"/>
                </a:spcBef>
                <a:buFont typeface="Wingdings" panose="05000000000000000000" pitchFamily="2" charset="2"/>
                <a:buChar char="§"/>
                <a:defRPr kumimoji="1" sz="1100" b="1" i="0"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5pPr>
              <a:lvl6pPr marL="241300" indent="-152400" algn="l" defTabSz="914400" rtl="0" eaLnBrk="1" latinLnBrk="0" hangingPunct="1">
                <a:lnSpc>
                  <a:spcPct val="100000"/>
                </a:lnSpc>
                <a:spcBef>
                  <a:spcPts val="500"/>
                </a:spcBef>
                <a:buSzPct val="100000"/>
                <a:buFont typeface="Arial" panose="020B0604020202020204" pitchFamily="34" charset="0"/>
                <a:buChar char="→"/>
                <a:tabLst/>
                <a:defRPr kumimoji="1" sz="1100" b="1" i="0"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6pPr>
              <a:lvl7pPr marL="323850" indent="-146050" algn="l" defTabSz="914400" rtl="0" eaLnBrk="1" latinLnBrk="0" hangingPunct="1">
                <a:lnSpc>
                  <a:spcPct val="100000"/>
                </a:lnSpc>
                <a:spcBef>
                  <a:spcPts val="500"/>
                </a:spcBef>
                <a:buFont typeface="Arial" panose="020B0604020202020204" pitchFamily="34" charset="0"/>
                <a:buChar char="→"/>
                <a:defRPr kumimoji="1" sz="1100" b="1" i="0" kern="1200">
                  <a:solidFill>
                    <a:schemeClr val="tx1"/>
                  </a:solidFill>
                  <a:latin typeface="Arial" panose="020B0604020202020204" pitchFamily="34" charset="0"/>
                  <a:ea typeface="ＭＳ Ｐゴシック" panose="020B0600070205080204" pitchFamily="50" charset="-128"/>
                  <a:cs typeface="Arial" panose="020B0604020202020204" pitchFamily="34" charset="0"/>
                </a:defRPr>
              </a:lvl7pPr>
              <a:lvl8pPr marL="419100" indent="-152400" algn="l" defTabSz="914400" rtl="0" eaLnBrk="1" latinLnBrk="0" hangingPunct="1">
                <a:lnSpc>
                  <a:spcPct val="100000"/>
                </a:lnSpc>
                <a:spcBef>
                  <a:spcPts val="500"/>
                </a:spcBef>
                <a:buFont typeface="Arial" panose="020B0604020202020204" pitchFamily="34" charset="0"/>
                <a:buChar char="→"/>
                <a:defRPr kumimoji="1" sz="1100" b="1" i="0" kern="1200">
                  <a:solidFill>
                    <a:schemeClr val="tx1"/>
                  </a:solidFill>
                  <a:latin typeface="Arial" panose="020B0604020202020204" pitchFamily="34" charset="0"/>
                  <a:ea typeface="+mn-ea"/>
                  <a:cs typeface="+mn-cs"/>
                </a:defRPr>
              </a:lvl8pPr>
              <a:lvl9pPr marL="0" indent="0" algn="l" defTabSz="914400" rtl="0" eaLnBrk="1" latinLnBrk="0" hangingPunct="1">
                <a:spcBef>
                  <a:spcPct val="20000"/>
                </a:spcBef>
                <a:buFont typeface="Arial" panose="020B0604020202020204" pitchFamily="34" charset="0"/>
                <a:buNone/>
                <a:defRPr kumimoji="1" sz="1100" kern="1200">
                  <a:solidFill>
                    <a:schemeClr val="tx1"/>
                  </a:solidFill>
                  <a:latin typeface="Arial" panose="020B0604020202020204" pitchFamily="34" charset="0"/>
                  <a:ea typeface="+mn-ea"/>
                  <a:cs typeface="+mn-cs"/>
                </a:defRPr>
              </a:lvl9pPr>
            </a:lstStyle>
            <a:p>
              <a:pPr marL="285750" indent="-285750" fontAlgn="base">
                <a:spcBef>
                  <a:spcPts val="0"/>
                </a:spcBef>
                <a:spcAft>
                  <a:spcPts val="300"/>
                </a:spcAft>
                <a:buFont typeface="Wingdings" panose="05000000000000000000" pitchFamily="2" charset="2"/>
                <a:buChar char="n"/>
                <a:defRPr/>
              </a:pPr>
              <a:r>
                <a:rPr lang="en-US" altLang="ja-JP" sz="1200" b="0" dirty="0">
                  <a:solidFill>
                    <a:srgbClr val="000000"/>
                  </a:solidFill>
                  <a:latin typeface="Meiryo UI" panose="020B0604030504040204" pitchFamily="50" charset="-128"/>
                  <a:ea typeface="Meiryo UI" panose="020B0604030504040204" pitchFamily="50" charset="-128"/>
                </a:rPr>
                <a:t>2024</a:t>
              </a:r>
              <a:r>
                <a:rPr lang="ja-JP" altLang="en-US" sz="1200" b="0" dirty="0">
                  <a:solidFill>
                    <a:srgbClr val="000000"/>
                  </a:solidFill>
                  <a:latin typeface="Meiryo UI" panose="020B0604030504040204" pitchFamily="50" charset="-128"/>
                  <a:ea typeface="Meiryo UI" panose="020B0604030504040204" pitchFamily="50" charset="-128"/>
                </a:rPr>
                <a:t>年度下期に発生した障害において、復旧対応に問題があり、</a:t>
              </a:r>
              <a:r>
                <a:rPr lang="en-US" altLang="ja-JP" sz="1200" b="0" dirty="0">
                  <a:solidFill>
                    <a:srgbClr val="000000"/>
                  </a:solidFill>
                  <a:latin typeface="Meiryo UI" panose="020B0604030504040204" pitchFamily="50" charset="-128"/>
                  <a:ea typeface="Meiryo UI" panose="020B0604030504040204" pitchFamily="50" charset="-128"/>
                </a:rPr>
                <a:t>MUSK</a:t>
              </a:r>
              <a:r>
                <a:rPr lang="ja-JP" altLang="en-US" sz="1200" b="0" dirty="0">
                  <a:solidFill>
                    <a:srgbClr val="000000"/>
                  </a:solidFill>
                  <a:latin typeface="Meiryo UI" panose="020B0604030504040204" pitchFamily="50" charset="-128"/>
                  <a:ea typeface="Meiryo UI" panose="020B0604030504040204" pitchFamily="50" charset="-128"/>
                </a:rPr>
                <a:t>所管システムの</a:t>
              </a:r>
              <a:r>
                <a:rPr lang="ja-JP" altLang="en-US" sz="1200" u="sng" dirty="0">
                  <a:solidFill>
                    <a:srgbClr val="A100FF"/>
                  </a:solidFill>
                  <a:latin typeface="Meiryo UI" panose="020B0604030504040204" pitchFamily="50" charset="-128"/>
                  <a:ea typeface="Meiryo UI" panose="020B0604030504040204" pitchFamily="50" charset="-128"/>
                </a:rPr>
                <a:t>キャパシティや障害対応力への課題</a:t>
              </a:r>
              <a:r>
                <a:rPr lang="ja-JP" altLang="en-US" sz="1200" b="0" dirty="0">
                  <a:solidFill>
                    <a:srgbClr val="000000"/>
                  </a:solidFill>
                  <a:latin typeface="Meiryo UI" panose="020B0604030504040204" pitchFamily="50" charset="-128"/>
                  <a:ea typeface="Meiryo UI" panose="020B0604030504040204" pitchFamily="50" charset="-128"/>
                </a:rPr>
                <a:t>が顕在化</a:t>
              </a:r>
              <a:endParaRPr lang="en-US" altLang="ja-JP" sz="1200" b="0" dirty="0">
                <a:solidFill>
                  <a:srgbClr val="000000"/>
                </a:solidFill>
                <a:latin typeface="Meiryo UI" panose="020B0604030504040204" pitchFamily="50" charset="-128"/>
                <a:ea typeface="Meiryo UI" panose="020B0604030504040204" pitchFamily="50" charset="-128"/>
              </a:endParaRPr>
            </a:p>
            <a:p>
              <a:pPr marL="285750" indent="-285750" fontAlgn="base">
                <a:spcBef>
                  <a:spcPts val="0"/>
                </a:spcBef>
                <a:spcAft>
                  <a:spcPts val="300"/>
                </a:spcAft>
                <a:buFont typeface="Wingdings" panose="05000000000000000000" pitchFamily="2" charset="2"/>
                <a:buChar char="n"/>
                <a:defRPr/>
              </a:pPr>
              <a:r>
                <a:rPr lang="ja-JP" altLang="en-US" sz="1200" b="0" dirty="0">
                  <a:solidFill>
                    <a:srgbClr val="000000"/>
                  </a:solidFill>
                  <a:latin typeface="Meiryo UI" panose="020B0604030504040204" pitchFamily="50" charset="-128"/>
                  <a:ea typeface="Meiryo UI" panose="020B0604030504040204" pitchFamily="50" charset="-128"/>
                </a:rPr>
                <a:t>障害を踏まえて、</a:t>
              </a:r>
              <a:r>
                <a:rPr lang="en-US" altLang="ja-JP" sz="1200" b="0" dirty="0">
                  <a:solidFill>
                    <a:srgbClr val="000000"/>
                  </a:solidFill>
                  <a:latin typeface="Meiryo UI" panose="020B0604030504040204" pitchFamily="50" charset="-128"/>
                  <a:ea typeface="Meiryo UI" panose="020B0604030504040204" pitchFamily="50" charset="-128"/>
                </a:rPr>
                <a:t>MTBJ</a:t>
              </a:r>
              <a:r>
                <a:rPr lang="ja-JP" altLang="en-US" sz="1200" b="0" dirty="0">
                  <a:solidFill>
                    <a:srgbClr val="000000"/>
                  </a:solidFill>
                  <a:latin typeface="Meiryo UI" panose="020B0604030504040204" pitchFamily="50" charset="-128"/>
                  <a:ea typeface="Meiryo UI" panose="020B0604030504040204" pitchFamily="50" charset="-128"/>
                </a:rPr>
                <a:t>・</a:t>
              </a:r>
              <a:r>
                <a:rPr lang="en-US" altLang="ja-JP" sz="1200" b="0" dirty="0">
                  <a:solidFill>
                    <a:srgbClr val="000000"/>
                  </a:solidFill>
                  <a:latin typeface="Meiryo UI" panose="020B0604030504040204" pitchFamily="50" charset="-128"/>
                  <a:ea typeface="Meiryo UI" panose="020B0604030504040204" pitchFamily="50" charset="-128"/>
                </a:rPr>
                <a:t>MUSK</a:t>
              </a:r>
              <a:r>
                <a:rPr lang="ja-JP" altLang="en-US" sz="1200" b="0" dirty="0">
                  <a:solidFill>
                    <a:srgbClr val="000000"/>
                  </a:solidFill>
                  <a:latin typeface="Meiryo UI" panose="020B0604030504040204" pitchFamily="50" charset="-128"/>
                  <a:ea typeface="Meiryo UI" panose="020B0604030504040204" pitchFamily="50" charset="-128"/>
                </a:rPr>
                <a:t>の自己評価および第三者評価を通じて、課題の洗い出し・評価を実施し、今後の対応方針を検討</a:t>
              </a:r>
              <a:endParaRPr lang="en-US" altLang="ja-JP" sz="1200" b="0" dirty="0">
                <a:solidFill>
                  <a:srgbClr val="000000"/>
                </a:solidFill>
                <a:latin typeface="Meiryo UI" panose="020B0604030504040204" pitchFamily="50" charset="-128"/>
                <a:ea typeface="Meiryo UI" panose="020B0604030504040204" pitchFamily="50" charset="-128"/>
              </a:endParaRPr>
            </a:p>
            <a:p>
              <a:pPr marL="285750" indent="-285750" fontAlgn="base">
                <a:spcBef>
                  <a:spcPts val="0"/>
                </a:spcBef>
                <a:spcAft>
                  <a:spcPts val="300"/>
                </a:spcAft>
                <a:buFont typeface="Wingdings" panose="05000000000000000000" pitchFamily="2" charset="2"/>
                <a:buChar char="n"/>
                <a:defRPr/>
              </a:pPr>
              <a:r>
                <a:rPr lang="en-US" altLang="ja-JP" sz="1200" b="0" dirty="0">
                  <a:solidFill>
                    <a:srgbClr val="000000"/>
                  </a:solidFill>
                  <a:latin typeface="Meiryo UI" panose="020B0604030504040204" pitchFamily="50" charset="-128"/>
                  <a:ea typeface="Meiryo UI" panose="020B0604030504040204" pitchFamily="50" charset="-128"/>
                </a:rPr>
                <a:t>2026</a:t>
              </a:r>
              <a:r>
                <a:rPr lang="ja-JP" altLang="en-US" sz="1200" b="0" dirty="0">
                  <a:solidFill>
                    <a:srgbClr val="000000"/>
                  </a:solidFill>
                  <a:latin typeface="Meiryo UI" panose="020B0604030504040204" pitchFamily="50" charset="-128"/>
                  <a:ea typeface="Meiryo UI" panose="020B0604030504040204" pitchFamily="50" charset="-128"/>
                </a:rPr>
                <a:t>年度末には、現状課題を解決したうえで、障害態勢が高度化した状態となるように、施策を進めたい</a:t>
              </a:r>
              <a:endParaRPr lang="en-US" altLang="ja-JP" sz="1200" b="0" dirty="0">
                <a:solidFill>
                  <a:srgbClr val="000000"/>
                </a:solidFill>
                <a:latin typeface="Meiryo UI" panose="020B0604030504040204" pitchFamily="50" charset="-128"/>
                <a:ea typeface="Meiryo UI" panose="020B0604030504040204" pitchFamily="50" charset="-128"/>
              </a:endParaRPr>
            </a:p>
          </p:txBody>
        </p:sp>
        <p:grpSp>
          <p:nvGrpSpPr>
            <p:cNvPr id="51" name="グループ化 50">
              <a:extLst>
                <a:ext uri="{FF2B5EF4-FFF2-40B4-BE49-F238E27FC236}">
                  <a16:creationId xmlns:a16="http://schemas.microsoft.com/office/drawing/2014/main" id="{15D26630-9591-4AFC-6635-3D653A29CBC5}"/>
                </a:ext>
              </a:extLst>
            </p:cNvPr>
            <p:cNvGrpSpPr/>
            <p:nvPr/>
          </p:nvGrpSpPr>
          <p:grpSpPr>
            <a:xfrm>
              <a:off x="452685" y="2644392"/>
              <a:ext cx="3730694" cy="4286767"/>
              <a:chOff x="450730" y="2229920"/>
              <a:chExt cx="3787895" cy="4223474"/>
            </a:xfrm>
          </p:grpSpPr>
          <p:sp>
            <p:nvSpPr>
              <p:cNvPr id="52" name="正方形/長方形 51">
                <a:extLst>
                  <a:ext uri="{FF2B5EF4-FFF2-40B4-BE49-F238E27FC236}">
                    <a16:creationId xmlns:a16="http://schemas.microsoft.com/office/drawing/2014/main" id="{70CABC5F-A9FB-5A4F-692F-D49084C2E891}"/>
                  </a:ext>
                </a:extLst>
              </p:cNvPr>
              <p:cNvSpPr/>
              <p:nvPr/>
            </p:nvSpPr>
            <p:spPr>
              <a:xfrm>
                <a:off x="450730" y="2445920"/>
                <a:ext cx="3787895" cy="1039097"/>
              </a:xfrm>
              <a:prstGeom prst="rect">
                <a:avLst/>
              </a:prstGeom>
              <a:solidFill>
                <a:srgbClr val="FFFFFF"/>
              </a:solidFill>
              <a:ln w="9525" cap="flat" cmpd="sng" algn="ctr">
                <a:solidFill>
                  <a:srgbClr val="FFFFFF">
                    <a:lumMod val="5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新債券システムにおいて、</a:t>
                </a:r>
                <a:r>
                  <a:rPr kumimoji="0" lang="ja-JP" altLang="en-US" sz="1000" b="1" i="0" u="sng" strike="noStrike" kern="0" cap="none" spc="0" normalizeH="0" baseline="0" noProof="0" dirty="0">
                    <a:ln>
                      <a:noFill/>
                    </a:ln>
                    <a:solidFill>
                      <a:srgbClr val="A100FF"/>
                    </a:solidFill>
                    <a:effectLst/>
                    <a:uLnTx/>
                    <a:uFillTx/>
                    <a:latin typeface="Meiryo UI" panose="020B0604030504040204" pitchFamily="50" charset="-128"/>
                    <a:ea typeface="Meiryo UI" panose="020B0604030504040204" pitchFamily="50" charset="-128"/>
                  </a:rPr>
                  <a:t>上限値オーバーによりバッチ処理が異常終了。</a:t>
                </a:r>
                <a:r>
                  <a:rPr kumimoji="0" lang="en-US" altLang="ja-JP"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1</a:t>
                </a: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委託</a:t>
                </a:r>
                <a:r>
                  <a:rPr kumimoji="0" lang="en-US" altLang="ja-JP"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1</a:t>
                </a: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ファンドについて、基準価額照合に間に合わず、顧客および当社の業務影響が発生</a:t>
                </a:r>
                <a:endParaRPr kumimoji="0" lang="en-US" altLang="ja-JP"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marL="171450" marR="0" lvl="0" indent="-171450" defTabSz="99550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復旧に実行した処理においても、問題が発生し、同日の基準価額にも影響が発生</a:t>
                </a:r>
              </a:p>
            </p:txBody>
          </p:sp>
          <p:sp>
            <p:nvSpPr>
              <p:cNvPr id="53" name="正方形/長方形 52">
                <a:extLst>
                  <a:ext uri="{FF2B5EF4-FFF2-40B4-BE49-F238E27FC236}">
                    <a16:creationId xmlns:a16="http://schemas.microsoft.com/office/drawing/2014/main" id="{8EE93DBC-2279-28EE-C919-68FBD3DEA8F1}"/>
                  </a:ext>
                </a:extLst>
              </p:cNvPr>
              <p:cNvSpPr/>
              <p:nvPr/>
            </p:nvSpPr>
            <p:spPr>
              <a:xfrm>
                <a:off x="450730" y="3930109"/>
                <a:ext cx="3787895" cy="1039097"/>
              </a:xfrm>
              <a:prstGeom prst="rect">
                <a:avLst/>
              </a:prstGeom>
              <a:solidFill>
                <a:srgbClr val="FFFFFF"/>
              </a:solidFill>
              <a:ln w="9525" cap="flat" cmpd="sng" algn="ctr">
                <a:solidFill>
                  <a:srgbClr val="FFFFFF">
                    <a:lumMod val="5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00" b="1" i="0" u="sng" strike="noStrike" kern="0" cap="none" spc="0" normalizeH="0" baseline="0" noProof="0" dirty="0">
                    <a:ln>
                      <a:noFill/>
                    </a:ln>
                    <a:solidFill>
                      <a:srgbClr val="A100FF"/>
                    </a:solidFill>
                    <a:effectLst/>
                    <a:uLnTx/>
                    <a:uFillTx/>
                    <a:latin typeface="Meiryo UI" panose="020B0604030504040204" pitchFamily="50" charset="-128"/>
                    <a:ea typeface="Meiryo UI" panose="020B0604030504040204" pitchFamily="50" charset="-128"/>
                  </a:rPr>
                  <a:t>プログラムの潜在不具合</a:t>
                </a: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により、取引決済共通システムの夜間バッチが異常終了。</a:t>
                </a:r>
                <a:endParaRPr kumimoji="0" lang="en-US" altLang="ja-JP"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marL="171450" marR="0" lvl="0" indent="-171450" defTabSz="99550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オンライン開局を優先し、異常終了した処理、関連する処理をスキップし強制的に後続処理を進めたため、必要な処理が実施されず、データが不整合となった。復旧に時間を要し、オンライン開局が遅延。顧客、当社の業務影響が発生。</a:t>
                </a:r>
                <a:endParaRPr kumimoji="0" lang="en-US" altLang="ja-JP"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3718E96E-036E-20D1-A76B-0583829FC913}"/>
                  </a:ext>
                </a:extLst>
              </p:cNvPr>
              <p:cNvSpPr/>
              <p:nvPr/>
            </p:nvSpPr>
            <p:spPr>
              <a:xfrm>
                <a:off x="450730" y="5414297"/>
                <a:ext cx="3787895" cy="1039097"/>
              </a:xfrm>
              <a:prstGeom prst="rect">
                <a:avLst/>
              </a:prstGeom>
              <a:solidFill>
                <a:srgbClr val="FFFFFF"/>
              </a:solidFill>
              <a:ln w="9525" cap="flat" cmpd="sng" algn="ctr">
                <a:solidFill>
                  <a:srgbClr val="FFFFFF">
                    <a:lumMod val="5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外国証券システムで</a:t>
                </a:r>
                <a:r>
                  <a:rPr kumimoji="0" lang="ja-JP" altLang="en-US" sz="1000" b="1" i="0" u="sng" strike="noStrike" kern="0" cap="none" spc="0" normalizeH="0" baseline="0" noProof="0" dirty="0">
                    <a:ln>
                      <a:noFill/>
                    </a:ln>
                    <a:solidFill>
                      <a:srgbClr val="A100FF"/>
                    </a:solidFill>
                    <a:effectLst/>
                    <a:uLnTx/>
                    <a:uFillTx/>
                    <a:latin typeface="Meiryo UI" panose="020B0604030504040204" pitchFamily="50" charset="-128"/>
                    <a:ea typeface="Meiryo UI" panose="020B0604030504040204" pitchFamily="50" charset="-128"/>
                  </a:rPr>
                  <a:t>想定外の大量仕訳データ処理を実行。採番が上限値を超過、一周し重複したことで処理が異常終了</a:t>
                </a: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a:t>
                </a:r>
                <a:endParaRPr kumimoji="0" lang="en-US" altLang="ja-JP"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marL="171450" marR="0" lvl="0" indent="-171450" defTabSz="995507"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オンライン閉局を優先し、日中の時価評価処理をスキップしたことにより、時価評価が未反映の状態となり、ディスクロの値が不正な状態となり、複数の顧客影響が発生。</a:t>
                </a:r>
              </a:p>
            </p:txBody>
          </p:sp>
          <p:sp>
            <p:nvSpPr>
              <p:cNvPr id="55" name="正方形/長方形 54">
                <a:extLst>
                  <a:ext uri="{FF2B5EF4-FFF2-40B4-BE49-F238E27FC236}">
                    <a16:creationId xmlns:a16="http://schemas.microsoft.com/office/drawing/2014/main" id="{EB15B4DE-98FF-AA39-C1CE-12F0D532A3D4}"/>
                  </a:ext>
                </a:extLst>
              </p:cNvPr>
              <p:cNvSpPr/>
              <p:nvPr/>
            </p:nvSpPr>
            <p:spPr>
              <a:xfrm>
                <a:off x="450730" y="2229920"/>
                <a:ext cx="3787895" cy="216000"/>
              </a:xfrm>
              <a:prstGeom prst="rect">
                <a:avLst/>
              </a:prstGeom>
              <a:solidFill>
                <a:srgbClr val="DC5A5B"/>
              </a:solidFill>
              <a:ln w="9525" cap="flat" cmpd="sng" algn="ctr">
                <a:noFill/>
                <a:prstDash val="solid"/>
              </a:ln>
              <a:effectLst/>
            </p:spPr>
            <p:txBody>
              <a:bodyPr lIns="0" tIns="0" rIns="0" bIns="0" rtlCol="0" anchor="ctr" anchorCtr="0"/>
              <a:lstStyle/>
              <a:p>
                <a:pPr marL="0" marR="0" lvl="0" indent="0" defTabSz="995507"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①　新債券システム障害 </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(2024</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年</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10</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月発生</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a:t>
                </a:r>
                <a:endPar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B207456B-60DA-DCF7-5D36-0284720C4BD9}"/>
                  </a:ext>
                </a:extLst>
              </p:cNvPr>
              <p:cNvSpPr/>
              <p:nvPr/>
            </p:nvSpPr>
            <p:spPr>
              <a:xfrm>
                <a:off x="450730" y="3714109"/>
                <a:ext cx="3787895" cy="216000"/>
              </a:xfrm>
              <a:prstGeom prst="rect">
                <a:avLst/>
              </a:prstGeom>
              <a:solidFill>
                <a:srgbClr val="DC5A5B"/>
              </a:solidFill>
              <a:ln w="9525" cap="flat" cmpd="sng" algn="ctr">
                <a:noFill/>
                <a:prstDash val="solid"/>
              </a:ln>
              <a:effectLst/>
            </p:spPr>
            <p:txBody>
              <a:bodyPr lIns="0" tIns="0" rIns="0" bIns="0" rtlCol="0" anchor="ctr" anchorCtr="0"/>
              <a:lstStyle/>
              <a:p>
                <a:pPr marL="0" marR="0" lvl="0" indent="0" defTabSz="995507"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②　取決（株式）システム障害 （</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2025</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年</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1</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月発生）</a:t>
                </a:r>
              </a:p>
            </p:txBody>
          </p:sp>
          <p:sp>
            <p:nvSpPr>
              <p:cNvPr id="57" name="正方形/長方形 56">
                <a:extLst>
                  <a:ext uri="{FF2B5EF4-FFF2-40B4-BE49-F238E27FC236}">
                    <a16:creationId xmlns:a16="http://schemas.microsoft.com/office/drawing/2014/main" id="{9143B64E-7FFB-1C75-A32D-9E3156380D17}"/>
                  </a:ext>
                </a:extLst>
              </p:cNvPr>
              <p:cNvSpPr/>
              <p:nvPr/>
            </p:nvSpPr>
            <p:spPr>
              <a:xfrm>
                <a:off x="450730" y="5198297"/>
                <a:ext cx="3787895" cy="216000"/>
              </a:xfrm>
              <a:prstGeom prst="rect">
                <a:avLst/>
              </a:prstGeom>
              <a:solidFill>
                <a:srgbClr val="DC5A5B"/>
              </a:solidFill>
              <a:ln w="9525" cap="flat" cmpd="sng" algn="ctr">
                <a:noFill/>
                <a:prstDash val="solid"/>
              </a:ln>
              <a:effectLst/>
            </p:spPr>
            <p:txBody>
              <a:bodyPr lIns="0" tIns="0" rIns="0" bIns="0" rtlCol="0" anchor="ctr" anchorCtr="0"/>
              <a:lstStyle/>
              <a:p>
                <a:pPr marL="0" marR="0" lvl="0" indent="0" defTabSz="995507"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③　外国証券システム障害 </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(2025</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年</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3</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月発生</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a:t>
                </a:r>
                <a:endPar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endParaRPr>
              </a:p>
            </p:txBody>
          </p:sp>
        </p:grpSp>
        <p:sp>
          <p:nvSpPr>
            <p:cNvPr id="58" name="二等辺三角形 57">
              <a:extLst>
                <a:ext uri="{FF2B5EF4-FFF2-40B4-BE49-F238E27FC236}">
                  <a16:creationId xmlns:a16="http://schemas.microsoft.com/office/drawing/2014/main" id="{258071BA-65B8-C63D-9652-D4D90A4630AB}"/>
                </a:ext>
              </a:extLst>
            </p:cNvPr>
            <p:cNvSpPr/>
            <p:nvPr/>
          </p:nvSpPr>
          <p:spPr>
            <a:xfrm rot="5400000">
              <a:off x="2976408" y="4349044"/>
              <a:ext cx="2889366" cy="214735"/>
            </a:xfrm>
            <a:prstGeom prst="triangle">
              <a:avLst/>
            </a:prstGeom>
            <a:solidFill>
              <a:srgbClr val="ADADAD"/>
            </a:solidFill>
            <a:ln w="9525" cap="flat" cmpd="sng" algn="ctr">
              <a:noFill/>
              <a:prstDash val="solid"/>
            </a:ln>
            <a:effectLst/>
          </p:spPr>
          <p:txBody>
            <a:bodyPr lIns="0" tIns="0" rIns="0" bIns="0" rtlCol="0" anchor="t" anchorCtr="0"/>
            <a:lstStyle/>
            <a:p>
              <a:pPr marL="0" marR="0" lvl="0" indent="0" algn="ctr" defTabSz="995507" eaLnBrk="1" fontAlgn="auto" latinLnBrk="0" hangingPunct="1">
                <a:lnSpc>
                  <a:spcPct val="100000"/>
                </a:lnSpc>
                <a:spcBef>
                  <a:spcPts val="0"/>
                </a:spcBef>
                <a:spcAft>
                  <a:spcPts val="0"/>
                </a:spcAft>
                <a:buClrTx/>
                <a:buSzTx/>
                <a:buFontTx/>
                <a:buNone/>
                <a:tabLst/>
                <a:defRPr/>
              </a:pPr>
              <a:endParaRPr kumimoji="0" lang="ja-JP" altLang="en-US"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endParaRPr>
            </a:p>
          </p:txBody>
        </p:sp>
        <p:grpSp>
          <p:nvGrpSpPr>
            <p:cNvPr id="59" name="グループ化 58">
              <a:extLst>
                <a:ext uri="{FF2B5EF4-FFF2-40B4-BE49-F238E27FC236}">
                  <a16:creationId xmlns:a16="http://schemas.microsoft.com/office/drawing/2014/main" id="{B9F94B40-B3E5-7077-2FA1-92A6A5078E61}"/>
                </a:ext>
              </a:extLst>
            </p:cNvPr>
            <p:cNvGrpSpPr/>
            <p:nvPr/>
          </p:nvGrpSpPr>
          <p:grpSpPr>
            <a:xfrm>
              <a:off x="450730" y="1789832"/>
              <a:ext cx="3732353" cy="296143"/>
              <a:chOff x="450730" y="2047007"/>
              <a:chExt cx="4749920" cy="296143"/>
            </a:xfrm>
          </p:grpSpPr>
          <p:cxnSp>
            <p:nvCxnSpPr>
              <p:cNvPr id="60" name="直線コネクタ 59">
                <a:extLst>
                  <a:ext uri="{FF2B5EF4-FFF2-40B4-BE49-F238E27FC236}">
                    <a16:creationId xmlns:a16="http://schemas.microsoft.com/office/drawing/2014/main" id="{DEA28BA5-CCAF-EF90-12D1-9EE539867916}"/>
                  </a:ext>
                </a:extLst>
              </p:cNvPr>
              <p:cNvCxnSpPr>
                <a:cxnSpLocks/>
              </p:cNvCxnSpPr>
              <p:nvPr/>
            </p:nvCxnSpPr>
            <p:spPr>
              <a:xfrm>
                <a:off x="450730" y="2343150"/>
                <a:ext cx="4748400" cy="0"/>
              </a:xfrm>
              <a:prstGeom prst="line">
                <a:avLst/>
              </a:prstGeom>
              <a:noFill/>
              <a:ln w="9525" cap="flat" cmpd="sng" algn="ctr">
                <a:solidFill>
                  <a:srgbClr val="000000"/>
                </a:solidFill>
                <a:prstDash val="solid"/>
              </a:ln>
              <a:effectLst/>
            </p:spPr>
          </p:cxnSp>
          <p:sp>
            <p:nvSpPr>
              <p:cNvPr id="61" name="正方形/長方形 60">
                <a:extLst>
                  <a:ext uri="{FF2B5EF4-FFF2-40B4-BE49-F238E27FC236}">
                    <a16:creationId xmlns:a16="http://schemas.microsoft.com/office/drawing/2014/main" id="{BB5B002D-BD34-9877-6A5D-219141991F68}"/>
                  </a:ext>
                </a:extLst>
              </p:cNvPr>
              <p:cNvSpPr/>
              <p:nvPr/>
            </p:nvSpPr>
            <p:spPr>
              <a:xfrm>
                <a:off x="450730" y="2047007"/>
                <a:ext cx="4749920" cy="277093"/>
              </a:xfrm>
              <a:prstGeom prst="rect">
                <a:avLst/>
              </a:prstGeom>
              <a:noFill/>
              <a:ln w="9525" cap="flat" cmpd="sng" algn="ctr">
                <a:noFill/>
                <a:prstDash val="solid"/>
              </a:ln>
              <a:effectLst/>
            </p:spPr>
            <p:txBody>
              <a:bodyPr lIns="0" tIns="0" rIns="0" bIns="0" rtlCol="0" anchor="b"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障害の発生</a:t>
                </a:r>
              </a:p>
            </p:txBody>
          </p:sp>
        </p:grpSp>
        <p:grpSp>
          <p:nvGrpSpPr>
            <p:cNvPr id="62" name="グループ化 61">
              <a:extLst>
                <a:ext uri="{FF2B5EF4-FFF2-40B4-BE49-F238E27FC236}">
                  <a16:creationId xmlns:a16="http://schemas.microsoft.com/office/drawing/2014/main" id="{0516358D-0F4B-50C5-A575-28706D040B44}"/>
                </a:ext>
              </a:extLst>
            </p:cNvPr>
            <p:cNvGrpSpPr/>
            <p:nvPr/>
          </p:nvGrpSpPr>
          <p:grpSpPr>
            <a:xfrm>
              <a:off x="4667578" y="1789832"/>
              <a:ext cx="5616000" cy="296143"/>
              <a:chOff x="450730" y="2047007"/>
              <a:chExt cx="4749920" cy="296143"/>
            </a:xfrm>
          </p:grpSpPr>
          <p:cxnSp>
            <p:nvCxnSpPr>
              <p:cNvPr id="63" name="直線コネクタ 62">
                <a:extLst>
                  <a:ext uri="{FF2B5EF4-FFF2-40B4-BE49-F238E27FC236}">
                    <a16:creationId xmlns:a16="http://schemas.microsoft.com/office/drawing/2014/main" id="{30D81C80-EED5-68A8-5D0C-B1793C6B4675}"/>
                  </a:ext>
                </a:extLst>
              </p:cNvPr>
              <p:cNvCxnSpPr>
                <a:cxnSpLocks/>
              </p:cNvCxnSpPr>
              <p:nvPr/>
            </p:nvCxnSpPr>
            <p:spPr>
              <a:xfrm>
                <a:off x="450730" y="2343150"/>
                <a:ext cx="4748400" cy="0"/>
              </a:xfrm>
              <a:prstGeom prst="line">
                <a:avLst/>
              </a:prstGeom>
              <a:noFill/>
              <a:ln w="9525" cap="flat" cmpd="sng" algn="ctr">
                <a:solidFill>
                  <a:srgbClr val="000000"/>
                </a:solidFill>
                <a:prstDash val="solid"/>
              </a:ln>
              <a:effectLst/>
            </p:spPr>
          </p:cxnSp>
          <p:sp>
            <p:nvSpPr>
              <p:cNvPr id="64" name="正方形/長方形 63">
                <a:extLst>
                  <a:ext uri="{FF2B5EF4-FFF2-40B4-BE49-F238E27FC236}">
                    <a16:creationId xmlns:a16="http://schemas.microsoft.com/office/drawing/2014/main" id="{DF8EAED4-5076-755A-798F-64D8383CBE3B}"/>
                  </a:ext>
                </a:extLst>
              </p:cNvPr>
              <p:cNvSpPr/>
              <p:nvPr/>
            </p:nvSpPr>
            <p:spPr>
              <a:xfrm>
                <a:off x="450730" y="2047007"/>
                <a:ext cx="4749920" cy="277093"/>
              </a:xfrm>
              <a:prstGeom prst="rect">
                <a:avLst/>
              </a:prstGeom>
              <a:noFill/>
              <a:ln w="9525" cap="flat" cmpd="sng" algn="ctr">
                <a:noFill/>
                <a:prstDash val="solid"/>
              </a:ln>
              <a:effectLst/>
            </p:spPr>
            <p:txBody>
              <a:bodyPr lIns="0" tIns="0" rIns="0" bIns="0" rtlCol="0" anchor="b"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当社の現状</a:t>
                </a:r>
              </a:p>
            </p:txBody>
          </p:sp>
        </p:grpSp>
        <p:sp>
          <p:nvSpPr>
            <p:cNvPr id="65" name="二等辺三角形 64">
              <a:extLst>
                <a:ext uri="{FF2B5EF4-FFF2-40B4-BE49-F238E27FC236}">
                  <a16:creationId xmlns:a16="http://schemas.microsoft.com/office/drawing/2014/main" id="{5DB901C9-E95B-4954-EDE4-E150BDD59F12}"/>
                </a:ext>
              </a:extLst>
            </p:cNvPr>
            <p:cNvSpPr/>
            <p:nvPr/>
          </p:nvSpPr>
          <p:spPr>
            <a:xfrm rot="10800000">
              <a:off x="5979141" y="6297543"/>
              <a:ext cx="3236297" cy="180391"/>
            </a:xfrm>
            <a:prstGeom prst="triangle">
              <a:avLst>
                <a:gd name="adj" fmla="val 50000"/>
              </a:avLst>
            </a:prstGeom>
            <a:solidFill>
              <a:srgbClr val="ADADAD"/>
            </a:solidFill>
            <a:ln w="9525" cap="flat" cmpd="sng" algn="ctr">
              <a:noFill/>
              <a:prstDash val="solid"/>
            </a:ln>
            <a:effectLst/>
          </p:spPr>
          <p:txBody>
            <a:bodyPr lIns="0" tIns="0" rIns="0" bIns="0" rtlCol="0" anchor="t" anchorCtr="0"/>
            <a:lstStyle/>
            <a:p>
              <a:pPr marL="0" marR="0" lvl="0" indent="0" algn="ctr" defTabSz="995507" eaLnBrk="1" fontAlgn="auto" latinLnBrk="0" hangingPunct="1">
                <a:lnSpc>
                  <a:spcPct val="100000"/>
                </a:lnSpc>
                <a:spcBef>
                  <a:spcPts val="0"/>
                </a:spcBef>
                <a:spcAft>
                  <a:spcPts val="0"/>
                </a:spcAft>
                <a:buClrTx/>
                <a:buSzTx/>
                <a:buFontTx/>
                <a:buNone/>
                <a:tabLst/>
                <a:defRPr/>
              </a:pPr>
              <a:endParaRPr kumimoji="0" lang="ja-JP" altLang="en-US"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endParaRPr>
            </a:p>
          </p:txBody>
        </p:sp>
        <p:sp>
          <p:nvSpPr>
            <p:cNvPr id="66" name="楕円 65">
              <a:extLst>
                <a:ext uri="{FF2B5EF4-FFF2-40B4-BE49-F238E27FC236}">
                  <a16:creationId xmlns:a16="http://schemas.microsoft.com/office/drawing/2014/main" id="{5CDD6786-80DD-7ABC-CB7C-85D49ADEA12A}"/>
                </a:ext>
              </a:extLst>
            </p:cNvPr>
            <p:cNvSpPr/>
            <p:nvPr/>
          </p:nvSpPr>
          <p:spPr>
            <a:xfrm>
              <a:off x="7415482" y="6673341"/>
              <a:ext cx="288000" cy="288000"/>
            </a:xfrm>
            <a:prstGeom prst="ellipse">
              <a:avLst/>
            </a:prstGeom>
            <a:solidFill>
              <a:srgbClr val="000000">
                <a:lumMod val="50000"/>
                <a:lumOff val="50000"/>
              </a:srgbClr>
            </a:solidFill>
            <a:ln w="190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95507" eaLnBrk="1" fontAlgn="auto" latinLnBrk="0" hangingPunct="1">
                <a:lnSpc>
                  <a:spcPct val="100000"/>
                </a:lnSpc>
                <a:spcBef>
                  <a:spcPts val="600"/>
                </a:spcBef>
                <a:spcAft>
                  <a:spcPts val="0"/>
                </a:spcAft>
                <a:buClr>
                  <a:prstClr val="black"/>
                </a:buClr>
                <a:buSzTx/>
                <a:buFontTx/>
                <a:buNone/>
                <a:tabLst>
                  <a:tab pos="180975" algn="l"/>
                </a:tabLst>
                <a:defRPr/>
              </a:pPr>
              <a:r>
                <a:rPr kumimoji="0" lang="ja-JP" altLang="en-US" sz="14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a:t>
              </a:r>
              <a:endParaRPr kumimoji="0" lang="en-US" altLang="ja-JP" sz="14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448255DD-6692-3B7D-B6DF-3553DEC7539A}"/>
                </a:ext>
              </a:extLst>
            </p:cNvPr>
            <p:cNvSpPr/>
            <p:nvPr/>
          </p:nvSpPr>
          <p:spPr>
            <a:xfrm>
              <a:off x="4667578" y="2136776"/>
              <a:ext cx="5705687" cy="449483"/>
            </a:xfrm>
            <a:prstGeom prst="rect">
              <a:avLst/>
            </a:prstGeom>
            <a:noFill/>
            <a:ln w="9525" cap="flat" cmpd="sng" algn="ctr">
              <a:noFill/>
              <a:prstDash val="solid"/>
            </a:ln>
            <a:effectLst/>
          </p:spPr>
          <p:txBody>
            <a:bodyPr lIns="0" tIns="0" rIns="0" bIns="0" rtlCol="0" anchor="t" anchorCtr="0"/>
            <a:lstStyle/>
            <a:p>
              <a:pPr marL="171450" marR="0" lvl="0" indent="-171450" defTabSz="995507"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ja-JP" altLang="en-US" sz="105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障害発生原因や復旧時に起きた問題について、現行の障害対応態勢やシステム課題が顕在化。</a:t>
              </a:r>
              <a:r>
                <a:rPr kumimoji="0" lang="en-US" altLang="ja-JP" sz="105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MTBJ</a:t>
              </a:r>
              <a:r>
                <a:rPr kumimoji="0" lang="ja-JP" altLang="en-US" sz="105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a:t>
              </a:r>
              <a:r>
                <a:rPr kumimoji="0" lang="en-US" altLang="ja-JP" sz="105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MUSK</a:t>
              </a:r>
              <a:r>
                <a:rPr kumimoji="0" lang="ja-JP" altLang="en-US" sz="105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の自己評価に加え、第三者評価により、課題と対応方針を検討</a:t>
              </a:r>
              <a:endParaRPr kumimoji="0" lang="en-US" altLang="ja-JP" sz="105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5E82FB30-5BAC-415C-EBB1-BA78336AC931}"/>
                </a:ext>
              </a:extLst>
            </p:cNvPr>
            <p:cNvSpPr/>
            <p:nvPr/>
          </p:nvSpPr>
          <p:spPr>
            <a:xfrm>
              <a:off x="452685" y="2136776"/>
              <a:ext cx="3730694" cy="449483"/>
            </a:xfrm>
            <a:prstGeom prst="rect">
              <a:avLst/>
            </a:prstGeom>
            <a:noFill/>
            <a:ln w="9525" cap="flat" cmpd="sng" algn="ctr">
              <a:noFill/>
              <a:prstDash val="solid"/>
            </a:ln>
            <a:effectLst/>
          </p:spPr>
          <p:txBody>
            <a:bodyPr lIns="0" tIns="0" rIns="0" bIns="0" rtlCol="0" anchor="t" anchorCtr="0"/>
            <a:lstStyle/>
            <a:p>
              <a:pPr marL="171450" marR="0" lvl="0" indent="-171450" defTabSz="995507"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altLang="ja-JP" sz="105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2024</a:t>
              </a:r>
              <a:r>
                <a:rPr kumimoji="0" lang="ja-JP" altLang="en-US" sz="105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年度下期に発生した障害にて、適切な復旧対応ができず復旧対応に時間を要し、顧客および業務影響が発生</a:t>
              </a:r>
              <a:endParaRPr kumimoji="0" lang="en-US" altLang="ja-JP" sz="105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EF4F490B-95EC-0AE6-0C4D-463FB0A24900}"/>
                </a:ext>
              </a:extLst>
            </p:cNvPr>
            <p:cNvSpPr/>
            <p:nvPr/>
          </p:nvSpPr>
          <p:spPr bwMode="auto">
            <a:xfrm>
              <a:off x="8598492" y="2940227"/>
              <a:ext cx="1822454" cy="3240991"/>
            </a:xfrm>
            <a:prstGeom prst="rect">
              <a:avLst/>
            </a:prstGeom>
            <a:solidFill>
              <a:srgbClr val="FFFFFF">
                <a:lumMod val="95000"/>
              </a:srgbClr>
            </a:solidFill>
            <a:ln w="28575" cap="flat" cmpd="sng" algn="ctr">
              <a:solidFill>
                <a:srgbClr val="FFFFFF">
                  <a:lumMod val="85000"/>
                </a:srgb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noAutofit/>
            </a:bodyPr>
            <a:lstStyle/>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ja-JP" sz="1100" b="1" i="0" u="none" strike="noStrike" kern="0" cap="none" spc="0" normalizeH="0" baseline="0" noProof="0">
                <a:ln>
                  <a:noFill/>
                </a:ln>
                <a:solidFill>
                  <a:srgbClr val="333333"/>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70" name="矢印: 五方向 69">
              <a:extLst>
                <a:ext uri="{FF2B5EF4-FFF2-40B4-BE49-F238E27FC236}">
                  <a16:creationId xmlns:a16="http://schemas.microsoft.com/office/drawing/2014/main" id="{557C4C13-C56F-CCDC-7CF2-73AF26C89CB4}"/>
                </a:ext>
              </a:extLst>
            </p:cNvPr>
            <p:cNvSpPr/>
            <p:nvPr/>
          </p:nvSpPr>
          <p:spPr bwMode="auto">
            <a:xfrm>
              <a:off x="4642178" y="2644976"/>
              <a:ext cx="1908000" cy="252000"/>
            </a:xfrm>
            <a:prstGeom prst="homePlate">
              <a:avLst/>
            </a:prstGeom>
            <a:solidFill>
              <a:srgbClr val="DC5A5B">
                <a:lumMod val="75000"/>
              </a:srgbClr>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未然防止</a:t>
              </a:r>
              <a:r>
                <a:rPr kumimoji="0" lang="en-US" altLang="ja-JP"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a:t>
              </a: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予兆管理</a:t>
              </a:r>
            </a:p>
          </p:txBody>
        </p:sp>
        <p:sp>
          <p:nvSpPr>
            <p:cNvPr id="71" name="矢印: 五方向 70">
              <a:extLst>
                <a:ext uri="{FF2B5EF4-FFF2-40B4-BE49-F238E27FC236}">
                  <a16:creationId xmlns:a16="http://schemas.microsoft.com/office/drawing/2014/main" id="{E915C98E-BB0F-8118-2274-BF482A2DD84B}"/>
                </a:ext>
              </a:extLst>
            </p:cNvPr>
            <p:cNvSpPr/>
            <p:nvPr/>
          </p:nvSpPr>
          <p:spPr bwMode="auto">
            <a:xfrm>
              <a:off x="8588717" y="2644393"/>
              <a:ext cx="1799259" cy="264181"/>
            </a:xfrm>
            <a:prstGeom prst="homePlate">
              <a:avLst/>
            </a:prstGeom>
            <a:solidFill>
              <a:srgbClr val="DC5A5B">
                <a:lumMod val="75000"/>
              </a:srgbClr>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事後対応</a:t>
              </a:r>
            </a:p>
          </p:txBody>
        </p:sp>
        <p:sp>
          <p:nvSpPr>
            <p:cNvPr id="72" name="正方形/長方形 71">
              <a:extLst>
                <a:ext uri="{FF2B5EF4-FFF2-40B4-BE49-F238E27FC236}">
                  <a16:creationId xmlns:a16="http://schemas.microsoft.com/office/drawing/2014/main" id="{7053D7ED-7B2A-B6C5-6671-1005B5391F41}"/>
                </a:ext>
              </a:extLst>
            </p:cNvPr>
            <p:cNvSpPr/>
            <p:nvPr/>
          </p:nvSpPr>
          <p:spPr bwMode="auto">
            <a:xfrm>
              <a:off x="4676108" y="2953520"/>
              <a:ext cx="1854388" cy="3240991"/>
            </a:xfrm>
            <a:prstGeom prst="rect">
              <a:avLst/>
            </a:prstGeom>
            <a:solidFill>
              <a:srgbClr val="FFFFFF">
                <a:lumMod val="95000"/>
              </a:srgbClr>
            </a:solidFill>
            <a:ln w="28575" cap="flat" cmpd="sng" algn="ctr">
              <a:solidFill>
                <a:srgbClr val="FFFFFF">
                  <a:lumMod val="85000"/>
                </a:srgb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noAutofit/>
            </a:bodyPr>
            <a:lstStyle/>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ja-JP" sz="1050" b="1" i="0" u="none" strike="noStrike" kern="0" cap="none" spc="0" normalizeH="0" baseline="0" noProof="0">
                <a:ln>
                  <a:noFill/>
                </a:ln>
                <a:solidFill>
                  <a:srgbClr val="333333"/>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73" name="正方形/長方形 72">
              <a:extLst>
                <a:ext uri="{FF2B5EF4-FFF2-40B4-BE49-F238E27FC236}">
                  <a16:creationId xmlns:a16="http://schemas.microsoft.com/office/drawing/2014/main" id="{F0D1F34A-87D2-0610-6802-55B97BACBC83}"/>
                </a:ext>
              </a:extLst>
            </p:cNvPr>
            <p:cNvSpPr/>
            <p:nvPr/>
          </p:nvSpPr>
          <p:spPr bwMode="auto">
            <a:xfrm>
              <a:off x="6621257" y="2951825"/>
              <a:ext cx="1875202" cy="3240991"/>
            </a:xfrm>
            <a:prstGeom prst="rect">
              <a:avLst/>
            </a:prstGeom>
            <a:solidFill>
              <a:srgbClr val="FFFFFF">
                <a:lumMod val="95000"/>
              </a:srgbClr>
            </a:solidFill>
            <a:ln w="28575" cap="flat" cmpd="sng" algn="ctr">
              <a:solidFill>
                <a:srgbClr val="FFFFFF">
                  <a:lumMod val="85000"/>
                </a:srgb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ja-JP" sz="1100" b="1" i="0" u="none" strike="noStrike" kern="0" cap="none" spc="0" normalizeH="0" baseline="0" noProof="0">
                <a:ln>
                  <a:noFill/>
                </a:ln>
                <a:solidFill>
                  <a:srgbClr val="333333"/>
                </a:solidFill>
                <a:effectLst/>
                <a:uLnTx/>
                <a:uFillTx/>
                <a:latin typeface="Meiryo UI" panose="020B0604030504040204" pitchFamily="50" charset="-128"/>
                <a:ea typeface="Meiryo UI" panose="020B0604030504040204" pitchFamily="50" charset="-128"/>
                <a:cs typeface="Malgun Gothic Semilight" panose="020B0502040204020203" pitchFamily="50" charset="-128"/>
              </a:endParaRPr>
            </a:p>
          </p:txBody>
        </p:sp>
        <p:sp>
          <p:nvSpPr>
            <p:cNvPr id="74" name="正方形/長方形 73">
              <a:extLst>
                <a:ext uri="{FF2B5EF4-FFF2-40B4-BE49-F238E27FC236}">
                  <a16:creationId xmlns:a16="http://schemas.microsoft.com/office/drawing/2014/main" id="{D39E771D-2F0F-DE30-C4C8-6ABFDC077D97}"/>
                </a:ext>
              </a:extLst>
            </p:cNvPr>
            <p:cNvSpPr/>
            <p:nvPr/>
          </p:nvSpPr>
          <p:spPr>
            <a:xfrm>
              <a:off x="4768828" y="3608643"/>
              <a:ext cx="1668949" cy="468000"/>
            </a:xfrm>
            <a:prstGeom prst="rect">
              <a:avLst/>
            </a:prstGeom>
            <a:solidFill>
              <a:srgbClr val="FFFFFF"/>
            </a:solidFill>
            <a:ln w="9525" cap="flat" cmpd="sng" algn="ctr">
              <a:solidFill>
                <a:srgbClr val="E60000">
                  <a:lumMod val="60000"/>
                  <a:lumOff val="4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突発的なデータ量増加に対応できないキャパシティ管理</a:t>
              </a:r>
            </a:p>
          </p:txBody>
        </p:sp>
        <p:sp>
          <p:nvSpPr>
            <p:cNvPr id="75" name="正方形/長方形 74">
              <a:extLst>
                <a:ext uri="{FF2B5EF4-FFF2-40B4-BE49-F238E27FC236}">
                  <a16:creationId xmlns:a16="http://schemas.microsoft.com/office/drawing/2014/main" id="{4793768D-7D63-E98E-00DA-181FB30BD188}"/>
                </a:ext>
              </a:extLst>
            </p:cNvPr>
            <p:cNvSpPr/>
            <p:nvPr/>
          </p:nvSpPr>
          <p:spPr>
            <a:xfrm>
              <a:off x="4768828" y="4143300"/>
              <a:ext cx="1668949" cy="468000"/>
            </a:xfrm>
            <a:prstGeom prst="rect">
              <a:avLst/>
            </a:prstGeom>
            <a:solidFill>
              <a:srgbClr val="FFFFFF"/>
            </a:solidFill>
            <a:ln w="9525" cap="flat" cmpd="sng" algn="ctr">
              <a:solidFill>
                <a:srgbClr val="E60000">
                  <a:lumMod val="60000"/>
                  <a:lumOff val="4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潜在バグや過去未対応の障害が残存</a:t>
              </a:r>
            </a:p>
          </p:txBody>
        </p:sp>
        <p:sp>
          <p:nvSpPr>
            <p:cNvPr id="76" name="正方形/長方形 75">
              <a:extLst>
                <a:ext uri="{FF2B5EF4-FFF2-40B4-BE49-F238E27FC236}">
                  <a16:creationId xmlns:a16="http://schemas.microsoft.com/office/drawing/2014/main" id="{E8FD9D7B-8719-6DEB-F5C6-D16ACA198A99}"/>
                </a:ext>
              </a:extLst>
            </p:cNvPr>
            <p:cNvSpPr/>
            <p:nvPr/>
          </p:nvSpPr>
          <p:spPr>
            <a:xfrm>
              <a:off x="6724383" y="5190018"/>
              <a:ext cx="1668949" cy="468000"/>
            </a:xfrm>
            <a:prstGeom prst="rect">
              <a:avLst/>
            </a:prstGeom>
            <a:solidFill>
              <a:srgbClr val="FFFFFF"/>
            </a:solidFill>
            <a:ln w="9525" cap="flat" cmpd="sng" algn="ctr">
              <a:solidFill>
                <a:srgbClr val="E60000">
                  <a:lumMod val="60000"/>
                  <a:lumOff val="4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障害対応時間が不足</a:t>
              </a:r>
            </a:p>
          </p:txBody>
        </p:sp>
        <p:sp>
          <p:nvSpPr>
            <p:cNvPr id="77" name="正方形/長方形 76">
              <a:extLst>
                <a:ext uri="{FF2B5EF4-FFF2-40B4-BE49-F238E27FC236}">
                  <a16:creationId xmlns:a16="http://schemas.microsoft.com/office/drawing/2014/main" id="{E023E835-BBCD-650A-D169-4E195D1DFE5E}"/>
                </a:ext>
              </a:extLst>
            </p:cNvPr>
            <p:cNvSpPr/>
            <p:nvPr/>
          </p:nvSpPr>
          <p:spPr>
            <a:xfrm>
              <a:off x="6724383" y="5717144"/>
              <a:ext cx="1668949" cy="468000"/>
            </a:xfrm>
            <a:prstGeom prst="rect">
              <a:avLst/>
            </a:prstGeom>
            <a:solidFill>
              <a:srgbClr val="FFFFFF"/>
            </a:solidFill>
            <a:ln w="9525" cap="flat" cmpd="sng" algn="ctr">
              <a:solidFill>
                <a:srgbClr val="E60000">
                  <a:lumMod val="60000"/>
                  <a:lumOff val="4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BCP</a:t>
              </a:r>
              <a:r>
                <a:rPr kumimoji="0" lang="ja-JP" altLang="en-US"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が有効に機能しない</a:t>
              </a:r>
            </a:p>
          </p:txBody>
        </p:sp>
        <p:sp>
          <p:nvSpPr>
            <p:cNvPr id="78" name="正方形/長方形 77">
              <a:extLst>
                <a:ext uri="{FF2B5EF4-FFF2-40B4-BE49-F238E27FC236}">
                  <a16:creationId xmlns:a16="http://schemas.microsoft.com/office/drawing/2014/main" id="{8682CA2C-B441-C99E-63E9-C28792855D14}"/>
                </a:ext>
              </a:extLst>
            </p:cNvPr>
            <p:cNvSpPr/>
            <p:nvPr/>
          </p:nvSpPr>
          <p:spPr>
            <a:xfrm>
              <a:off x="6724383" y="3608643"/>
              <a:ext cx="1668949" cy="468000"/>
            </a:xfrm>
            <a:prstGeom prst="rect">
              <a:avLst/>
            </a:prstGeom>
            <a:solidFill>
              <a:srgbClr val="FFFFFF"/>
            </a:solidFill>
            <a:ln w="9525" cap="flat" cmpd="sng" algn="ctr">
              <a:solidFill>
                <a:srgbClr val="E60000">
                  <a:lumMod val="60000"/>
                  <a:lumOff val="4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障害対応可能な要員が限定的、体制が不十分</a:t>
              </a:r>
            </a:p>
          </p:txBody>
        </p:sp>
        <p:sp>
          <p:nvSpPr>
            <p:cNvPr id="79" name="正方形/長方形 78">
              <a:extLst>
                <a:ext uri="{FF2B5EF4-FFF2-40B4-BE49-F238E27FC236}">
                  <a16:creationId xmlns:a16="http://schemas.microsoft.com/office/drawing/2014/main" id="{D33524D3-7C7A-24BE-1E6C-D0EFE791598B}"/>
                </a:ext>
              </a:extLst>
            </p:cNvPr>
            <p:cNvSpPr/>
            <p:nvPr/>
          </p:nvSpPr>
          <p:spPr>
            <a:xfrm>
              <a:off x="6724383" y="4135768"/>
              <a:ext cx="1668949" cy="468000"/>
            </a:xfrm>
            <a:prstGeom prst="rect">
              <a:avLst/>
            </a:prstGeom>
            <a:solidFill>
              <a:srgbClr val="FFFFFF"/>
            </a:solidFill>
            <a:ln w="9525" cap="flat" cmpd="sng" algn="ctr">
              <a:solidFill>
                <a:srgbClr val="E60000">
                  <a:lumMod val="60000"/>
                  <a:lumOff val="4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ユーザー／システムの連携、情報共有が不十分</a:t>
              </a:r>
            </a:p>
          </p:txBody>
        </p:sp>
        <p:sp>
          <p:nvSpPr>
            <p:cNvPr id="80" name="正方形/長方形 79">
              <a:extLst>
                <a:ext uri="{FF2B5EF4-FFF2-40B4-BE49-F238E27FC236}">
                  <a16:creationId xmlns:a16="http://schemas.microsoft.com/office/drawing/2014/main" id="{1FB91ADA-A977-7462-5782-2B7331F5AFD2}"/>
                </a:ext>
              </a:extLst>
            </p:cNvPr>
            <p:cNvSpPr/>
            <p:nvPr/>
          </p:nvSpPr>
          <p:spPr>
            <a:xfrm>
              <a:off x="6724383" y="4662893"/>
              <a:ext cx="1668949" cy="468000"/>
            </a:xfrm>
            <a:prstGeom prst="rect">
              <a:avLst/>
            </a:prstGeom>
            <a:solidFill>
              <a:srgbClr val="FFFFFF"/>
            </a:solidFill>
            <a:ln w="9525" cap="flat" cmpd="sng" algn="ctr">
              <a:solidFill>
                <a:srgbClr val="E60000">
                  <a:lumMod val="60000"/>
                  <a:lumOff val="4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障害対応がドキュメント化されておらず、対応が属人的</a:t>
              </a:r>
            </a:p>
          </p:txBody>
        </p:sp>
        <p:sp>
          <p:nvSpPr>
            <p:cNvPr id="81" name="正方形/長方形 80">
              <a:extLst>
                <a:ext uri="{FF2B5EF4-FFF2-40B4-BE49-F238E27FC236}">
                  <a16:creationId xmlns:a16="http://schemas.microsoft.com/office/drawing/2014/main" id="{AE30E613-D957-201E-86FF-AD71E279434C}"/>
                </a:ext>
              </a:extLst>
            </p:cNvPr>
            <p:cNvSpPr/>
            <p:nvPr/>
          </p:nvSpPr>
          <p:spPr>
            <a:xfrm>
              <a:off x="8685230" y="3608643"/>
              <a:ext cx="1668949" cy="468000"/>
            </a:xfrm>
            <a:prstGeom prst="rect">
              <a:avLst/>
            </a:prstGeom>
            <a:solidFill>
              <a:srgbClr val="FFFFFF"/>
            </a:solidFill>
            <a:ln w="9525" cap="flat" cmpd="sng" algn="ctr">
              <a:solidFill>
                <a:srgbClr val="E60000">
                  <a:lumMod val="60000"/>
                  <a:lumOff val="40000"/>
                </a:srgbClr>
              </a:solidFill>
              <a:prstDash val="solid"/>
            </a:ln>
            <a:effectLst/>
          </p:spPr>
          <p:txBody>
            <a:bodyPr lIns="36000" tIns="36000" rIns="36000" bIns="36000" rtlCol="0" anchor="ctr" anchorCtr="0"/>
            <a:lstStyle/>
            <a:p>
              <a:pPr marL="171450" marR="0" lvl="0" indent="-171450" defTabSz="995507"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過去障害と同様の原因で発生、再発防止策、横展開が有効でない</a:t>
              </a:r>
            </a:p>
          </p:txBody>
        </p:sp>
        <p:sp>
          <p:nvSpPr>
            <p:cNvPr id="82" name="矢印: 五方向 81">
              <a:extLst>
                <a:ext uri="{FF2B5EF4-FFF2-40B4-BE49-F238E27FC236}">
                  <a16:creationId xmlns:a16="http://schemas.microsoft.com/office/drawing/2014/main" id="{D31207EC-EB97-D467-A118-42F7F057DE12}"/>
                </a:ext>
              </a:extLst>
            </p:cNvPr>
            <p:cNvSpPr/>
            <p:nvPr/>
          </p:nvSpPr>
          <p:spPr bwMode="auto">
            <a:xfrm>
              <a:off x="6556116" y="2634909"/>
              <a:ext cx="2033522" cy="259588"/>
            </a:xfrm>
            <a:prstGeom prst="homePlate">
              <a:avLst/>
            </a:prstGeom>
            <a:solidFill>
              <a:srgbClr val="DC5A5B">
                <a:lumMod val="75000"/>
              </a:srgbClr>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algun Gothic Semilight" panose="020B0502040204020203" pitchFamily="50" charset="-128"/>
                </a:rPr>
                <a:t>復旧対応</a:t>
              </a:r>
            </a:p>
          </p:txBody>
        </p:sp>
        <p:sp>
          <p:nvSpPr>
            <p:cNvPr id="83" name="正方形/長方形 82">
              <a:extLst>
                <a:ext uri="{FF2B5EF4-FFF2-40B4-BE49-F238E27FC236}">
                  <a16:creationId xmlns:a16="http://schemas.microsoft.com/office/drawing/2014/main" id="{A5B2AFA2-627E-6265-4CD1-27312058ACF4}"/>
                </a:ext>
              </a:extLst>
            </p:cNvPr>
            <p:cNvSpPr/>
            <p:nvPr/>
          </p:nvSpPr>
          <p:spPr>
            <a:xfrm>
              <a:off x="4688071" y="2993905"/>
              <a:ext cx="1842426" cy="562095"/>
            </a:xfrm>
            <a:prstGeom prst="rect">
              <a:avLst/>
            </a:prstGeom>
            <a:solidFill>
              <a:srgbClr val="FFFFFF">
                <a:alpha val="90000"/>
              </a:srgbClr>
            </a:solidFill>
            <a:ln w="9525" cap="flat" cmpd="sng" algn="ctr">
              <a:noFill/>
              <a:prstDash val="solid"/>
            </a:ln>
            <a:effectLst/>
          </p:spPr>
          <p:txBody>
            <a:bodyPr lIns="36000" tIns="36000" rIns="36000" bIns="3600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システムや運用プロセスに潜むリスクを特定し、予め対策を講じて障害発生を防ぐ</a:t>
              </a:r>
            </a:p>
          </p:txBody>
        </p:sp>
        <p:sp>
          <p:nvSpPr>
            <p:cNvPr id="84" name="爆発: 8 pt 83">
              <a:extLst>
                <a:ext uri="{FF2B5EF4-FFF2-40B4-BE49-F238E27FC236}">
                  <a16:creationId xmlns:a16="http://schemas.microsoft.com/office/drawing/2014/main" id="{F7C62731-B01B-5BAF-F612-10A822063BD5}"/>
                </a:ext>
              </a:extLst>
            </p:cNvPr>
            <p:cNvSpPr/>
            <p:nvPr/>
          </p:nvSpPr>
          <p:spPr bwMode="auto">
            <a:xfrm>
              <a:off x="6172178" y="2471310"/>
              <a:ext cx="756000" cy="396000"/>
            </a:xfrm>
            <a:prstGeom prst="irregularSeal1">
              <a:avLst/>
            </a:prstGeom>
            <a:solidFill>
              <a:srgbClr val="FFC000"/>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algn="ctr"/>
              <a:r>
                <a:rPr kumimoji="0" lang="ja-JP" altLang="en-US" sz="1100" b="1" kern="0">
                  <a:solidFill>
                    <a:srgbClr val="333333"/>
                  </a:solidFill>
                  <a:latin typeface="Meiryo UI" panose="020B0604030504040204" pitchFamily="50" charset="-128"/>
                  <a:ea typeface="Meiryo UI" panose="020B0604030504040204" pitchFamily="50" charset="-128"/>
                  <a:cs typeface="Malgun Gothic Semilight" panose="020B0502040204020203" pitchFamily="50" charset="-128"/>
                </a:rPr>
                <a:t>障害</a:t>
              </a:r>
            </a:p>
          </p:txBody>
        </p:sp>
        <p:sp>
          <p:nvSpPr>
            <p:cNvPr id="85" name="正方形/長方形 84">
              <a:extLst>
                <a:ext uri="{FF2B5EF4-FFF2-40B4-BE49-F238E27FC236}">
                  <a16:creationId xmlns:a16="http://schemas.microsoft.com/office/drawing/2014/main" id="{AF3BE62E-B3DA-F64E-9E66-326E37701D91}"/>
                </a:ext>
              </a:extLst>
            </p:cNvPr>
            <p:cNvSpPr/>
            <p:nvPr/>
          </p:nvSpPr>
          <p:spPr>
            <a:xfrm>
              <a:off x="6642515" y="2985671"/>
              <a:ext cx="1842426" cy="562095"/>
            </a:xfrm>
            <a:prstGeom prst="rect">
              <a:avLst/>
            </a:prstGeom>
            <a:solidFill>
              <a:srgbClr val="FFFFFF">
                <a:alpha val="90000"/>
              </a:srgbClr>
            </a:solidFill>
            <a:ln w="9525" cap="flat" cmpd="sng" algn="ctr">
              <a:noFill/>
              <a:prstDash val="solid"/>
            </a:ln>
            <a:effectLst/>
          </p:spPr>
          <p:txBody>
            <a:bodyPr lIns="36000" tIns="36000" rIns="36000" bIns="3600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障害発生からシステム・業務が通常稼働に戻るまでに行う</a:t>
              </a:r>
              <a:b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br>
              <a:r>
                <a:rPr kumimoji="0" lang="ja-JP" altLang="en-US"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復旧対応、業務継続対応</a:t>
              </a:r>
            </a:p>
          </p:txBody>
        </p:sp>
        <p:sp>
          <p:nvSpPr>
            <p:cNvPr id="86" name="正方形/長方形 85">
              <a:extLst>
                <a:ext uri="{FF2B5EF4-FFF2-40B4-BE49-F238E27FC236}">
                  <a16:creationId xmlns:a16="http://schemas.microsoft.com/office/drawing/2014/main" id="{11ACF5F8-5DD9-8E8F-553A-807CBDA79F00}"/>
                </a:ext>
              </a:extLst>
            </p:cNvPr>
            <p:cNvSpPr/>
            <p:nvPr/>
          </p:nvSpPr>
          <p:spPr>
            <a:xfrm>
              <a:off x="8588506" y="2985671"/>
              <a:ext cx="1842426" cy="562095"/>
            </a:xfrm>
            <a:prstGeom prst="rect">
              <a:avLst/>
            </a:prstGeom>
            <a:solidFill>
              <a:srgbClr val="FFFFFF">
                <a:alpha val="90000"/>
              </a:srgbClr>
            </a:solidFill>
            <a:ln w="9525" cap="flat" cmpd="sng" algn="ctr">
              <a:noFill/>
              <a:prstDash val="solid"/>
            </a:ln>
            <a:effectLst/>
          </p:spPr>
          <p:txBody>
            <a:bodyPr lIns="36000" tIns="36000" rIns="36000" bIns="3600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障害復旧後に実施する、再発防止に向けた検討・対策、一連の障害対応における改善活動</a:t>
              </a:r>
            </a:p>
          </p:txBody>
        </p:sp>
      </p:grpSp>
    </p:spTree>
    <p:extLst>
      <p:ext uri="{BB962C8B-B14F-4D97-AF65-F5344CB8AC3E}">
        <p14:creationId xmlns:p14="http://schemas.microsoft.com/office/powerpoint/2010/main" val="37956614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E6961-BEBD-6507-22E0-274C1D725B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88E1B0-1761-7F99-588D-DDC8DC88E76F}"/>
              </a:ext>
            </a:extLst>
          </p:cNvPr>
          <p:cNvSpPr>
            <a:spLocks noGrp="1"/>
          </p:cNvSpPr>
          <p:nvPr>
            <p:ph type="title"/>
          </p:nvPr>
        </p:nvSpPr>
        <p:spPr>
          <a:xfrm>
            <a:off x="488504" y="568613"/>
            <a:ext cx="8928000" cy="373311"/>
          </a:xfrm>
        </p:spPr>
        <p:txBody>
          <a:bodyPr/>
          <a:lstStyle/>
          <a:p>
            <a:r>
              <a:rPr lang="ja-JP" altLang="en-US" dirty="0"/>
              <a:t>７</a:t>
            </a:r>
            <a:r>
              <a:rPr kumimoji="1" lang="en-US" altLang="ja-JP" dirty="0"/>
              <a:t>. </a:t>
            </a:r>
            <a:r>
              <a:rPr kumimoji="1" lang="ja-JP" altLang="en-US" dirty="0"/>
              <a:t>オペレジ施策～②現行課題</a:t>
            </a:r>
          </a:p>
        </p:txBody>
      </p:sp>
      <p:sp>
        <p:nvSpPr>
          <p:cNvPr id="3" name="テキスト プレースホルダー 2">
            <a:extLst>
              <a:ext uri="{FF2B5EF4-FFF2-40B4-BE49-F238E27FC236}">
                <a16:creationId xmlns:a16="http://schemas.microsoft.com/office/drawing/2014/main" id="{E5206097-740C-71CD-C1D5-AFA7A68B4917}"/>
              </a:ext>
            </a:extLst>
          </p:cNvPr>
          <p:cNvSpPr>
            <a:spLocks noGrp="1"/>
          </p:cNvSpPr>
          <p:nvPr>
            <p:ph type="body" idx="12"/>
          </p:nvPr>
        </p:nvSpPr>
        <p:spPr>
          <a:xfrm>
            <a:off x="488999" y="969722"/>
            <a:ext cx="9131121" cy="669414"/>
          </a:xfrm>
        </p:spPr>
        <p:txBody>
          <a:bodyPr/>
          <a:lstStyle/>
          <a:p>
            <a:r>
              <a:rPr kumimoji="1" lang="ja-JP" altLang="en-US" dirty="0"/>
              <a:t>障害の</a:t>
            </a:r>
            <a:r>
              <a:rPr kumimoji="1" lang="en-US" altLang="ja-JP" dirty="0"/>
              <a:t>『</a:t>
            </a:r>
            <a:r>
              <a:rPr kumimoji="1" lang="ja-JP" altLang="en-US" dirty="0"/>
              <a:t>未然防止</a:t>
            </a:r>
            <a:r>
              <a:rPr kumimoji="1" lang="en-US" altLang="ja-JP" dirty="0"/>
              <a:t>』『</a:t>
            </a:r>
            <a:r>
              <a:rPr kumimoji="1" lang="ja-JP" altLang="en-US" dirty="0"/>
              <a:t>復旧対応</a:t>
            </a:r>
            <a:r>
              <a:rPr kumimoji="1" lang="en-US" altLang="ja-JP" dirty="0"/>
              <a:t>』『</a:t>
            </a:r>
            <a:r>
              <a:rPr kumimoji="1" lang="ja-JP" altLang="en-US" dirty="0"/>
              <a:t>事後対応</a:t>
            </a:r>
            <a:r>
              <a:rPr kumimoji="1" lang="en-US" altLang="ja-JP" dirty="0"/>
              <a:t>』</a:t>
            </a:r>
            <a:r>
              <a:rPr kumimoji="1" lang="ja-JP" altLang="en-US" dirty="0"/>
              <a:t>の各フェーズにおいて、当社の課題認識を可視化</a:t>
            </a:r>
          </a:p>
          <a:p>
            <a:r>
              <a:rPr kumimoji="1" lang="en-US" altLang="ja-JP" dirty="0"/>
              <a:t>『</a:t>
            </a:r>
            <a:r>
              <a:rPr kumimoji="1" lang="ja-JP" altLang="en-US" dirty="0"/>
              <a:t>復旧対応</a:t>
            </a:r>
            <a:r>
              <a:rPr kumimoji="1" lang="en-US" altLang="ja-JP" dirty="0"/>
              <a:t>』『</a:t>
            </a:r>
            <a:r>
              <a:rPr kumimoji="1" lang="ja-JP" altLang="en-US" dirty="0"/>
              <a:t>事後対応</a:t>
            </a:r>
            <a:r>
              <a:rPr kumimoji="1" lang="en-US" altLang="ja-JP" dirty="0"/>
              <a:t>』</a:t>
            </a:r>
            <a:r>
              <a:rPr kumimoji="1" lang="ja-JP" altLang="en-US" dirty="0"/>
              <a:t>のガバナンスについては、第三者評価を実施し、改善の必要性</a:t>
            </a:r>
            <a:r>
              <a:rPr kumimoji="1" lang="ja-JP" altLang="en-US"/>
              <a:t>を検証。</a:t>
            </a:r>
            <a:endParaRPr kumimoji="1" lang="ja-JP" altLang="en-US" dirty="0"/>
          </a:p>
          <a:p>
            <a:r>
              <a:rPr kumimoji="1" lang="en-US" altLang="ja-JP" dirty="0"/>
              <a:t>『</a:t>
            </a:r>
            <a:r>
              <a:rPr kumimoji="1" lang="ja-JP" altLang="en-US" dirty="0"/>
              <a:t>未然防止</a:t>
            </a:r>
            <a:r>
              <a:rPr kumimoji="1" lang="en-US" altLang="ja-JP" dirty="0"/>
              <a:t>』</a:t>
            </a:r>
            <a:r>
              <a:rPr kumimoji="1" lang="ja-JP" altLang="en-US" dirty="0"/>
              <a:t>等に関する第三者評価は追加実施予定</a:t>
            </a:r>
          </a:p>
          <a:p>
            <a:endParaRPr kumimoji="1" lang="ja-JP" altLang="en-US" dirty="0"/>
          </a:p>
        </p:txBody>
      </p:sp>
      <p:sp>
        <p:nvSpPr>
          <p:cNvPr id="4" name="テキスト プレースホルダー 3">
            <a:extLst>
              <a:ext uri="{FF2B5EF4-FFF2-40B4-BE49-F238E27FC236}">
                <a16:creationId xmlns:a16="http://schemas.microsoft.com/office/drawing/2014/main" id="{007D42E2-8710-ED62-F21E-E24BDB3714DF}"/>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a:t>
            </a:r>
            <a:r>
              <a:rPr lang="ja-JP" altLang="en-US" dirty="0"/>
              <a:t>① アーキテクチャ戦略</a:t>
            </a:r>
            <a:endParaRPr kumimoji="1" lang="ja-JP" altLang="en-US" dirty="0"/>
          </a:p>
        </p:txBody>
      </p:sp>
      <p:grpSp>
        <p:nvGrpSpPr>
          <p:cNvPr id="39" name="グループ化 38">
            <a:extLst>
              <a:ext uri="{FF2B5EF4-FFF2-40B4-BE49-F238E27FC236}">
                <a16:creationId xmlns:a16="http://schemas.microsoft.com/office/drawing/2014/main" id="{FCD1C392-5D3E-9253-CC38-5D1E590DF002}"/>
              </a:ext>
            </a:extLst>
          </p:cNvPr>
          <p:cNvGrpSpPr/>
          <p:nvPr/>
        </p:nvGrpSpPr>
        <p:grpSpPr>
          <a:xfrm>
            <a:off x="330170" y="1832662"/>
            <a:ext cx="9245660" cy="4717912"/>
            <a:chOff x="488504" y="1756462"/>
            <a:chExt cx="8405145" cy="4717912"/>
          </a:xfrm>
        </p:grpSpPr>
        <p:sp>
          <p:nvSpPr>
            <p:cNvPr id="5" name="正方形/長方形 4">
              <a:extLst>
                <a:ext uri="{FF2B5EF4-FFF2-40B4-BE49-F238E27FC236}">
                  <a16:creationId xmlns:a16="http://schemas.microsoft.com/office/drawing/2014/main" id="{2D1EC14A-D8E1-958F-4D75-DD4DF345F092}"/>
                </a:ext>
              </a:extLst>
            </p:cNvPr>
            <p:cNvSpPr/>
            <p:nvPr/>
          </p:nvSpPr>
          <p:spPr bwMode="auto">
            <a:xfrm>
              <a:off x="6301798" y="2093729"/>
              <a:ext cx="2518332" cy="4318118"/>
            </a:xfrm>
            <a:prstGeom prst="rect">
              <a:avLst/>
            </a:prstGeom>
            <a:solidFill>
              <a:srgbClr val="FFFFFF">
                <a:lumMod val="95000"/>
              </a:srgbClr>
            </a:solidFill>
            <a:ln w="28575" cap="flat" cmpd="sng" algn="ctr">
              <a:solidFill>
                <a:srgbClr val="FFFFFF">
                  <a:lumMod val="85000"/>
                </a:srgb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sp>
          <p:nvSpPr>
            <p:cNvPr id="6" name="矢印: 五方向 5">
              <a:extLst>
                <a:ext uri="{FF2B5EF4-FFF2-40B4-BE49-F238E27FC236}">
                  <a16:creationId xmlns:a16="http://schemas.microsoft.com/office/drawing/2014/main" id="{4F438282-5160-C0E7-C907-A7BE66B7CB05}"/>
                </a:ext>
              </a:extLst>
            </p:cNvPr>
            <p:cNvSpPr/>
            <p:nvPr/>
          </p:nvSpPr>
          <p:spPr bwMode="auto">
            <a:xfrm>
              <a:off x="1118095" y="1756462"/>
              <a:ext cx="2591851" cy="294545"/>
            </a:xfrm>
            <a:prstGeom prst="homePlate">
              <a:avLst/>
            </a:prstGeom>
            <a:solidFill>
              <a:srgbClr val="DC5A5B">
                <a:lumMod val="75000"/>
              </a:srgbClr>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FFFFFF"/>
                  </a:solidFill>
                  <a:effectLst/>
                  <a:uLnTx/>
                  <a:uFillTx/>
                  <a:cs typeface="Malgun Gothic Semilight" panose="020B0502040204020203" pitchFamily="50" charset="-128"/>
                </a:rPr>
                <a:t>未然防止</a:t>
              </a:r>
              <a:r>
                <a:rPr kumimoji="0" lang="en-US" altLang="ja-JP" sz="1400" b="1" i="0" u="none" strike="noStrike" kern="0" cap="none" spc="0" normalizeH="0" baseline="0" noProof="0">
                  <a:ln>
                    <a:noFill/>
                  </a:ln>
                  <a:solidFill>
                    <a:srgbClr val="FFFFFF"/>
                  </a:solidFill>
                  <a:effectLst/>
                  <a:uLnTx/>
                  <a:uFillTx/>
                  <a:cs typeface="Malgun Gothic Semilight" panose="020B0502040204020203" pitchFamily="50" charset="-128"/>
                </a:rPr>
                <a:t>/</a:t>
              </a:r>
              <a:r>
                <a:rPr kumimoji="0" lang="ja-JP" altLang="en-US" sz="1400" b="1" i="0" u="none" strike="noStrike" kern="0" cap="none" spc="0" normalizeH="0" baseline="0" noProof="0">
                  <a:ln>
                    <a:noFill/>
                  </a:ln>
                  <a:solidFill>
                    <a:srgbClr val="FFFFFF"/>
                  </a:solidFill>
                  <a:effectLst/>
                  <a:uLnTx/>
                  <a:uFillTx/>
                  <a:cs typeface="Malgun Gothic Semilight" panose="020B0502040204020203" pitchFamily="50" charset="-128"/>
                </a:rPr>
                <a:t>予兆管理</a:t>
              </a:r>
            </a:p>
          </p:txBody>
        </p:sp>
        <p:sp>
          <p:nvSpPr>
            <p:cNvPr id="7" name="正方形/長方形 6">
              <a:extLst>
                <a:ext uri="{FF2B5EF4-FFF2-40B4-BE49-F238E27FC236}">
                  <a16:creationId xmlns:a16="http://schemas.microsoft.com/office/drawing/2014/main" id="{B07514E3-D0CB-FFA9-4ABB-C002AE060363}"/>
                </a:ext>
              </a:extLst>
            </p:cNvPr>
            <p:cNvSpPr/>
            <p:nvPr/>
          </p:nvSpPr>
          <p:spPr bwMode="auto">
            <a:xfrm>
              <a:off x="1118094" y="2093730"/>
              <a:ext cx="2518332" cy="4318118"/>
            </a:xfrm>
            <a:prstGeom prst="rect">
              <a:avLst/>
            </a:prstGeom>
            <a:solidFill>
              <a:srgbClr val="FFFFFF">
                <a:lumMod val="95000"/>
              </a:srgbClr>
            </a:solidFill>
            <a:ln w="28575" cap="flat" cmpd="sng" algn="ctr">
              <a:solidFill>
                <a:srgbClr val="FFFFFF">
                  <a:lumMod val="85000"/>
                </a:srgb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sp>
          <p:nvSpPr>
            <p:cNvPr id="8" name="正方形/長方形 7">
              <a:extLst>
                <a:ext uri="{FF2B5EF4-FFF2-40B4-BE49-F238E27FC236}">
                  <a16:creationId xmlns:a16="http://schemas.microsoft.com/office/drawing/2014/main" id="{478ABD45-FE60-095D-2D91-417DD5C524F7}"/>
                </a:ext>
              </a:extLst>
            </p:cNvPr>
            <p:cNvSpPr/>
            <p:nvPr/>
          </p:nvSpPr>
          <p:spPr bwMode="auto">
            <a:xfrm>
              <a:off x="3709946" y="2093729"/>
              <a:ext cx="2518332" cy="4318118"/>
            </a:xfrm>
            <a:prstGeom prst="rect">
              <a:avLst/>
            </a:prstGeom>
            <a:solidFill>
              <a:srgbClr val="FFFFFF">
                <a:lumMod val="95000"/>
              </a:srgbClr>
            </a:solidFill>
            <a:ln w="28575" cap="flat" cmpd="sng" algn="ctr">
              <a:solidFill>
                <a:srgbClr val="FFFFFF">
                  <a:lumMod val="85000"/>
                </a:srgbClr>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sp>
          <p:nvSpPr>
            <p:cNvPr id="9" name="正方形/長方形 8">
              <a:extLst>
                <a:ext uri="{FF2B5EF4-FFF2-40B4-BE49-F238E27FC236}">
                  <a16:creationId xmlns:a16="http://schemas.microsoft.com/office/drawing/2014/main" id="{76877496-BE7C-B4B3-7AEF-C0A605724875}"/>
                </a:ext>
              </a:extLst>
            </p:cNvPr>
            <p:cNvSpPr/>
            <p:nvPr/>
          </p:nvSpPr>
          <p:spPr bwMode="auto">
            <a:xfrm>
              <a:off x="1284980" y="5114222"/>
              <a:ext cx="2184560" cy="523636"/>
            </a:xfrm>
            <a:prstGeom prst="rect">
              <a:avLst/>
            </a:prstGeom>
            <a:solidFill>
              <a:srgbClr val="FFFFFF"/>
            </a:solidFill>
            <a:ln w="19050" cap="flat" cmpd="sng" algn="ctr">
              <a:solidFill>
                <a:srgbClr val="000000">
                  <a:lumMod val="50000"/>
                  <a:lumOff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キャパシティ管理態勢が</a:t>
              </a:r>
              <a:br>
                <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rPr>
              </a:b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不十分</a:t>
              </a: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sp>
          <p:nvSpPr>
            <p:cNvPr id="10" name="正方形/長方形 9">
              <a:extLst>
                <a:ext uri="{FF2B5EF4-FFF2-40B4-BE49-F238E27FC236}">
                  <a16:creationId xmlns:a16="http://schemas.microsoft.com/office/drawing/2014/main" id="{D1011047-8410-F34A-FD8F-A0E330475ED3}"/>
                </a:ext>
              </a:extLst>
            </p:cNvPr>
            <p:cNvSpPr/>
            <p:nvPr/>
          </p:nvSpPr>
          <p:spPr bwMode="auto">
            <a:xfrm>
              <a:off x="1284980" y="5734321"/>
              <a:ext cx="2184560" cy="523636"/>
            </a:xfrm>
            <a:prstGeom prst="rect">
              <a:avLst/>
            </a:prstGeom>
            <a:solidFill>
              <a:srgbClr val="FFFFFF"/>
            </a:solidFill>
            <a:ln w="19050" cap="flat" cmpd="sng" algn="ctr">
              <a:solidFill>
                <a:srgbClr val="000000">
                  <a:lumMod val="50000"/>
                  <a:lumOff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未対応障害への対応、</a:t>
              </a:r>
              <a:br>
                <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rPr>
              </a:b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障害を防ぐ仕組みが不十分</a:t>
              </a: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sp>
          <p:nvSpPr>
            <p:cNvPr id="11" name="正方形/長方形 10">
              <a:extLst>
                <a:ext uri="{FF2B5EF4-FFF2-40B4-BE49-F238E27FC236}">
                  <a16:creationId xmlns:a16="http://schemas.microsoft.com/office/drawing/2014/main" id="{0C983C07-C8B3-F6B4-CEA9-8DAC58B8785B}"/>
                </a:ext>
              </a:extLst>
            </p:cNvPr>
            <p:cNvSpPr/>
            <p:nvPr/>
          </p:nvSpPr>
          <p:spPr bwMode="auto">
            <a:xfrm>
              <a:off x="1468171" y="2473265"/>
              <a:ext cx="6728728" cy="523636"/>
            </a:xfrm>
            <a:prstGeom prst="rect">
              <a:avLst/>
            </a:prstGeom>
            <a:solidFill>
              <a:srgbClr val="FFFFFF"/>
            </a:solidFill>
            <a:ln w="19050" cap="flat" cmpd="sng" algn="ctr">
              <a:solidFill>
                <a:srgbClr val="000000">
                  <a:lumMod val="50000"/>
                  <a:lumOff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rPr>
                <a:t>MTBJ/MUSK</a:t>
              </a: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一体となり統制できる態勢や、継続的な評価</a:t>
              </a:r>
              <a:r>
                <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rPr>
                <a:t>/</a:t>
              </a: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改善活動の枠組が不十分</a:t>
              </a:r>
            </a:p>
          </p:txBody>
        </p:sp>
        <p:sp>
          <p:nvSpPr>
            <p:cNvPr id="12" name="正方形/長方形 11">
              <a:extLst>
                <a:ext uri="{FF2B5EF4-FFF2-40B4-BE49-F238E27FC236}">
                  <a16:creationId xmlns:a16="http://schemas.microsoft.com/office/drawing/2014/main" id="{CAD8FC8F-AF4E-96DE-EEFA-9B6FEE23C1AA}"/>
                </a:ext>
              </a:extLst>
            </p:cNvPr>
            <p:cNvSpPr/>
            <p:nvPr/>
          </p:nvSpPr>
          <p:spPr bwMode="auto">
            <a:xfrm>
              <a:off x="3876830" y="5734321"/>
              <a:ext cx="4302068" cy="523636"/>
            </a:xfrm>
            <a:prstGeom prst="rect">
              <a:avLst/>
            </a:prstGeom>
            <a:solidFill>
              <a:srgbClr val="FFFFFF"/>
            </a:solidFill>
            <a:ln w="19050" cap="flat" cmpd="sng" algn="ctr">
              <a:solidFill>
                <a:srgbClr val="000000">
                  <a:lumMod val="50000"/>
                  <a:lumOff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迅速かつ確実に</a:t>
              </a:r>
              <a:br>
                <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rPr>
              </a:b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調査・対応に必要な環境不足</a:t>
              </a: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sp>
          <p:nvSpPr>
            <p:cNvPr id="13" name="正方形/長方形 12">
              <a:extLst>
                <a:ext uri="{FF2B5EF4-FFF2-40B4-BE49-F238E27FC236}">
                  <a16:creationId xmlns:a16="http://schemas.microsoft.com/office/drawing/2014/main" id="{66DE92B7-CB49-F2A1-B536-9A09FCC31E2B}"/>
                </a:ext>
              </a:extLst>
            </p:cNvPr>
            <p:cNvSpPr/>
            <p:nvPr/>
          </p:nvSpPr>
          <p:spPr bwMode="auto">
            <a:xfrm>
              <a:off x="3876831" y="5114222"/>
              <a:ext cx="2184560" cy="523636"/>
            </a:xfrm>
            <a:prstGeom prst="rect">
              <a:avLst/>
            </a:prstGeom>
            <a:solidFill>
              <a:srgbClr val="FFFFFF"/>
            </a:solidFill>
            <a:ln w="19050" cap="flat" cmpd="sng" algn="ctr">
              <a:solidFill>
                <a:srgbClr val="000000">
                  <a:lumMod val="50000"/>
                  <a:lumOff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障害対応時間の不足</a:t>
              </a: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sp>
          <p:nvSpPr>
            <p:cNvPr id="14" name="矢印: 五方向 13">
              <a:extLst>
                <a:ext uri="{FF2B5EF4-FFF2-40B4-BE49-F238E27FC236}">
                  <a16:creationId xmlns:a16="http://schemas.microsoft.com/office/drawing/2014/main" id="{AC3AA987-5EC6-2CF4-7C24-C8239301AB27}"/>
                </a:ext>
              </a:extLst>
            </p:cNvPr>
            <p:cNvSpPr/>
            <p:nvPr/>
          </p:nvSpPr>
          <p:spPr bwMode="auto">
            <a:xfrm>
              <a:off x="3709946" y="1767006"/>
              <a:ext cx="2591851" cy="255426"/>
            </a:xfrm>
            <a:prstGeom prst="homePlate">
              <a:avLst/>
            </a:prstGeom>
            <a:solidFill>
              <a:srgbClr val="DC5A5B">
                <a:lumMod val="75000"/>
              </a:srgbClr>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FFFFFF"/>
                  </a:solidFill>
                  <a:effectLst/>
                  <a:uLnTx/>
                  <a:uFillTx/>
                  <a:cs typeface="Malgun Gothic Semilight" panose="020B0502040204020203" pitchFamily="50" charset="-128"/>
                </a:rPr>
                <a:t>復旧対応</a:t>
              </a:r>
            </a:p>
          </p:txBody>
        </p:sp>
        <p:sp>
          <p:nvSpPr>
            <p:cNvPr id="15" name="正方形/長方形 14">
              <a:extLst>
                <a:ext uri="{FF2B5EF4-FFF2-40B4-BE49-F238E27FC236}">
                  <a16:creationId xmlns:a16="http://schemas.microsoft.com/office/drawing/2014/main" id="{830242F9-F7AC-7FB2-862B-95055E115F63}"/>
                </a:ext>
              </a:extLst>
            </p:cNvPr>
            <p:cNvSpPr/>
            <p:nvPr/>
          </p:nvSpPr>
          <p:spPr bwMode="auto">
            <a:xfrm>
              <a:off x="1467076" y="3090949"/>
              <a:ext cx="4591020" cy="523636"/>
            </a:xfrm>
            <a:prstGeom prst="rect">
              <a:avLst/>
            </a:prstGeom>
            <a:solidFill>
              <a:srgbClr val="FFFFFF"/>
            </a:solidFill>
            <a:ln w="19050" cap="flat" cmpd="sng" algn="ctr">
              <a:solidFill>
                <a:srgbClr val="000000">
                  <a:lumMod val="50000"/>
                  <a:lumOff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rPr>
                <a:t>SLA</a:t>
              </a: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要件、遵守すべき事項が不十分</a:t>
              </a: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sp>
          <p:nvSpPr>
            <p:cNvPr id="16" name="正方形/長方形 15">
              <a:extLst>
                <a:ext uri="{FF2B5EF4-FFF2-40B4-BE49-F238E27FC236}">
                  <a16:creationId xmlns:a16="http://schemas.microsoft.com/office/drawing/2014/main" id="{EF4C9632-BA07-421F-2C21-14F28B01D56F}"/>
                </a:ext>
              </a:extLst>
            </p:cNvPr>
            <p:cNvSpPr/>
            <p:nvPr/>
          </p:nvSpPr>
          <p:spPr bwMode="auto">
            <a:xfrm>
              <a:off x="3876831" y="4326319"/>
              <a:ext cx="2184560" cy="523636"/>
            </a:xfrm>
            <a:prstGeom prst="rect">
              <a:avLst/>
            </a:prstGeom>
            <a:solidFill>
              <a:srgbClr val="FFFFFF"/>
            </a:solidFill>
            <a:ln w="19050" cap="flat" cmpd="sng" algn="ctr">
              <a:solidFill>
                <a:srgbClr val="000000">
                  <a:lumMod val="50000"/>
                  <a:lumOff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システム障害時における</a:t>
              </a:r>
              <a:r>
                <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rPr>
                <a:t>CP</a:t>
              </a: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の</a:t>
              </a:r>
              <a:br>
                <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rPr>
              </a:b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整備・訓練、実効性が不十分</a:t>
              </a: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sp>
          <p:nvSpPr>
            <p:cNvPr id="17" name="正方形/長方形 16">
              <a:extLst>
                <a:ext uri="{FF2B5EF4-FFF2-40B4-BE49-F238E27FC236}">
                  <a16:creationId xmlns:a16="http://schemas.microsoft.com/office/drawing/2014/main" id="{C1E544EA-6264-2C87-B1FE-276D7F504064}"/>
                </a:ext>
              </a:extLst>
            </p:cNvPr>
            <p:cNvSpPr/>
            <p:nvPr/>
          </p:nvSpPr>
          <p:spPr bwMode="auto">
            <a:xfrm>
              <a:off x="3876831" y="3708634"/>
              <a:ext cx="2184560" cy="523636"/>
            </a:xfrm>
            <a:prstGeom prst="rect">
              <a:avLst/>
            </a:prstGeom>
            <a:solidFill>
              <a:srgbClr val="FFFFFF"/>
            </a:solidFill>
            <a:ln w="19050" cap="flat" cmpd="sng" algn="ctr">
              <a:solidFill>
                <a:srgbClr val="000000">
                  <a:lumMod val="50000"/>
                  <a:lumOff val="50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障害対応の枠組、フロー等の</a:t>
              </a:r>
              <a:br>
                <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rPr>
              </a:br>
              <a:r>
                <a:rPr kumimoji="0" lang="ja-JP" altLang="en-US" sz="1200" b="1" i="0" u="none" strike="noStrike" kern="0" cap="none" spc="0" normalizeH="0" baseline="0" noProof="0">
                  <a:ln>
                    <a:noFill/>
                  </a:ln>
                  <a:solidFill>
                    <a:srgbClr val="333333"/>
                  </a:solidFill>
                  <a:effectLst/>
                  <a:uLnTx/>
                  <a:uFillTx/>
                  <a:cs typeface="Malgun Gothic Semilight" panose="020B0502040204020203" pitchFamily="50" charset="-128"/>
                </a:rPr>
                <a:t>整備、実効性検証が不十分</a:t>
              </a: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sp>
          <p:nvSpPr>
            <p:cNvPr id="19" name="正方形/長方形 18">
              <a:extLst>
                <a:ext uri="{FF2B5EF4-FFF2-40B4-BE49-F238E27FC236}">
                  <a16:creationId xmlns:a16="http://schemas.microsoft.com/office/drawing/2014/main" id="{58D9DF2E-E380-62F4-DAC2-5529CA126492}"/>
                </a:ext>
              </a:extLst>
            </p:cNvPr>
            <p:cNvSpPr/>
            <p:nvPr/>
          </p:nvSpPr>
          <p:spPr>
            <a:xfrm>
              <a:off x="1296181" y="5721304"/>
              <a:ext cx="222159" cy="130909"/>
            </a:xfrm>
            <a:prstGeom prst="rect">
              <a:avLst/>
            </a:prstGeom>
            <a:solidFill>
              <a:srgbClr val="FFFFFF">
                <a:lumMod val="65000"/>
              </a:srgbClr>
            </a:solidFill>
            <a:ln w="190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95507" eaLnBrk="1" fontAlgn="auto" latinLnBrk="0" hangingPunct="1">
                <a:lnSpc>
                  <a:spcPct val="100000"/>
                </a:lnSpc>
                <a:spcBef>
                  <a:spcPts val="600"/>
                </a:spcBef>
                <a:spcAft>
                  <a:spcPts val="0"/>
                </a:spcAft>
                <a:buClr>
                  <a:prstClr val="black"/>
                </a:buClr>
                <a:buSzTx/>
                <a:buFontTx/>
                <a:buNone/>
                <a:tabLst>
                  <a:tab pos="180975" algn="l"/>
                </a:tabLst>
                <a:defRPr/>
              </a:pPr>
              <a:r>
                <a:rPr kumimoji="0" lang="ja-JP" altLang="en-US" sz="1050" b="1" i="0" u="none" strike="noStrike" kern="0" cap="none" spc="0" normalizeH="0" baseline="0" noProof="0">
                  <a:ln>
                    <a:noFill/>
                  </a:ln>
                  <a:solidFill>
                    <a:srgbClr val="FFFFFF"/>
                  </a:solidFill>
                  <a:effectLst/>
                  <a:uLnTx/>
                  <a:uFillTx/>
                </a:rPr>
                <a:t>６</a:t>
              </a:r>
              <a:endParaRPr kumimoji="0" lang="en-US" altLang="ja-JP" sz="1050" b="1" i="0" u="none" strike="noStrike" kern="0" cap="none" spc="0" normalizeH="0" baseline="0" noProof="0">
                <a:ln>
                  <a:noFill/>
                </a:ln>
                <a:solidFill>
                  <a:srgbClr val="FFFFFF"/>
                </a:solidFill>
                <a:effectLst/>
                <a:uLnTx/>
                <a:uFillTx/>
              </a:endParaRPr>
            </a:p>
          </p:txBody>
        </p:sp>
        <p:sp>
          <p:nvSpPr>
            <p:cNvPr id="20" name="正方形/長方形 19">
              <a:extLst>
                <a:ext uri="{FF2B5EF4-FFF2-40B4-BE49-F238E27FC236}">
                  <a16:creationId xmlns:a16="http://schemas.microsoft.com/office/drawing/2014/main" id="{CB7AD57C-8DE8-6843-EE1E-029D14BFF1FE}"/>
                </a:ext>
              </a:extLst>
            </p:cNvPr>
            <p:cNvSpPr/>
            <p:nvPr/>
          </p:nvSpPr>
          <p:spPr>
            <a:xfrm>
              <a:off x="1467078" y="3090949"/>
              <a:ext cx="222159" cy="130909"/>
            </a:xfrm>
            <a:prstGeom prst="rect">
              <a:avLst/>
            </a:prstGeom>
            <a:solidFill>
              <a:srgbClr val="FFFFFF">
                <a:lumMod val="65000"/>
              </a:srgbClr>
            </a:solidFill>
            <a:ln w="190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95507" eaLnBrk="1" fontAlgn="auto" latinLnBrk="0" hangingPunct="1">
                <a:lnSpc>
                  <a:spcPct val="100000"/>
                </a:lnSpc>
                <a:spcBef>
                  <a:spcPts val="600"/>
                </a:spcBef>
                <a:spcAft>
                  <a:spcPts val="0"/>
                </a:spcAft>
                <a:buClr>
                  <a:prstClr val="black"/>
                </a:buClr>
                <a:buSzTx/>
                <a:buFontTx/>
                <a:buNone/>
                <a:tabLst>
                  <a:tab pos="180975" algn="l"/>
                </a:tabLst>
                <a:defRPr/>
              </a:pPr>
              <a:r>
                <a:rPr kumimoji="0" lang="en-US" altLang="ja-JP" sz="1050" b="1" i="0" u="none" strike="noStrike" kern="0" cap="none" spc="0" normalizeH="0" baseline="0" noProof="0">
                  <a:ln>
                    <a:noFill/>
                  </a:ln>
                  <a:solidFill>
                    <a:srgbClr val="FFFFFF"/>
                  </a:solidFill>
                  <a:effectLst/>
                  <a:uLnTx/>
                  <a:uFillTx/>
                </a:rPr>
                <a:t>2</a:t>
              </a:r>
            </a:p>
          </p:txBody>
        </p:sp>
        <p:sp>
          <p:nvSpPr>
            <p:cNvPr id="21" name="正方形/長方形 20">
              <a:extLst>
                <a:ext uri="{FF2B5EF4-FFF2-40B4-BE49-F238E27FC236}">
                  <a16:creationId xmlns:a16="http://schemas.microsoft.com/office/drawing/2014/main" id="{6935AE53-EAC3-A3EC-F4B1-FDD17D5C86DD}"/>
                </a:ext>
              </a:extLst>
            </p:cNvPr>
            <p:cNvSpPr/>
            <p:nvPr/>
          </p:nvSpPr>
          <p:spPr>
            <a:xfrm>
              <a:off x="1468173" y="2473265"/>
              <a:ext cx="222159" cy="130909"/>
            </a:xfrm>
            <a:prstGeom prst="rect">
              <a:avLst/>
            </a:prstGeom>
            <a:solidFill>
              <a:srgbClr val="FFFFFF">
                <a:lumMod val="65000"/>
              </a:srgbClr>
            </a:solidFill>
            <a:ln w="190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95507" eaLnBrk="1" fontAlgn="auto" latinLnBrk="0" hangingPunct="1">
                <a:lnSpc>
                  <a:spcPct val="100000"/>
                </a:lnSpc>
                <a:spcBef>
                  <a:spcPts val="600"/>
                </a:spcBef>
                <a:spcAft>
                  <a:spcPts val="0"/>
                </a:spcAft>
                <a:buClr>
                  <a:prstClr val="black"/>
                </a:buClr>
                <a:buSzTx/>
                <a:buFontTx/>
                <a:buNone/>
                <a:tabLst>
                  <a:tab pos="180975" algn="l"/>
                </a:tabLst>
                <a:defRPr/>
              </a:pPr>
              <a:r>
                <a:rPr kumimoji="0" lang="en-US" altLang="ja-JP" sz="1050" b="1" i="0" u="none" strike="noStrike" kern="0" cap="none" spc="0" normalizeH="0" baseline="0" noProof="0">
                  <a:ln>
                    <a:noFill/>
                  </a:ln>
                  <a:solidFill>
                    <a:srgbClr val="FFFFFF"/>
                  </a:solidFill>
                  <a:effectLst/>
                  <a:uLnTx/>
                  <a:uFillTx/>
                </a:rPr>
                <a:t>1</a:t>
              </a:r>
            </a:p>
          </p:txBody>
        </p:sp>
        <p:sp>
          <p:nvSpPr>
            <p:cNvPr id="22" name="正方形/長方形 21">
              <a:extLst>
                <a:ext uri="{FF2B5EF4-FFF2-40B4-BE49-F238E27FC236}">
                  <a16:creationId xmlns:a16="http://schemas.microsoft.com/office/drawing/2014/main" id="{093BCB6C-EAFF-55C8-4BBA-66C6EB73700F}"/>
                </a:ext>
              </a:extLst>
            </p:cNvPr>
            <p:cNvSpPr/>
            <p:nvPr/>
          </p:nvSpPr>
          <p:spPr>
            <a:xfrm>
              <a:off x="3876831" y="3708634"/>
              <a:ext cx="222159" cy="130909"/>
            </a:xfrm>
            <a:prstGeom prst="rect">
              <a:avLst/>
            </a:prstGeom>
            <a:solidFill>
              <a:srgbClr val="FFFFFF">
                <a:lumMod val="65000"/>
              </a:srgbClr>
            </a:solidFill>
            <a:ln w="190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95507" eaLnBrk="1" fontAlgn="auto" latinLnBrk="0" hangingPunct="1">
                <a:lnSpc>
                  <a:spcPct val="100000"/>
                </a:lnSpc>
                <a:spcBef>
                  <a:spcPts val="600"/>
                </a:spcBef>
                <a:spcAft>
                  <a:spcPts val="0"/>
                </a:spcAft>
                <a:buClr>
                  <a:prstClr val="black"/>
                </a:buClr>
                <a:buSzTx/>
                <a:buFontTx/>
                <a:buNone/>
                <a:tabLst>
                  <a:tab pos="180975" algn="l"/>
                </a:tabLst>
                <a:defRPr/>
              </a:pPr>
              <a:r>
                <a:rPr kumimoji="0" lang="ja-JP" altLang="en-US" sz="1050" b="1" i="0" u="none" strike="noStrike" kern="0" cap="none" spc="0" normalizeH="0" baseline="0" noProof="0">
                  <a:ln>
                    <a:noFill/>
                  </a:ln>
                  <a:solidFill>
                    <a:srgbClr val="FFFFFF"/>
                  </a:solidFill>
                  <a:effectLst/>
                  <a:uLnTx/>
                  <a:uFillTx/>
                </a:rPr>
                <a:t>３</a:t>
              </a:r>
              <a:endParaRPr kumimoji="0" lang="en-US" altLang="ja-JP" sz="1050" b="1" i="0" u="none" strike="noStrike" kern="0" cap="none" spc="0" normalizeH="0" baseline="0" noProof="0">
                <a:ln>
                  <a:noFill/>
                </a:ln>
                <a:solidFill>
                  <a:srgbClr val="FFFFFF"/>
                </a:solidFill>
                <a:effectLst/>
                <a:uLnTx/>
                <a:uFillTx/>
              </a:endParaRPr>
            </a:p>
          </p:txBody>
        </p:sp>
        <p:sp>
          <p:nvSpPr>
            <p:cNvPr id="23" name="正方形/長方形 22">
              <a:extLst>
                <a:ext uri="{FF2B5EF4-FFF2-40B4-BE49-F238E27FC236}">
                  <a16:creationId xmlns:a16="http://schemas.microsoft.com/office/drawing/2014/main" id="{7E4DE4F4-F020-6A4B-C5BD-14301731B007}"/>
                </a:ext>
              </a:extLst>
            </p:cNvPr>
            <p:cNvSpPr/>
            <p:nvPr/>
          </p:nvSpPr>
          <p:spPr>
            <a:xfrm>
              <a:off x="3876831" y="4326319"/>
              <a:ext cx="222159" cy="130909"/>
            </a:xfrm>
            <a:prstGeom prst="rect">
              <a:avLst/>
            </a:prstGeom>
            <a:solidFill>
              <a:srgbClr val="FFFFFF">
                <a:lumMod val="65000"/>
              </a:srgbClr>
            </a:solidFill>
            <a:ln w="190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95507" eaLnBrk="1" fontAlgn="auto" latinLnBrk="0" hangingPunct="1">
                <a:lnSpc>
                  <a:spcPct val="100000"/>
                </a:lnSpc>
                <a:spcBef>
                  <a:spcPts val="600"/>
                </a:spcBef>
                <a:spcAft>
                  <a:spcPts val="0"/>
                </a:spcAft>
                <a:buClr>
                  <a:prstClr val="black"/>
                </a:buClr>
                <a:buSzTx/>
                <a:buFontTx/>
                <a:buNone/>
                <a:tabLst>
                  <a:tab pos="180975" algn="l"/>
                </a:tabLst>
                <a:defRPr/>
              </a:pPr>
              <a:r>
                <a:rPr kumimoji="0" lang="ja-JP" altLang="en-US" sz="1050" b="1" i="0" u="none" strike="noStrike" kern="0" cap="none" spc="0" normalizeH="0" baseline="0" noProof="0">
                  <a:ln>
                    <a:noFill/>
                  </a:ln>
                  <a:solidFill>
                    <a:srgbClr val="FFFFFF"/>
                  </a:solidFill>
                  <a:effectLst/>
                  <a:uLnTx/>
                  <a:uFillTx/>
                </a:rPr>
                <a:t>４</a:t>
              </a:r>
              <a:endParaRPr kumimoji="0" lang="en-US" altLang="ja-JP" sz="1050" b="1" i="0" u="none" strike="noStrike" kern="0" cap="none" spc="0" normalizeH="0" baseline="0" noProof="0">
                <a:ln>
                  <a:noFill/>
                </a:ln>
                <a:solidFill>
                  <a:srgbClr val="FFFFFF"/>
                </a:solidFill>
                <a:effectLst/>
                <a:uLnTx/>
                <a:uFillTx/>
              </a:endParaRPr>
            </a:p>
          </p:txBody>
        </p:sp>
        <p:sp>
          <p:nvSpPr>
            <p:cNvPr id="24" name="正方形/長方形 23">
              <a:extLst>
                <a:ext uri="{FF2B5EF4-FFF2-40B4-BE49-F238E27FC236}">
                  <a16:creationId xmlns:a16="http://schemas.microsoft.com/office/drawing/2014/main" id="{CAA4DA77-D957-5E57-82D6-47A9EA4D5ED3}"/>
                </a:ext>
              </a:extLst>
            </p:cNvPr>
            <p:cNvSpPr/>
            <p:nvPr/>
          </p:nvSpPr>
          <p:spPr>
            <a:xfrm>
              <a:off x="3876830" y="5119902"/>
              <a:ext cx="222159" cy="130909"/>
            </a:xfrm>
            <a:prstGeom prst="rect">
              <a:avLst/>
            </a:prstGeom>
            <a:solidFill>
              <a:srgbClr val="FFFFFF">
                <a:lumMod val="65000"/>
              </a:srgbClr>
            </a:solidFill>
            <a:ln w="190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95507" eaLnBrk="1" fontAlgn="auto" latinLnBrk="0" hangingPunct="1">
                <a:lnSpc>
                  <a:spcPct val="100000"/>
                </a:lnSpc>
                <a:spcBef>
                  <a:spcPts val="600"/>
                </a:spcBef>
                <a:spcAft>
                  <a:spcPts val="0"/>
                </a:spcAft>
                <a:buClr>
                  <a:prstClr val="black"/>
                </a:buClr>
                <a:buSzTx/>
                <a:buFontTx/>
                <a:buNone/>
                <a:tabLst>
                  <a:tab pos="180975" algn="l"/>
                </a:tabLst>
                <a:defRPr/>
              </a:pPr>
              <a:r>
                <a:rPr kumimoji="0" lang="en-US" altLang="ja-JP" sz="1050" b="1" i="0" u="none" strike="noStrike" kern="0" cap="none" spc="0" normalizeH="0" baseline="0" noProof="0">
                  <a:ln>
                    <a:noFill/>
                  </a:ln>
                  <a:solidFill>
                    <a:srgbClr val="FFFFFF"/>
                  </a:solidFill>
                  <a:effectLst/>
                  <a:uLnTx/>
                  <a:uFillTx/>
                </a:rPr>
                <a:t>7</a:t>
              </a:r>
            </a:p>
          </p:txBody>
        </p:sp>
        <p:sp>
          <p:nvSpPr>
            <p:cNvPr id="25" name="正方形/長方形 24">
              <a:extLst>
                <a:ext uri="{FF2B5EF4-FFF2-40B4-BE49-F238E27FC236}">
                  <a16:creationId xmlns:a16="http://schemas.microsoft.com/office/drawing/2014/main" id="{A447CA23-AC1B-A367-C6E2-13112F4D31F6}"/>
                </a:ext>
              </a:extLst>
            </p:cNvPr>
            <p:cNvSpPr/>
            <p:nvPr/>
          </p:nvSpPr>
          <p:spPr>
            <a:xfrm>
              <a:off x="3876830" y="5734846"/>
              <a:ext cx="222159" cy="130909"/>
            </a:xfrm>
            <a:prstGeom prst="rect">
              <a:avLst/>
            </a:prstGeom>
            <a:solidFill>
              <a:srgbClr val="FFFFFF">
                <a:lumMod val="65000"/>
              </a:srgbClr>
            </a:solidFill>
            <a:ln w="190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95507" eaLnBrk="1" fontAlgn="auto" latinLnBrk="0" hangingPunct="1">
                <a:lnSpc>
                  <a:spcPct val="100000"/>
                </a:lnSpc>
                <a:spcBef>
                  <a:spcPts val="600"/>
                </a:spcBef>
                <a:spcAft>
                  <a:spcPts val="0"/>
                </a:spcAft>
                <a:buClr>
                  <a:prstClr val="black"/>
                </a:buClr>
                <a:buSzTx/>
                <a:buFontTx/>
                <a:buNone/>
                <a:tabLst>
                  <a:tab pos="180975" algn="l"/>
                </a:tabLst>
                <a:defRPr/>
              </a:pPr>
              <a:r>
                <a:rPr kumimoji="0" lang="en-US" altLang="ja-JP" sz="1050" b="1" i="0" u="none" strike="noStrike" kern="0" cap="none" spc="0" normalizeH="0" baseline="0" noProof="0">
                  <a:ln>
                    <a:noFill/>
                  </a:ln>
                  <a:solidFill>
                    <a:srgbClr val="FFFFFF"/>
                  </a:solidFill>
                  <a:effectLst/>
                  <a:uLnTx/>
                  <a:uFillTx/>
                </a:rPr>
                <a:t>8</a:t>
              </a:r>
            </a:p>
          </p:txBody>
        </p:sp>
        <p:sp>
          <p:nvSpPr>
            <p:cNvPr id="26" name="正方形/長方形 25">
              <a:extLst>
                <a:ext uri="{FF2B5EF4-FFF2-40B4-BE49-F238E27FC236}">
                  <a16:creationId xmlns:a16="http://schemas.microsoft.com/office/drawing/2014/main" id="{667D5408-EE1E-3C0D-62BA-BD0DCF1226D8}"/>
                </a:ext>
              </a:extLst>
            </p:cNvPr>
            <p:cNvSpPr/>
            <p:nvPr/>
          </p:nvSpPr>
          <p:spPr>
            <a:xfrm>
              <a:off x="1284979" y="5112210"/>
              <a:ext cx="222159" cy="130909"/>
            </a:xfrm>
            <a:prstGeom prst="rect">
              <a:avLst/>
            </a:prstGeom>
            <a:solidFill>
              <a:srgbClr val="FFFFFF">
                <a:lumMod val="65000"/>
              </a:srgbClr>
            </a:solidFill>
            <a:ln w="19050" cap="flat" cmpd="sng" algn="ctr">
              <a:no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marL="0" marR="0" lvl="0" indent="0" algn="ctr" defTabSz="995507" eaLnBrk="1" fontAlgn="auto" latinLnBrk="0" hangingPunct="1">
                <a:lnSpc>
                  <a:spcPct val="100000"/>
                </a:lnSpc>
                <a:spcBef>
                  <a:spcPts val="600"/>
                </a:spcBef>
                <a:spcAft>
                  <a:spcPts val="0"/>
                </a:spcAft>
                <a:buClr>
                  <a:prstClr val="black"/>
                </a:buClr>
                <a:buSzTx/>
                <a:buFontTx/>
                <a:buNone/>
                <a:tabLst>
                  <a:tab pos="180975" algn="l"/>
                </a:tabLst>
                <a:defRPr/>
              </a:pPr>
              <a:r>
                <a:rPr kumimoji="0" lang="ja-JP" altLang="en-US" sz="1050" b="1" i="0" u="none" strike="noStrike" kern="0" cap="none" spc="0" normalizeH="0" baseline="0" noProof="0">
                  <a:ln>
                    <a:noFill/>
                  </a:ln>
                  <a:solidFill>
                    <a:srgbClr val="FFFFFF"/>
                  </a:solidFill>
                  <a:effectLst/>
                  <a:uLnTx/>
                  <a:uFillTx/>
                </a:rPr>
                <a:t>５</a:t>
              </a:r>
              <a:endParaRPr kumimoji="0" lang="en-US" altLang="ja-JP" sz="1050" b="1" i="0" u="none" strike="noStrike" kern="0" cap="none" spc="0" normalizeH="0" baseline="0" noProof="0">
                <a:ln>
                  <a:noFill/>
                </a:ln>
                <a:solidFill>
                  <a:srgbClr val="FFFFFF"/>
                </a:solidFill>
                <a:effectLst/>
                <a:uLnTx/>
                <a:uFillTx/>
              </a:endParaRPr>
            </a:p>
          </p:txBody>
        </p:sp>
        <p:sp>
          <p:nvSpPr>
            <p:cNvPr id="29" name="正方形/長方形 28">
              <a:extLst>
                <a:ext uri="{FF2B5EF4-FFF2-40B4-BE49-F238E27FC236}">
                  <a16:creationId xmlns:a16="http://schemas.microsoft.com/office/drawing/2014/main" id="{042BDE70-4D81-BF28-3F95-3CE24DA17CC5}"/>
                </a:ext>
              </a:extLst>
            </p:cNvPr>
            <p:cNvSpPr/>
            <p:nvPr/>
          </p:nvSpPr>
          <p:spPr>
            <a:xfrm>
              <a:off x="488504" y="2262175"/>
              <a:ext cx="511325" cy="2555053"/>
            </a:xfrm>
            <a:prstGeom prst="rect">
              <a:avLst/>
            </a:prstGeom>
            <a:solidFill>
              <a:srgbClr val="FFEFEF"/>
            </a:solidFill>
            <a:ln w="28575" cap="flat" cmpd="sng" algn="ctr">
              <a:solidFill>
                <a:srgbClr val="E60000"/>
              </a:solidFill>
              <a:prstDash val="solid"/>
            </a:ln>
            <a:effectLst/>
          </p:spPr>
          <p:txBody>
            <a:bodyPr vert="eaVert" lIns="72000" tIns="72000" rIns="72000" bIns="7200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rPr>
                <a:t>対外的に説明可能かつ</a:t>
              </a:r>
              <a:endParaRPr kumimoji="0" lang="en-US" altLang="ja-JP"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endParaRPr>
            </a:p>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rPr>
                <a:t>実効力のあるガバナンス</a:t>
              </a:r>
              <a:endParaRPr kumimoji="0" lang="en-US" altLang="ja-JP"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endParaRPr>
            </a:p>
          </p:txBody>
        </p:sp>
        <p:sp>
          <p:nvSpPr>
            <p:cNvPr id="30" name="正方形/長方形 29">
              <a:extLst>
                <a:ext uri="{FF2B5EF4-FFF2-40B4-BE49-F238E27FC236}">
                  <a16:creationId xmlns:a16="http://schemas.microsoft.com/office/drawing/2014/main" id="{EEC1BFBD-647A-F22B-F107-8398D5F9112A}"/>
                </a:ext>
              </a:extLst>
            </p:cNvPr>
            <p:cNvSpPr/>
            <p:nvPr/>
          </p:nvSpPr>
          <p:spPr>
            <a:xfrm>
              <a:off x="488504" y="4945021"/>
              <a:ext cx="511325" cy="1529353"/>
            </a:xfrm>
            <a:prstGeom prst="rect">
              <a:avLst/>
            </a:prstGeom>
            <a:solidFill>
              <a:srgbClr val="FFEFEF"/>
            </a:solidFill>
            <a:ln w="28575" cap="flat" cmpd="sng" algn="ctr">
              <a:solidFill>
                <a:srgbClr val="E60000"/>
              </a:solidFill>
              <a:prstDash val="solid"/>
            </a:ln>
            <a:effectLst/>
          </p:spPr>
          <p:txBody>
            <a:bodyPr vert="eaVert" lIns="72000" tIns="72000" rIns="72000" bIns="7200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rPr>
                <a:t>安心・安全かつ持続的なシステム運営</a:t>
              </a:r>
              <a:endParaRPr kumimoji="0" lang="en-US" altLang="ja-JP" sz="1200" b="1" i="0" u="none" strike="noStrike" kern="0" cap="none" spc="0" normalizeH="0" baseline="0" noProof="0">
                <a:ln>
                  <a:noFill/>
                </a:ln>
                <a:solidFill>
                  <a:srgbClr val="000000"/>
                </a:solidFill>
                <a:effectLst/>
                <a:uLnTx/>
                <a:uFillTx/>
                <a:latin typeface="Arial"/>
                <a:ea typeface="ＭＳ Ｐゴシック" panose="020B0600070205080204" pitchFamily="50" charset="-128"/>
                <a:cs typeface="+mn-cs"/>
              </a:endParaRPr>
            </a:p>
          </p:txBody>
        </p:sp>
        <p:sp>
          <p:nvSpPr>
            <p:cNvPr id="31" name="正方形/長方形 30">
              <a:extLst>
                <a:ext uri="{FF2B5EF4-FFF2-40B4-BE49-F238E27FC236}">
                  <a16:creationId xmlns:a16="http://schemas.microsoft.com/office/drawing/2014/main" id="{11E1A452-FC7B-2A7B-70D5-71E5A12CE0BE}"/>
                </a:ext>
              </a:extLst>
            </p:cNvPr>
            <p:cNvSpPr/>
            <p:nvPr/>
          </p:nvSpPr>
          <p:spPr>
            <a:xfrm>
              <a:off x="488504" y="2262175"/>
              <a:ext cx="222159" cy="130909"/>
            </a:xfrm>
            <a:prstGeom prst="rect">
              <a:avLst/>
            </a:prstGeom>
            <a:solidFill>
              <a:srgbClr val="E60000"/>
            </a:solidFill>
            <a:ln w="12700" cap="flat" cmpd="sng" algn="ctr">
              <a:no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300" b="1"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rPr>
                <a:t>Ⅰ</a:t>
              </a:r>
              <a:endParaRPr kumimoji="0" lang="ja-JP" altLang="en-US" sz="1300" b="1"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endParaRPr>
            </a:p>
          </p:txBody>
        </p:sp>
        <p:sp>
          <p:nvSpPr>
            <p:cNvPr id="32" name="正方形/長方形 31">
              <a:extLst>
                <a:ext uri="{FF2B5EF4-FFF2-40B4-BE49-F238E27FC236}">
                  <a16:creationId xmlns:a16="http://schemas.microsoft.com/office/drawing/2014/main" id="{36EAE724-65F5-6EED-25C3-92F604B15A17}"/>
                </a:ext>
              </a:extLst>
            </p:cNvPr>
            <p:cNvSpPr/>
            <p:nvPr/>
          </p:nvSpPr>
          <p:spPr>
            <a:xfrm>
              <a:off x="488504" y="4945021"/>
              <a:ext cx="222159" cy="130909"/>
            </a:xfrm>
            <a:prstGeom prst="rect">
              <a:avLst/>
            </a:prstGeom>
            <a:solidFill>
              <a:srgbClr val="E60000"/>
            </a:solidFill>
            <a:ln w="12700" cap="flat" cmpd="sng" algn="ctr">
              <a:noFill/>
              <a:prstDash val="solid"/>
            </a:ln>
            <a:effectLst/>
          </p:spPr>
          <p:txBody>
            <a:bodyPr lIns="0" tIns="0" rIns="0" bIns="0" rtlCol="0" anchor="ctr" anchorCtr="0"/>
            <a:lstStyle/>
            <a:p>
              <a:pPr marL="0" marR="0" lvl="0" indent="0" algn="ctr" defTabSz="995507" eaLnBrk="1" fontAlgn="auto" latinLnBrk="0" hangingPunct="1">
                <a:lnSpc>
                  <a:spcPct val="100000"/>
                </a:lnSpc>
                <a:spcBef>
                  <a:spcPts val="0"/>
                </a:spcBef>
                <a:spcAft>
                  <a:spcPts val="0"/>
                </a:spcAft>
                <a:buClrTx/>
                <a:buSzTx/>
                <a:buFontTx/>
                <a:buNone/>
                <a:tabLst/>
                <a:defRPr/>
              </a:pPr>
              <a:r>
                <a:rPr kumimoji="0" lang="en-US" altLang="ja-JP" sz="1300" b="1"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rPr>
                <a:t>Ⅱ</a:t>
              </a:r>
              <a:endParaRPr kumimoji="0" lang="ja-JP" altLang="en-US" sz="1300" b="1"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endParaRPr>
            </a:p>
          </p:txBody>
        </p:sp>
        <p:sp>
          <p:nvSpPr>
            <p:cNvPr id="33" name="矢印: 五方向 32">
              <a:extLst>
                <a:ext uri="{FF2B5EF4-FFF2-40B4-BE49-F238E27FC236}">
                  <a16:creationId xmlns:a16="http://schemas.microsoft.com/office/drawing/2014/main" id="{8ECE4223-8BF6-965D-5A35-9A06C2E3FA5E}"/>
                </a:ext>
              </a:extLst>
            </p:cNvPr>
            <p:cNvSpPr/>
            <p:nvPr/>
          </p:nvSpPr>
          <p:spPr bwMode="auto">
            <a:xfrm>
              <a:off x="6301798" y="1777351"/>
              <a:ext cx="2591851" cy="255426"/>
            </a:xfrm>
            <a:prstGeom prst="homePlate">
              <a:avLst/>
            </a:prstGeom>
            <a:solidFill>
              <a:srgbClr val="DC5A5B">
                <a:lumMod val="75000"/>
              </a:srgbClr>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FFFFFF"/>
                  </a:solidFill>
                  <a:effectLst/>
                  <a:uLnTx/>
                  <a:uFillTx/>
                  <a:cs typeface="Malgun Gothic Semilight" panose="020B0502040204020203" pitchFamily="50" charset="-128"/>
                </a:rPr>
                <a:t>事後対応</a:t>
              </a:r>
            </a:p>
          </p:txBody>
        </p:sp>
        <p:sp>
          <p:nvSpPr>
            <p:cNvPr id="37" name="正方形/長方形 36">
              <a:extLst>
                <a:ext uri="{FF2B5EF4-FFF2-40B4-BE49-F238E27FC236}">
                  <a16:creationId xmlns:a16="http://schemas.microsoft.com/office/drawing/2014/main" id="{6DFCFADE-1E86-7BCD-CAD1-7646D7FBDFA3}"/>
                </a:ext>
              </a:extLst>
            </p:cNvPr>
            <p:cNvSpPr/>
            <p:nvPr/>
          </p:nvSpPr>
          <p:spPr bwMode="auto">
            <a:xfrm>
              <a:off x="1196166" y="4919516"/>
              <a:ext cx="2381897" cy="130909"/>
            </a:xfrm>
            <a:prstGeom prst="rect">
              <a:avLst/>
            </a:prstGeom>
            <a:solidFill>
              <a:srgbClr val="FFFFFF">
                <a:lumMod val="95000"/>
              </a:srgbClr>
            </a:solidFill>
            <a:ln w="2857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ja-JP" sz="1200" b="1" i="0" u="none" strike="noStrike" kern="0" cap="none" spc="0" normalizeH="0" baseline="0" noProof="0">
                <a:ln>
                  <a:noFill/>
                </a:ln>
                <a:solidFill>
                  <a:srgbClr val="333333"/>
                </a:solidFill>
                <a:effectLst/>
                <a:uLnTx/>
                <a:uFillTx/>
                <a:cs typeface="Malgun Gothic Semilight" panose="020B0502040204020203" pitchFamily="50" charset="-128"/>
              </a:endParaRPr>
            </a:p>
          </p:txBody>
        </p:sp>
      </p:grpSp>
      <p:sp>
        <p:nvSpPr>
          <p:cNvPr id="18" name="爆発: 8 pt 17">
            <a:extLst>
              <a:ext uri="{FF2B5EF4-FFF2-40B4-BE49-F238E27FC236}">
                <a16:creationId xmlns:a16="http://schemas.microsoft.com/office/drawing/2014/main" id="{DEBB2CC4-49DF-CB2B-1C96-A023EEE08BBB}"/>
              </a:ext>
            </a:extLst>
          </p:cNvPr>
          <p:cNvSpPr/>
          <p:nvPr/>
        </p:nvSpPr>
        <p:spPr bwMode="auto">
          <a:xfrm>
            <a:off x="3216692" y="1606477"/>
            <a:ext cx="940472" cy="466398"/>
          </a:xfrm>
          <a:prstGeom prst="irregularSeal1">
            <a:avLst/>
          </a:prstGeom>
          <a:solidFill>
            <a:srgbClr val="FFC000"/>
          </a:solidFill>
          <a:ln w="12700" cap="flat" cmpd="sng" algn="ctr">
            <a:no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algn="ctr"/>
            <a:r>
              <a:rPr kumimoji="0" lang="ja-JP" altLang="en-US" sz="1200" b="1" kern="0">
                <a:solidFill>
                  <a:srgbClr val="333333"/>
                </a:solidFill>
                <a:latin typeface="Arial" panose="020B0604020202020204" pitchFamily="34" charset="0"/>
                <a:ea typeface="ＭＳ Ｐゴシック" panose="020B0600070205080204" pitchFamily="50" charset="-128"/>
                <a:cs typeface="Malgun Gothic Semilight" panose="020B0502040204020203" pitchFamily="50" charset="-128"/>
              </a:rPr>
              <a:t>障害</a:t>
            </a:r>
          </a:p>
        </p:txBody>
      </p:sp>
    </p:spTree>
    <p:extLst>
      <p:ext uri="{BB962C8B-B14F-4D97-AF65-F5344CB8AC3E}">
        <p14:creationId xmlns:p14="http://schemas.microsoft.com/office/powerpoint/2010/main" val="184014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0B8A3-0BB4-4725-8920-83740919CB40}"/>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CB2A6D1B-4C62-942E-146C-2559E770383E}"/>
              </a:ext>
            </a:extLst>
          </p:cNvPr>
          <p:cNvSpPr/>
          <p:nvPr/>
        </p:nvSpPr>
        <p:spPr bwMode="auto">
          <a:xfrm>
            <a:off x="2989779" y="5505217"/>
            <a:ext cx="4423881"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147936DE-548F-86AC-0EDF-71C3811EC02C}"/>
              </a:ext>
            </a:extLst>
          </p:cNvPr>
          <p:cNvSpPr/>
          <p:nvPr/>
        </p:nvSpPr>
        <p:spPr bwMode="auto">
          <a:xfrm>
            <a:off x="2492339" y="4294592"/>
            <a:ext cx="4921322"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719CD770-C778-0C5F-FDFF-A12A4EF3038E}"/>
              </a:ext>
            </a:extLst>
          </p:cNvPr>
          <p:cNvSpPr/>
          <p:nvPr/>
        </p:nvSpPr>
        <p:spPr bwMode="auto">
          <a:xfrm>
            <a:off x="2492339" y="1192976"/>
            <a:ext cx="4921322" cy="514146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28600"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MTBJ/MUSK</a:t>
            </a:r>
            <a:r>
              <a:rPr kumimoji="1" lang="ja-JP" altLang="en-US" dirty="0">
                <a:solidFill>
                  <a:prstClr val="black"/>
                </a:solidFill>
                <a:latin typeface="Meiryo UI" panose="020B0604030504040204" pitchFamily="50" charset="-128"/>
                <a:ea typeface="Meiryo UI" panose="020B0604030504040204" pitchFamily="50" charset="-128"/>
              </a:rPr>
              <a:t>の概要</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a:t>
            </a:r>
            <a:r>
              <a:rPr lang="ja-JP" altLang="en-US" dirty="0">
                <a:solidFill>
                  <a:prstClr val="black"/>
                </a:solidFill>
                <a:latin typeface="Meiryo UI" panose="020B0604030504040204" pitchFamily="50" charset="-128"/>
                <a:ea typeface="Meiryo UI" panose="020B0604030504040204" pitchFamily="50" charset="-128"/>
              </a:rPr>
              <a:t>とは？</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MUSK</a:t>
            </a:r>
            <a:r>
              <a:rPr lang="ja-JP" altLang="en-US" dirty="0">
                <a:solidFill>
                  <a:prstClr val="black"/>
                </a:solidFill>
                <a:latin typeface="Meiryo UI" panose="020B0604030504040204" pitchFamily="50" charset="-128"/>
                <a:ea typeface="Meiryo UI" panose="020B0604030504040204" pitchFamily="50" charset="-128"/>
              </a:rPr>
              <a:t>とは？</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アカウント紹介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アカウントの概要</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アカウントの特徴</a:t>
            </a:r>
            <a:endParaRPr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ご支援内容の全体像</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プロジェクト①アーキテクチャ戦略</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プロジェクト②業務改善支援</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まとめ</a:t>
            </a:r>
          </a:p>
        </p:txBody>
      </p:sp>
    </p:spTree>
    <p:extLst>
      <p:ext uri="{BB962C8B-B14F-4D97-AF65-F5344CB8AC3E}">
        <p14:creationId xmlns:p14="http://schemas.microsoft.com/office/powerpoint/2010/main" val="37160318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3AAF8-BAE1-72B4-608E-0217D6B671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FA4AE4-9570-F465-6E70-75E992B44E6C}"/>
              </a:ext>
            </a:extLst>
          </p:cNvPr>
          <p:cNvSpPr>
            <a:spLocks noGrp="1"/>
          </p:cNvSpPr>
          <p:nvPr>
            <p:ph type="title"/>
          </p:nvPr>
        </p:nvSpPr>
        <p:spPr/>
        <p:txBody>
          <a:bodyPr/>
          <a:lstStyle/>
          <a:p>
            <a:r>
              <a:rPr lang="en-US" altLang="ja-JP" dirty="0"/>
              <a:t>1</a:t>
            </a:r>
            <a:r>
              <a:rPr kumimoji="1" lang="en-US" altLang="ja-JP" dirty="0"/>
              <a:t>. </a:t>
            </a:r>
            <a:r>
              <a:rPr lang="ja-JP" altLang="en-US" dirty="0"/>
              <a:t>背景・目的</a:t>
            </a:r>
            <a:endParaRPr kumimoji="1" lang="ja-JP" altLang="en-US" dirty="0"/>
          </a:p>
        </p:txBody>
      </p:sp>
      <p:sp>
        <p:nvSpPr>
          <p:cNvPr id="3" name="テキスト プレースホルダー 2">
            <a:extLst>
              <a:ext uri="{FF2B5EF4-FFF2-40B4-BE49-F238E27FC236}">
                <a16:creationId xmlns:a16="http://schemas.microsoft.com/office/drawing/2014/main" id="{FA35A536-FD7D-79A0-4665-B30A48F82BB2}"/>
              </a:ext>
            </a:extLst>
          </p:cNvPr>
          <p:cNvSpPr>
            <a:spLocks noGrp="1"/>
          </p:cNvSpPr>
          <p:nvPr>
            <p:ph type="body" idx="12"/>
          </p:nvPr>
        </p:nvSpPr>
        <p:spPr>
          <a:xfrm>
            <a:off x="488999" y="969722"/>
            <a:ext cx="9131121" cy="669414"/>
          </a:xfrm>
        </p:spPr>
        <p:txBody>
          <a:bodyPr/>
          <a:lstStyle/>
          <a:p>
            <a:r>
              <a:rPr kumimoji="1" lang="ja-JP" altLang="en-US" dirty="0"/>
              <a:t>事務の品質問題が顕在化したことを受け、事務品質リスクの低減が必要との理解。</a:t>
            </a:r>
          </a:p>
          <a:p>
            <a:r>
              <a:rPr kumimoji="1" lang="ja-JP" altLang="en-US" dirty="0"/>
              <a:t>本取り組みでは、市場管理部の業務を対象とし、品質リスクを低減するための抜本改善と早期リスク改善に向けた短期</a:t>
            </a:r>
            <a:r>
              <a:rPr kumimoji="1" lang="en-US" altLang="ja-JP" dirty="0"/>
              <a:t>/</a:t>
            </a:r>
            <a:r>
              <a:rPr kumimoji="1" lang="ja-JP" altLang="en-US" dirty="0"/>
              <a:t>中長期の両面の施策検討、および品質改善スキームの定着化を目指す。</a:t>
            </a:r>
          </a:p>
          <a:p>
            <a:endParaRPr kumimoji="1" lang="ja-JP" altLang="en-US" dirty="0"/>
          </a:p>
        </p:txBody>
      </p:sp>
      <p:sp>
        <p:nvSpPr>
          <p:cNvPr id="4" name="テキスト プレースホルダー 3">
            <a:extLst>
              <a:ext uri="{FF2B5EF4-FFF2-40B4-BE49-F238E27FC236}">
                <a16:creationId xmlns:a16="http://schemas.microsoft.com/office/drawing/2014/main" id="{7F4C1C6A-4C5E-9B4B-6359-8CA7B1EA0107}"/>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プロジェクト② 業務改善支援</a:t>
            </a:r>
          </a:p>
        </p:txBody>
      </p:sp>
      <p:grpSp>
        <p:nvGrpSpPr>
          <p:cNvPr id="5" name="Group 14">
            <a:extLst>
              <a:ext uri="{FF2B5EF4-FFF2-40B4-BE49-F238E27FC236}">
                <a16:creationId xmlns:a16="http://schemas.microsoft.com/office/drawing/2014/main" id="{DD78F14D-B546-D38A-67AF-42DE994C22F8}"/>
              </a:ext>
            </a:extLst>
          </p:cNvPr>
          <p:cNvGrpSpPr/>
          <p:nvPr/>
        </p:nvGrpSpPr>
        <p:grpSpPr>
          <a:xfrm>
            <a:off x="5345354" y="1811418"/>
            <a:ext cx="4284000" cy="291934"/>
            <a:chOff x="5620930" y="1791345"/>
            <a:chExt cx="3600000" cy="291934"/>
          </a:xfrm>
        </p:grpSpPr>
        <p:sp>
          <p:nvSpPr>
            <p:cNvPr id="6" name="テキスト ボックス 63">
              <a:extLst>
                <a:ext uri="{FF2B5EF4-FFF2-40B4-BE49-F238E27FC236}">
                  <a16:creationId xmlns:a16="http://schemas.microsoft.com/office/drawing/2014/main" id="{3D06B49C-B8F1-EA76-99F9-0955402C167A}"/>
                </a:ext>
              </a:extLst>
            </p:cNvPr>
            <p:cNvSpPr txBox="1">
              <a:spLocks noChangeArrowheads="1"/>
            </p:cNvSpPr>
            <p:nvPr/>
          </p:nvSpPr>
          <p:spPr bwMode="auto">
            <a:xfrm>
              <a:off x="6225418" y="1791345"/>
              <a:ext cx="2391024" cy="2919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17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b" anchorCtr="0">
              <a:noAutofit/>
            </a:bodyPr>
            <a:lstStyle>
              <a:defPPr>
                <a:defRPr lang="en-US"/>
              </a:defPPr>
              <a:lvl1pPr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1pPr>
              <a:lvl2pPr marL="4572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rPr>
                <a:t>本取組の</a:t>
              </a:r>
              <a:r>
                <a:rPr lang="ja-JP" altLang="en-US" sz="1600" b="1">
                  <a:solidFill>
                    <a:srgbClr val="000000"/>
                  </a:solidFill>
                  <a:latin typeface="Meiryo UI" panose="020B0604030504040204" pitchFamily="50" charset="-128"/>
                  <a:ea typeface="Meiryo UI" panose="020B0604030504040204" pitchFamily="50" charset="-128"/>
                  <a:cs typeface="Arial"/>
                </a:rPr>
                <a:t>目的</a:t>
              </a:r>
              <a:endParaRPr kumimoji="1" lang="en-US" altLang="ja-JP" sz="16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endParaRPr>
            </a:p>
          </p:txBody>
        </p:sp>
        <p:cxnSp>
          <p:nvCxnSpPr>
            <p:cNvPr id="7" name="直線コネクタ 7">
              <a:extLst>
                <a:ext uri="{FF2B5EF4-FFF2-40B4-BE49-F238E27FC236}">
                  <a16:creationId xmlns:a16="http://schemas.microsoft.com/office/drawing/2014/main" id="{D63B25D4-BF62-AE54-444C-104E07C19FC4}"/>
                </a:ext>
              </a:extLst>
            </p:cNvPr>
            <p:cNvCxnSpPr>
              <a:cxnSpLocks/>
            </p:cNvCxnSpPr>
            <p:nvPr/>
          </p:nvCxnSpPr>
          <p:spPr bwMode="auto">
            <a:xfrm>
              <a:off x="5620930" y="2074872"/>
              <a:ext cx="3600000" cy="0"/>
            </a:xfrm>
            <a:prstGeom prst="line">
              <a:avLst/>
            </a:prstGeom>
            <a:solidFill>
              <a:sysClr val="window" lastClr="FFFFFF"/>
            </a:solidFill>
            <a:ln w="9525" cap="flat" cmpd="sng" algn="ctr">
              <a:solidFill>
                <a:sysClr val="windowText" lastClr="000000"/>
              </a:solidFill>
              <a:prstDash val="solid"/>
              <a:round/>
              <a:headEnd type="none" w="med" len="med"/>
              <a:tailEnd type="none" w="med" len="med"/>
            </a:ln>
            <a:effectLst/>
          </p:spPr>
        </p:cxnSp>
      </p:grpSp>
      <p:grpSp>
        <p:nvGrpSpPr>
          <p:cNvPr id="8" name="Group 28">
            <a:extLst>
              <a:ext uri="{FF2B5EF4-FFF2-40B4-BE49-F238E27FC236}">
                <a16:creationId xmlns:a16="http://schemas.microsoft.com/office/drawing/2014/main" id="{00EAD3C5-AABA-328C-9DA7-636DC27CAC1C}"/>
              </a:ext>
            </a:extLst>
          </p:cNvPr>
          <p:cNvGrpSpPr/>
          <p:nvPr/>
        </p:nvGrpSpPr>
        <p:grpSpPr>
          <a:xfrm>
            <a:off x="388307" y="1860465"/>
            <a:ext cx="4235920" cy="242887"/>
            <a:chOff x="388307" y="1951707"/>
            <a:chExt cx="4235920" cy="242887"/>
          </a:xfrm>
        </p:grpSpPr>
        <p:sp>
          <p:nvSpPr>
            <p:cNvPr id="9" name="テキスト ボックス 63">
              <a:extLst>
                <a:ext uri="{FF2B5EF4-FFF2-40B4-BE49-F238E27FC236}">
                  <a16:creationId xmlns:a16="http://schemas.microsoft.com/office/drawing/2014/main" id="{A589C94F-1D25-9397-8B10-96B29A42730F}"/>
                </a:ext>
              </a:extLst>
            </p:cNvPr>
            <p:cNvSpPr txBox="1">
              <a:spLocks noChangeArrowheads="1"/>
            </p:cNvSpPr>
            <p:nvPr/>
          </p:nvSpPr>
          <p:spPr bwMode="auto">
            <a:xfrm>
              <a:off x="1854874" y="1951707"/>
              <a:ext cx="1302787" cy="242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17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b" anchorCtr="0">
              <a:noAutofit/>
            </a:bodyPr>
            <a:lstStyle>
              <a:defPPr>
                <a:defRPr lang="en-US"/>
              </a:defPPr>
              <a:lvl1pPr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1pPr>
              <a:lvl2pPr marL="4572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2pPr>
              <a:lvl3pPr marL="9144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3pPr>
              <a:lvl4pPr marL="13716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4pPr>
              <a:lvl5pPr marL="1828800" algn="l" rtl="0" eaLnBrk="0" fontAlgn="base" hangingPunct="0">
                <a:spcBef>
                  <a:spcPct val="0"/>
                </a:spcBef>
                <a:spcAft>
                  <a:spcPct val="0"/>
                </a:spcAft>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6pPr>
              <a:lvl7pPr marL="27432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7pPr>
              <a:lvl8pPr marL="32004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8pPr>
              <a:lvl9pPr marL="3657600" algn="l" defTabSz="914400" rtl="0" eaLnBrk="1" latinLnBrk="0" hangingPunct="1">
                <a:defRPr kumimoji="1" sz="1200" kern="1200">
                  <a:solidFill>
                    <a:schemeClr val="tx1"/>
                  </a:solidFill>
                  <a:latin typeface="ＭＳ Ｐゴシック" panose="020B0600070205080204" pitchFamily="50" charset="-128"/>
                  <a:ea typeface="ＭＳ Ｐゴシック" panose="020B0600070205080204" pitchFamily="50" charset="-128"/>
                  <a:cs typeface="+mn-cs"/>
                </a:defRPr>
              </a:lvl9pPr>
            </a:lstStyle>
            <a:p>
              <a:pPr algn="ctr"/>
              <a:r>
                <a:rPr lang="ja-JP" altLang="en-US" sz="1600" b="1">
                  <a:solidFill>
                    <a:srgbClr val="000000"/>
                  </a:solidFill>
                  <a:latin typeface="Meiryo UI" panose="020B0604030504040204" pitchFamily="50" charset="-128"/>
                  <a:ea typeface="Meiryo UI" panose="020B0604030504040204" pitchFamily="50" charset="-128"/>
                  <a:cs typeface="Arial"/>
                </a:rPr>
                <a:t>背景</a:t>
              </a:r>
              <a:endParaRPr lang="en-US" altLang="ja-JP" sz="1600" b="1">
                <a:solidFill>
                  <a:srgbClr val="000000"/>
                </a:solidFill>
                <a:latin typeface="Meiryo UI" panose="020B0604030504040204" pitchFamily="50" charset="-128"/>
                <a:ea typeface="Meiryo UI" panose="020B0604030504040204" pitchFamily="50" charset="-128"/>
                <a:cs typeface="Arial"/>
              </a:endParaRPr>
            </a:p>
          </p:txBody>
        </p:sp>
        <p:cxnSp>
          <p:nvCxnSpPr>
            <p:cNvPr id="10" name="直線コネクタ 9">
              <a:extLst>
                <a:ext uri="{FF2B5EF4-FFF2-40B4-BE49-F238E27FC236}">
                  <a16:creationId xmlns:a16="http://schemas.microsoft.com/office/drawing/2014/main" id="{1C24958D-A054-A7AF-8B1D-E86D9774D69E}"/>
                </a:ext>
              </a:extLst>
            </p:cNvPr>
            <p:cNvCxnSpPr>
              <a:cxnSpLocks/>
            </p:cNvCxnSpPr>
            <p:nvPr/>
          </p:nvCxnSpPr>
          <p:spPr bwMode="auto">
            <a:xfrm>
              <a:off x="388307" y="2186187"/>
              <a:ext cx="4235920" cy="0"/>
            </a:xfrm>
            <a:prstGeom prst="line">
              <a:avLst/>
            </a:prstGeom>
            <a:solidFill>
              <a:sysClr val="window" lastClr="FFFFFF"/>
            </a:solidFill>
            <a:ln w="9525" cap="flat" cmpd="sng" algn="ctr">
              <a:solidFill>
                <a:sysClr val="windowText" lastClr="000000"/>
              </a:solidFill>
              <a:prstDash val="solid"/>
              <a:round/>
              <a:headEnd type="none" w="med" len="med"/>
              <a:tailEnd type="none" w="med" len="med"/>
            </a:ln>
            <a:effectLst/>
          </p:spPr>
        </p:cxnSp>
      </p:grpSp>
      <p:sp>
        <p:nvSpPr>
          <p:cNvPr id="11" name="正方形/長方形 359">
            <a:extLst>
              <a:ext uri="{FF2B5EF4-FFF2-40B4-BE49-F238E27FC236}">
                <a16:creationId xmlns:a16="http://schemas.microsoft.com/office/drawing/2014/main" id="{50776380-582C-5278-7FB1-3E7C4F04AEA1}"/>
              </a:ext>
            </a:extLst>
          </p:cNvPr>
          <p:cNvSpPr>
            <a:spLocks/>
          </p:cNvSpPr>
          <p:nvPr/>
        </p:nvSpPr>
        <p:spPr bwMode="auto">
          <a:xfrm>
            <a:off x="332890" y="2152618"/>
            <a:ext cx="4504286" cy="4032869"/>
          </a:xfrm>
          <a:prstGeom prst="rect">
            <a:avLst/>
          </a:prstGeom>
          <a:noFill/>
          <a:ln w="9525">
            <a:noFill/>
            <a:miter lim="800000"/>
            <a:headEnd/>
            <a:tailEnd/>
          </a:ln>
        </p:spPr>
        <p:txBody>
          <a:bodyPr wrap="square" lIns="36000" tIns="36000" rIns="36000" bIns="0" anchor="t" anchorCtr="0"/>
          <a:lstStyle>
            <a:lvl1pPr>
              <a:defRPr sz="1000">
                <a:solidFill>
                  <a:schemeClr val="tx1"/>
                </a:solidFill>
                <a:latin typeface="Tahoma" panose="020B0604030504040204" pitchFamily="34" charset="0"/>
                <a:ea typeface="ＭＳ Ｐゴシック" panose="020B0600070205080204" pitchFamily="50" charset="-128"/>
              </a:defRPr>
            </a:lvl1pPr>
            <a:lvl2pPr marL="742950" indent="-285750">
              <a:defRPr sz="1000">
                <a:solidFill>
                  <a:schemeClr val="tx1"/>
                </a:solidFill>
                <a:latin typeface="Tahoma" panose="020B0604030504040204" pitchFamily="34" charset="0"/>
                <a:ea typeface="ＭＳ Ｐゴシック" panose="020B0600070205080204" pitchFamily="50" charset="-128"/>
              </a:defRPr>
            </a:lvl2pPr>
            <a:lvl3pPr marL="1143000" indent="-228600">
              <a:defRPr sz="1000">
                <a:solidFill>
                  <a:schemeClr val="tx1"/>
                </a:solidFill>
                <a:latin typeface="Tahoma" panose="020B0604030504040204" pitchFamily="34" charset="0"/>
                <a:ea typeface="ＭＳ Ｐゴシック" panose="020B0600070205080204" pitchFamily="50" charset="-128"/>
              </a:defRPr>
            </a:lvl3pPr>
            <a:lvl4pPr marL="1600200" indent="-228600">
              <a:defRPr sz="1000">
                <a:solidFill>
                  <a:schemeClr val="tx1"/>
                </a:solidFill>
                <a:latin typeface="Tahoma" panose="020B0604030504040204" pitchFamily="34" charset="0"/>
                <a:ea typeface="ＭＳ Ｐゴシック" panose="020B0600070205080204" pitchFamily="50" charset="-128"/>
              </a:defRPr>
            </a:lvl4pPr>
            <a:lvl5pPr marL="2057400" indent="-228600">
              <a:defRPr sz="1000">
                <a:solidFill>
                  <a:schemeClr val="tx1"/>
                </a:solidFill>
                <a:latin typeface="Tahoma" panose="020B0604030504040204" pitchFamily="34" charset="0"/>
                <a:ea typeface="ＭＳ Ｐゴシック" panose="020B0600070205080204" pitchFamily="50" charset="-128"/>
              </a:defRPr>
            </a:lvl5pPr>
            <a:lvl6pPr marL="2514600" indent="-228600" eaLnBrk="0" fontAlgn="base" hangingPunct="0">
              <a:spcBef>
                <a:spcPct val="0"/>
              </a:spcBef>
              <a:spcAft>
                <a:spcPct val="0"/>
              </a:spcAft>
              <a:defRPr sz="1000">
                <a:solidFill>
                  <a:schemeClr val="tx1"/>
                </a:solidFill>
                <a:latin typeface="Tahoma" panose="020B0604030504040204" pitchFamily="34" charset="0"/>
                <a:ea typeface="ＭＳ Ｐゴシック" panose="020B0600070205080204" pitchFamily="50" charset="-128"/>
              </a:defRPr>
            </a:lvl6pPr>
            <a:lvl7pPr marL="2971800" indent="-228600" eaLnBrk="0" fontAlgn="base" hangingPunct="0">
              <a:spcBef>
                <a:spcPct val="0"/>
              </a:spcBef>
              <a:spcAft>
                <a:spcPct val="0"/>
              </a:spcAft>
              <a:defRPr sz="1000">
                <a:solidFill>
                  <a:schemeClr val="tx1"/>
                </a:solidFill>
                <a:latin typeface="Tahoma" panose="020B0604030504040204" pitchFamily="34" charset="0"/>
                <a:ea typeface="ＭＳ Ｐゴシック" panose="020B0600070205080204" pitchFamily="50" charset="-128"/>
              </a:defRPr>
            </a:lvl7pPr>
            <a:lvl8pPr marL="3429000" indent="-228600" eaLnBrk="0" fontAlgn="base" hangingPunct="0">
              <a:spcBef>
                <a:spcPct val="0"/>
              </a:spcBef>
              <a:spcAft>
                <a:spcPct val="0"/>
              </a:spcAft>
              <a:defRPr sz="1000">
                <a:solidFill>
                  <a:schemeClr val="tx1"/>
                </a:solidFill>
                <a:latin typeface="Tahoma" panose="020B0604030504040204" pitchFamily="34" charset="0"/>
                <a:ea typeface="ＭＳ Ｐゴシック" panose="020B0600070205080204" pitchFamily="50" charset="-128"/>
              </a:defRPr>
            </a:lvl8pPr>
            <a:lvl9pPr marL="3886200" indent="-228600" eaLnBrk="0" fontAlgn="base" hangingPunct="0">
              <a:spcBef>
                <a:spcPct val="0"/>
              </a:spcBef>
              <a:spcAft>
                <a:spcPct val="0"/>
              </a:spcAft>
              <a:defRPr sz="1000">
                <a:solidFill>
                  <a:schemeClr val="tx1"/>
                </a:solidFill>
                <a:latin typeface="Tahoma" panose="020B0604030504040204" pitchFamily="34" charset="0"/>
                <a:ea typeface="ＭＳ Ｐゴシック" panose="020B0600070205080204" pitchFamily="50" charset="-128"/>
              </a:defRPr>
            </a:lvl9pPr>
          </a:lstStyle>
          <a:p>
            <a:pPr marL="342900" marR="0" lvl="1" indent="-342900" algn="l" defTabSz="914400" rtl="0" eaLnBrk="1" fontAlgn="auto" latinLnBrk="0" hangingPunct="1">
              <a:lnSpc>
                <a:spcPct val="100000"/>
              </a:lnSpc>
              <a:spcBef>
                <a:spcPts val="600"/>
              </a:spcBef>
              <a:spcAft>
                <a:spcPts val="0"/>
              </a:spcAft>
              <a:buClr>
                <a:prstClr val="black">
                  <a:lumMod val="65000"/>
                  <a:lumOff val="35000"/>
                </a:prstClr>
              </a:buClr>
              <a:buSzTx/>
              <a:buFont typeface="+mj-lt"/>
              <a:buAutoNum type="arabicPeriod"/>
              <a:tabLst/>
              <a:defRPr/>
            </a:pPr>
            <a:r>
              <a:rPr kumimoji="1" lang="ja-JP" altLang="en-US" sz="1400" b="1"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rPr>
              <a:t>現場事務の過去と現在</a:t>
            </a:r>
            <a:endParaRPr kumimoji="1" lang="zh-TW" altLang="en-US" sz="1400" b="1"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endParaRPr>
          </a:p>
          <a:p>
            <a:pPr marL="363538" marR="0" lvl="1" indent="-187325" algn="l" defTabSz="914400" rtl="0" eaLnBrk="1" fontAlgn="auto" latinLnBrk="0" hangingPunct="1">
              <a:lnSpc>
                <a:spcPct val="100000"/>
              </a:lnSpc>
              <a:spcBef>
                <a:spcPts val="300"/>
              </a:spcBef>
              <a:spcAft>
                <a:spcPts val="0"/>
              </a:spcAft>
              <a:buClr>
                <a:prstClr val="black">
                  <a:lumMod val="65000"/>
                  <a:lumOff val="35000"/>
                </a:prstClr>
              </a:buClr>
              <a:buSzTx/>
              <a:buFont typeface="Arial" panose="020B0604020202020204" pitchFamily="34" charset="0"/>
              <a:buChar char="•"/>
              <a:tabLst/>
              <a:defRPr/>
            </a:pPr>
            <a:r>
              <a:rPr kumimoji="1" lang="ja-JP" altLang="en-US"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rPr>
              <a:t>過去の少人数体制においては、システム・事務の有識者が相応におり、精緻なマニュアルがなくとも品質確保が可能であった</a:t>
            </a:r>
            <a:endParaRPr kumimoji="1" lang="en-US" altLang="ja-JP"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endParaRPr>
          </a:p>
          <a:p>
            <a:pPr marL="363538" marR="0" lvl="1" indent="-187325" algn="l" defTabSz="914400" rtl="0" eaLnBrk="1" fontAlgn="auto" latinLnBrk="0" hangingPunct="1">
              <a:lnSpc>
                <a:spcPct val="100000"/>
              </a:lnSpc>
              <a:spcBef>
                <a:spcPts val="300"/>
              </a:spcBef>
              <a:spcAft>
                <a:spcPts val="0"/>
              </a:spcAft>
              <a:buClr>
                <a:prstClr val="black">
                  <a:lumMod val="65000"/>
                  <a:lumOff val="35000"/>
                </a:prstClr>
              </a:buClr>
              <a:buSzTx/>
              <a:buFont typeface="Arial" panose="020B0604020202020204" pitchFamily="34" charset="0"/>
              <a:buChar char="•"/>
              <a:tabLst/>
              <a:defRPr/>
            </a:pPr>
            <a:r>
              <a:rPr kumimoji="1" lang="ja-JP" altLang="en-US"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rPr>
              <a:t>組織が拡大してきた中で、有識者の割合も徐々に希薄化</a:t>
            </a:r>
            <a:endParaRPr kumimoji="1" lang="en-US" altLang="ja-JP"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endParaRPr>
          </a:p>
          <a:p>
            <a:pPr marL="363538" marR="0" lvl="1" indent="-187325" algn="l" defTabSz="914400" rtl="0" eaLnBrk="1" fontAlgn="auto" latinLnBrk="0" hangingPunct="1">
              <a:lnSpc>
                <a:spcPct val="100000"/>
              </a:lnSpc>
              <a:spcBef>
                <a:spcPts val="300"/>
              </a:spcBef>
              <a:spcAft>
                <a:spcPts val="0"/>
              </a:spcAft>
              <a:buClr>
                <a:prstClr val="black">
                  <a:lumMod val="65000"/>
                  <a:lumOff val="35000"/>
                </a:prstClr>
              </a:buClr>
              <a:buSzTx/>
              <a:buFont typeface="Arial" panose="020B0604020202020204" pitchFamily="34" charset="0"/>
              <a:buChar char="•"/>
              <a:tabLst/>
              <a:defRPr/>
            </a:pPr>
            <a:r>
              <a:rPr kumimoji="1" lang="ja-JP" altLang="en-US"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rPr>
              <a:t>現在の大規模体制においては、マニュアルの品質のばらつき、属人化した暗黙知は、事務品質におけるリスク</a:t>
            </a:r>
            <a:endParaRPr kumimoji="1" lang="en-US" altLang="ja-JP"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endParaRPr>
          </a:p>
          <a:p>
            <a:pPr marL="342900" marR="0" lvl="1" indent="-342900" algn="l" defTabSz="914400" rtl="0" eaLnBrk="1" fontAlgn="auto" latinLnBrk="0" hangingPunct="1">
              <a:lnSpc>
                <a:spcPct val="100000"/>
              </a:lnSpc>
              <a:spcBef>
                <a:spcPts val="1200"/>
              </a:spcBef>
              <a:spcAft>
                <a:spcPts val="0"/>
              </a:spcAft>
              <a:buClr>
                <a:prstClr val="black">
                  <a:lumMod val="65000"/>
                  <a:lumOff val="35000"/>
                </a:prstClr>
              </a:buClr>
              <a:buSzTx/>
              <a:buFont typeface="+mj-lt"/>
              <a:buAutoNum type="arabicPeriod" startAt="2"/>
              <a:tabLst/>
              <a:defRPr/>
            </a:pPr>
            <a:r>
              <a:rPr kumimoji="1" lang="ja-JP" altLang="en-US" sz="1400" b="1"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rPr>
              <a:t>品質問題の顕在化</a:t>
            </a:r>
            <a:endParaRPr kumimoji="1" lang="en-US" altLang="ja-JP" sz="1400" b="1"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endParaRPr>
          </a:p>
          <a:p>
            <a:pPr marL="363538" marR="0" lvl="1" indent="-187325" algn="l" defTabSz="914400" rtl="0" eaLnBrk="1" fontAlgn="auto" latinLnBrk="0" hangingPunct="1">
              <a:lnSpc>
                <a:spcPct val="100000"/>
              </a:lnSpc>
              <a:spcBef>
                <a:spcPts val="300"/>
              </a:spcBef>
              <a:spcAft>
                <a:spcPts val="0"/>
              </a:spcAft>
              <a:buClr>
                <a:prstClr val="black">
                  <a:lumMod val="65000"/>
                  <a:lumOff val="35000"/>
                </a:prstClr>
              </a:buClr>
              <a:buSzTx/>
              <a:buFont typeface="Arial" panose="020B0604020202020204" pitchFamily="34" charset="0"/>
              <a:buChar char="•"/>
              <a:tabLst/>
              <a:defRPr/>
            </a:pPr>
            <a:r>
              <a:rPr kumimoji="1" lang="ja-JP" altLang="en-US"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rPr>
              <a:t>貴社特定領域で、品質問題が複数発生 </a:t>
            </a:r>
            <a:r>
              <a:rPr kumimoji="1" lang="en-US" altLang="ja-JP"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rPr>
              <a:t>リスク顕在化</a:t>
            </a:r>
            <a:r>
              <a:rPr kumimoji="1" lang="en-US" altLang="ja-JP"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rPr>
              <a:t>)</a:t>
            </a:r>
          </a:p>
          <a:p>
            <a:pPr marL="363538" marR="0" lvl="1" indent="-187325" algn="l" defTabSz="914400" rtl="0" eaLnBrk="1" fontAlgn="auto" latinLnBrk="0" hangingPunct="1">
              <a:lnSpc>
                <a:spcPct val="100000"/>
              </a:lnSpc>
              <a:spcBef>
                <a:spcPts val="300"/>
              </a:spcBef>
              <a:spcAft>
                <a:spcPts val="0"/>
              </a:spcAft>
              <a:buClr>
                <a:prstClr val="black">
                  <a:lumMod val="65000"/>
                  <a:lumOff val="35000"/>
                </a:prstClr>
              </a:buClr>
              <a:buSzTx/>
              <a:buFont typeface="Arial" panose="020B0604020202020204" pitchFamily="34" charset="0"/>
              <a:buChar char="•"/>
              <a:tabLst/>
              <a:defRPr/>
            </a:pPr>
            <a:r>
              <a:rPr kumimoji="1" lang="ja-JP" altLang="en-US"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rPr>
              <a:t>直接的な対応は打ったが、問題が潜在している懸念あり</a:t>
            </a:r>
            <a:endParaRPr kumimoji="1" lang="en-US" altLang="ja-JP" sz="1300" b="0"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endParaRPr>
          </a:p>
          <a:p>
            <a:pPr marL="342900" marR="0" lvl="1" indent="-342900" algn="l" defTabSz="914400" rtl="0" eaLnBrk="1" fontAlgn="auto" latinLnBrk="0" hangingPunct="1">
              <a:lnSpc>
                <a:spcPct val="100000"/>
              </a:lnSpc>
              <a:spcBef>
                <a:spcPts val="1200"/>
              </a:spcBef>
              <a:spcAft>
                <a:spcPts val="0"/>
              </a:spcAft>
              <a:buClr>
                <a:prstClr val="black">
                  <a:lumMod val="65000"/>
                  <a:lumOff val="35000"/>
                </a:prstClr>
              </a:buClr>
              <a:buSzTx/>
              <a:buFont typeface="+mj-lt"/>
              <a:buAutoNum type="arabicPeriod" startAt="3"/>
              <a:tabLst/>
              <a:defRPr/>
            </a:pPr>
            <a:r>
              <a:rPr lang="ja-JP" altLang="en-US" sz="1400" b="1">
                <a:solidFill>
                  <a:sysClr val="windowText" lastClr="000000"/>
                </a:solidFill>
                <a:highlight>
                  <a:srgbClr val="FFFFFF"/>
                </a:highlight>
                <a:latin typeface="Meiryo UI" panose="020B0604030504040204" pitchFamily="50" charset="-128"/>
                <a:ea typeface="Meiryo UI" panose="020B0604030504040204" pitchFamily="50" charset="-128"/>
                <a:cs typeface="Meiryo UI" panose="020B0604030504040204" pitchFamily="50" charset="-128"/>
              </a:rPr>
              <a:t>構造課題の可視化・抜本改善の必要性</a:t>
            </a:r>
            <a:endParaRPr kumimoji="1" lang="en-US" altLang="ja-JP" sz="1400" b="1" i="0" u="none" strike="noStrike" kern="1200" cap="none" spc="0" normalizeH="0" baseline="0" noProof="0">
              <a:ln>
                <a:noFill/>
              </a:ln>
              <a:solidFill>
                <a:sysClr val="windowText" lastClr="000000"/>
              </a:solidFill>
              <a:effectLst/>
              <a:highlight>
                <a:srgbClr val="FFFFFF"/>
              </a:highlight>
              <a:uLnTx/>
              <a:uFillTx/>
              <a:latin typeface="Meiryo UI" panose="020B0604030504040204" pitchFamily="50" charset="-128"/>
              <a:ea typeface="Meiryo UI" panose="020B0604030504040204" pitchFamily="50" charset="-128"/>
              <a:cs typeface="Meiryo UI" panose="020B0604030504040204" pitchFamily="50" charset="-128"/>
            </a:endParaRPr>
          </a:p>
          <a:p>
            <a:pPr marL="363538" marR="0" lvl="1" indent="-187325" algn="l" defTabSz="914400" rtl="0" eaLnBrk="1" fontAlgn="auto" latinLnBrk="0" hangingPunct="1">
              <a:lnSpc>
                <a:spcPct val="100000"/>
              </a:lnSpc>
              <a:spcBef>
                <a:spcPts val="300"/>
              </a:spcBef>
              <a:spcAft>
                <a:spcPts val="0"/>
              </a:spcAft>
              <a:buClr>
                <a:prstClr val="black">
                  <a:lumMod val="65000"/>
                  <a:lumOff val="35000"/>
                </a:prstClr>
              </a:buClr>
              <a:buSzTx/>
              <a:buFont typeface="Arial" panose="020B0604020202020204" pitchFamily="34" charset="0"/>
              <a:buChar char="•"/>
              <a:tabLst/>
              <a:defRPr/>
            </a:pPr>
            <a:r>
              <a:rPr lang="ja-JP" altLang="en-US" sz="1300">
                <a:solidFill>
                  <a:sysClr val="windowText" lastClr="000000"/>
                </a:solidFill>
                <a:highlight>
                  <a:srgbClr val="FFFFFF"/>
                </a:highlight>
                <a:latin typeface="Meiryo UI" panose="020B0604030504040204" pitchFamily="50" charset="-128"/>
                <a:ea typeface="Meiryo UI" panose="020B0604030504040204" pitchFamily="50" charset="-128"/>
                <a:cs typeface="Meiryo UI" panose="020B0604030504040204" pitchFamily="50" charset="-128"/>
              </a:rPr>
              <a:t>品質問題事象の要因分析と短期施策は一定行ったものの、再発防止に向けた構造課題の深堀と、一段踏み込んだ打ち手の立案・実行が必要な状況と理解</a:t>
            </a:r>
          </a:p>
        </p:txBody>
      </p:sp>
      <p:sp>
        <p:nvSpPr>
          <p:cNvPr id="12" name="ホームベース 7">
            <a:extLst>
              <a:ext uri="{FF2B5EF4-FFF2-40B4-BE49-F238E27FC236}">
                <a16:creationId xmlns:a16="http://schemas.microsoft.com/office/drawing/2014/main" id="{12656F77-6E19-4166-83FF-0DCDCAB09EA9}"/>
              </a:ext>
            </a:extLst>
          </p:cNvPr>
          <p:cNvSpPr/>
          <p:nvPr/>
        </p:nvSpPr>
        <p:spPr bwMode="auto">
          <a:xfrm>
            <a:off x="266007" y="1724673"/>
            <a:ext cx="4854633" cy="4930747"/>
          </a:xfrm>
          <a:prstGeom prst="homePlate">
            <a:avLst>
              <a:gd name="adj" fmla="val 7363"/>
            </a:avLst>
          </a:prstGeom>
          <a:noFill/>
          <a:ln w="12700" cap="flat" cmpd="sng" algn="ctr">
            <a:solidFill>
              <a:srgbClr val="A6A6A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72000" tIns="36000" rIns="72000" bIns="36000" numCol="1" rtlCol="0" anchor="ctr" anchorCtr="0" compatLnSpc="1">
            <a:prstTxWarp prst="textNoShape">
              <a:avLst/>
            </a:prstTxWarp>
          </a:bodyPr>
          <a:lstStyle/>
          <a:p>
            <a:pPr>
              <a:spcBef>
                <a:spcPct val="20000"/>
              </a:spcBef>
              <a:buClr>
                <a:srgbClr val="000000"/>
              </a:buClr>
              <a:buFont typeface="Arial" pitchFamily="34" charset="0"/>
              <a:buChar char="•"/>
            </a:pPr>
            <a:endParaRPr kumimoji="1" lang="ja-JP" altLang="en-US" sz="1000">
              <a:solidFill>
                <a:srgbClr val="000000"/>
              </a:solidFill>
              <a:latin typeface="Meiryo UI" panose="020B0604030504040204" pitchFamily="50" charset="-128"/>
              <a:cs typeface="Arial" pitchFamily="34" charset="0"/>
              <a:sym typeface="Arial" panose="020B0604020202020204" pitchFamily="34" charset="0"/>
            </a:endParaRPr>
          </a:p>
        </p:txBody>
      </p:sp>
      <p:sp>
        <p:nvSpPr>
          <p:cNvPr id="13" name="四角形: 角を丸くする 39">
            <a:extLst>
              <a:ext uri="{FF2B5EF4-FFF2-40B4-BE49-F238E27FC236}">
                <a16:creationId xmlns:a16="http://schemas.microsoft.com/office/drawing/2014/main" id="{E493CF8E-B1E9-9E80-DF0A-7FD507FE500D}"/>
              </a:ext>
            </a:extLst>
          </p:cNvPr>
          <p:cNvSpPr/>
          <p:nvPr/>
        </p:nvSpPr>
        <p:spPr>
          <a:xfrm>
            <a:off x="5345354" y="2234915"/>
            <a:ext cx="4284000" cy="1364960"/>
          </a:xfrm>
          <a:prstGeom prst="roundRect">
            <a:avLst>
              <a:gd name="adj" fmla="val 0"/>
            </a:avLst>
          </a:prstGeom>
          <a:noFill/>
          <a:ln w="12700">
            <a:solidFill>
              <a:schemeClr val="bg1">
                <a:lumMod val="50000"/>
              </a:schemeClr>
            </a:solidFill>
          </a:ln>
        </p:spPr>
        <p:txBody>
          <a:bodyPr wrap="square" lIns="72000" tIns="72000" rIns="72000" bIns="72000" anchor="t" anchorCtr="0">
            <a:noAutofit/>
          </a:bodyPr>
          <a:lstStyle/>
          <a:p>
            <a:pPr marL="254000" indent="-254000">
              <a:spcBef>
                <a:spcPts val="600"/>
              </a:spcBef>
              <a:buClr>
                <a:prstClr val="black">
                  <a:lumMod val="65000"/>
                  <a:lumOff val="35000"/>
                </a:prstClr>
              </a:buClr>
              <a:buFont typeface="+mj-ea"/>
              <a:buAutoNum type="circleNumDbPlain"/>
            </a:pPr>
            <a:r>
              <a:rPr lang="ja-JP" altLang="en-US" sz="1400" b="1">
                <a:solidFill>
                  <a:prstClr val="black"/>
                </a:solidFill>
                <a:latin typeface="Meiryo UI" panose="020B0604030504040204" pitchFamily="50" charset="-128"/>
                <a:cs typeface="Meiryo UI" panose="020B0604030504040204" pitchFamily="50" charset="-128"/>
              </a:rPr>
              <a:t>品質リスクを低減するための抜本改善</a:t>
            </a:r>
            <a:endParaRPr lang="en-US" altLang="ja-JP" sz="1400" b="1">
              <a:solidFill>
                <a:prstClr val="black"/>
              </a:solidFill>
              <a:latin typeface="Meiryo UI" panose="020B0604030504040204" pitchFamily="50" charset="-128"/>
              <a:cs typeface="Meiryo UI" panose="020B0604030504040204" pitchFamily="50" charset="-128"/>
            </a:endParaRPr>
          </a:p>
          <a:p>
            <a:pPr marL="452438" lvl="1" indent="-187325">
              <a:spcBef>
                <a:spcPts val="300"/>
              </a:spcBef>
              <a:buClr>
                <a:prstClr val="black">
                  <a:lumMod val="65000"/>
                  <a:lumOff val="35000"/>
                </a:prstClr>
              </a:buClr>
              <a:buFont typeface="Meiryo UI" panose="020B0604030504040204" pitchFamily="50" charset="-128"/>
              <a:buChar char="‒"/>
            </a:pPr>
            <a:r>
              <a:rPr lang="ja-JP" altLang="en-US" sz="1300">
                <a:solidFill>
                  <a:prstClr val="black"/>
                </a:solidFill>
                <a:latin typeface="Meiryo UI" panose="020B0604030504040204" pitchFamily="50" charset="-128"/>
                <a:cs typeface="Meiryo UI" panose="020B0604030504040204" pitchFamily="50" charset="-128"/>
              </a:rPr>
              <a:t>品質問題の発生構造の整理・真因課題の特定</a:t>
            </a:r>
            <a:endParaRPr lang="en-US" altLang="ja-JP" sz="1300">
              <a:solidFill>
                <a:prstClr val="black"/>
              </a:solidFill>
              <a:latin typeface="Meiryo UI" panose="020B0604030504040204" pitchFamily="50" charset="-128"/>
              <a:cs typeface="Meiryo UI" panose="020B0604030504040204" pitchFamily="50" charset="-128"/>
            </a:endParaRPr>
          </a:p>
          <a:p>
            <a:pPr marL="452438" lvl="1" indent="-187325">
              <a:spcBef>
                <a:spcPts val="300"/>
              </a:spcBef>
              <a:buClr>
                <a:prstClr val="black">
                  <a:lumMod val="65000"/>
                  <a:lumOff val="35000"/>
                </a:prstClr>
              </a:buClr>
              <a:buFont typeface="Meiryo UI" panose="020B0604030504040204" pitchFamily="50" charset="-128"/>
              <a:buChar char="‒"/>
            </a:pPr>
            <a:r>
              <a:rPr lang="ja-JP" altLang="en-US" sz="1300">
                <a:solidFill>
                  <a:prstClr val="black"/>
                </a:solidFill>
                <a:latin typeface="Meiryo UI" panose="020B0604030504040204" pitchFamily="50" charset="-128"/>
                <a:cs typeface="Meiryo UI" panose="020B0604030504040204" pitchFamily="50" charset="-128"/>
              </a:rPr>
              <a:t>課題根本に対する解決手段を検討し、品質リスクを低減させるよう抜本改善を行う</a:t>
            </a:r>
            <a:endParaRPr lang="en-US" altLang="ja-JP" sz="1300">
              <a:solidFill>
                <a:prstClr val="black"/>
              </a:solidFill>
              <a:latin typeface="Meiryo UI" panose="020B0604030504040204" pitchFamily="50" charset="-128"/>
              <a:cs typeface="Meiryo UI" panose="020B0604030504040204" pitchFamily="50" charset="-128"/>
            </a:endParaRPr>
          </a:p>
        </p:txBody>
      </p:sp>
      <p:sp>
        <p:nvSpPr>
          <p:cNvPr id="14" name="四角形: 角を丸くする 39">
            <a:extLst>
              <a:ext uri="{FF2B5EF4-FFF2-40B4-BE49-F238E27FC236}">
                <a16:creationId xmlns:a16="http://schemas.microsoft.com/office/drawing/2014/main" id="{C1F4777F-2517-B845-AB15-507D959A5C0F}"/>
              </a:ext>
            </a:extLst>
          </p:cNvPr>
          <p:cNvSpPr/>
          <p:nvPr/>
        </p:nvSpPr>
        <p:spPr>
          <a:xfrm>
            <a:off x="5345354" y="3762687"/>
            <a:ext cx="4284000" cy="1364960"/>
          </a:xfrm>
          <a:prstGeom prst="roundRect">
            <a:avLst>
              <a:gd name="adj" fmla="val 0"/>
            </a:avLst>
          </a:prstGeom>
          <a:noFill/>
          <a:ln w="12700">
            <a:solidFill>
              <a:schemeClr val="bg1">
                <a:lumMod val="50000"/>
              </a:schemeClr>
            </a:solidFill>
          </a:ln>
        </p:spPr>
        <p:txBody>
          <a:bodyPr wrap="none" lIns="72000" tIns="72000" rIns="72000" bIns="72000" anchor="t" anchorCtr="0">
            <a:noAutofit/>
          </a:bodyPr>
          <a:lstStyle/>
          <a:p>
            <a:pPr marL="254000" indent="-254000">
              <a:spcBef>
                <a:spcPts val="600"/>
              </a:spcBef>
              <a:buClr>
                <a:prstClr val="black">
                  <a:lumMod val="65000"/>
                  <a:lumOff val="35000"/>
                </a:prstClr>
              </a:buClr>
              <a:buFont typeface="+mj-ea"/>
              <a:buAutoNum type="circleNumDbPlain" startAt="2"/>
            </a:pPr>
            <a:r>
              <a:rPr lang="ja-JP" altLang="en-US" sz="1400" b="1">
                <a:solidFill>
                  <a:prstClr val="black"/>
                </a:solidFill>
                <a:latin typeface="Meiryo UI" panose="020B0604030504040204" pitchFamily="50" charset="-128"/>
              </a:rPr>
              <a:t>早期改善に向けた短期</a:t>
            </a:r>
            <a:r>
              <a:rPr lang="en-US" altLang="ja-JP" sz="1400" b="1">
                <a:solidFill>
                  <a:prstClr val="black"/>
                </a:solidFill>
                <a:latin typeface="Meiryo UI" panose="020B0604030504040204" pitchFamily="50" charset="-128"/>
              </a:rPr>
              <a:t>/</a:t>
            </a:r>
            <a:r>
              <a:rPr lang="ja-JP" altLang="en-US" sz="1400" b="1">
                <a:solidFill>
                  <a:prstClr val="black"/>
                </a:solidFill>
                <a:latin typeface="Meiryo UI" panose="020B0604030504040204" pitchFamily="50" charset="-128"/>
              </a:rPr>
              <a:t>中長期の両面での施策検討</a:t>
            </a:r>
            <a:endParaRPr lang="en-US" altLang="ja-JP" sz="1400" b="1">
              <a:solidFill>
                <a:prstClr val="black"/>
              </a:solidFill>
              <a:latin typeface="Meiryo UI" panose="020B0604030504040204" pitchFamily="50" charset="-128"/>
            </a:endParaRPr>
          </a:p>
          <a:p>
            <a:pPr marL="452438" lvl="1" indent="-187325">
              <a:spcBef>
                <a:spcPts val="300"/>
              </a:spcBef>
              <a:buClr>
                <a:prstClr val="black">
                  <a:lumMod val="65000"/>
                  <a:lumOff val="35000"/>
                </a:prstClr>
              </a:buClr>
              <a:buFont typeface="Meiryo UI" panose="020B0604030504040204" pitchFamily="50" charset="-128"/>
              <a:buChar char="‒"/>
            </a:pPr>
            <a:r>
              <a:rPr lang="ja-JP" altLang="en-US" sz="1300">
                <a:solidFill>
                  <a:prstClr val="black"/>
                </a:solidFill>
                <a:latin typeface="Meiryo UI" panose="020B0604030504040204" pitchFamily="50" charset="-128"/>
              </a:rPr>
              <a:t>品質問題の早期改善に向け、改善案として</a:t>
            </a:r>
            <a:r>
              <a:rPr lang="en-US" altLang="ja-JP" sz="1300">
                <a:solidFill>
                  <a:prstClr val="black"/>
                </a:solidFill>
                <a:latin typeface="Meiryo UI" panose="020B0604030504040204" pitchFamily="50" charset="-128"/>
              </a:rPr>
              <a:t>Quick-Win</a:t>
            </a:r>
            <a:br>
              <a:rPr lang="en-US" altLang="ja-JP" sz="1300">
                <a:solidFill>
                  <a:prstClr val="black"/>
                </a:solidFill>
                <a:latin typeface="Meiryo UI" panose="020B0604030504040204" pitchFamily="50" charset="-128"/>
              </a:rPr>
            </a:br>
            <a:r>
              <a:rPr lang="en-US" altLang="ja-JP" sz="1300">
                <a:solidFill>
                  <a:prstClr val="black"/>
                </a:solidFill>
                <a:latin typeface="Meiryo UI" panose="020B0604030504040204" pitchFamily="50" charset="-128"/>
              </a:rPr>
              <a:t>(</a:t>
            </a:r>
            <a:r>
              <a:rPr lang="ja-JP" altLang="en-US" sz="1300">
                <a:solidFill>
                  <a:prstClr val="black"/>
                </a:solidFill>
                <a:latin typeface="Meiryo UI" panose="020B0604030504040204" pitchFamily="50" charset="-128"/>
              </a:rPr>
              <a:t>短期施策</a:t>
            </a:r>
            <a:r>
              <a:rPr lang="en-US" altLang="ja-JP" sz="1300">
                <a:solidFill>
                  <a:prstClr val="black"/>
                </a:solidFill>
                <a:latin typeface="Meiryo UI" panose="020B0604030504040204" pitchFamily="50" charset="-128"/>
              </a:rPr>
              <a:t>)</a:t>
            </a:r>
            <a:r>
              <a:rPr lang="ja-JP" altLang="en-US" sz="1300">
                <a:solidFill>
                  <a:prstClr val="black"/>
                </a:solidFill>
                <a:latin typeface="Meiryo UI" panose="020B0604030504040204" pitchFamily="50" charset="-128"/>
              </a:rPr>
              <a:t>と抜本改善案</a:t>
            </a:r>
            <a:r>
              <a:rPr lang="en-US" altLang="ja-JP" sz="1300">
                <a:solidFill>
                  <a:prstClr val="black"/>
                </a:solidFill>
                <a:latin typeface="Meiryo UI" panose="020B0604030504040204" pitchFamily="50" charset="-128"/>
              </a:rPr>
              <a:t>(</a:t>
            </a:r>
            <a:r>
              <a:rPr lang="ja-JP" altLang="en-US" sz="1300">
                <a:solidFill>
                  <a:prstClr val="black"/>
                </a:solidFill>
                <a:latin typeface="Meiryo UI" panose="020B0604030504040204" pitchFamily="50" charset="-128"/>
              </a:rPr>
              <a:t>中長期施策</a:t>
            </a:r>
            <a:r>
              <a:rPr lang="en-US" altLang="ja-JP" sz="1300">
                <a:solidFill>
                  <a:prstClr val="black"/>
                </a:solidFill>
                <a:latin typeface="Meiryo UI" panose="020B0604030504040204" pitchFamily="50" charset="-128"/>
              </a:rPr>
              <a:t>)</a:t>
            </a:r>
            <a:r>
              <a:rPr lang="ja-JP" altLang="en-US" sz="1300">
                <a:solidFill>
                  <a:prstClr val="black"/>
                </a:solidFill>
                <a:latin typeface="Meiryo UI" panose="020B0604030504040204" pitchFamily="50" charset="-128"/>
              </a:rPr>
              <a:t>を検討</a:t>
            </a:r>
            <a:endParaRPr lang="en-US" altLang="ja-JP" sz="1300">
              <a:solidFill>
                <a:prstClr val="black"/>
              </a:solidFill>
              <a:latin typeface="Meiryo UI" panose="020B0604030504040204" pitchFamily="50" charset="-128"/>
            </a:endParaRPr>
          </a:p>
          <a:p>
            <a:pPr marL="452438" lvl="1" indent="-187325">
              <a:spcBef>
                <a:spcPts val="300"/>
              </a:spcBef>
              <a:buClr>
                <a:prstClr val="black">
                  <a:lumMod val="65000"/>
                  <a:lumOff val="35000"/>
                </a:prstClr>
              </a:buClr>
              <a:buFont typeface="Meiryo UI" panose="020B0604030504040204" pitchFamily="50" charset="-128"/>
              <a:buChar char="‒"/>
            </a:pPr>
            <a:r>
              <a:rPr lang="en-US" altLang="ja-JP" sz="1300">
                <a:solidFill>
                  <a:prstClr val="black"/>
                </a:solidFill>
                <a:latin typeface="Meiryo UI" panose="020B0604030504040204" pitchFamily="50" charset="-128"/>
              </a:rPr>
              <a:t>FY26/3</a:t>
            </a:r>
            <a:r>
              <a:rPr lang="ja-JP" altLang="en-US" sz="1300">
                <a:solidFill>
                  <a:prstClr val="black"/>
                </a:solidFill>
                <a:latin typeface="Meiryo UI" panose="020B0604030504040204" pitchFamily="50" charset="-128"/>
              </a:rPr>
              <a:t>月までの施策実行計画を策定し、確実な足元</a:t>
            </a:r>
            <a:r>
              <a:rPr lang="en-US" altLang="ja-JP" sz="1300">
                <a:solidFill>
                  <a:prstClr val="black"/>
                </a:solidFill>
                <a:latin typeface="Meiryo UI" panose="020B0604030504040204" pitchFamily="50" charset="-128"/>
              </a:rPr>
              <a:t>/</a:t>
            </a:r>
            <a:br>
              <a:rPr lang="en-US" altLang="ja-JP" sz="1300">
                <a:solidFill>
                  <a:prstClr val="black"/>
                </a:solidFill>
                <a:latin typeface="Meiryo UI" panose="020B0604030504040204" pitchFamily="50" charset="-128"/>
              </a:rPr>
            </a:br>
            <a:r>
              <a:rPr lang="ja-JP" altLang="en-US" sz="1300">
                <a:solidFill>
                  <a:prstClr val="black"/>
                </a:solidFill>
                <a:latin typeface="Meiryo UI" panose="020B0604030504040204" pitchFamily="50" charset="-128"/>
              </a:rPr>
              <a:t>中長期目線での品質改善を推進</a:t>
            </a:r>
            <a:endParaRPr lang="en-US" altLang="ja-JP" sz="1300">
              <a:solidFill>
                <a:prstClr val="black"/>
              </a:solidFill>
              <a:latin typeface="Meiryo UI" panose="020B0604030504040204" pitchFamily="50" charset="-128"/>
            </a:endParaRPr>
          </a:p>
        </p:txBody>
      </p:sp>
      <p:sp>
        <p:nvSpPr>
          <p:cNvPr id="15" name="四角形: 角を丸くする 39">
            <a:extLst>
              <a:ext uri="{FF2B5EF4-FFF2-40B4-BE49-F238E27FC236}">
                <a16:creationId xmlns:a16="http://schemas.microsoft.com/office/drawing/2014/main" id="{C5F448E7-EBC3-7464-18C3-9C9E754FBB24}"/>
              </a:ext>
            </a:extLst>
          </p:cNvPr>
          <p:cNvSpPr/>
          <p:nvPr/>
        </p:nvSpPr>
        <p:spPr>
          <a:xfrm>
            <a:off x="5345354" y="5290458"/>
            <a:ext cx="4284000" cy="1364960"/>
          </a:xfrm>
          <a:prstGeom prst="roundRect">
            <a:avLst>
              <a:gd name="adj" fmla="val 0"/>
            </a:avLst>
          </a:prstGeom>
          <a:noFill/>
          <a:ln w="12700">
            <a:solidFill>
              <a:schemeClr val="bg1">
                <a:lumMod val="50000"/>
              </a:schemeClr>
            </a:solidFill>
          </a:ln>
        </p:spPr>
        <p:txBody>
          <a:bodyPr wrap="square" lIns="72000" tIns="72000" rIns="72000" bIns="72000" anchor="t" anchorCtr="0">
            <a:noAutofit/>
          </a:bodyPr>
          <a:lstStyle/>
          <a:p>
            <a:pPr marL="254000" indent="-254000">
              <a:spcBef>
                <a:spcPts val="600"/>
              </a:spcBef>
              <a:buClr>
                <a:prstClr val="black">
                  <a:lumMod val="65000"/>
                  <a:lumOff val="35000"/>
                </a:prstClr>
              </a:buClr>
              <a:buFont typeface="+mj-ea"/>
              <a:buAutoNum type="circleNumDbPlain" startAt="3"/>
            </a:pPr>
            <a:r>
              <a:rPr lang="ja-JP" altLang="en-US" sz="1400" b="1">
                <a:solidFill>
                  <a:prstClr val="black"/>
                </a:solidFill>
                <a:latin typeface="Meiryo UI" panose="020B0604030504040204" pitchFamily="50" charset="-128"/>
                <a:cs typeface="Meiryo UI" panose="020B0604030504040204" pitchFamily="50" charset="-128"/>
              </a:rPr>
              <a:t>品質リスク改善スキームの定着化</a:t>
            </a:r>
            <a:endParaRPr lang="en-US" altLang="ja-JP" sz="1300">
              <a:solidFill>
                <a:prstClr val="black"/>
              </a:solidFill>
              <a:latin typeface="Meiryo UI" panose="020B0604030504040204" pitchFamily="50" charset="-128"/>
              <a:cs typeface="Meiryo UI" panose="020B0604030504040204" pitchFamily="50" charset="-128"/>
            </a:endParaRPr>
          </a:p>
          <a:p>
            <a:pPr marL="452438" lvl="1" indent="-187325">
              <a:spcBef>
                <a:spcPts val="300"/>
              </a:spcBef>
              <a:buClr>
                <a:prstClr val="black">
                  <a:lumMod val="65000"/>
                  <a:lumOff val="35000"/>
                </a:prstClr>
              </a:buClr>
              <a:buFont typeface="Meiryo UI" panose="020B0604030504040204" pitchFamily="50" charset="-128"/>
              <a:buChar char="‒"/>
            </a:pPr>
            <a:r>
              <a:rPr lang="ja-JP" altLang="en-US" sz="1300">
                <a:solidFill>
                  <a:prstClr val="black"/>
                </a:solidFill>
                <a:latin typeface="Meiryo UI" panose="020B0604030504040204" pitchFamily="50" charset="-128"/>
                <a:cs typeface="Meiryo UI" panose="020B0604030504040204" pitchFamily="50" charset="-128"/>
              </a:rPr>
              <a:t>施策展開後も自力で課題改善に取り組めるよう、</a:t>
            </a:r>
            <a:br>
              <a:rPr lang="en-US" altLang="ja-JP" sz="1300">
                <a:solidFill>
                  <a:prstClr val="black"/>
                </a:solidFill>
                <a:latin typeface="Meiryo UI" panose="020B0604030504040204" pitchFamily="50" charset="-128"/>
                <a:cs typeface="Meiryo UI" panose="020B0604030504040204" pitchFamily="50" charset="-128"/>
              </a:rPr>
            </a:br>
            <a:r>
              <a:rPr lang="ja-JP" altLang="en-US" sz="1300">
                <a:solidFill>
                  <a:prstClr val="black"/>
                </a:solidFill>
                <a:latin typeface="Meiryo UI" panose="020B0604030504040204" pitchFamily="50" charset="-128"/>
                <a:cs typeface="Meiryo UI" panose="020B0604030504040204" pitchFamily="50" charset="-128"/>
              </a:rPr>
              <a:t>現場に根差した持続性のある</a:t>
            </a:r>
            <a:r>
              <a:rPr lang="en-US" altLang="ja-JP" sz="1300">
                <a:solidFill>
                  <a:prstClr val="black"/>
                </a:solidFill>
                <a:latin typeface="Meiryo UI" panose="020B0604030504040204" pitchFamily="50" charset="-128"/>
                <a:cs typeface="Meiryo UI" panose="020B0604030504040204" pitchFamily="50" charset="-128"/>
              </a:rPr>
              <a:t>PDCA</a:t>
            </a:r>
            <a:r>
              <a:rPr lang="ja-JP" altLang="en-US" sz="1300">
                <a:solidFill>
                  <a:prstClr val="black"/>
                </a:solidFill>
                <a:latin typeface="Meiryo UI" panose="020B0604030504040204" pitchFamily="50" charset="-128"/>
                <a:cs typeface="Meiryo UI" panose="020B0604030504040204" pitchFamily="50" charset="-128"/>
              </a:rPr>
              <a:t>サイクルの確立・改善態勢の整備を行う</a:t>
            </a:r>
            <a:endParaRPr lang="en-US" altLang="ja-JP" sz="1300">
              <a:solidFill>
                <a:prstClr val="black"/>
              </a:solidFill>
              <a:latin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158692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545BE-0B42-0453-4F93-B03D7F5579E5}"/>
            </a:ext>
          </a:extLst>
        </p:cNvPr>
        <p:cNvGrpSpPr/>
        <p:nvPr/>
      </p:nvGrpSpPr>
      <p:grpSpPr>
        <a:xfrm>
          <a:off x="0" y="0"/>
          <a:ext cx="0" cy="0"/>
          <a:chOff x="0" y="0"/>
          <a:chExt cx="0" cy="0"/>
        </a:xfrm>
      </p:grpSpPr>
      <p:sp>
        <p:nvSpPr>
          <p:cNvPr id="6" name="テキスト プレースホルダー 2">
            <a:extLst>
              <a:ext uri="{FF2B5EF4-FFF2-40B4-BE49-F238E27FC236}">
                <a16:creationId xmlns:a16="http://schemas.microsoft.com/office/drawing/2014/main" id="{35E002F3-DA9A-1477-5392-81D28EAB5A8B}"/>
              </a:ext>
            </a:extLst>
          </p:cNvPr>
          <p:cNvSpPr txBox="1">
            <a:spLocks/>
          </p:cNvSpPr>
          <p:nvPr/>
        </p:nvSpPr>
        <p:spPr bwMode="gray">
          <a:xfrm>
            <a:off x="489000" y="969722"/>
            <a:ext cx="8928000" cy="669414"/>
          </a:xfrm>
          <a:prstGeom prst="rect">
            <a:avLst/>
          </a:prstGeom>
          <a:noFill/>
          <a:ln w="12700" algn="ctr">
            <a:noFill/>
            <a:miter lim="800000"/>
            <a:headEnd/>
            <a:tailEnd/>
          </a:ln>
        </p:spPr>
        <p:txBody>
          <a:bodyPr vert="horz" wrap="square" lIns="0" tIns="0" rIns="0" bIns="0" numCol="1" rtlCol="0" anchor="t" anchorCtr="0" compatLnSpc="1">
            <a:prstTxWarp prst="textNoShape">
              <a:avLst/>
            </a:prstTxWarp>
            <a:noAutofit/>
          </a:bodyPr>
          <a:lstStyle>
            <a:lvl1pPr marL="0" marR="0" indent="0" algn="l" defTabSz="990546" rtl="0" eaLnBrk="1" fontAlgn="base" latinLnBrk="0" hangingPunct="1">
              <a:lnSpc>
                <a:spcPct val="100000"/>
              </a:lnSpc>
              <a:spcBef>
                <a:spcPts val="0"/>
              </a:spcBef>
              <a:spcAft>
                <a:spcPts val="0"/>
              </a:spcAft>
              <a:buClrTx/>
              <a:buSzTx/>
              <a:buFont typeface="Times" pitchFamily="18" charset="0"/>
              <a:tabLst/>
              <a:defRPr kumimoji="1" lang="ja-JP" altLang="en-US" sz="1600" dirty="0" smtClean="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defRPr>
            </a:lvl1pPr>
            <a:lvl2pPr marL="644525" indent="-285750" algn="l" rtl="0" eaLnBrk="1" fontAlgn="base" hangingPunct="1">
              <a:spcBef>
                <a:spcPct val="20000"/>
              </a:spcBef>
              <a:spcAft>
                <a:spcPct val="0"/>
              </a:spcAft>
              <a:buClr>
                <a:srgbClr val="666666"/>
              </a:buClr>
              <a:buSzPct val="90000"/>
              <a:buFont typeface="Wingdings" panose="05000000000000000000" pitchFamily="2" charset="2"/>
              <a:buChar char="p"/>
              <a:defRPr kumimoji="1" lang="ja-JP" altLang="en-US" sz="1477" dirty="0" smtClean="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2pPr>
            <a:lvl3pPr marL="1004888" indent="-285750" algn="l" rtl="0" eaLnBrk="1" fontAlgn="base" hangingPunct="1">
              <a:spcBef>
                <a:spcPct val="20000"/>
              </a:spcBef>
              <a:spcAft>
                <a:spcPct val="0"/>
              </a:spcAft>
              <a:buClr>
                <a:srgbClr val="666666"/>
              </a:buClr>
              <a:buSzPct val="90000"/>
              <a:buFont typeface="Arial" panose="020B0604020202020204" pitchFamily="34" charset="0"/>
              <a:buChar char="•"/>
              <a:defRPr kumimoji="1" lang="ja-JP" altLang="en-US" sz="1477" dirty="0" smtClean="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3pPr>
            <a:lvl4pPr marL="1363662" indent="-285750" algn="l" rtl="0" eaLnBrk="1" fontAlgn="base" hangingPunct="1">
              <a:spcBef>
                <a:spcPct val="20000"/>
              </a:spcBef>
              <a:spcAft>
                <a:spcPct val="0"/>
              </a:spcAft>
              <a:buClr>
                <a:srgbClr val="666666"/>
              </a:buClr>
              <a:buSzPct val="90000"/>
              <a:buFont typeface="Meiryo UI" panose="020B0604030504040204" pitchFamily="50" charset="-128"/>
              <a:buChar char="–"/>
              <a:defRPr kumimoji="1" lang="ja-JP" altLang="en-US" sz="1477" dirty="0" smtClean="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4pPr>
            <a:lvl5pPr marL="1436687" indent="0" algn="l" rtl="0" eaLnBrk="1" fontAlgn="base" hangingPunct="1">
              <a:spcBef>
                <a:spcPct val="20000"/>
              </a:spcBef>
              <a:spcAft>
                <a:spcPct val="0"/>
              </a:spcAft>
              <a:buClr>
                <a:srgbClr val="666666"/>
              </a:buClr>
              <a:buSzPct val="90000"/>
              <a:buFont typeface="Times" pitchFamily="18" charset="0"/>
              <a:buNone/>
              <a:defRPr kumimoji="1" lang="ja-JP" altLang="en-US" sz="1477" dirty="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5pPr>
            <a:lvl6pPr marL="1953396"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6pPr>
            <a:lvl7pPr marL="2375434"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7pPr>
            <a:lvl8pPr marL="2797474"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8pPr>
            <a:lvl9pPr marL="3219512"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9pPr>
          </a:lstStyle>
          <a:p>
            <a:r>
              <a:rPr lang="en-US" altLang="ja-JP" kern="0" dirty="0"/>
              <a:t>FY26/3</a:t>
            </a:r>
            <a:r>
              <a:rPr lang="ja-JP" altLang="en-US" kern="0" dirty="0"/>
              <a:t>月までにあるべき像に向けた業務改善を完了すべく、</a:t>
            </a:r>
            <a:r>
              <a:rPr lang="en-US" altLang="ja-JP" kern="0" dirty="0"/>
              <a:t>FY25/1-3</a:t>
            </a:r>
            <a:r>
              <a:rPr lang="ja-JP" altLang="en-US" kern="0" dirty="0"/>
              <a:t>月末間に市場管理部全体における</a:t>
            </a:r>
            <a:br>
              <a:rPr lang="ja-JP" altLang="en-US" kern="0" dirty="0"/>
            </a:br>
            <a:r>
              <a:rPr lang="ja-JP" altLang="en-US" kern="0" dirty="0"/>
              <a:t>品質改善施策の検討・実行計画の策定を行い、 </a:t>
            </a:r>
            <a:r>
              <a:rPr lang="en-US" altLang="ja-JP" kern="0" dirty="0"/>
              <a:t>FY25/4</a:t>
            </a:r>
            <a:r>
              <a:rPr lang="ja-JP" altLang="en-US" kern="0" dirty="0"/>
              <a:t>月以降での施策詳細化・実行を計画</a:t>
            </a:r>
          </a:p>
        </p:txBody>
      </p:sp>
      <p:sp>
        <p:nvSpPr>
          <p:cNvPr id="2" name="タイトル 1">
            <a:extLst>
              <a:ext uri="{FF2B5EF4-FFF2-40B4-BE49-F238E27FC236}">
                <a16:creationId xmlns:a16="http://schemas.microsoft.com/office/drawing/2014/main" id="{54303B60-D76B-55E4-6FA1-AF5F00E33BE7}"/>
              </a:ext>
            </a:extLst>
          </p:cNvPr>
          <p:cNvSpPr>
            <a:spLocks noGrp="1"/>
          </p:cNvSpPr>
          <p:nvPr>
            <p:ph type="title"/>
          </p:nvPr>
        </p:nvSpPr>
        <p:spPr/>
        <p:txBody>
          <a:bodyPr/>
          <a:lstStyle/>
          <a:p>
            <a:r>
              <a:rPr kumimoji="1" lang="en-US" altLang="ja-JP" dirty="0"/>
              <a:t>2. </a:t>
            </a:r>
            <a:r>
              <a:rPr kumimoji="1" lang="ja-JP" altLang="en-US" dirty="0"/>
              <a:t>スケジュール</a:t>
            </a:r>
          </a:p>
        </p:txBody>
      </p:sp>
      <p:sp>
        <p:nvSpPr>
          <p:cNvPr id="4" name="テキスト プレースホルダー 3">
            <a:extLst>
              <a:ext uri="{FF2B5EF4-FFF2-40B4-BE49-F238E27FC236}">
                <a16:creationId xmlns:a16="http://schemas.microsoft.com/office/drawing/2014/main" id="{427B2A29-1C04-1F08-2711-D8E9EE2BBDE2}"/>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プロジェクト② 業務改善支援</a:t>
            </a:r>
          </a:p>
        </p:txBody>
      </p:sp>
      <p:sp>
        <p:nvSpPr>
          <p:cNvPr id="7" name="正方形/長方形 6">
            <a:extLst>
              <a:ext uri="{FF2B5EF4-FFF2-40B4-BE49-F238E27FC236}">
                <a16:creationId xmlns:a16="http://schemas.microsoft.com/office/drawing/2014/main" id="{B48591A4-93FF-5C84-8B77-2EFBC5F11F60}"/>
              </a:ext>
            </a:extLst>
          </p:cNvPr>
          <p:cNvSpPr/>
          <p:nvPr/>
        </p:nvSpPr>
        <p:spPr>
          <a:xfrm>
            <a:off x="646763" y="1738852"/>
            <a:ext cx="1631152" cy="276725"/>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b="0" i="0" u="none" strike="noStrike" kern="0" cap="none" spc="0" normalizeH="0" baseline="0" noProof="0">
                <a:ln>
                  <a:noFill/>
                </a:ln>
                <a:solidFill>
                  <a:prstClr val="white"/>
                </a:solidFill>
                <a:effectLst/>
                <a:uLnTx/>
                <a:uFillTx/>
                <a:latin typeface="Meiryo UI"/>
                <a:ea typeface="Meiryo UI"/>
                <a:cs typeface="+mn-cs"/>
              </a:rPr>
              <a:t>FY24</a:t>
            </a:r>
            <a:endParaRPr kumimoji="0" lang="ja-JP" altLang="en-US" sz="1200" b="0" i="0" u="none" strike="noStrike" kern="0" cap="none" spc="0" normalizeH="0" baseline="0" noProof="0">
              <a:ln>
                <a:noFill/>
              </a:ln>
              <a:solidFill>
                <a:prstClr val="white"/>
              </a:solidFill>
              <a:effectLst/>
              <a:uLnTx/>
              <a:uFillTx/>
              <a:latin typeface="Meiryo UI"/>
              <a:ea typeface="Meiryo UI"/>
              <a:cs typeface="+mn-cs"/>
            </a:endParaRPr>
          </a:p>
        </p:txBody>
      </p:sp>
      <p:sp>
        <p:nvSpPr>
          <p:cNvPr id="8" name="正方形/長方形 7">
            <a:extLst>
              <a:ext uri="{FF2B5EF4-FFF2-40B4-BE49-F238E27FC236}">
                <a16:creationId xmlns:a16="http://schemas.microsoft.com/office/drawing/2014/main" id="{BB742AD4-5F02-0B0E-6E8E-994FACFCE5BB}"/>
              </a:ext>
            </a:extLst>
          </p:cNvPr>
          <p:cNvSpPr/>
          <p:nvPr/>
        </p:nvSpPr>
        <p:spPr>
          <a:xfrm>
            <a:off x="2482124" y="1738852"/>
            <a:ext cx="6777113" cy="276725"/>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b="0" i="0" u="none" strike="noStrike" kern="0" cap="none" spc="0" normalizeH="0" baseline="0" noProof="0">
                <a:ln>
                  <a:noFill/>
                </a:ln>
                <a:solidFill>
                  <a:prstClr val="white"/>
                </a:solidFill>
                <a:effectLst/>
                <a:uLnTx/>
                <a:uFillTx/>
                <a:latin typeface="Meiryo UI"/>
                <a:ea typeface="Meiryo UI"/>
                <a:cs typeface="+mn-cs"/>
              </a:rPr>
              <a:t>FY25</a:t>
            </a:r>
            <a:endParaRPr kumimoji="0" lang="ja-JP" altLang="en-US" sz="1200" b="0" i="0" u="none" strike="noStrike" kern="0" cap="none" spc="0" normalizeH="0" baseline="0" noProof="0">
              <a:ln>
                <a:noFill/>
              </a:ln>
              <a:solidFill>
                <a:prstClr val="white"/>
              </a:solidFill>
              <a:effectLst/>
              <a:uLnTx/>
              <a:uFillTx/>
              <a:latin typeface="Meiryo UI"/>
              <a:ea typeface="Meiryo UI"/>
              <a:cs typeface="+mn-cs"/>
            </a:endParaRPr>
          </a:p>
        </p:txBody>
      </p:sp>
      <p:grpSp>
        <p:nvGrpSpPr>
          <p:cNvPr id="9" name="グループ化 8">
            <a:extLst>
              <a:ext uri="{FF2B5EF4-FFF2-40B4-BE49-F238E27FC236}">
                <a16:creationId xmlns:a16="http://schemas.microsoft.com/office/drawing/2014/main" id="{514AEDBF-2FDB-0D89-A85B-AC9459611F02}"/>
              </a:ext>
            </a:extLst>
          </p:cNvPr>
          <p:cNvGrpSpPr/>
          <p:nvPr/>
        </p:nvGrpSpPr>
        <p:grpSpPr>
          <a:xfrm>
            <a:off x="646763" y="2085541"/>
            <a:ext cx="1631152" cy="276725"/>
            <a:chOff x="1112707" y="2420374"/>
            <a:chExt cx="1680578" cy="373311"/>
          </a:xfrm>
        </p:grpSpPr>
        <p:sp>
          <p:nvSpPr>
            <p:cNvPr id="10" name="正方形/長方形 9">
              <a:extLst>
                <a:ext uri="{FF2B5EF4-FFF2-40B4-BE49-F238E27FC236}">
                  <a16:creationId xmlns:a16="http://schemas.microsoft.com/office/drawing/2014/main" id="{6215A923-0526-7C0A-4EE3-965483BB0DA7}"/>
                </a:ext>
              </a:extLst>
            </p:cNvPr>
            <p:cNvSpPr/>
            <p:nvPr/>
          </p:nvSpPr>
          <p:spPr>
            <a:xfrm>
              <a:off x="1112707"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b="0" i="0" u="none" strike="noStrike" kern="0" cap="none" spc="0" normalizeH="0" baseline="0" noProof="0">
                  <a:ln>
                    <a:noFill/>
                  </a:ln>
                  <a:solidFill>
                    <a:prstClr val="white"/>
                  </a:solidFill>
                  <a:effectLst/>
                  <a:uLnTx/>
                  <a:uFillTx/>
                  <a:latin typeface="Meiryo UI"/>
                  <a:ea typeface="Meiryo UI"/>
                  <a:cs typeface="+mn-cs"/>
                </a:rPr>
                <a:t>1</a:t>
              </a:r>
              <a:r>
                <a:rPr kumimoji="0" lang="ja-JP" altLang="en-US" sz="12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1" name="正方形/長方形 10">
              <a:extLst>
                <a:ext uri="{FF2B5EF4-FFF2-40B4-BE49-F238E27FC236}">
                  <a16:creationId xmlns:a16="http://schemas.microsoft.com/office/drawing/2014/main" id="{F3296DB1-0C4D-A87E-68F3-D72F65D67629}"/>
                </a:ext>
              </a:extLst>
            </p:cNvPr>
            <p:cNvSpPr/>
            <p:nvPr/>
          </p:nvSpPr>
          <p:spPr>
            <a:xfrm>
              <a:off x="1681193"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b="0" i="0" u="none" strike="noStrike" kern="0" cap="none" spc="0" normalizeH="0" baseline="0" noProof="0">
                  <a:ln>
                    <a:noFill/>
                  </a:ln>
                  <a:solidFill>
                    <a:prstClr val="white"/>
                  </a:solidFill>
                  <a:effectLst/>
                  <a:uLnTx/>
                  <a:uFillTx/>
                  <a:latin typeface="Meiryo UI"/>
                  <a:ea typeface="Meiryo UI"/>
                  <a:cs typeface="+mn-cs"/>
                </a:rPr>
                <a:t>2</a:t>
              </a:r>
              <a:r>
                <a:rPr kumimoji="0" lang="ja-JP" altLang="en-US" sz="12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2" name="正方形/長方形 11">
              <a:extLst>
                <a:ext uri="{FF2B5EF4-FFF2-40B4-BE49-F238E27FC236}">
                  <a16:creationId xmlns:a16="http://schemas.microsoft.com/office/drawing/2014/main" id="{D8C7A0F9-65DD-19DB-E813-D4BB534EDEBC}"/>
                </a:ext>
              </a:extLst>
            </p:cNvPr>
            <p:cNvSpPr/>
            <p:nvPr/>
          </p:nvSpPr>
          <p:spPr>
            <a:xfrm>
              <a:off x="2249679"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b="0" i="0" u="none" strike="noStrike" kern="0" cap="none" spc="0" normalizeH="0" baseline="0" noProof="0">
                  <a:ln>
                    <a:noFill/>
                  </a:ln>
                  <a:solidFill>
                    <a:prstClr val="white"/>
                  </a:solidFill>
                  <a:effectLst/>
                  <a:uLnTx/>
                  <a:uFillTx/>
                  <a:latin typeface="Meiryo UI"/>
                  <a:ea typeface="Meiryo UI"/>
                  <a:cs typeface="+mn-cs"/>
                </a:rPr>
                <a:t>3</a:t>
              </a:r>
              <a:r>
                <a:rPr kumimoji="0" lang="ja-JP" altLang="en-US" sz="1200" b="0" i="0" u="none" strike="noStrike" kern="0" cap="none" spc="0" normalizeH="0" baseline="0" noProof="0">
                  <a:ln>
                    <a:noFill/>
                  </a:ln>
                  <a:solidFill>
                    <a:prstClr val="white"/>
                  </a:solidFill>
                  <a:effectLst/>
                  <a:uLnTx/>
                  <a:uFillTx/>
                  <a:latin typeface="Meiryo UI"/>
                  <a:ea typeface="Meiryo UI"/>
                  <a:cs typeface="+mn-cs"/>
                </a:rPr>
                <a:t>月</a:t>
              </a:r>
            </a:p>
          </p:txBody>
        </p:sp>
      </p:grpSp>
      <p:grpSp>
        <p:nvGrpSpPr>
          <p:cNvPr id="13" name="グループ化 12">
            <a:extLst>
              <a:ext uri="{FF2B5EF4-FFF2-40B4-BE49-F238E27FC236}">
                <a16:creationId xmlns:a16="http://schemas.microsoft.com/office/drawing/2014/main" id="{CE718D7A-D3FD-341C-D7C0-F4221F03C836}"/>
              </a:ext>
            </a:extLst>
          </p:cNvPr>
          <p:cNvGrpSpPr/>
          <p:nvPr/>
        </p:nvGrpSpPr>
        <p:grpSpPr>
          <a:xfrm>
            <a:off x="2482125" y="2085541"/>
            <a:ext cx="3286453" cy="276725"/>
            <a:chOff x="2818165" y="2420374"/>
            <a:chExt cx="3386036" cy="373311"/>
          </a:xfrm>
        </p:grpSpPr>
        <p:sp>
          <p:nvSpPr>
            <p:cNvPr id="14" name="正方形/長方形 13">
              <a:extLst>
                <a:ext uri="{FF2B5EF4-FFF2-40B4-BE49-F238E27FC236}">
                  <a16:creationId xmlns:a16="http://schemas.microsoft.com/office/drawing/2014/main" id="{80FF3B25-D6B9-23F9-AAD2-2F946DE36759}"/>
                </a:ext>
              </a:extLst>
            </p:cNvPr>
            <p:cNvSpPr/>
            <p:nvPr/>
          </p:nvSpPr>
          <p:spPr>
            <a:xfrm>
              <a:off x="2818165"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kern="0">
                  <a:solidFill>
                    <a:prstClr val="white"/>
                  </a:solidFill>
                  <a:latin typeface="Meiryo UI"/>
                  <a:ea typeface="Meiryo UI"/>
                </a:rPr>
                <a:t>4</a:t>
              </a:r>
              <a:r>
                <a:rPr kumimoji="0" lang="ja-JP" altLang="en-US" sz="12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5" name="正方形/長方形 14">
              <a:extLst>
                <a:ext uri="{FF2B5EF4-FFF2-40B4-BE49-F238E27FC236}">
                  <a16:creationId xmlns:a16="http://schemas.microsoft.com/office/drawing/2014/main" id="{280A8D7A-DB48-513E-728C-FCCF1A96ADCD}"/>
                </a:ext>
              </a:extLst>
            </p:cNvPr>
            <p:cNvSpPr/>
            <p:nvPr/>
          </p:nvSpPr>
          <p:spPr>
            <a:xfrm>
              <a:off x="3386651"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kern="0">
                  <a:solidFill>
                    <a:prstClr val="white"/>
                  </a:solidFill>
                  <a:latin typeface="Meiryo UI"/>
                  <a:ea typeface="Meiryo UI"/>
                </a:rPr>
                <a:t>5</a:t>
              </a:r>
              <a:r>
                <a:rPr kumimoji="0" lang="ja-JP" altLang="en-US" sz="12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6" name="正方形/長方形 15">
              <a:extLst>
                <a:ext uri="{FF2B5EF4-FFF2-40B4-BE49-F238E27FC236}">
                  <a16:creationId xmlns:a16="http://schemas.microsoft.com/office/drawing/2014/main" id="{6D504AAB-E45C-3E4C-D27F-7C1E82E43FF9}"/>
                </a:ext>
              </a:extLst>
            </p:cNvPr>
            <p:cNvSpPr/>
            <p:nvPr/>
          </p:nvSpPr>
          <p:spPr>
            <a:xfrm>
              <a:off x="3955137"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kern="0">
                  <a:solidFill>
                    <a:prstClr val="white"/>
                  </a:solidFill>
                  <a:latin typeface="Meiryo UI"/>
                  <a:ea typeface="Meiryo UI"/>
                </a:rPr>
                <a:t>6</a:t>
              </a:r>
              <a:r>
                <a:rPr kumimoji="0" lang="ja-JP" altLang="en-US" sz="12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7" name="正方形/長方形 16">
              <a:extLst>
                <a:ext uri="{FF2B5EF4-FFF2-40B4-BE49-F238E27FC236}">
                  <a16:creationId xmlns:a16="http://schemas.microsoft.com/office/drawing/2014/main" id="{67155468-C29C-7F14-69EC-6E0671382239}"/>
                </a:ext>
              </a:extLst>
            </p:cNvPr>
            <p:cNvSpPr/>
            <p:nvPr/>
          </p:nvSpPr>
          <p:spPr>
            <a:xfrm>
              <a:off x="4523623"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kern="0">
                  <a:solidFill>
                    <a:prstClr val="white"/>
                  </a:solidFill>
                  <a:latin typeface="Meiryo UI"/>
                  <a:ea typeface="Meiryo UI"/>
                </a:rPr>
                <a:t>7</a:t>
              </a:r>
              <a:r>
                <a:rPr kumimoji="0" lang="ja-JP" altLang="en-US" sz="12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8" name="正方形/長方形 17">
              <a:extLst>
                <a:ext uri="{FF2B5EF4-FFF2-40B4-BE49-F238E27FC236}">
                  <a16:creationId xmlns:a16="http://schemas.microsoft.com/office/drawing/2014/main" id="{4469E4AF-B62D-72A8-FF68-E053266B408A}"/>
                </a:ext>
              </a:extLst>
            </p:cNvPr>
            <p:cNvSpPr/>
            <p:nvPr/>
          </p:nvSpPr>
          <p:spPr>
            <a:xfrm>
              <a:off x="5092109"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kern="0">
                  <a:solidFill>
                    <a:prstClr val="white"/>
                  </a:solidFill>
                  <a:latin typeface="Meiryo UI"/>
                  <a:ea typeface="Meiryo UI"/>
                </a:rPr>
                <a:t>8</a:t>
              </a:r>
              <a:r>
                <a:rPr kumimoji="0" lang="ja-JP" altLang="en-US" sz="12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9" name="正方形/長方形 18">
              <a:extLst>
                <a:ext uri="{FF2B5EF4-FFF2-40B4-BE49-F238E27FC236}">
                  <a16:creationId xmlns:a16="http://schemas.microsoft.com/office/drawing/2014/main" id="{C62D4722-5C36-EBEF-6249-07545584886D}"/>
                </a:ext>
              </a:extLst>
            </p:cNvPr>
            <p:cNvSpPr/>
            <p:nvPr/>
          </p:nvSpPr>
          <p:spPr>
            <a:xfrm>
              <a:off x="5660595"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kern="0">
                  <a:solidFill>
                    <a:prstClr val="white"/>
                  </a:solidFill>
                  <a:latin typeface="Meiryo UI"/>
                  <a:ea typeface="Meiryo UI"/>
                </a:rPr>
                <a:t>9</a:t>
              </a:r>
              <a:r>
                <a:rPr kumimoji="0" lang="ja-JP" altLang="en-US" sz="1200" b="0" i="0" u="none" strike="noStrike" kern="0" cap="none" spc="0" normalizeH="0" baseline="0" noProof="0">
                  <a:ln>
                    <a:noFill/>
                  </a:ln>
                  <a:solidFill>
                    <a:prstClr val="white"/>
                  </a:solidFill>
                  <a:effectLst/>
                  <a:uLnTx/>
                  <a:uFillTx/>
                  <a:latin typeface="Meiryo UI"/>
                  <a:ea typeface="Meiryo UI"/>
                  <a:cs typeface="+mn-cs"/>
                </a:rPr>
                <a:t>月</a:t>
              </a:r>
            </a:p>
          </p:txBody>
        </p:sp>
      </p:grpSp>
      <p:grpSp>
        <p:nvGrpSpPr>
          <p:cNvPr id="20" name="グループ化 19">
            <a:extLst>
              <a:ext uri="{FF2B5EF4-FFF2-40B4-BE49-F238E27FC236}">
                <a16:creationId xmlns:a16="http://schemas.microsoft.com/office/drawing/2014/main" id="{AD1D3FC0-78A0-EC03-35D9-EF8D648FCECE}"/>
              </a:ext>
            </a:extLst>
          </p:cNvPr>
          <p:cNvGrpSpPr/>
          <p:nvPr/>
        </p:nvGrpSpPr>
        <p:grpSpPr>
          <a:xfrm>
            <a:off x="5972788" y="2085541"/>
            <a:ext cx="3286450" cy="276725"/>
            <a:chOff x="6296815" y="2420374"/>
            <a:chExt cx="3386032" cy="373311"/>
          </a:xfrm>
        </p:grpSpPr>
        <p:sp>
          <p:nvSpPr>
            <p:cNvPr id="21" name="正方形/長方形 20">
              <a:extLst>
                <a:ext uri="{FF2B5EF4-FFF2-40B4-BE49-F238E27FC236}">
                  <a16:creationId xmlns:a16="http://schemas.microsoft.com/office/drawing/2014/main" id="{BF011576-01C9-7AC8-E48C-519BD1C8AA90}"/>
                </a:ext>
              </a:extLst>
            </p:cNvPr>
            <p:cNvSpPr/>
            <p:nvPr/>
          </p:nvSpPr>
          <p:spPr>
            <a:xfrm>
              <a:off x="6296815"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i="0" u="none" strike="noStrike" kern="0" cap="none" spc="0" normalizeH="0" baseline="0" noProof="0">
                  <a:ln>
                    <a:noFill/>
                  </a:ln>
                  <a:solidFill>
                    <a:prstClr val="white"/>
                  </a:solidFill>
                  <a:effectLst/>
                  <a:uLnTx/>
                  <a:uFillTx/>
                  <a:latin typeface="Meiryo UI"/>
                  <a:ea typeface="Meiryo UI"/>
                  <a:cs typeface="+mn-cs"/>
                </a:rPr>
                <a:t>10</a:t>
              </a:r>
              <a:r>
                <a:rPr kumimoji="0" lang="ja-JP" altLang="en-US" sz="1200" i="0" u="none" strike="noStrike" kern="0" cap="none" spc="0" normalizeH="0" baseline="0" noProof="0">
                  <a:ln>
                    <a:noFill/>
                  </a:ln>
                  <a:solidFill>
                    <a:prstClr val="white"/>
                  </a:solidFill>
                  <a:effectLst/>
                  <a:uLnTx/>
                  <a:uFillTx/>
                  <a:latin typeface="Meiryo UI"/>
                  <a:ea typeface="Meiryo UI"/>
                  <a:cs typeface="+mn-cs"/>
                </a:rPr>
                <a:t>月</a:t>
              </a:r>
            </a:p>
          </p:txBody>
        </p:sp>
        <p:sp>
          <p:nvSpPr>
            <p:cNvPr id="22" name="正方形/長方形 21">
              <a:extLst>
                <a:ext uri="{FF2B5EF4-FFF2-40B4-BE49-F238E27FC236}">
                  <a16:creationId xmlns:a16="http://schemas.microsoft.com/office/drawing/2014/main" id="{595E5839-68C5-ABE2-8065-EBE1A38AC613}"/>
                </a:ext>
              </a:extLst>
            </p:cNvPr>
            <p:cNvSpPr/>
            <p:nvPr/>
          </p:nvSpPr>
          <p:spPr>
            <a:xfrm>
              <a:off x="6865301"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i="0" u="none" strike="noStrike" kern="0" cap="none" spc="0" normalizeH="0" baseline="0" noProof="0">
                  <a:ln>
                    <a:noFill/>
                  </a:ln>
                  <a:solidFill>
                    <a:prstClr val="white"/>
                  </a:solidFill>
                  <a:effectLst/>
                  <a:uLnTx/>
                  <a:uFillTx/>
                  <a:latin typeface="Meiryo UI"/>
                  <a:ea typeface="Meiryo UI"/>
                  <a:cs typeface="+mn-cs"/>
                </a:rPr>
                <a:t>11</a:t>
              </a:r>
              <a:r>
                <a:rPr kumimoji="0" lang="ja-JP" altLang="en-US" sz="1200" i="0" u="none" strike="noStrike" kern="0" cap="none" spc="0" normalizeH="0" baseline="0" noProof="0">
                  <a:ln>
                    <a:noFill/>
                  </a:ln>
                  <a:solidFill>
                    <a:prstClr val="white"/>
                  </a:solidFill>
                  <a:effectLst/>
                  <a:uLnTx/>
                  <a:uFillTx/>
                  <a:latin typeface="Meiryo UI"/>
                  <a:ea typeface="Meiryo UI"/>
                  <a:cs typeface="+mn-cs"/>
                </a:rPr>
                <a:t>月</a:t>
              </a:r>
            </a:p>
          </p:txBody>
        </p:sp>
        <p:sp>
          <p:nvSpPr>
            <p:cNvPr id="23" name="正方形/長方形 22">
              <a:extLst>
                <a:ext uri="{FF2B5EF4-FFF2-40B4-BE49-F238E27FC236}">
                  <a16:creationId xmlns:a16="http://schemas.microsoft.com/office/drawing/2014/main" id="{2B61A57E-1A15-E343-EECC-983B71E50039}"/>
                </a:ext>
              </a:extLst>
            </p:cNvPr>
            <p:cNvSpPr/>
            <p:nvPr/>
          </p:nvSpPr>
          <p:spPr>
            <a:xfrm>
              <a:off x="7433787"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i="0" u="none" strike="noStrike" kern="0" cap="none" spc="0" normalizeH="0" baseline="0" noProof="0">
                  <a:ln>
                    <a:noFill/>
                  </a:ln>
                  <a:solidFill>
                    <a:prstClr val="white"/>
                  </a:solidFill>
                  <a:effectLst/>
                  <a:uLnTx/>
                  <a:uFillTx/>
                  <a:latin typeface="Meiryo UI"/>
                  <a:ea typeface="Meiryo UI"/>
                  <a:cs typeface="+mn-cs"/>
                </a:rPr>
                <a:t>12</a:t>
              </a:r>
              <a:r>
                <a:rPr kumimoji="0" lang="ja-JP" altLang="en-US" sz="1200" i="0" u="none" strike="noStrike" kern="0" cap="none" spc="0" normalizeH="0" baseline="0" noProof="0">
                  <a:ln>
                    <a:noFill/>
                  </a:ln>
                  <a:solidFill>
                    <a:prstClr val="white"/>
                  </a:solidFill>
                  <a:effectLst/>
                  <a:uLnTx/>
                  <a:uFillTx/>
                  <a:latin typeface="Meiryo UI"/>
                  <a:ea typeface="Meiryo UI"/>
                  <a:cs typeface="+mn-cs"/>
                </a:rPr>
                <a:t>月</a:t>
              </a:r>
            </a:p>
          </p:txBody>
        </p:sp>
        <p:sp>
          <p:nvSpPr>
            <p:cNvPr id="24" name="正方形/長方形 23">
              <a:extLst>
                <a:ext uri="{FF2B5EF4-FFF2-40B4-BE49-F238E27FC236}">
                  <a16:creationId xmlns:a16="http://schemas.microsoft.com/office/drawing/2014/main" id="{C518196E-C6B0-63FE-5A24-D2CFB5759C04}"/>
                </a:ext>
              </a:extLst>
            </p:cNvPr>
            <p:cNvSpPr/>
            <p:nvPr/>
          </p:nvSpPr>
          <p:spPr>
            <a:xfrm>
              <a:off x="8002273"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i="0" u="none" strike="noStrike" kern="0" cap="none" spc="0" normalizeH="0" baseline="0" noProof="0">
                  <a:ln>
                    <a:noFill/>
                  </a:ln>
                  <a:solidFill>
                    <a:prstClr val="white"/>
                  </a:solidFill>
                  <a:effectLst/>
                  <a:uLnTx/>
                  <a:uFillTx/>
                  <a:latin typeface="Meiryo UI"/>
                  <a:ea typeface="Meiryo UI"/>
                  <a:cs typeface="+mn-cs"/>
                </a:rPr>
                <a:t>1</a:t>
              </a:r>
              <a:r>
                <a:rPr kumimoji="0" lang="ja-JP" altLang="en-US" sz="1200" i="0" u="none" strike="noStrike" kern="0" cap="none" spc="0" normalizeH="0" baseline="0" noProof="0">
                  <a:ln>
                    <a:noFill/>
                  </a:ln>
                  <a:solidFill>
                    <a:prstClr val="white"/>
                  </a:solidFill>
                  <a:effectLst/>
                  <a:uLnTx/>
                  <a:uFillTx/>
                  <a:latin typeface="Meiryo UI"/>
                  <a:ea typeface="Meiryo UI"/>
                  <a:cs typeface="+mn-cs"/>
                </a:rPr>
                <a:t>月</a:t>
              </a:r>
            </a:p>
          </p:txBody>
        </p:sp>
        <p:sp>
          <p:nvSpPr>
            <p:cNvPr id="25" name="正方形/長方形 24">
              <a:extLst>
                <a:ext uri="{FF2B5EF4-FFF2-40B4-BE49-F238E27FC236}">
                  <a16:creationId xmlns:a16="http://schemas.microsoft.com/office/drawing/2014/main" id="{3FDC7EE6-EC80-F3E7-AC6F-DCF99E7F0F7B}"/>
                </a:ext>
              </a:extLst>
            </p:cNvPr>
            <p:cNvSpPr/>
            <p:nvPr/>
          </p:nvSpPr>
          <p:spPr>
            <a:xfrm>
              <a:off x="8570759"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i="0" u="none" strike="noStrike" kern="0" cap="none" spc="0" normalizeH="0" baseline="0" noProof="0">
                  <a:ln>
                    <a:noFill/>
                  </a:ln>
                  <a:solidFill>
                    <a:prstClr val="white"/>
                  </a:solidFill>
                  <a:effectLst/>
                  <a:uLnTx/>
                  <a:uFillTx/>
                  <a:latin typeface="Meiryo UI"/>
                  <a:ea typeface="Meiryo UI"/>
                  <a:cs typeface="+mn-cs"/>
                </a:rPr>
                <a:t>2</a:t>
              </a:r>
              <a:r>
                <a:rPr kumimoji="0" lang="ja-JP" altLang="en-US" sz="1200" i="0" u="none" strike="noStrike" kern="0" cap="none" spc="0" normalizeH="0" baseline="0" noProof="0">
                  <a:ln>
                    <a:noFill/>
                  </a:ln>
                  <a:solidFill>
                    <a:prstClr val="white"/>
                  </a:solidFill>
                  <a:effectLst/>
                  <a:uLnTx/>
                  <a:uFillTx/>
                  <a:latin typeface="Meiryo UI"/>
                  <a:ea typeface="Meiryo UI"/>
                  <a:cs typeface="+mn-cs"/>
                </a:rPr>
                <a:t>月</a:t>
              </a:r>
            </a:p>
          </p:txBody>
        </p:sp>
        <p:sp>
          <p:nvSpPr>
            <p:cNvPr id="26" name="正方形/長方形 25">
              <a:extLst>
                <a:ext uri="{FF2B5EF4-FFF2-40B4-BE49-F238E27FC236}">
                  <a16:creationId xmlns:a16="http://schemas.microsoft.com/office/drawing/2014/main" id="{FD519CE4-046C-C9C4-CEDC-11CD829AB85B}"/>
                </a:ext>
              </a:extLst>
            </p:cNvPr>
            <p:cNvSpPr/>
            <p:nvPr/>
          </p:nvSpPr>
          <p:spPr>
            <a:xfrm>
              <a:off x="9139241" y="2420374"/>
              <a:ext cx="543606" cy="373311"/>
            </a:xfrm>
            <a:prstGeom prst="rect">
              <a:avLst/>
            </a:prstGeom>
            <a:solidFill>
              <a:sysClr val="window" lastClr="FFFFFF">
                <a:lumMod val="50000"/>
              </a:sysClr>
            </a:solidFill>
            <a:ln w="12700" cap="flat" cmpd="sng" algn="ctr">
              <a:solidFill>
                <a:sysClr val="window" lastClr="FFFFFF"/>
              </a:solidFill>
              <a:prstDash val="solid"/>
            </a:ln>
            <a:effectLst/>
          </p:spPr>
          <p:txBody>
            <a:bodyPr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i="0" u="none" strike="noStrike" kern="0" cap="none" spc="0" normalizeH="0" baseline="0" noProof="0">
                  <a:ln>
                    <a:noFill/>
                  </a:ln>
                  <a:solidFill>
                    <a:prstClr val="white"/>
                  </a:solidFill>
                  <a:effectLst/>
                  <a:uLnTx/>
                  <a:uFillTx/>
                  <a:latin typeface="Meiryo UI"/>
                  <a:ea typeface="Meiryo UI"/>
                  <a:cs typeface="+mn-cs"/>
                </a:rPr>
                <a:t>3</a:t>
              </a:r>
              <a:r>
                <a:rPr kumimoji="0" lang="ja-JP" altLang="en-US" sz="1200" i="0" u="none" strike="noStrike" kern="0" cap="none" spc="0" normalizeH="0" baseline="0" noProof="0">
                  <a:ln>
                    <a:noFill/>
                  </a:ln>
                  <a:solidFill>
                    <a:prstClr val="white"/>
                  </a:solidFill>
                  <a:effectLst/>
                  <a:uLnTx/>
                  <a:uFillTx/>
                  <a:latin typeface="Meiryo UI"/>
                  <a:ea typeface="Meiryo UI"/>
                  <a:cs typeface="+mn-cs"/>
                </a:rPr>
                <a:t>月</a:t>
              </a:r>
            </a:p>
          </p:txBody>
        </p:sp>
      </p:grpSp>
      <p:sp>
        <p:nvSpPr>
          <p:cNvPr id="27" name="フローチャート: 組合せ 26">
            <a:extLst>
              <a:ext uri="{FF2B5EF4-FFF2-40B4-BE49-F238E27FC236}">
                <a16:creationId xmlns:a16="http://schemas.microsoft.com/office/drawing/2014/main" id="{4CC56AE4-1446-BF3B-059A-CA47C3AE713B}"/>
              </a:ext>
            </a:extLst>
          </p:cNvPr>
          <p:cNvSpPr>
            <a:spLocks/>
          </p:cNvSpPr>
          <p:nvPr/>
        </p:nvSpPr>
        <p:spPr>
          <a:xfrm flipH="1">
            <a:off x="9259238" y="2489066"/>
            <a:ext cx="92298" cy="82729"/>
          </a:xfrm>
          <a:prstGeom prst="flowChartMerge">
            <a:avLst/>
          </a:prstGeom>
          <a:solidFill>
            <a:sysClr val="window" lastClr="FFFFFF">
              <a:lumMod val="50000"/>
            </a:sysClr>
          </a:solidFill>
          <a:ln w="25400" cap="flat" cmpd="sng" algn="ctr">
            <a:solidFill>
              <a:sysClr val="window" lastClr="FFFFFF">
                <a:lumMod val="50000"/>
              </a:sysClr>
            </a:solidFill>
            <a:prstDash val="solid"/>
          </a:ln>
          <a:effectLst/>
        </p:spPr>
        <p:txBody>
          <a:bodyPr wrap="none" lIns="32659" tIns="32659" rIns="32659" bIns="32659" rtlCol="0" anchor="ctr"/>
          <a:lstStyle/>
          <a:p>
            <a:pPr marL="0" marR="0" lvl="0" indent="0" defTabSz="902993" eaLnBrk="0" fontAlgn="base" latinLnBrk="0" hangingPunct="0">
              <a:lnSpc>
                <a:spcPct val="100000"/>
              </a:lnSpc>
              <a:spcBef>
                <a:spcPct val="0"/>
              </a:spcBef>
              <a:spcAft>
                <a:spcPct val="0"/>
              </a:spcAft>
              <a:buClrTx/>
              <a:buSzTx/>
              <a:buFontTx/>
              <a:buNone/>
              <a:tabLst/>
              <a:defRPr/>
            </a:pPr>
            <a:endParaRPr kumimoji="0" lang="ja-JP" altLang="en-US" sz="10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28" name="正方形/長方形 27">
            <a:extLst>
              <a:ext uri="{FF2B5EF4-FFF2-40B4-BE49-F238E27FC236}">
                <a16:creationId xmlns:a16="http://schemas.microsoft.com/office/drawing/2014/main" id="{838D1E40-AE08-64FC-4015-5C855A3849DF}"/>
              </a:ext>
            </a:extLst>
          </p:cNvPr>
          <p:cNvSpPr>
            <a:spLocks/>
          </p:cNvSpPr>
          <p:nvPr/>
        </p:nvSpPr>
        <p:spPr>
          <a:xfrm flipH="1">
            <a:off x="8094359" y="2489066"/>
            <a:ext cx="1116853" cy="82729"/>
          </a:xfrm>
          <a:prstGeom prst="rect">
            <a:avLst/>
          </a:prstGeom>
          <a:noFill/>
          <a:ln w="25400" cap="flat" cmpd="sng" algn="ctr">
            <a:noFill/>
            <a:prstDash val="solid"/>
          </a:ln>
          <a:effectLst/>
        </p:spPr>
        <p:txBody>
          <a:bodyPr wrap="none" lIns="32659" tIns="32659" rIns="32659" bIns="32659" rtlCol="0" anchor="ctr"/>
          <a:lstStyle/>
          <a:p>
            <a:pPr marL="0" marR="0" lvl="0" indent="0" algn="r" defTabSz="90299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eiryo UI"/>
                <a:ea typeface="BIZ UDPゴシック"/>
                <a:cs typeface="+mn-cs"/>
              </a:rPr>
              <a:t>あるべき業務像の実現</a:t>
            </a:r>
            <a:endParaRPr kumimoji="0" lang="en-US" altLang="ja-JP" sz="11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29" name="フローチャート: 組合せ 28">
            <a:extLst>
              <a:ext uri="{FF2B5EF4-FFF2-40B4-BE49-F238E27FC236}">
                <a16:creationId xmlns:a16="http://schemas.microsoft.com/office/drawing/2014/main" id="{20A1E346-FE2C-89E6-D95F-3CB079019765}"/>
              </a:ext>
            </a:extLst>
          </p:cNvPr>
          <p:cNvSpPr>
            <a:spLocks/>
          </p:cNvSpPr>
          <p:nvPr/>
        </p:nvSpPr>
        <p:spPr>
          <a:xfrm flipH="1">
            <a:off x="1439018" y="2489066"/>
            <a:ext cx="92298" cy="82729"/>
          </a:xfrm>
          <a:prstGeom prst="flowChartMerge">
            <a:avLst/>
          </a:prstGeom>
          <a:solidFill>
            <a:sysClr val="window" lastClr="FFFFFF">
              <a:lumMod val="50000"/>
            </a:sysClr>
          </a:solidFill>
          <a:ln w="25400" cap="flat" cmpd="sng" algn="ctr">
            <a:solidFill>
              <a:sysClr val="window" lastClr="FFFFFF">
                <a:lumMod val="50000"/>
              </a:sysClr>
            </a:solidFill>
            <a:prstDash val="solid"/>
          </a:ln>
          <a:effectLst/>
        </p:spPr>
        <p:txBody>
          <a:bodyPr wrap="none" lIns="32659" tIns="32659" rIns="32659" bIns="32659" rtlCol="0" anchor="ctr"/>
          <a:lstStyle/>
          <a:p>
            <a:pPr marL="0" marR="0" lvl="0" indent="0" defTabSz="902993" eaLnBrk="0" fontAlgn="base" latinLnBrk="0" hangingPunct="0">
              <a:lnSpc>
                <a:spcPct val="100000"/>
              </a:lnSpc>
              <a:spcBef>
                <a:spcPct val="0"/>
              </a:spcBef>
              <a:spcAft>
                <a:spcPct val="0"/>
              </a:spcAft>
              <a:buClrTx/>
              <a:buSzTx/>
              <a:buFontTx/>
              <a:buNone/>
              <a:tabLst/>
              <a:defRPr/>
            </a:pPr>
            <a:endParaRPr kumimoji="0" lang="ja-JP" altLang="en-US" sz="10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30" name="正方形/長方形 29">
            <a:extLst>
              <a:ext uri="{FF2B5EF4-FFF2-40B4-BE49-F238E27FC236}">
                <a16:creationId xmlns:a16="http://schemas.microsoft.com/office/drawing/2014/main" id="{9121DC25-F7C4-D311-5A59-3607E002EEB4}"/>
              </a:ext>
            </a:extLst>
          </p:cNvPr>
          <p:cNvSpPr>
            <a:spLocks/>
          </p:cNvSpPr>
          <p:nvPr/>
        </p:nvSpPr>
        <p:spPr>
          <a:xfrm flipH="1">
            <a:off x="1579342" y="2489066"/>
            <a:ext cx="1116853" cy="82729"/>
          </a:xfrm>
          <a:prstGeom prst="rect">
            <a:avLst/>
          </a:prstGeom>
          <a:noFill/>
          <a:ln w="25400" cap="flat" cmpd="sng" algn="ctr">
            <a:noFill/>
            <a:prstDash val="solid"/>
          </a:ln>
          <a:effectLst/>
        </p:spPr>
        <p:txBody>
          <a:bodyPr wrap="none" lIns="32659" tIns="32659" rIns="32659" bIns="32659" rtlCol="0" anchor="ctr"/>
          <a:lstStyle/>
          <a:p>
            <a:pPr marL="0" marR="0" lvl="0" indent="0" defTabSz="902993" eaLnBrk="0" fontAlgn="base" latinLnBrk="0" hangingPunct="0">
              <a:lnSpc>
                <a:spcPct val="100000"/>
              </a:lnSpc>
              <a:spcBef>
                <a:spcPct val="0"/>
              </a:spcBef>
              <a:spcAft>
                <a:spcPct val="0"/>
              </a:spcAft>
              <a:buClrTx/>
              <a:buSzTx/>
              <a:buFontTx/>
              <a:buNone/>
              <a:tabLst/>
              <a:defRPr/>
            </a:pPr>
            <a:r>
              <a:rPr kumimoji="0" lang="ja-JP" altLang="en-US" sz="1100" kern="0">
                <a:solidFill>
                  <a:prstClr val="black"/>
                </a:solidFill>
                <a:latin typeface="Meiryo UI"/>
                <a:ea typeface="BIZ UDPゴシック"/>
              </a:rPr>
              <a:t>中間報告</a:t>
            </a:r>
            <a:endParaRPr kumimoji="0" lang="en-US" altLang="ja-JP" sz="11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31" name="フローチャート: 組合せ 30">
            <a:extLst>
              <a:ext uri="{FF2B5EF4-FFF2-40B4-BE49-F238E27FC236}">
                <a16:creationId xmlns:a16="http://schemas.microsoft.com/office/drawing/2014/main" id="{8FFE8325-579C-9EC9-146A-5F037F2B0355}"/>
              </a:ext>
            </a:extLst>
          </p:cNvPr>
          <p:cNvSpPr>
            <a:spLocks/>
          </p:cNvSpPr>
          <p:nvPr/>
        </p:nvSpPr>
        <p:spPr>
          <a:xfrm flipH="1">
            <a:off x="2261323" y="2489066"/>
            <a:ext cx="92298" cy="82729"/>
          </a:xfrm>
          <a:prstGeom prst="flowChartMerge">
            <a:avLst/>
          </a:prstGeom>
          <a:solidFill>
            <a:sysClr val="window" lastClr="FFFFFF">
              <a:lumMod val="50000"/>
            </a:sysClr>
          </a:solidFill>
          <a:ln w="25400" cap="flat" cmpd="sng" algn="ctr">
            <a:solidFill>
              <a:sysClr val="window" lastClr="FFFFFF">
                <a:lumMod val="50000"/>
              </a:sysClr>
            </a:solidFill>
            <a:prstDash val="solid"/>
          </a:ln>
          <a:effectLst/>
        </p:spPr>
        <p:txBody>
          <a:bodyPr wrap="none" lIns="32659" tIns="32659" rIns="32659" bIns="32659" rtlCol="0" anchor="ctr"/>
          <a:lstStyle/>
          <a:p>
            <a:pPr marL="0" marR="0" lvl="0" indent="0" defTabSz="902993" eaLnBrk="0" fontAlgn="base" latinLnBrk="0" hangingPunct="0">
              <a:lnSpc>
                <a:spcPct val="100000"/>
              </a:lnSpc>
              <a:spcBef>
                <a:spcPct val="0"/>
              </a:spcBef>
              <a:spcAft>
                <a:spcPct val="0"/>
              </a:spcAft>
              <a:buClrTx/>
              <a:buSzTx/>
              <a:buFontTx/>
              <a:buNone/>
              <a:tabLst/>
              <a:defRPr/>
            </a:pPr>
            <a:endParaRPr kumimoji="0" lang="ja-JP" altLang="en-US" sz="10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32" name="正方形/長方形 31">
            <a:extLst>
              <a:ext uri="{FF2B5EF4-FFF2-40B4-BE49-F238E27FC236}">
                <a16:creationId xmlns:a16="http://schemas.microsoft.com/office/drawing/2014/main" id="{631607FF-C1FD-548A-6F78-D9C5F5529557}"/>
              </a:ext>
            </a:extLst>
          </p:cNvPr>
          <p:cNvSpPr>
            <a:spLocks/>
          </p:cNvSpPr>
          <p:nvPr/>
        </p:nvSpPr>
        <p:spPr>
          <a:xfrm flipH="1">
            <a:off x="2401647" y="2489066"/>
            <a:ext cx="1116853" cy="82729"/>
          </a:xfrm>
          <a:prstGeom prst="rect">
            <a:avLst/>
          </a:prstGeom>
          <a:noFill/>
          <a:ln w="25400" cap="flat" cmpd="sng" algn="ctr">
            <a:noFill/>
            <a:prstDash val="solid"/>
          </a:ln>
          <a:effectLst/>
        </p:spPr>
        <p:txBody>
          <a:bodyPr wrap="none" lIns="32659" tIns="32659" rIns="32659" bIns="32659" rtlCol="0" anchor="ctr"/>
          <a:lstStyle/>
          <a:p>
            <a:pPr marL="0" marR="0" lvl="0" indent="0" defTabSz="902993" eaLnBrk="0" fontAlgn="base" latinLnBrk="0" hangingPunct="0">
              <a:lnSpc>
                <a:spcPct val="100000"/>
              </a:lnSpc>
              <a:spcBef>
                <a:spcPct val="0"/>
              </a:spcBef>
              <a:spcAft>
                <a:spcPct val="0"/>
              </a:spcAft>
              <a:buClrTx/>
              <a:buSzTx/>
              <a:buFontTx/>
              <a:buNone/>
              <a:tabLst/>
              <a:defRPr/>
            </a:pPr>
            <a:r>
              <a:rPr kumimoji="0" lang="ja-JP" altLang="en-US" sz="1100" kern="0">
                <a:solidFill>
                  <a:prstClr val="black"/>
                </a:solidFill>
                <a:latin typeface="Meiryo UI"/>
                <a:ea typeface="BIZ UDPゴシック"/>
              </a:rPr>
              <a:t>最終報告</a:t>
            </a:r>
            <a:endParaRPr kumimoji="0" lang="en-US" altLang="ja-JP" sz="11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33" name="矢印: 五方向 32">
            <a:extLst>
              <a:ext uri="{FF2B5EF4-FFF2-40B4-BE49-F238E27FC236}">
                <a16:creationId xmlns:a16="http://schemas.microsoft.com/office/drawing/2014/main" id="{C2922591-8CE5-4122-4C8C-A3CC23662A03}"/>
              </a:ext>
            </a:extLst>
          </p:cNvPr>
          <p:cNvSpPr/>
          <p:nvPr/>
        </p:nvSpPr>
        <p:spPr bwMode="auto">
          <a:xfrm>
            <a:off x="646763" y="2711920"/>
            <a:ext cx="1631152" cy="2563472"/>
          </a:xfrm>
          <a:prstGeom prst="homePlate">
            <a:avLst>
              <a:gd name="adj" fmla="val 16779"/>
            </a:avLst>
          </a:prstGeom>
          <a:solidFill>
            <a:schemeClr val="bg1"/>
          </a:solidFill>
          <a:ln w="9525" cap="flat" cmpd="sng" algn="ctr">
            <a:solidFill>
              <a:srgbClr val="A100FF"/>
            </a:solidFill>
            <a:prstDash val="solid"/>
            <a:miter lim="800000"/>
          </a:ln>
          <a:effectLst/>
        </p:spPr>
        <p:txBody>
          <a:bodyPr rot="0" spcFirstLastPara="0" vertOverflow="overflow" horzOverflow="overflow" vert="horz" wrap="none" lIns="0" tIns="72000" rIns="0" bIns="72000" numCol="1" spcCol="0" rtlCol="0" fromWordArt="0" anchor="t" anchorCtr="0" forceAA="0" compatLnSpc="1">
            <a:prstTxWarp prst="textNoShape">
              <a:avLst/>
            </a:prstTxWarp>
            <a:noAutofit/>
          </a:bodyPr>
          <a:lstStyle/>
          <a:p>
            <a:pPr algn="ctr">
              <a:spcBef>
                <a:spcPts val="600"/>
              </a:spcBef>
              <a:buClr>
                <a:prstClr val="black"/>
              </a:buClr>
              <a:tabLst>
                <a:tab pos="180975" algn="l"/>
              </a:tabLst>
            </a:pPr>
            <a:r>
              <a:rPr kumimoji="0" lang="ja-JP" altLang="en-US" sz="1400" b="1" kern="0" dirty="0">
                <a:solidFill>
                  <a:srgbClr val="A100FF"/>
                </a:solidFill>
                <a:highlight>
                  <a:srgbClr val="FFFFFF"/>
                </a:highlight>
                <a:latin typeface="+mj-lt"/>
                <a:cs typeface="Arial" charset="0"/>
              </a:rPr>
              <a:t>品質改善施策検討</a:t>
            </a:r>
            <a:br>
              <a:rPr kumimoji="0" lang="en-US" altLang="ja-JP" sz="1400" b="1" kern="0" dirty="0">
                <a:solidFill>
                  <a:srgbClr val="A100FF"/>
                </a:solidFill>
                <a:highlight>
                  <a:srgbClr val="FFFFFF"/>
                </a:highlight>
                <a:latin typeface="+mj-lt"/>
                <a:cs typeface="Arial" charset="0"/>
              </a:rPr>
            </a:br>
            <a:r>
              <a:rPr kumimoji="0" lang="ja-JP" altLang="en-US" sz="1400" b="1" kern="0" dirty="0">
                <a:solidFill>
                  <a:srgbClr val="A100FF"/>
                </a:solidFill>
                <a:highlight>
                  <a:srgbClr val="FFFFFF"/>
                </a:highlight>
                <a:latin typeface="+mj-lt"/>
                <a:cs typeface="Arial" charset="0"/>
              </a:rPr>
              <a:t>・実行計画策定</a:t>
            </a:r>
            <a:endParaRPr kumimoji="0" lang="zh-TW" altLang="en-US" sz="1400" b="1" kern="0" dirty="0">
              <a:solidFill>
                <a:srgbClr val="A100FF"/>
              </a:solidFill>
              <a:highlight>
                <a:srgbClr val="FFFFFF"/>
              </a:highlight>
              <a:latin typeface="+mj-lt"/>
              <a:cs typeface="Arial" charset="0"/>
            </a:endParaRPr>
          </a:p>
        </p:txBody>
      </p:sp>
      <p:sp>
        <p:nvSpPr>
          <p:cNvPr id="34" name="矢印: 五方向 33">
            <a:extLst>
              <a:ext uri="{FF2B5EF4-FFF2-40B4-BE49-F238E27FC236}">
                <a16:creationId xmlns:a16="http://schemas.microsoft.com/office/drawing/2014/main" id="{D4E96A08-277D-993F-B39E-5B3D82D18126}"/>
              </a:ext>
            </a:extLst>
          </p:cNvPr>
          <p:cNvSpPr/>
          <p:nvPr/>
        </p:nvSpPr>
        <p:spPr bwMode="auto">
          <a:xfrm>
            <a:off x="2482125" y="2711920"/>
            <a:ext cx="3286453" cy="2563472"/>
          </a:xfrm>
          <a:prstGeom prst="homePlate">
            <a:avLst>
              <a:gd name="adj" fmla="val 16779"/>
            </a:avLst>
          </a:prstGeom>
          <a:solidFill>
            <a:schemeClr val="bg1"/>
          </a:solidFill>
          <a:ln w="9525" cap="flat" cmpd="sng" algn="ctr">
            <a:solidFill>
              <a:srgbClr val="A100FF"/>
            </a:solidFill>
            <a:prstDash val="solid"/>
            <a:miter lim="800000"/>
          </a:ln>
          <a:effectLst/>
        </p:spPr>
        <p:txBody>
          <a:bodyPr rot="0" spcFirstLastPara="0" vertOverflow="overflow" horzOverflow="overflow" vert="horz" wrap="none" lIns="0" tIns="72000" rIns="0" bIns="72000" numCol="1" spcCol="0" rtlCol="0" fromWordArt="0" anchor="t" anchorCtr="0" forceAA="0" compatLnSpc="1">
            <a:prstTxWarp prst="textNoShape">
              <a:avLst/>
            </a:prstTxWarp>
            <a:noAutofit/>
          </a:bodyPr>
          <a:lstStyle/>
          <a:p>
            <a:pPr algn="ctr">
              <a:spcBef>
                <a:spcPts val="600"/>
              </a:spcBef>
              <a:buClr>
                <a:prstClr val="black"/>
              </a:buClr>
              <a:tabLst>
                <a:tab pos="180975" algn="l"/>
              </a:tabLst>
            </a:pPr>
            <a:r>
              <a:rPr kumimoji="0" lang="ja-JP" altLang="en-US" sz="1400" b="1" kern="0" dirty="0">
                <a:solidFill>
                  <a:srgbClr val="A100FF"/>
                </a:solidFill>
                <a:latin typeface="+mj-lt"/>
                <a:cs typeface="Arial" charset="0"/>
              </a:rPr>
              <a:t>個別施策詳細化・実行</a:t>
            </a:r>
            <a:endParaRPr kumimoji="0" lang="zh-TW" altLang="en-US" sz="1400" b="1" kern="0" dirty="0">
              <a:solidFill>
                <a:srgbClr val="A100FF"/>
              </a:solidFill>
              <a:latin typeface="+mj-lt"/>
              <a:cs typeface="Arial" charset="0"/>
            </a:endParaRPr>
          </a:p>
        </p:txBody>
      </p:sp>
      <p:sp>
        <p:nvSpPr>
          <p:cNvPr id="35" name="矢印: 五方向 34">
            <a:extLst>
              <a:ext uri="{FF2B5EF4-FFF2-40B4-BE49-F238E27FC236}">
                <a16:creationId xmlns:a16="http://schemas.microsoft.com/office/drawing/2014/main" id="{2D1B85A4-DCEE-FD6B-BA31-D75C78F37342}"/>
              </a:ext>
            </a:extLst>
          </p:cNvPr>
          <p:cNvSpPr/>
          <p:nvPr/>
        </p:nvSpPr>
        <p:spPr bwMode="auto">
          <a:xfrm>
            <a:off x="5972788" y="2711920"/>
            <a:ext cx="3286450" cy="2563472"/>
          </a:xfrm>
          <a:prstGeom prst="homePlate">
            <a:avLst>
              <a:gd name="adj" fmla="val 16779"/>
            </a:avLst>
          </a:prstGeom>
          <a:solidFill>
            <a:schemeClr val="bg1"/>
          </a:solidFill>
          <a:ln w="9525" cap="flat" cmpd="sng" algn="ctr">
            <a:solidFill>
              <a:srgbClr val="A100FF"/>
            </a:solidFill>
            <a:prstDash val="solid"/>
            <a:miter lim="800000"/>
          </a:ln>
          <a:effectLst/>
        </p:spPr>
        <p:txBody>
          <a:bodyPr rot="0" spcFirstLastPara="0" vertOverflow="overflow" horzOverflow="overflow" vert="horz" wrap="none" lIns="0" tIns="72000" rIns="0" bIns="72000" numCol="1" spcCol="0" rtlCol="0" fromWordArt="0" anchor="t" anchorCtr="0" forceAA="0" compatLnSpc="1">
            <a:prstTxWarp prst="textNoShape">
              <a:avLst/>
            </a:prstTxWarp>
            <a:noAutofit/>
          </a:bodyPr>
          <a:lstStyle/>
          <a:p>
            <a:pPr algn="ctr">
              <a:spcBef>
                <a:spcPts val="600"/>
              </a:spcBef>
              <a:buClr>
                <a:prstClr val="black"/>
              </a:buClr>
              <a:tabLst>
                <a:tab pos="180975" algn="l"/>
              </a:tabLst>
            </a:pPr>
            <a:r>
              <a:rPr kumimoji="0" lang="ja-JP" altLang="en-US" sz="1400" b="1" kern="0">
                <a:solidFill>
                  <a:srgbClr val="A100FF"/>
                </a:solidFill>
                <a:latin typeface="+mj-lt"/>
                <a:cs typeface="Arial" charset="0"/>
              </a:rPr>
              <a:t>定着化</a:t>
            </a:r>
            <a:endParaRPr kumimoji="0" lang="zh-TW" altLang="en-US" sz="1400" b="1" kern="0">
              <a:solidFill>
                <a:srgbClr val="A100FF"/>
              </a:solidFill>
              <a:latin typeface="+mj-lt"/>
              <a:cs typeface="Arial" charset="0"/>
            </a:endParaRPr>
          </a:p>
        </p:txBody>
      </p:sp>
      <p:grpSp>
        <p:nvGrpSpPr>
          <p:cNvPr id="36" name="グループ化 35">
            <a:extLst>
              <a:ext uri="{FF2B5EF4-FFF2-40B4-BE49-F238E27FC236}">
                <a16:creationId xmlns:a16="http://schemas.microsoft.com/office/drawing/2014/main" id="{64C53D17-EFEE-4420-DA87-BFE4571F4242}"/>
              </a:ext>
            </a:extLst>
          </p:cNvPr>
          <p:cNvGrpSpPr/>
          <p:nvPr/>
        </p:nvGrpSpPr>
        <p:grpSpPr>
          <a:xfrm>
            <a:off x="752001" y="3253173"/>
            <a:ext cx="1255136" cy="699642"/>
            <a:chOff x="752001" y="3387981"/>
            <a:chExt cx="1255136" cy="699642"/>
          </a:xfrm>
        </p:grpSpPr>
        <p:sp>
          <p:nvSpPr>
            <p:cNvPr id="37" name="正方形/長方形 36">
              <a:extLst>
                <a:ext uri="{FF2B5EF4-FFF2-40B4-BE49-F238E27FC236}">
                  <a16:creationId xmlns:a16="http://schemas.microsoft.com/office/drawing/2014/main" id="{7F23EDEE-EFD4-F7FA-59A4-0D4DB1AE36D3}"/>
                </a:ext>
              </a:extLst>
            </p:cNvPr>
            <p:cNvSpPr/>
            <p:nvPr/>
          </p:nvSpPr>
          <p:spPr bwMode="auto">
            <a:xfrm>
              <a:off x="752001" y="3387981"/>
              <a:ext cx="1255136" cy="314337"/>
            </a:xfrm>
            <a:prstGeom prst="rect">
              <a:avLst/>
            </a:prstGeom>
            <a:solidFill>
              <a:schemeClr val="bg1"/>
            </a:solidFill>
            <a:ln w="9525" cap="flat" cmpd="sng" algn="ctr">
              <a:solidFill>
                <a:schemeClr val="tx1">
                  <a:lumMod val="50000"/>
                  <a:lumOff val="50000"/>
                </a:schemeClr>
              </a:solidFill>
              <a:prstDash val="solid"/>
              <a:miter lim="800000"/>
            </a:ln>
            <a:effectLst/>
          </p:spPr>
          <p:txBody>
            <a:bodyPr rot="0" spcFirstLastPara="0" vertOverflow="overflow" horzOverflow="overflow" vert="horz" wrap="none" lIns="0" tIns="72000" rIns="0" bIns="72000" numCol="1" spcCol="0" rtlCol="0" fromWordArt="0" anchor="ctr" anchorCtr="0" forceAA="0" compatLnSpc="1">
              <a:prstTxWarp prst="textNoShape">
                <a:avLst/>
              </a:prstTxWarp>
              <a:noAutofit/>
            </a:bodyPr>
            <a:lstStyle/>
            <a:p>
              <a:pPr algn="ctr">
                <a:spcBef>
                  <a:spcPts val="600"/>
                </a:spcBef>
                <a:buClr>
                  <a:prstClr val="black"/>
                </a:buClr>
                <a:tabLst>
                  <a:tab pos="180975" algn="l"/>
                </a:tabLst>
              </a:pPr>
              <a:r>
                <a:rPr kumimoji="0" lang="ja-JP" altLang="en-US" sz="1200" kern="0">
                  <a:highlight>
                    <a:srgbClr val="FFFFFF"/>
                  </a:highlight>
                  <a:latin typeface="+mj-lt"/>
                  <a:cs typeface="Arial" charset="0"/>
                </a:rPr>
                <a:t>課題構造</a:t>
              </a:r>
              <a:br>
                <a:rPr kumimoji="0" lang="en-US" altLang="ja-JP" sz="1200" kern="0">
                  <a:highlight>
                    <a:srgbClr val="FFFFFF"/>
                  </a:highlight>
                  <a:latin typeface="+mj-lt"/>
                  <a:cs typeface="Arial" charset="0"/>
                </a:rPr>
              </a:br>
              <a:r>
                <a:rPr kumimoji="0" lang="ja-JP" altLang="en-US" sz="1200" kern="0">
                  <a:highlight>
                    <a:srgbClr val="FFFFFF"/>
                  </a:highlight>
                  <a:latin typeface="+mj-lt"/>
                  <a:cs typeface="Arial" charset="0"/>
                </a:rPr>
                <a:t>・真因の特定</a:t>
              </a:r>
            </a:p>
          </p:txBody>
        </p:sp>
        <p:sp>
          <p:nvSpPr>
            <p:cNvPr id="38" name="正方形/長方形 37">
              <a:extLst>
                <a:ext uri="{FF2B5EF4-FFF2-40B4-BE49-F238E27FC236}">
                  <a16:creationId xmlns:a16="http://schemas.microsoft.com/office/drawing/2014/main" id="{F80FC4B0-2A17-8705-958C-E85805F41A61}"/>
                </a:ext>
              </a:extLst>
            </p:cNvPr>
            <p:cNvSpPr/>
            <p:nvPr/>
          </p:nvSpPr>
          <p:spPr bwMode="auto">
            <a:xfrm>
              <a:off x="752001" y="3773286"/>
              <a:ext cx="1255136" cy="314337"/>
            </a:xfrm>
            <a:prstGeom prst="rect">
              <a:avLst/>
            </a:prstGeom>
            <a:solidFill>
              <a:schemeClr val="bg1"/>
            </a:solidFill>
            <a:ln w="9525" cap="flat" cmpd="sng" algn="ctr">
              <a:solidFill>
                <a:schemeClr val="tx1">
                  <a:lumMod val="50000"/>
                  <a:lumOff val="50000"/>
                </a:schemeClr>
              </a:solidFill>
              <a:prstDash val="solid"/>
              <a:miter lim="800000"/>
            </a:ln>
            <a:effectLst/>
          </p:spPr>
          <p:txBody>
            <a:bodyPr rot="0" spcFirstLastPara="0" vertOverflow="overflow" horzOverflow="overflow" vert="horz" wrap="none" lIns="0" tIns="72000" rIns="0" bIns="72000" numCol="1" spcCol="0" rtlCol="0" fromWordArt="0" anchor="ctr" anchorCtr="0" forceAA="0" compatLnSpc="1">
              <a:prstTxWarp prst="textNoShape">
                <a:avLst/>
              </a:prstTxWarp>
              <a:noAutofit/>
            </a:bodyPr>
            <a:lstStyle/>
            <a:p>
              <a:pPr algn="ctr">
                <a:spcBef>
                  <a:spcPts val="600"/>
                </a:spcBef>
                <a:buClr>
                  <a:prstClr val="black"/>
                </a:buClr>
                <a:tabLst>
                  <a:tab pos="180975" algn="l"/>
                </a:tabLst>
              </a:pPr>
              <a:r>
                <a:rPr kumimoji="0" lang="ja-JP" altLang="en-US" sz="1200" kern="0">
                  <a:latin typeface="+mj-lt"/>
                  <a:cs typeface="Arial" charset="0"/>
                </a:rPr>
                <a:t>方向性定義</a:t>
              </a:r>
            </a:p>
          </p:txBody>
        </p:sp>
      </p:grpSp>
      <p:sp>
        <p:nvSpPr>
          <p:cNvPr id="39" name="正方形/長方形 38">
            <a:extLst>
              <a:ext uri="{FF2B5EF4-FFF2-40B4-BE49-F238E27FC236}">
                <a16:creationId xmlns:a16="http://schemas.microsoft.com/office/drawing/2014/main" id="{84A2D139-C937-541C-D4B9-A55190DD56D5}"/>
              </a:ext>
            </a:extLst>
          </p:cNvPr>
          <p:cNvSpPr/>
          <p:nvPr/>
        </p:nvSpPr>
        <p:spPr bwMode="auto">
          <a:xfrm>
            <a:off x="752001" y="4023781"/>
            <a:ext cx="1255136" cy="314337"/>
          </a:xfrm>
          <a:prstGeom prst="rect">
            <a:avLst/>
          </a:prstGeom>
          <a:solidFill>
            <a:schemeClr val="bg1"/>
          </a:solidFill>
          <a:ln w="9525" cap="flat" cmpd="sng" algn="ctr">
            <a:solidFill>
              <a:schemeClr val="tx1">
                <a:lumMod val="50000"/>
                <a:lumOff val="50000"/>
              </a:schemeClr>
            </a:solidFill>
            <a:prstDash val="solid"/>
            <a:miter lim="800000"/>
          </a:ln>
          <a:effectLst/>
        </p:spPr>
        <p:txBody>
          <a:bodyPr rot="0" spcFirstLastPara="0" vertOverflow="overflow" horzOverflow="overflow" vert="horz" wrap="none" lIns="0" tIns="72000" rIns="0" bIns="72000" numCol="1" spcCol="0" rtlCol="0" fromWordArt="0" anchor="ctr" anchorCtr="0" forceAA="0" compatLnSpc="1">
            <a:prstTxWarp prst="textNoShape">
              <a:avLst/>
            </a:prstTxWarp>
            <a:noAutofit/>
          </a:bodyPr>
          <a:lstStyle/>
          <a:p>
            <a:pPr algn="ctr">
              <a:spcBef>
                <a:spcPts val="600"/>
              </a:spcBef>
              <a:buClr>
                <a:prstClr val="black"/>
              </a:buClr>
              <a:tabLst>
                <a:tab pos="180975" algn="l"/>
              </a:tabLst>
            </a:pPr>
            <a:r>
              <a:rPr kumimoji="0" lang="ja-JP" altLang="en-US" sz="1200" kern="0">
                <a:latin typeface="+mj-lt"/>
                <a:cs typeface="Arial" charset="0"/>
              </a:rPr>
              <a:t>施策化</a:t>
            </a:r>
          </a:p>
        </p:txBody>
      </p:sp>
      <p:sp>
        <p:nvSpPr>
          <p:cNvPr id="40" name="正方形/長方形 39">
            <a:extLst>
              <a:ext uri="{FF2B5EF4-FFF2-40B4-BE49-F238E27FC236}">
                <a16:creationId xmlns:a16="http://schemas.microsoft.com/office/drawing/2014/main" id="{BC542D85-4D21-CB47-2477-577F5397580C}"/>
              </a:ext>
            </a:extLst>
          </p:cNvPr>
          <p:cNvSpPr/>
          <p:nvPr/>
        </p:nvSpPr>
        <p:spPr bwMode="auto">
          <a:xfrm>
            <a:off x="752001" y="4409085"/>
            <a:ext cx="1255136" cy="314337"/>
          </a:xfrm>
          <a:prstGeom prst="rect">
            <a:avLst/>
          </a:prstGeom>
          <a:solidFill>
            <a:schemeClr val="bg1"/>
          </a:solidFill>
          <a:ln w="9525" cap="flat" cmpd="sng" algn="ctr">
            <a:solidFill>
              <a:schemeClr val="tx1">
                <a:lumMod val="50000"/>
                <a:lumOff val="50000"/>
              </a:schemeClr>
            </a:solidFill>
            <a:prstDash val="solid"/>
            <a:miter lim="800000"/>
          </a:ln>
          <a:effectLst/>
        </p:spPr>
        <p:txBody>
          <a:bodyPr rot="0" spcFirstLastPara="0" vertOverflow="overflow" horzOverflow="overflow" vert="horz" wrap="none" lIns="0" tIns="72000" rIns="0" bIns="72000" numCol="1" spcCol="0" rtlCol="0" fromWordArt="0" anchor="ctr" anchorCtr="0" forceAA="0" compatLnSpc="1">
            <a:prstTxWarp prst="textNoShape">
              <a:avLst/>
            </a:prstTxWarp>
            <a:noAutofit/>
          </a:bodyPr>
          <a:lstStyle/>
          <a:p>
            <a:pPr algn="ctr">
              <a:spcBef>
                <a:spcPts val="600"/>
              </a:spcBef>
              <a:buClr>
                <a:prstClr val="black"/>
              </a:buClr>
              <a:tabLst>
                <a:tab pos="180975" algn="l"/>
              </a:tabLst>
            </a:pPr>
            <a:r>
              <a:rPr kumimoji="0" lang="ja-JP" altLang="en-US" sz="1200" kern="0">
                <a:latin typeface="+mj-lt"/>
                <a:cs typeface="Arial" charset="0"/>
              </a:rPr>
              <a:t>実行計画</a:t>
            </a:r>
          </a:p>
        </p:txBody>
      </p:sp>
      <p:sp>
        <p:nvSpPr>
          <p:cNvPr id="41" name="正方形/長方形 40">
            <a:extLst>
              <a:ext uri="{FF2B5EF4-FFF2-40B4-BE49-F238E27FC236}">
                <a16:creationId xmlns:a16="http://schemas.microsoft.com/office/drawing/2014/main" id="{107E2B90-A04F-1118-0ECB-14961BED32E4}"/>
              </a:ext>
            </a:extLst>
          </p:cNvPr>
          <p:cNvSpPr/>
          <p:nvPr/>
        </p:nvSpPr>
        <p:spPr bwMode="auto">
          <a:xfrm>
            <a:off x="1531316" y="4856288"/>
            <a:ext cx="3751884" cy="314337"/>
          </a:xfrm>
          <a:prstGeom prst="rect">
            <a:avLst/>
          </a:prstGeom>
          <a:solidFill>
            <a:schemeClr val="bg1"/>
          </a:solidFill>
          <a:ln w="9525" cap="flat" cmpd="sng" algn="ctr">
            <a:solidFill>
              <a:schemeClr val="tx1">
                <a:lumMod val="50000"/>
                <a:lumOff val="50000"/>
              </a:schemeClr>
            </a:solidFill>
            <a:prstDash val="solid"/>
            <a:miter lim="800000"/>
          </a:ln>
          <a:effectLst/>
        </p:spPr>
        <p:txBody>
          <a:bodyPr rot="0" spcFirstLastPara="0" vertOverflow="overflow" horzOverflow="overflow" vert="horz" wrap="none" lIns="0" tIns="72000" rIns="0" bIns="72000" numCol="1" spcCol="0" rtlCol="0" fromWordArt="0" anchor="ctr" anchorCtr="0" forceAA="0" compatLnSpc="1">
            <a:prstTxWarp prst="textNoShape">
              <a:avLst/>
            </a:prstTxWarp>
            <a:noAutofit/>
          </a:bodyPr>
          <a:lstStyle/>
          <a:p>
            <a:pPr algn="ctr">
              <a:spcBef>
                <a:spcPts val="600"/>
              </a:spcBef>
              <a:buClr>
                <a:prstClr val="black"/>
              </a:buClr>
              <a:tabLst>
                <a:tab pos="180975" algn="l"/>
              </a:tabLst>
            </a:pPr>
            <a:r>
              <a:rPr kumimoji="0" lang="en-US" altLang="ja-JP" sz="1200" kern="0">
                <a:latin typeface="+mj-lt"/>
                <a:cs typeface="Arial" charset="0"/>
              </a:rPr>
              <a:t>(</a:t>
            </a:r>
            <a:r>
              <a:rPr kumimoji="0" lang="ja-JP" altLang="en-US" sz="1200" kern="0">
                <a:latin typeface="+mj-lt"/>
                <a:cs typeface="Arial" charset="0"/>
              </a:rPr>
              <a:t>施策の一部として</a:t>
            </a:r>
            <a:r>
              <a:rPr kumimoji="0" lang="en-US" altLang="ja-JP" sz="1200" kern="0">
                <a:latin typeface="+mj-lt"/>
                <a:cs typeface="Arial" charset="0"/>
              </a:rPr>
              <a:t>) </a:t>
            </a:r>
            <a:r>
              <a:rPr kumimoji="0" lang="ja-JP" altLang="en-US" sz="1200" kern="0">
                <a:latin typeface="+mj-lt"/>
                <a:cs typeface="Arial" charset="0"/>
              </a:rPr>
              <a:t>業務可視化</a:t>
            </a:r>
          </a:p>
        </p:txBody>
      </p:sp>
      <p:sp>
        <p:nvSpPr>
          <p:cNvPr id="42" name="正方形/長方形 41">
            <a:extLst>
              <a:ext uri="{FF2B5EF4-FFF2-40B4-BE49-F238E27FC236}">
                <a16:creationId xmlns:a16="http://schemas.microsoft.com/office/drawing/2014/main" id="{9A62B227-603A-F663-F13C-FF0DF5BB550F}"/>
              </a:ext>
            </a:extLst>
          </p:cNvPr>
          <p:cNvSpPr/>
          <p:nvPr/>
        </p:nvSpPr>
        <p:spPr bwMode="auto">
          <a:xfrm>
            <a:off x="6100092" y="3266823"/>
            <a:ext cx="2631527" cy="672342"/>
          </a:xfrm>
          <a:prstGeom prst="rect">
            <a:avLst/>
          </a:prstGeom>
          <a:solidFill>
            <a:schemeClr val="bg1"/>
          </a:solidFill>
          <a:ln w="9525" cap="flat" cmpd="sng" algn="ctr">
            <a:solidFill>
              <a:schemeClr val="tx1">
                <a:lumMod val="50000"/>
                <a:lumOff val="50000"/>
              </a:schemeClr>
            </a:solidFill>
            <a:prstDash val="solid"/>
            <a:miter lim="800000"/>
          </a:ln>
          <a:effectLst/>
        </p:spPr>
        <p:txBody>
          <a:bodyPr rot="0" spcFirstLastPara="0" vertOverflow="overflow" horzOverflow="overflow" vert="horz" wrap="none" lIns="0" tIns="72000" rIns="0" bIns="72000" numCol="1" spcCol="0" rtlCol="0" fromWordArt="0" anchor="ctr" anchorCtr="0" forceAA="0" compatLnSpc="1">
            <a:prstTxWarp prst="textNoShape">
              <a:avLst/>
            </a:prstTxWarp>
            <a:noAutofit/>
          </a:bodyPr>
          <a:lstStyle/>
          <a:p>
            <a:pPr algn="ctr">
              <a:spcBef>
                <a:spcPts val="600"/>
              </a:spcBef>
              <a:buClr>
                <a:prstClr val="black"/>
              </a:buClr>
              <a:tabLst>
                <a:tab pos="180975" algn="l"/>
              </a:tabLst>
            </a:pPr>
            <a:r>
              <a:rPr kumimoji="0" lang="ja-JP" altLang="en-US" sz="1200" kern="0">
                <a:latin typeface="+mj-lt"/>
                <a:cs typeface="Arial" charset="0"/>
              </a:rPr>
              <a:t>施策実行後のモニタリング</a:t>
            </a:r>
            <a:br>
              <a:rPr kumimoji="0" lang="en-US" altLang="ja-JP" sz="1200" kern="0">
                <a:latin typeface="+mj-lt"/>
                <a:cs typeface="Arial" charset="0"/>
              </a:rPr>
            </a:br>
            <a:r>
              <a:rPr kumimoji="0" lang="ja-JP" altLang="en-US" sz="1200" kern="0">
                <a:latin typeface="+mj-lt"/>
                <a:cs typeface="Arial" charset="0"/>
              </a:rPr>
              <a:t>・改善の実施</a:t>
            </a:r>
          </a:p>
        </p:txBody>
      </p:sp>
      <p:sp>
        <p:nvSpPr>
          <p:cNvPr id="43" name="正方形/長方形 42">
            <a:extLst>
              <a:ext uri="{FF2B5EF4-FFF2-40B4-BE49-F238E27FC236}">
                <a16:creationId xmlns:a16="http://schemas.microsoft.com/office/drawing/2014/main" id="{7EE02163-81D0-B976-D363-33262DDC1EB9}"/>
              </a:ext>
            </a:extLst>
          </p:cNvPr>
          <p:cNvSpPr/>
          <p:nvPr/>
        </p:nvSpPr>
        <p:spPr bwMode="auto">
          <a:xfrm>
            <a:off x="450404" y="5340248"/>
            <a:ext cx="1715940" cy="753533"/>
          </a:xfrm>
          <a:prstGeom prst="rect">
            <a:avLst/>
          </a:prstGeom>
          <a:noFill/>
          <a:ln w="6350" cap="flat" cmpd="sng" algn="ctr">
            <a:noFill/>
            <a:prstDash val="solid"/>
            <a:round/>
            <a:headEnd type="none" w="med" len="med"/>
            <a:tailEnd type="none" w="med" len="med"/>
          </a:ln>
          <a:effectLst/>
        </p:spPr>
        <p:txBody>
          <a:bodyPr vert="horz" wrap="none" lIns="71528" tIns="71528" rIns="71528" bIns="71528" numCol="1" rtlCol="0" anchor="t" anchorCtr="0" compatLnSpc="1">
            <a:prstTxWarp prst="textNoShape">
              <a:avLst/>
            </a:prstTxWarp>
            <a:noAutofit/>
          </a:bodyPr>
          <a:lstStyle/>
          <a:p>
            <a:pPr marL="171450" indent="-171450" defTabSz="908410" fontAlgn="base">
              <a:spcBef>
                <a:spcPts val="600"/>
              </a:spcBef>
              <a:spcAft>
                <a:spcPct val="0"/>
              </a:spcAft>
              <a:buFont typeface="Wingdings" panose="05000000000000000000" pitchFamily="2" charset="2"/>
              <a:buChar char="ü"/>
            </a:pPr>
            <a:r>
              <a:rPr lang="ja-JP" altLang="en-US" sz="1100">
                <a:solidFill>
                  <a:prstClr val="black"/>
                </a:solidFill>
                <a:latin typeface="Meiryo UI" panose="020B0604030504040204" pitchFamily="50" charset="-128"/>
                <a:ea typeface="Meiryo UI" panose="020B0604030504040204" pitchFamily="50" charset="-128"/>
              </a:rPr>
              <a:t>品質問題が発生する</a:t>
            </a:r>
            <a:br>
              <a:rPr lang="en-US" altLang="ja-JP" sz="1100">
                <a:solidFill>
                  <a:prstClr val="black"/>
                </a:solidFill>
                <a:latin typeface="Meiryo UI" panose="020B0604030504040204" pitchFamily="50" charset="-128"/>
                <a:ea typeface="Meiryo UI" panose="020B0604030504040204" pitchFamily="50" charset="-128"/>
              </a:rPr>
            </a:br>
            <a:r>
              <a:rPr lang="ja-JP" altLang="en-US" sz="1100">
                <a:solidFill>
                  <a:prstClr val="black"/>
                </a:solidFill>
                <a:latin typeface="Meiryo UI" panose="020B0604030504040204" pitchFamily="50" charset="-128"/>
                <a:ea typeface="Meiryo UI" panose="020B0604030504040204" pitchFamily="50" charset="-128"/>
              </a:rPr>
              <a:t>課題構造・</a:t>
            </a:r>
            <a:r>
              <a:rPr kumimoji="1" lang="ja-JP" altLang="en-US" sz="1100">
                <a:solidFill>
                  <a:prstClr val="black"/>
                </a:solidFill>
                <a:latin typeface="Meiryo UI" panose="020B0604030504040204" pitchFamily="50" charset="-128"/>
                <a:ea typeface="Meiryo UI" panose="020B0604030504040204" pitchFamily="50" charset="-128"/>
              </a:rPr>
              <a:t>真因を特定</a:t>
            </a:r>
            <a:endParaRPr kumimoji="1" lang="en-US" altLang="ja-JP" sz="1100">
              <a:solidFill>
                <a:prstClr val="black"/>
              </a:solidFill>
              <a:latin typeface="Meiryo UI" panose="020B0604030504040204" pitchFamily="50" charset="-128"/>
              <a:ea typeface="Meiryo UI" panose="020B0604030504040204" pitchFamily="50" charset="-128"/>
            </a:endParaRPr>
          </a:p>
          <a:p>
            <a:pPr marL="171450" indent="-171450" defTabSz="908410" fontAlgn="base">
              <a:spcBef>
                <a:spcPts val="600"/>
              </a:spcBef>
              <a:spcAft>
                <a:spcPct val="0"/>
              </a:spcAft>
              <a:buFont typeface="Wingdings" panose="05000000000000000000" pitchFamily="2" charset="2"/>
              <a:buChar char="ü"/>
            </a:pPr>
            <a:r>
              <a:rPr lang="ja-JP" altLang="en-US" sz="1100">
                <a:solidFill>
                  <a:prstClr val="black"/>
                </a:solidFill>
                <a:latin typeface="Meiryo UI" panose="020B0604030504040204" pitchFamily="50" charset="-128"/>
                <a:ea typeface="Meiryo UI" panose="020B0604030504040204" pitchFamily="50" charset="-128"/>
              </a:rPr>
              <a:t>各真因</a:t>
            </a:r>
            <a:r>
              <a:rPr kumimoji="1" lang="ja-JP" altLang="en-US" sz="1100">
                <a:solidFill>
                  <a:prstClr val="black"/>
                </a:solidFill>
                <a:latin typeface="Meiryo UI" panose="020B0604030504040204" pitchFamily="50" charset="-128"/>
                <a:ea typeface="Meiryo UI" panose="020B0604030504040204" pitchFamily="50" charset="-128"/>
              </a:rPr>
              <a:t>課題に対する改善</a:t>
            </a:r>
            <a:br>
              <a:rPr kumimoji="1" lang="en-US" altLang="ja-JP" sz="1100">
                <a:solidFill>
                  <a:prstClr val="black"/>
                </a:solidFill>
                <a:latin typeface="Meiryo UI" panose="020B0604030504040204" pitchFamily="50" charset="-128"/>
                <a:ea typeface="Meiryo UI" panose="020B0604030504040204" pitchFamily="50" charset="-128"/>
              </a:rPr>
            </a:br>
            <a:r>
              <a:rPr kumimoji="1" lang="ja-JP" altLang="en-US" sz="1100">
                <a:solidFill>
                  <a:prstClr val="black"/>
                </a:solidFill>
                <a:latin typeface="Meiryo UI" panose="020B0604030504040204" pitchFamily="50" charset="-128"/>
                <a:ea typeface="Meiryo UI" panose="020B0604030504040204" pitchFamily="50" charset="-128"/>
              </a:rPr>
              <a:t>施策</a:t>
            </a:r>
            <a:r>
              <a:rPr kumimoji="1" lang="en-US" altLang="ja-JP" sz="1100">
                <a:solidFill>
                  <a:prstClr val="black"/>
                </a:solidFill>
                <a:latin typeface="Meiryo UI" panose="020B0604030504040204" pitchFamily="50" charset="-128"/>
                <a:ea typeface="Meiryo UI" panose="020B0604030504040204" pitchFamily="50" charset="-128"/>
              </a:rPr>
              <a:t>(</a:t>
            </a:r>
            <a:r>
              <a:rPr kumimoji="1" lang="ja-JP" altLang="en-US" sz="1100">
                <a:solidFill>
                  <a:prstClr val="black"/>
                </a:solidFill>
                <a:latin typeface="Meiryo UI" panose="020B0604030504040204" pitchFamily="50" charset="-128"/>
                <a:ea typeface="Meiryo UI" panose="020B0604030504040204" pitchFamily="50" charset="-128"/>
              </a:rPr>
              <a:t>短期・中長期</a:t>
            </a:r>
            <a:r>
              <a:rPr kumimoji="1" lang="en-US" altLang="ja-JP" sz="1100">
                <a:solidFill>
                  <a:prstClr val="black"/>
                </a:solidFill>
                <a:latin typeface="Meiryo UI" panose="020B0604030504040204" pitchFamily="50" charset="-128"/>
                <a:ea typeface="Meiryo UI" panose="020B0604030504040204" pitchFamily="50" charset="-128"/>
              </a:rPr>
              <a:t>)</a:t>
            </a:r>
            <a:r>
              <a:rPr kumimoji="1" lang="ja-JP" altLang="en-US" sz="1100">
                <a:solidFill>
                  <a:prstClr val="black"/>
                </a:solidFill>
                <a:latin typeface="Meiryo UI" panose="020B0604030504040204" pitchFamily="50" charset="-128"/>
                <a:ea typeface="Meiryo UI" panose="020B0604030504040204" pitchFamily="50" charset="-128"/>
              </a:rPr>
              <a:t>を検討</a:t>
            </a:r>
            <a:endParaRPr kumimoji="1" lang="en-US" altLang="ja-JP" sz="1100">
              <a:solidFill>
                <a:prstClr val="black"/>
              </a:solidFill>
              <a:latin typeface="Meiryo UI" panose="020B0604030504040204" pitchFamily="50" charset="-128"/>
              <a:ea typeface="Meiryo UI" panose="020B0604030504040204" pitchFamily="50" charset="-128"/>
            </a:endParaRPr>
          </a:p>
          <a:p>
            <a:pPr marL="171450" indent="-171450" defTabSz="908410" fontAlgn="base">
              <a:spcBef>
                <a:spcPts val="600"/>
              </a:spcBef>
              <a:spcAft>
                <a:spcPct val="0"/>
              </a:spcAft>
              <a:buFont typeface="Wingdings" panose="05000000000000000000" pitchFamily="2" charset="2"/>
              <a:buChar char="ü"/>
            </a:pPr>
            <a:r>
              <a:rPr lang="en-US" altLang="ja-JP" sz="1100">
                <a:solidFill>
                  <a:prstClr val="black"/>
                </a:solidFill>
                <a:latin typeface="Meiryo UI" panose="020B0604030504040204" pitchFamily="50" charset="-128"/>
                <a:ea typeface="Meiryo UI" panose="020B0604030504040204" pitchFamily="50" charset="-128"/>
              </a:rPr>
              <a:t>FY26</a:t>
            </a:r>
            <a:r>
              <a:rPr lang="ja-JP" altLang="en-US" sz="1100">
                <a:solidFill>
                  <a:prstClr val="black"/>
                </a:solidFill>
                <a:latin typeface="Meiryo UI" panose="020B0604030504040204" pitchFamily="50" charset="-128"/>
                <a:ea typeface="Meiryo UI" panose="020B0604030504040204" pitchFamily="50" charset="-128"/>
              </a:rPr>
              <a:t>までの実行計画を策定</a:t>
            </a:r>
            <a:endParaRPr kumimoji="1" lang="en-US" altLang="ja-JP" sz="1100">
              <a:solidFill>
                <a:prstClr val="black"/>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0218B472-E224-73CC-4F79-DF97743A5B13}"/>
              </a:ext>
            </a:extLst>
          </p:cNvPr>
          <p:cNvSpPr/>
          <p:nvPr/>
        </p:nvSpPr>
        <p:spPr bwMode="auto">
          <a:xfrm>
            <a:off x="2482128" y="5340248"/>
            <a:ext cx="3286450" cy="753533"/>
          </a:xfrm>
          <a:prstGeom prst="rect">
            <a:avLst/>
          </a:prstGeom>
          <a:noFill/>
          <a:ln w="6350" cap="flat" cmpd="sng" algn="ctr">
            <a:noFill/>
            <a:prstDash val="solid"/>
            <a:round/>
            <a:headEnd type="none" w="med" len="med"/>
            <a:tailEnd type="none" w="med" len="med"/>
          </a:ln>
          <a:effectLst/>
        </p:spPr>
        <p:txBody>
          <a:bodyPr vert="horz" wrap="none" lIns="71528" tIns="71528" rIns="71528" bIns="71528" numCol="1" rtlCol="0" anchor="t" anchorCtr="0" compatLnSpc="1">
            <a:prstTxWarp prst="textNoShape">
              <a:avLst/>
            </a:prstTxWarp>
            <a:noAutofit/>
          </a:bodyPr>
          <a:lstStyle/>
          <a:p>
            <a:pPr marL="171450" indent="-171450" defTabSz="908410" fontAlgn="base">
              <a:spcBef>
                <a:spcPts val="600"/>
              </a:spcBef>
              <a:spcAft>
                <a:spcPct val="0"/>
              </a:spcAft>
              <a:buFont typeface="Wingdings" panose="05000000000000000000" pitchFamily="2" charset="2"/>
              <a:buChar char="ü"/>
            </a:pPr>
            <a:r>
              <a:rPr lang="ja-JP" altLang="en-US" sz="1100">
                <a:solidFill>
                  <a:prstClr val="black"/>
                </a:solidFill>
                <a:latin typeface="Meiryo UI" panose="020B0604030504040204" pitchFamily="50" charset="-128"/>
                <a:ea typeface="Meiryo UI" panose="020B0604030504040204" pitchFamily="50" charset="-128"/>
              </a:rPr>
              <a:t>実行計画に基づき個別施策</a:t>
            </a:r>
            <a:r>
              <a:rPr lang="en-US" altLang="ja-JP" sz="1100">
                <a:solidFill>
                  <a:prstClr val="black"/>
                </a:solidFill>
                <a:latin typeface="Meiryo UI" panose="020B0604030504040204" pitchFamily="50" charset="-128"/>
                <a:ea typeface="Meiryo UI" panose="020B0604030504040204" pitchFamily="50" charset="-128"/>
              </a:rPr>
              <a:t>(Quick-Win</a:t>
            </a:r>
            <a:r>
              <a:rPr lang="ja-JP" altLang="en-US" sz="1100">
                <a:solidFill>
                  <a:prstClr val="black"/>
                </a:solidFill>
                <a:latin typeface="Meiryo UI" panose="020B0604030504040204" pitchFamily="50" charset="-128"/>
                <a:ea typeface="Meiryo UI" panose="020B0604030504040204" pitchFamily="50" charset="-128"/>
              </a:rPr>
              <a:t>・中長期</a:t>
            </a:r>
            <a:r>
              <a:rPr lang="en-US" altLang="ja-JP" sz="1100">
                <a:solidFill>
                  <a:prstClr val="black"/>
                </a:solidFill>
                <a:latin typeface="Meiryo UI" panose="020B0604030504040204" pitchFamily="50" charset="-128"/>
                <a:ea typeface="Meiryo UI" panose="020B0604030504040204" pitchFamily="50" charset="-128"/>
              </a:rPr>
              <a:t>)</a:t>
            </a:r>
            <a:r>
              <a:rPr lang="ja-JP" altLang="en-US" sz="1100">
                <a:solidFill>
                  <a:prstClr val="black"/>
                </a:solidFill>
                <a:latin typeface="Meiryo UI" panose="020B0604030504040204" pitchFamily="50" charset="-128"/>
                <a:ea typeface="Meiryo UI" panose="020B0604030504040204" pitchFamily="50" charset="-128"/>
              </a:rPr>
              <a:t>の</a:t>
            </a:r>
            <a:br>
              <a:rPr lang="en-US" altLang="ja-JP" sz="1100">
                <a:solidFill>
                  <a:prstClr val="black"/>
                </a:solidFill>
                <a:latin typeface="Meiryo UI" panose="020B0604030504040204" pitchFamily="50" charset="-128"/>
                <a:ea typeface="Meiryo UI" panose="020B0604030504040204" pitchFamily="50" charset="-128"/>
              </a:rPr>
            </a:br>
            <a:r>
              <a:rPr lang="ja-JP" altLang="en-US" sz="1100">
                <a:solidFill>
                  <a:prstClr val="black"/>
                </a:solidFill>
                <a:latin typeface="Meiryo UI" panose="020B0604030504040204" pitchFamily="50" charset="-128"/>
                <a:ea typeface="Meiryo UI" panose="020B0604030504040204" pitchFamily="50" charset="-128"/>
              </a:rPr>
              <a:t>具体化及び、現場での施策展開・実行</a:t>
            </a:r>
            <a:endParaRPr lang="en-US" altLang="ja-JP" sz="1100">
              <a:solidFill>
                <a:prstClr val="black"/>
              </a:solidFill>
              <a:latin typeface="Meiryo UI" panose="020B0604030504040204" pitchFamily="50" charset="-128"/>
              <a:ea typeface="Meiryo UI" panose="020B0604030504040204" pitchFamily="50" charset="-128"/>
            </a:endParaRPr>
          </a:p>
          <a:p>
            <a:pPr marL="171450" indent="-171450" defTabSz="908410" fontAlgn="base">
              <a:spcBef>
                <a:spcPts val="600"/>
              </a:spcBef>
              <a:spcAft>
                <a:spcPct val="0"/>
              </a:spcAft>
              <a:buFont typeface="Wingdings" panose="05000000000000000000" pitchFamily="2" charset="2"/>
              <a:buChar char="ü"/>
            </a:pPr>
            <a:r>
              <a:rPr lang="en-US" altLang="ja-JP" sz="1100">
                <a:solidFill>
                  <a:prstClr val="black"/>
                </a:solidFill>
                <a:latin typeface="Meiryo UI" panose="020B0604030504040204" pitchFamily="50" charset="-128"/>
                <a:ea typeface="Meiryo UI" panose="020B0604030504040204" pitchFamily="50" charset="-128"/>
              </a:rPr>
              <a:t>Quick-Win</a:t>
            </a:r>
            <a:r>
              <a:rPr lang="ja-JP" altLang="en-US" sz="1100">
                <a:solidFill>
                  <a:prstClr val="black"/>
                </a:solidFill>
                <a:latin typeface="Meiryo UI" panose="020B0604030504040204" pitchFamily="50" charset="-128"/>
                <a:ea typeface="Meiryo UI" panose="020B0604030504040204" pitchFamily="50" charset="-128"/>
              </a:rPr>
              <a:t>施策は</a:t>
            </a:r>
            <a:r>
              <a:rPr lang="en-US" altLang="ja-JP" sz="1100">
                <a:solidFill>
                  <a:prstClr val="black"/>
                </a:solidFill>
                <a:latin typeface="Meiryo UI" panose="020B0604030504040204" pitchFamily="50" charset="-128"/>
                <a:ea typeface="Meiryo UI" panose="020B0604030504040204" pitchFamily="50" charset="-128"/>
              </a:rPr>
              <a:t>FY25/9</a:t>
            </a:r>
            <a:r>
              <a:rPr lang="ja-JP" altLang="en-US" sz="1100">
                <a:solidFill>
                  <a:prstClr val="black"/>
                </a:solidFill>
                <a:latin typeface="Meiryo UI" panose="020B0604030504040204" pitchFamily="50" charset="-128"/>
                <a:ea typeface="Meiryo UI" panose="020B0604030504040204" pitchFamily="50" charset="-128"/>
              </a:rPr>
              <a:t>月末までの実行を目指す</a:t>
            </a:r>
            <a:endParaRPr lang="en-US" altLang="ja-JP" sz="1100">
              <a:solidFill>
                <a:prstClr val="black"/>
              </a:solidFill>
              <a:latin typeface="Meiryo UI" panose="020B0604030504040204" pitchFamily="50" charset="-128"/>
              <a:ea typeface="Meiryo UI" panose="020B0604030504040204" pitchFamily="50" charset="-128"/>
            </a:endParaRPr>
          </a:p>
          <a:p>
            <a:pPr marL="171450" indent="-171450" defTabSz="908410" fontAlgn="base">
              <a:spcBef>
                <a:spcPts val="600"/>
              </a:spcBef>
              <a:spcAft>
                <a:spcPct val="0"/>
              </a:spcAft>
              <a:buFont typeface="Wingdings" panose="05000000000000000000" pitchFamily="2" charset="2"/>
              <a:buChar char="ü"/>
            </a:pPr>
            <a:r>
              <a:rPr lang="ja-JP" altLang="en-US" sz="1100">
                <a:solidFill>
                  <a:prstClr val="black"/>
                </a:solidFill>
                <a:latin typeface="Meiryo UI" panose="020B0604030504040204" pitchFamily="50" charset="-128"/>
                <a:ea typeface="Meiryo UI" panose="020B0604030504040204" pitchFamily="50" charset="-128"/>
              </a:rPr>
              <a:t>課題真因・方向性定義を踏まえ、属人化業務の解消等</a:t>
            </a:r>
            <a:br>
              <a:rPr lang="en-US" altLang="ja-JP" sz="1100">
                <a:solidFill>
                  <a:prstClr val="black"/>
                </a:solidFill>
                <a:latin typeface="Meiryo UI" panose="020B0604030504040204" pitchFamily="50" charset="-128"/>
                <a:ea typeface="Meiryo UI" panose="020B0604030504040204" pitchFamily="50" charset="-128"/>
              </a:rPr>
            </a:br>
            <a:r>
              <a:rPr lang="ja-JP" altLang="en-US" sz="1100">
                <a:solidFill>
                  <a:prstClr val="black"/>
                </a:solidFill>
                <a:latin typeface="Meiryo UI" panose="020B0604030504040204" pitchFamily="50" charset="-128"/>
                <a:ea typeface="Meiryo UI" panose="020B0604030504040204" pitchFamily="50" charset="-128"/>
              </a:rPr>
              <a:t>が必要と判断された業務領域については、</a:t>
            </a:r>
            <a:r>
              <a:rPr lang="en-US" altLang="ja-JP" sz="1100">
                <a:solidFill>
                  <a:prstClr val="black"/>
                </a:solidFill>
                <a:latin typeface="Meiryo UI" panose="020B0604030504040204" pitchFamily="50" charset="-128"/>
                <a:ea typeface="Meiryo UI" panose="020B0604030504040204" pitchFamily="50" charset="-128"/>
              </a:rPr>
              <a:t> FY24/2</a:t>
            </a:r>
            <a:r>
              <a:rPr lang="ja-JP" altLang="en-US" sz="1100">
                <a:solidFill>
                  <a:prstClr val="black"/>
                </a:solidFill>
                <a:latin typeface="Meiryo UI" panose="020B0604030504040204" pitchFamily="50" charset="-128"/>
                <a:ea typeface="Meiryo UI" panose="020B0604030504040204" pitchFamily="50" charset="-128"/>
              </a:rPr>
              <a:t>月</a:t>
            </a:r>
            <a:br>
              <a:rPr lang="en-US" altLang="ja-JP" sz="1100">
                <a:solidFill>
                  <a:prstClr val="black"/>
                </a:solidFill>
                <a:latin typeface="Meiryo UI" panose="020B0604030504040204" pitchFamily="50" charset="-128"/>
                <a:ea typeface="Meiryo UI" panose="020B0604030504040204" pitchFamily="50" charset="-128"/>
              </a:rPr>
            </a:br>
            <a:r>
              <a:rPr lang="ja-JP" altLang="en-US" sz="1100">
                <a:solidFill>
                  <a:prstClr val="black"/>
                </a:solidFill>
                <a:latin typeface="Meiryo UI" panose="020B0604030504040204" pitchFamily="50" charset="-128"/>
                <a:ea typeface="Meiryo UI" panose="020B0604030504040204" pitchFamily="50" charset="-128"/>
              </a:rPr>
              <a:t>中旬頃より業務可視化を行う</a:t>
            </a:r>
            <a:endParaRPr kumimoji="1" lang="en-US" altLang="ja-JP" sz="1100">
              <a:solidFill>
                <a:prstClr val="black"/>
              </a:solidFill>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32C38B06-720D-8A4E-710F-493FF57C342E}"/>
              </a:ext>
            </a:extLst>
          </p:cNvPr>
          <p:cNvSpPr/>
          <p:nvPr/>
        </p:nvSpPr>
        <p:spPr bwMode="auto">
          <a:xfrm>
            <a:off x="5972788" y="5340248"/>
            <a:ext cx="3286450" cy="753533"/>
          </a:xfrm>
          <a:prstGeom prst="rect">
            <a:avLst/>
          </a:prstGeom>
          <a:noFill/>
          <a:ln w="6350" cap="flat" cmpd="sng" algn="ctr">
            <a:noFill/>
            <a:prstDash val="solid"/>
            <a:round/>
            <a:headEnd type="none" w="med" len="med"/>
            <a:tailEnd type="none" w="med" len="med"/>
          </a:ln>
          <a:effectLst/>
        </p:spPr>
        <p:txBody>
          <a:bodyPr vert="horz" wrap="none" lIns="71528" tIns="71528" rIns="71528" bIns="71528" numCol="1" rtlCol="0" anchor="t" anchorCtr="0" compatLnSpc="1">
            <a:prstTxWarp prst="textNoShape">
              <a:avLst/>
            </a:prstTxWarp>
            <a:noAutofit/>
          </a:bodyPr>
          <a:lstStyle/>
          <a:p>
            <a:pPr marL="171450" indent="-171450" defTabSz="908410" fontAlgn="base">
              <a:spcBef>
                <a:spcPts val="600"/>
              </a:spcBef>
              <a:spcAft>
                <a:spcPct val="0"/>
              </a:spcAft>
              <a:buFont typeface="Wingdings" panose="05000000000000000000" pitchFamily="2" charset="2"/>
              <a:buChar char="ü"/>
            </a:pPr>
            <a:r>
              <a:rPr lang="ja-JP" altLang="en-US" sz="1100">
                <a:solidFill>
                  <a:prstClr val="black"/>
                </a:solidFill>
                <a:latin typeface="Meiryo UI" panose="020B0604030504040204" pitchFamily="50" charset="-128"/>
                <a:ea typeface="Meiryo UI" panose="020B0604030504040204" pitchFamily="50" charset="-128"/>
              </a:rPr>
              <a:t>施策展開後に施策効果</a:t>
            </a:r>
            <a:r>
              <a:rPr lang="en-US" altLang="ja-JP" sz="1100">
                <a:solidFill>
                  <a:prstClr val="black"/>
                </a:solidFill>
                <a:latin typeface="Meiryo UI" panose="020B0604030504040204" pitchFamily="50" charset="-128"/>
                <a:ea typeface="Meiryo UI" panose="020B0604030504040204" pitchFamily="50" charset="-128"/>
              </a:rPr>
              <a:t>/</a:t>
            </a:r>
            <a:r>
              <a:rPr lang="ja-JP" altLang="en-US" sz="1100">
                <a:solidFill>
                  <a:prstClr val="black"/>
                </a:solidFill>
                <a:latin typeface="Meiryo UI" panose="020B0604030504040204" pitchFamily="50" charset="-128"/>
                <a:ea typeface="Meiryo UI" panose="020B0604030504040204" pitchFamily="50" charset="-128"/>
              </a:rPr>
              <a:t>運用が定着しているか</a:t>
            </a:r>
            <a:br>
              <a:rPr lang="en-US" altLang="ja-JP" sz="1100">
                <a:solidFill>
                  <a:prstClr val="black"/>
                </a:solidFill>
                <a:latin typeface="Meiryo UI" panose="020B0604030504040204" pitchFamily="50" charset="-128"/>
                <a:ea typeface="Meiryo UI" panose="020B0604030504040204" pitchFamily="50" charset="-128"/>
              </a:rPr>
            </a:br>
            <a:r>
              <a:rPr lang="ja-JP" altLang="en-US" sz="1100">
                <a:solidFill>
                  <a:prstClr val="black"/>
                </a:solidFill>
                <a:latin typeface="Meiryo UI" panose="020B0604030504040204" pitchFamily="50" charset="-128"/>
                <a:ea typeface="Meiryo UI" panose="020B0604030504040204" pitchFamily="50" charset="-128"/>
              </a:rPr>
              <a:t>モニタリングを実施</a:t>
            </a:r>
            <a:endParaRPr lang="en-US" altLang="ja-JP" sz="1100">
              <a:solidFill>
                <a:prstClr val="black"/>
              </a:solidFill>
              <a:latin typeface="Meiryo UI" panose="020B0604030504040204" pitchFamily="50" charset="-128"/>
              <a:ea typeface="Meiryo UI" panose="020B0604030504040204" pitchFamily="50" charset="-128"/>
            </a:endParaRPr>
          </a:p>
          <a:p>
            <a:pPr marL="171450" indent="-171450" defTabSz="908410" fontAlgn="base">
              <a:spcBef>
                <a:spcPts val="600"/>
              </a:spcBef>
              <a:spcAft>
                <a:spcPct val="0"/>
              </a:spcAft>
              <a:buFont typeface="Wingdings" panose="05000000000000000000" pitchFamily="2" charset="2"/>
              <a:buChar char="ü"/>
            </a:pPr>
            <a:r>
              <a:rPr lang="ja-JP" altLang="en-US" sz="1100">
                <a:solidFill>
                  <a:prstClr val="black"/>
                </a:solidFill>
                <a:latin typeface="Meiryo UI" panose="020B0604030504040204" pitchFamily="50" charset="-128"/>
                <a:ea typeface="Meiryo UI" panose="020B0604030504040204" pitchFamily="50" charset="-128"/>
              </a:rPr>
              <a:t>モニタリング結果次第では、改善スキーム</a:t>
            </a:r>
            <a:r>
              <a:rPr lang="en-US" altLang="ja-JP" sz="1100">
                <a:solidFill>
                  <a:prstClr val="black"/>
                </a:solidFill>
                <a:latin typeface="Meiryo UI" panose="020B0604030504040204" pitchFamily="50" charset="-128"/>
                <a:ea typeface="Meiryo UI" panose="020B0604030504040204" pitchFamily="50" charset="-128"/>
              </a:rPr>
              <a:t>(PDCA</a:t>
            </a:r>
            <a:r>
              <a:rPr lang="ja-JP" altLang="en-US" sz="1100">
                <a:solidFill>
                  <a:prstClr val="black"/>
                </a:solidFill>
                <a:latin typeface="Meiryo UI" panose="020B0604030504040204" pitchFamily="50" charset="-128"/>
                <a:ea typeface="Meiryo UI" panose="020B0604030504040204" pitchFamily="50" charset="-128"/>
              </a:rPr>
              <a:t>サイクル等</a:t>
            </a:r>
            <a:r>
              <a:rPr lang="en-US" altLang="ja-JP" sz="1100">
                <a:solidFill>
                  <a:prstClr val="black"/>
                </a:solidFill>
                <a:latin typeface="Meiryo UI" panose="020B0604030504040204" pitchFamily="50" charset="-128"/>
                <a:ea typeface="Meiryo UI" panose="020B0604030504040204" pitchFamily="50" charset="-128"/>
              </a:rPr>
              <a:t>)</a:t>
            </a:r>
            <a:br>
              <a:rPr lang="en-US" altLang="ja-JP" sz="1100">
                <a:solidFill>
                  <a:prstClr val="black"/>
                </a:solidFill>
                <a:latin typeface="Meiryo UI" panose="020B0604030504040204" pitchFamily="50" charset="-128"/>
                <a:ea typeface="Meiryo UI" panose="020B0604030504040204" pitchFamily="50" charset="-128"/>
              </a:rPr>
            </a:br>
            <a:r>
              <a:rPr lang="ja-JP" altLang="en-US" sz="1100">
                <a:solidFill>
                  <a:prstClr val="black"/>
                </a:solidFill>
                <a:latin typeface="Meiryo UI" panose="020B0604030504040204" pitchFamily="50" charset="-128"/>
                <a:ea typeface="Meiryo UI" panose="020B0604030504040204" pitchFamily="50" charset="-128"/>
              </a:rPr>
              <a:t>に則り自力で改善を行う</a:t>
            </a:r>
            <a:endParaRPr lang="en-US" altLang="ja-JP" sz="1100">
              <a:solidFill>
                <a:prstClr val="black"/>
              </a:solidFill>
              <a:latin typeface="Meiryo UI" panose="020B0604030504040204" pitchFamily="50" charset="-128"/>
              <a:ea typeface="Meiryo UI" panose="020B0604030504040204" pitchFamily="50" charset="-128"/>
            </a:endParaRPr>
          </a:p>
        </p:txBody>
      </p:sp>
      <p:cxnSp>
        <p:nvCxnSpPr>
          <p:cNvPr id="46" name="直線矢印コネクタ 45">
            <a:extLst>
              <a:ext uri="{FF2B5EF4-FFF2-40B4-BE49-F238E27FC236}">
                <a16:creationId xmlns:a16="http://schemas.microsoft.com/office/drawing/2014/main" id="{88929356-99A4-4DFE-E5E6-9441A7E60185}"/>
              </a:ext>
            </a:extLst>
          </p:cNvPr>
          <p:cNvCxnSpPr>
            <a:cxnSpLocks/>
            <a:stCxn id="38" idx="3"/>
          </p:cNvCxnSpPr>
          <p:nvPr/>
        </p:nvCxnSpPr>
        <p:spPr bwMode="auto">
          <a:xfrm>
            <a:off x="2007137" y="3795647"/>
            <a:ext cx="775684" cy="0"/>
          </a:xfrm>
          <a:prstGeom prst="straightConnector1">
            <a:avLst/>
          </a:prstGeom>
          <a:noFill/>
          <a:ln w="19050" cap="flat" cmpd="sng" algn="ctr">
            <a:solidFill>
              <a:schemeClr val="tx1">
                <a:lumMod val="75000"/>
                <a:lumOff val="25000"/>
              </a:schemeClr>
            </a:solidFill>
            <a:prstDash val="solid"/>
            <a:round/>
            <a:headEnd type="none" w="med" len="med"/>
            <a:tailEnd type="arrow"/>
          </a:ln>
          <a:effectLst/>
        </p:spPr>
      </p:cxnSp>
      <p:cxnSp>
        <p:nvCxnSpPr>
          <p:cNvPr id="47" name="直線矢印コネクタ 71">
            <a:extLst>
              <a:ext uri="{FF2B5EF4-FFF2-40B4-BE49-F238E27FC236}">
                <a16:creationId xmlns:a16="http://schemas.microsoft.com/office/drawing/2014/main" id="{D44A7977-F47C-1A38-27B8-C206C64684D2}"/>
              </a:ext>
            </a:extLst>
          </p:cNvPr>
          <p:cNvCxnSpPr>
            <a:cxnSpLocks/>
          </p:cNvCxnSpPr>
          <p:nvPr/>
        </p:nvCxnSpPr>
        <p:spPr bwMode="auto">
          <a:xfrm>
            <a:off x="2075260" y="3795647"/>
            <a:ext cx="270778" cy="1042970"/>
          </a:xfrm>
          <a:prstGeom prst="bentConnector2">
            <a:avLst/>
          </a:prstGeom>
          <a:noFill/>
          <a:ln w="19050" cap="flat" cmpd="sng" algn="ctr">
            <a:solidFill>
              <a:schemeClr val="tx1">
                <a:lumMod val="75000"/>
                <a:lumOff val="25000"/>
              </a:schemeClr>
            </a:solidFill>
            <a:prstDash val="solid"/>
            <a:round/>
            <a:headEnd type="none" w="med" len="med"/>
            <a:tailEnd type="arrow"/>
          </a:ln>
          <a:effectLst/>
        </p:spPr>
      </p:cxnSp>
      <p:sp>
        <p:nvSpPr>
          <p:cNvPr id="48" name="フローチャート: 組合せ 47">
            <a:extLst>
              <a:ext uri="{FF2B5EF4-FFF2-40B4-BE49-F238E27FC236}">
                <a16:creationId xmlns:a16="http://schemas.microsoft.com/office/drawing/2014/main" id="{4244F7D5-979F-3328-CA32-8704FF951E29}"/>
              </a:ext>
            </a:extLst>
          </p:cNvPr>
          <p:cNvSpPr>
            <a:spLocks/>
          </p:cNvSpPr>
          <p:nvPr/>
        </p:nvSpPr>
        <p:spPr>
          <a:xfrm flipH="1">
            <a:off x="5760281" y="2489066"/>
            <a:ext cx="92298" cy="82729"/>
          </a:xfrm>
          <a:prstGeom prst="flowChartMerge">
            <a:avLst/>
          </a:prstGeom>
          <a:solidFill>
            <a:sysClr val="window" lastClr="FFFFFF">
              <a:lumMod val="50000"/>
            </a:sysClr>
          </a:solidFill>
          <a:ln w="25400" cap="flat" cmpd="sng" algn="ctr">
            <a:solidFill>
              <a:sysClr val="window" lastClr="FFFFFF">
                <a:lumMod val="50000"/>
              </a:sysClr>
            </a:solidFill>
            <a:prstDash val="solid"/>
          </a:ln>
          <a:effectLst/>
        </p:spPr>
        <p:txBody>
          <a:bodyPr wrap="none" lIns="32659" tIns="32659" rIns="32659" bIns="32659" rtlCol="0" anchor="ctr"/>
          <a:lstStyle/>
          <a:p>
            <a:pPr marL="0" marR="0" lvl="0" indent="0" defTabSz="902993" eaLnBrk="0" fontAlgn="base" latinLnBrk="0" hangingPunct="0">
              <a:lnSpc>
                <a:spcPct val="100000"/>
              </a:lnSpc>
              <a:spcBef>
                <a:spcPct val="0"/>
              </a:spcBef>
              <a:spcAft>
                <a:spcPct val="0"/>
              </a:spcAft>
              <a:buClrTx/>
              <a:buSzTx/>
              <a:buFontTx/>
              <a:buNone/>
              <a:tabLst/>
              <a:defRPr/>
            </a:pPr>
            <a:endParaRPr kumimoji="0" lang="ja-JP" altLang="en-US" sz="10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49" name="正方形/長方形 48">
            <a:extLst>
              <a:ext uri="{FF2B5EF4-FFF2-40B4-BE49-F238E27FC236}">
                <a16:creationId xmlns:a16="http://schemas.microsoft.com/office/drawing/2014/main" id="{9F77207C-E4CF-299A-D530-1F0049E4950F}"/>
              </a:ext>
            </a:extLst>
          </p:cNvPr>
          <p:cNvSpPr>
            <a:spLocks/>
          </p:cNvSpPr>
          <p:nvPr/>
        </p:nvSpPr>
        <p:spPr>
          <a:xfrm flipH="1">
            <a:off x="5900605" y="2489066"/>
            <a:ext cx="1116853" cy="82729"/>
          </a:xfrm>
          <a:prstGeom prst="rect">
            <a:avLst/>
          </a:prstGeom>
          <a:noFill/>
          <a:ln w="25400" cap="flat" cmpd="sng" algn="ctr">
            <a:noFill/>
            <a:prstDash val="solid"/>
          </a:ln>
          <a:effectLst/>
        </p:spPr>
        <p:txBody>
          <a:bodyPr wrap="none" lIns="32659" tIns="32659" rIns="32659" bIns="32659" rtlCol="0" anchor="ctr"/>
          <a:lstStyle/>
          <a:p>
            <a:pPr marL="0" marR="0" lvl="0" indent="0" defTabSz="90299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eiryo UI"/>
                <a:ea typeface="BIZ UDPゴシック"/>
                <a:cs typeface="+mn-cs"/>
              </a:rPr>
              <a:t>施策評価②</a:t>
            </a:r>
            <a:endParaRPr kumimoji="0" lang="en-US" altLang="ja-JP" sz="11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50" name="フローチャート: 組合せ 49">
            <a:extLst>
              <a:ext uri="{FF2B5EF4-FFF2-40B4-BE49-F238E27FC236}">
                <a16:creationId xmlns:a16="http://schemas.microsoft.com/office/drawing/2014/main" id="{B6D2B7EB-B62B-79DD-FEEA-B7499DFE9E99}"/>
              </a:ext>
            </a:extLst>
          </p:cNvPr>
          <p:cNvSpPr>
            <a:spLocks/>
          </p:cNvSpPr>
          <p:nvPr/>
        </p:nvSpPr>
        <p:spPr>
          <a:xfrm flipH="1">
            <a:off x="4124953" y="2489066"/>
            <a:ext cx="92298" cy="82729"/>
          </a:xfrm>
          <a:prstGeom prst="flowChartMerge">
            <a:avLst/>
          </a:prstGeom>
          <a:solidFill>
            <a:sysClr val="window" lastClr="FFFFFF">
              <a:lumMod val="50000"/>
            </a:sysClr>
          </a:solidFill>
          <a:ln w="25400" cap="flat" cmpd="sng" algn="ctr">
            <a:solidFill>
              <a:sysClr val="window" lastClr="FFFFFF">
                <a:lumMod val="50000"/>
              </a:sysClr>
            </a:solidFill>
            <a:prstDash val="solid"/>
          </a:ln>
          <a:effectLst/>
        </p:spPr>
        <p:txBody>
          <a:bodyPr wrap="none" lIns="32659" tIns="32659" rIns="32659" bIns="32659" rtlCol="0" anchor="ctr"/>
          <a:lstStyle/>
          <a:p>
            <a:pPr marL="0" marR="0" lvl="0" indent="0" defTabSz="902993" eaLnBrk="0" fontAlgn="base" latinLnBrk="0" hangingPunct="0">
              <a:lnSpc>
                <a:spcPct val="100000"/>
              </a:lnSpc>
              <a:spcBef>
                <a:spcPct val="0"/>
              </a:spcBef>
              <a:spcAft>
                <a:spcPct val="0"/>
              </a:spcAft>
              <a:buClrTx/>
              <a:buSzTx/>
              <a:buFontTx/>
              <a:buNone/>
              <a:tabLst/>
              <a:defRPr/>
            </a:pPr>
            <a:endParaRPr kumimoji="0" lang="ja-JP" altLang="en-US" sz="10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51" name="正方形/長方形 50">
            <a:extLst>
              <a:ext uri="{FF2B5EF4-FFF2-40B4-BE49-F238E27FC236}">
                <a16:creationId xmlns:a16="http://schemas.microsoft.com/office/drawing/2014/main" id="{355B16FB-9E7A-8423-644B-7C27F4F6C822}"/>
              </a:ext>
            </a:extLst>
          </p:cNvPr>
          <p:cNvSpPr>
            <a:spLocks/>
          </p:cNvSpPr>
          <p:nvPr/>
        </p:nvSpPr>
        <p:spPr>
          <a:xfrm flipH="1">
            <a:off x="4265277" y="2489066"/>
            <a:ext cx="1116853" cy="82729"/>
          </a:xfrm>
          <a:prstGeom prst="rect">
            <a:avLst/>
          </a:prstGeom>
          <a:noFill/>
          <a:ln w="25400" cap="flat" cmpd="sng" algn="ctr">
            <a:noFill/>
            <a:prstDash val="solid"/>
          </a:ln>
          <a:effectLst/>
        </p:spPr>
        <p:txBody>
          <a:bodyPr wrap="none" lIns="32659" tIns="32659" rIns="32659" bIns="32659" rtlCol="0" anchor="ctr"/>
          <a:lstStyle/>
          <a:p>
            <a:pPr marL="0" marR="0" lvl="0" indent="0" defTabSz="90299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eiryo UI"/>
                <a:ea typeface="BIZ UDPゴシック"/>
                <a:cs typeface="+mn-cs"/>
              </a:rPr>
              <a:t>施策評価①</a:t>
            </a:r>
            <a:endParaRPr kumimoji="0" lang="en-US" altLang="ja-JP" sz="11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52" name="フローチャート: 組合せ 51">
            <a:extLst>
              <a:ext uri="{FF2B5EF4-FFF2-40B4-BE49-F238E27FC236}">
                <a16:creationId xmlns:a16="http://schemas.microsoft.com/office/drawing/2014/main" id="{1C062836-5FA9-0D18-5029-C31232CEF221}"/>
              </a:ext>
            </a:extLst>
          </p:cNvPr>
          <p:cNvSpPr>
            <a:spLocks/>
          </p:cNvSpPr>
          <p:nvPr/>
        </p:nvSpPr>
        <p:spPr>
          <a:xfrm flipH="1">
            <a:off x="7542100" y="2489066"/>
            <a:ext cx="92298" cy="82729"/>
          </a:xfrm>
          <a:prstGeom prst="flowChartMerge">
            <a:avLst/>
          </a:prstGeom>
          <a:solidFill>
            <a:sysClr val="window" lastClr="FFFFFF">
              <a:lumMod val="50000"/>
            </a:sysClr>
          </a:solidFill>
          <a:ln w="25400" cap="flat" cmpd="sng" algn="ctr">
            <a:solidFill>
              <a:sysClr val="window" lastClr="FFFFFF">
                <a:lumMod val="50000"/>
              </a:sysClr>
            </a:solidFill>
            <a:prstDash val="solid"/>
          </a:ln>
          <a:effectLst/>
        </p:spPr>
        <p:txBody>
          <a:bodyPr wrap="none" lIns="32659" tIns="32659" rIns="32659" bIns="32659" rtlCol="0" anchor="ctr"/>
          <a:lstStyle/>
          <a:p>
            <a:pPr marL="0" marR="0" lvl="0" indent="0" defTabSz="902993" eaLnBrk="0" fontAlgn="base" latinLnBrk="0" hangingPunct="0">
              <a:lnSpc>
                <a:spcPct val="100000"/>
              </a:lnSpc>
              <a:spcBef>
                <a:spcPct val="0"/>
              </a:spcBef>
              <a:spcAft>
                <a:spcPct val="0"/>
              </a:spcAft>
              <a:buClrTx/>
              <a:buSzTx/>
              <a:buFontTx/>
              <a:buNone/>
              <a:tabLst/>
              <a:defRPr/>
            </a:pPr>
            <a:endParaRPr kumimoji="0" lang="ja-JP" altLang="en-US" sz="10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53" name="正方形/長方形 52">
            <a:extLst>
              <a:ext uri="{FF2B5EF4-FFF2-40B4-BE49-F238E27FC236}">
                <a16:creationId xmlns:a16="http://schemas.microsoft.com/office/drawing/2014/main" id="{A06A669E-CE91-7164-E6F9-438D89EFA708}"/>
              </a:ext>
            </a:extLst>
          </p:cNvPr>
          <p:cNvSpPr>
            <a:spLocks/>
          </p:cNvSpPr>
          <p:nvPr/>
        </p:nvSpPr>
        <p:spPr>
          <a:xfrm flipH="1">
            <a:off x="6386186" y="2489066"/>
            <a:ext cx="1116853" cy="82729"/>
          </a:xfrm>
          <a:prstGeom prst="rect">
            <a:avLst/>
          </a:prstGeom>
          <a:noFill/>
          <a:ln w="25400" cap="flat" cmpd="sng" algn="ctr">
            <a:noFill/>
            <a:prstDash val="solid"/>
          </a:ln>
          <a:effectLst/>
        </p:spPr>
        <p:txBody>
          <a:bodyPr wrap="none" lIns="32659" tIns="32659" rIns="32659" bIns="32659" rtlCol="0" anchor="ctr"/>
          <a:lstStyle/>
          <a:p>
            <a:pPr marL="0" marR="0" lvl="0" indent="0" algn="r" defTabSz="902993" eaLnBrk="0" fontAlgn="base" latinLnBrk="0" hangingPunct="0">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eiryo UI"/>
                <a:ea typeface="BIZ UDPゴシック"/>
                <a:cs typeface="+mn-cs"/>
              </a:rPr>
              <a:t>施策評価③</a:t>
            </a:r>
            <a:endParaRPr kumimoji="0" lang="en-US" altLang="ja-JP" sz="1100" b="0" i="0" u="none" strike="noStrike" kern="0" cap="none" spc="0" normalizeH="0" baseline="0" noProof="0">
              <a:ln>
                <a:noFill/>
              </a:ln>
              <a:solidFill>
                <a:prstClr val="black"/>
              </a:solidFill>
              <a:effectLst/>
              <a:uLnTx/>
              <a:uFillTx/>
              <a:latin typeface="Meiryo UI"/>
              <a:ea typeface="BIZ UDPゴシック"/>
              <a:cs typeface="+mn-cs"/>
            </a:endParaRPr>
          </a:p>
        </p:txBody>
      </p:sp>
      <p:sp>
        <p:nvSpPr>
          <p:cNvPr id="54" name="正方形/長方形 53">
            <a:extLst>
              <a:ext uri="{FF2B5EF4-FFF2-40B4-BE49-F238E27FC236}">
                <a16:creationId xmlns:a16="http://schemas.microsoft.com/office/drawing/2014/main" id="{6066B0B8-4CCC-8AE1-92BA-987863AEC309}"/>
              </a:ext>
            </a:extLst>
          </p:cNvPr>
          <p:cNvSpPr/>
          <p:nvPr/>
        </p:nvSpPr>
        <p:spPr bwMode="auto">
          <a:xfrm>
            <a:off x="2764316" y="3266823"/>
            <a:ext cx="3042123" cy="672342"/>
          </a:xfrm>
          <a:prstGeom prst="rect">
            <a:avLst/>
          </a:prstGeom>
          <a:solidFill>
            <a:srgbClr val="F2DBFF"/>
          </a:solidFill>
          <a:ln w="9525" cap="flat" cmpd="sng" algn="ctr">
            <a:noFill/>
            <a:prstDash val="solid"/>
            <a:miter lim="800000"/>
          </a:ln>
          <a:effectLst/>
        </p:spPr>
        <p:txBody>
          <a:bodyPr rot="0" spcFirstLastPara="0" vertOverflow="overflow" horzOverflow="overflow" vert="horz" wrap="none" lIns="0" tIns="36000" rIns="0" bIns="72000" numCol="1" spcCol="0" rtlCol="0" fromWordArt="0" anchor="t" anchorCtr="0" forceAA="0" compatLnSpc="1">
            <a:prstTxWarp prst="textNoShape">
              <a:avLst/>
            </a:prstTxWarp>
            <a:noAutofit/>
          </a:bodyPr>
          <a:lstStyle/>
          <a:p>
            <a:pPr algn="ctr">
              <a:spcBef>
                <a:spcPts val="600"/>
              </a:spcBef>
              <a:buClr>
                <a:prstClr val="black"/>
              </a:buClr>
              <a:tabLst>
                <a:tab pos="180975" algn="l"/>
              </a:tabLst>
            </a:pPr>
            <a:r>
              <a:rPr kumimoji="0" lang="en-US" altLang="ja-JP" sz="1200" kern="0">
                <a:solidFill>
                  <a:srgbClr val="A100FF"/>
                </a:solidFill>
                <a:latin typeface="+mj-lt"/>
                <a:cs typeface="Arial" charset="0"/>
              </a:rPr>
              <a:t>Quick-Win</a:t>
            </a:r>
            <a:r>
              <a:rPr kumimoji="0" lang="ja-JP" altLang="en-US" sz="1200" kern="0">
                <a:solidFill>
                  <a:srgbClr val="A100FF"/>
                </a:solidFill>
                <a:latin typeface="+mj-lt"/>
                <a:cs typeface="Arial" charset="0"/>
              </a:rPr>
              <a:t>施策</a:t>
            </a:r>
          </a:p>
        </p:txBody>
      </p:sp>
      <p:sp>
        <p:nvSpPr>
          <p:cNvPr id="55" name="正方形/長方形 54">
            <a:extLst>
              <a:ext uri="{FF2B5EF4-FFF2-40B4-BE49-F238E27FC236}">
                <a16:creationId xmlns:a16="http://schemas.microsoft.com/office/drawing/2014/main" id="{92BDA719-EBAE-F988-CA5C-1C1C53AD40B8}"/>
              </a:ext>
            </a:extLst>
          </p:cNvPr>
          <p:cNvSpPr/>
          <p:nvPr/>
        </p:nvSpPr>
        <p:spPr bwMode="auto">
          <a:xfrm>
            <a:off x="2764317" y="4037372"/>
            <a:ext cx="4839624" cy="669403"/>
          </a:xfrm>
          <a:prstGeom prst="rect">
            <a:avLst/>
          </a:prstGeom>
          <a:solidFill>
            <a:srgbClr val="F2DBFF"/>
          </a:solidFill>
          <a:ln w="9525" cap="flat" cmpd="sng" algn="ctr">
            <a:noFill/>
            <a:prstDash val="solid"/>
            <a:miter lim="800000"/>
          </a:ln>
          <a:effectLst/>
        </p:spPr>
        <p:txBody>
          <a:bodyPr rot="0" spcFirstLastPara="0" vertOverflow="overflow" horzOverflow="overflow" vert="horz" wrap="none" lIns="0" tIns="36000" rIns="0" bIns="72000" numCol="1" spcCol="0" rtlCol="0" fromWordArt="0" anchor="t" anchorCtr="0" forceAA="0" compatLnSpc="1">
            <a:prstTxWarp prst="textNoShape">
              <a:avLst/>
            </a:prstTxWarp>
            <a:noAutofit/>
          </a:bodyPr>
          <a:lstStyle/>
          <a:p>
            <a:pPr algn="ctr">
              <a:spcBef>
                <a:spcPts val="600"/>
              </a:spcBef>
              <a:buClr>
                <a:prstClr val="black"/>
              </a:buClr>
              <a:tabLst>
                <a:tab pos="180975" algn="l"/>
              </a:tabLst>
            </a:pPr>
            <a:r>
              <a:rPr kumimoji="0" lang="ja-JP" altLang="en-US" sz="1200" kern="0">
                <a:solidFill>
                  <a:srgbClr val="A100FF"/>
                </a:solidFill>
                <a:latin typeface="+mj-lt"/>
                <a:cs typeface="Arial" charset="0"/>
              </a:rPr>
              <a:t>中長期施策</a:t>
            </a:r>
          </a:p>
        </p:txBody>
      </p:sp>
      <p:pic>
        <p:nvPicPr>
          <p:cNvPr id="56" name="グラフィックス 55" descr="矢印: 時計回りの曲線 単色塗りつぶし">
            <a:extLst>
              <a:ext uri="{FF2B5EF4-FFF2-40B4-BE49-F238E27FC236}">
                <a16:creationId xmlns:a16="http://schemas.microsoft.com/office/drawing/2014/main" id="{7B71AB53-703A-DFFF-8FD8-D7922D1C5B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8702729">
            <a:off x="2547183" y="4467658"/>
            <a:ext cx="498255" cy="516155"/>
          </a:xfrm>
          <a:prstGeom prst="rect">
            <a:avLst/>
          </a:prstGeom>
        </p:spPr>
      </p:pic>
      <p:sp>
        <p:nvSpPr>
          <p:cNvPr id="57" name="四角形: 角を丸くする 56">
            <a:extLst>
              <a:ext uri="{FF2B5EF4-FFF2-40B4-BE49-F238E27FC236}">
                <a16:creationId xmlns:a16="http://schemas.microsoft.com/office/drawing/2014/main" id="{F670A579-969B-F0F2-E8F0-F9F4BD0F1334}"/>
              </a:ext>
            </a:extLst>
          </p:cNvPr>
          <p:cNvSpPr/>
          <p:nvPr/>
        </p:nvSpPr>
        <p:spPr bwMode="auto">
          <a:xfrm>
            <a:off x="2987031" y="3551537"/>
            <a:ext cx="2642699" cy="122590"/>
          </a:xfrm>
          <a:prstGeom prst="roundRect">
            <a:avLst/>
          </a:prstGeom>
          <a:solidFill>
            <a:schemeClr val="bg1">
              <a:lumMod val="95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a:solidFill>
                  <a:prstClr val="black"/>
                </a:solidFill>
                <a:latin typeface="Meiryo UI" panose="020B0604030504040204" pitchFamily="50" charset="-128"/>
                <a:ea typeface="Meiryo UI" panose="020B0604030504040204" pitchFamily="50" charset="-128"/>
              </a:rPr>
              <a:t>施策</a:t>
            </a:r>
            <a:r>
              <a:rPr kumimoji="1" lang="en-US" altLang="ja-JP" sz="1050">
                <a:solidFill>
                  <a:prstClr val="black"/>
                </a:solidFill>
                <a:latin typeface="Meiryo UI" panose="020B0604030504040204" pitchFamily="50" charset="-128"/>
                <a:ea typeface="Meiryo UI" panose="020B0604030504040204" pitchFamily="50" charset="-128"/>
              </a:rPr>
              <a:t>A</a:t>
            </a:r>
            <a:r>
              <a:rPr kumimoji="1" lang="ja-JP" altLang="en-US" sz="1050">
                <a:solidFill>
                  <a:prstClr val="black"/>
                </a:solidFill>
                <a:latin typeface="Meiryo UI" panose="020B0604030504040204" pitchFamily="50" charset="-128"/>
                <a:ea typeface="Meiryo UI" panose="020B0604030504040204" pitchFamily="50" charset="-128"/>
              </a:rPr>
              <a:t>実行</a:t>
            </a:r>
          </a:p>
        </p:txBody>
      </p:sp>
      <p:sp>
        <p:nvSpPr>
          <p:cNvPr id="58" name="四角形: 角を丸くする 57">
            <a:extLst>
              <a:ext uri="{FF2B5EF4-FFF2-40B4-BE49-F238E27FC236}">
                <a16:creationId xmlns:a16="http://schemas.microsoft.com/office/drawing/2014/main" id="{27C76D99-CB36-F179-C4AF-90181B315337}"/>
              </a:ext>
            </a:extLst>
          </p:cNvPr>
          <p:cNvSpPr/>
          <p:nvPr/>
        </p:nvSpPr>
        <p:spPr bwMode="auto">
          <a:xfrm>
            <a:off x="2987031" y="3715997"/>
            <a:ext cx="2642699" cy="122590"/>
          </a:xfrm>
          <a:prstGeom prst="roundRect">
            <a:avLst/>
          </a:prstGeom>
          <a:solidFill>
            <a:schemeClr val="bg1">
              <a:lumMod val="95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a:solidFill>
                  <a:prstClr val="black"/>
                </a:solidFill>
                <a:latin typeface="Meiryo UI" panose="020B0604030504040204" pitchFamily="50" charset="-128"/>
                <a:ea typeface="Meiryo UI" panose="020B0604030504040204" pitchFamily="50" charset="-128"/>
              </a:rPr>
              <a:t>施策</a:t>
            </a:r>
            <a:r>
              <a:rPr kumimoji="1" lang="en-US" altLang="ja-JP" sz="1050">
                <a:solidFill>
                  <a:prstClr val="black"/>
                </a:solidFill>
                <a:latin typeface="Meiryo UI" panose="020B0604030504040204" pitchFamily="50" charset="-128"/>
                <a:ea typeface="Meiryo UI" panose="020B0604030504040204" pitchFamily="50" charset="-128"/>
              </a:rPr>
              <a:t>B</a:t>
            </a:r>
            <a:r>
              <a:rPr kumimoji="1" lang="ja-JP" altLang="en-US" sz="1050">
                <a:solidFill>
                  <a:prstClr val="black"/>
                </a:solidFill>
                <a:latin typeface="Meiryo UI" panose="020B0604030504040204" pitchFamily="50" charset="-128"/>
                <a:ea typeface="Meiryo UI" panose="020B0604030504040204" pitchFamily="50" charset="-128"/>
              </a:rPr>
              <a:t>実行</a:t>
            </a:r>
          </a:p>
        </p:txBody>
      </p:sp>
      <p:grpSp>
        <p:nvGrpSpPr>
          <p:cNvPr id="59" name="グループ化 58">
            <a:extLst>
              <a:ext uri="{FF2B5EF4-FFF2-40B4-BE49-F238E27FC236}">
                <a16:creationId xmlns:a16="http://schemas.microsoft.com/office/drawing/2014/main" id="{411643C1-CD80-05A3-6237-5BC8CB87905E}"/>
              </a:ext>
            </a:extLst>
          </p:cNvPr>
          <p:cNvGrpSpPr/>
          <p:nvPr/>
        </p:nvGrpSpPr>
        <p:grpSpPr>
          <a:xfrm>
            <a:off x="2987031" y="4286616"/>
            <a:ext cx="1126247" cy="287050"/>
            <a:chOff x="2987031" y="4214698"/>
            <a:chExt cx="4409449" cy="287050"/>
          </a:xfrm>
        </p:grpSpPr>
        <p:sp>
          <p:nvSpPr>
            <p:cNvPr id="60" name="四角形: 角を丸くする 59">
              <a:extLst>
                <a:ext uri="{FF2B5EF4-FFF2-40B4-BE49-F238E27FC236}">
                  <a16:creationId xmlns:a16="http://schemas.microsoft.com/office/drawing/2014/main" id="{559F89E0-D11F-3E27-44A5-92D3A4D44CAB}"/>
                </a:ext>
              </a:extLst>
            </p:cNvPr>
            <p:cNvSpPr/>
            <p:nvPr/>
          </p:nvSpPr>
          <p:spPr bwMode="auto">
            <a:xfrm>
              <a:off x="2987031" y="4214698"/>
              <a:ext cx="4409449" cy="122590"/>
            </a:xfrm>
            <a:prstGeom prst="roundRect">
              <a:avLst/>
            </a:prstGeom>
            <a:solidFill>
              <a:schemeClr val="bg1">
                <a:lumMod val="95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a:solidFill>
                    <a:prstClr val="black"/>
                  </a:solidFill>
                  <a:latin typeface="Meiryo UI" panose="020B0604030504040204" pitchFamily="50" charset="-128"/>
                  <a:ea typeface="Meiryo UI" panose="020B0604030504040204" pitchFamily="50" charset="-128"/>
                </a:rPr>
                <a:t>施策</a:t>
              </a:r>
              <a:r>
                <a:rPr kumimoji="1" lang="en-US" altLang="ja-JP" sz="1050">
                  <a:solidFill>
                    <a:prstClr val="black"/>
                  </a:solidFill>
                  <a:latin typeface="Meiryo UI" panose="020B0604030504040204" pitchFamily="50" charset="-128"/>
                  <a:ea typeface="Meiryo UI" panose="020B0604030504040204" pitchFamily="50" charset="-128"/>
                </a:rPr>
                <a:t>C</a:t>
              </a:r>
              <a:r>
                <a:rPr kumimoji="1" lang="ja-JP" altLang="en-US" sz="1050">
                  <a:solidFill>
                    <a:prstClr val="black"/>
                  </a:solidFill>
                  <a:latin typeface="Meiryo UI" panose="020B0604030504040204" pitchFamily="50" charset="-128"/>
                  <a:ea typeface="Meiryo UI" panose="020B0604030504040204" pitchFamily="50" charset="-128"/>
                </a:rPr>
                <a:t>具体化</a:t>
              </a:r>
            </a:p>
          </p:txBody>
        </p:sp>
        <p:sp>
          <p:nvSpPr>
            <p:cNvPr id="61" name="四角形: 角を丸くする 60">
              <a:extLst>
                <a:ext uri="{FF2B5EF4-FFF2-40B4-BE49-F238E27FC236}">
                  <a16:creationId xmlns:a16="http://schemas.microsoft.com/office/drawing/2014/main" id="{7ED3EDA2-A8D6-1E23-79A3-DC7F749C4A37}"/>
                </a:ext>
              </a:extLst>
            </p:cNvPr>
            <p:cNvSpPr/>
            <p:nvPr/>
          </p:nvSpPr>
          <p:spPr bwMode="auto">
            <a:xfrm>
              <a:off x="2987031" y="4379158"/>
              <a:ext cx="4409449" cy="122590"/>
            </a:xfrm>
            <a:prstGeom prst="roundRect">
              <a:avLst/>
            </a:prstGeom>
            <a:solidFill>
              <a:schemeClr val="bg1">
                <a:lumMod val="95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a:solidFill>
                    <a:prstClr val="black"/>
                  </a:solidFill>
                  <a:latin typeface="Meiryo UI" panose="020B0604030504040204" pitchFamily="50" charset="-128"/>
                  <a:ea typeface="Meiryo UI" panose="020B0604030504040204" pitchFamily="50" charset="-128"/>
                </a:rPr>
                <a:t>施策</a:t>
              </a:r>
              <a:r>
                <a:rPr lang="en-US" altLang="ja-JP" sz="1050">
                  <a:solidFill>
                    <a:prstClr val="black"/>
                  </a:solidFill>
                  <a:latin typeface="Meiryo UI" panose="020B0604030504040204" pitchFamily="50" charset="-128"/>
                  <a:ea typeface="Meiryo UI" panose="020B0604030504040204" pitchFamily="50" charset="-128"/>
                </a:rPr>
                <a:t>D</a:t>
              </a:r>
              <a:r>
                <a:rPr lang="ja-JP" altLang="en-US" sz="1050">
                  <a:solidFill>
                    <a:prstClr val="black"/>
                  </a:solidFill>
                  <a:latin typeface="Meiryo UI" panose="020B0604030504040204" pitchFamily="50" charset="-128"/>
                  <a:ea typeface="Meiryo UI" panose="020B0604030504040204" pitchFamily="50" charset="-128"/>
                </a:rPr>
                <a:t>具体化</a:t>
              </a:r>
              <a:endParaRPr kumimoji="1" lang="ja-JP" altLang="en-US" sz="1050">
                <a:solidFill>
                  <a:prstClr val="black"/>
                </a:solidFill>
                <a:latin typeface="Meiryo UI" panose="020B0604030504040204" pitchFamily="50" charset="-128"/>
                <a:ea typeface="Meiryo UI" panose="020B0604030504040204" pitchFamily="50" charset="-128"/>
              </a:endParaRPr>
            </a:p>
          </p:txBody>
        </p:sp>
      </p:grpSp>
      <p:sp>
        <p:nvSpPr>
          <p:cNvPr id="62" name="正方形/長方形 61">
            <a:extLst>
              <a:ext uri="{FF2B5EF4-FFF2-40B4-BE49-F238E27FC236}">
                <a16:creationId xmlns:a16="http://schemas.microsoft.com/office/drawing/2014/main" id="{F7FFBE47-8BD4-CC5B-9266-190A0553AC26}"/>
              </a:ext>
            </a:extLst>
          </p:cNvPr>
          <p:cNvSpPr/>
          <p:nvPr/>
        </p:nvSpPr>
        <p:spPr bwMode="auto">
          <a:xfrm>
            <a:off x="7719952" y="4021608"/>
            <a:ext cx="1539286" cy="672342"/>
          </a:xfrm>
          <a:prstGeom prst="rect">
            <a:avLst/>
          </a:prstGeom>
          <a:solidFill>
            <a:schemeClr val="bg1"/>
          </a:solidFill>
          <a:ln w="9525" cap="flat" cmpd="sng" algn="ctr">
            <a:solidFill>
              <a:schemeClr val="tx1">
                <a:lumMod val="50000"/>
                <a:lumOff val="50000"/>
              </a:schemeClr>
            </a:solidFill>
            <a:prstDash val="solid"/>
            <a:miter lim="800000"/>
          </a:ln>
          <a:effectLst/>
        </p:spPr>
        <p:txBody>
          <a:bodyPr rot="0" spcFirstLastPara="0" vertOverflow="overflow" horzOverflow="overflow" vert="horz" wrap="none" lIns="0" tIns="72000" rIns="0" bIns="72000" numCol="1" spcCol="0" rtlCol="0" fromWordArt="0" anchor="ctr" anchorCtr="0" forceAA="0" compatLnSpc="1">
            <a:prstTxWarp prst="textNoShape">
              <a:avLst/>
            </a:prstTxWarp>
            <a:noAutofit/>
          </a:bodyPr>
          <a:lstStyle/>
          <a:p>
            <a:pPr algn="ctr">
              <a:spcBef>
                <a:spcPts val="600"/>
              </a:spcBef>
              <a:buClr>
                <a:prstClr val="black"/>
              </a:buClr>
              <a:tabLst>
                <a:tab pos="180975" algn="l"/>
              </a:tabLst>
            </a:pPr>
            <a:r>
              <a:rPr kumimoji="0" lang="ja-JP" altLang="en-US" sz="1200" kern="0">
                <a:latin typeface="+mj-lt"/>
                <a:cs typeface="Arial" charset="0"/>
              </a:rPr>
              <a:t>施策実行後の</a:t>
            </a:r>
            <a:br>
              <a:rPr kumimoji="0" lang="en-US" altLang="ja-JP" sz="1200" kern="0">
                <a:latin typeface="+mj-lt"/>
                <a:cs typeface="Arial" charset="0"/>
              </a:rPr>
            </a:br>
            <a:r>
              <a:rPr kumimoji="0" lang="ja-JP" altLang="en-US" sz="1200" kern="0">
                <a:latin typeface="+mj-lt"/>
                <a:cs typeface="Arial" charset="0"/>
              </a:rPr>
              <a:t>モニタリング</a:t>
            </a:r>
            <a:br>
              <a:rPr kumimoji="0" lang="en-US" altLang="ja-JP" sz="1200" kern="0">
                <a:latin typeface="+mj-lt"/>
                <a:cs typeface="Arial" charset="0"/>
              </a:rPr>
            </a:br>
            <a:r>
              <a:rPr kumimoji="0" lang="ja-JP" altLang="en-US" sz="1200" kern="0">
                <a:latin typeface="+mj-lt"/>
                <a:cs typeface="Arial" charset="0"/>
              </a:rPr>
              <a:t>・改善の実施</a:t>
            </a:r>
          </a:p>
        </p:txBody>
      </p:sp>
      <p:cxnSp>
        <p:nvCxnSpPr>
          <p:cNvPr id="63" name="直線矢印コネクタ 62">
            <a:extLst>
              <a:ext uri="{FF2B5EF4-FFF2-40B4-BE49-F238E27FC236}">
                <a16:creationId xmlns:a16="http://schemas.microsoft.com/office/drawing/2014/main" id="{8C2CC1DB-92EB-2CDE-7337-C249342EED98}"/>
              </a:ext>
            </a:extLst>
          </p:cNvPr>
          <p:cNvCxnSpPr>
            <a:cxnSpLocks/>
            <a:stCxn id="54" idx="3"/>
            <a:endCxn id="42" idx="1"/>
          </p:cNvCxnSpPr>
          <p:nvPr/>
        </p:nvCxnSpPr>
        <p:spPr bwMode="auto">
          <a:xfrm>
            <a:off x="5806439" y="3602994"/>
            <a:ext cx="293653" cy="0"/>
          </a:xfrm>
          <a:prstGeom prst="straightConnector1">
            <a:avLst/>
          </a:prstGeom>
          <a:noFill/>
          <a:ln w="19050" cap="flat" cmpd="sng" algn="ctr">
            <a:solidFill>
              <a:schemeClr val="tx1">
                <a:lumMod val="75000"/>
                <a:lumOff val="25000"/>
              </a:schemeClr>
            </a:solidFill>
            <a:prstDash val="solid"/>
            <a:round/>
            <a:headEnd type="none" w="med" len="med"/>
            <a:tailEnd type="arrow"/>
          </a:ln>
          <a:effectLst/>
        </p:spPr>
      </p:cxnSp>
      <p:cxnSp>
        <p:nvCxnSpPr>
          <p:cNvPr id="64" name="直線矢印コネクタ 63">
            <a:extLst>
              <a:ext uri="{FF2B5EF4-FFF2-40B4-BE49-F238E27FC236}">
                <a16:creationId xmlns:a16="http://schemas.microsoft.com/office/drawing/2014/main" id="{0E267472-8418-3A8D-9CBE-FCD0C306D539}"/>
              </a:ext>
            </a:extLst>
          </p:cNvPr>
          <p:cNvCxnSpPr>
            <a:cxnSpLocks/>
            <a:stCxn id="55" idx="3"/>
            <a:endCxn id="62" idx="1"/>
          </p:cNvCxnSpPr>
          <p:nvPr/>
        </p:nvCxnSpPr>
        <p:spPr bwMode="auto">
          <a:xfrm flipV="1">
            <a:off x="7603941" y="4357779"/>
            <a:ext cx="116011" cy="14295"/>
          </a:xfrm>
          <a:prstGeom prst="straightConnector1">
            <a:avLst/>
          </a:prstGeom>
          <a:noFill/>
          <a:ln w="19050" cap="flat" cmpd="sng" algn="ctr">
            <a:solidFill>
              <a:schemeClr val="tx1">
                <a:lumMod val="75000"/>
                <a:lumOff val="25000"/>
              </a:schemeClr>
            </a:solidFill>
            <a:prstDash val="solid"/>
            <a:round/>
            <a:headEnd type="none" w="med" len="med"/>
            <a:tailEnd type="arrow"/>
          </a:ln>
          <a:effectLst/>
        </p:spPr>
      </p:cxnSp>
      <p:sp>
        <p:nvSpPr>
          <p:cNvPr id="65" name="テキスト ボックス 64">
            <a:extLst>
              <a:ext uri="{FF2B5EF4-FFF2-40B4-BE49-F238E27FC236}">
                <a16:creationId xmlns:a16="http://schemas.microsoft.com/office/drawing/2014/main" id="{15FFF83F-D2D3-9096-97BC-5746BEEBA441}"/>
              </a:ext>
            </a:extLst>
          </p:cNvPr>
          <p:cNvSpPr txBox="1"/>
          <p:nvPr/>
        </p:nvSpPr>
        <p:spPr>
          <a:xfrm>
            <a:off x="9173231" y="4286616"/>
            <a:ext cx="465667" cy="247630"/>
          </a:xfrm>
          <a:prstGeom prst="rect">
            <a:avLst/>
          </a:prstGeom>
          <a:noFill/>
        </p:spPr>
        <p:txBody>
          <a:bodyPr wrap="square" lIns="36000" tIns="36000" rIns="36000" bIns="36000" rtlCol="0" anchor="ctr" anchorCtr="0">
            <a:noAutofit/>
          </a:bodyPr>
          <a:lstStyle/>
          <a:p>
            <a:pPr algn="l"/>
            <a:r>
              <a:rPr kumimoji="1" lang="ja-JP" altLang="en-US" sz="900">
                <a:latin typeface="Meiryo UI" panose="020B0604030504040204" pitchFamily="50" charset="-128"/>
                <a:ea typeface="Meiryo UI" panose="020B0604030504040204" pitchFamily="50" charset="-128"/>
              </a:rPr>
              <a:t>・・・</a:t>
            </a:r>
          </a:p>
        </p:txBody>
      </p:sp>
      <p:sp>
        <p:nvSpPr>
          <p:cNvPr id="66" name="テキスト ボックス 65">
            <a:extLst>
              <a:ext uri="{FF2B5EF4-FFF2-40B4-BE49-F238E27FC236}">
                <a16:creationId xmlns:a16="http://schemas.microsoft.com/office/drawing/2014/main" id="{EE8E22CF-CCB0-E973-CE09-C7EF241EBEE5}"/>
              </a:ext>
            </a:extLst>
          </p:cNvPr>
          <p:cNvSpPr txBox="1"/>
          <p:nvPr/>
        </p:nvSpPr>
        <p:spPr>
          <a:xfrm>
            <a:off x="8645612" y="3479179"/>
            <a:ext cx="465667" cy="247630"/>
          </a:xfrm>
          <a:prstGeom prst="rect">
            <a:avLst/>
          </a:prstGeom>
          <a:noFill/>
        </p:spPr>
        <p:txBody>
          <a:bodyPr wrap="square" lIns="36000" tIns="36000" rIns="36000" bIns="36000" rtlCol="0" anchor="ctr" anchorCtr="0">
            <a:noAutofit/>
          </a:bodyPr>
          <a:lstStyle/>
          <a:p>
            <a:pPr algn="l"/>
            <a:r>
              <a:rPr kumimoji="1" lang="ja-JP" altLang="en-US" sz="900">
                <a:latin typeface="Meiryo UI" panose="020B0604030504040204" pitchFamily="50" charset="-128"/>
                <a:ea typeface="Meiryo UI" panose="020B0604030504040204" pitchFamily="50" charset="-128"/>
              </a:rPr>
              <a:t>・・・</a:t>
            </a:r>
          </a:p>
        </p:txBody>
      </p:sp>
      <p:grpSp>
        <p:nvGrpSpPr>
          <p:cNvPr id="67" name="グループ化 66">
            <a:extLst>
              <a:ext uri="{FF2B5EF4-FFF2-40B4-BE49-F238E27FC236}">
                <a16:creationId xmlns:a16="http://schemas.microsoft.com/office/drawing/2014/main" id="{0ABE7827-C3EB-6A1B-0708-DAF5843A95D6}"/>
              </a:ext>
            </a:extLst>
          </p:cNvPr>
          <p:cNvGrpSpPr/>
          <p:nvPr/>
        </p:nvGrpSpPr>
        <p:grpSpPr>
          <a:xfrm>
            <a:off x="4217251" y="4286616"/>
            <a:ext cx="3182480" cy="287050"/>
            <a:chOff x="2987031" y="4214698"/>
            <a:chExt cx="4409449" cy="287050"/>
          </a:xfrm>
        </p:grpSpPr>
        <p:sp>
          <p:nvSpPr>
            <p:cNvPr id="68" name="四角形: 角を丸くする 67">
              <a:extLst>
                <a:ext uri="{FF2B5EF4-FFF2-40B4-BE49-F238E27FC236}">
                  <a16:creationId xmlns:a16="http://schemas.microsoft.com/office/drawing/2014/main" id="{5621A977-B67F-344D-EF12-DEA49A7F257F}"/>
                </a:ext>
              </a:extLst>
            </p:cNvPr>
            <p:cNvSpPr/>
            <p:nvPr/>
          </p:nvSpPr>
          <p:spPr bwMode="auto">
            <a:xfrm>
              <a:off x="2987031" y="4214698"/>
              <a:ext cx="4409449" cy="122590"/>
            </a:xfrm>
            <a:prstGeom prst="roundRect">
              <a:avLst/>
            </a:prstGeom>
            <a:solidFill>
              <a:schemeClr val="bg1">
                <a:lumMod val="95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a:solidFill>
                    <a:prstClr val="black"/>
                  </a:solidFill>
                  <a:latin typeface="Meiryo UI" panose="020B0604030504040204" pitchFamily="50" charset="-128"/>
                  <a:ea typeface="Meiryo UI" panose="020B0604030504040204" pitchFamily="50" charset="-128"/>
                </a:rPr>
                <a:t>施策</a:t>
              </a:r>
              <a:r>
                <a:rPr kumimoji="1" lang="en-US" altLang="ja-JP" sz="1050">
                  <a:solidFill>
                    <a:prstClr val="black"/>
                  </a:solidFill>
                  <a:latin typeface="Meiryo UI" panose="020B0604030504040204" pitchFamily="50" charset="-128"/>
                  <a:ea typeface="Meiryo UI" panose="020B0604030504040204" pitchFamily="50" charset="-128"/>
                </a:rPr>
                <a:t>C</a:t>
              </a:r>
              <a:r>
                <a:rPr lang="ja-JP" altLang="en-US" sz="1050">
                  <a:solidFill>
                    <a:prstClr val="black"/>
                  </a:solidFill>
                  <a:latin typeface="Meiryo UI" panose="020B0604030504040204" pitchFamily="50" charset="-128"/>
                  <a:ea typeface="Meiryo UI" panose="020B0604030504040204" pitchFamily="50" charset="-128"/>
                </a:rPr>
                <a:t>実行</a:t>
              </a:r>
              <a:endParaRPr kumimoji="1" lang="ja-JP" altLang="en-US" sz="1050">
                <a:solidFill>
                  <a:prstClr val="black"/>
                </a:solidFill>
                <a:latin typeface="Meiryo UI" panose="020B0604030504040204" pitchFamily="50" charset="-128"/>
                <a:ea typeface="Meiryo UI" panose="020B0604030504040204" pitchFamily="50" charset="-128"/>
              </a:endParaRPr>
            </a:p>
          </p:txBody>
        </p:sp>
        <p:sp>
          <p:nvSpPr>
            <p:cNvPr id="69" name="四角形: 角を丸くする 68">
              <a:extLst>
                <a:ext uri="{FF2B5EF4-FFF2-40B4-BE49-F238E27FC236}">
                  <a16:creationId xmlns:a16="http://schemas.microsoft.com/office/drawing/2014/main" id="{D4A1F16E-D619-140D-9C3E-28DE8539525D}"/>
                </a:ext>
              </a:extLst>
            </p:cNvPr>
            <p:cNvSpPr/>
            <p:nvPr/>
          </p:nvSpPr>
          <p:spPr bwMode="auto">
            <a:xfrm>
              <a:off x="2987031" y="4379158"/>
              <a:ext cx="4409449" cy="122590"/>
            </a:xfrm>
            <a:prstGeom prst="roundRect">
              <a:avLst/>
            </a:prstGeom>
            <a:solidFill>
              <a:schemeClr val="bg1">
                <a:lumMod val="95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a:solidFill>
                    <a:prstClr val="black"/>
                  </a:solidFill>
                  <a:latin typeface="Meiryo UI" panose="020B0604030504040204" pitchFamily="50" charset="-128"/>
                  <a:ea typeface="Meiryo UI" panose="020B0604030504040204" pitchFamily="50" charset="-128"/>
                </a:rPr>
                <a:t>施策</a:t>
              </a:r>
              <a:r>
                <a:rPr lang="en-US" altLang="ja-JP" sz="1050">
                  <a:solidFill>
                    <a:prstClr val="black"/>
                  </a:solidFill>
                  <a:latin typeface="Meiryo UI" panose="020B0604030504040204" pitchFamily="50" charset="-128"/>
                  <a:ea typeface="Meiryo UI" panose="020B0604030504040204" pitchFamily="50" charset="-128"/>
                </a:rPr>
                <a:t>D</a:t>
              </a:r>
              <a:r>
                <a:rPr lang="ja-JP" altLang="en-US" sz="1050">
                  <a:solidFill>
                    <a:prstClr val="black"/>
                  </a:solidFill>
                  <a:latin typeface="Meiryo UI" panose="020B0604030504040204" pitchFamily="50" charset="-128"/>
                  <a:ea typeface="Meiryo UI" panose="020B0604030504040204" pitchFamily="50" charset="-128"/>
                </a:rPr>
                <a:t>実行</a:t>
              </a:r>
              <a:endParaRPr kumimoji="1" lang="ja-JP" altLang="en-US" sz="1050">
                <a:solidFill>
                  <a:prstClr val="black"/>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19505789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0D9A9-ED54-2843-06C2-A47F1D4B5B1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CAE29E-9066-3D2A-BE0D-800800FFF11A}"/>
              </a:ext>
            </a:extLst>
          </p:cNvPr>
          <p:cNvSpPr>
            <a:spLocks noGrp="1"/>
          </p:cNvSpPr>
          <p:nvPr>
            <p:ph type="title"/>
          </p:nvPr>
        </p:nvSpPr>
        <p:spPr/>
        <p:txBody>
          <a:bodyPr/>
          <a:lstStyle/>
          <a:p>
            <a:r>
              <a:rPr lang="en-US" altLang="ja-JP" dirty="0">
                <a:solidFill>
                  <a:prstClr val="black"/>
                </a:solidFill>
              </a:rPr>
              <a:t>3. </a:t>
            </a:r>
            <a:r>
              <a:rPr lang="ja-JP" altLang="en-US" dirty="0">
                <a:solidFill>
                  <a:prstClr val="black"/>
                </a:solidFill>
              </a:rPr>
              <a:t>現状課題を踏まえた目指すべき姿</a:t>
            </a:r>
            <a:endParaRPr kumimoji="1" lang="ja-JP" altLang="en-US" dirty="0"/>
          </a:p>
        </p:txBody>
      </p:sp>
      <p:sp>
        <p:nvSpPr>
          <p:cNvPr id="3" name="テキスト プレースホルダー 2">
            <a:extLst>
              <a:ext uri="{FF2B5EF4-FFF2-40B4-BE49-F238E27FC236}">
                <a16:creationId xmlns:a16="http://schemas.microsoft.com/office/drawing/2014/main" id="{C45A3304-59FE-06D5-0927-A21630AFA9AE}"/>
              </a:ext>
            </a:extLst>
          </p:cNvPr>
          <p:cNvSpPr>
            <a:spLocks noGrp="1"/>
          </p:cNvSpPr>
          <p:nvPr>
            <p:ph type="body" idx="12"/>
          </p:nvPr>
        </p:nvSpPr>
        <p:spPr>
          <a:xfrm>
            <a:off x="488999" y="969722"/>
            <a:ext cx="9131121" cy="669414"/>
          </a:xfrm>
        </p:spPr>
        <p:txBody>
          <a:bodyPr/>
          <a:lstStyle/>
          <a:p>
            <a:r>
              <a:rPr lang="ja-JP" altLang="en-US" dirty="0"/>
              <a:t>継続的な業務改善と業務品質の向上が実現可能な自律型組織への移行を実現し、現状の課題解消に留まらず将来の社内外環境変化にも対応できる組織への段階的な変革を想定</a:t>
            </a:r>
            <a:endParaRPr lang="en-US" altLang="ja-JP" dirty="0"/>
          </a:p>
          <a:p>
            <a:endParaRPr kumimoji="1" lang="ja-JP" altLang="en-US" dirty="0"/>
          </a:p>
        </p:txBody>
      </p:sp>
      <p:sp>
        <p:nvSpPr>
          <p:cNvPr id="4" name="テキスト プレースホルダー 3">
            <a:extLst>
              <a:ext uri="{FF2B5EF4-FFF2-40B4-BE49-F238E27FC236}">
                <a16:creationId xmlns:a16="http://schemas.microsoft.com/office/drawing/2014/main" id="{64920D85-4232-02C2-711D-DBF32D410941}"/>
              </a:ext>
            </a:extLst>
          </p:cNvPr>
          <p:cNvSpPr>
            <a:spLocks noGrp="1"/>
          </p:cNvSpPr>
          <p:nvPr>
            <p:ph type="body" sz="quarter" idx="13"/>
          </p:nvPr>
        </p:nvSpPr>
        <p:spPr/>
        <p:txBody>
          <a:bodyPr/>
          <a:lstStyle/>
          <a:p>
            <a:r>
              <a:rPr lang="en-US" altLang="ja-JP" dirty="0"/>
              <a:t>3</a:t>
            </a:r>
            <a:r>
              <a:rPr kumimoji="1" lang="en-US" altLang="ja-JP" dirty="0"/>
              <a:t>. </a:t>
            </a:r>
            <a:r>
              <a:rPr kumimoji="1" lang="ja-JP" altLang="en-US" dirty="0"/>
              <a:t>プロジェクト② 業務改善支援</a:t>
            </a:r>
          </a:p>
        </p:txBody>
      </p:sp>
      <p:grpSp>
        <p:nvGrpSpPr>
          <p:cNvPr id="59" name="グループ化 58">
            <a:extLst>
              <a:ext uri="{FF2B5EF4-FFF2-40B4-BE49-F238E27FC236}">
                <a16:creationId xmlns:a16="http://schemas.microsoft.com/office/drawing/2014/main" id="{34543CB6-F745-F2EE-BCF9-1BA8DAE0E31C}"/>
              </a:ext>
            </a:extLst>
          </p:cNvPr>
          <p:cNvGrpSpPr/>
          <p:nvPr/>
        </p:nvGrpSpPr>
        <p:grpSpPr>
          <a:xfrm>
            <a:off x="385292" y="1526976"/>
            <a:ext cx="9080648" cy="479060"/>
            <a:chOff x="1617134" y="1586959"/>
            <a:chExt cx="7593541" cy="438230"/>
          </a:xfrm>
        </p:grpSpPr>
        <p:sp>
          <p:nvSpPr>
            <p:cNvPr id="60" name="正方形/長方形 59">
              <a:extLst>
                <a:ext uri="{FF2B5EF4-FFF2-40B4-BE49-F238E27FC236}">
                  <a16:creationId xmlns:a16="http://schemas.microsoft.com/office/drawing/2014/main" id="{7B3E9AEC-C7EA-184E-B121-47E6A94E6CAA}"/>
                </a:ext>
              </a:extLst>
            </p:cNvPr>
            <p:cNvSpPr/>
            <p:nvPr/>
          </p:nvSpPr>
          <p:spPr bwMode="auto">
            <a:xfrm>
              <a:off x="2446867" y="1586959"/>
              <a:ext cx="6763808" cy="438230"/>
            </a:xfrm>
            <a:prstGeom prst="rect">
              <a:avLst/>
            </a:prstGeom>
            <a:solidFill>
              <a:srgbClr val="F2DBFF"/>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542925" defTabSz="908410" fontAlgn="base">
                <a:spcAft>
                  <a:spcPct val="0"/>
                </a:spcAft>
              </a:pPr>
              <a:r>
                <a:rPr lang="ja-JP" altLang="en-US" sz="1400" b="1">
                  <a:solidFill>
                    <a:prstClr val="black"/>
                  </a:solidFill>
                  <a:latin typeface="Meiryo UI" panose="020B0604030504040204" pitchFamily="50" charset="-128"/>
                  <a:ea typeface="Meiryo UI" panose="020B0604030504040204" pitchFamily="50" charset="-128"/>
                </a:rPr>
                <a:t>各人が受託者責任を意識し</a:t>
              </a:r>
              <a:r>
                <a:rPr lang="en-US" altLang="ja-JP" sz="1400" b="1">
                  <a:solidFill>
                    <a:prstClr val="black"/>
                  </a:solidFill>
                  <a:latin typeface="Meiryo UI" panose="020B0604030504040204" pitchFamily="50" charset="-128"/>
                  <a:ea typeface="Meiryo UI" panose="020B0604030504040204" pitchFamily="50" charset="-128"/>
                </a:rPr>
                <a:t>MTBJ</a:t>
              </a:r>
              <a:r>
                <a:rPr lang="ja-JP" altLang="en-US" sz="1400" b="1">
                  <a:solidFill>
                    <a:prstClr val="black"/>
                  </a:solidFill>
                  <a:latin typeface="Meiryo UI" panose="020B0604030504040204" pitchFamily="50" charset="-128"/>
                  <a:ea typeface="Meiryo UI" panose="020B0604030504040204" pitchFamily="50" charset="-128"/>
                </a:rPr>
                <a:t>のインフラを支える組織として自律的に業務推進を行うとともに、業務改善にも積極的に取り組む組織</a:t>
              </a:r>
              <a:endParaRPr kumimoji="1" lang="ja-JP" altLang="en-US" sz="1400" b="1">
                <a:solidFill>
                  <a:prstClr val="black"/>
                </a:solidFill>
                <a:latin typeface="Meiryo UI" panose="020B0604030504040204" pitchFamily="50" charset="-128"/>
                <a:ea typeface="Meiryo UI" panose="020B0604030504040204" pitchFamily="50" charset="-128"/>
              </a:endParaRPr>
            </a:p>
          </p:txBody>
        </p:sp>
        <p:sp>
          <p:nvSpPr>
            <p:cNvPr id="61" name="矢印: 五方向 60">
              <a:extLst>
                <a:ext uri="{FF2B5EF4-FFF2-40B4-BE49-F238E27FC236}">
                  <a16:creationId xmlns:a16="http://schemas.microsoft.com/office/drawing/2014/main" id="{2079EDF2-211B-0F6B-CF77-792932945890}"/>
                </a:ext>
              </a:extLst>
            </p:cNvPr>
            <p:cNvSpPr/>
            <p:nvPr/>
          </p:nvSpPr>
          <p:spPr bwMode="auto">
            <a:xfrm>
              <a:off x="1617134" y="1586959"/>
              <a:ext cx="1295399" cy="438230"/>
            </a:xfrm>
            <a:prstGeom prst="homePlate">
              <a:avLst/>
            </a:prstGeom>
            <a:solidFill>
              <a:schemeClr val="accent2"/>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400" b="1">
                  <a:solidFill>
                    <a:schemeClr val="bg1"/>
                  </a:solidFill>
                  <a:latin typeface="Meiryo UI" panose="020B0604030504040204" pitchFamily="50" charset="-128"/>
                  <a:ea typeface="Meiryo UI" panose="020B0604030504040204" pitchFamily="50" charset="-128"/>
                </a:rPr>
                <a:t>目指すべき姿</a:t>
              </a:r>
            </a:p>
          </p:txBody>
        </p:sp>
      </p:grpSp>
      <p:grpSp>
        <p:nvGrpSpPr>
          <p:cNvPr id="62" name="グループ化 61">
            <a:extLst>
              <a:ext uri="{FF2B5EF4-FFF2-40B4-BE49-F238E27FC236}">
                <a16:creationId xmlns:a16="http://schemas.microsoft.com/office/drawing/2014/main" id="{AC1E91F5-07CF-0CB9-2202-AF2452D0EF5D}"/>
              </a:ext>
            </a:extLst>
          </p:cNvPr>
          <p:cNvGrpSpPr/>
          <p:nvPr/>
        </p:nvGrpSpPr>
        <p:grpSpPr>
          <a:xfrm>
            <a:off x="832393" y="6316645"/>
            <a:ext cx="8633547" cy="292971"/>
            <a:chOff x="1138502" y="6426557"/>
            <a:chExt cx="8085396" cy="305856"/>
          </a:xfrm>
        </p:grpSpPr>
        <p:cxnSp>
          <p:nvCxnSpPr>
            <p:cNvPr id="63" name="直線矢印コネクタ 62">
              <a:extLst>
                <a:ext uri="{FF2B5EF4-FFF2-40B4-BE49-F238E27FC236}">
                  <a16:creationId xmlns:a16="http://schemas.microsoft.com/office/drawing/2014/main" id="{C52A162B-4015-9687-9C25-4DA927ACFCDD}"/>
                </a:ext>
              </a:extLst>
            </p:cNvPr>
            <p:cNvCxnSpPr>
              <a:cxnSpLocks/>
            </p:cNvCxnSpPr>
            <p:nvPr/>
          </p:nvCxnSpPr>
          <p:spPr>
            <a:xfrm>
              <a:off x="1138502" y="6579485"/>
              <a:ext cx="8085396" cy="0"/>
            </a:xfrm>
            <a:prstGeom prst="straightConnector1">
              <a:avLst/>
            </a:prstGeom>
            <a:ln w="88900">
              <a:tailEnd type="triangle"/>
            </a:ln>
          </p:spPr>
          <p:style>
            <a:lnRef idx="1">
              <a:schemeClr val="accent2"/>
            </a:lnRef>
            <a:fillRef idx="0">
              <a:schemeClr val="accent2"/>
            </a:fillRef>
            <a:effectRef idx="0">
              <a:schemeClr val="accent2"/>
            </a:effectRef>
            <a:fontRef idx="minor">
              <a:schemeClr val="tx1"/>
            </a:fontRef>
          </p:style>
        </p:cxnSp>
        <p:sp>
          <p:nvSpPr>
            <p:cNvPr id="64" name="正方形/長方形 63">
              <a:extLst>
                <a:ext uri="{FF2B5EF4-FFF2-40B4-BE49-F238E27FC236}">
                  <a16:creationId xmlns:a16="http://schemas.microsoft.com/office/drawing/2014/main" id="{9284167D-CCB3-A43B-AB41-1ACBBD2274DB}"/>
                </a:ext>
              </a:extLst>
            </p:cNvPr>
            <p:cNvSpPr/>
            <p:nvPr/>
          </p:nvSpPr>
          <p:spPr>
            <a:xfrm>
              <a:off x="4029200" y="6426557"/>
              <a:ext cx="2304000" cy="305856"/>
            </a:xfrm>
            <a:prstGeom prst="rect">
              <a:avLst/>
            </a:prstGeom>
            <a:solidFill>
              <a:schemeClr val="bg1"/>
            </a:solidFill>
            <a:ln w="6350" cap="flat" cmpd="sng" algn="ctr">
              <a:no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自律型組織への移行</a:t>
              </a:r>
              <a:endParaRPr kumimoji="1" lang="en-US" altLang="ja-JP" sz="1200" kern="0">
                <a:solidFill>
                  <a:prstClr val="black"/>
                </a:solidFill>
                <a:latin typeface="Meiryo UI" panose="020B0604030504040204" pitchFamily="50" charset="-128"/>
                <a:ea typeface="Meiryo UI" panose="020B0604030504040204" pitchFamily="50" charset="-128"/>
              </a:endParaRPr>
            </a:p>
          </p:txBody>
        </p:sp>
      </p:grpSp>
      <p:grpSp>
        <p:nvGrpSpPr>
          <p:cNvPr id="65" name="グループ化 64">
            <a:extLst>
              <a:ext uri="{FF2B5EF4-FFF2-40B4-BE49-F238E27FC236}">
                <a16:creationId xmlns:a16="http://schemas.microsoft.com/office/drawing/2014/main" id="{511ECFBC-9266-853D-4C9F-6BC245AC8316}"/>
              </a:ext>
            </a:extLst>
          </p:cNvPr>
          <p:cNvGrpSpPr/>
          <p:nvPr/>
        </p:nvGrpSpPr>
        <p:grpSpPr>
          <a:xfrm>
            <a:off x="306253" y="2192473"/>
            <a:ext cx="303610" cy="4086282"/>
            <a:chOff x="221265" y="1493133"/>
            <a:chExt cx="303610" cy="4852461"/>
          </a:xfrm>
        </p:grpSpPr>
        <p:cxnSp>
          <p:nvCxnSpPr>
            <p:cNvPr id="66" name="直線矢印コネクタ 65">
              <a:extLst>
                <a:ext uri="{FF2B5EF4-FFF2-40B4-BE49-F238E27FC236}">
                  <a16:creationId xmlns:a16="http://schemas.microsoft.com/office/drawing/2014/main" id="{706CF649-0B53-FA9C-9317-354F7ACF6B31}"/>
                </a:ext>
              </a:extLst>
            </p:cNvPr>
            <p:cNvCxnSpPr>
              <a:cxnSpLocks/>
            </p:cNvCxnSpPr>
            <p:nvPr/>
          </p:nvCxnSpPr>
          <p:spPr>
            <a:xfrm flipV="1">
              <a:off x="355070" y="1493133"/>
              <a:ext cx="36000" cy="4852461"/>
            </a:xfrm>
            <a:prstGeom prst="straightConnector1">
              <a:avLst/>
            </a:prstGeom>
            <a:ln w="88900">
              <a:tailEnd type="triangle"/>
            </a:ln>
          </p:spPr>
          <p:style>
            <a:lnRef idx="1">
              <a:schemeClr val="accent2"/>
            </a:lnRef>
            <a:fillRef idx="0">
              <a:schemeClr val="accent2"/>
            </a:fillRef>
            <a:effectRef idx="0">
              <a:schemeClr val="accent2"/>
            </a:effectRef>
            <a:fontRef idx="minor">
              <a:schemeClr val="tx1"/>
            </a:fontRef>
          </p:style>
        </p:cxnSp>
        <p:sp>
          <p:nvSpPr>
            <p:cNvPr id="67" name="正方形/長方形 66">
              <a:extLst>
                <a:ext uri="{FF2B5EF4-FFF2-40B4-BE49-F238E27FC236}">
                  <a16:creationId xmlns:a16="http://schemas.microsoft.com/office/drawing/2014/main" id="{53FA423E-D8B4-9214-5E0F-FCABE213FB23}"/>
                </a:ext>
              </a:extLst>
            </p:cNvPr>
            <p:cNvSpPr/>
            <p:nvPr/>
          </p:nvSpPr>
          <p:spPr>
            <a:xfrm>
              <a:off x="221265" y="2857363"/>
              <a:ext cx="303610" cy="2124000"/>
            </a:xfrm>
            <a:prstGeom prst="rect">
              <a:avLst/>
            </a:prstGeom>
            <a:solidFill>
              <a:schemeClr val="bg1"/>
            </a:solidFill>
            <a:ln w="6350" cap="flat" cmpd="sng" algn="ctr">
              <a:noFill/>
              <a:prstDash val="solid"/>
              <a:miter lim="800000"/>
            </a:ln>
            <a:effectLst/>
          </p:spPr>
          <p:txBody>
            <a:bodyPr rot="0" spcFirstLastPara="0" vertOverflow="overflow" horzOverflow="overflow" vert="vert270"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組織改革の進行</a:t>
              </a:r>
              <a:endParaRPr kumimoji="1" lang="en-US" altLang="ja-JP" sz="1200" kern="0">
                <a:solidFill>
                  <a:prstClr val="black"/>
                </a:solidFill>
                <a:latin typeface="Meiryo UI" panose="020B0604030504040204" pitchFamily="50" charset="-128"/>
                <a:ea typeface="Meiryo UI" panose="020B0604030504040204" pitchFamily="50" charset="-128"/>
              </a:endParaRPr>
            </a:p>
          </p:txBody>
        </p:sp>
      </p:grpSp>
      <p:sp>
        <p:nvSpPr>
          <p:cNvPr id="68" name="四角形: 角を丸くする 67">
            <a:extLst>
              <a:ext uri="{FF2B5EF4-FFF2-40B4-BE49-F238E27FC236}">
                <a16:creationId xmlns:a16="http://schemas.microsoft.com/office/drawing/2014/main" id="{3563F3AA-AFCF-7129-46D2-CFF8CD156AF1}"/>
              </a:ext>
            </a:extLst>
          </p:cNvPr>
          <p:cNvSpPr/>
          <p:nvPr/>
        </p:nvSpPr>
        <p:spPr>
          <a:xfrm>
            <a:off x="1165676" y="5694537"/>
            <a:ext cx="1511494" cy="252932"/>
          </a:xfrm>
          <a:prstGeom prst="roundRect">
            <a:avLst/>
          </a:prstGeom>
          <a:solidFill>
            <a:schemeClr val="accent6">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業務スキル</a:t>
            </a:r>
          </a:p>
        </p:txBody>
      </p:sp>
      <p:sp>
        <p:nvSpPr>
          <p:cNvPr id="69" name="四角形: 角を丸くする 68">
            <a:extLst>
              <a:ext uri="{FF2B5EF4-FFF2-40B4-BE49-F238E27FC236}">
                <a16:creationId xmlns:a16="http://schemas.microsoft.com/office/drawing/2014/main" id="{37E3F2A0-6AC7-E7EC-FCA5-7E2827C2485E}"/>
              </a:ext>
            </a:extLst>
          </p:cNvPr>
          <p:cNvSpPr/>
          <p:nvPr/>
        </p:nvSpPr>
        <p:spPr>
          <a:xfrm>
            <a:off x="1165676" y="5974504"/>
            <a:ext cx="1511494" cy="252932"/>
          </a:xfrm>
          <a:prstGeom prst="roundRect">
            <a:avLst/>
          </a:prstGeom>
          <a:solidFill>
            <a:schemeClr val="accent6">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事務処理能力</a:t>
            </a:r>
          </a:p>
        </p:txBody>
      </p:sp>
      <p:sp>
        <p:nvSpPr>
          <p:cNvPr id="70" name="正方形/長方形 69">
            <a:extLst>
              <a:ext uri="{FF2B5EF4-FFF2-40B4-BE49-F238E27FC236}">
                <a16:creationId xmlns:a16="http://schemas.microsoft.com/office/drawing/2014/main" id="{F3DD1F57-676B-A7E0-D0E0-6BEA6FEF3353}"/>
              </a:ext>
            </a:extLst>
          </p:cNvPr>
          <p:cNvSpPr/>
          <p:nvPr/>
        </p:nvSpPr>
        <p:spPr>
          <a:xfrm>
            <a:off x="7307554" y="4792089"/>
            <a:ext cx="2158387" cy="1486666"/>
          </a:xfrm>
          <a:prstGeom prst="rect">
            <a:avLst/>
          </a:prstGeom>
          <a:solidFill>
            <a:schemeClr val="bg1"/>
          </a:solidFill>
          <a:ln w="6350" cap="flat" cmpd="sng" algn="ctr">
            <a:solidFill>
              <a:schemeClr val="accent6"/>
            </a:solidFill>
            <a:prstDash val="solid"/>
            <a:miter lim="800000"/>
          </a:ln>
          <a:effectLst/>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fontAlgn="auto">
              <a:spcBef>
                <a:spcPts val="600"/>
              </a:spcBef>
              <a:spcAft>
                <a:spcPts val="0"/>
              </a:spcAft>
              <a:buClr>
                <a:prstClr val="black"/>
              </a:buClr>
              <a:tabLst>
                <a:tab pos="180975" algn="l"/>
              </a:tabLst>
            </a:pPr>
            <a:endParaRPr kumimoji="1" lang="en-US" altLang="ja-JP" sz="1200" kern="0">
              <a:solidFill>
                <a:prstClr val="black"/>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CFD3B6FA-484D-38B7-EF7A-3CDECCD9F9B5}"/>
              </a:ext>
            </a:extLst>
          </p:cNvPr>
          <p:cNvSpPr/>
          <p:nvPr/>
        </p:nvSpPr>
        <p:spPr>
          <a:xfrm>
            <a:off x="2990779" y="5294646"/>
            <a:ext cx="2158387" cy="984110"/>
          </a:xfrm>
          <a:prstGeom prst="rect">
            <a:avLst/>
          </a:prstGeom>
          <a:noFill/>
          <a:ln w="6350" cap="flat" cmpd="sng" algn="ctr">
            <a:solidFill>
              <a:schemeClr val="accent6"/>
            </a:solidFill>
            <a:prstDash val="solid"/>
            <a:miter lim="800000"/>
          </a:ln>
          <a:effectLst/>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fontAlgn="auto">
              <a:spcBef>
                <a:spcPts val="600"/>
              </a:spcBef>
              <a:spcAft>
                <a:spcPts val="0"/>
              </a:spcAft>
              <a:buClr>
                <a:prstClr val="black"/>
              </a:buClr>
              <a:tabLst>
                <a:tab pos="180975" algn="l"/>
              </a:tabLst>
            </a:pPr>
            <a:endParaRPr kumimoji="1" lang="en-US" altLang="ja-JP" sz="1200" kern="0">
              <a:solidFill>
                <a:prstClr val="black"/>
              </a:solidFill>
              <a:latin typeface="Meiryo UI" panose="020B0604030504040204" pitchFamily="50" charset="-128"/>
              <a:ea typeface="Meiryo UI" panose="020B0604030504040204" pitchFamily="50" charset="-128"/>
            </a:endParaRPr>
          </a:p>
        </p:txBody>
      </p:sp>
      <p:sp>
        <p:nvSpPr>
          <p:cNvPr id="72" name="四角形: 角を丸くする 71">
            <a:extLst>
              <a:ext uri="{FF2B5EF4-FFF2-40B4-BE49-F238E27FC236}">
                <a16:creationId xmlns:a16="http://schemas.microsoft.com/office/drawing/2014/main" id="{5E28A944-6825-52AE-B0C7-82E35BEE2EC0}"/>
              </a:ext>
            </a:extLst>
          </p:cNvPr>
          <p:cNvSpPr/>
          <p:nvPr/>
        </p:nvSpPr>
        <p:spPr>
          <a:xfrm>
            <a:off x="3295220" y="5694538"/>
            <a:ext cx="1511494" cy="252932"/>
          </a:xfrm>
          <a:prstGeom prst="roundRect">
            <a:avLst/>
          </a:prstGeom>
          <a:solidFill>
            <a:schemeClr val="accent6">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業務スキル</a:t>
            </a:r>
          </a:p>
        </p:txBody>
      </p:sp>
      <p:sp>
        <p:nvSpPr>
          <p:cNvPr id="73" name="四角形: 角を丸くする 72">
            <a:extLst>
              <a:ext uri="{FF2B5EF4-FFF2-40B4-BE49-F238E27FC236}">
                <a16:creationId xmlns:a16="http://schemas.microsoft.com/office/drawing/2014/main" id="{C0A4FD30-FA6F-4AE1-8182-34E253080685}"/>
              </a:ext>
            </a:extLst>
          </p:cNvPr>
          <p:cNvSpPr/>
          <p:nvPr/>
        </p:nvSpPr>
        <p:spPr>
          <a:xfrm>
            <a:off x="3295220" y="5408770"/>
            <a:ext cx="1511494" cy="252932"/>
          </a:xfrm>
          <a:prstGeom prst="roundRect">
            <a:avLst/>
          </a:prstGeom>
          <a:solidFill>
            <a:schemeClr val="accent1">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業務知識</a:t>
            </a:r>
          </a:p>
        </p:txBody>
      </p:sp>
      <p:sp>
        <p:nvSpPr>
          <p:cNvPr id="74" name="四角形: 角を丸くする 73">
            <a:extLst>
              <a:ext uri="{FF2B5EF4-FFF2-40B4-BE49-F238E27FC236}">
                <a16:creationId xmlns:a16="http://schemas.microsoft.com/office/drawing/2014/main" id="{5AB24393-340A-2FA2-4175-264B5A14833A}"/>
              </a:ext>
            </a:extLst>
          </p:cNvPr>
          <p:cNvSpPr/>
          <p:nvPr/>
        </p:nvSpPr>
        <p:spPr>
          <a:xfrm>
            <a:off x="3295220" y="5974504"/>
            <a:ext cx="1511494" cy="252932"/>
          </a:xfrm>
          <a:prstGeom prst="roundRect">
            <a:avLst/>
          </a:prstGeom>
          <a:solidFill>
            <a:schemeClr val="accent6">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事務処理能力</a:t>
            </a:r>
          </a:p>
        </p:txBody>
      </p:sp>
      <p:sp>
        <p:nvSpPr>
          <p:cNvPr id="75" name="AutoShape 2" descr="事業の成長 枠線">
            <a:extLst>
              <a:ext uri="{FF2B5EF4-FFF2-40B4-BE49-F238E27FC236}">
                <a16:creationId xmlns:a16="http://schemas.microsoft.com/office/drawing/2014/main" id="{CC02DB08-9CC7-0F6D-C352-400C4E74662B}"/>
              </a:ext>
            </a:extLst>
          </p:cNvPr>
          <p:cNvSpPr>
            <a:spLocks noChangeAspect="1" noChangeArrowheads="1"/>
          </p:cNvSpPr>
          <p:nvPr/>
        </p:nvSpPr>
        <p:spPr bwMode="auto">
          <a:xfrm>
            <a:off x="3737709" y="2929372"/>
            <a:ext cx="553714" cy="6619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76" name="正方形/長方形 75">
            <a:extLst>
              <a:ext uri="{FF2B5EF4-FFF2-40B4-BE49-F238E27FC236}">
                <a16:creationId xmlns:a16="http://schemas.microsoft.com/office/drawing/2014/main" id="{B4E0B879-FB34-BCBA-0761-318F48FE1A81}"/>
              </a:ext>
            </a:extLst>
          </p:cNvPr>
          <p:cNvSpPr/>
          <p:nvPr/>
        </p:nvSpPr>
        <p:spPr>
          <a:xfrm>
            <a:off x="5149166" y="5041751"/>
            <a:ext cx="2158387" cy="1237006"/>
          </a:xfrm>
          <a:prstGeom prst="rect">
            <a:avLst/>
          </a:prstGeom>
          <a:noFill/>
          <a:ln w="6350" cap="flat" cmpd="sng" algn="ctr">
            <a:solidFill>
              <a:schemeClr val="accent6"/>
            </a:solidFill>
            <a:prstDash val="solid"/>
            <a:miter lim="800000"/>
          </a:ln>
          <a:effectLst/>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fontAlgn="auto">
              <a:spcBef>
                <a:spcPts val="600"/>
              </a:spcBef>
              <a:spcAft>
                <a:spcPts val="0"/>
              </a:spcAft>
              <a:buClr>
                <a:prstClr val="black"/>
              </a:buClr>
              <a:tabLst>
                <a:tab pos="180975" algn="l"/>
              </a:tabLst>
            </a:pPr>
            <a:endParaRPr kumimoji="1" lang="en-US" altLang="ja-JP" sz="1200" kern="0">
              <a:solidFill>
                <a:prstClr val="black"/>
              </a:solidFill>
              <a:latin typeface="Meiryo UI" panose="020B0604030504040204" pitchFamily="50" charset="-128"/>
              <a:ea typeface="Meiryo UI" panose="020B0604030504040204" pitchFamily="50" charset="-128"/>
            </a:endParaRPr>
          </a:p>
        </p:txBody>
      </p:sp>
      <p:sp>
        <p:nvSpPr>
          <p:cNvPr id="77" name="AutoShape 2" descr="事業の成長 枠線">
            <a:extLst>
              <a:ext uri="{FF2B5EF4-FFF2-40B4-BE49-F238E27FC236}">
                <a16:creationId xmlns:a16="http://schemas.microsoft.com/office/drawing/2014/main" id="{9ACA775F-67D4-7B01-A243-DD3E7D260A14}"/>
              </a:ext>
            </a:extLst>
          </p:cNvPr>
          <p:cNvSpPr>
            <a:spLocks noChangeAspect="1" noChangeArrowheads="1"/>
          </p:cNvSpPr>
          <p:nvPr/>
        </p:nvSpPr>
        <p:spPr bwMode="auto">
          <a:xfrm>
            <a:off x="5896096" y="2929372"/>
            <a:ext cx="553714" cy="66197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78" name="四角形: 角を丸くする 77">
            <a:extLst>
              <a:ext uri="{FF2B5EF4-FFF2-40B4-BE49-F238E27FC236}">
                <a16:creationId xmlns:a16="http://schemas.microsoft.com/office/drawing/2014/main" id="{CE502963-F236-FCBF-41C0-0C50041202AE}"/>
              </a:ext>
            </a:extLst>
          </p:cNvPr>
          <p:cNvSpPr/>
          <p:nvPr/>
        </p:nvSpPr>
        <p:spPr>
          <a:xfrm>
            <a:off x="5453607" y="5694538"/>
            <a:ext cx="1511494" cy="252932"/>
          </a:xfrm>
          <a:prstGeom prst="roundRect">
            <a:avLst/>
          </a:prstGeom>
          <a:solidFill>
            <a:schemeClr val="accent6">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業務スキル</a:t>
            </a:r>
          </a:p>
        </p:txBody>
      </p:sp>
      <p:sp>
        <p:nvSpPr>
          <p:cNvPr id="79" name="四角形: 角を丸くする 78">
            <a:extLst>
              <a:ext uri="{FF2B5EF4-FFF2-40B4-BE49-F238E27FC236}">
                <a16:creationId xmlns:a16="http://schemas.microsoft.com/office/drawing/2014/main" id="{DEB840CC-539D-8FC9-3616-44624534F080}"/>
              </a:ext>
            </a:extLst>
          </p:cNvPr>
          <p:cNvSpPr/>
          <p:nvPr/>
        </p:nvSpPr>
        <p:spPr>
          <a:xfrm>
            <a:off x="5453607" y="5408770"/>
            <a:ext cx="1511494" cy="252932"/>
          </a:xfrm>
          <a:prstGeom prst="roundRect">
            <a:avLst/>
          </a:prstGeom>
          <a:solidFill>
            <a:schemeClr val="accent1">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業務知識</a:t>
            </a:r>
          </a:p>
        </p:txBody>
      </p:sp>
      <p:sp>
        <p:nvSpPr>
          <p:cNvPr id="80" name="四角形: 角を丸くする 79">
            <a:extLst>
              <a:ext uri="{FF2B5EF4-FFF2-40B4-BE49-F238E27FC236}">
                <a16:creationId xmlns:a16="http://schemas.microsoft.com/office/drawing/2014/main" id="{89F17456-5E66-67E0-707B-110320E00741}"/>
              </a:ext>
            </a:extLst>
          </p:cNvPr>
          <p:cNvSpPr/>
          <p:nvPr/>
        </p:nvSpPr>
        <p:spPr>
          <a:xfrm>
            <a:off x="5453607" y="5974504"/>
            <a:ext cx="1511494" cy="252932"/>
          </a:xfrm>
          <a:prstGeom prst="roundRect">
            <a:avLst/>
          </a:prstGeom>
          <a:solidFill>
            <a:schemeClr val="accent6">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事務処理能力</a:t>
            </a:r>
          </a:p>
        </p:txBody>
      </p:sp>
      <p:sp>
        <p:nvSpPr>
          <p:cNvPr id="81" name="四角形: 角を丸くする 80">
            <a:extLst>
              <a:ext uri="{FF2B5EF4-FFF2-40B4-BE49-F238E27FC236}">
                <a16:creationId xmlns:a16="http://schemas.microsoft.com/office/drawing/2014/main" id="{D47513DB-46D9-67B7-59D7-B26A1688CD11}"/>
              </a:ext>
            </a:extLst>
          </p:cNvPr>
          <p:cNvSpPr/>
          <p:nvPr/>
        </p:nvSpPr>
        <p:spPr>
          <a:xfrm>
            <a:off x="5440342" y="5125904"/>
            <a:ext cx="1511494" cy="252932"/>
          </a:xfrm>
          <a:prstGeom prst="roundRect">
            <a:avLst/>
          </a:prstGeom>
          <a:solidFill>
            <a:schemeClr val="accent1">
              <a:lumMod val="40000"/>
              <a:lumOff val="6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schemeClr val="bg1"/>
                </a:solidFill>
                <a:latin typeface="Meiryo UI" panose="020B0604030504040204" pitchFamily="50" charset="-128"/>
                <a:ea typeface="Meiryo UI" panose="020B0604030504040204" pitchFamily="50" charset="-128"/>
              </a:rPr>
              <a:t>業務改善の知見</a:t>
            </a:r>
          </a:p>
        </p:txBody>
      </p:sp>
      <p:sp>
        <p:nvSpPr>
          <p:cNvPr id="82" name="四角形: 角を丸くする 81">
            <a:extLst>
              <a:ext uri="{FF2B5EF4-FFF2-40B4-BE49-F238E27FC236}">
                <a16:creationId xmlns:a16="http://schemas.microsoft.com/office/drawing/2014/main" id="{24035842-1C91-D72A-5EE9-EB150FDFB7AC}"/>
              </a:ext>
            </a:extLst>
          </p:cNvPr>
          <p:cNvSpPr/>
          <p:nvPr/>
        </p:nvSpPr>
        <p:spPr>
          <a:xfrm>
            <a:off x="7663271" y="4843038"/>
            <a:ext cx="1511494" cy="252932"/>
          </a:xfrm>
          <a:prstGeom prst="roundRect">
            <a:avLst/>
          </a:prstGeom>
          <a:solidFill>
            <a:schemeClr val="accent1">
              <a:lumMod val="60000"/>
              <a:lumOff val="4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schemeClr val="bg1"/>
                </a:solidFill>
                <a:latin typeface="Meiryo UI" panose="020B0604030504040204" pitchFamily="50" charset="-128"/>
                <a:ea typeface="Meiryo UI" panose="020B0604030504040204" pitchFamily="50" charset="-128"/>
              </a:rPr>
              <a:t>自律性</a:t>
            </a:r>
          </a:p>
        </p:txBody>
      </p:sp>
      <p:sp>
        <p:nvSpPr>
          <p:cNvPr id="83" name="四角形: 角を丸くする 82">
            <a:extLst>
              <a:ext uri="{FF2B5EF4-FFF2-40B4-BE49-F238E27FC236}">
                <a16:creationId xmlns:a16="http://schemas.microsoft.com/office/drawing/2014/main" id="{A9466CEF-A4F6-C4CA-37AC-83BA4B6DE403}"/>
              </a:ext>
            </a:extLst>
          </p:cNvPr>
          <p:cNvSpPr/>
          <p:nvPr/>
        </p:nvSpPr>
        <p:spPr>
          <a:xfrm>
            <a:off x="7663271" y="5691636"/>
            <a:ext cx="1511494" cy="252932"/>
          </a:xfrm>
          <a:prstGeom prst="roundRect">
            <a:avLst/>
          </a:prstGeom>
          <a:solidFill>
            <a:schemeClr val="accent6">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業務スキル</a:t>
            </a:r>
          </a:p>
        </p:txBody>
      </p:sp>
      <p:sp>
        <p:nvSpPr>
          <p:cNvPr id="84" name="四角形: 角を丸くする 83">
            <a:extLst>
              <a:ext uri="{FF2B5EF4-FFF2-40B4-BE49-F238E27FC236}">
                <a16:creationId xmlns:a16="http://schemas.microsoft.com/office/drawing/2014/main" id="{5D659720-177E-64C6-CAB8-83A5580B73D6}"/>
              </a:ext>
            </a:extLst>
          </p:cNvPr>
          <p:cNvSpPr/>
          <p:nvPr/>
        </p:nvSpPr>
        <p:spPr>
          <a:xfrm>
            <a:off x="7663271" y="5408770"/>
            <a:ext cx="1511494" cy="252932"/>
          </a:xfrm>
          <a:prstGeom prst="roundRect">
            <a:avLst/>
          </a:prstGeom>
          <a:solidFill>
            <a:schemeClr val="accent1">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業務知識</a:t>
            </a:r>
          </a:p>
        </p:txBody>
      </p:sp>
      <p:sp>
        <p:nvSpPr>
          <p:cNvPr id="85" name="四角形: 角を丸くする 84">
            <a:extLst>
              <a:ext uri="{FF2B5EF4-FFF2-40B4-BE49-F238E27FC236}">
                <a16:creationId xmlns:a16="http://schemas.microsoft.com/office/drawing/2014/main" id="{50A7EBE7-10FF-A904-8897-2381F9847B21}"/>
              </a:ext>
            </a:extLst>
          </p:cNvPr>
          <p:cNvSpPr/>
          <p:nvPr/>
        </p:nvSpPr>
        <p:spPr>
          <a:xfrm>
            <a:off x="7663271" y="5974504"/>
            <a:ext cx="1511494" cy="252932"/>
          </a:xfrm>
          <a:prstGeom prst="roundRect">
            <a:avLst/>
          </a:prstGeom>
          <a:solidFill>
            <a:schemeClr val="accent6">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事務処理能力</a:t>
            </a:r>
          </a:p>
        </p:txBody>
      </p:sp>
      <p:sp>
        <p:nvSpPr>
          <p:cNvPr id="86" name="四角形: 角を丸くする 85">
            <a:extLst>
              <a:ext uri="{FF2B5EF4-FFF2-40B4-BE49-F238E27FC236}">
                <a16:creationId xmlns:a16="http://schemas.microsoft.com/office/drawing/2014/main" id="{475665B3-05C3-3592-0F0E-308EADFF1AAD}"/>
              </a:ext>
            </a:extLst>
          </p:cNvPr>
          <p:cNvSpPr/>
          <p:nvPr/>
        </p:nvSpPr>
        <p:spPr>
          <a:xfrm>
            <a:off x="7663271" y="5125904"/>
            <a:ext cx="1511494" cy="252932"/>
          </a:xfrm>
          <a:prstGeom prst="roundRect">
            <a:avLst/>
          </a:prstGeom>
          <a:solidFill>
            <a:schemeClr val="accent1">
              <a:lumMod val="40000"/>
              <a:lumOff val="60000"/>
            </a:schemeClr>
          </a:solidFill>
          <a:ln w="6350" cap="flat" cmpd="sng" algn="ctr">
            <a:solidFill>
              <a:schemeClr val="accent6"/>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kern="0">
                <a:solidFill>
                  <a:schemeClr val="bg1"/>
                </a:solidFill>
                <a:latin typeface="Meiryo UI" panose="020B0604030504040204" pitchFamily="50" charset="-128"/>
                <a:ea typeface="Meiryo UI" panose="020B0604030504040204" pitchFamily="50" charset="-128"/>
              </a:rPr>
              <a:t>業務改善の知見</a:t>
            </a:r>
          </a:p>
        </p:txBody>
      </p:sp>
      <p:sp>
        <p:nvSpPr>
          <p:cNvPr id="87" name="正方形/長方形 86">
            <a:extLst>
              <a:ext uri="{FF2B5EF4-FFF2-40B4-BE49-F238E27FC236}">
                <a16:creationId xmlns:a16="http://schemas.microsoft.com/office/drawing/2014/main" id="{54508FC2-B3E3-4031-0C83-4C00FBFAB15C}"/>
              </a:ext>
            </a:extLst>
          </p:cNvPr>
          <p:cNvSpPr/>
          <p:nvPr/>
        </p:nvSpPr>
        <p:spPr>
          <a:xfrm>
            <a:off x="832392" y="2949807"/>
            <a:ext cx="2158387" cy="540000"/>
          </a:xfrm>
          <a:prstGeom prst="rect">
            <a:avLst/>
          </a:prstGeom>
          <a:solidFill>
            <a:schemeClr val="accent6">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square" lIns="72000" tIns="72000" rIns="72000" bIns="36000" numCol="1" spcCol="0" rtlCol="0" fromWordArt="0" anchor="b" anchorCtr="1" forceAA="0" compatLnSpc="1">
            <a:prstTxWarp prst="textNoShape">
              <a:avLst/>
            </a:prstTxWarp>
            <a:noAutofit/>
          </a:bodyPr>
          <a:lstStyle/>
          <a:p>
            <a:pPr fontAlgn="auto">
              <a:spcBef>
                <a:spcPts val="600"/>
              </a:spcBef>
              <a:spcAft>
                <a:spcPts val="0"/>
              </a:spcAft>
              <a:buClr>
                <a:prstClr val="black"/>
              </a:buClr>
              <a:tabLst>
                <a:tab pos="180975" algn="l"/>
              </a:tabLst>
            </a:pPr>
            <a:r>
              <a:rPr lang="ja-JP" altLang="en-US" sz="1200" b="1" kern="0">
                <a:latin typeface="Meiryo UI" panose="020B0604030504040204" pitchFamily="50" charset="-128"/>
                <a:ea typeface="Meiryo UI" panose="020B0604030504040204" pitchFamily="50" charset="-128"/>
              </a:rPr>
              <a:t>パフォーマンス低下</a:t>
            </a:r>
            <a:endParaRPr kumimoji="1" lang="ja-JP" altLang="en-US" sz="1200" b="1" kern="0">
              <a:latin typeface="Meiryo UI" panose="020B0604030504040204" pitchFamily="50" charset="-128"/>
              <a:ea typeface="Meiryo UI" panose="020B0604030504040204" pitchFamily="50" charset="-128"/>
            </a:endParaRPr>
          </a:p>
        </p:txBody>
      </p:sp>
      <p:grpSp>
        <p:nvGrpSpPr>
          <p:cNvPr id="88" name="グループ化 87">
            <a:extLst>
              <a:ext uri="{FF2B5EF4-FFF2-40B4-BE49-F238E27FC236}">
                <a16:creationId xmlns:a16="http://schemas.microsoft.com/office/drawing/2014/main" id="{858A98E1-FFF9-3100-1892-E34C6EB7CDC0}"/>
              </a:ext>
            </a:extLst>
          </p:cNvPr>
          <p:cNvGrpSpPr/>
          <p:nvPr/>
        </p:nvGrpSpPr>
        <p:grpSpPr>
          <a:xfrm>
            <a:off x="832392" y="3489807"/>
            <a:ext cx="2158387" cy="2059616"/>
            <a:chOff x="832393" y="3664466"/>
            <a:chExt cx="2069895" cy="2059616"/>
          </a:xfrm>
        </p:grpSpPr>
        <p:sp>
          <p:nvSpPr>
            <p:cNvPr id="89" name="正方形/長方形 88">
              <a:extLst>
                <a:ext uri="{FF2B5EF4-FFF2-40B4-BE49-F238E27FC236}">
                  <a16:creationId xmlns:a16="http://schemas.microsoft.com/office/drawing/2014/main" id="{A3711BFF-D57E-4200-CAAE-0BA69A2FBC49}"/>
                </a:ext>
              </a:extLst>
            </p:cNvPr>
            <p:cNvSpPr/>
            <p:nvPr/>
          </p:nvSpPr>
          <p:spPr>
            <a:xfrm>
              <a:off x="832393" y="3664466"/>
              <a:ext cx="2069895" cy="2059616"/>
            </a:xfrm>
            <a:prstGeom prst="rect">
              <a:avLst/>
            </a:prstGeom>
            <a:noFill/>
            <a:ln w="6350" cap="flat" cmpd="sng" algn="ctr">
              <a:solidFill>
                <a:schemeClr val="accent6"/>
              </a:solidFill>
              <a:prstDash val="solid"/>
              <a:miter lim="800000"/>
            </a:ln>
            <a:effectLst/>
          </p:spPr>
          <p:txBody>
            <a:bodyPr rot="0" spcFirstLastPara="0" vertOverflow="overflow" horzOverflow="overflow" vert="horz" wrap="square" lIns="72000" tIns="72000" rIns="72000" bIns="72000" numCol="1" spcCol="0" rtlCol="0" fromWordArt="0" anchor="b" anchorCtr="0" forceAA="0" compatLnSpc="1">
              <a:prstTxWarp prst="textNoShape">
                <a:avLst/>
              </a:prstTxWarp>
              <a:noAutofit/>
            </a:bodyPr>
            <a:lstStyle/>
            <a:p>
              <a:pPr marL="144000" indent="-144000" defTabSz="908410" fontAlgn="base">
                <a:spcAft>
                  <a:spcPct val="0"/>
                </a:spcAft>
                <a:buFont typeface="Arial" panose="020B0604020202020204" pitchFamily="34" charset="0"/>
                <a:buChar char="•"/>
              </a:pPr>
              <a:r>
                <a:rPr kumimoji="1" lang="ja-JP" altLang="en-US" sz="1200" b="1">
                  <a:latin typeface="Meiryo UI" panose="020B0604030504040204" pitchFamily="50" charset="-128"/>
                  <a:ea typeface="Meiryo UI" panose="020B0604030504040204" pitchFamily="50" charset="-128"/>
                </a:rPr>
                <a:t>業務</a:t>
              </a:r>
              <a:r>
                <a:rPr lang="ja-JP" altLang="en-US" sz="1200" b="1">
                  <a:latin typeface="Meiryo UI" panose="020B0604030504040204" pitchFamily="50" charset="-128"/>
                  <a:ea typeface="Meiryo UI" panose="020B0604030504040204" pitchFamily="50" charset="-128"/>
                </a:rPr>
                <a:t>量増加によりパフォーマンスが低下</a:t>
              </a:r>
              <a:r>
                <a:rPr kumimoji="1" lang="ja-JP" altLang="en-US" sz="1200">
                  <a:latin typeface="Meiryo UI" panose="020B0604030504040204" pitchFamily="50" charset="-128"/>
                  <a:ea typeface="Meiryo UI" panose="020B0604030504040204" pitchFamily="50" charset="-128"/>
                </a:rPr>
                <a:t>しており、間接業務・案件対応余力は残業</a:t>
              </a:r>
              <a:r>
                <a:rPr lang="ja-JP" altLang="en-US" sz="1200">
                  <a:latin typeface="Meiryo UI" panose="020B0604030504040204" pitchFamily="50" charset="-128"/>
                  <a:ea typeface="Meiryo UI" panose="020B0604030504040204" pitchFamily="50" charset="-128"/>
                </a:rPr>
                <a:t>で</a:t>
              </a:r>
              <a:r>
                <a:rPr kumimoji="1" lang="ja-JP" altLang="en-US" sz="1200">
                  <a:latin typeface="Meiryo UI" panose="020B0604030504040204" pitchFamily="50" charset="-128"/>
                  <a:ea typeface="Meiryo UI" panose="020B0604030504040204" pitchFamily="50" charset="-128"/>
                </a:rPr>
                <a:t>捻出</a:t>
              </a:r>
              <a:endParaRPr kumimoji="1" lang="en-US" altLang="ja-JP" sz="1200">
                <a:latin typeface="Meiryo UI" panose="020B0604030504040204" pitchFamily="50" charset="-128"/>
                <a:ea typeface="Meiryo UI" panose="020B0604030504040204" pitchFamily="50" charset="-128"/>
              </a:endParaRPr>
            </a:p>
            <a:p>
              <a:pPr marL="144000" indent="-144000" defTabSz="908410" fontAlgn="base">
                <a:spcAft>
                  <a:spcPct val="0"/>
                </a:spcAft>
                <a:buFont typeface="Arial" panose="020B0604020202020204" pitchFamily="34" charset="0"/>
                <a:buChar char="•"/>
              </a:pPr>
              <a:r>
                <a:rPr lang="ja-JP" altLang="en-US" sz="1200">
                  <a:latin typeface="Meiryo UI" panose="020B0604030504040204" pitchFamily="50" charset="-128"/>
                  <a:ea typeface="Meiryo UI" panose="020B0604030504040204" pitchFamily="50" charset="-128"/>
                </a:rPr>
                <a:t>作業対応の教育が増え</a:t>
              </a:r>
              <a:r>
                <a:rPr lang="ja-JP" altLang="en-US" sz="1200" b="1">
                  <a:latin typeface="Meiryo UI" panose="020B0604030504040204" pitchFamily="50" charset="-128"/>
                  <a:ea typeface="Meiryo UI" panose="020B0604030504040204" pitchFamily="50" charset="-128"/>
                </a:rPr>
                <a:t>業務知識が不十分な人材が増加、業務品質低下</a:t>
              </a:r>
              <a:endParaRPr kumimoji="1" lang="en-US" altLang="ja-JP" sz="1200" b="1">
                <a:latin typeface="Meiryo UI" panose="020B0604030504040204" pitchFamily="50" charset="-128"/>
                <a:ea typeface="Meiryo UI" panose="020B0604030504040204" pitchFamily="50" charset="-128"/>
              </a:endParaRPr>
            </a:p>
          </p:txBody>
        </p:sp>
        <p:pic>
          <p:nvPicPr>
            <p:cNvPr id="90" name="Picture 2" descr="爆発 - 挿絵/クリップアート/フリー/写真/アイコン/白黒/シンプル">
              <a:extLst>
                <a:ext uri="{FF2B5EF4-FFF2-40B4-BE49-F238E27FC236}">
                  <a16:creationId xmlns:a16="http://schemas.microsoft.com/office/drawing/2014/main" id="{BDD5DC97-5EB8-B996-E689-ED4A7AE6C9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281" y="3695015"/>
              <a:ext cx="876118" cy="87611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1" name="グループ化 90">
            <a:extLst>
              <a:ext uri="{FF2B5EF4-FFF2-40B4-BE49-F238E27FC236}">
                <a16:creationId xmlns:a16="http://schemas.microsoft.com/office/drawing/2014/main" id="{FF2EB502-5759-297F-E1EB-85BBDD3AA1F6}"/>
              </a:ext>
            </a:extLst>
          </p:cNvPr>
          <p:cNvGrpSpPr/>
          <p:nvPr/>
        </p:nvGrpSpPr>
        <p:grpSpPr>
          <a:xfrm>
            <a:off x="2993297" y="3236877"/>
            <a:ext cx="2158387" cy="2059616"/>
            <a:chOff x="2904703" y="3386771"/>
            <a:chExt cx="2069895" cy="2059616"/>
          </a:xfrm>
        </p:grpSpPr>
        <p:sp>
          <p:nvSpPr>
            <p:cNvPr id="92" name="正方形/長方形 91">
              <a:extLst>
                <a:ext uri="{FF2B5EF4-FFF2-40B4-BE49-F238E27FC236}">
                  <a16:creationId xmlns:a16="http://schemas.microsoft.com/office/drawing/2014/main" id="{345B12A2-8102-760C-A25C-09BC419A6961}"/>
                </a:ext>
              </a:extLst>
            </p:cNvPr>
            <p:cNvSpPr/>
            <p:nvPr/>
          </p:nvSpPr>
          <p:spPr>
            <a:xfrm>
              <a:off x="2904703" y="3386771"/>
              <a:ext cx="2069895" cy="2059616"/>
            </a:xfrm>
            <a:prstGeom prst="rect">
              <a:avLst/>
            </a:prstGeom>
            <a:noFill/>
            <a:ln w="6350" cap="flat" cmpd="sng" algn="ctr">
              <a:solidFill>
                <a:schemeClr val="accent6"/>
              </a:solidFill>
              <a:prstDash val="solid"/>
              <a:miter lim="800000"/>
            </a:ln>
            <a:effectLst/>
          </p:spPr>
          <p:txBody>
            <a:bodyPr rot="0" spcFirstLastPara="0" vertOverflow="overflow" horzOverflow="overflow" vert="horz" wrap="square" lIns="72000" tIns="72000" rIns="72000" bIns="72000" numCol="1" spcCol="0" rtlCol="0" fromWordArt="0" anchor="b"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en-US" altLang="ja-JP" sz="1200" b="1" u="sng" kern="0">
                <a:latin typeface="Meiryo UI" panose="020B0604030504040204" pitchFamily="50" charset="-128"/>
                <a:ea typeface="Meiryo UI" panose="020B0604030504040204" pitchFamily="50" charset="-128"/>
              </a:endParaRPr>
            </a:p>
            <a:p>
              <a:pPr marL="144000" indent="-144000" fontAlgn="auto">
                <a:spcAft>
                  <a:spcPts val="0"/>
                </a:spcAft>
                <a:buClr>
                  <a:prstClr val="black"/>
                </a:buClr>
                <a:buFont typeface="Arial" panose="020B0604020202020204" pitchFamily="34" charset="0"/>
                <a:buChar char="•"/>
                <a:tabLst>
                  <a:tab pos="180975" algn="l"/>
                </a:tabLst>
              </a:pPr>
              <a:r>
                <a:rPr lang="ja-JP" altLang="en-US" sz="1200" kern="0">
                  <a:solidFill>
                    <a:prstClr val="black"/>
                  </a:solidFill>
                  <a:latin typeface="Meiryo UI" panose="020B0604030504040204" pitchFamily="50" charset="-128"/>
                  <a:ea typeface="Meiryo UI" panose="020B0604030504040204" pitchFamily="50" charset="-128"/>
                </a:rPr>
                <a:t>業務改善により</a:t>
              </a:r>
              <a:r>
                <a:rPr lang="ja-JP" altLang="en-US" sz="1200" b="1" kern="0">
                  <a:solidFill>
                    <a:prstClr val="black"/>
                  </a:solidFill>
                  <a:latin typeface="Meiryo UI" panose="020B0604030504040204" pitchFamily="50" charset="-128"/>
                  <a:ea typeface="Meiryo UI" panose="020B0604030504040204" pitchFamily="50" charset="-128"/>
                </a:rPr>
                <a:t>人材育成・間接業務の余力創出</a:t>
              </a:r>
              <a:endParaRPr lang="en-US" altLang="ja-JP" sz="1200" b="1" kern="0">
                <a:solidFill>
                  <a:prstClr val="black"/>
                </a:solidFill>
                <a:latin typeface="Meiryo UI" panose="020B0604030504040204" pitchFamily="50" charset="-128"/>
                <a:ea typeface="Meiryo UI" panose="020B0604030504040204" pitchFamily="50" charset="-128"/>
              </a:endParaRPr>
            </a:p>
            <a:p>
              <a:pPr marL="144000" indent="-144000" fontAlgn="auto">
                <a:spcAft>
                  <a:spcPts val="0"/>
                </a:spcAft>
                <a:buClr>
                  <a:prstClr val="black"/>
                </a:buClr>
                <a:buFont typeface="Arial" panose="020B0604020202020204" pitchFamily="34" charset="0"/>
                <a:buChar cha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業務知識を身に着けられる育成方法の実現により</a:t>
              </a:r>
              <a:r>
                <a:rPr kumimoji="1" lang="ja-JP" altLang="en-US" sz="1200" b="1" kern="0">
                  <a:solidFill>
                    <a:prstClr val="black"/>
                  </a:solidFill>
                  <a:latin typeface="Meiryo UI" panose="020B0604030504040204" pitchFamily="50" charset="-128"/>
                  <a:ea typeface="Meiryo UI" panose="020B0604030504040204" pitchFamily="50" charset="-128"/>
                </a:rPr>
                <a:t>人材のスキルアップ実現</a:t>
              </a:r>
              <a:endParaRPr kumimoji="1" lang="en-US" altLang="ja-JP" sz="1200" b="1" kern="0">
                <a:solidFill>
                  <a:prstClr val="black"/>
                </a:solidFill>
                <a:latin typeface="Meiryo UI" panose="020B0604030504040204" pitchFamily="50" charset="-128"/>
                <a:ea typeface="Meiryo UI" panose="020B0604030504040204" pitchFamily="50" charset="-128"/>
              </a:endParaRPr>
            </a:p>
          </p:txBody>
        </p:sp>
        <p:pic>
          <p:nvPicPr>
            <p:cNvPr id="93" name="図 92" descr="記号, プレート, 男, 交通 が含まれている画像&#10;&#10;AI によって生成されたコンテンツは間違っている可能性があります。">
              <a:extLst>
                <a:ext uri="{FF2B5EF4-FFF2-40B4-BE49-F238E27FC236}">
                  <a16:creationId xmlns:a16="http://schemas.microsoft.com/office/drawing/2014/main" id="{088D3ABC-B2CB-630D-CCF6-D036DD1B35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499176" y="3466888"/>
              <a:ext cx="876118" cy="876118"/>
            </a:xfrm>
            <a:prstGeom prst="rect">
              <a:avLst/>
            </a:prstGeom>
          </p:spPr>
        </p:pic>
      </p:grpSp>
      <p:grpSp>
        <p:nvGrpSpPr>
          <p:cNvPr id="94" name="グループ化 93">
            <a:extLst>
              <a:ext uri="{FF2B5EF4-FFF2-40B4-BE49-F238E27FC236}">
                <a16:creationId xmlns:a16="http://schemas.microsoft.com/office/drawing/2014/main" id="{AA2474F9-93A5-FAA1-D6CE-AD596DDB982D}"/>
              </a:ext>
            </a:extLst>
          </p:cNvPr>
          <p:cNvGrpSpPr/>
          <p:nvPr/>
        </p:nvGrpSpPr>
        <p:grpSpPr>
          <a:xfrm>
            <a:off x="5149166" y="2982135"/>
            <a:ext cx="2158387" cy="2059616"/>
            <a:chOff x="4972183" y="3102184"/>
            <a:chExt cx="2069895" cy="2059616"/>
          </a:xfrm>
        </p:grpSpPr>
        <p:sp>
          <p:nvSpPr>
            <p:cNvPr id="95" name="正方形/長方形 94">
              <a:extLst>
                <a:ext uri="{FF2B5EF4-FFF2-40B4-BE49-F238E27FC236}">
                  <a16:creationId xmlns:a16="http://schemas.microsoft.com/office/drawing/2014/main" id="{8CD23BD0-B690-7C26-4DFA-81FCCEC65281}"/>
                </a:ext>
              </a:extLst>
            </p:cNvPr>
            <p:cNvSpPr/>
            <p:nvPr/>
          </p:nvSpPr>
          <p:spPr>
            <a:xfrm>
              <a:off x="4972183" y="3102184"/>
              <a:ext cx="2069895" cy="2059616"/>
            </a:xfrm>
            <a:prstGeom prst="rect">
              <a:avLst/>
            </a:prstGeom>
            <a:noFill/>
            <a:ln w="6350" cap="flat" cmpd="sng" algn="ctr">
              <a:solidFill>
                <a:schemeClr val="accent6"/>
              </a:solidFill>
              <a:prstDash val="solid"/>
              <a:miter lim="800000"/>
            </a:ln>
            <a:effectLst/>
          </p:spPr>
          <p:txBody>
            <a:bodyPr rot="0" spcFirstLastPara="0" vertOverflow="overflow" horzOverflow="overflow" vert="horz" wrap="square" lIns="72000" tIns="72000" rIns="72000" bIns="72000" numCol="1" spcCol="0" rtlCol="0" fromWordArt="0" anchor="b"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en-US" altLang="ja-JP" sz="1200" b="1" u="sng" kern="0">
                <a:latin typeface="Meiryo UI" panose="020B0604030504040204" pitchFamily="50" charset="-128"/>
                <a:ea typeface="Meiryo UI" panose="020B0604030504040204" pitchFamily="50" charset="-128"/>
              </a:endParaRPr>
            </a:p>
            <a:p>
              <a:pPr marL="144000" indent="-144000" fontAlgn="auto">
                <a:spcAft>
                  <a:spcPts val="0"/>
                </a:spcAft>
                <a:buClr>
                  <a:prstClr val="black"/>
                </a:buClr>
                <a:buFont typeface="Arial" panose="020B0604020202020204" pitchFamily="34" charset="0"/>
                <a:buChar char="•"/>
                <a:tabLst>
                  <a:tab pos="180975" algn="l"/>
                </a:tabLst>
              </a:pPr>
              <a:r>
                <a:rPr lang="ja-JP" altLang="en-US" sz="1200" b="1" kern="0">
                  <a:solidFill>
                    <a:prstClr val="black"/>
                  </a:solidFill>
                  <a:latin typeface="Meiryo UI" panose="020B0604030504040204" pitchFamily="50" charset="-128"/>
                  <a:ea typeface="Meiryo UI" panose="020B0604030504040204" pitchFamily="50" charset="-128"/>
                </a:rPr>
                <a:t>与えられた目標</a:t>
              </a:r>
              <a:r>
                <a:rPr kumimoji="1" lang="ja-JP" altLang="en-US" sz="1200" b="1" kern="0">
                  <a:solidFill>
                    <a:prstClr val="black"/>
                  </a:solidFill>
                  <a:latin typeface="Meiryo UI" panose="020B0604030504040204" pitchFamily="50" charset="-128"/>
                  <a:ea typeface="Meiryo UI" panose="020B0604030504040204" pitchFamily="50" charset="-128"/>
                </a:rPr>
                <a:t>の達成</a:t>
              </a:r>
              <a:r>
                <a:rPr kumimoji="1" lang="ja-JP" altLang="en-US" sz="1200" kern="0">
                  <a:solidFill>
                    <a:prstClr val="black"/>
                  </a:solidFill>
                  <a:latin typeface="Meiryo UI" panose="020B0604030504040204" pitchFamily="50" charset="-128"/>
                  <a:ea typeface="Meiryo UI" panose="020B0604030504040204" pitchFamily="50" charset="-128"/>
                </a:rPr>
                <a:t>に向けた</a:t>
              </a:r>
              <a:r>
                <a:rPr kumimoji="1" lang="ja-JP" altLang="en-US" sz="1200" b="1" kern="0">
                  <a:solidFill>
                    <a:prstClr val="black"/>
                  </a:solidFill>
                  <a:latin typeface="Meiryo UI" panose="020B0604030504040204" pitchFamily="50" charset="-128"/>
                  <a:ea typeface="Meiryo UI" panose="020B0604030504040204" pitchFamily="50" charset="-128"/>
                </a:rPr>
                <a:t>自律的な</a:t>
              </a:r>
              <a:r>
                <a:rPr kumimoji="1" lang="en-US" altLang="ja-JP" sz="1200" b="1" kern="0">
                  <a:solidFill>
                    <a:prstClr val="black"/>
                  </a:solidFill>
                  <a:latin typeface="Meiryo UI" panose="020B0604030504040204" pitchFamily="50" charset="-128"/>
                  <a:ea typeface="Meiryo UI" panose="020B0604030504040204" pitchFamily="50" charset="-128"/>
                </a:rPr>
                <a:t>PDCA</a:t>
              </a:r>
              <a:r>
                <a:rPr kumimoji="1" lang="ja-JP" altLang="en-US" sz="1200" b="1" kern="0">
                  <a:solidFill>
                    <a:prstClr val="black"/>
                  </a:solidFill>
                  <a:latin typeface="Meiryo UI" panose="020B0604030504040204" pitchFamily="50" charset="-128"/>
                  <a:ea typeface="Meiryo UI" panose="020B0604030504040204" pitchFamily="50" charset="-128"/>
                </a:rPr>
                <a:t>サイクル</a:t>
              </a:r>
              <a:r>
                <a:rPr kumimoji="1" lang="ja-JP" altLang="en-US" sz="1200" kern="0">
                  <a:solidFill>
                    <a:prstClr val="black"/>
                  </a:solidFill>
                  <a:latin typeface="Meiryo UI" panose="020B0604030504040204" pitchFamily="50" charset="-128"/>
                  <a:ea typeface="Meiryo UI" panose="020B0604030504040204" pitchFamily="50" charset="-128"/>
                </a:rPr>
                <a:t>実行</a:t>
              </a:r>
              <a:endParaRPr kumimoji="1" lang="en-US" altLang="ja-JP" sz="1200" kern="0">
                <a:solidFill>
                  <a:prstClr val="black"/>
                </a:solidFill>
                <a:latin typeface="Meiryo UI" panose="020B0604030504040204" pitchFamily="50" charset="-128"/>
                <a:ea typeface="Meiryo UI" panose="020B0604030504040204" pitchFamily="50" charset="-128"/>
              </a:endParaRPr>
            </a:p>
            <a:p>
              <a:pPr marL="144000" indent="-144000" fontAlgn="auto">
                <a:spcAft>
                  <a:spcPts val="0"/>
                </a:spcAft>
                <a:buClr>
                  <a:prstClr val="black"/>
                </a:buClr>
                <a:buFont typeface="Arial" panose="020B0604020202020204" pitchFamily="34" charset="0"/>
                <a:buChar char="•"/>
                <a:tabLst>
                  <a:tab pos="180975" algn="l"/>
                </a:tabLst>
              </a:pPr>
              <a:r>
                <a:rPr lang="ja-JP" altLang="en-US" sz="1200" b="1" kern="0">
                  <a:solidFill>
                    <a:prstClr val="black"/>
                  </a:solidFill>
                  <a:latin typeface="Meiryo UI" panose="020B0604030504040204" pitchFamily="50" charset="-128"/>
                  <a:ea typeface="Meiryo UI" panose="020B0604030504040204" pitchFamily="50" charset="-128"/>
                </a:rPr>
                <a:t>さらなる余力創出</a:t>
              </a:r>
              <a:r>
                <a:rPr lang="ja-JP" altLang="en-US" sz="1200" kern="0">
                  <a:solidFill>
                    <a:prstClr val="black"/>
                  </a:solidFill>
                  <a:latin typeface="Meiryo UI" panose="020B0604030504040204" pitchFamily="50" charset="-128"/>
                  <a:ea typeface="Meiryo UI" panose="020B0604030504040204" pitchFamily="50" charset="-128"/>
                </a:rPr>
                <a:t>による</a:t>
              </a:r>
              <a:r>
                <a:rPr lang="ja-JP" altLang="en-US" sz="1200" b="1" kern="0">
                  <a:solidFill>
                    <a:prstClr val="black"/>
                  </a:solidFill>
                  <a:latin typeface="Meiryo UI" panose="020B0604030504040204" pitchFamily="50" charset="-128"/>
                  <a:ea typeface="Meiryo UI" panose="020B0604030504040204" pitchFamily="50" charset="-128"/>
                </a:rPr>
                <a:t>人材スキルアップ加速</a:t>
              </a:r>
              <a:r>
                <a:rPr lang="ja-JP" altLang="en-US" sz="1200" kern="0">
                  <a:solidFill>
                    <a:prstClr val="black"/>
                  </a:solidFill>
                  <a:latin typeface="Meiryo UI" panose="020B0604030504040204" pitchFamily="50" charset="-128"/>
                  <a:ea typeface="Meiryo UI" panose="020B0604030504040204" pitchFamily="50" charset="-128"/>
                </a:rPr>
                <a:t>と</a:t>
              </a:r>
              <a:r>
                <a:rPr lang="ja-JP" altLang="en-US" sz="1200" b="1" kern="0">
                  <a:solidFill>
                    <a:prstClr val="black"/>
                  </a:solidFill>
                  <a:latin typeface="Meiryo UI" panose="020B0604030504040204" pitchFamily="50" charset="-128"/>
                  <a:ea typeface="Meiryo UI" panose="020B0604030504040204" pitchFamily="50" charset="-128"/>
                </a:rPr>
                <a:t>業務改善知見の蓄積</a:t>
              </a:r>
              <a:endParaRPr lang="en-US" altLang="ja-JP" sz="1200" b="1" kern="0">
                <a:solidFill>
                  <a:prstClr val="black"/>
                </a:solidFill>
                <a:latin typeface="Meiryo UI" panose="020B0604030504040204" pitchFamily="50" charset="-128"/>
                <a:ea typeface="Meiryo UI" panose="020B0604030504040204" pitchFamily="50" charset="-128"/>
              </a:endParaRPr>
            </a:p>
          </p:txBody>
        </p:sp>
        <p:pic>
          <p:nvPicPr>
            <p:cNvPr id="96" name="図 95" descr="ロゴ&#10;&#10;AI によって生成されたコンテンツは間違っている可能性があります。">
              <a:extLst>
                <a:ext uri="{FF2B5EF4-FFF2-40B4-BE49-F238E27FC236}">
                  <a16:creationId xmlns:a16="http://schemas.microsoft.com/office/drawing/2014/main" id="{3407AADC-D3E6-DACC-9C6F-4AE4BBCBD5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9071" y="3136946"/>
              <a:ext cx="876118" cy="876118"/>
            </a:xfrm>
            <a:prstGeom prst="rect">
              <a:avLst/>
            </a:prstGeom>
          </p:spPr>
        </p:pic>
      </p:grpSp>
      <p:grpSp>
        <p:nvGrpSpPr>
          <p:cNvPr id="97" name="グループ化 96">
            <a:extLst>
              <a:ext uri="{FF2B5EF4-FFF2-40B4-BE49-F238E27FC236}">
                <a16:creationId xmlns:a16="http://schemas.microsoft.com/office/drawing/2014/main" id="{996EECC3-9FD0-5127-0458-C073842CD640}"/>
              </a:ext>
            </a:extLst>
          </p:cNvPr>
          <p:cNvGrpSpPr/>
          <p:nvPr/>
        </p:nvGrpSpPr>
        <p:grpSpPr>
          <a:xfrm>
            <a:off x="7307554" y="2732473"/>
            <a:ext cx="2158387" cy="2059616"/>
            <a:chOff x="7042078" y="2808072"/>
            <a:chExt cx="2069895" cy="2059616"/>
          </a:xfrm>
        </p:grpSpPr>
        <p:sp>
          <p:nvSpPr>
            <p:cNvPr id="98" name="正方形/長方形 97">
              <a:extLst>
                <a:ext uri="{FF2B5EF4-FFF2-40B4-BE49-F238E27FC236}">
                  <a16:creationId xmlns:a16="http://schemas.microsoft.com/office/drawing/2014/main" id="{1ED04B79-97CF-5E1B-D97B-33A251B01820}"/>
                </a:ext>
              </a:extLst>
            </p:cNvPr>
            <p:cNvSpPr/>
            <p:nvPr/>
          </p:nvSpPr>
          <p:spPr>
            <a:xfrm>
              <a:off x="7042078" y="2808072"/>
              <a:ext cx="2069895" cy="2059616"/>
            </a:xfrm>
            <a:prstGeom prst="rect">
              <a:avLst/>
            </a:prstGeom>
            <a:noFill/>
            <a:ln w="6350" cap="flat" cmpd="sng" algn="ctr">
              <a:solidFill>
                <a:schemeClr val="accent6"/>
              </a:solidFill>
              <a:prstDash val="solid"/>
              <a:miter lim="800000"/>
            </a:ln>
            <a:effectLst/>
          </p:spPr>
          <p:txBody>
            <a:bodyPr rot="0" spcFirstLastPara="0" vertOverflow="overflow" horzOverflow="overflow" vert="horz" wrap="square" lIns="72000" tIns="72000" rIns="72000" bIns="72000" numCol="1" spcCol="0" rtlCol="0" fromWordArt="0" anchor="b" anchorCtr="0" forceAA="0" compatLnSpc="1">
              <a:prstTxWarp prst="textNoShape">
                <a:avLst/>
              </a:prstTxWarp>
              <a:noAutofit/>
            </a:bodyPr>
            <a:lstStyle/>
            <a:p>
              <a:pPr algn="ctr" fontAlgn="auto">
                <a:spcBef>
                  <a:spcPts val="600"/>
                </a:spcBef>
                <a:spcAft>
                  <a:spcPts val="0"/>
                </a:spcAft>
                <a:buClr>
                  <a:prstClr val="black"/>
                </a:buClr>
                <a:tabLst>
                  <a:tab pos="180975" algn="l"/>
                </a:tabLst>
              </a:pPr>
              <a:endParaRPr kumimoji="1" lang="en-US" altLang="ja-JP" sz="1400" b="1" u="sng" kern="0">
                <a:solidFill>
                  <a:prstClr val="black"/>
                </a:solidFill>
                <a:latin typeface="Meiryo UI" panose="020B0604030504040204" pitchFamily="50" charset="-128"/>
                <a:ea typeface="Meiryo UI" panose="020B0604030504040204" pitchFamily="50" charset="-128"/>
              </a:endParaRPr>
            </a:p>
            <a:p>
              <a:pPr marL="144000" indent="-144000" fontAlgn="auto">
                <a:spcAft>
                  <a:spcPts val="0"/>
                </a:spcAft>
                <a:buClr>
                  <a:prstClr val="black"/>
                </a:buClr>
                <a:buFont typeface="Arial" panose="020B0604020202020204" pitchFamily="34" charset="0"/>
                <a:buChar char="•"/>
                <a:tabLst>
                  <a:tab pos="180975" algn="l"/>
                </a:tabLst>
              </a:pPr>
              <a:r>
                <a:rPr kumimoji="1" lang="ja-JP" altLang="en-US" sz="1200" kern="0">
                  <a:solidFill>
                    <a:prstClr val="black"/>
                  </a:solidFill>
                  <a:latin typeface="Meiryo UI" panose="020B0604030504040204" pitchFamily="50" charset="-128"/>
                  <a:ea typeface="Meiryo UI" panose="020B0604030504040204" pitchFamily="50" charset="-128"/>
                </a:rPr>
                <a:t>与えられた目標ではなく</a:t>
              </a:r>
              <a:r>
                <a:rPr kumimoji="1" lang="ja-JP" altLang="en-US" sz="1200" b="1" kern="0">
                  <a:solidFill>
                    <a:prstClr val="black"/>
                  </a:solidFill>
                  <a:latin typeface="Meiryo UI" panose="020B0604030504040204" pitchFamily="50" charset="-128"/>
                  <a:ea typeface="Meiryo UI" panose="020B0604030504040204" pitchFamily="50" charset="-128"/>
                </a:rPr>
                <a:t>自律的に設定した目標の実現に向けた</a:t>
              </a:r>
              <a:r>
                <a:rPr kumimoji="1" lang="en-US" altLang="ja-JP" sz="1200" b="1" kern="0">
                  <a:solidFill>
                    <a:prstClr val="black"/>
                  </a:solidFill>
                  <a:latin typeface="Meiryo UI" panose="020B0604030504040204" pitchFamily="50" charset="-128"/>
                  <a:ea typeface="Meiryo UI" panose="020B0604030504040204" pitchFamily="50" charset="-128"/>
                </a:rPr>
                <a:t>PDCA</a:t>
              </a:r>
              <a:r>
                <a:rPr kumimoji="1" lang="ja-JP" altLang="en-US" sz="1200" b="1" kern="0">
                  <a:solidFill>
                    <a:prstClr val="black"/>
                  </a:solidFill>
                  <a:latin typeface="Meiryo UI" panose="020B0604030504040204" pitchFamily="50" charset="-128"/>
                  <a:ea typeface="Meiryo UI" panose="020B0604030504040204" pitchFamily="50" charset="-128"/>
                </a:rPr>
                <a:t>サイクル実行</a:t>
              </a:r>
              <a:endParaRPr kumimoji="1" lang="en-US" altLang="ja-JP" sz="1200" b="1" kern="0">
                <a:solidFill>
                  <a:prstClr val="black"/>
                </a:solidFill>
                <a:latin typeface="Meiryo UI" panose="020B0604030504040204" pitchFamily="50" charset="-128"/>
                <a:ea typeface="Meiryo UI" panose="020B0604030504040204" pitchFamily="50" charset="-128"/>
              </a:endParaRPr>
            </a:p>
            <a:p>
              <a:pPr marL="144000" indent="-144000" fontAlgn="auto">
                <a:spcAft>
                  <a:spcPts val="0"/>
                </a:spcAft>
                <a:buClr>
                  <a:prstClr val="black"/>
                </a:buClr>
                <a:buFont typeface="Arial" panose="020B0604020202020204" pitchFamily="34" charset="0"/>
                <a:buChar char="•"/>
                <a:tabLst>
                  <a:tab pos="180975" algn="l"/>
                </a:tabLst>
              </a:pPr>
              <a:r>
                <a:rPr lang="ja-JP" altLang="en-US" sz="1200" kern="0">
                  <a:solidFill>
                    <a:prstClr val="black"/>
                  </a:solidFill>
                  <a:latin typeface="Meiryo UI" panose="020B0604030504040204" pitchFamily="50" charset="-128"/>
                  <a:ea typeface="Meiryo UI" panose="020B0604030504040204" pitchFamily="50" charset="-128"/>
                </a:rPr>
                <a:t>創出余力の活用により</a:t>
              </a:r>
              <a:r>
                <a:rPr lang="ja-JP" altLang="en-US" sz="1200" b="1" kern="0">
                  <a:solidFill>
                    <a:prstClr val="black"/>
                  </a:solidFill>
                  <a:latin typeface="Meiryo UI" panose="020B0604030504040204" pitchFamily="50" charset="-128"/>
                  <a:ea typeface="Meiryo UI" panose="020B0604030504040204" pitchFamily="50" charset="-128"/>
                </a:rPr>
                <a:t>業務スピード・品質向上継続</a:t>
              </a:r>
              <a:endParaRPr kumimoji="1" lang="en-US" altLang="ja-JP" sz="1200" b="1" kern="0">
                <a:solidFill>
                  <a:prstClr val="black"/>
                </a:solidFill>
                <a:latin typeface="Meiryo UI" panose="020B0604030504040204" pitchFamily="50" charset="-128"/>
                <a:ea typeface="Meiryo UI" panose="020B0604030504040204" pitchFamily="50" charset="-128"/>
              </a:endParaRPr>
            </a:p>
          </p:txBody>
        </p:sp>
        <p:pic>
          <p:nvPicPr>
            <p:cNvPr id="99" name="図 98" descr="アイコン&#10;&#10;AI によって生成されたコンテンツは間違っている可能性があります。">
              <a:extLst>
                <a:ext uri="{FF2B5EF4-FFF2-40B4-BE49-F238E27FC236}">
                  <a16:creationId xmlns:a16="http://schemas.microsoft.com/office/drawing/2014/main" id="{B65390AF-58BB-FE92-A43E-B097E11189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37056" y="2903087"/>
              <a:ext cx="876118" cy="876118"/>
            </a:xfrm>
            <a:prstGeom prst="rect">
              <a:avLst/>
            </a:prstGeom>
          </p:spPr>
        </p:pic>
      </p:grpSp>
      <p:sp>
        <p:nvSpPr>
          <p:cNvPr id="100" name="正方形/長方形 99">
            <a:extLst>
              <a:ext uri="{FF2B5EF4-FFF2-40B4-BE49-F238E27FC236}">
                <a16:creationId xmlns:a16="http://schemas.microsoft.com/office/drawing/2014/main" id="{B10FDF88-389C-1A18-0659-7A1DDBFC792C}"/>
              </a:ext>
            </a:extLst>
          </p:cNvPr>
          <p:cNvSpPr/>
          <p:nvPr/>
        </p:nvSpPr>
        <p:spPr>
          <a:xfrm>
            <a:off x="832391" y="2949807"/>
            <a:ext cx="957791" cy="251388"/>
          </a:xfrm>
          <a:prstGeom prst="rect">
            <a:avLst/>
          </a:prstGeom>
          <a:solidFill>
            <a:srgbClr val="FFFF00"/>
          </a:solidFill>
          <a:ln w="6350" cap="flat" cmpd="sng" algn="ctr">
            <a:solidFill>
              <a:srgbClr val="7F7F7F"/>
            </a:solidFill>
            <a:prstDash val="solid"/>
            <a:miter lim="800000"/>
          </a:ln>
          <a:effectLst/>
        </p:spPr>
        <p:txBody>
          <a:bodyPr rot="0" spcFirstLastPara="0" vertOverflow="overflow" horzOverflow="overflow" vert="horz" wrap="non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ja-JP" altLang="en-US" sz="1200" b="1" kern="0">
                <a:solidFill>
                  <a:prstClr val="black"/>
                </a:solidFill>
                <a:latin typeface="Meiryo UI" panose="020B0604030504040204" pitchFamily="50" charset="-128"/>
                <a:ea typeface="Meiryo UI" panose="020B0604030504040204" pitchFamily="50" charset="-128"/>
              </a:rPr>
              <a:t>改革開始時点</a:t>
            </a:r>
          </a:p>
        </p:txBody>
      </p:sp>
      <p:grpSp>
        <p:nvGrpSpPr>
          <p:cNvPr id="101" name="グループ化 100">
            <a:extLst>
              <a:ext uri="{FF2B5EF4-FFF2-40B4-BE49-F238E27FC236}">
                <a16:creationId xmlns:a16="http://schemas.microsoft.com/office/drawing/2014/main" id="{A34F10DE-7D95-02E6-27AA-628ABB21F8E2}"/>
              </a:ext>
            </a:extLst>
          </p:cNvPr>
          <p:cNvGrpSpPr/>
          <p:nvPr/>
        </p:nvGrpSpPr>
        <p:grpSpPr>
          <a:xfrm>
            <a:off x="7307554" y="2192473"/>
            <a:ext cx="2158387" cy="540000"/>
            <a:chOff x="7042078" y="2268072"/>
            <a:chExt cx="2069895" cy="540000"/>
          </a:xfrm>
        </p:grpSpPr>
        <p:sp>
          <p:nvSpPr>
            <p:cNvPr id="102" name="正方形/長方形 101">
              <a:extLst>
                <a:ext uri="{FF2B5EF4-FFF2-40B4-BE49-F238E27FC236}">
                  <a16:creationId xmlns:a16="http://schemas.microsoft.com/office/drawing/2014/main" id="{CF8851C5-BC53-5FB6-D512-83B4C7B193C9}"/>
                </a:ext>
              </a:extLst>
            </p:cNvPr>
            <p:cNvSpPr/>
            <p:nvPr/>
          </p:nvSpPr>
          <p:spPr>
            <a:xfrm>
              <a:off x="7042078" y="2268072"/>
              <a:ext cx="2069895" cy="540000"/>
            </a:xfrm>
            <a:prstGeom prst="rect">
              <a:avLst/>
            </a:prstGeom>
            <a:solidFill>
              <a:schemeClr val="accent1">
                <a:lumMod val="60000"/>
                <a:lumOff val="40000"/>
              </a:schemeClr>
            </a:solidFill>
            <a:ln w="6350" cap="flat" cmpd="sng" algn="ctr">
              <a:solidFill>
                <a:schemeClr val="accent6"/>
              </a:solidFill>
              <a:prstDash val="solid"/>
              <a:miter lim="800000"/>
            </a:ln>
            <a:effectLst/>
          </p:spPr>
          <p:txBody>
            <a:bodyPr rot="0" spcFirstLastPara="0" vertOverflow="overflow" horzOverflow="overflow" vert="horz" wrap="square" lIns="72000" tIns="72000" rIns="72000" bIns="36000" numCol="1" spcCol="0" rtlCol="0" fromWordArt="0" anchor="b" anchorCtr="1" forceAA="0" compatLnSpc="1">
              <a:prstTxWarp prst="textNoShape">
                <a:avLst/>
              </a:prstTxWarp>
              <a:noAutofit/>
            </a:bodyPr>
            <a:lstStyle/>
            <a:p>
              <a:pPr fontAlgn="auto">
                <a:spcBef>
                  <a:spcPts val="600"/>
                </a:spcBef>
                <a:spcAft>
                  <a:spcPts val="0"/>
                </a:spcAft>
                <a:buClr>
                  <a:prstClr val="black"/>
                </a:buClr>
                <a:tabLst>
                  <a:tab pos="180975" algn="l"/>
                </a:tabLst>
              </a:pPr>
              <a:r>
                <a:rPr kumimoji="1" lang="ja-JP" altLang="en-US" sz="1200" b="1" kern="0">
                  <a:solidFill>
                    <a:schemeClr val="bg1"/>
                  </a:solidFill>
                  <a:latin typeface="Meiryo UI" panose="020B0604030504040204" pitchFamily="50" charset="-128"/>
                  <a:ea typeface="Meiryo UI" panose="020B0604030504040204" pitchFamily="50" charset="-128"/>
                </a:rPr>
                <a:t>自律的な目標設定・改善</a:t>
              </a:r>
              <a:endParaRPr kumimoji="1" lang="en-US" altLang="ja-JP" sz="1200" b="1" kern="0">
                <a:solidFill>
                  <a:schemeClr val="bg1"/>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8B9C70DE-F1B9-0746-9736-127BFA7554FA}"/>
                </a:ext>
              </a:extLst>
            </p:cNvPr>
            <p:cNvSpPr/>
            <p:nvPr/>
          </p:nvSpPr>
          <p:spPr>
            <a:xfrm>
              <a:off x="7042078" y="2268072"/>
              <a:ext cx="807233" cy="251388"/>
            </a:xfrm>
            <a:prstGeom prst="rect">
              <a:avLst/>
            </a:prstGeom>
            <a:solidFill>
              <a:schemeClr val="bg1"/>
            </a:solidFill>
            <a:ln w="6350" cap="flat" cmpd="sng" algn="ctr">
              <a:solidFill>
                <a:srgbClr val="7F7F7F"/>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a:solidFill>
                    <a:schemeClr val="accent1">
                      <a:lumMod val="60000"/>
                      <a:lumOff val="40000"/>
                    </a:schemeClr>
                  </a:solidFill>
                  <a:latin typeface="Meiryo UI" panose="020B0604030504040204" pitchFamily="50" charset="-128"/>
                  <a:ea typeface="Meiryo UI" panose="020B0604030504040204" pitchFamily="50" charset="-128"/>
                </a:rPr>
                <a:t>Phase3</a:t>
              </a:r>
              <a:endParaRPr kumimoji="1" lang="ja-JP" altLang="en-US" sz="1200" b="1" kern="0">
                <a:solidFill>
                  <a:schemeClr val="accent1">
                    <a:lumMod val="60000"/>
                    <a:lumOff val="40000"/>
                  </a:schemeClr>
                </a:solidFill>
                <a:latin typeface="Meiryo UI" panose="020B0604030504040204" pitchFamily="50" charset="-128"/>
                <a:ea typeface="Meiryo UI" panose="020B0604030504040204" pitchFamily="50" charset="-128"/>
              </a:endParaRPr>
            </a:p>
          </p:txBody>
        </p:sp>
      </p:grpSp>
      <p:grpSp>
        <p:nvGrpSpPr>
          <p:cNvPr id="104" name="グループ化 103">
            <a:extLst>
              <a:ext uri="{FF2B5EF4-FFF2-40B4-BE49-F238E27FC236}">
                <a16:creationId xmlns:a16="http://schemas.microsoft.com/office/drawing/2014/main" id="{8D822BBF-904A-A374-30F9-6FBEF9328526}"/>
              </a:ext>
            </a:extLst>
          </p:cNvPr>
          <p:cNvGrpSpPr/>
          <p:nvPr/>
        </p:nvGrpSpPr>
        <p:grpSpPr>
          <a:xfrm>
            <a:off x="2993297" y="2696877"/>
            <a:ext cx="2158387" cy="540000"/>
            <a:chOff x="2904703" y="2856296"/>
            <a:chExt cx="2069895" cy="540000"/>
          </a:xfrm>
        </p:grpSpPr>
        <p:sp>
          <p:nvSpPr>
            <p:cNvPr id="105" name="正方形/長方形 104">
              <a:extLst>
                <a:ext uri="{FF2B5EF4-FFF2-40B4-BE49-F238E27FC236}">
                  <a16:creationId xmlns:a16="http://schemas.microsoft.com/office/drawing/2014/main" id="{FEBBC51B-2E04-2171-09F1-8BF94F5CB6E0}"/>
                </a:ext>
              </a:extLst>
            </p:cNvPr>
            <p:cNvSpPr/>
            <p:nvPr/>
          </p:nvSpPr>
          <p:spPr>
            <a:xfrm>
              <a:off x="2904703" y="2856296"/>
              <a:ext cx="2069895" cy="540000"/>
            </a:xfrm>
            <a:prstGeom prst="rect">
              <a:avLst/>
            </a:prstGeom>
            <a:solidFill>
              <a:schemeClr val="accent1">
                <a:lumMod val="20000"/>
                <a:lumOff val="80000"/>
              </a:schemeClr>
            </a:solidFill>
            <a:ln w="6350" cap="flat" cmpd="sng" algn="ctr">
              <a:solidFill>
                <a:schemeClr val="accent6"/>
              </a:solidFill>
              <a:prstDash val="solid"/>
              <a:miter lim="800000"/>
            </a:ln>
            <a:effectLst/>
          </p:spPr>
          <p:txBody>
            <a:bodyPr rot="0" spcFirstLastPara="0" vertOverflow="overflow" horzOverflow="overflow" vert="horz" wrap="square" lIns="72000" tIns="72000" rIns="72000" bIns="36000" numCol="1" spcCol="0" rtlCol="0" fromWordArt="0" anchor="b" anchorCtr="1" forceAA="0" compatLnSpc="1">
              <a:prstTxWarp prst="textNoShape">
                <a:avLst/>
              </a:prstTxWarp>
              <a:noAutofit/>
            </a:bodyPr>
            <a:lstStyle/>
            <a:p>
              <a:pPr fontAlgn="auto">
                <a:spcBef>
                  <a:spcPts val="600"/>
                </a:spcBef>
                <a:spcAft>
                  <a:spcPts val="0"/>
                </a:spcAft>
                <a:buClr>
                  <a:prstClr val="black"/>
                </a:buClr>
                <a:tabLst>
                  <a:tab pos="180975" algn="l"/>
                </a:tabLst>
              </a:pPr>
              <a:r>
                <a:rPr lang="ja-JP" altLang="en-US" sz="1200" b="1" kern="0">
                  <a:latin typeface="Meiryo UI" panose="020B0604030504040204" pitchFamily="50" charset="-128"/>
                  <a:ea typeface="Meiryo UI" panose="020B0604030504040204" pitchFamily="50" charset="-128"/>
                </a:rPr>
                <a:t>余力創出・人材スキルアップ</a:t>
              </a:r>
              <a:endParaRPr kumimoji="1" lang="ja-JP" altLang="en-US" sz="1200" b="1" kern="0">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0F539F1E-7754-EA02-7DDF-5EDDFFE9D028}"/>
                </a:ext>
              </a:extLst>
            </p:cNvPr>
            <p:cNvSpPr/>
            <p:nvPr/>
          </p:nvSpPr>
          <p:spPr>
            <a:xfrm>
              <a:off x="2904703" y="2856296"/>
              <a:ext cx="807233" cy="251388"/>
            </a:xfrm>
            <a:prstGeom prst="rect">
              <a:avLst/>
            </a:prstGeom>
            <a:solidFill>
              <a:schemeClr val="bg1"/>
            </a:solidFill>
            <a:ln w="6350" cap="flat" cmpd="sng" algn="ctr">
              <a:solidFill>
                <a:srgbClr val="7F7F7F"/>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a:solidFill>
                    <a:schemeClr val="accent1">
                      <a:lumMod val="40000"/>
                      <a:lumOff val="60000"/>
                    </a:schemeClr>
                  </a:solidFill>
                  <a:latin typeface="Meiryo UI" panose="020B0604030504040204" pitchFamily="50" charset="-128"/>
                  <a:ea typeface="Meiryo UI" panose="020B0604030504040204" pitchFamily="50" charset="-128"/>
                </a:rPr>
                <a:t>Phase</a:t>
              </a:r>
              <a:r>
                <a:rPr kumimoji="1" lang="ja-JP" altLang="en-US" sz="1200" b="1" kern="0">
                  <a:solidFill>
                    <a:schemeClr val="accent1">
                      <a:lumMod val="40000"/>
                      <a:lumOff val="60000"/>
                    </a:schemeClr>
                  </a:solidFill>
                  <a:latin typeface="Meiryo UI" panose="020B0604030504040204" pitchFamily="50" charset="-128"/>
                  <a:ea typeface="Meiryo UI" panose="020B0604030504040204" pitchFamily="50" charset="-128"/>
                </a:rPr>
                <a:t> </a:t>
              </a:r>
              <a:r>
                <a:rPr kumimoji="1" lang="en-US" altLang="ja-JP" sz="1200" b="1" kern="0">
                  <a:solidFill>
                    <a:schemeClr val="accent1">
                      <a:lumMod val="40000"/>
                      <a:lumOff val="60000"/>
                    </a:schemeClr>
                  </a:solidFill>
                  <a:latin typeface="Meiryo UI" panose="020B0604030504040204" pitchFamily="50" charset="-128"/>
                  <a:ea typeface="Meiryo UI" panose="020B0604030504040204" pitchFamily="50" charset="-128"/>
                </a:rPr>
                <a:t>1</a:t>
              </a:r>
              <a:endParaRPr kumimoji="1" lang="ja-JP" altLang="en-US" sz="1200" b="1" kern="0">
                <a:solidFill>
                  <a:schemeClr val="accent1">
                    <a:lumMod val="40000"/>
                    <a:lumOff val="60000"/>
                  </a:schemeClr>
                </a:solidFill>
                <a:latin typeface="Meiryo UI" panose="020B0604030504040204" pitchFamily="50" charset="-128"/>
                <a:ea typeface="Meiryo UI" panose="020B0604030504040204" pitchFamily="50" charset="-128"/>
              </a:endParaRPr>
            </a:p>
          </p:txBody>
        </p:sp>
      </p:grpSp>
      <p:grpSp>
        <p:nvGrpSpPr>
          <p:cNvPr id="107" name="グループ化 106">
            <a:extLst>
              <a:ext uri="{FF2B5EF4-FFF2-40B4-BE49-F238E27FC236}">
                <a16:creationId xmlns:a16="http://schemas.microsoft.com/office/drawing/2014/main" id="{65DA7BF4-7489-C61C-9D70-45CCF92698FD}"/>
              </a:ext>
            </a:extLst>
          </p:cNvPr>
          <p:cNvGrpSpPr/>
          <p:nvPr/>
        </p:nvGrpSpPr>
        <p:grpSpPr>
          <a:xfrm>
            <a:off x="5149166" y="2442135"/>
            <a:ext cx="2158387" cy="540000"/>
            <a:chOff x="4972183" y="2562184"/>
            <a:chExt cx="2069895" cy="540000"/>
          </a:xfrm>
        </p:grpSpPr>
        <p:sp>
          <p:nvSpPr>
            <p:cNvPr id="108" name="正方形/長方形 107">
              <a:extLst>
                <a:ext uri="{FF2B5EF4-FFF2-40B4-BE49-F238E27FC236}">
                  <a16:creationId xmlns:a16="http://schemas.microsoft.com/office/drawing/2014/main" id="{DEBCF22A-4FEB-B73D-76C6-955E3E0A59CC}"/>
                </a:ext>
              </a:extLst>
            </p:cNvPr>
            <p:cNvSpPr/>
            <p:nvPr/>
          </p:nvSpPr>
          <p:spPr>
            <a:xfrm>
              <a:off x="4972183" y="2562184"/>
              <a:ext cx="2069895" cy="540000"/>
            </a:xfrm>
            <a:prstGeom prst="rect">
              <a:avLst/>
            </a:prstGeom>
            <a:solidFill>
              <a:schemeClr val="accent1">
                <a:lumMod val="40000"/>
                <a:lumOff val="60000"/>
              </a:schemeClr>
            </a:solidFill>
            <a:ln w="6350" cap="flat" cmpd="sng" algn="ctr">
              <a:solidFill>
                <a:schemeClr val="accent6"/>
              </a:solidFill>
              <a:prstDash val="solid"/>
              <a:miter lim="800000"/>
            </a:ln>
            <a:effectLst/>
          </p:spPr>
          <p:txBody>
            <a:bodyPr rot="0" spcFirstLastPara="0" vertOverflow="overflow" horzOverflow="overflow" vert="horz" wrap="square" lIns="72000" tIns="72000" rIns="72000" bIns="36000" numCol="1" spcCol="0" rtlCol="0" fromWordArt="0" anchor="b" anchorCtr="1" forceAA="0" compatLnSpc="1">
              <a:prstTxWarp prst="textNoShape">
                <a:avLst/>
              </a:prstTxWarp>
              <a:noAutofit/>
            </a:bodyPr>
            <a:lstStyle/>
            <a:p>
              <a:pPr fontAlgn="auto">
                <a:spcBef>
                  <a:spcPts val="600"/>
                </a:spcBef>
                <a:spcAft>
                  <a:spcPts val="0"/>
                </a:spcAft>
                <a:buClr>
                  <a:prstClr val="black"/>
                </a:buClr>
                <a:tabLst>
                  <a:tab pos="180975" algn="l"/>
                </a:tabLst>
              </a:pPr>
              <a:r>
                <a:rPr kumimoji="1" lang="ja-JP" altLang="en-US" sz="1200" b="1" kern="0">
                  <a:solidFill>
                    <a:schemeClr val="bg1"/>
                  </a:solidFill>
                  <a:latin typeface="Meiryo UI" panose="020B0604030504040204" pitchFamily="50" charset="-128"/>
                  <a:ea typeface="Meiryo UI" panose="020B0604030504040204" pitchFamily="50" charset="-128"/>
                </a:rPr>
                <a:t>目標達成を目指した業務改善</a:t>
              </a:r>
            </a:p>
          </p:txBody>
        </p:sp>
        <p:sp>
          <p:nvSpPr>
            <p:cNvPr id="109" name="正方形/長方形 108">
              <a:extLst>
                <a:ext uri="{FF2B5EF4-FFF2-40B4-BE49-F238E27FC236}">
                  <a16:creationId xmlns:a16="http://schemas.microsoft.com/office/drawing/2014/main" id="{1BA8748A-8876-5100-D4EC-BB3D4362E423}"/>
                </a:ext>
              </a:extLst>
            </p:cNvPr>
            <p:cNvSpPr/>
            <p:nvPr/>
          </p:nvSpPr>
          <p:spPr>
            <a:xfrm>
              <a:off x="4972183" y="2562184"/>
              <a:ext cx="807233" cy="251388"/>
            </a:xfrm>
            <a:prstGeom prst="rect">
              <a:avLst/>
            </a:prstGeom>
            <a:solidFill>
              <a:schemeClr val="bg1"/>
            </a:solidFill>
            <a:ln w="6350" cap="flat" cmpd="sng" algn="ctr">
              <a:solidFill>
                <a:srgbClr val="7F7F7F"/>
              </a:solidFill>
              <a:prstDash val="solid"/>
              <a:miter lim="800000"/>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fontAlgn="auto">
                <a:spcBef>
                  <a:spcPts val="600"/>
                </a:spcBef>
                <a:spcAft>
                  <a:spcPts val="0"/>
                </a:spcAft>
                <a:buClr>
                  <a:prstClr val="black"/>
                </a:buClr>
                <a:tabLst>
                  <a:tab pos="180975" algn="l"/>
                </a:tabLst>
              </a:pPr>
              <a:r>
                <a:rPr kumimoji="1" lang="en-US" altLang="ja-JP" sz="1200" b="1" kern="0">
                  <a:solidFill>
                    <a:schemeClr val="accent1">
                      <a:lumMod val="40000"/>
                      <a:lumOff val="60000"/>
                    </a:schemeClr>
                  </a:solidFill>
                  <a:latin typeface="Meiryo UI" panose="020B0604030504040204" pitchFamily="50" charset="-128"/>
                  <a:ea typeface="Meiryo UI" panose="020B0604030504040204" pitchFamily="50" charset="-128"/>
                </a:rPr>
                <a:t>Phase</a:t>
              </a:r>
              <a:r>
                <a:rPr kumimoji="1" lang="ja-JP" altLang="en-US" sz="1200" b="1" kern="0">
                  <a:solidFill>
                    <a:schemeClr val="accent1">
                      <a:lumMod val="40000"/>
                      <a:lumOff val="60000"/>
                    </a:schemeClr>
                  </a:solidFill>
                  <a:latin typeface="Meiryo UI" panose="020B0604030504040204" pitchFamily="50" charset="-128"/>
                  <a:ea typeface="Meiryo UI" panose="020B0604030504040204" pitchFamily="50" charset="-128"/>
                </a:rPr>
                <a:t> </a:t>
              </a:r>
              <a:r>
                <a:rPr lang="en-US" altLang="ja-JP" sz="1200" b="1" kern="0">
                  <a:solidFill>
                    <a:schemeClr val="accent1">
                      <a:lumMod val="40000"/>
                      <a:lumOff val="60000"/>
                    </a:schemeClr>
                  </a:solidFill>
                  <a:latin typeface="Meiryo UI" panose="020B0604030504040204" pitchFamily="50" charset="-128"/>
                  <a:ea typeface="Meiryo UI" panose="020B0604030504040204" pitchFamily="50" charset="-128"/>
                </a:rPr>
                <a:t>2</a:t>
              </a:r>
              <a:endParaRPr kumimoji="1" lang="ja-JP" altLang="en-US" sz="1200" b="1" kern="0">
                <a:solidFill>
                  <a:schemeClr val="accent1">
                    <a:lumMod val="40000"/>
                    <a:lumOff val="60000"/>
                  </a:schemeClr>
                </a:solidFill>
                <a:latin typeface="Meiryo UI" panose="020B0604030504040204" pitchFamily="50" charset="-128"/>
                <a:ea typeface="Meiryo UI" panose="020B0604030504040204" pitchFamily="50" charset="-128"/>
              </a:endParaRPr>
            </a:p>
          </p:txBody>
        </p:sp>
      </p:grpSp>
      <p:sp>
        <p:nvSpPr>
          <p:cNvPr id="110" name="正方形/長方形 109">
            <a:extLst>
              <a:ext uri="{FF2B5EF4-FFF2-40B4-BE49-F238E27FC236}">
                <a16:creationId xmlns:a16="http://schemas.microsoft.com/office/drawing/2014/main" id="{8664FDF4-4616-B0FB-5798-6241F4CE35F0}"/>
              </a:ext>
            </a:extLst>
          </p:cNvPr>
          <p:cNvSpPr/>
          <p:nvPr/>
        </p:nvSpPr>
        <p:spPr>
          <a:xfrm>
            <a:off x="832392" y="5549423"/>
            <a:ext cx="2157536" cy="729334"/>
          </a:xfrm>
          <a:prstGeom prst="rect">
            <a:avLst/>
          </a:prstGeom>
          <a:noFill/>
          <a:ln w="6350" cap="flat" cmpd="sng" algn="ctr">
            <a:solidFill>
              <a:schemeClr val="accent6"/>
            </a:solidFill>
            <a:prstDash val="solid"/>
            <a:miter lim="800000"/>
          </a:ln>
          <a:effectLst/>
        </p:spPr>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fontAlgn="auto">
              <a:spcBef>
                <a:spcPts val="600"/>
              </a:spcBef>
              <a:spcAft>
                <a:spcPts val="0"/>
              </a:spcAft>
              <a:buClr>
                <a:prstClr val="black"/>
              </a:buClr>
              <a:tabLst>
                <a:tab pos="180975" algn="l"/>
              </a:tabLst>
            </a:pPr>
            <a:endParaRPr kumimoji="1" lang="en-US" altLang="ja-JP" sz="1200" kern="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920223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325A0-E2DB-3BC1-C779-29B6BDFB86C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DC117D-B082-1785-B7DD-B26224E7D423}"/>
              </a:ext>
            </a:extLst>
          </p:cNvPr>
          <p:cNvSpPr>
            <a:spLocks noGrp="1"/>
          </p:cNvSpPr>
          <p:nvPr>
            <p:ph type="title"/>
          </p:nvPr>
        </p:nvSpPr>
        <p:spPr/>
        <p:txBody>
          <a:bodyPr/>
          <a:lstStyle/>
          <a:p>
            <a:r>
              <a:rPr lang="en-US" altLang="ja-JP" dirty="0"/>
              <a:t>4</a:t>
            </a:r>
            <a:r>
              <a:rPr kumimoji="1" lang="en-US" altLang="ja-JP" dirty="0"/>
              <a:t>. </a:t>
            </a:r>
            <a:r>
              <a:rPr kumimoji="1" lang="en-US" altLang="ja-JP" dirty="0" err="1"/>
              <a:t>NotebookLM</a:t>
            </a:r>
            <a:r>
              <a:rPr kumimoji="1" lang="ja-JP" altLang="en-US" dirty="0"/>
              <a:t>を活用した業務可視化の効率化①～目的</a:t>
            </a:r>
          </a:p>
        </p:txBody>
      </p:sp>
      <p:sp>
        <p:nvSpPr>
          <p:cNvPr id="3" name="テキスト プレースホルダー 2">
            <a:extLst>
              <a:ext uri="{FF2B5EF4-FFF2-40B4-BE49-F238E27FC236}">
                <a16:creationId xmlns:a16="http://schemas.microsoft.com/office/drawing/2014/main" id="{EC3F62A8-776F-DF0F-9324-980B07128372}"/>
              </a:ext>
            </a:extLst>
          </p:cNvPr>
          <p:cNvSpPr>
            <a:spLocks noGrp="1"/>
          </p:cNvSpPr>
          <p:nvPr>
            <p:ph type="body" idx="12"/>
          </p:nvPr>
        </p:nvSpPr>
        <p:spPr/>
        <p:txBody>
          <a:bodyPr/>
          <a:lstStyle/>
          <a:p>
            <a:endParaRPr lang="en-US" altLang="ja-JP" sz="1400" dirty="0"/>
          </a:p>
          <a:p>
            <a:r>
              <a:rPr lang="en-US" altLang="ja-JP" sz="1400" dirty="0"/>
              <a:t>MTBJ</a:t>
            </a:r>
            <a:r>
              <a:rPr lang="ja-JP" altLang="en-US" sz="1400" dirty="0"/>
              <a:t>では、「マニュアルが最新化されていない、属人化が発生している等、業務の可視化が必要な状況」という課題認識より（</a:t>
            </a:r>
            <a:r>
              <a:rPr lang="en-US" altLang="ja-JP" sz="1400" dirty="0"/>
              <a:t>※</a:t>
            </a:r>
            <a:r>
              <a:rPr lang="ja-JP" altLang="en-US" sz="1400" dirty="0"/>
              <a:t>提案書より抜粋）、現在、業務可視化の活動が行われている。</a:t>
            </a:r>
            <a:endParaRPr lang="en-US" altLang="ja-JP" sz="1400" dirty="0"/>
          </a:p>
          <a:p>
            <a:pPr>
              <a:spcBef>
                <a:spcPts val="600"/>
              </a:spcBef>
            </a:pPr>
            <a:r>
              <a:rPr lang="ja-JP" altLang="en-US" sz="1400" b="1" dirty="0"/>
              <a:t>＜目的＞</a:t>
            </a:r>
            <a:endParaRPr lang="en-US" altLang="ja-JP" sz="1400" b="1" dirty="0"/>
          </a:p>
          <a:p>
            <a:r>
              <a:rPr lang="en-US" altLang="ja-JP" sz="1400" dirty="0"/>
              <a:t>Google</a:t>
            </a:r>
            <a:r>
              <a:rPr lang="ja-JP" altLang="en-US" sz="1400" dirty="0"/>
              <a:t>の</a:t>
            </a:r>
            <a:r>
              <a:rPr lang="en-US" altLang="ja-JP" sz="1400" dirty="0"/>
              <a:t>AI</a:t>
            </a:r>
            <a:r>
              <a:rPr lang="ja-JP" altLang="en-US" sz="1400" dirty="0"/>
              <a:t>ソリューションである</a:t>
            </a:r>
            <a:r>
              <a:rPr lang="en-US" altLang="ja-JP" sz="1400" b="1" u="sng" dirty="0" err="1"/>
              <a:t>NotebookLM</a:t>
            </a:r>
            <a:r>
              <a:rPr lang="ja-JP" altLang="en-US" sz="1400" b="1" u="sng" dirty="0"/>
              <a:t>を活用した業務可視化の効率化</a:t>
            </a:r>
            <a:r>
              <a:rPr lang="ja-JP" altLang="en-US" sz="1400" dirty="0"/>
              <a:t>を技術検証し、上述の業務可視化活動の結果と照らし合わせて、その有用性を評価することを目的とする。</a:t>
            </a:r>
            <a:endParaRPr lang="en-US" altLang="ja-JP" sz="1400" dirty="0"/>
          </a:p>
          <a:p>
            <a:pPr>
              <a:spcBef>
                <a:spcPts val="600"/>
              </a:spcBef>
            </a:pPr>
            <a:r>
              <a:rPr lang="ja-JP" altLang="en-US" sz="1400" dirty="0"/>
              <a:t>また、有用性を認められた場合、</a:t>
            </a:r>
            <a:r>
              <a:rPr lang="ja-JP" altLang="en-US" sz="1400" b="1" u="sng" dirty="0"/>
              <a:t>当ソリューションを他の業務可視化に展開するための定型化</a:t>
            </a:r>
            <a:r>
              <a:rPr lang="ja-JP" altLang="en-US" sz="1400" dirty="0"/>
              <a:t>も目的とする。</a:t>
            </a:r>
            <a:endParaRPr lang="en-US" altLang="ja-JP" sz="1400" dirty="0"/>
          </a:p>
          <a:p>
            <a:pPr>
              <a:spcBef>
                <a:spcPts val="600"/>
              </a:spcBef>
            </a:pPr>
            <a:r>
              <a:rPr lang="ja-JP" altLang="en-US" sz="1400" dirty="0"/>
              <a:t>尚、本</a:t>
            </a:r>
            <a:r>
              <a:rPr lang="en-US" altLang="ja-JP" sz="1400" dirty="0"/>
              <a:t>PoC</a:t>
            </a:r>
            <a:r>
              <a:rPr lang="ja-JP" altLang="en-US" sz="1400" dirty="0"/>
              <a:t>は上述の業務可視化プロジェクトから切り離した、</a:t>
            </a:r>
            <a:r>
              <a:rPr lang="en-US" altLang="ja-JP" sz="1400" u="sng" dirty="0"/>
              <a:t>ACN</a:t>
            </a:r>
            <a:r>
              <a:rPr lang="ja-JP" altLang="en-US" sz="1400" u="sng" dirty="0"/>
              <a:t>内に閉じた技術検証の位置づけ</a:t>
            </a:r>
            <a:r>
              <a:rPr lang="ja-JP" altLang="en-US" sz="1400" dirty="0"/>
              <a:t>の活動である。</a:t>
            </a:r>
            <a:endParaRPr lang="en-US" altLang="ja-JP" sz="1400" dirty="0"/>
          </a:p>
          <a:p>
            <a:endParaRPr kumimoji="1" lang="ja-JP" altLang="en-US" sz="1400" dirty="0"/>
          </a:p>
        </p:txBody>
      </p:sp>
      <p:sp>
        <p:nvSpPr>
          <p:cNvPr id="4" name="テキスト プレースホルダー 3">
            <a:extLst>
              <a:ext uri="{FF2B5EF4-FFF2-40B4-BE49-F238E27FC236}">
                <a16:creationId xmlns:a16="http://schemas.microsoft.com/office/drawing/2014/main" id="{DFAE8A41-A0FF-0C11-9E56-46B492041D3C}"/>
              </a:ext>
            </a:extLst>
          </p:cNvPr>
          <p:cNvSpPr>
            <a:spLocks noGrp="1"/>
          </p:cNvSpPr>
          <p:nvPr>
            <p:ph type="body" sz="quarter" idx="13"/>
          </p:nvPr>
        </p:nvSpPr>
        <p:spPr/>
        <p:txBody>
          <a:bodyPr/>
          <a:lstStyle/>
          <a:p>
            <a:r>
              <a:rPr lang="en-US" altLang="ja-JP" dirty="0"/>
              <a:t>3. </a:t>
            </a:r>
            <a:r>
              <a:rPr lang="ja-JP" altLang="en-US" dirty="0"/>
              <a:t>プロジェクト② 業務改善支援</a:t>
            </a:r>
            <a:endParaRPr kumimoji="1" lang="ja-JP" altLang="en-US" dirty="0"/>
          </a:p>
        </p:txBody>
      </p:sp>
      <p:sp>
        <p:nvSpPr>
          <p:cNvPr id="5" name="テキスト プレースホルダー 2">
            <a:extLst>
              <a:ext uri="{FF2B5EF4-FFF2-40B4-BE49-F238E27FC236}">
                <a16:creationId xmlns:a16="http://schemas.microsoft.com/office/drawing/2014/main" id="{F5286730-2E28-AA26-55DC-7D5C668C1C41}"/>
              </a:ext>
            </a:extLst>
          </p:cNvPr>
          <p:cNvSpPr txBox="1">
            <a:spLocks/>
          </p:cNvSpPr>
          <p:nvPr/>
        </p:nvSpPr>
        <p:spPr bwMode="gray">
          <a:xfrm>
            <a:off x="539778" y="3227331"/>
            <a:ext cx="8928000" cy="307075"/>
          </a:xfrm>
          <a:prstGeom prst="rect">
            <a:avLst/>
          </a:prstGeom>
          <a:noFill/>
          <a:ln w="12700" algn="ctr">
            <a:noFill/>
            <a:miter lim="800000"/>
            <a:headEnd/>
            <a:tailEnd/>
          </a:ln>
        </p:spPr>
        <p:txBody>
          <a:bodyPr vert="horz" wrap="square" lIns="0" tIns="0" rIns="0" bIns="0" numCol="1" rtlCol="0" anchor="t" anchorCtr="0" compatLnSpc="1">
            <a:prstTxWarp prst="textNoShape">
              <a:avLst/>
            </a:prstTxWarp>
            <a:noAutofit/>
          </a:bodyPr>
          <a:lstStyle>
            <a:lvl1pPr marL="0" marR="0" indent="0" algn="l" defTabSz="990546" rtl="0" eaLnBrk="1" fontAlgn="base" latinLnBrk="0" hangingPunct="1">
              <a:lnSpc>
                <a:spcPct val="100000"/>
              </a:lnSpc>
              <a:spcBef>
                <a:spcPts val="0"/>
              </a:spcBef>
              <a:spcAft>
                <a:spcPts val="0"/>
              </a:spcAft>
              <a:buClrTx/>
              <a:buSzTx/>
              <a:buFont typeface="Times" pitchFamily="18" charset="0"/>
              <a:tabLst/>
              <a:defRPr kumimoji="1" lang="ja-JP" altLang="en-US" sz="1600" dirty="0" smtClean="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defRPr>
            </a:lvl1pPr>
            <a:lvl2pPr marL="644525" indent="-285750" algn="l" rtl="0" eaLnBrk="1" fontAlgn="base" hangingPunct="1">
              <a:spcBef>
                <a:spcPct val="20000"/>
              </a:spcBef>
              <a:spcAft>
                <a:spcPct val="0"/>
              </a:spcAft>
              <a:buClr>
                <a:srgbClr val="666666"/>
              </a:buClr>
              <a:buSzPct val="90000"/>
              <a:buFont typeface="Wingdings" panose="05000000000000000000" pitchFamily="2" charset="2"/>
              <a:buChar char="p"/>
              <a:defRPr kumimoji="1" lang="ja-JP" altLang="en-US" sz="1477" dirty="0" smtClean="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2pPr>
            <a:lvl3pPr marL="1004888" indent="-285750" algn="l" rtl="0" eaLnBrk="1" fontAlgn="base" hangingPunct="1">
              <a:spcBef>
                <a:spcPct val="20000"/>
              </a:spcBef>
              <a:spcAft>
                <a:spcPct val="0"/>
              </a:spcAft>
              <a:buClr>
                <a:srgbClr val="666666"/>
              </a:buClr>
              <a:buSzPct val="90000"/>
              <a:buFont typeface="Arial" panose="020B0604020202020204" pitchFamily="34" charset="0"/>
              <a:buChar char="•"/>
              <a:defRPr kumimoji="1" lang="ja-JP" altLang="en-US" sz="1477" dirty="0" smtClean="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3pPr>
            <a:lvl4pPr marL="1363662" indent="-285750" algn="l" rtl="0" eaLnBrk="1" fontAlgn="base" hangingPunct="1">
              <a:spcBef>
                <a:spcPct val="20000"/>
              </a:spcBef>
              <a:spcAft>
                <a:spcPct val="0"/>
              </a:spcAft>
              <a:buClr>
                <a:srgbClr val="666666"/>
              </a:buClr>
              <a:buSzPct val="90000"/>
              <a:buFont typeface="Meiryo UI" panose="020B0604030504040204" pitchFamily="50" charset="-128"/>
              <a:buChar char="–"/>
              <a:defRPr kumimoji="1" lang="ja-JP" altLang="en-US" sz="1477" dirty="0" smtClean="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4pPr>
            <a:lvl5pPr marL="1436687" indent="0" algn="l" rtl="0" eaLnBrk="1" fontAlgn="base" hangingPunct="1">
              <a:spcBef>
                <a:spcPct val="20000"/>
              </a:spcBef>
              <a:spcAft>
                <a:spcPct val="0"/>
              </a:spcAft>
              <a:buClr>
                <a:srgbClr val="666666"/>
              </a:buClr>
              <a:buSzPct val="90000"/>
              <a:buFont typeface="Times" pitchFamily="18" charset="0"/>
              <a:buNone/>
              <a:defRPr kumimoji="1" lang="ja-JP" altLang="en-US" sz="1477" dirty="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5pPr>
            <a:lvl6pPr marL="1953396"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6pPr>
            <a:lvl7pPr marL="2375434"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7pPr>
            <a:lvl8pPr marL="2797474"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8pPr>
            <a:lvl9pPr marL="3219512"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9pPr>
          </a:lstStyle>
          <a:p>
            <a:r>
              <a:rPr lang="ja-JP" altLang="en-US" kern="0" dirty="0"/>
              <a:t>参考）</a:t>
            </a:r>
            <a:r>
              <a:rPr lang="en-US" altLang="ja-JP" kern="0" dirty="0"/>
              <a:t>NotebookLM</a:t>
            </a:r>
            <a:r>
              <a:rPr lang="ja-JP" altLang="en-US" kern="0" dirty="0"/>
              <a:t>について　</a:t>
            </a:r>
            <a:r>
              <a:rPr lang="en-US" altLang="ja-JP" sz="1000" kern="0" dirty="0"/>
              <a:t>※Ja Google </a:t>
            </a:r>
            <a:r>
              <a:rPr lang="en-US" altLang="ja-JP" sz="1000" kern="0" dirty="0" err="1"/>
              <a:t>Agentspace</a:t>
            </a:r>
            <a:r>
              <a:rPr lang="en-US" altLang="ja-JP" sz="1000" kern="0" dirty="0"/>
              <a:t> Pitch Deck.pdf</a:t>
            </a:r>
            <a:r>
              <a:rPr lang="ja-JP" altLang="en-US" sz="1000" kern="0" dirty="0"/>
              <a:t>より抜粋</a:t>
            </a:r>
            <a:endParaRPr lang="ja-JP" altLang="en-US" kern="0" dirty="0"/>
          </a:p>
        </p:txBody>
      </p:sp>
      <p:pic>
        <p:nvPicPr>
          <p:cNvPr id="6" name="図 5">
            <a:extLst>
              <a:ext uri="{FF2B5EF4-FFF2-40B4-BE49-F238E27FC236}">
                <a16:creationId xmlns:a16="http://schemas.microsoft.com/office/drawing/2014/main" id="{0717BC5A-CDF6-EFB0-6A55-59374D2A5068}"/>
              </a:ext>
            </a:extLst>
          </p:cNvPr>
          <p:cNvPicPr>
            <a:picLocks noChangeAspect="1"/>
          </p:cNvPicPr>
          <p:nvPr/>
        </p:nvPicPr>
        <p:blipFill>
          <a:blip r:embed="rId2"/>
          <a:stretch>
            <a:fillRect/>
          </a:stretch>
        </p:blipFill>
        <p:spPr>
          <a:xfrm>
            <a:off x="3287214" y="3505258"/>
            <a:ext cx="5847278" cy="3281206"/>
          </a:xfrm>
          <a:prstGeom prst="rect">
            <a:avLst/>
          </a:prstGeom>
          <a:ln>
            <a:solidFill>
              <a:schemeClr val="accent1"/>
            </a:solidFill>
          </a:ln>
        </p:spPr>
      </p:pic>
      <p:sp>
        <p:nvSpPr>
          <p:cNvPr id="7" name="吹き出し: 四角形 6">
            <a:extLst>
              <a:ext uri="{FF2B5EF4-FFF2-40B4-BE49-F238E27FC236}">
                <a16:creationId xmlns:a16="http://schemas.microsoft.com/office/drawing/2014/main" id="{3830CEC3-4049-2BBC-008C-4020121A9A25}"/>
              </a:ext>
            </a:extLst>
          </p:cNvPr>
          <p:cNvSpPr/>
          <p:nvPr/>
        </p:nvSpPr>
        <p:spPr bwMode="auto">
          <a:xfrm>
            <a:off x="539778" y="4511902"/>
            <a:ext cx="2493978" cy="1297066"/>
          </a:xfrm>
          <a:prstGeom prst="wedgeRectCallout">
            <a:avLst>
              <a:gd name="adj1" fmla="val 72802"/>
              <a:gd name="adj2" fmla="val -23367"/>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defTabSz="908410" fontAlgn="base">
              <a:spcAft>
                <a:spcPct val="0"/>
              </a:spcAft>
            </a:pPr>
            <a:r>
              <a:rPr kumimoji="1" lang="ja-JP" altLang="en-US" sz="1050" b="1" u="sng" dirty="0">
                <a:solidFill>
                  <a:prstClr val="black"/>
                </a:solidFill>
                <a:latin typeface="Meiryo UI" panose="020B0604030504040204" pitchFamily="50" charset="-128"/>
                <a:ea typeface="Meiryo UI" panose="020B0604030504040204" pitchFamily="50" charset="-128"/>
              </a:rPr>
              <a:t>特徴</a:t>
            </a:r>
            <a:endParaRPr kumimoji="1" lang="en-US" altLang="ja-JP" sz="1050" b="1" u="sng" dirty="0">
              <a:solidFill>
                <a:prstClr val="black"/>
              </a:solidFill>
              <a:latin typeface="Meiryo UI" panose="020B0604030504040204" pitchFamily="50" charset="-128"/>
              <a:ea typeface="Meiryo UI" panose="020B0604030504040204" pitchFamily="50" charset="-128"/>
            </a:endParaRPr>
          </a:p>
          <a:p>
            <a:pPr marL="171450" indent="-171450" defTabSz="908410" fontAlgn="base">
              <a:spcAft>
                <a:spcPct val="0"/>
              </a:spcAft>
              <a:buFont typeface="Arial" panose="020B0604020202020204" pitchFamily="34" charset="0"/>
              <a:buChar char="•"/>
            </a:pPr>
            <a:r>
              <a:rPr kumimoji="1" lang="ja-JP" altLang="en-US" sz="1050" dirty="0">
                <a:solidFill>
                  <a:prstClr val="black"/>
                </a:solidFill>
                <a:latin typeface="Meiryo UI" panose="020B0604030504040204" pitchFamily="50" charset="-128"/>
                <a:ea typeface="Meiryo UI" panose="020B0604030504040204" pitchFamily="50" charset="-128"/>
              </a:rPr>
              <a:t>指定した資料を「ソース」として読み込み、その範囲内で分析を行う</a:t>
            </a:r>
            <a:endParaRPr kumimoji="1" lang="en-US" altLang="ja-JP" sz="1050" dirty="0">
              <a:solidFill>
                <a:prstClr val="black"/>
              </a:solidFill>
              <a:latin typeface="Meiryo UI" panose="020B0604030504040204" pitchFamily="50" charset="-128"/>
              <a:ea typeface="Meiryo UI" panose="020B0604030504040204" pitchFamily="50" charset="-128"/>
            </a:endParaRPr>
          </a:p>
          <a:p>
            <a:pPr marL="171450" indent="-171450" defTabSz="908410" fontAlgn="base">
              <a:spcAft>
                <a:spcPct val="0"/>
              </a:spcAft>
              <a:buFont typeface="Arial" panose="020B0604020202020204" pitchFamily="34" charset="0"/>
              <a:buChar char="•"/>
            </a:pPr>
            <a:r>
              <a:rPr lang="ja-JP" altLang="en-US" sz="1050" dirty="0">
                <a:solidFill>
                  <a:prstClr val="black"/>
                </a:solidFill>
                <a:latin typeface="Meiryo UI" panose="020B0604030504040204" pitchFamily="50" charset="-128"/>
                <a:ea typeface="Meiryo UI" panose="020B0604030504040204" pitchFamily="50" charset="-128"/>
              </a:rPr>
              <a:t>分析結果に出典となる資料が明示され、トレーサビリティを担保</a:t>
            </a:r>
            <a:endParaRPr lang="en-US" altLang="ja-JP" sz="1050" dirty="0">
              <a:solidFill>
                <a:prstClr val="black"/>
              </a:solidFill>
              <a:latin typeface="Meiryo UI" panose="020B0604030504040204" pitchFamily="50" charset="-128"/>
              <a:ea typeface="Meiryo UI" panose="020B0604030504040204" pitchFamily="50" charset="-128"/>
            </a:endParaRPr>
          </a:p>
          <a:p>
            <a:pPr defTabSz="908410" fontAlgn="base">
              <a:spcAft>
                <a:spcPct val="0"/>
              </a:spcAft>
            </a:pPr>
            <a:endParaRPr kumimoji="1" lang="en-US" altLang="ja-JP" sz="1050" dirty="0">
              <a:solidFill>
                <a:prstClr val="black"/>
              </a:solidFill>
              <a:latin typeface="Meiryo UI" panose="020B0604030504040204" pitchFamily="50" charset="-128"/>
              <a:ea typeface="Meiryo UI" panose="020B0604030504040204" pitchFamily="50" charset="-128"/>
            </a:endParaRPr>
          </a:p>
          <a:p>
            <a:pPr defTabSz="908410" fontAlgn="base">
              <a:spcAft>
                <a:spcPct val="0"/>
              </a:spcAft>
            </a:pPr>
            <a:r>
              <a:rPr lang="ja-JP" altLang="en-US" sz="1050" dirty="0">
                <a:solidFill>
                  <a:prstClr val="black"/>
                </a:solidFill>
                <a:latin typeface="Meiryo UI" panose="020B0604030504040204" pitchFamily="50" charset="-128"/>
                <a:ea typeface="Meiryo UI" panose="020B0604030504040204" pitchFamily="50" charset="-128"/>
              </a:rPr>
              <a:t>⇒手元資料の再利用に適している</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467377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E0D06-3BC7-D18B-5680-110D43FB15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BCA348-0369-9302-1C9E-446EECB51F7E}"/>
              </a:ext>
            </a:extLst>
          </p:cNvPr>
          <p:cNvSpPr>
            <a:spLocks noGrp="1"/>
          </p:cNvSpPr>
          <p:nvPr>
            <p:ph type="title"/>
          </p:nvPr>
        </p:nvSpPr>
        <p:spPr/>
        <p:txBody>
          <a:bodyPr/>
          <a:lstStyle/>
          <a:p>
            <a:r>
              <a:rPr lang="en-US" altLang="ja-JP" dirty="0"/>
              <a:t>4</a:t>
            </a:r>
            <a:r>
              <a:rPr kumimoji="1" lang="en-US" altLang="ja-JP" dirty="0"/>
              <a:t>. </a:t>
            </a:r>
            <a:r>
              <a:rPr kumimoji="1" lang="en-US" altLang="ja-JP" dirty="0" err="1"/>
              <a:t>NotebookLM</a:t>
            </a:r>
            <a:r>
              <a:rPr kumimoji="1" lang="ja-JP" altLang="en-US" dirty="0"/>
              <a:t>を活用した業務可視化の効率化②～ユースケース・検証範囲</a:t>
            </a:r>
          </a:p>
        </p:txBody>
      </p:sp>
      <p:sp>
        <p:nvSpPr>
          <p:cNvPr id="3" name="テキスト プレースホルダー 2">
            <a:extLst>
              <a:ext uri="{FF2B5EF4-FFF2-40B4-BE49-F238E27FC236}">
                <a16:creationId xmlns:a16="http://schemas.microsoft.com/office/drawing/2014/main" id="{54D72EC2-8D54-14C1-2047-F7D30FDC272E}"/>
              </a:ext>
            </a:extLst>
          </p:cNvPr>
          <p:cNvSpPr>
            <a:spLocks noGrp="1"/>
          </p:cNvSpPr>
          <p:nvPr>
            <p:ph type="body" idx="12"/>
          </p:nvPr>
        </p:nvSpPr>
        <p:spPr/>
        <p:txBody>
          <a:bodyPr/>
          <a:lstStyle/>
          <a:p>
            <a:r>
              <a:rPr lang="en-US" altLang="ja-JP" dirty="0" err="1"/>
              <a:t>NotebookLM</a:t>
            </a:r>
            <a:r>
              <a:rPr lang="ja-JP" altLang="en-US" dirty="0"/>
              <a:t>を活用するユースケースを、以下の通り想定する。業務可視化を主目的とし、各ユースケースの実現可能性を本検証にて確認する。</a:t>
            </a:r>
            <a:endParaRPr lang="en-US" altLang="ja-JP" dirty="0"/>
          </a:p>
        </p:txBody>
      </p:sp>
      <p:sp>
        <p:nvSpPr>
          <p:cNvPr id="4" name="テキスト プレースホルダー 3">
            <a:extLst>
              <a:ext uri="{FF2B5EF4-FFF2-40B4-BE49-F238E27FC236}">
                <a16:creationId xmlns:a16="http://schemas.microsoft.com/office/drawing/2014/main" id="{01B423AC-1169-B62B-34DC-31A1D0DD4215}"/>
              </a:ext>
            </a:extLst>
          </p:cNvPr>
          <p:cNvSpPr>
            <a:spLocks noGrp="1"/>
          </p:cNvSpPr>
          <p:nvPr>
            <p:ph type="body" sz="quarter" idx="13"/>
          </p:nvPr>
        </p:nvSpPr>
        <p:spPr/>
        <p:txBody>
          <a:bodyPr/>
          <a:lstStyle/>
          <a:p>
            <a:r>
              <a:rPr lang="en-US" altLang="ja-JP" dirty="0"/>
              <a:t>3. </a:t>
            </a:r>
            <a:r>
              <a:rPr lang="ja-JP" altLang="en-US" dirty="0"/>
              <a:t>プロジェクト② 業務改善支援</a:t>
            </a:r>
            <a:endParaRPr kumimoji="1" lang="ja-JP" altLang="en-US" dirty="0"/>
          </a:p>
        </p:txBody>
      </p:sp>
      <p:grpSp>
        <p:nvGrpSpPr>
          <p:cNvPr id="8" name="グループ化 7">
            <a:extLst>
              <a:ext uri="{FF2B5EF4-FFF2-40B4-BE49-F238E27FC236}">
                <a16:creationId xmlns:a16="http://schemas.microsoft.com/office/drawing/2014/main" id="{AB614B28-9838-A359-2848-940A570A8B79}"/>
              </a:ext>
            </a:extLst>
          </p:cNvPr>
          <p:cNvGrpSpPr/>
          <p:nvPr/>
        </p:nvGrpSpPr>
        <p:grpSpPr>
          <a:xfrm>
            <a:off x="409386" y="2531670"/>
            <a:ext cx="1013724" cy="1240968"/>
            <a:chOff x="725269" y="2146786"/>
            <a:chExt cx="1013724" cy="1240968"/>
          </a:xfrm>
        </p:grpSpPr>
        <p:sp>
          <p:nvSpPr>
            <p:cNvPr id="9" name="フローチャート: 書類 8">
              <a:extLst>
                <a:ext uri="{FF2B5EF4-FFF2-40B4-BE49-F238E27FC236}">
                  <a16:creationId xmlns:a16="http://schemas.microsoft.com/office/drawing/2014/main" id="{5A649D55-221B-7E75-ABA9-6DD1EA6C55A7}"/>
                </a:ext>
              </a:extLst>
            </p:cNvPr>
            <p:cNvSpPr/>
            <p:nvPr/>
          </p:nvSpPr>
          <p:spPr bwMode="auto">
            <a:xfrm>
              <a:off x="794395" y="2398314"/>
              <a:ext cx="654496" cy="383722"/>
            </a:xfrm>
            <a:prstGeom prst="flowChartDocumen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マニュアル</a:t>
              </a:r>
            </a:p>
          </p:txBody>
        </p:sp>
        <p:sp>
          <p:nvSpPr>
            <p:cNvPr id="10" name="フローチャート: 書類 9">
              <a:extLst>
                <a:ext uri="{FF2B5EF4-FFF2-40B4-BE49-F238E27FC236}">
                  <a16:creationId xmlns:a16="http://schemas.microsoft.com/office/drawing/2014/main" id="{4CEB426E-D97C-8522-DB9B-2A1F137C49A3}"/>
                </a:ext>
              </a:extLst>
            </p:cNvPr>
            <p:cNvSpPr/>
            <p:nvPr/>
          </p:nvSpPr>
          <p:spPr bwMode="auto">
            <a:xfrm>
              <a:off x="900531" y="2661081"/>
              <a:ext cx="654496" cy="383722"/>
            </a:xfrm>
            <a:prstGeom prst="flowChartDocumen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手順書</a:t>
              </a:r>
            </a:p>
          </p:txBody>
        </p:sp>
        <p:sp>
          <p:nvSpPr>
            <p:cNvPr id="11" name="フローチャート: 書類 10">
              <a:extLst>
                <a:ext uri="{FF2B5EF4-FFF2-40B4-BE49-F238E27FC236}">
                  <a16:creationId xmlns:a16="http://schemas.microsoft.com/office/drawing/2014/main" id="{3AA7C3E1-C66D-BB5F-3A1D-E8D7B682B640}"/>
                </a:ext>
              </a:extLst>
            </p:cNvPr>
            <p:cNvSpPr/>
            <p:nvPr/>
          </p:nvSpPr>
          <p:spPr bwMode="auto">
            <a:xfrm>
              <a:off x="1006667" y="2938444"/>
              <a:ext cx="654496" cy="383722"/>
            </a:xfrm>
            <a:prstGeom prst="flowChartDocumen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チェック</a:t>
              </a:r>
              <a:endParaRPr kumimoji="1" lang="en-US" altLang="ja-JP" sz="105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リスト</a:t>
              </a:r>
            </a:p>
          </p:txBody>
        </p:sp>
        <p:sp>
          <p:nvSpPr>
            <p:cNvPr id="12" name="正方形/長方形 11">
              <a:extLst>
                <a:ext uri="{FF2B5EF4-FFF2-40B4-BE49-F238E27FC236}">
                  <a16:creationId xmlns:a16="http://schemas.microsoft.com/office/drawing/2014/main" id="{50564127-8AB2-CA93-2B15-F5474734D61E}"/>
                </a:ext>
              </a:extLst>
            </p:cNvPr>
            <p:cNvSpPr/>
            <p:nvPr/>
          </p:nvSpPr>
          <p:spPr bwMode="auto">
            <a:xfrm>
              <a:off x="725269" y="2146786"/>
              <a:ext cx="1013724" cy="1240968"/>
            </a:xfrm>
            <a:prstGeom prst="rect">
              <a:avLst/>
            </a:prstGeom>
            <a:noFill/>
            <a:ln w="6350" cap="flat" cmpd="sng" algn="ctr">
              <a:solidFill>
                <a:schemeClr val="tx1">
                  <a:lumMod val="50000"/>
                  <a:lumOff val="50000"/>
                </a:schemeClr>
              </a:solidFill>
              <a:prstDash val="dash"/>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defTabSz="908410" fontAlgn="base">
                <a:spcAft>
                  <a:spcPct val="0"/>
                </a:spcAft>
              </a:pPr>
              <a:r>
                <a:rPr kumimoji="1" lang="ja-JP" altLang="en-US" sz="1050" b="1" dirty="0">
                  <a:solidFill>
                    <a:prstClr val="black"/>
                  </a:solidFill>
                  <a:latin typeface="Meiryo UI" panose="020B0604030504040204" pitchFamily="50" charset="-128"/>
                  <a:ea typeface="Meiryo UI" panose="020B0604030504040204" pitchFamily="50" charset="-128"/>
                </a:rPr>
                <a:t>業務</a:t>
              </a:r>
              <a:r>
                <a:rPr kumimoji="1" lang="en-US" altLang="ja-JP" sz="1050" b="1" dirty="0">
                  <a:solidFill>
                    <a:prstClr val="black"/>
                  </a:solidFill>
                  <a:latin typeface="Meiryo UI" panose="020B0604030504040204" pitchFamily="50" charset="-128"/>
                  <a:ea typeface="Meiryo UI" panose="020B0604030504040204" pitchFamily="50" charset="-128"/>
                </a:rPr>
                <a:t>A</a:t>
              </a:r>
              <a:endParaRPr kumimoji="1" lang="ja-JP" altLang="en-US" sz="1050" b="1" dirty="0">
                <a:solidFill>
                  <a:prstClr val="black"/>
                </a:solidFill>
                <a:latin typeface="Meiryo UI" panose="020B0604030504040204" pitchFamily="50" charset="-128"/>
                <a:ea typeface="Meiryo UI" panose="020B0604030504040204" pitchFamily="50" charset="-128"/>
              </a:endParaRPr>
            </a:p>
          </p:txBody>
        </p:sp>
      </p:grpSp>
      <p:grpSp>
        <p:nvGrpSpPr>
          <p:cNvPr id="13" name="グループ化 12">
            <a:extLst>
              <a:ext uri="{FF2B5EF4-FFF2-40B4-BE49-F238E27FC236}">
                <a16:creationId xmlns:a16="http://schemas.microsoft.com/office/drawing/2014/main" id="{482193F2-AC20-92B5-CD4E-0FA502FE1C63}"/>
              </a:ext>
            </a:extLst>
          </p:cNvPr>
          <p:cNvGrpSpPr/>
          <p:nvPr/>
        </p:nvGrpSpPr>
        <p:grpSpPr>
          <a:xfrm>
            <a:off x="409386" y="3863458"/>
            <a:ext cx="1013724" cy="1240968"/>
            <a:chOff x="725269" y="3478574"/>
            <a:chExt cx="1013724" cy="1240968"/>
          </a:xfrm>
        </p:grpSpPr>
        <p:sp>
          <p:nvSpPr>
            <p:cNvPr id="14" name="フローチャート: 書類 13">
              <a:extLst>
                <a:ext uri="{FF2B5EF4-FFF2-40B4-BE49-F238E27FC236}">
                  <a16:creationId xmlns:a16="http://schemas.microsoft.com/office/drawing/2014/main" id="{F4BA8B0C-C510-30E3-84DE-2E3165194069}"/>
                </a:ext>
              </a:extLst>
            </p:cNvPr>
            <p:cNvSpPr/>
            <p:nvPr/>
          </p:nvSpPr>
          <p:spPr bwMode="auto">
            <a:xfrm>
              <a:off x="794395" y="3730102"/>
              <a:ext cx="654496" cy="383722"/>
            </a:xfrm>
            <a:prstGeom prst="flowChartDocumen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マニュアル</a:t>
              </a:r>
            </a:p>
          </p:txBody>
        </p:sp>
        <p:sp>
          <p:nvSpPr>
            <p:cNvPr id="15" name="フローチャート: 書類 14">
              <a:extLst>
                <a:ext uri="{FF2B5EF4-FFF2-40B4-BE49-F238E27FC236}">
                  <a16:creationId xmlns:a16="http://schemas.microsoft.com/office/drawing/2014/main" id="{12CFE016-B12E-10DA-479A-5174C4B2FCE5}"/>
                </a:ext>
              </a:extLst>
            </p:cNvPr>
            <p:cNvSpPr/>
            <p:nvPr/>
          </p:nvSpPr>
          <p:spPr bwMode="auto">
            <a:xfrm>
              <a:off x="900531" y="3992869"/>
              <a:ext cx="654496" cy="383722"/>
            </a:xfrm>
            <a:prstGeom prst="flowChartDocumen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手順書</a:t>
              </a:r>
            </a:p>
          </p:txBody>
        </p:sp>
        <p:sp>
          <p:nvSpPr>
            <p:cNvPr id="16" name="フローチャート: 書類 15">
              <a:extLst>
                <a:ext uri="{FF2B5EF4-FFF2-40B4-BE49-F238E27FC236}">
                  <a16:creationId xmlns:a16="http://schemas.microsoft.com/office/drawing/2014/main" id="{A89872F8-5FE6-9035-415E-F13A9A32A285}"/>
                </a:ext>
              </a:extLst>
            </p:cNvPr>
            <p:cNvSpPr/>
            <p:nvPr/>
          </p:nvSpPr>
          <p:spPr bwMode="auto">
            <a:xfrm>
              <a:off x="1006667" y="4270232"/>
              <a:ext cx="654496" cy="383722"/>
            </a:xfrm>
            <a:prstGeom prst="flowChartDocument">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チェック</a:t>
              </a:r>
              <a:endParaRPr kumimoji="1" lang="en-US" altLang="ja-JP" sz="105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リスト</a:t>
              </a:r>
            </a:p>
          </p:txBody>
        </p:sp>
        <p:sp>
          <p:nvSpPr>
            <p:cNvPr id="17" name="正方形/長方形 16">
              <a:extLst>
                <a:ext uri="{FF2B5EF4-FFF2-40B4-BE49-F238E27FC236}">
                  <a16:creationId xmlns:a16="http://schemas.microsoft.com/office/drawing/2014/main" id="{103DFB10-5399-1FD3-C765-A6B77EB6937A}"/>
                </a:ext>
              </a:extLst>
            </p:cNvPr>
            <p:cNvSpPr/>
            <p:nvPr/>
          </p:nvSpPr>
          <p:spPr bwMode="auto">
            <a:xfrm>
              <a:off x="725269" y="3478574"/>
              <a:ext cx="1013724" cy="1240968"/>
            </a:xfrm>
            <a:prstGeom prst="rect">
              <a:avLst/>
            </a:prstGeom>
            <a:noFill/>
            <a:ln w="6350" cap="flat" cmpd="sng" algn="ctr">
              <a:solidFill>
                <a:schemeClr val="tx1">
                  <a:lumMod val="50000"/>
                  <a:lumOff val="50000"/>
                </a:schemeClr>
              </a:solidFill>
              <a:prstDash val="dash"/>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defTabSz="908410" fontAlgn="base">
                <a:spcAft>
                  <a:spcPct val="0"/>
                </a:spcAft>
              </a:pPr>
              <a:r>
                <a:rPr kumimoji="1" lang="ja-JP" altLang="en-US" sz="1050" b="1" dirty="0">
                  <a:solidFill>
                    <a:prstClr val="black"/>
                  </a:solidFill>
                  <a:latin typeface="Meiryo UI" panose="020B0604030504040204" pitchFamily="50" charset="-128"/>
                  <a:ea typeface="Meiryo UI" panose="020B0604030504040204" pitchFamily="50" charset="-128"/>
                </a:rPr>
                <a:t>業務</a:t>
              </a:r>
              <a:r>
                <a:rPr kumimoji="1" lang="en-US" altLang="ja-JP" sz="1050" b="1" dirty="0">
                  <a:solidFill>
                    <a:prstClr val="black"/>
                  </a:solidFill>
                  <a:latin typeface="Meiryo UI" panose="020B0604030504040204" pitchFamily="50" charset="-128"/>
                  <a:ea typeface="Meiryo UI" panose="020B0604030504040204" pitchFamily="50" charset="-128"/>
                </a:rPr>
                <a:t>B</a:t>
              </a:r>
              <a:endParaRPr kumimoji="1" lang="ja-JP" altLang="en-US" sz="1050" b="1" dirty="0">
                <a:solidFill>
                  <a:prstClr val="black"/>
                </a:solidFill>
                <a:latin typeface="Meiryo UI" panose="020B0604030504040204" pitchFamily="50" charset="-128"/>
                <a:ea typeface="Meiryo UI" panose="020B0604030504040204" pitchFamily="50" charset="-128"/>
              </a:endParaRPr>
            </a:p>
          </p:txBody>
        </p:sp>
      </p:grpSp>
      <p:grpSp>
        <p:nvGrpSpPr>
          <p:cNvPr id="18" name="グループ化 17">
            <a:extLst>
              <a:ext uri="{FF2B5EF4-FFF2-40B4-BE49-F238E27FC236}">
                <a16:creationId xmlns:a16="http://schemas.microsoft.com/office/drawing/2014/main" id="{C37B7AC7-19B9-A710-ECAB-60EA2123E1F1}"/>
              </a:ext>
            </a:extLst>
          </p:cNvPr>
          <p:cNvGrpSpPr/>
          <p:nvPr/>
        </p:nvGrpSpPr>
        <p:grpSpPr>
          <a:xfrm>
            <a:off x="2269399" y="3478572"/>
            <a:ext cx="1159246" cy="711023"/>
            <a:chOff x="2265598" y="2921639"/>
            <a:chExt cx="2057020" cy="1240968"/>
          </a:xfrm>
        </p:grpSpPr>
        <p:sp>
          <p:nvSpPr>
            <p:cNvPr id="19" name="正方形/長方形 18">
              <a:extLst>
                <a:ext uri="{FF2B5EF4-FFF2-40B4-BE49-F238E27FC236}">
                  <a16:creationId xmlns:a16="http://schemas.microsoft.com/office/drawing/2014/main" id="{61631DAC-2094-8610-7A49-CA81C1DC763C}"/>
                </a:ext>
              </a:extLst>
            </p:cNvPr>
            <p:cNvSpPr/>
            <p:nvPr/>
          </p:nvSpPr>
          <p:spPr bwMode="auto">
            <a:xfrm>
              <a:off x="2265598" y="2921639"/>
              <a:ext cx="2057020" cy="1240968"/>
            </a:xfrm>
            <a:prstGeom prst="rect">
              <a:avLst/>
            </a:prstGeom>
            <a:no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t" anchorCtr="0" compatLnSpc="1">
              <a:prstTxWarp prst="textNoShape">
                <a:avLst/>
              </a:prstTxWarp>
              <a:noAutofit/>
            </a:bodyPr>
            <a:lstStyle/>
            <a:p>
              <a:pPr defTabSz="908410" fontAlgn="base">
                <a:spcAft>
                  <a:spcPct val="0"/>
                </a:spcAft>
              </a:pPr>
              <a:endParaRPr kumimoji="1" lang="ja-JP" altLang="en-US" sz="1050" b="1" dirty="0">
                <a:solidFill>
                  <a:prstClr val="black"/>
                </a:solidFill>
                <a:latin typeface="Meiryo UI" panose="020B0604030504040204" pitchFamily="50" charset="-128"/>
                <a:ea typeface="Meiryo UI" panose="020B0604030504040204" pitchFamily="50" charset="-128"/>
              </a:endParaRPr>
            </a:p>
          </p:txBody>
        </p:sp>
        <p:pic>
          <p:nvPicPr>
            <p:cNvPr id="20" name="図 19">
              <a:extLst>
                <a:ext uri="{FF2B5EF4-FFF2-40B4-BE49-F238E27FC236}">
                  <a16:creationId xmlns:a16="http://schemas.microsoft.com/office/drawing/2014/main" id="{8CB8E842-1867-5C16-28B1-09B1785228FA}"/>
                </a:ext>
              </a:extLst>
            </p:cNvPr>
            <p:cNvPicPr>
              <a:picLocks noChangeAspect="1"/>
            </p:cNvPicPr>
            <p:nvPr/>
          </p:nvPicPr>
          <p:blipFill>
            <a:blip r:embed="rId2"/>
            <a:stretch>
              <a:fillRect/>
            </a:stretch>
          </p:blipFill>
          <p:spPr>
            <a:xfrm>
              <a:off x="2350505" y="3320470"/>
              <a:ext cx="1857634" cy="409632"/>
            </a:xfrm>
            <a:prstGeom prst="rect">
              <a:avLst/>
            </a:prstGeom>
          </p:spPr>
        </p:pic>
      </p:grpSp>
      <p:sp>
        <p:nvSpPr>
          <p:cNvPr id="21" name="矢印: 右 20">
            <a:extLst>
              <a:ext uri="{FF2B5EF4-FFF2-40B4-BE49-F238E27FC236}">
                <a16:creationId xmlns:a16="http://schemas.microsoft.com/office/drawing/2014/main" id="{E2185FB8-D6D4-04BA-C94E-B3BC0794ED7F}"/>
              </a:ext>
            </a:extLst>
          </p:cNvPr>
          <p:cNvSpPr/>
          <p:nvPr/>
        </p:nvSpPr>
        <p:spPr bwMode="auto">
          <a:xfrm>
            <a:off x="1554480" y="3478572"/>
            <a:ext cx="624975" cy="718257"/>
          </a:xfrm>
          <a:prstGeom prst="rightArrow">
            <a:avLst>
              <a:gd name="adj1" fmla="val 52315"/>
              <a:gd name="adj2" fmla="val 34039"/>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読み込み</a:t>
            </a:r>
          </a:p>
        </p:txBody>
      </p:sp>
      <p:sp>
        <p:nvSpPr>
          <p:cNvPr id="22" name="テキスト プレースホルダー 2">
            <a:extLst>
              <a:ext uri="{FF2B5EF4-FFF2-40B4-BE49-F238E27FC236}">
                <a16:creationId xmlns:a16="http://schemas.microsoft.com/office/drawing/2014/main" id="{164EFCA5-802F-2B4B-1E63-452AC4710736}"/>
              </a:ext>
            </a:extLst>
          </p:cNvPr>
          <p:cNvSpPr txBox="1">
            <a:spLocks/>
          </p:cNvSpPr>
          <p:nvPr/>
        </p:nvSpPr>
        <p:spPr bwMode="gray">
          <a:xfrm>
            <a:off x="203509" y="1647255"/>
            <a:ext cx="8928000" cy="307075"/>
          </a:xfrm>
          <a:prstGeom prst="rect">
            <a:avLst/>
          </a:prstGeom>
          <a:noFill/>
          <a:ln w="12700" algn="ctr">
            <a:noFill/>
            <a:miter lim="800000"/>
            <a:headEnd/>
            <a:tailEnd/>
          </a:ln>
        </p:spPr>
        <p:txBody>
          <a:bodyPr vert="horz" wrap="square" lIns="0" tIns="0" rIns="0" bIns="0" numCol="1" rtlCol="0" anchor="t" anchorCtr="0" compatLnSpc="1">
            <a:prstTxWarp prst="textNoShape">
              <a:avLst/>
            </a:prstTxWarp>
            <a:noAutofit/>
          </a:bodyPr>
          <a:lstStyle>
            <a:lvl1pPr marL="0" marR="0" indent="0" algn="l" defTabSz="990546" rtl="0" eaLnBrk="1" fontAlgn="base" latinLnBrk="0" hangingPunct="1">
              <a:lnSpc>
                <a:spcPct val="100000"/>
              </a:lnSpc>
              <a:spcBef>
                <a:spcPts val="0"/>
              </a:spcBef>
              <a:spcAft>
                <a:spcPts val="0"/>
              </a:spcAft>
              <a:buClrTx/>
              <a:buSzTx/>
              <a:buFont typeface="Times" pitchFamily="18" charset="0"/>
              <a:tabLst/>
              <a:defRPr kumimoji="1" lang="ja-JP" altLang="en-US" sz="1600" dirty="0" smtClean="0">
                <a:solidFill>
                  <a:schemeClr val="tx1"/>
                </a:solidFill>
                <a:latin typeface="Meiryo UI" panose="020B0604030504040204" pitchFamily="50" charset="-128"/>
                <a:ea typeface="Meiryo UI" panose="020B0604030504040204" pitchFamily="50" charset="-128"/>
                <a:cs typeface="Meiryo UI" panose="020B0604030504040204" pitchFamily="50" charset="-128"/>
                <a:sym typeface="Meiryo UI" panose="020B0604030504040204" pitchFamily="50" charset="-128"/>
              </a:defRPr>
            </a:lvl1pPr>
            <a:lvl2pPr marL="644525" indent="-285750" algn="l" rtl="0" eaLnBrk="1" fontAlgn="base" hangingPunct="1">
              <a:spcBef>
                <a:spcPct val="20000"/>
              </a:spcBef>
              <a:spcAft>
                <a:spcPct val="0"/>
              </a:spcAft>
              <a:buClr>
                <a:srgbClr val="666666"/>
              </a:buClr>
              <a:buSzPct val="90000"/>
              <a:buFont typeface="Wingdings" panose="05000000000000000000" pitchFamily="2" charset="2"/>
              <a:buChar char="p"/>
              <a:defRPr kumimoji="1" lang="ja-JP" altLang="en-US" sz="1477" dirty="0" smtClean="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2pPr>
            <a:lvl3pPr marL="1004888" indent="-285750" algn="l" rtl="0" eaLnBrk="1" fontAlgn="base" hangingPunct="1">
              <a:spcBef>
                <a:spcPct val="20000"/>
              </a:spcBef>
              <a:spcAft>
                <a:spcPct val="0"/>
              </a:spcAft>
              <a:buClr>
                <a:srgbClr val="666666"/>
              </a:buClr>
              <a:buSzPct val="90000"/>
              <a:buFont typeface="Arial" panose="020B0604020202020204" pitchFamily="34" charset="0"/>
              <a:buChar char="•"/>
              <a:defRPr kumimoji="1" lang="ja-JP" altLang="en-US" sz="1477" dirty="0" smtClean="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3pPr>
            <a:lvl4pPr marL="1363662" indent="-285750" algn="l" rtl="0" eaLnBrk="1" fontAlgn="base" hangingPunct="1">
              <a:spcBef>
                <a:spcPct val="20000"/>
              </a:spcBef>
              <a:spcAft>
                <a:spcPct val="0"/>
              </a:spcAft>
              <a:buClr>
                <a:srgbClr val="666666"/>
              </a:buClr>
              <a:buSzPct val="90000"/>
              <a:buFont typeface="Meiryo UI" panose="020B0604030504040204" pitchFamily="50" charset="-128"/>
              <a:buChar char="–"/>
              <a:defRPr kumimoji="1" lang="ja-JP" altLang="en-US" sz="1477" dirty="0" smtClean="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4pPr>
            <a:lvl5pPr marL="1436687" indent="0" algn="l" rtl="0" eaLnBrk="1" fontAlgn="base" hangingPunct="1">
              <a:spcBef>
                <a:spcPct val="20000"/>
              </a:spcBef>
              <a:spcAft>
                <a:spcPct val="0"/>
              </a:spcAft>
              <a:buClr>
                <a:srgbClr val="666666"/>
              </a:buClr>
              <a:buSzPct val="90000"/>
              <a:buFont typeface="Times" pitchFamily="18" charset="0"/>
              <a:buNone/>
              <a:defRPr kumimoji="1" lang="ja-JP" altLang="en-US" sz="1477" dirty="0">
                <a:solidFill>
                  <a:schemeClr val="tx1"/>
                </a:solidFill>
                <a:latin typeface="Meiryo UI" panose="020B0604030504040204" pitchFamily="50" charset="-128"/>
                <a:ea typeface="Meiryo UI" panose="020B0604030504040204" pitchFamily="50" charset="-128"/>
                <a:sym typeface="Meiryo UI" panose="020B0604030504040204" pitchFamily="50" charset="-128"/>
              </a:defRPr>
            </a:lvl5pPr>
            <a:lvl6pPr marL="1953396"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6pPr>
            <a:lvl7pPr marL="2375434"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7pPr>
            <a:lvl8pPr marL="2797474"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8pPr>
            <a:lvl9pPr marL="3219512" indent="-153869" algn="l" rtl="0" eaLnBrk="1" fontAlgn="base" hangingPunct="1">
              <a:spcBef>
                <a:spcPct val="20000"/>
              </a:spcBef>
              <a:spcAft>
                <a:spcPct val="0"/>
              </a:spcAft>
              <a:buClr>
                <a:srgbClr val="666666"/>
              </a:buClr>
              <a:buSzPct val="90000"/>
              <a:buFont typeface="Times" pitchFamily="18" charset="0"/>
              <a:defRPr kumimoji="1" sz="1477">
                <a:solidFill>
                  <a:schemeClr val="tx1"/>
                </a:solidFill>
                <a:latin typeface="+mn-lt"/>
                <a:ea typeface="+mn-ea"/>
              </a:defRPr>
            </a:lvl9pPr>
          </a:lstStyle>
          <a:p>
            <a:pPr marL="285750" indent="-285750">
              <a:buFont typeface="Wingdings" panose="05000000000000000000" pitchFamily="2" charset="2"/>
              <a:buChar char="n"/>
            </a:pPr>
            <a:r>
              <a:rPr lang="en-US" altLang="ja-JP" b="1" kern="0" dirty="0"/>
              <a:t>NotebookLM</a:t>
            </a:r>
            <a:r>
              <a:rPr lang="ja-JP" altLang="en-US" b="1" kern="0" dirty="0"/>
              <a:t>を活用した想定ユースケース</a:t>
            </a:r>
          </a:p>
        </p:txBody>
      </p:sp>
      <p:grpSp>
        <p:nvGrpSpPr>
          <p:cNvPr id="23" name="グループ化 22">
            <a:extLst>
              <a:ext uri="{FF2B5EF4-FFF2-40B4-BE49-F238E27FC236}">
                <a16:creationId xmlns:a16="http://schemas.microsoft.com/office/drawing/2014/main" id="{DD265D9A-D129-A04C-8C62-687006ED58A2}"/>
              </a:ext>
            </a:extLst>
          </p:cNvPr>
          <p:cNvGrpSpPr/>
          <p:nvPr/>
        </p:nvGrpSpPr>
        <p:grpSpPr>
          <a:xfrm>
            <a:off x="4135455" y="1957077"/>
            <a:ext cx="5313131" cy="449729"/>
            <a:chOff x="93136" y="1216002"/>
            <a:chExt cx="3491404" cy="508744"/>
          </a:xfrm>
        </p:grpSpPr>
        <p:cxnSp>
          <p:nvCxnSpPr>
            <p:cNvPr id="24" name="直線コネクタ 23">
              <a:extLst>
                <a:ext uri="{FF2B5EF4-FFF2-40B4-BE49-F238E27FC236}">
                  <a16:creationId xmlns:a16="http://schemas.microsoft.com/office/drawing/2014/main" id="{4A6E7354-5D19-CA3B-2C78-49B1F0365C58}"/>
                </a:ext>
              </a:extLst>
            </p:cNvPr>
            <p:cNvCxnSpPr>
              <a:cxnSpLocks/>
            </p:cNvCxnSpPr>
            <p:nvPr/>
          </p:nvCxnSpPr>
          <p:spPr>
            <a:xfrm>
              <a:off x="93136" y="1724746"/>
              <a:ext cx="349140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C22AC6BA-71B2-0FE8-1A97-AE85CF21FFBA}"/>
                </a:ext>
              </a:extLst>
            </p:cNvPr>
            <p:cNvSpPr txBox="1"/>
            <p:nvPr/>
          </p:nvSpPr>
          <p:spPr>
            <a:xfrm>
              <a:off x="1556361" y="1216002"/>
              <a:ext cx="564984" cy="508744"/>
            </a:xfrm>
            <a:prstGeom prst="rect">
              <a:avLst/>
            </a:prstGeom>
            <a:noFill/>
          </p:spPr>
          <p:txBody>
            <a:bodyPr wrap="none" lIns="36000" tIns="36000" rIns="36000" bIns="36000" rtlCol="0" anchor="b"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OUTPUT</a:t>
              </a:r>
              <a:endParaRPr lang="en-US" altLang="ja-JP" sz="1400" b="1" dirty="0">
                <a:solidFill>
                  <a:prstClr val="black"/>
                </a:solidFill>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ユースケース</a:t>
              </a:r>
              <a:endParaRPr kumimoji="1" lang="en-US" altLang="ja-JP" sz="105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26" name="正方形/長方形 25">
            <a:extLst>
              <a:ext uri="{FF2B5EF4-FFF2-40B4-BE49-F238E27FC236}">
                <a16:creationId xmlns:a16="http://schemas.microsoft.com/office/drawing/2014/main" id="{06BC345E-F82E-A944-CF55-97F8B1A34EDE}"/>
              </a:ext>
            </a:extLst>
          </p:cNvPr>
          <p:cNvSpPr/>
          <p:nvPr/>
        </p:nvSpPr>
        <p:spPr bwMode="auto">
          <a:xfrm>
            <a:off x="4135455" y="2487282"/>
            <a:ext cx="963826" cy="1573110"/>
          </a:xfrm>
          <a:prstGeom prst="rect">
            <a:avLst/>
          </a:prstGeom>
          <a:no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b="1" dirty="0">
                <a:solidFill>
                  <a:prstClr val="black"/>
                </a:solidFill>
                <a:latin typeface="Meiryo UI" panose="020B0604030504040204" pitchFamily="50" charset="-128"/>
                <a:ea typeface="Meiryo UI" panose="020B0604030504040204" pitchFamily="50" charset="-128"/>
              </a:rPr>
              <a:t>業務可視化</a:t>
            </a:r>
          </a:p>
        </p:txBody>
      </p:sp>
      <p:sp>
        <p:nvSpPr>
          <p:cNvPr id="27" name="テキスト ボックス 26">
            <a:extLst>
              <a:ext uri="{FF2B5EF4-FFF2-40B4-BE49-F238E27FC236}">
                <a16:creationId xmlns:a16="http://schemas.microsoft.com/office/drawing/2014/main" id="{4E7139C9-42A3-3969-98CF-7968885363CF}"/>
              </a:ext>
            </a:extLst>
          </p:cNvPr>
          <p:cNvSpPr txBox="1"/>
          <p:nvPr/>
        </p:nvSpPr>
        <p:spPr>
          <a:xfrm>
            <a:off x="5110784" y="2487283"/>
            <a:ext cx="4305720" cy="1403837"/>
          </a:xfrm>
          <a:prstGeom prst="rect">
            <a:avLst/>
          </a:prstGeom>
          <a:noFill/>
        </p:spPr>
        <p:txBody>
          <a:bodyPr wrap="square" lIns="36000" tIns="36000" rIns="36000" bIns="36000" rtlCol="0" anchor="t" anchorCtr="0">
            <a:spAutoFit/>
          </a:bodyPr>
          <a:lstStyle/>
          <a:p>
            <a:pPr marL="171450" marR="0" lvl="0" indent="-1714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1050" dirty="0">
                <a:solidFill>
                  <a:prstClr val="black"/>
                </a:solidFill>
                <a:latin typeface="Meiryo UI" panose="020B0604030504040204" pitchFamily="50" charset="-128"/>
                <a:ea typeface="Meiryo UI" panose="020B0604030504040204" pitchFamily="50" charset="-128"/>
              </a:rPr>
              <a:t>業務一覧の作成</a:t>
            </a:r>
          </a:p>
          <a:p>
            <a:pPr marL="447675" lvl="1" indent="-171450">
              <a:buFont typeface="Arial" panose="020B0604020202020204" pitchFamily="34" charset="0"/>
              <a:buChar char="•"/>
              <a:defRPr/>
            </a:pPr>
            <a:r>
              <a:rPr lang="ja-JP" altLang="en-US" sz="1100" dirty="0">
                <a:solidFill>
                  <a:prstClr val="black"/>
                </a:solidFill>
                <a:latin typeface="Meiryo UI" panose="020B0604030504040204" pitchFamily="50" charset="-128"/>
                <a:ea typeface="Meiryo UI" panose="020B0604030504040204" pitchFamily="50" charset="-128"/>
              </a:rPr>
              <a:t>網羅的・構造的な業務一覧を作成。ユーザ作成の業務一覧と突合し精度を見たうえで、活用方法を検討。</a:t>
            </a:r>
            <a:endParaRPr kumimoji="1" lang="en-US" altLang="ja-JP"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171450" marR="0" lvl="0" indent="-1714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1050" dirty="0">
                <a:solidFill>
                  <a:prstClr val="black"/>
                </a:solidFill>
                <a:latin typeface="Meiryo UI" panose="020B0604030504040204" pitchFamily="50" charset="-128"/>
                <a:ea typeface="Meiryo UI" panose="020B0604030504040204" pitchFamily="50" charset="-128"/>
              </a:rPr>
              <a:t>業務手順書の作成</a:t>
            </a:r>
          </a:p>
          <a:p>
            <a:pPr marL="447675" lvl="1" indent="-171450">
              <a:buFont typeface="Arial" panose="020B0604020202020204" pitchFamily="34" charset="0"/>
              <a:buChar char="•"/>
              <a:defRPr/>
            </a:pPr>
            <a:r>
              <a:rPr kumimoji="1" lang="ja-JP" altLang="en-US"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各業務の手順書を標準化されたフォーマットで作成。精度を確認。</a:t>
            </a:r>
            <a:endParaRPr kumimoji="1" lang="en-US" altLang="ja-JP"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447675" lvl="1" indent="-171450">
              <a:buFont typeface="Arial" panose="020B0604020202020204" pitchFamily="34" charset="0"/>
              <a:buChar char="•"/>
              <a:defRPr/>
            </a:pPr>
            <a:r>
              <a:rPr lang="ja-JP" altLang="en-US" sz="1100" dirty="0">
                <a:solidFill>
                  <a:prstClr val="black"/>
                </a:solidFill>
                <a:latin typeface="Meiryo UI" panose="020B0604030504040204" pitchFamily="50" charset="-128"/>
                <a:ea typeface="Meiryo UI" panose="020B0604030504040204" pitchFamily="50" charset="-128"/>
              </a:rPr>
              <a:t>業務一覧と紐づけて、体系的に業務を理解する等の活用。</a:t>
            </a:r>
            <a:endParaRPr lang="en-US" altLang="ja-JP" sz="1100" dirty="0">
              <a:solidFill>
                <a:prstClr val="black"/>
              </a:solidFill>
              <a:latin typeface="Meiryo UI" panose="020B0604030504040204" pitchFamily="50" charset="-128"/>
              <a:ea typeface="Meiryo UI" panose="020B0604030504040204" pitchFamily="50" charset="-128"/>
            </a:endParaRPr>
          </a:p>
          <a:p>
            <a:pPr marL="171450" marR="0" lvl="0" indent="-1714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1050" dirty="0">
                <a:solidFill>
                  <a:prstClr val="black"/>
                </a:solidFill>
                <a:latin typeface="Meiryo UI" panose="020B0604030504040204" pitchFamily="50" charset="-128"/>
                <a:ea typeface="Meiryo UI" panose="020B0604030504040204" pitchFamily="50" charset="-128"/>
              </a:rPr>
              <a:t>業務フローの作成</a:t>
            </a:r>
          </a:p>
          <a:p>
            <a:pPr marL="447675" lvl="1" indent="-171450">
              <a:buFont typeface="Arial" panose="020B0604020202020204" pitchFamily="34" charset="0"/>
              <a:buChar char="•"/>
              <a:defRPr/>
            </a:pPr>
            <a:r>
              <a:rPr kumimoji="1" lang="ja-JP" altLang="en-US"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各業務のフローを標準化されたフォーマットで作成。精度を確認。</a:t>
            </a:r>
            <a:endParaRPr kumimoji="1" lang="en-US" altLang="ja-JP"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28" name="正方形/長方形 27">
            <a:extLst>
              <a:ext uri="{FF2B5EF4-FFF2-40B4-BE49-F238E27FC236}">
                <a16:creationId xmlns:a16="http://schemas.microsoft.com/office/drawing/2014/main" id="{716F9B14-0313-0D7C-CD83-8BEBDF660BF9}"/>
              </a:ext>
            </a:extLst>
          </p:cNvPr>
          <p:cNvSpPr/>
          <p:nvPr/>
        </p:nvSpPr>
        <p:spPr bwMode="auto">
          <a:xfrm>
            <a:off x="4135455" y="4279300"/>
            <a:ext cx="963826" cy="734420"/>
          </a:xfrm>
          <a:prstGeom prst="rect">
            <a:avLst/>
          </a:prstGeom>
          <a:no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b="1" dirty="0">
                <a:solidFill>
                  <a:prstClr val="black"/>
                </a:solidFill>
                <a:latin typeface="Meiryo UI" panose="020B0604030504040204" pitchFamily="50" charset="-128"/>
                <a:ea typeface="Meiryo UI" panose="020B0604030504040204" pitchFamily="50" charset="-128"/>
              </a:rPr>
              <a:t>従業員の</a:t>
            </a:r>
            <a:endParaRPr kumimoji="1" lang="en-US" altLang="ja-JP" sz="105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050" b="1" dirty="0">
                <a:solidFill>
                  <a:prstClr val="black"/>
                </a:solidFill>
                <a:latin typeface="Meiryo UI" panose="020B0604030504040204" pitchFamily="50" charset="-128"/>
                <a:ea typeface="Meiryo UI" panose="020B0604030504040204" pitchFamily="50" charset="-128"/>
              </a:rPr>
              <a:t>学習目的活用</a:t>
            </a:r>
            <a:endParaRPr kumimoji="1" lang="en-US" altLang="ja-JP" sz="105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lang="ja-JP" altLang="en-US" sz="1050" b="1" dirty="0">
                <a:solidFill>
                  <a:prstClr val="black"/>
                </a:solidFill>
                <a:latin typeface="Meiryo UI" panose="020B0604030504040204" pitchFamily="50" charset="-128"/>
                <a:ea typeface="Meiryo UI" panose="020B0604030504040204" pitchFamily="50" charset="-128"/>
              </a:rPr>
              <a:t>・</a:t>
            </a:r>
            <a:r>
              <a:rPr kumimoji="1" lang="ja-JP" altLang="en-US" sz="1050" b="1" dirty="0">
                <a:solidFill>
                  <a:prstClr val="black"/>
                </a:solidFill>
                <a:latin typeface="Meiryo UI" panose="020B0604030504040204" pitchFamily="50" charset="-128"/>
                <a:ea typeface="Meiryo UI" panose="020B0604030504040204" pitchFamily="50" charset="-128"/>
              </a:rPr>
              <a:t>業務活用</a:t>
            </a:r>
          </a:p>
        </p:txBody>
      </p:sp>
      <p:sp>
        <p:nvSpPr>
          <p:cNvPr id="29" name="テキスト ボックス 28">
            <a:extLst>
              <a:ext uri="{FF2B5EF4-FFF2-40B4-BE49-F238E27FC236}">
                <a16:creationId xmlns:a16="http://schemas.microsoft.com/office/drawing/2014/main" id="{BDD98508-7332-6DAF-93CA-7F22D4E27C9E}"/>
              </a:ext>
            </a:extLst>
          </p:cNvPr>
          <p:cNvSpPr txBox="1"/>
          <p:nvPr/>
        </p:nvSpPr>
        <p:spPr>
          <a:xfrm>
            <a:off x="5110784" y="4279300"/>
            <a:ext cx="4305720" cy="749812"/>
          </a:xfrm>
          <a:prstGeom prst="rect">
            <a:avLst/>
          </a:prstGeom>
          <a:noFill/>
        </p:spPr>
        <p:txBody>
          <a:bodyPr wrap="square" lIns="36000" tIns="36000" rIns="36000" bIns="36000" rtlCol="0" anchor="t" anchorCtr="0">
            <a:spAutoFit/>
          </a:bodyPr>
          <a:lstStyle/>
          <a:p>
            <a:pPr marL="171450" marR="0" lvl="0" indent="-1714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ja-JP" sz="1100" dirty="0">
                <a:solidFill>
                  <a:prstClr val="black"/>
                </a:solidFill>
                <a:latin typeface="Meiryo UI" panose="020B0604030504040204" pitchFamily="50" charset="-128"/>
                <a:ea typeface="Meiryo UI" panose="020B0604030504040204" pitchFamily="50" charset="-128"/>
              </a:rPr>
              <a:t>Notebook</a:t>
            </a:r>
            <a:r>
              <a:rPr lang="ja-JP" altLang="en-US" sz="1100" dirty="0">
                <a:solidFill>
                  <a:prstClr val="black"/>
                </a:solidFill>
                <a:latin typeface="Meiryo UI" panose="020B0604030504040204" pitchFamily="50" charset="-128"/>
                <a:ea typeface="Meiryo UI" panose="020B0604030504040204" pitchFamily="50" charset="-128"/>
              </a:rPr>
              <a:t>はメンバ間で共有することができ、知見の蓄積・共有が可能</a:t>
            </a:r>
            <a:endParaRPr kumimoji="1" lang="en-US" altLang="ja-JP"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447675" lvl="1" indent="-171450">
              <a:buFont typeface="Arial" panose="020B0604020202020204" pitchFamily="34" charset="0"/>
              <a:buChar char="•"/>
              <a:defRPr/>
            </a:pPr>
            <a:r>
              <a:rPr kumimoji="1" lang="ja-JP" altLang="en-US"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ノートブックをメンバ間で共有し、集積知として活用</a:t>
            </a:r>
          </a:p>
          <a:p>
            <a:pPr marL="447675" lvl="1" indent="-171450">
              <a:buFont typeface="Arial" panose="020B0604020202020204" pitchFamily="34" charset="0"/>
              <a:buChar char="•"/>
              <a:defRPr/>
            </a:pPr>
            <a:r>
              <a:rPr kumimoji="1" lang="ja-JP" altLang="en-US"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各業務について、サマリや音声コンテンツを作成、社員の学習に活用</a:t>
            </a:r>
          </a:p>
          <a:p>
            <a:pPr marL="447675" lvl="1" indent="-171450">
              <a:buFont typeface="Arial" panose="020B0604020202020204" pitchFamily="34" charset="0"/>
              <a:buChar char="•"/>
              <a:defRPr/>
            </a:pPr>
            <a:r>
              <a:rPr kumimoji="1" lang="ja-JP" altLang="en-US"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普段の業務での調べものの場面等での活用（業務効率化）</a:t>
            </a:r>
          </a:p>
        </p:txBody>
      </p:sp>
      <p:grpSp>
        <p:nvGrpSpPr>
          <p:cNvPr id="30" name="グループ化 29">
            <a:extLst>
              <a:ext uri="{FF2B5EF4-FFF2-40B4-BE49-F238E27FC236}">
                <a16:creationId xmlns:a16="http://schemas.microsoft.com/office/drawing/2014/main" id="{F2FA8EE4-5C85-5601-6049-23312B201946}"/>
              </a:ext>
            </a:extLst>
          </p:cNvPr>
          <p:cNvGrpSpPr/>
          <p:nvPr/>
        </p:nvGrpSpPr>
        <p:grpSpPr>
          <a:xfrm>
            <a:off x="282633" y="1957075"/>
            <a:ext cx="1271847" cy="449729"/>
            <a:chOff x="93136" y="1216002"/>
            <a:chExt cx="3491404" cy="508744"/>
          </a:xfrm>
        </p:grpSpPr>
        <p:cxnSp>
          <p:nvCxnSpPr>
            <p:cNvPr id="31" name="直線コネクタ 30">
              <a:extLst>
                <a:ext uri="{FF2B5EF4-FFF2-40B4-BE49-F238E27FC236}">
                  <a16:creationId xmlns:a16="http://schemas.microsoft.com/office/drawing/2014/main" id="{741303C6-9A82-44A3-248B-EAE6036512E2}"/>
                </a:ext>
              </a:extLst>
            </p:cNvPr>
            <p:cNvCxnSpPr>
              <a:cxnSpLocks/>
            </p:cNvCxnSpPr>
            <p:nvPr/>
          </p:nvCxnSpPr>
          <p:spPr>
            <a:xfrm>
              <a:off x="93136" y="1724746"/>
              <a:ext cx="349140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B7E25AC3-AE5B-893A-B5A4-370C06878556}"/>
                </a:ext>
              </a:extLst>
            </p:cNvPr>
            <p:cNvSpPr txBox="1"/>
            <p:nvPr/>
          </p:nvSpPr>
          <p:spPr>
            <a:xfrm>
              <a:off x="887570" y="1216002"/>
              <a:ext cx="1902564" cy="508744"/>
            </a:xfrm>
            <a:prstGeom prst="rect">
              <a:avLst/>
            </a:prstGeom>
            <a:noFill/>
          </p:spPr>
          <p:txBody>
            <a:bodyPr wrap="none" lIns="36000" tIns="36000" rIns="36000" bIns="36000" rtlCol="0" anchor="b"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INPUT</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50" dirty="0">
                  <a:solidFill>
                    <a:prstClr val="black"/>
                  </a:solidFill>
                  <a:latin typeface="Meiryo UI" panose="020B0604030504040204" pitchFamily="50" charset="-128"/>
                  <a:ea typeface="Meiryo UI" panose="020B0604030504040204" pitchFamily="50" charset="-128"/>
                </a:rPr>
                <a:t>手順書等</a:t>
              </a:r>
              <a:endParaRPr kumimoji="1" lang="ja-JP" altLang="en-US"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grpSp>
        <p:nvGrpSpPr>
          <p:cNvPr id="33" name="グループ化 32">
            <a:extLst>
              <a:ext uri="{FF2B5EF4-FFF2-40B4-BE49-F238E27FC236}">
                <a16:creationId xmlns:a16="http://schemas.microsoft.com/office/drawing/2014/main" id="{D030BD89-892B-5931-E24E-3383BBBC4058}"/>
              </a:ext>
            </a:extLst>
          </p:cNvPr>
          <p:cNvGrpSpPr/>
          <p:nvPr/>
        </p:nvGrpSpPr>
        <p:grpSpPr>
          <a:xfrm>
            <a:off x="1998519" y="1957075"/>
            <a:ext cx="1700995" cy="449729"/>
            <a:chOff x="93136" y="1216002"/>
            <a:chExt cx="3491404" cy="508744"/>
          </a:xfrm>
        </p:grpSpPr>
        <p:cxnSp>
          <p:nvCxnSpPr>
            <p:cNvPr id="34" name="直線コネクタ 33">
              <a:extLst>
                <a:ext uri="{FF2B5EF4-FFF2-40B4-BE49-F238E27FC236}">
                  <a16:creationId xmlns:a16="http://schemas.microsoft.com/office/drawing/2014/main" id="{281DCD84-877D-FE08-FC29-11531727561D}"/>
                </a:ext>
              </a:extLst>
            </p:cNvPr>
            <p:cNvCxnSpPr>
              <a:cxnSpLocks/>
            </p:cNvCxnSpPr>
            <p:nvPr/>
          </p:nvCxnSpPr>
          <p:spPr>
            <a:xfrm>
              <a:off x="93136" y="1724746"/>
              <a:ext cx="349140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D238E6E7-4592-9F63-1E4E-BCF4D56BFD30}"/>
                </a:ext>
              </a:extLst>
            </p:cNvPr>
            <p:cNvSpPr txBox="1"/>
            <p:nvPr/>
          </p:nvSpPr>
          <p:spPr>
            <a:xfrm>
              <a:off x="337904" y="1216002"/>
              <a:ext cx="3001890" cy="508744"/>
            </a:xfrm>
            <a:prstGeom prst="rect">
              <a:avLst/>
            </a:prstGeom>
            <a:noFill/>
          </p:spPr>
          <p:txBody>
            <a:bodyPr wrap="none" lIns="36000" tIns="36000" rIns="36000" bIns="36000" rtlCol="0" anchor="b"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PROCESS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NotebookLM</a:t>
              </a:r>
              <a:r>
                <a:rPr lang="ja-JP" altLang="en-US" sz="1050" dirty="0">
                  <a:solidFill>
                    <a:prstClr val="black"/>
                  </a:solidFill>
                  <a:latin typeface="Meiryo UI" panose="020B0604030504040204" pitchFamily="50" charset="-128"/>
                  <a:ea typeface="Meiryo UI" panose="020B0604030504040204" pitchFamily="50" charset="-128"/>
                </a:rPr>
                <a:t>による分析</a:t>
              </a:r>
              <a:endParaRPr kumimoji="1" lang="en-US" altLang="ja-JP" sz="105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36" name="正方形/長方形 35">
            <a:extLst>
              <a:ext uri="{FF2B5EF4-FFF2-40B4-BE49-F238E27FC236}">
                <a16:creationId xmlns:a16="http://schemas.microsoft.com/office/drawing/2014/main" id="{6FFB4EFB-405B-3BCF-6994-4625F4E19F74}"/>
              </a:ext>
            </a:extLst>
          </p:cNvPr>
          <p:cNvSpPr/>
          <p:nvPr/>
        </p:nvSpPr>
        <p:spPr bwMode="auto">
          <a:xfrm>
            <a:off x="4135455" y="5048132"/>
            <a:ext cx="963826" cy="734420"/>
          </a:xfrm>
          <a:prstGeom prst="rect">
            <a:avLst/>
          </a:prstGeom>
          <a:no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b="1" dirty="0">
                <a:solidFill>
                  <a:prstClr val="black"/>
                </a:solidFill>
                <a:latin typeface="Meiryo UI" panose="020B0604030504040204" pitchFamily="50" charset="-128"/>
                <a:ea typeface="Meiryo UI" panose="020B0604030504040204" pitchFamily="50" charset="-128"/>
              </a:rPr>
              <a:t>ドキュメント</a:t>
            </a:r>
            <a:endParaRPr kumimoji="1" lang="en-US" altLang="ja-JP" sz="105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050" b="1" dirty="0">
                <a:solidFill>
                  <a:prstClr val="black"/>
                </a:solidFill>
                <a:latin typeface="Meiryo UI" panose="020B0604030504040204" pitchFamily="50" charset="-128"/>
                <a:ea typeface="Meiryo UI" panose="020B0604030504040204" pitchFamily="50" charset="-128"/>
              </a:rPr>
              <a:t>改善への活用</a:t>
            </a:r>
          </a:p>
        </p:txBody>
      </p:sp>
      <p:sp>
        <p:nvSpPr>
          <p:cNvPr id="37" name="テキスト ボックス 36">
            <a:extLst>
              <a:ext uri="{FF2B5EF4-FFF2-40B4-BE49-F238E27FC236}">
                <a16:creationId xmlns:a16="http://schemas.microsoft.com/office/drawing/2014/main" id="{AD48F268-8130-F7EE-3415-E185BAE42CB7}"/>
              </a:ext>
            </a:extLst>
          </p:cNvPr>
          <p:cNvSpPr txBox="1"/>
          <p:nvPr/>
        </p:nvSpPr>
        <p:spPr>
          <a:xfrm>
            <a:off x="5110784" y="5048132"/>
            <a:ext cx="4305720" cy="395869"/>
          </a:xfrm>
          <a:prstGeom prst="rect">
            <a:avLst/>
          </a:prstGeom>
          <a:noFill/>
        </p:spPr>
        <p:txBody>
          <a:bodyPr wrap="square" lIns="36000" tIns="36000" rIns="36000" bIns="36000" rtlCol="0" anchor="t" anchorCtr="0">
            <a:spAutoFit/>
          </a:bodyPr>
          <a:lstStyle/>
          <a:p>
            <a:pPr marL="171450" marR="0" lvl="0" indent="-1714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1050" dirty="0">
                <a:solidFill>
                  <a:prstClr val="black"/>
                </a:solidFill>
                <a:latin typeface="Meiryo UI" panose="020B0604030504040204" pitchFamily="50" charset="-128"/>
                <a:ea typeface="Meiryo UI" panose="020B0604030504040204" pitchFamily="50" charset="-128"/>
              </a:rPr>
              <a:t>インプットとした各種手順書について、課題や表現の平仄が取れていない箇所を特定。ドキュメントの改善に活用</a:t>
            </a:r>
          </a:p>
        </p:txBody>
      </p:sp>
      <p:sp>
        <p:nvSpPr>
          <p:cNvPr id="38" name="正方形/長方形 37">
            <a:extLst>
              <a:ext uri="{FF2B5EF4-FFF2-40B4-BE49-F238E27FC236}">
                <a16:creationId xmlns:a16="http://schemas.microsoft.com/office/drawing/2014/main" id="{CC770D27-8893-2F15-6F7E-BDA62DB88026}"/>
              </a:ext>
            </a:extLst>
          </p:cNvPr>
          <p:cNvSpPr/>
          <p:nvPr/>
        </p:nvSpPr>
        <p:spPr bwMode="auto">
          <a:xfrm>
            <a:off x="4135455" y="5816961"/>
            <a:ext cx="963826" cy="734420"/>
          </a:xfrm>
          <a:prstGeom prst="rect">
            <a:avLst/>
          </a:prstGeom>
          <a:no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b="1" dirty="0">
                <a:solidFill>
                  <a:prstClr val="black"/>
                </a:solidFill>
                <a:latin typeface="Meiryo UI" panose="020B0604030504040204" pitchFamily="50" charset="-128"/>
                <a:ea typeface="Meiryo UI" panose="020B0604030504040204" pitchFamily="50" charset="-128"/>
              </a:rPr>
              <a:t>システム開発</a:t>
            </a:r>
            <a:endParaRPr kumimoji="1" lang="en-US" altLang="ja-JP" sz="105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050" b="1" dirty="0">
                <a:solidFill>
                  <a:prstClr val="black"/>
                </a:solidFill>
                <a:latin typeface="Meiryo UI" panose="020B0604030504040204" pitchFamily="50" charset="-128"/>
                <a:ea typeface="Meiryo UI" panose="020B0604030504040204" pitchFamily="50" charset="-128"/>
              </a:rPr>
              <a:t>での活用</a:t>
            </a:r>
          </a:p>
        </p:txBody>
      </p:sp>
      <p:sp>
        <p:nvSpPr>
          <p:cNvPr id="39" name="テキスト ボックス 38">
            <a:extLst>
              <a:ext uri="{FF2B5EF4-FFF2-40B4-BE49-F238E27FC236}">
                <a16:creationId xmlns:a16="http://schemas.microsoft.com/office/drawing/2014/main" id="{4D09F3B5-4CEE-AFEC-59C4-2CB230A23A6A}"/>
              </a:ext>
            </a:extLst>
          </p:cNvPr>
          <p:cNvSpPr txBox="1"/>
          <p:nvPr/>
        </p:nvSpPr>
        <p:spPr>
          <a:xfrm>
            <a:off x="5110784" y="5816961"/>
            <a:ext cx="4305720" cy="403563"/>
          </a:xfrm>
          <a:prstGeom prst="rect">
            <a:avLst/>
          </a:prstGeom>
          <a:noFill/>
        </p:spPr>
        <p:txBody>
          <a:bodyPr wrap="square" lIns="36000" tIns="36000" rIns="36000" bIns="36000" rtlCol="0" anchor="t" anchorCtr="0">
            <a:spAutoFit/>
          </a:bodyPr>
          <a:lstStyle/>
          <a:p>
            <a:pPr marL="171450" marR="0" lvl="0" indent="-171450"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1050" dirty="0">
                <a:solidFill>
                  <a:prstClr val="black"/>
                </a:solidFill>
                <a:latin typeface="Meiryo UI" panose="020B0604030504040204" pitchFamily="50" charset="-128"/>
                <a:ea typeface="Meiryo UI" panose="020B0604030504040204" pitchFamily="50" charset="-128"/>
              </a:rPr>
              <a:t>システムフローの作成</a:t>
            </a:r>
          </a:p>
          <a:p>
            <a:pPr marL="447675" lvl="1" indent="-171450">
              <a:buFont typeface="Arial" panose="020B0604020202020204" pitchFamily="34" charset="0"/>
              <a:buChar char="•"/>
              <a:defRPr/>
            </a:pPr>
            <a:r>
              <a:rPr kumimoji="1" lang="ja-JP" altLang="en-US"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システムテスト等のシナリオ作成に活用</a:t>
            </a:r>
            <a:endParaRPr kumimoji="1" lang="en-US" altLang="ja-JP" sz="110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0" name="左中かっこ 39">
            <a:extLst>
              <a:ext uri="{FF2B5EF4-FFF2-40B4-BE49-F238E27FC236}">
                <a16:creationId xmlns:a16="http://schemas.microsoft.com/office/drawing/2014/main" id="{07FCE02C-E52C-0E08-CBCA-965502F1988B}"/>
              </a:ext>
            </a:extLst>
          </p:cNvPr>
          <p:cNvSpPr/>
          <p:nvPr/>
        </p:nvSpPr>
        <p:spPr bwMode="auto">
          <a:xfrm>
            <a:off x="3699514" y="2531670"/>
            <a:ext cx="234311" cy="4019705"/>
          </a:xfrm>
          <a:prstGeom prst="leftBrace">
            <a:avLst>
              <a:gd name="adj1" fmla="val 8333"/>
              <a:gd name="adj2" fmla="val 39572"/>
            </a:avLst>
          </a:prstGeom>
          <a:noFill/>
          <a:ln w="9525" cap="flat" cmpd="sng" algn="ctr">
            <a:solidFill>
              <a:schemeClr val="bg1">
                <a:lumMod val="50000"/>
              </a:schemeClr>
            </a:solidFill>
            <a:prstDash val="solid"/>
            <a:round/>
            <a:headEnd type="none" w="med" len="med"/>
            <a:tailEnd type="none"/>
          </a:ln>
          <a:effectLst/>
        </p:spPr>
        <p:txBody>
          <a:bodyPr rtlCol="0" anchor="ctr"/>
          <a:lstStyle/>
          <a:p>
            <a:pPr algn="ctr"/>
            <a:endParaRPr kumimoji="1" lang="ja-JP" altLang="en-US"/>
          </a:p>
        </p:txBody>
      </p:sp>
      <p:sp>
        <p:nvSpPr>
          <p:cNvPr id="41" name="吹き出し: 四角形 40">
            <a:extLst>
              <a:ext uri="{FF2B5EF4-FFF2-40B4-BE49-F238E27FC236}">
                <a16:creationId xmlns:a16="http://schemas.microsoft.com/office/drawing/2014/main" id="{E021C03C-44A7-0ECB-AEF2-8DF4E338EDFB}"/>
              </a:ext>
            </a:extLst>
          </p:cNvPr>
          <p:cNvSpPr/>
          <p:nvPr/>
        </p:nvSpPr>
        <p:spPr bwMode="auto">
          <a:xfrm>
            <a:off x="135568" y="5435801"/>
            <a:ext cx="3462798" cy="1163076"/>
          </a:xfrm>
          <a:prstGeom prst="wedgeRectCallout">
            <a:avLst>
              <a:gd name="adj1" fmla="val -11617"/>
              <a:gd name="adj2" fmla="val -64040"/>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defTabSz="908410" fontAlgn="base">
              <a:spcAft>
                <a:spcPct val="0"/>
              </a:spcAft>
            </a:pPr>
            <a:r>
              <a:rPr kumimoji="1" lang="en-US" altLang="ja-JP" sz="1000" dirty="0">
                <a:solidFill>
                  <a:prstClr val="black"/>
                </a:solidFill>
                <a:latin typeface="Meiryo UI" panose="020B0604030504040204" pitchFamily="50" charset="-128"/>
                <a:ea typeface="Meiryo UI" panose="020B0604030504040204" pitchFamily="50" charset="-128"/>
              </a:rPr>
              <a:t>NotebookLM</a:t>
            </a:r>
            <a:r>
              <a:rPr kumimoji="1" lang="ja-JP" altLang="en-US" sz="1000" dirty="0">
                <a:solidFill>
                  <a:prstClr val="black"/>
                </a:solidFill>
                <a:latin typeface="Meiryo UI" panose="020B0604030504040204" pitchFamily="50" charset="-128"/>
                <a:ea typeface="Meiryo UI" panose="020B0604030504040204" pitchFamily="50" charset="-128"/>
              </a:rPr>
              <a:t>の特徴をより明確にするために、 「</a:t>
            </a:r>
            <a:r>
              <a:rPr kumimoji="1" lang="en-US" altLang="ja-JP" sz="1000" dirty="0">
                <a:solidFill>
                  <a:prstClr val="black"/>
                </a:solidFill>
                <a:latin typeface="Meiryo UI" panose="020B0604030504040204" pitchFamily="50" charset="-128"/>
                <a:ea typeface="Meiryo UI" panose="020B0604030504040204" pitchFamily="50" charset="-128"/>
              </a:rPr>
              <a:t>Microsoft Copilot</a:t>
            </a:r>
            <a:r>
              <a:rPr kumimoji="1" lang="ja-JP" altLang="en-US" sz="1000" dirty="0">
                <a:solidFill>
                  <a:prstClr val="black"/>
                </a:solidFill>
                <a:latin typeface="Meiryo UI" panose="020B0604030504040204" pitchFamily="50" charset="-128"/>
                <a:ea typeface="Meiryo UI" panose="020B0604030504040204" pitchFamily="50" charset="-128"/>
              </a:rPr>
              <a:t>」とユースケースを通して、机上で比較検証をする。</a:t>
            </a:r>
            <a:endParaRPr kumimoji="1" lang="en-US" altLang="ja-JP" sz="1000" dirty="0">
              <a:solidFill>
                <a:prstClr val="black"/>
              </a:solidFill>
              <a:latin typeface="Meiryo UI" panose="020B0604030504040204" pitchFamily="50" charset="-128"/>
              <a:ea typeface="Meiryo UI" panose="020B0604030504040204" pitchFamily="50" charset="-128"/>
            </a:endParaRPr>
          </a:p>
          <a:p>
            <a:pPr defTabSz="908410" fontAlgn="base">
              <a:spcAft>
                <a:spcPct val="0"/>
              </a:spcAft>
            </a:pPr>
            <a:endParaRPr kumimoji="1" lang="en-US" altLang="ja-JP" sz="1000" dirty="0">
              <a:solidFill>
                <a:prstClr val="black"/>
              </a:solidFill>
              <a:latin typeface="Meiryo UI" panose="020B0604030504040204" pitchFamily="50" charset="-128"/>
              <a:ea typeface="Meiryo UI" panose="020B0604030504040204" pitchFamily="50" charset="-128"/>
            </a:endParaRPr>
          </a:p>
          <a:p>
            <a:pPr defTabSz="908410" fontAlgn="base">
              <a:spcAft>
                <a:spcPct val="0"/>
              </a:spcAft>
            </a:pPr>
            <a:r>
              <a:rPr kumimoji="1" lang="ja-JP" altLang="en-US" sz="1000" dirty="0">
                <a:solidFill>
                  <a:prstClr val="black"/>
                </a:solidFill>
                <a:latin typeface="Meiryo UI" panose="020B0604030504040204" pitchFamily="50" charset="-128"/>
                <a:ea typeface="Meiryo UI" panose="020B0604030504040204" pitchFamily="50" charset="-128"/>
              </a:rPr>
              <a:t> 「</a:t>
            </a:r>
            <a:r>
              <a:rPr kumimoji="1" lang="en-US" altLang="ja-JP" sz="1000" dirty="0">
                <a:solidFill>
                  <a:prstClr val="black"/>
                </a:solidFill>
                <a:latin typeface="Meiryo UI" panose="020B0604030504040204" pitchFamily="50" charset="-128"/>
                <a:ea typeface="Meiryo UI" panose="020B0604030504040204" pitchFamily="50" charset="-128"/>
              </a:rPr>
              <a:t>Microsoft Copilot</a:t>
            </a:r>
            <a:r>
              <a:rPr kumimoji="1" lang="ja-JP" altLang="en-US" sz="1000" dirty="0">
                <a:solidFill>
                  <a:prstClr val="black"/>
                </a:solidFill>
                <a:latin typeface="Meiryo UI" panose="020B0604030504040204" pitchFamily="50" charset="-128"/>
                <a:ea typeface="Meiryo UI" panose="020B0604030504040204" pitchFamily="50" charset="-128"/>
              </a:rPr>
              <a:t>」を選定した理由は、以下の通り。</a:t>
            </a:r>
            <a:endParaRPr lang="en-US" altLang="ja-JP" sz="1000" dirty="0">
              <a:solidFill>
                <a:prstClr val="black"/>
              </a:solidFill>
              <a:latin typeface="Meiryo UI" panose="020B0604030504040204" pitchFamily="50" charset="-128"/>
              <a:ea typeface="Meiryo UI" panose="020B0604030504040204" pitchFamily="50" charset="-128"/>
            </a:endParaRPr>
          </a:p>
          <a:p>
            <a:pPr defTabSz="908410" fontAlgn="base">
              <a:spcAft>
                <a:spcPct val="0"/>
              </a:spcAft>
            </a:pPr>
            <a:r>
              <a:rPr lang="ja-JP" altLang="en-US" sz="1000" dirty="0">
                <a:solidFill>
                  <a:prstClr val="black"/>
                </a:solidFill>
                <a:latin typeface="Meiryo UI" panose="020B0604030504040204" pitchFamily="50" charset="-128"/>
                <a:ea typeface="Meiryo UI" panose="020B0604030504040204" pitchFamily="50" charset="-128"/>
              </a:rPr>
              <a:t>・無料で利用できるツールを用いた</a:t>
            </a:r>
            <a:r>
              <a:rPr lang="en-US" altLang="ja-JP" sz="1000" dirty="0">
                <a:solidFill>
                  <a:prstClr val="black"/>
                </a:solidFill>
                <a:latin typeface="Meiryo UI" panose="020B0604030504040204" pitchFamily="50" charset="-128"/>
                <a:ea typeface="Meiryo UI" panose="020B0604030504040204" pitchFamily="50" charset="-128"/>
              </a:rPr>
              <a:t>PoC</a:t>
            </a:r>
            <a:r>
              <a:rPr lang="ja-JP" altLang="en-US" sz="1000" dirty="0">
                <a:solidFill>
                  <a:prstClr val="black"/>
                </a:solidFill>
                <a:latin typeface="Meiryo UI" panose="020B0604030504040204" pitchFamily="50" charset="-128"/>
                <a:ea typeface="Meiryo UI" panose="020B0604030504040204" pitchFamily="50" charset="-128"/>
              </a:rPr>
              <a:t>というコンセプト</a:t>
            </a:r>
            <a:endParaRPr lang="en-US" altLang="ja-JP" sz="1000" dirty="0">
              <a:solidFill>
                <a:prstClr val="black"/>
              </a:solidFill>
              <a:latin typeface="Meiryo UI" panose="020B0604030504040204" pitchFamily="50" charset="-128"/>
              <a:ea typeface="Meiryo UI" panose="020B0604030504040204" pitchFamily="50" charset="-128"/>
            </a:endParaRPr>
          </a:p>
          <a:p>
            <a:pPr defTabSz="908410" fontAlgn="base">
              <a:spcAft>
                <a:spcPct val="0"/>
              </a:spcAft>
            </a:pPr>
            <a:r>
              <a:rPr kumimoji="1" lang="ja-JP" altLang="en-US" sz="1000" dirty="0">
                <a:solidFill>
                  <a:prstClr val="black"/>
                </a:solidFill>
                <a:latin typeface="Meiryo UI" panose="020B0604030504040204" pitchFamily="50" charset="-128"/>
                <a:ea typeface="Meiryo UI" panose="020B0604030504040204" pitchFamily="50" charset="-128"/>
              </a:rPr>
              <a:t>・</a:t>
            </a:r>
            <a:r>
              <a:rPr kumimoji="1" lang="en-US" altLang="ja-JP" sz="1000" dirty="0">
                <a:solidFill>
                  <a:prstClr val="black"/>
                </a:solidFill>
                <a:latin typeface="Meiryo UI" panose="020B0604030504040204" pitchFamily="50" charset="-128"/>
                <a:ea typeface="Meiryo UI" panose="020B0604030504040204" pitchFamily="50" charset="-128"/>
              </a:rPr>
              <a:t>ACN</a:t>
            </a:r>
            <a:r>
              <a:rPr kumimoji="1" lang="ja-JP" altLang="en-US" sz="1000" dirty="0">
                <a:solidFill>
                  <a:prstClr val="black"/>
                </a:solidFill>
                <a:latin typeface="Meiryo UI" panose="020B0604030504040204" pitchFamily="50" charset="-128"/>
                <a:ea typeface="Meiryo UI" panose="020B0604030504040204" pitchFamily="50" charset="-128"/>
              </a:rPr>
              <a:t>内での利用状況。</a:t>
            </a:r>
            <a:r>
              <a:rPr kumimoji="1" lang="en-US" altLang="ja-JP" sz="1000" dirty="0">
                <a:solidFill>
                  <a:prstClr val="black"/>
                </a:solidFill>
                <a:latin typeface="Meiryo UI" panose="020B0604030504040204" pitchFamily="50" charset="-128"/>
                <a:ea typeface="Meiryo UI" panose="020B0604030504040204" pitchFamily="50" charset="-128"/>
              </a:rPr>
              <a:t>Copilot</a:t>
            </a:r>
            <a:r>
              <a:rPr kumimoji="1" lang="ja-JP" altLang="en-US" sz="1000" dirty="0">
                <a:solidFill>
                  <a:prstClr val="black"/>
                </a:solidFill>
                <a:latin typeface="Meiryo UI" panose="020B0604030504040204" pitchFamily="50" charset="-128"/>
                <a:ea typeface="Meiryo UI" panose="020B0604030504040204" pitchFamily="50" charset="-128"/>
              </a:rPr>
              <a:t>は</a:t>
            </a:r>
            <a:r>
              <a:rPr kumimoji="1" lang="en-US" altLang="ja-JP" sz="1000" dirty="0">
                <a:solidFill>
                  <a:prstClr val="black"/>
                </a:solidFill>
                <a:latin typeface="Meiryo UI" panose="020B0604030504040204" pitchFamily="50" charset="-128"/>
                <a:ea typeface="Meiryo UI" panose="020B0604030504040204" pitchFamily="50" charset="-128"/>
              </a:rPr>
              <a:t>ACN</a:t>
            </a:r>
            <a:r>
              <a:rPr kumimoji="1" lang="ja-JP" altLang="en-US" sz="1000" dirty="0">
                <a:solidFill>
                  <a:prstClr val="black"/>
                </a:solidFill>
                <a:latin typeface="Meiryo UI" panose="020B0604030504040204" pitchFamily="50" charset="-128"/>
                <a:ea typeface="Meiryo UI" panose="020B0604030504040204" pitchFamily="50" charset="-128"/>
              </a:rPr>
              <a:t>で実績あり</a:t>
            </a:r>
            <a:endParaRPr kumimoji="1" lang="en-US" altLang="ja-JP" sz="1000" dirty="0">
              <a:solidFill>
                <a:prstClr val="black"/>
              </a:solidFill>
              <a:latin typeface="Meiryo UI" panose="020B0604030504040204" pitchFamily="50" charset="-128"/>
              <a:ea typeface="Meiryo UI" panose="020B0604030504040204" pitchFamily="50" charset="-128"/>
            </a:endParaRPr>
          </a:p>
          <a:p>
            <a:pPr defTabSz="908410" fontAlgn="base">
              <a:spcAft>
                <a:spcPct val="0"/>
              </a:spcAft>
            </a:pPr>
            <a:r>
              <a:rPr lang="ja-JP" altLang="en-US" sz="1000" dirty="0">
                <a:solidFill>
                  <a:prstClr val="black"/>
                </a:solidFill>
                <a:latin typeface="Meiryo UI" panose="020B0604030504040204" pitchFamily="50" charset="-128"/>
                <a:ea typeface="Meiryo UI" panose="020B0604030504040204" pitchFamily="50" charset="-128"/>
              </a:rPr>
              <a:t>・</a:t>
            </a:r>
            <a:r>
              <a:rPr lang="en-US" altLang="ja-JP" sz="1000" dirty="0">
                <a:solidFill>
                  <a:prstClr val="black"/>
                </a:solidFill>
                <a:latin typeface="Meiryo UI" panose="020B0604030504040204" pitchFamily="50" charset="-128"/>
                <a:ea typeface="Meiryo UI" panose="020B0604030504040204" pitchFamily="50" charset="-128"/>
              </a:rPr>
              <a:t>PoC</a:t>
            </a:r>
            <a:r>
              <a:rPr lang="ja-JP" altLang="en-US" sz="1000" dirty="0">
                <a:solidFill>
                  <a:prstClr val="black"/>
                </a:solidFill>
                <a:latin typeface="Meiryo UI" panose="020B0604030504040204" pitchFamily="50" charset="-128"/>
                <a:ea typeface="Meiryo UI" panose="020B0604030504040204" pitchFamily="50" charset="-128"/>
              </a:rPr>
              <a:t>の期間も考慮</a:t>
            </a:r>
            <a:endParaRPr kumimoji="1" lang="ja-JP" altLang="en-US" sz="1000" dirty="0">
              <a:solidFill>
                <a:prstClr val="black"/>
              </a:solidFill>
              <a:latin typeface="Meiryo UI" panose="020B0604030504040204" pitchFamily="50" charset="-128"/>
              <a:ea typeface="Meiryo UI" panose="020B0604030504040204" pitchFamily="50" charset="-128"/>
            </a:endParaRPr>
          </a:p>
        </p:txBody>
      </p:sp>
      <p:sp>
        <p:nvSpPr>
          <p:cNvPr id="42" name="四角形: 角を丸くする 41">
            <a:extLst>
              <a:ext uri="{FF2B5EF4-FFF2-40B4-BE49-F238E27FC236}">
                <a16:creationId xmlns:a16="http://schemas.microsoft.com/office/drawing/2014/main" id="{D9EA8B9A-7EF5-A400-07CC-46EC0E41E9B7}"/>
              </a:ext>
            </a:extLst>
          </p:cNvPr>
          <p:cNvSpPr/>
          <p:nvPr/>
        </p:nvSpPr>
        <p:spPr bwMode="auto">
          <a:xfrm>
            <a:off x="1874474" y="5096648"/>
            <a:ext cx="1657885" cy="389025"/>
          </a:xfrm>
          <a:prstGeom prst="roundRect">
            <a:avLst/>
          </a:prstGeom>
          <a:solidFill>
            <a:schemeClr val="accent4">
              <a:lumMod val="20000"/>
              <a:lumOff val="80000"/>
            </a:schemeClr>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defTabSz="908410" fontAlgn="base">
              <a:spcAft>
                <a:spcPct val="0"/>
              </a:spcAft>
            </a:pPr>
            <a:r>
              <a:rPr kumimoji="1" lang="en-US" altLang="ja-JP" sz="1050" dirty="0">
                <a:solidFill>
                  <a:prstClr val="black"/>
                </a:solidFill>
                <a:latin typeface="Meiryo UI" panose="020B0604030504040204" pitchFamily="50" charset="-128"/>
                <a:ea typeface="Meiryo UI" panose="020B0604030504040204" pitchFamily="50" charset="-128"/>
              </a:rPr>
              <a:t>5/29</a:t>
            </a:r>
          </a:p>
          <a:p>
            <a:pPr defTabSz="908410" fontAlgn="base">
              <a:spcAft>
                <a:spcPct val="0"/>
              </a:spcAft>
            </a:pPr>
            <a:r>
              <a:rPr lang="ja-JP" altLang="en-US" sz="1050" dirty="0">
                <a:solidFill>
                  <a:prstClr val="black"/>
                </a:solidFill>
                <a:latin typeface="Meiryo UI" panose="020B0604030504040204" pitchFamily="50" charset="-128"/>
                <a:ea typeface="Meiryo UI" panose="020B0604030504040204" pitchFamily="50" charset="-128"/>
              </a:rPr>
              <a:t>風見さんとの会話後、追加</a:t>
            </a: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43" name="四角形: 角を丸くする 42">
            <a:extLst>
              <a:ext uri="{FF2B5EF4-FFF2-40B4-BE49-F238E27FC236}">
                <a16:creationId xmlns:a16="http://schemas.microsoft.com/office/drawing/2014/main" id="{07BC7484-081F-4686-8475-0D1BFBC10C78}"/>
              </a:ext>
            </a:extLst>
          </p:cNvPr>
          <p:cNvSpPr/>
          <p:nvPr/>
        </p:nvSpPr>
        <p:spPr bwMode="auto">
          <a:xfrm>
            <a:off x="8717280" y="2439142"/>
            <a:ext cx="1108527" cy="228114"/>
          </a:xfrm>
          <a:prstGeom prst="roundRect">
            <a:avLst/>
          </a:prstGeom>
          <a:solidFill>
            <a:srgbClr val="FFFFCC"/>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本検証の主目的</a:t>
            </a:r>
          </a:p>
        </p:txBody>
      </p:sp>
      <p:sp>
        <p:nvSpPr>
          <p:cNvPr id="44" name="右中かっこ 43">
            <a:extLst>
              <a:ext uri="{FF2B5EF4-FFF2-40B4-BE49-F238E27FC236}">
                <a16:creationId xmlns:a16="http://schemas.microsoft.com/office/drawing/2014/main" id="{5EFBF406-D312-1A28-0B69-55962B3DDA96}"/>
              </a:ext>
            </a:extLst>
          </p:cNvPr>
          <p:cNvSpPr/>
          <p:nvPr/>
        </p:nvSpPr>
        <p:spPr bwMode="auto">
          <a:xfrm>
            <a:off x="9335589" y="4347130"/>
            <a:ext cx="112997" cy="2204249"/>
          </a:xfrm>
          <a:prstGeom prst="rightBrace">
            <a:avLst/>
          </a:prstGeom>
          <a:noFill/>
          <a:ln w="9525" cap="flat" cmpd="sng" algn="ctr">
            <a:solidFill>
              <a:schemeClr val="bg1">
                <a:lumMod val="50000"/>
              </a:schemeClr>
            </a:solidFill>
            <a:prstDash val="solid"/>
            <a:round/>
            <a:headEnd type="none" w="med" len="med"/>
            <a:tailEnd type="none"/>
          </a:ln>
          <a:effectLst/>
        </p:spPr>
        <p:txBody>
          <a:bodyPr rtlCol="0" anchor="ctr"/>
          <a:lstStyle/>
          <a:p>
            <a:pPr algn="ctr"/>
            <a:endParaRPr kumimoji="1" lang="ja-JP" altLang="en-US"/>
          </a:p>
        </p:txBody>
      </p:sp>
      <p:sp>
        <p:nvSpPr>
          <p:cNvPr id="45" name="四角形: 角を丸くする 44">
            <a:extLst>
              <a:ext uri="{FF2B5EF4-FFF2-40B4-BE49-F238E27FC236}">
                <a16:creationId xmlns:a16="http://schemas.microsoft.com/office/drawing/2014/main" id="{8282E979-6F50-9A38-C5FD-E2012A0AE4EB}"/>
              </a:ext>
            </a:extLst>
          </p:cNvPr>
          <p:cNvSpPr/>
          <p:nvPr/>
        </p:nvSpPr>
        <p:spPr bwMode="auto">
          <a:xfrm>
            <a:off x="8717279" y="5329943"/>
            <a:ext cx="1108527" cy="260847"/>
          </a:xfrm>
          <a:prstGeom prst="roundRect">
            <a:avLst/>
          </a:prstGeom>
          <a:solidFill>
            <a:srgbClr val="FFFFCC"/>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更なる活用を</a:t>
            </a:r>
            <a:endParaRPr kumimoji="1" lang="en-US" altLang="ja-JP" sz="1050"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1050" dirty="0">
                <a:solidFill>
                  <a:prstClr val="black"/>
                </a:solidFill>
                <a:latin typeface="Meiryo UI" panose="020B0604030504040204" pitchFamily="50" charset="-128"/>
                <a:ea typeface="Meiryo UI" panose="020B0604030504040204" pitchFamily="50" charset="-128"/>
              </a:rPr>
              <a:t>検証</a:t>
            </a:r>
          </a:p>
        </p:txBody>
      </p:sp>
    </p:spTree>
    <p:extLst>
      <p:ext uri="{BB962C8B-B14F-4D97-AF65-F5344CB8AC3E}">
        <p14:creationId xmlns:p14="http://schemas.microsoft.com/office/powerpoint/2010/main" val="31702790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F249A-BA9A-204E-DB75-3B6F2A2B8815}"/>
            </a:ext>
          </a:extLst>
        </p:cNvPr>
        <p:cNvGrpSpPr/>
        <p:nvPr/>
      </p:nvGrpSpPr>
      <p:grpSpPr>
        <a:xfrm>
          <a:off x="0" y="0"/>
          <a:ext cx="0" cy="0"/>
          <a:chOff x="0" y="0"/>
          <a:chExt cx="0" cy="0"/>
        </a:xfrm>
      </p:grpSpPr>
      <p:pic>
        <p:nvPicPr>
          <p:cNvPr id="6" name="カメラ 5">
            <a:extLst>
              <a:ext uri="{FF2B5EF4-FFF2-40B4-BE49-F238E27FC236}">
                <a16:creationId xmlns:a16="http://schemas.microsoft.com/office/drawing/2014/main" id="{7096BE9E-6997-C744-0E49-8B11B9C04549}"/>
              </a:ext>
            </a:extLst>
          </p:cNvPr>
          <p:cNvPicPr>
            <a:picLocks noChangeAspect="1"/>
            <a:extLst>
              <a:ext uri="{51228E76-BA90-4043-B771-695A4F85340A}">
                <alf:liveFeedProps xmlns:alf="http://schemas.microsoft.com/office/drawing/2021/livefeed"/>
              </a:ext>
            </a:extLst>
          </p:cNvPicPr>
          <p:nvPr/>
        </p:nvPicPr>
        <p:blipFill>
          <a:blip r:embed="rId2">
            <a:extLst>
              <a:ext uri="{96DAC541-7B7A-43D3-8B79-37D633B846F1}">
                <asvg:svgBlip xmlns:asvg="http://schemas.microsoft.com/office/drawing/2016/SVG/main" r:embed="rId3"/>
              </a:ext>
            </a:extLst>
          </a:blip>
          <a:stretch>
            <a:fillRect/>
          </a:stretch>
        </p:blipFill>
        <p:spPr>
          <a:xfrm>
            <a:off x="6604254" y="3870579"/>
            <a:ext cx="2057400" cy="2057400"/>
          </a:xfrm>
          <a:prstGeom prst="ellipse">
            <a:avLst/>
          </a:prstGeom>
        </p:spPr>
      </p:pic>
      <p:sp>
        <p:nvSpPr>
          <p:cNvPr id="7" name="吹き出し: 四角形 6">
            <a:extLst>
              <a:ext uri="{FF2B5EF4-FFF2-40B4-BE49-F238E27FC236}">
                <a16:creationId xmlns:a16="http://schemas.microsoft.com/office/drawing/2014/main" id="{2ACEF924-DB97-C6D6-E243-954022713F8F}"/>
              </a:ext>
            </a:extLst>
          </p:cNvPr>
          <p:cNvSpPr/>
          <p:nvPr/>
        </p:nvSpPr>
        <p:spPr bwMode="auto">
          <a:xfrm>
            <a:off x="2552700" y="2409825"/>
            <a:ext cx="4181475" cy="1838325"/>
          </a:xfrm>
          <a:prstGeom prst="wedgeRectCallout">
            <a:avLst>
              <a:gd name="adj1" fmla="val 60033"/>
              <a:gd name="adj2" fmla="val 35039"/>
            </a:avLst>
          </a:prstGeom>
          <a:solidFill>
            <a:schemeClr val="bg1"/>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lang="ja-JP" altLang="en-US" sz="2000" b="1" dirty="0">
                <a:solidFill>
                  <a:prstClr val="black"/>
                </a:solidFill>
                <a:latin typeface="Meiryo UI" panose="020B0604030504040204" pitchFamily="50" charset="-128"/>
                <a:ea typeface="Meiryo UI" panose="020B0604030504040204" pitchFamily="50" charset="-128"/>
              </a:rPr>
              <a:t>早川</a:t>
            </a:r>
            <a:r>
              <a:rPr kumimoji="1" lang="en-US" altLang="ja-JP" sz="2000" b="1" dirty="0">
                <a:solidFill>
                  <a:prstClr val="black"/>
                </a:solidFill>
                <a:latin typeface="Meiryo UI" panose="020B0604030504040204" pitchFamily="50" charset="-128"/>
                <a:ea typeface="Meiryo UI" panose="020B0604030504040204" pitchFamily="50" charset="-128"/>
              </a:rPr>
              <a:t>MD</a:t>
            </a:r>
          </a:p>
          <a:p>
            <a:pPr algn="ctr" defTabSz="908410" fontAlgn="base">
              <a:spcAft>
                <a:spcPct val="0"/>
              </a:spcAft>
            </a:pPr>
            <a:r>
              <a:rPr kumimoji="1" lang="ja-JP" altLang="en-US" sz="2000" b="1" dirty="0">
                <a:solidFill>
                  <a:prstClr val="black"/>
                </a:solidFill>
                <a:latin typeface="Meiryo UI" panose="020B0604030504040204" pitchFamily="50" charset="-128"/>
                <a:ea typeface="Meiryo UI" panose="020B0604030504040204" pitchFamily="50" charset="-128"/>
              </a:rPr>
              <a:t>各プロジェクトについて</a:t>
            </a:r>
            <a:endParaRPr kumimoji="1" lang="en-US" altLang="ja-JP" sz="2000" b="1" dirty="0">
              <a:solidFill>
                <a:prstClr val="black"/>
              </a:solidFill>
              <a:latin typeface="Meiryo UI" panose="020B0604030504040204" pitchFamily="50" charset="-128"/>
              <a:ea typeface="Meiryo UI" panose="020B0604030504040204" pitchFamily="50" charset="-128"/>
            </a:endParaRPr>
          </a:p>
          <a:p>
            <a:pPr algn="ctr" defTabSz="908410" fontAlgn="base">
              <a:spcAft>
                <a:spcPct val="0"/>
              </a:spcAft>
            </a:pPr>
            <a:r>
              <a:rPr kumimoji="1" lang="ja-JP" altLang="en-US" sz="2000" b="1" dirty="0">
                <a:solidFill>
                  <a:prstClr val="black"/>
                </a:solidFill>
                <a:latin typeface="Meiryo UI" panose="020B0604030504040204" pitchFamily="50" charset="-128"/>
                <a:ea typeface="Meiryo UI" panose="020B0604030504040204" pitchFamily="50" charset="-128"/>
              </a:rPr>
              <a:t>何かコメントありますか？</a:t>
            </a:r>
          </a:p>
        </p:txBody>
      </p:sp>
    </p:spTree>
    <p:extLst>
      <p:ext uri="{BB962C8B-B14F-4D97-AF65-F5344CB8AC3E}">
        <p14:creationId xmlns:p14="http://schemas.microsoft.com/office/powerpoint/2010/main" val="6940918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B2959-F2D3-F0D0-81A7-7B6E0D4BA3B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9AF58681-4B05-8DC4-C6BD-AA9FD8DFA442}"/>
              </a:ext>
            </a:extLst>
          </p:cNvPr>
          <p:cNvSpPr/>
          <p:nvPr/>
        </p:nvSpPr>
        <p:spPr bwMode="auto">
          <a:xfrm>
            <a:off x="-759638" y="2855316"/>
            <a:ext cx="11244300" cy="1147369"/>
          </a:xfrm>
          <a:prstGeom prst="rect">
            <a:avLst/>
          </a:prstGeom>
          <a:solidFill>
            <a:srgbClr val="A055F5"/>
          </a:solidFill>
          <a:ln w="6350" cap="flat" cmpd="sng" algn="ctr">
            <a:solidFill>
              <a:schemeClr val="tx1">
                <a:lumMod val="50000"/>
                <a:lumOff val="50000"/>
              </a:schemeClr>
            </a:solid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en-US" altLang="ja-JP" sz="3600" b="1" dirty="0">
                <a:solidFill>
                  <a:schemeClr val="bg1"/>
                </a:solidFill>
                <a:latin typeface="Meiryo UI" panose="020B0604030504040204" pitchFamily="50" charset="-128"/>
                <a:ea typeface="Meiryo UI" panose="020B0604030504040204" pitchFamily="50" charset="-128"/>
              </a:rPr>
              <a:t>Q</a:t>
            </a:r>
            <a:r>
              <a:rPr kumimoji="1" lang="ja-JP" altLang="en-US" sz="3600" b="1" dirty="0">
                <a:solidFill>
                  <a:schemeClr val="bg1"/>
                </a:solidFill>
                <a:latin typeface="Meiryo UI" panose="020B0604030504040204" pitchFamily="50" charset="-128"/>
                <a:ea typeface="Meiryo UI" panose="020B0604030504040204" pitchFamily="50" charset="-128"/>
              </a:rPr>
              <a:t>＆</a:t>
            </a:r>
            <a:r>
              <a:rPr kumimoji="1" lang="en-US" altLang="ja-JP" sz="3600" b="1" dirty="0">
                <a:solidFill>
                  <a:schemeClr val="bg1"/>
                </a:solidFill>
                <a:latin typeface="Meiryo UI" panose="020B0604030504040204" pitchFamily="50" charset="-128"/>
                <a:ea typeface="Meiryo UI" panose="020B0604030504040204" pitchFamily="50" charset="-128"/>
              </a:rPr>
              <a:t>A</a:t>
            </a:r>
            <a:endParaRPr kumimoji="1" lang="ja-JP" altLang="en-US" sz="36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709237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1F199-2792-857E-8800-184AC864FAA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358537B-66D4-0682-4869-89C81C0CB8D7}"/>
              </a:ext>
            </a:extLst>
          </p:cNvPr>
          <p:cNvSpPr/>
          <p:nvPr/>
        </p:nvSpPr>
        <p:spPr bwMode="auto">
          <a:xfrm>
            <a:off x="2492339" y="5928180"/>
            <a:ext cx="4921322" cy="287676"/>
          </a:xfrm>
          <a:prstGeom prst="rect">
            <a:avLst/>
          </a:prstGeom>
          <a:solidFill>
            <a:srgbClr val="E6DCFF"/>
          </a:solid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endParaRPr kumimoji="1" lang="ja-JP" altLang="en-US" sz="1050" dirty="0">
              <a:solidFill>
                <a:prstClr val="black"/>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B3B1D8BE-3A46-3EF3-6543-F93FCA7A8AB1}"/>
              </a:ext>
            </a:extLst>
          </p:cNvPr>
          <p:cNvSpPr/>
          <p:nvPr/>
        </p:nvSpPr>
        <p:spPr bwMode="auto">
          <a:xfrm>
            <a:off x="2492339" y="1192976"/>
            <a:ext cx="4921322" cy="5141462"/>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marL="228600"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MTBJ/MUSK</a:t>
            </a:r>
            <a:r>
              <a:rPr kumimoji="1" lang="ja-JP" altLang="en-US" dirty="0">
                <a:solidFill>
                  <a:prstClr val="black"/>
                </a:solidFill>
                <a:latin typeface="Meiryo UI" panose="020B0604030504040204" pitchFamily="50" charset="-128"/>
                <a:ea typeface="Meiryo UI" panose="020B0604030504040204" pitchFamily="50" charset="-128"/>
              </a:rPr>
              <a:t>の概要</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a:t>
            </a:r>
            <a:r>
              <a:rPr lang="ja-JP" altLang="en-US" dirty="0">
                <a:solidFill>
                  <a:prstClr val="black"/>
                </a:solidFill>
                <a:latin typeface="Meiryo UI" panose="020B0604030504040204" pitchFamily="50" charset="-128"/>
                <a:ea typeface="Meiryo UI" panose="020B0604030504040204" pitchFamily="50" charset="-128"/>
              </a:rPr>
              <a:t>とは？</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en-US" altLang="ja-JP" dirty="0">
                <a:solidFill>
                  <a:prstClr val="black"/>
                </a:solidFill>
                <a:latin typeface="Meiryo UI" panose="020B0604030504040204" pitchFamily="50" charset="-128"/>
                <a:ea typeface="Meiryo UI" panose="020B0604030504040204" pitchFamily="50" charset="-128"/>
              </a:rPr>
              <a:t>MUSK</a:t>
            </a:r>
            <a:r>
              <a:rPr lang="ja-JP" altLang="en-US" dirty="0">
                <a:solidFill>
                  <a:prstClr val="black"/>
                </a:solidFill>
                <a:latin typeface="Meiryo UI" panose="020B0604030504040204" pitchFamily="50" charset="-128"/>
                <a:ea typeface="Meiryo UI" panose="020B0604030504040204" pitchFamily="50" charset="-128"/>
              </a:rPr>
              <a:t>とは？</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アカウント紹介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アカウントの概要</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アカウントの紹介</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en-US" altLang="ja-JP" dirty="0">
                <a:solidFill>
                  <a:prstClr val="black"/>
                </a:solidFill>
                <a:latin typeface="Meiryo UI" panose="020B0604030504040204" pitchFamily="50" charset="-128"/>
                <a:ea typeface="Meiryo UI" panose="020B0604030504040204" pitchFamily="50" charset="-128"/>
              </a:rPr>
              <a:t>MTBJ/MUSK</a:t>
            </a:r>
            <a:r>
              <a:rPr lang="ja-JP" altLang="en-US" dirty="0">
                <a:solidFill>
                  <a:prstClr val="black"/>
                </a:solidFill>
                <a:latin typeface="Meiryo UI" panose="020B0604030504040204" pitchFamily="50" charset="-128"/>
                <a:ea typeface="Meiryo UI" panose="020B0604030504040204" pitchFamily="50" charset="-128"/>
              </a:rPr>
              <a:t>アカウントの特徴</a:t>
            </a:r>
            <a:endParaRPr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ご支援内容の全体像</a:t>
            </a:r>
            <a:endParaRPr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プロジェクト①アーキテクチャ戦略</a:t>
            </a:r>
            <a:endParaRPr kumimoji="1" lang="en-US" altLang="ja-JP" dirty="0">
              <a:solidFill>
                <a:prstClr val="black"/>
              </a:solidFill>
              <a:latin typeface="Meiryo UI" panose="020B0604030504040204" pitchFamily="50" charset="-128"/>
              <a:ea typeface="Meiryo UI" panose="020B0604030504040204" pitchFamily="50" charset="-128"/>
            </a:endParaRPr>
          </a:p>
          <a:p>
            <a:pPr marL="685800" lvl="1" indent="-228600" defTabSz="908410" fontAlgn="base">
              <a:lnSpc>
                <a:spcPct val="150000"/>
              </a:lnSpc>
              <a:spcAft>
                <a:spcPct val="0"/>
              </a:spcAft>
              <a:buFont typeface="+mj-lt"/>
              <a:buAutoNum type="arabicPeriod"/>
            </a:pPr>
            <a:r>
              <a:rPr lang="ja-JP" altLang="en-US" dirty="0">
                <a:solidFill>
                  <a:prstClr val="black"/>
                </a:solidFill>
                <a:latin typeface="Meiryo UI" panose="020B0604030504040204" pitchFamily="50" charset="-128"/>
                <a:ea typeface="Meiryo UI" panose="020B0604030504040204" pitchFamily="50" charset="-128"/>
              </a:rPr>
              <a:t>プロジェクト②業務改善支援</a:t>
            </a:r>
            <a:endParaRPr kumimoji="1" lang="en-US" altLang="ja-JP" dirty="0">
              <a:solidFill>
                <a:prstClr val="black"/>
              </a:solidFill>
              <a:latin typeface="Meiryo UI" panose="020B0604030504040204" pitchFamily="50" charset="-128"/>
              <a:ea typeface="Meiryo UI" panose="020B0604030504040204" pitchFamily="50" charset="-128"/>
            </a:endParaRPr>
          </a:p>
          <a:p>
            <a:pPr marL="228600" indent="-228600" defTabSz="908410" fontAlgn="base">
              <a:lnSpc>
                <a:spcPct val="150000"/>
              </a:lnSpc>
              <a:spcAft>
                <a:spcPct val="0"/>
              </a:spcAft>
              <a:buFont typeface="+mj-lt"/>
              <a:buAutoNum type="arabicPeriod"/>
            </a:pPr>
            <a:r>
              <a:rPr kumimoji="1" lang="ja-JP" altLang="en-US" dirty="0">
                <a:solidFill>
                  <a:prstClr val="black"/>
                </a:solidFill>
                <a:latin typeface="Meiryo UI" panose="020B0604030504040204" pitchFamily="50" charset="-128"/>
                <a:ea typeface="Meiryo UI" panose="020B0604030504040204" pitchFamily="50" charset="-128"/>
              </a:rPr>
              <a:t>まとめ</a:t>
            </a:r>
          </a:p>
        </p:txBody>
      </p:sp>
    </p:spTree>
    <p:extLst>
      <p:ext uri="{BB962C8B-B14F-4D97-AF65-F5344CB8AC3E}">
        <p14:creationId xmlns:p14="http://schemas.microsoft.com/office/powerpoint/2010/main" val="37442911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090D6-8591-58E4-9C41-731D2A540735}"/>
            </a:ext>
          </a:extLst>
        </p:cNvPr>
        <p:cNvGrpSpPr/>
        <p:nvPr/>
      </p:nvGrpSpPr>
      <p:grpSpPr>
        <a:xfrm>
          <a:off x="0" y="0"/>
          <a:ext cx="0" cy="0"/>
          <a:chOff x="0" y="0"/>
          <a:chExt cx="0" cy="0"/>
        </a:xfrm>
      </p:grpSpPr>
      <p:pic>
        <p:nvPicPr>
          <p:cNvPr id="12" name="図 11">
            <a:extLst>
              <a:ext uri="{FF2B5EF4-FFF2-40B4-BE49-F238E27FC236}">
                <a16:creationId xmlns:a16="http://schemas.microsoft.com/office/drawing/2014/main" id="{23E93FEF-0D7D-E73A-FD21-EE0929571CF5}"/>
              </a:ext>
            </a:extLst>
          </p:cNvPr>
          <p:cNvPicPr>
            <a:picLocks noChangeAspect="1"/>
          </p:cNvPicPr>
          <p:nvPr/>
        </p:nvPicPr>
        <p:blipFill>
          <a:blip r:embed="rId3"/>
          <a:stretch>
            <a:fillRect/>
          </a:stretch>
        </p:blipFill>
        <p:spPr>
          <a:xfrm>
            <a:off x="2695575" y="509587"/>
            <a:ext cx="4514850" cy="5838825"/>
          </a:xfrm>
          <a:prstGeom prst="rect">
            <a:avLst/>
          </a:prstGeom>
        </p:spPr>
      </p:pic>
      <p:pic>
        <p:nvPicPr>
          <p:cNvPr id="13" name="カメラ 12">
            <a:extLst>
              <a:ext uri="{FF2B5EF4-FFF2-40B4-BE49-F238E27FC236}">
                <a16:creationId xmlns:a16="http://schemas.microsoft.com/office/drawing/2014/main" id="{0FF9C4B9-D328-CCC1-0CFC-525B4FA5058D}"/>
              </a:ext>
            </a:extLst>
          </p:cNvPr>
          <p:cNvPicPr>
            <a:picLocks noChangeAspect="1"/>
            <a:extLst>
              <a:ext uri="{51228E76-BA90-4043-B771-695A4F85340A}">
                <alf:liveFeedProps xmlns:alf="http://schemas.microsoft.com/office/drawing/2021/livefeed"/>
              </a:ext>
            </a:extLst>
          </p:cNvPicPr>
          <p:nvPr/>
        </p:nvPicPr>
        <p:blipFill>
          <a:blip r:embed="rId4">
            <a:extLst>
              <a:ext uri="{96DAC541-7B7A-43D3-8B79-37D633B846F1}">
                <asvg:svgBlip xmlns:asvg="http://schemas.microsoft.com/office/drawing/2016/SVG/main" r:embed="rId5"/>
              </a:ext>
            </a:extLst>
          </a:blip>
          <a:stretch>
            <a:fillRect/>
          </a:stretch>
        </p:blipFill>
        <p:spPr>
          <a:xfrm>
            <a:off x="3124200" y="2403729"/>
            <a:ext cx="3657600" cy="2057400"/>
          </a:xfrm>
          <a:prstGeom prst="rect">
            <a:avLst/>
          </a:prstGeom>
          <a:ln>
            <a:noFill/>
          </a:ln>
          <a:effectLst/>
        </p:spPr>
      </p:pic>
      <p:sp>
        <p:nvSpPr>
          <p:cNvPr id="14" name="正方形/長方形 13">
            <a:extLst>
              <a:ext uri="{FF2B5EF4-FFF2-40B4-BE49-F238E27FC236}">
                <a16:creationId xmlns:a16="http://schemas.microsoft.com/office/drawing/2014/main" id="{26F9C9DD-B3F8-FA9A-7B23-5744CEB6C5B1}"/>
              </a:ext>
            </a:extLst>
          </p:cNvPr>
          <p:cNvSpPr/>
          <p:nvPr/>
        </p:nvSpPr>
        <p:spPr bwMode="auto">
          <a:xfrm>
            <a:off x="3124200" y="4991100"/>
            <a:ext cx="3657600" cy="438150"/>
          </a:xfrm>
          <a:prstGeom prst="rect">
            <a:avLst/>
          </a:prstGeom>
          <a:noFill/>
          <a:ln w="6350" cap="flat" cmpd="sng" algn="ctr">
            <a:noFill/>
            <a:prstDash val="solid"/>
            <a:round/>
            <a:headEnd type="none" w="med" len="med"/>
            <a:tailEnd type="none" w="med" len="med"/>
          </a:ln>
          <a:effectLst/>
        </p:spPr>
        <p:txBody>
          <a:bodyPr vert="horz" wrap="square" lIns="71528" tIns="71528" rIns="71528" bIns="71528" numCol="1" rtlCol="0" anchor="ctr" anchorCtr="0" compatLnSpc="1">
            <a:prstTxWarp prst="textNoShape">
              <a:avLst/>
            </a:prstTxWarp>
            <a:noAutofit/>
          </a:bodyPr>
          <a:lstStyle/>
          <a:p>
            <a:pPr algn="ctr" defTabSz="908410" fontAlgn="base">
              <a:spcAft>
                <a:spcPct val="0"/>
              </a:spcAft>
            </a:pPr>
            <a:r>
              <a:rPr kumimoji="1" lang="ja-JP" altLang="en-US" sz="3200" b="1" dirty="0">
                <a:ln w="10160">
                  <a:solidFill>
                    <a:srgbClr val="996600"/>
                  </a:solidFill>
                  <a:prstDash val="solid"/>
                </a:ln>
                <a:solidFill>
                  <a:srgbClr val="FFFFFF"/>
                </a:solidFill>
                <a:effectLst>
                  <a:outerShdw blurRad="38100" dist="22860" dir="5400000" algn="tl" rotWithShape="0">
                    <a:srgbClr val="000000">
                      <a:alpha val="30000"/>
                    </a:srgbClr>
                  </a:outerShdw>
                </a:effectLst>
                <a:latin typeface="Meiryo UI" panose="020B0604030504040204" pitchFamily="50" charset="-128"/>
                <a:ea typeface="Meiryo UI" panose="020B0604030504040204" pitchFamily="50" charset="-128"/>
              </a:rPr>
              <a:t>プロジェクト参画者</a:t>
            </a:r>
            <a:br>
              <a:rPr kumimoji="1" lang="en-US" altLang="ja-JP" sz="3200" b="1" dirty="0">
                <a:ln w="10160">
                  <a:solidFill>
                    <a:srgbClr val="996600"/>
                  </a:solidFill>
                  <a:prstDash val="solid"/>
                </a:ln>
                <a:solidFill>
                  <a:srgbClr val="FFFFFF"/>
                </a:solidFill>
                <a:effectLst>
                  <a:outerShdw blurRad="38100" dist="22860" dir="5400000" algn="tl" rotWithShape="0">
                    <a:srgbClr val="000000">
                      <a:alpha val="30000"/>
                    </a:srgbClr>
                  </a:outerShdw>
                </a:effectLst>
                <a:latin typeface="Meiryo UI" panose="020B0604030504040204" pitchFamily="50" charset="-128"/>
                <a:ea typeface="Meiryo UI" panose="020B0604030504040204" pitchFamily="50" charset="-128"/>
              </a:rPr>
            </a:br>
            <a:r>
              <a:rPr kumimoji="1" lang="ja-JP" altLang="en-US" sz="3200" b="1" dirty="0">
                <a:ln w="10160">
                  <a:solidFill>
                    <a:srgbClr val="996600"/>
                  </a:solidFill>
                  <a:prstDash val="solid"/>
                </a:ln>
                <a:solidFill>
                  <a:srgbClr val="FFFFFF"/>
                </a:solidFill>
                <a:effectLst>
                  <a:outerShdw blurRad="38100" dist="22860" dir="5400000" algn="tl" rotWithShape="0">
                    <a:srgbClr val="000000">
                      <a:alpha val="30000"/>
                    </a:srgbClr>
                  </a:outerShdw>
                </a:effectLst>
                <a:latin typeface="Meiryo UI" panose="020B0604030504040204" pitchFamily="50" charset="-128"/>
                <a:ea typeface="Meiryo UI" panose="020B0604030504040204" pitchFamily="50" charset="-128"/>
              </a:rPr>
              <a:t>急募！！！！！</a:t>
            </a:r>
          </a:p>
        </p:txBody>
      </p:sp>
    </p:spTree>
    <p:extLst>
      <p:ext uri="{BB962C8B-B14F-4D97-AF65-F5344CB8AC3E}">
        <p14:creationId xmlns:p14="http://schemas.microsoft.com/office/powerpoint/2010/main" val="20493066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3E27D-543A-0660-588E-2A1B4394DE63}"/>
            </a:ext>
          </a:extLst>
        </p:cNvPr>
        <p:cNvGrpSpPr/>
        <p:nvPr/>
      </p:nvGrpSpPr>
      <p:grpSpPr>
        <a:xfrm>
          <a:off x="0" y="0"/>
          <a:ext cx="0" cy="0"/>
          <a:chOff x="0" y="0"/>
          <a:chExt cx="0" cy="0"/>
        </a:xfrm>
      </p:grpSpPr>
      <p:pic>
        <p:nvPicPr>
          <p:cNvPr id="2" name="図 1">
            <a:extLst>
              <a:ext uri="{FF2B5EF4-FFF2-40B4-BE49-F238E27FC236}">
                <a16:creationId xmlns:a16="http://schemas.microsoft.com/office/drawing/2014/main" id="{5D4695D6-4170-5FBC-6154-684351181DE9}"/>
              </a:ext>
            </a:extLst>
          </p:cNvPr>
          <p:cNvPicPr>
            <a:picLocks noChangeAspect="1"/>
          </p:cNvPicPr>
          <p:nvPr/>
        </p:nvPicPr>
        <p:blipFill>
          <a:blip r:embed="rId3"/>
          <a:stretch>
            <a:fillRect/>
          </a:stretch>
        </p:blipFill>
        <p:spPr>
          <a:xfrm>
            <a:off x="0" y="127000"/>
            <a:ext cx="9906000" cy="6604000"/>
          </a:xfrm>
          <a:prstGeom prst="rect">
            <a:avLst/>
          </a:prstGeom>
        </p:spPr>
      </p:pic>
    </p:spTree>
    <p:extLst>
      <p:ext uri="{BB962C8B-B14F-4D97-AF65-F5344CB8AC3E}">
        <p14:creationId xmlns:p14="http://schemas.microsoft.com/office/powerpoint/2010/main" val="16412892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5060&quot;&gt;&lt;version val=&quot;2808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WpODuZIoQK.hr2jMuwJyH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WpODuZIoQK.hr2jMuwJyH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WpODuZIoQK.hr2jMuwJyH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WpODuZIoQK.hr2jMuwJyH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STYLE" val="AcnSubjectTitle"/>
  <p:tag name="DATE" val="05/01/2007 12:45:29"/>
</p:tagLst>
</file>

<file path=ppt/tags/tag31.xml><?xml version="1.0" encoding="utf-8"?>
<p:tagLst xmlns:a="http://schemas.openxmlformats.org/drawingml/2006/main" xmlns:r="http://schemas.openxmlformats.org/officeDocument/2006/relationships" xmlns:p="http://schemas.openxmlformats.org/presentationml/2006/main">
  <p:tag name="STYLE" val="AcnFootnote"/>
  <p:tag name="DATE" val="07/17/2007 19:49:34"/>
</p:tagLst>
</file>

<file path=ppt/tags/tag32.xml><?xml version="1.0" encoding="utf-8"?>
<p:tagLst xmlns:a="http://schemas.openxmlformats.org/drawingml/2006/main" xmlns:r="http://schemas.openxmlformats.org/officeDocument/2006/relationships" xmlns:p="http://schemas.openxmlformats.org/presentationml/2006/main">
  <p:tag name="STYLE" val="AcnUnitofMeasure"/>
  <p:tag name="DATE" val="07/17/2007 19:56:57"/>
</p:tagLst>
</file>

<file path=ppt/tags/tag33.xml><?xml version="1.0" encoding="utf-8"?>
<p:tagLst xmlns:a="http://schemas.openxmlformats.org/drawingml/2006/main" xmlns:r="http://schemas.openxmlformats.org/officeDocument/2006/relationships" xmlns:p="http://schemas.openxmlformats.org/presentationml/2006/main">
  <p:tag name="STYLE" val="AcnSubjectTitle"/>
  <p:tag name="DATE" val="05/01/2007 12:45:29"/>
</p:tagLst>
</file>

<file path=ppt/tags/tag34.xml><?xml version="1.0" encoding="utf-8"?>
<p:tagLst xmlns:a="http://schemas.openxmlformats.org/drawingml/2006/main" xmlns:r="http://schemas.openxmlformats.org/officeDocument/2006/relationships" xmlns:p="http://schemas.openxmlformats.org/presentationml/2006/main">
  <p:tag name="STYLE" val="AcnFootnote"/>
  <p:tag name="DATE" val="07/17/2007 19:49:34"/>
</p:tagLst>
</file>

<file path=ppt/tags/tag35.xml><?xml version="1.0" encoding="utf-8"?>
<p:tagLst xmlns:a="http://schemas.openxmlformats.org/drawingml/2006/main" xmlns:r="http://schemas.openxmlformats.org/officeDocument/2006/relationships" xmlns:p="http://schemas.openxmlformats.org/presentationml/2006/main">
  <p:tag name="STYLE" val="AcnUnitofMeasure"/>
  <p:tag name="DATE" val="07/17/2007 19:56:57"/>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WpODuZIoQK.hr2jMuwJyH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wDr4ixuKRjGFD0LGT0M89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標準デザイン">
  <a:themeElements>
    <a:clrScheme name="ユーザー定義 1">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cap="flat" cmpd="sng" algn="ctr">
          <a:solidFill>
            <a:schemeClr val="tx1">
              <a:lumMod val="50000"/>
              <a:lumOff val="50000"/>
            </a:schemeClr>
          </a:solidFill>
          <a:prstDash val="solid"/>
          <a:round/>
          <a:headEnd type="none" w="med" len="med"/>
          <a:tailEnd type="none" w="med" len="med"/>
        </a:ln>
        <a:effectLst/>
      </a:spPr>
      <a:bodyPr vert="horz" wrap="square" lIns="71528" tIns="71528" rIns="71528" bIns="71528" numCol="1" rtlCol="0" anchor="ctr" anchorCtr="0" compatLnSpc="1">
        <a:prstTxWarp prst="textNoShape">
          <a:avLst/>
        </a:prstTxWarp>
        <a:noAutofit/>
      </a:bodyPr>
      <a:lstStyle>
        <a:defPPr algn="ctr" defTabSz="908410" fontAlgn="base">
          <a:spcAft>
            <a:spcPct val="0"/>
          </a:spcAft>
          <a:defRPr kumimoji="1" sz="1050" dirty="0" smtClean="0">
            <a:solidFill>
              <a:prstClr val="black"/>
            </a:solidFill>
            <a:latin typeface="Meiryo UI" panose="020B0604030504040204" pitchFamily="50" charset="-128"/>
            <a:ea typeface="Meiryo UI" panose="020B0604030504040204" pitchFamily="50" charset="-128"/>
          </a:defRPr>
        </a:defPPr>
      </a:lstStyle>
    </a:spDef>
    <a:lnDef>
      <a:spPr bwMode="auto">
        <a:noFill/>
        <a:ln w="9525" cap="flat" cmpd="sng" algn="ctr">
          <a:solidFill>
            <a:schemeClr val="bg1">
              <a:lumMod val="50000"/>
            </a:schemeClr>
          </a:solidFill>
          <a:prstDash val="solid"/>
          <a:round/>
          <a:headEnd type="none" w="med" len="med"/>
          <a:tailEnd type="none"/>
        </a:ln>
        <a:effectLst/>
      </a:spPr>
      <a:bodyPr/>
      <a:lstStyle/>
    </a:lnDef>
    <a:txDef>
      <a:spPr>
        <a:noFill/>
      </a:spPr>
      <a:bodyPr wrap="none" lIns="36000" tIns="36000" rIns="36000" bIns="36000" rtlCol="0" anchor="ctr" anchorCtr="0">
        <a:noAutofit/>
      </a:bodyPr>
      <a:lstStyle>
        <a:defPPr algn="l">
          <a:defRPr kumimoji="1" sz="120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Acc_Strategy_template 4-3">
  <a:themeElements>
    <a:clrScheme name="FSテンプレート">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cmpd="sng" algn="ctr">
          <a:solidFill>
            <a:srgbClr val="000000"/>
          </a:solidFill>
          <a:prstDash val="solid"/>
          <a:miter lim="800000"/>
        </a:ln>
        <a:effectLst/>
      </a:spPr>
      <a:bodyPr wrap="none" rtlCol="0" anchor="ctr"/>
      <a:lstStyle>
        <a:defPPr marL="0" marR="0" indent="0" algn="ctr" defTabSz="914400" eaLnBrk="1" fontAlgn="auto" latinLnBrk="0" hangingPunct="1">
          <a:lnSpc>
            <a:spcPct val="100000"/>
          </a:lnSpc>
          <a:spcBef>
            <a:spcPts val="0"/>
          </a:spcBef>
          <a:spcAft>
            <a:spcPts val="0"/>
          </a:spcAft>
          <a:buClrTx/>
          <a:buSzTx/>
          <a:buFontTx/>
          <a:buNone/>
          <a:tabLst/>
          <a:defRPr kumimoji="1" sz="900" b="0" i="0" u="none" strike="noStrike" kern="0" cap="none" spc="0" normalizeH="0" baseline="0" noProof="0" dirty="0">
            <a:ln>
              <a:noFill/>
            </a:ln>
            <a:solidFill>
              <a:sysClr val="windowText" lastClr="000000"/>
            </a:solidFill>
            <a:effectLst/>
            <a:uLnTx/>
            <a:uFillTx/>
            <a:latin typeface="+mj-lt"/>
            <a:ea typeface="ＭＳ Ｐゴシック" panose="020B0600070205080204" pitchFamily="50" charset="-128"/>
            <a:cs typeface="Tahoma" panose="020B0604030504040204" pitchFamily="34" charset="0"/>
          </a:defRPr>
        </a:defPPr>
      </a:lst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36000" tIns="36000" rIns="36000" bIns="36000" rtlCol="0">
        <a:noAutofit/>
      </a:bodyPr>
      <a:lstStyle>
        <a:defPPr algn="l">
          <a:defRPr kumimoji="1" sz="1200" smtClean="0">
            <a:latin typeface="Meiryo UI" panose="020B0604030504040204" pitchFamily="50" charset="-128"/>
            <a:ea typeface="Meiryo UI" panose="020B0604030504040204" pitchFamily="50" charset="-128"/>
          </a:defRPr>
        </a:defPPr>
      </a:lstStyle>
    </a:txDef>
  </a:objectDefaults>
  <a:extraClrSchemeLst/>
</a:theme>
</file>

<file path=ppt/theme/theme3.xml><?xml version="1.0" encoding="utf-8"?>
<a:theme xmlns:a="http://schemas.openxmlformats.org/drawingml/2006/main" name="1_Acc_Strategy_template 4-3">
  <a:themeElements>
    <a:clrScheme name="FSテンプレート">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Meiryo">
      <a:majorFont>
        <a:latin typeface="Meiryo UI"/>
        <a:ea typeface="Meiryo UI"/>
        <a:cs typeface=""/>
      </a:majorFont>
      <a:minorFont>
        <a:latin typeface="Meiryo UI"/>
        <a:ea typeface="Meiryo UI"/>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6350" cap="flat" cmpd="sng" algn="ctr">
          <a:solidFill>
            <a:srgbClr val="969696"/>
          </a:solidFill>
          <a:prstDash val="solid"/>
          <a:miter lim="800000"/>
        </a:ln>
        <a:effectLst/>
      </a:spPr>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defPPr algn="ctr" fontAlgn="auto">
          <a:spcBef>
            <a:spcPts val="600"/>
          </a:spcBef>
          <a:spcAft>
            <a:spcPts val="0"/>
          </a:spcAft>
          <a:buClr>
            <a:prstClr val="black"/>
          </a:buClr>
          <a:tabLst>
            <a:tab pos="180975" algn="l"/>
          </a:tabLst>
          <a:defRPr kumimoji="1" sz="1200" kern="0" dirty="0" err="1" smtClean="0">
            <a:solidFill>
              <a:prstClr val="black"/>
            </a:solidFill>
            <a:latin typeface="Meiryo UI" panose="020B0604030504040204" pitchFamily="50" charset="-128"/>
            <a:ea typeface="Meiryo UI" panose="020B0604030504040204" pitchFamily="50" charset="-128"/>
          </a:defRPr>
        </a:defPPr>
      </a:lst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36000" tIns="36000" rIns="36000" bIns="36000" rtlCol="0">
        <a:noAutofit/>
      </a:bodyPr>
      <a:lstStyle>
        <a:defPPr algn="l">
          <a:defRPr kumimoji="1" sz="1200" smtClean="0">
            <a:latin typeface="Meiryo UI" panose="020B0604030504040204" pitchFamily="50" charset="-128"/>
            <a:ea typeface="Meiryo UI" panose="020B0604030504040204" pitchFamily="50" charset="-128"/>
          </a:defRPr>
        </a:defPPr>
      </a:lstStyle>
    </a:txDef>
  </a:objectDefaults>
  <a:extraClrSchemeLst/>
</a:theme>
</file>

<file path=ppt/theme/theme4.xml><?xml version="1.0" encoding="utf-8"?>
<a:theme xmlns:a="http://schemas.openxmlformats.org/drawingml/2006/main" name="2_Acc_Strategy_template 4-3">
  <a:themeElements>
    <a:clrScheme name="FSテンプレート">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Meiryo">
      <a:majorFont>
        <a:latin typeface="Meiryo UI"/>
        <a:ea typeface="Meiryo UI"/>
        <a:cs typeface=""/>
      </a:majorFont>
      <a:minorFont>
        <a:latin typeface="Meiryo UI"/>
        <a:ea typeface="Meiryo UI"/>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6350" cap="flat" cmpd="sng" algn="ctr">
          <a:solidFill>
            <a:srgbClr val="969696"/>
          </a:solidFill>
          <a:prstDash val="solid"/>
          <a:miter lim="800000"/>
        </a:ln>
        <a:effectLst/>
      </a:spPr>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defPPr algn="ctr" fontAlgn="auto">
          <a:spcBef>
            <a:spcPts val="600"/>
          </a:spcBef>
          <a:spcAft>
            <a:spcPts val="0"/>
          </a:spcAft>
          <a:buClr>
            <a:prstClr val="black"/>
          </a:buClr>
          <a:tabLst>
            <a:tab pos="180975" algn="l"/>
          </a:tabLst>
          <a:defRPr kumimoji="1" sz="1200" kern="0" dirty="0" err="1" smtClean="0">
            <a:solidFill>
              <a:prstClr val="black"/>
            </a:solidFill>
            <a:latin typeface="Meiryo UI" panose="020B0604030504040204" pitchFamily="50" charset="-128"/>
            <a:ea typeface="Meiryo UI" panose="020B0604030504040204" pitchFamily="50" charset="-128"/>
          </a:defRPr>
        </a:defPPr>
      </a:lst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36000" tIns="36000" rIns="36000" bIns="36000" rtlCol="0">
        <a:noAutofit/>
      </a:bodyPr>
      <a:lstStyle>
        <a:defPPr algn="l">
          <a:defRPr kumimoji="1" sz="1200" smtClean="0">
            <a:latin typeface="Meiryo UI" panose="020B0604030504040204" pitchFamily="50" charset="-128"/>
            <a:ea typeface="Meiryo UI" panose="020B0604030504040204" pitchFamily="50" charset="-128"/>
          </a:defRPr>
        </a:defPPr>
      </a:lstStyle>
    </a:txDef>
  </a:objectDefaults>
  <a:extraClrSchemeLst/>
</a:theme>
</file>

<file path=ppt/theme/theme5.xml><?xml version="1.0" encoding="utf-8"?>
<a:theme xmlns:a="http://schemas.openxmlformats.org/drawingml/2006/main" name="3_Acc_Strategy_template 4-3">
  <a:themeElements>
    <a:clrScheme name="FSテンプレート">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Meiryo">
      <a:majorFont>
        <a:latin typeface="Meiryo UI"/>
        <a:ea typeface="Meiryo UI"/>
        <a:cs typeface=""/>
      </a:majorFont>
      <a:minorFont>
        <a:latin typeface="Meiryo UI"/>
        <a:ea typeface="Meiryo UI"/>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lumMod val="40000"/>
            <a:lumOff val="60000"/>
          </a:schemeClr>
        </a:solidFill>
        <a:ln w="9525" cap="flat" cmpd="sng" algn="ctr">
          <a:noFill/>
          <a:prstDash val="solid"/>
          <a:round/>
          <a:headEnd type="none" w="med" len="med"/>
          <a:tailEnd type="none" w="med" len="med"/>
        </a:ln>
        <a:effec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sz="1100" b="0" i="0" u="none" strike="noStrike" kern="1200" cap="none" spc="0" normalizeH="0" baseline="0" noProof="0" dirty="0" smtClean="0">
            <a:ln>
              <a:noFill/>
            </a:ln>
            <a:solidFill>
              <a:prstClr val="black"/>
            </a:solidFill>
            <a:effectLst/>
            <a:uLnTx/>
            <a:uFillTx/>
            <a:latin typeface="Meiryo UI" panose="020B0604030504040204" pitchFamily="50" charset="-128"/>
            <a:ea typeface="Meiryo UI" panose="020B0604030504040204" pitchFamily="50" charset="-128"/>
            <a:cs typeface="Arial" charset="0"/>
          </a:defRPr>
        </a:defPPr>
      </a:lst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solidFill>
          <a:sysClr val="window" lastClr="FFFFFF">
            <a:lumMod val="85000"/>
          </a:sysClr>
        </a:solidFill>
        <a:ln w="9525">
          <a:noFill/>
          <a:miter lim="800000"/>
          <a:headEnd/>
          <a:tailEnd/>
        </a:ln>
      </a:spPr>
      <a:bodyPr lIns="91429" tIns="45714" rIns="91429" bIns="45714" anchor="t"/>
      <a:lstStyle>
        <a:defPPr algn="l" fontAlgn="auto">
          <a:spcAft>
            <a:spcPts val="0"/>
          </a:spcAft>
          <a:buNone/>
          <a:defRPr kumimoji="0" sz="1000" dirty="0" smtClean="0">
            <a:solidFill>
              <a:prstClr val="black"/>
            </a:solidFill>
            <a:latin typeface="+mn-ea"/>
            <a:ea typeface="+mn-ea"/>
          </a:defRPr>
        </a:defPPr>
      </a:lstStyle>
    </a:txDef>
  </a:objectDefaults>
  <a:extraClrSchemeLst/>
</a:theme>
</file>

<file path=ppt/theme/theme6.xml><?xml version="1.0" encoding="utf-8"?>
<a:theme xmlns:a="http://schemas.openxmlformats.org/drawingml/2006/main" name="4_Acc_Strategy_template 4-3">
  <a:themeElements>
    <a:clrScheme name="FSテンプレート">
      <a:dk1>
        <a:sysClr val="windowText" lastClr="000000"/>
      </a:dk1>
      <a:lt1>
        <a:sysClr val="window" lastClr="FFFFFF"/>
      </a:lt1>
      <a:dk2>
        <a:srgbClr val="44546A"/>
      </a:dk2>
      <a:lt2>
        <a:srgbClr val="D9D9D9"/>
      </a:lt2>
      <a:accent1>
        <a:srgbClr val="460073"/>
      </a:accent1>
      <a:accent2>
        <a:srgbClr val="A100FF"/>
      </a:accent2>
      <a:accent3>
        <a:srgbClr val="008EFF"/>
      </a:accent3>
      <a:accent4>
        <a:srgbClr val="8BE1FF"/>
      </a:accent4>
      <a:accent5>
        <a:srgbClr val="5A5A5A"/>
      </a:accent5>
      <a:accent6>
        <a:srgbClr val="969696"/>
      </a:accent6>
      <a:hlink>
        <a:srgbClr val="0563C1"/>
      </a:hlink>
      <a:folHlink>
        <a:srgbClr val="954F72"/>
      </a:folHlink>
    </a:clrScheme>
    <a:fontScheme name="Meiryo">
      <a:majorFont>
        <a:latin typeface="Meiryo UI"/>
        <a:ea typeface="Meiryo UI"/>
        <a:cs typeface=""/>
      </a:majorFont>
      <a:minorFont>
        <a:latin typeface="Meiryo UI"/>
        <a:ea typeface="Meiryo UI"/>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9900"/>
        </a:solidFill>
        <a:ln>
          <a:solidFill>
            <a:srgbClr val="009900"/>
          </a:solidFill>
        </a:ln>
      </a:spPr>
      <a:bodyPr lIns="36000" tIns="0" rIns="36000" bIns="0" rtlCol="0" anchor="ctr"/>
      <a:lstStyle>
        <a:defPPr algn="l">
          <a:defRPr sz="1600" b="1" u="sng" dirty="0">
            <a:solidFill>
              <a:schemeClr val="lt1"/>
            </a:solidFill>
            <a:latin typeface="+mn-ea"/>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36000" tIns="36000" rIns="36000" bIns="36000" rtlCol="0">
        <a:spAutoFit/>
      </a:bodyPr>
      <a:lstStyle>
        <a:defPPr marL="171450" indent="-171450" algn="l">
          <a:buFont typeface="Wingdings" panose="05000000000000000000" pitchFamily="2" charset="2"/>
          <a:buChar char="p"/>
          <a:defRPr kumimoji="1" sz="1200" dirty="0" err="1" smtClean="0">
            <a:latin typeface="Meiryo UI" panose="020B0604030504040204" pitchFamily="50" charset="-128"/>
            <a:ea typeface="Meiryo UI" panose="020B0604030504040204" pitchFamily="50" charset="-128"/>
          </a:defRPr>
        </a:defPPr>
      </a:lstStyle>
    </a:txDef>
  </a:objectDefaults>
  <a:extraClrSchemeLst/>
</a:theme>
</file>

<file path=ppt/theme/theme7.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bg1">
              <a:lumMod val="50000"/>
            </a:schemeClr>
          </a:solidFill>
        </a:ln>
      </a:spPr>
      <a:bodyPr wrap="none" rtlCol="0" anchor="ctr"/>
      <a:lstStyle>
        <a:defPPr algn="ctr">
          <a:defRPr kumimoji="1" sz="1200" dirty="0" smtClean="0">
            <a:solidFill>
              <a:schemeClr val="tx1"/>
            </a:solidFill>
            <a:latin typeface="Meiryo UI" panose="020B0604030504040204" pitchFamily="50" charset="-128"/>
            <a:ea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headEnd type="none"/>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2FA2105-7B4F-4DD4-B761-F516C1F955E1}">
  <we:reference id="12cf32e2-483a-4204-b71b-bf2af83debf2" version="1.0.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5C34EC7365253543AF52C41840CDEDF2" ma:contentTypeVersion="5" ma:contentTypeDescription="新しいドキュメントを作成します。" ma:contentTypeScope="" ma:versionID="83a813d93796cc3b32046490d20ee980">
  <xsd:schema xmlns:xsd="http://www.w3.org/2001/XMLSchema" xmlns:xs="http://www.w3.org/2001/XMLSchema" xmlns:p="http://schemas.microsoft.com/office/2006/metadata/properties" xmlns:ns2="8c7e2249-f67c-4027-b212-c28305a022e1" targetNamespace="http://schemas.microsoft.com/office/2006/metadata/properties" ma:root="true" ma:fieldsID="9e9b130554904bc9e42009b66e6a2a71" ns2:_="">
    <xsd:import namespace="8c7e2249-f67c-4027-b212-c28305a022e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7e2249-f67c-4027-b212-c28305a022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F96122-8961-4DF2-9754-57FADCD3E89B}">
  <ds:schemaRefs>
    <ds:schemaRef ds:uri="http://www.w3.org/XML/1998/namespace"/>
    <ds:schemaRef ds:uri="http://purl.org/dc/terms/"/>
    <ds:schemaRef ds:uri="http://schemas.openxmlformats.org/package/2006/metadata/core-properties"/>
    <ds:schemaRef ds:uri="http://schemas.microsoft.com/office/2006/documentManagement/types"/>
    <ds:schemaRef ds:uri="8c7e2249-f67c-4027-b212-c28305a022e1"/>
    <ds:schemaRef ds:uri="http://purl.org/dc/dcmitype/"/>
    <ds:schemaRef ds:uri="http://schemas.microsoft.com/office/infopath/2007/PartnerControl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4B11516C-F119-4189-A588-43968FCDEA14}">
  <ds:schemaRefs>
    <ds:schemaRef ds:uri="http://schemas.microsoft.com/sharepoint/v3/contenttype/forms"/>
  </ds:schemaRefs>
</ds:datastoreItem>
</file>

<file path=customXml/itemProps3.xml><?xml version="1.0" encoding="utf-8"?>
<ds:datastoreItem xmlns:ds="http://schemas.openxmlformats.org/officeDocument/2006/customXml" ds:itemID="{36C29C3C-ABFB-4CF7-958D-CBF9D211AFE3}"/>
</file>

<file path=docMetadata/LabelInfo.xml><?xml version="1.0" encoding="utf-8"?>
<clbl:labelList xmlns:clbl="http://schemas.microsoft.com/office/2020/mipLabelMetadata">
  <clbl:label id="{1bc0f418-96a4-4caf-9d7c-ccc5ec7f9d91}" enabled="1" method="Privileged" siteId="{e0793d39-0939-496d-b129-198edd916feb}" removed="0"/>
</clbl:labelList>
</file>

<file path=docProps/app.xml><?xml version="1.0" encoding="utf-8"?>
<Properties xmlns="http://schemas.openxmlformats.org/officeDocument/2006/extended-properties" xmlns:vt="http://schemas.openxmlformats.org/officeDocument/2006/docPropsVTypes">
  <Template/>
  <TotalTime>3524</TotalTime>
  <Words>7352</Words>
  <Application>Microsoft Office PowerPoint</Application>
  <PresentationFormat>A4 210 x 297 mm</PresentationFormat>
  <Paragraphs>1190</Paragraphs>
  <Slides>58</Slides>
  <Notes>40</Notes>
  <HiddenSlides>0</HiddenSlides>
  <MMClips>0</MMClips>
  <ScaleCrop>false</ScaleCrop>
  <HeadingPairs>
    <vt:vector size="8" baseType="variant">
      <vt:variant>
        <vt:lpstr>使用されているフォント</vt:lpstr>
      </vt:variant>
      <vt:variant>
        <vt:i4>10</vt:i4>
      </vt:variant>
      <vt:variant>
        <vt:lpstr>テーマ</vt:lpstr>
      </vt:variant>
      <vt:variant>
        <vt:i4>7</vt:i4>
      </vt:variant>
      <vt:variant>
        <vt:lpstr>埋め込まれた OLE サーバー</vt:lpstr>
      </vt:variant>
      <vt:variant>
        <vt:i4>1</vt:i4>
      </vt:variant>
      <vt:variant>
        <vt:lpstr>スライド タイトル</vt:lpstr>
      </vt:variant>
      <vt:variant>
        <vt:i4>58</vt:i4>
      </vt:variant>
    </vt:vector>
  </HeadingPairs>
  <TitlesOfParts>
    <vt:vector size="76" baseType="lpstr">
      <vt:lpstr>BIZ UDPゴシック</vt:lpstr>
      <vt:lpstr>HGPｺﾞｼｯｸE</vt:lpstr>
      <vt:lpstr>Malgun Gothic Semilight</vt:lpstr>
      <vt:lpstr>Meiryo UI</vt:lpstr>
      <vt:lpstr>MS UI Gothic</vt:lpstr>
      <vt:lpstr>游ゴシック</vt:lpstr>
      <vt:lpstr>Arial</vt:lpstr>
      <vt:lpstr>Calibri</vt:lpstr>
      <vt:lpstr>Times</vt:lpstr>
      <vt:lpstr>Wingdings</vt:lpstr>
      <vt:lpstr>1_標準デザイン</vt:lpstr>
      <vt:lpstr>Acc_Strategy_template 4-3</vt:lpstr>
      <vt:lpstr>1_Acc_Strategy_template 4-3</vt:lpstr>
      <vt:lpstr>2_Acc_Strategy_template 4-3</vt:lpstr>
      <vt:lpstr>3_Acc_Strategy_template 4-3</vt:lpstr>
      <vt:lpstr>4_Acc_Strategy_template 4-3</vt:lpstr>
      <vt:lpstr>デザインの設定</vt:lpstr>
      <vt:lpstr>think-cell スライド</vt:lpstr>
      <vt:lpstr>MTBJ/MUSK：プロジェクト紹介</vt:lpstr>
      <vt:lpstr>PowerPoint プレゼンテーション</vt:lpstr>
      <vt:lpstr>PowerPoint プレゼンテーション</vt:lpstr>
      <vt:lpstr>PowerPoint プレゼンテーション</vt:lpstr>
      <vt:lpstr>本日のアジェンダ</vt:lpstr>
      <vt:lpstr>PowerPoint プレゼンテーション</vt:lpstr>
      <vt:lpstr>1. 資産管理銀行（カストディ）とは？</vt:lpstr>
      <vt:lpstr>2. 日本マスタートラスト信託銀行（MTBJ）とは？</vt:lpstr>
      <vt:lpstr>３. どこにあるのか？</vt:lpstr>
      <vt:lpstr>4. MUFGの中ではどういう位置づけなのか？</vt:lpstr>
      <vt:lpstr>本日のアジェンダ</vt:lpstr>
      <vt:lpstr>1. 三菱UFJトラストシステム株式会社（MUSK）とは？</vt:lpstr>
      <vt:lpstr>2. MTBJとどんな関係があるのか？</vt:lpstr>
      <vt:lpstr>３. どこにあるのか？</vt:lpstr>
      <vt:lpstr>PowerPoint プレゼンテーション</vt:lpstr>
      <vt:lpstr>PowerPoint プレゼンテーション</vt:lpstr>
      <vt:lpstr>PowerPoint プレゼンテーション</vt:lpstr>
      <vt:lpstr>1. MTBJ/MUSKの取り組み事項</vt:lpstr>
      <vt:lpstr>PowerPoint プレゼンテーション</vt:lpstr>
      <vt:lpstr>1. アカウントの体制</vt:lpstr>
      <vt:lpstr>PowerPoint プレゼンテーション</vt:lpstr>
      <vt:lpstr>1. アカウントの特徴</vt:lpstr>
      <vt:lpstr>2. 急成長中のアカウントです！</vt:lpstr>
      <vt:lpstr>PowerPoint プレゼンテーション</vt:lpstr>
      <vt:lpstr>PowerPoint プレゼンテーション</vt:lpstr>
      <vt:lpstr>1. ご支援の全体像（再掲）</vt:lpstr>
      <vt:lpstr>PowerPoint プレゼンテーション</vt:lpstr>
      <vt:lpstr>1. プロジェクトの概要～①取り組みの考え方</vt:lpstr>
      <vt:lpstr>1. プロジェクトの概要～②そもそもアーキテクチャ戦略とは？</vt:lpstr>
      <vt:lpstr>1. プロジェクトの概要～③取り組みテーマ</vt:lpstr>
      <vt:lpstr>PowerPoint プレゼンテーション</vt:lpstr>
      <vt:lpstr>2. データマネジメントサービス～①サービスの目指す姿</vt:lpstr>
      <vt:lpstr>2. データマネジメントサービス～②事業目標</vt:lpstr>
      <vt:lpstr>2. データマネジメントサービス～③サービス概要とシステム構成</vt:lpstr>
      <vt:lpstr>PowerPoint プレゼンテーション</vt:lpstr>
      <vt:lpstr>3. 業務基盤強化～①外国証券</vt:lpstr>
      <vt:lpstr>3. 業務基盤強化～②汎用商品</vt:lpstr>
      <vt:lpstr>PowerPoint プレゼンテーション</vt:lpstr>
      <vt:lpstr>4. ホストオープン化（モダナイゼーション）～①背景</vt:lpstr>
      <vt:lpstr>4. ホストオープン化（モダナイゼーション）～②現行システム構造</vt:lpstr>
      <vt:lpstr>4. ホストオープン化（モダナイゼーション）～③ToBe方針</vt:lpstr>
      <vt:lpstr>PowerPoint プレゼンテーション</vt:lpstr>
      <vt:lpstr>5. アーキテクチャ戦略の全体像～①ToBe像とシステム移行方針</vt:lpstr>
      <vt:lpstr>5. アーキテクチャ戦略の全体像～②推進体制</vt:lpstr>
      <vt:lpstr>７. オペレジ施策～①経緯と背景(1/2)</vt:lpstr>
      <vt:lpstr>７. オペレジ施策～①経緯と背景（2/2）</vt:lpstr>
      <vt:lpstr>７. オペレジ施策～②現行課題</vt:lpstr>
      <vt:lpstr>PowerPoint プレゼンテーション</vt:lpstr>
      <vt:lpstr>1. 背景・目的</vt:lpstr>
      <vt:lpstr>2. スケジュール</vt:lpstr>
      <vt:lpstr>3. 現状課題を踏まえた目指すべき姿</vt:lpstr>
      <vt:lpstr>4. NotebookLMを活用した業務可視化の効率化①～目的</vt:lpstr>
      <vt:lpstr>4. NotebookLMを活用した業務可視化の効率化②～ユースケース・検証範囲</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ご提案</dc:title>
  <dc:creator>Tani, Masahiro</dc:creator>
  <cp:lastModifiedBy>Mizumoto, Chie</cp:lastModifiedBy>
  <cp:revision>2</cp:revision>
  <cp:lastPrinted>2024-06-24T05:41:37Z</cp:lastPrinted>
  <dcterms:created xsi:type="dcterms:W3CDTF">2020-08-24T03:52:11Z</dcterms:created>
  <dcterms:modified xsi:type="dcterms:W3CDTF">2025-09-03T00:55:31Z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0x0101005C34EC7365253543AF52C41840CDEDF2</vt:lpwstr>
  </property>
  <property fmtid="{D5CDD505-2E9C-101B-9397-08002B2CF9AE}" pid="3" name="MSIP_Label_1bc0f418-96a4-4caf-9d7c-ccc5ec7f9d91_ActionId">
    <vt:lpwstr>122682b2-6b1e-441b-b733-fcf12e5b3226</vt:lpwstr>
  </property>
  <property fmtid="{D5CDD505-2E9C-101B-9397-08002B2CF9AE}" pid="4" name="MSIP_Label_1bc0f418-96a4-4caf-9d7c-ccc5ec7f9d91_Enabled">
    <vt:lpwstr>True</vt:lpwstr>
  </property>
  <property fmtid="{D5CDD505-2E9C-101B-9397-08002B2CF9AE}" pid="5" name="MSIP_Label_1bc0f418-96a4-4caf-9d7c-ccc5ec7f9d91_Extended_MSFT_Method">
    <vt:lpwstr>Manual</vt:lpwstr>
  </property>
  <property fmtid="{D5CDD505-2E9C-101B-9397-08002B2CF9AE}" pid="6" name="MSIP_Label_1bc0f418-96a4-4caf-9d7c-ccc5ec7f9d91_Name">
    <vt:lpwstr>Unrestricted</vt:lpwstr>
  </property>
  <property fmtid="{D5CDD505-2E9C-101B-9397-08002B2CF9AE}" pid="7" name="MSIP_Label_1bc0f418-96a4-4caf-9d7c-ccc5ec7f9d91_SetDate">
    <vt:lpwstr>2019-12-03T03:01:08.9610842Z</vt:lpwstr>
  </property>
  <property fmtid="{D5CDD505-2E9C-101B-9397-08002B2CF9AE}" pid="8" name="MSIP_Label_1bc0f418-96a4-4caf-9d7c-ccc5ec7f9d91_SiteId">
    <vt:lpwstr>e0793d39-0939-496d-b129-198edd916feb</vt:lpwstr>
  </property>
  <property fmtid="{D5CDD505-2E9C-101B-9397-08002B2CF9AE}" pid="9" name="MSIP_Label_436fffe2-e74d-4f21-833f-6f054a10cb50_Enabled">
    <vt:lpwstr>true</vt:lpwstr>
  </property>
  <property fmtid="{D5CDD505-2E9C-101B-9397-08002B2CF9AE}" pid="10" name="MSIP_Label_436fffe2-e74d-4f21-833f-6f054a10cb50_SetDate">
    <vt:lpwstr>2021-07-28T13:21:49Z</vt:lpwstr>
  </property>
  <property fmtid="{D5CDD505-2E9C-101B-9397-08002B2CF9AE}" pid="11" name="MSIP_Label_436fffe2-e74d-4f21-833f-6f054a10cb50_Method">
    <vt:lpwstr>Privileged</vt:lpwstr>
  </property>
  <property fmtid="{D5CDD505-2E9C-101B-9397-08002B2CF9AE}" pid="12" name="MSIP_Label_436fffe2-e74d-4f21-833f-6f054a10cb50_Name">
    <vt:lpwstr>436fffe2-e74d-4f21-833f-6f054a10cb50</vt:lpwstr>
  </property>
  <property fmtid="{D5CDD505-2E9C-101B-9397-08002B2CF9AE}" pid="13" name="MSIP_Label_436fffe2-e74d-4f21-833f-6f054a10cb50_SiteId">
    <vt:lpwstr>a4dd5294-24e4-4102-8420-cb86d0baae1e</vt:lpwstr>
  </property>
  <property fmtid="{D5CDD505-2E9C-101B-9397-08002B2CF9AE}" pid="14" name="MSIP_Label_436fffe2-e74d-4f21-833f-6f054a10cb50_ActionId">
    <vt:lpwstr>5f0053f5-7b41-4179-839a-81fc3d0251e9</vt:lpwstr>
  </property>
  <property fmtid="{D5CDD505-2E9C-101B-9397-08002B2CF9AE}" pid="15" name="MSIP_Label_436fffe2-e74d-4f21-833f-6f054a10cb50_ContentBits">
    <vt:lpwstr>0</vt:lpwstr>
  </property>
  <property fmtid="{D5CDD505-2E9C-101B-9397-08002B2CF9AE}" pid="16" name="ComplianceAssetId">
    <vt:lpwstr/>
  </property>
  <property fmtid="{D5CDD505-2E9C-101B-9397-08002B2CF9AE}" pid="17" name="_ExtendedDescription">
    <vt:lpwstr/>
  </property>
  <property fmtid="{D5CDD505-2E9C-101B-9397-08002B2CF9AE}" pid="18" name="TriggerFlowInfo">
    <vt:lpwstr/>
  </property>
  <property fmtid="{D5CDD505-2E9C-101B-9397-08002B2CF9AE}" pid="19" name="Order">
    <vt:lpwstr>77617000.0000000</vt:lpwstr>
  </property>
  <property fmtid="{D5CDD505-2E9C-101B-9397-08002B2CF9AE}" pid="20" name="MediaServiceImageTags">
    <vt:lpwstr/>
  </property>
</Properties>
</file>